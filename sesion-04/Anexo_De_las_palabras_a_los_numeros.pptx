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6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2100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· ANEXO VISUAL</a:t>
            </a:r>
            <a:endParaRPr lang="es-MX" sz="14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2550000"/>
            <a:ext cx="11057839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palabras a los números</a:t>
            </a:r>
            <a:endParaRPr lang="es-MX" sz="4400" dirty="0"/>
          </a:p>
        </p:txBody>
      </p:sp>
      <p:sp>
        <p:nvSpPr>
          <p:cNvPr id="4" name="Text"/>
          <p:cNvSpPr txBox="1"/>
          <p:nvPr/>
        </p:nvSpPr>
        <p:spPr>
          <a:xfrm>
            <a:off x="566928" y="3650000"/>
            <a:ext cx="11057839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8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decide una máquina que dos textos se parecen. Ocho láminas y cero fórmulas.</a:t>
            </a:r>
            <a:endParaRPr lang="es-MX" sz="1800" dirty="0"/>
          </a:p>
        </p:txBody>
      </p:sp>
      <p:sp>
        <p:nvSpPr>
          <p:cNvPr id="5" name="Text"/>
          <p:cNvSpPr txBox="1"/>
          <p:nvPr/>
        </p:nvSpPr>
        <p:spPr>
          <a:xfrm>
            <a:off x="566928" y="4200000"/>
            <a:ext cx="11057839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3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opcional. Acompaña la charla del receso de la sesión 4.</a:t>
            </a:r>
            <a:endParaRPr lang="es-MX" sz="1300" dirty="0"/>
          </a:p>
        </p:txBody>
      </p:sp>
      <p:sp>
        <p:nvSpPr>
          <p:cNvPr id="6" name="Text"/>
          <p:cNvSpPr txBox="1"/>
          <p:nvPr/>
        </p:nvSpPr>
        <p:spPr>
          <a:xfrm>
            <a:off x="566928" y="6300000"/>
            <a:ext cx="1105783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Aplicada. INEGI 2026. CC BY-NC-SA 4.0.</a:t>
            </a:r>
            <a:endParaRPr lang="es-MX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 máquina com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la máquina no lee, compara</a:t>
            </a:r>
            <a:endParaRPr lang="es-MX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máquina no entiende lo que dice un registro. Lo convierte en números y mide distancias. Todo lo que viste como agrupamiento temático sale de ahí.</a:t>
            </a:r>
            <a:endParaRPr lang="es-MX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900000"/>
            <a:ext cx="3503066" cy="34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795528" y="2128600"/>
            <a:ext cx="457200" cy="4572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95528" y="21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MX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MX" sz="1500" dirty="0"/>
          </a:p>
        </p:txBody>
      </p:sp>
      <p:sp>
        <p:nvSpPr>
          <p:cNvPr id="7" name="Text"/>
          <p:cNvSpPr txBox="1"/>
          <p:nvPr/>
        </p:nvSpPr>
        <p:spPr>
          <a:xfrm>
            <a:off x="795528" y="2738200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</a:t>
            </a:r>
            <a:endParaRPr lang="es-MX" sz="1700" dirty="0"/>
          </a:p>
        </p:txBody>
      </p:sp>
      <p:sp>
        <p:nvSpPr>
          <p:cNvPr id="8" name="Text"/>
          <p:cNvSpPr txBox="1"/>
          <p:nvPr/>
        </p:nvSpPr>
        <p:spPr>
          <a:xfrm>
            <a:off x="795528" y="3298200"/>
            <a:ext cx="3045866" cy="17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cuenta cuántas veces aparece cada palabra en cada registro.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más que eso: el orden en que venían las palabras se pierde en el camino.</a:t>
            </a:r>
            <a:endParaRPr lang="es-MX" sz="1300" dirty="0"/>
          </a:p>
        </p:txBody>
      </p:sp>
      <p:sp>
        <p:nvSpPr>
          <p:cNvPr id="9" name="Shape"/>
          <p:cNvSpPr/>
          <p:nvPr/>
        </p:nvSpPr>
        <p:spPr>
          <a:xfrm>
            <a:off x="4344314" y="1900000"/>
            <a:ext cx="3503066" cy="34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4572914" y="2128600"/>
            <a:ext cx="457200" cy="4572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572914" y="21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MX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MX" sz="1500" dirty="0"/>
          </a:p>
        </p:txBody>
      </p:sp>
      <p:sp>
        <p:nvSpPr>
          <p:cNvPr id="12" name="Text"/>
          <p:cNvSpPr txBox="1"/>
          <p:nvPr/>
        </p:nvSpPr>
        <p:spPr>
          <a:xfrm>
            <a:off x="4572914" y="2738200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Pesar</a:t>
            </a:r>
            <a:endParaRPr lang="es-MX" sz="1700" dirty="0"/>
          </a:p>
        </p:txBody>
      </p:sp>
      <p:sp>
        <p:nvSpPr>
          <p:cNvPr id="13" name="Text"/>
          <p:cNvSpPr txBox="1"/>
          <p:nvPr/>
        </p:nvSpPr>
        <p:spPr>
          <a:xfrm>
            <a:off x="4572914" y="3298200"/>
            <a:ext cx="3045866" cy="17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le da más peso a las palabras raras y menos a las que están en todos lados.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 donde una palabra empieza a servir para distinguir un registro de otro.</a:t>
            </a:r>
            <a:endParaRPr lang="es-MX" sz="1300" dirty="0"/>
          </a:p>
        </p:txBody>
      </p:sp>
      <p:sp>
        <p:nvSpPr>
          <p:cNvPr id="14" name="Shape"/>
          <p:cNvSpPr/>
          <p:nvPr/>
        </p:nvSpPr>
        <p:spPr>
          <a:xfrm>
            <a:off x="8121700" y="1900000"/>
            <a:ext cx="3503066" cy="34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8350300" y="2128600"/>
            <a:ext cx="457200" cy="4572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8350300" y="21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MX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MX" sz="1500" dirty="0"/>
          </a:p>
        </p:txBody>
      </p:sp>
      <p:sp>
        <p:nvSpPr>
          <p:cNvPr id="17" name="Text"/>
          <p:cNvSpPr txBox="1"/>
          <p:nvPr/>
        </p:nvSpPr>
        <p:spPr>
          <a:xfrm>
            <a:off x="8350300" y="2738200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</a:t>
            </a:r>
            <a:endParaRPr lang="es-MX" sz="1700" dirty="0"/>
          </a:p>
        </p:txBody>
      </p:sp>
      <p:sp>
        <p:nvSpPr>
          <p:cNvPr id="18" name="Text"/>
          <p:cNvSpPr txBox="1"/>
          <p:nvPr/>
        </p:nvSpPr>
        <p:spPr>
          <a:xfrm>
            <a:off x="8350300" y="3298200"/>
            <a:ext cx="3045866" cy="17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cada registro queda convertido en una lista de números, es decir, en una posición.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registros se parecen si sus posiciones quedan cerca.</a:t>
            </a:r>
            <a:endParaRPr lang="es-MX" sz="1300" dirty="0"/>
          </a:p>
        </p:txBody>
      </p:sp>
      <p:sp>
        <p:nvSpPr>
          <p:cNvPr id="19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tres pasos entiende el reclamo de la persona. Son aritmética. Si el número está mal armado, la agrupación sale mal y se ve igual de convincente.</a:t>
            </a:r>
            <a:endParaRPr lang="es-MX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ar no alca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no alcanza</a:t>
            </a:r>
            <a:endParaRPr lang="es-MX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bolsa de palabras cuenta cuántas veces aparece cada palabra y tira el orden. «El módulo rechazó el trámite» y «el trámite rechazó el módulo» le quedan idénticos.</a:t>
            </a:r>
            <a:endParaRPr lang="es-MX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41248" y="2029968"/>
            <a:ext cx="491201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palabras más repetidas</a:t>
            </a:r>
            <a:endParaRPr lang="es-MX" sz="1700" dirty="0"/>
          </a:p>
        </p:txBody>
      </p:sp>
      <p:sp>
        <p:nvSpPr>
          <p:cNvPr id="6" name="Text"/>
          <p:cNvSpPr txBox="1"/>
          <p:nvPr/>
        </p:nvSpPr>
        <p:spPr>
          <a:xfrm>
            <a:off x="841248" y="2450512"/>
            <a:ext cx="491201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cuántos de los 118 registros aparece cada una.</a:t>
            </a:r>
            <a:endParaRPr lang="es-MX" sz="1150" dirty="0"/>
          </a:p>
        </p:txBody>
      </p:sp>
      <p:sp>
        <p:nvSpPr>
          <p:cNvPr id="7" name="Shape"/>
          <p:cNvSpPr/>
          <p:nvPr/>
        </p:nvSpPr>
        <p:spPr>
          <a:xfrm>
            <a:off x="841248" y="2840512"/>
            <a:ext cx="4912015" cy="4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1024128" y="2840512"/>
            <a:ext cx="294720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s-MX" sz="1250" dirty="0"/>
          </a:p>
        </p:txBody>
      </p:sp>
      <p:sp>
        <p:nvSpPr>
          <p:cNvPr id="9" name="Text"/>
          <p:cNvSpPr txBox="1"/>
          <p:nvPr/>
        </p:nvSpPr>
        <p:spPr>
          <a:xfrm>
            <a:off x="3788457" y="2840512"/>
            <a:ext cx="178192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118</a:t>
            </a:r>
            <a:endParaRPr lang="es-MX" sz="1150" dirty="0"/>
          </a:p>
        </p:txBody>
      </p:sp>
      <p:sp>
        <p:nvSpPr>
          <p:cNvPr id="10" name="Shape"/>
          <p:cNvSpPr/>
          <p:nvPr/>
        </p:nvSpPr>
        <p:spPr>
          <a:xfrm>
            <a:off x="841248" y="3360512"/>
            <a:ext cx="4912015" cy="4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1024128" y="3360512"/>
            <a:ext cx="294720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</a:t>
            </a:r>
            <a:endParaRPr lang="es-MX" sz="1250" dirty="0"/>
          </a:p>
        </p:txBody>
      </p:sp>
      <p:sp>
        <p:nvSpPr>
          <p:cNvPr id="12" name="Text"/>
          <p:cNvSpPr txBox="1"/>
          <p:nvPr/>
        </p:nvSpPr>
        <p:spPr>
          <a:xfrm>
            <a:off x="3788457" y="3360512"/>
            <a:ext cx="178192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118</a:t>
            </a:r>
            <a:endParaRPr lang="es-MX" sz="1150" dirty="0"/>
          </a:p>
        </p:txBody>
      </p:sp>
      <p:sp>
        <p:nvSpPr>
          <p:cNvPr id="13" name="Shape"/>
          <p:cNvSpPr/>
          <p:nvPr/>
        </p:nvSpPr>
        <p:spPr>
          <a:xfrm>
            <a:off x="841248" y="3880512"/>
            <a:ext cx="4912015" cy="4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1024128" y="3880512"/>
            <a:ext cx="294720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</a:t>
            </a:r>
            <a:endParaRPr lang="es-MX" sz="1250" dirty="0"/>
          </a:p>
        </p:txBody>
      </p:sp>
      <p:sp>
        <p:nvSpPr>
          <p:cNvPr id="15" name="Text"/>
          <p:cNvSpPr txBox="1"/>
          <p:nvPr/>
        </p:nvSpPr>
        <p:spPr>
          <a:xfrm>
            <a:off x="3788457" y="3880512"/>
            <a:ext cx="178192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118</a:t>
            </a:r>
            <a:endParaRPr lang="es-MX" sz="1150" dirty="0"/>
          </a:p>
        </p:txBody>
      </p:sp>
      <p:sp>
        <p:nvSpPr>
          <p:cNvPr id="16" name="Shape"/>
          <p:cNvSpPr/>
          <p:nvPr/>
        </p:nvSpPr>
        <p:spPr>
          <a:xfrm>
            <a:off x="841248" y="4400512"/>
            <a:ext cx="4912015" cy="4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1024128" y="4400512"/>
            <a:ext cx="294720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s-MX" sz="1250" dirty="0"/>
          </a:p>
        </p:txBody>
      </p:sp>
      <p:sp>
        <p:nvSpPr>
          <p:cNvPr id="18" name="Text"/>
          <p:cNvSpPr txBox="1"/>
          <p:nvPr/>
        </p:nvSpPr>
        <p:spPr>
          <a:xfrm>
            <a:off x="3788457" y="4400512"/>
            <a:ext cx="178192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118</a:t>
            </a:r>
            <a:endParaRPr lang="es-MX" sz="1150" dirty="0"/>
          </a:p>
        </p:txBody>
      </p:sp>
      <p:sp>
        <p:nvSpPr>
          <p:cNvPr id="19" name="Shape"/>
          <p:cNvSpPr/>
          <p:nvPr/>
        </p:nvSpPr>
        <p:spPr>
          <a:xfrm>
            <a:off x="841248" y="4920512"/>
            <a:ext cx="4912015" cy="4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1024128" y="4920512"/>
            <a:ext cx="294720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domicilio</a:t>
            </a:r>
            <a:endParaRPr lang="es-MX" sz="1250" dirty="0"/>
          </a:p>
        </p:txBody>
      </p:sp>
      <p:sp>
        <p:nvSpPr>
          <p:cNvPr id="21" name="Text"/>
          <p:cNvSpPr txBox="1"/>
          <p:nvPr/>
        </p:nvSpPr>
        <p:spPr>
          <a:xfrm>
            <a:off x="3788457" y="4920512"/>
            <a:ext cx="178192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118</a:t>
            </a:r>
            <a:endParaRPr lang="es-MX" sz="1150" dirty="0"/>
          </a:p>
        </p:txBody>
      </p:sp>
      <p:sp>
        <p:nvSpPr>
          <p:cNvPr id="22" name="Shape"/>
          <p:cNvSpPr/>
          <p:nvPr/>
        </p:nvSpPr>
        <p:spPr>
          <a:xfrm>
            <a:off x="6164511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6438831" y="2029968"/>
            <a:ext cx="49120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ninguna te dice de qué se queja la persona</a:t>
            </a:r>
            <a:endParaRPr lang="es-MX" sz="1700" dirty="0"/>
          </a:p>
        </p:txBody>
      </p:sp>
      <p:sp>
        <p:nvSpPr>
          <p:cNvPr id="24" name="Text"/>
          <p:cNvSpPr txBox="1"/>
          <p:nvPr/>
        </p:nvSpPr>
        <p:spPr>
          <a:xfrm>
            <a:off x="6438831" y="2770512"/>
            <a:ext cx="4912015" cy="26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«Módulo» aparece en catorce registros que no se parecen en nada: uno reclama que estaba cerrado, otro que le pidieron documentos de más, otro que la fila tardó tres horas.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que un registro dice «módulo» no te dice nada sobre el reclamo. Contar por contar le da el mayor peso justo a las palabras que menos separan.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problema de una columna que trae el mismo valor en casi todos los renglones: no clasifica nada.</a:t>
            </a:r>
            <a:endParaRPr lang="es-MX" sz="1300" dirty="0"/>
          </a:p>
        </p:txBody>
      </p:sp>
      <p:sp>
        <p:nvSpPr>
          <p:cNvPr id="25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defecto del programa: es lo que pasa cuando cuentas sin pesar. La lámina que sigue es el arreglo.</a:t>
            </a:r>
            <a:endParaRPr lang="es-MX" sz="1300" dirty="0"/>
          </a:p>
        </p:txBody>
      </p:sp>
      <p:sp>
        <p:nvSpPr>
          <p:cNvPr id="27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tu propio corpus: Registros_atencion_ciudadana_PARTICIPANTE.xlsx, hoja Registros, los 118 registros de la Práctica C.</a:t>
            </a:r>
            <a:endParaRPr lang="es-MX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F-ID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TF-IDF: frecuente aquí, raro en el resto</a:t>
            </a:r>
            <a:endParaRPr lang="es-MX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cabe en una frase: una palabra pesa cuando aparece mucho en este registro y poco en todos los demás.</a:t>
            </a:r>
            <a:endParaRPr lang="es-MX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810512"/>
            <a:ext cx="3503066" cy="36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795528" y="2016252"/>
            <a:ext cx="304586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distinguen</a:t>
            </a:r>
            <a:endParaRPr lang="es-MX" sz="1700" dirty="0"/>
          </a:p>
        </p:txBody>
      </p:sp>
      <p:sp>
        <p:nvSpPr>
          <p:cNvPr id="6" name="Text"/>
          <p:cNvSpPr txBox="1"/>
          <p:nvPr/>
        </p:nvSpPr>
        <p:spPr>
          <a:xfrm>
            <a:off x="795528" y="2430512"/>
            <a:ext cx="304586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en todos lados. De 118 registros:</a:t>
            </a:r>
            <a:endParaRPr lang="es-MX" sz="1100" dirty="0"/>
          </a:p>
        </p:txBody>
      </p:sp>
      <p:sp>
        <p:nvSpPr>
          <p:cNvPr id="7" name="Shape"/>
          <p:cNvSpPr/>
          <p:nvPr/>
        </p:nvSpPr>
        <p:spPr>
          <a:xfrm>
            <a:off x="4344314" y="1810512"/>
            <a:ext cx="3503066" cy="3600000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4572914" y="2016252"/>
            <a:ext cx="304586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distinguen</a:t>
            </a:r>
            <a:endParaRPr lang="es-MX" sz="1700" dirty="0"/>
          </a:p>
        </p:txBody>
      </p:sp>
      <p:sp>
        <p:nvSpPr>
          <p:cNvPr id="9" name="Text"/>
          <p:cNvSpPr txBox="1"/>
          <p:nvPr/>
        </p:nvSpPr>
        <p:spPr>
          <a:xfrm>
            <a:off x="4572914" y="2430512"/>
            <a:ext cx="304586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no aparecen. De 118 registros:</a:t>
            </a:r>
            <a:endParaRPr lang="es-MX" sz="1100" dirty="0"/>
          </a:p>
        </p:txBody>
      </p:sp>
      <p:sp>
        <p:nvSpPr>
          <p:cNvPr id="10" name="Shape"/>
          <p:cNvSpPr/>
          <p:nvPr/>
        </p:nvSpPr>
        <p:spPr>
          <a:xfrm>
            <a:off x="795528" y="2810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978408" y="2810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s-MX" sz="1250" dirty="0"/>
          </a:p>
        </p:txBody>
      </p:sp>
      <p:sp>
        <p:nvSpPr>
          <p:cNvPr id="12" name="Text"/>
          <p:cNvSpPr txBox="1"/>
          <p:nvPr/>
        </p:nvSpPr>
        <p:spPr>
          <a:xfrm>
            <a:off x="2623047" y="2810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s-MX" sz="1150" dirty="0"/>
          </a:p>
        </p:txBody>
      </p:sp>
      <p:sp>
        <p:nvSpPr>
          <p:cNvPr id="13" name="Shape"/>
          <p:cNvSpPr/>
          <p:nvPr/>
        </p:nvSpPr>
        <p:spPr>
          <a:xfrm>
            <a:off x="795528" y="3225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978408" y="3225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</a:t>
            </a:r>
            <a:endParaRPr lang="es-MX" sz="1250" dirty="0"/>
          </a:p>
        </p:txBody>
      </p:sp>
      <p:sp>
        <p:nvSpPr>
          <p:cNvPr id="15" name="Text"/>
          <p:cNvSpPr txBox="1"/>
          <p:nvPr/>
        </p:nvSpPr>
        <p:spPr>
          <a:xfrm>
            <a:off x="2623047" y="3225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MX" sz="1150" dirty="0"/>
          </a:p>
        </p:txBody>
      </p:sp>
      <p:sp>
        <p:nvSpPr>
          <p:cNvPr id="16" name="Shape"/>
          <p:cNvSpPr/>
          <p:nvPr/>
        </p:nvSpPr>
        <p:spPr>
          <a:xfrm>
            <a:off x="795528" y="3640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978408" y="3640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</a:t>
            </a:r>
            <a:endParaRPr lang="es-MX" sz="1250" dirty="0"/>
          </a:p>
        </p:txBody>
      </p:sp>
      <p:sp>
        <p:nvSpPr>
          <p:cNvPr id="18" name="Text"/>
          <p:cNvSpPr txBox="1"/>
          <p:nvPr/>
        </p:nvSpPr>
        <p:spPr>
          <a:xfrm>
            <a:off x="2623047" y="3640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s-MX" sz="1150" dirty="0"/>
          </a:p>
        </p:txBody>
      </p:sp>
      <p:sp>
        <p:nvSpPr>
          <p:cNvPr id="19" name="Shape"/>
          <p:cNvSpPr/>
          <p:nvPr/>
        </p:nvSpPr>
        <p:spPr>
          <a:xfrm>
            <a:off x="795528" y="4055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978408" y="4055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s-MX" sz="1250" dirty="0"/>
          </a:p>
        </p:txBody>
      </p:sp>
      <p:sp>
        <p:nvSpPr>
          <p:cNvPr id="21" name="Text"/>
          <p:cNvSpPr txBox="1"/>
          <p:nvPr/>
        </p:nvSpPr>
        <p:spPr>
          <a:xfrm>
            <a:off x="2623047" y="4055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MX" sz="1150" dirty="0"/>
          </a:p>
        </p:txBody>
      </p:sp>
      <p:sp>
        <p:nvSpPr>
          <p:cNvPr id="22" name="Shape"/>
          <p:cNvSpPr/>
          <p:nvPr/>
        </p:nvSpPr>
        <p:spPr>
          <a:xfrm>
            <a:off x="795528" y="4470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978408" y="4470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domicilio</a:t>
            </a:r>
            <a:endParaRPr lang="es-MX" sz="1250" dirty="0"/>
          </a:p>
        </p:txBody>
      </p:sp>
      <p:sp>
        <p:nvSpPr>
          <p:cNvPr id="24" name="Text"/>
          <p:cNvSpPr txBox="1"/>
          <p:nvPr/>
        </p:nvSpPr>
        <p:spPr>
          <a:xfrm>
            <a:off x="2623047" y="4470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MX" sz="1150" dirty="0"/>
          </a:p>
        </p:txBody>
      </p:sp>
      <p:sp>
        <p:nvSpPr>
          <p:cNvPr id="25" name="Shape"/>
          <p:cNvSpPr/>
          <p:nvPr/>
        </p:nvSpPr>
        <p:spPr>
          <a:xfrm>
            <a:off x="4572914" y="2810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4755794" y="2810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</a:t>
            </a:r>
            <a:endParaRPr lang="es-MX" sz="1250" dirty="0"/>
          </a:p>
        </p:txBody>
      </p:sp>
      <p:sp>
        <p:nvSpPr>
          <p:cNvPr id="27" name="Text"/>
          <p:cNvSpPr txBox="1"/>
          <p:nvPr/>
        </p:nvSpPr>
        <p:spPr>
          <a:xfrm>
            <a:off x="6400433" y="2810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1150" dirty="0"/>
          </a:p>
        </p:txBody>
      </p:sp>
      <p:sp>
        <p:nvSpPr>
          <p:cNvPr id="28" name="Shape"/>
          <p:cNvSpPr/>
          <p:nvPr/>
        </p:nvSpPr>
        <p:spPr>
          <a:xfrm>
            <a:off x="4572914" y="3225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4755794" y="3225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</a:t>
            </a:r>
            <a:endParaRPr lang="es-MX" sz="1250" dirty="0"/>
          </a:p>
        </p:txBody>
      </p:sp>
      <p:sp>
        <p:nvSpPr>
          <p:cNvPr id="30" name="Text"/>
          <p:cNvSpPr txBox="1"/>
          <p:nvPr/>
        </p:nvSpPr>
        <p:spPr>
          <a:xfrm>
            <a:off x="6400433" y="3225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1150" dirty="0"/>
          </a:p>
        </p:txBody>
      </p:sp>
      <p:sp>
        <p:nvSpPr>
          <p:cNvPr id="31" name="Shape"/>
          <p:cNvSpPr/>
          <p:nvPr/>
        </p:nvSpPr>
        <p:spPr>
          <a:xfrm>
            <a:off x="4572914" y="3640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4755794" y="3640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depositaron</a:t>
            </a:r>
            <a:endParaRPr lang="es-MX" sz="1250" dirty="0"/>
          </a:p>
        </p:txBody>
      </p:sp>
      <p:sp>
        <p:nvSpPr>
          <p:cNvPr id="33" name="Text"/>
          <p:cNvSpPr txBox="1"/>
          <p:nvPr/>
        </p:nvSpPr>
        <p:spPr>
          <a:xfrm>
            <a:off x="6400433" y="3640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1150" dirty="0"/>
          </a:p>
        </p:txBody>
      </p:sp>
      <p:sp>
        <p:nvSpPr>
          <p:cNvPr id="34" name="Shape"/>
          <p:cNvSpPr/>
          <p:nvPr/>
        </p:nvSpPr>
        <p:spPr>
          <a:xfrm>
            <a:off x="4572914" y="4055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4755794" y="4055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rechazaron</a:t>
            </a:r>
            <a:endParaRPr lang="es-MX" sz="1250" dirty="0"/>
          </a:p>
        </p:txBody>
      </p:sp>
      <p:sp>
        <p:nvSpPr>
          <p:cNvPr id="36" name="Text"/>
          <p:cNvSpPr txBox="1"/>
          <p:nvPr/>
        </p:nvSpPr>
        <p:spPr>
          <a:xfrm>
            <a:off x="6400433" y="4055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1150" dirty="0"/>
          </a:p>
        </p:txBody>
      </p:sp>
      <p:sp>
        <p:nvSpPr>
          <p:cNvPr id="37" name="Shape"/>
          <p:cNvSpPr/>
          <p:nvPr/>
        </p:nvSpPr>
        <p:spPr>
          <a:xfrm>
            <a:off x="4572914" y="4470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4755794" y="4470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descalifica</a:t>
            </a:r>
            <a:endParaRPr lang="es-MX" sz="1250" dirty="0"/>
          </a:p>
        </p:txBody>
      </p:sp>
      <p:sp>
        <p:nvSpPr>
          <p:cNvPr id="39" name="Text"/>
          <p:cNvSpPr txBox="1"/>
          <p:nvPr/>
        </p:nvSpPr>
        <p:spPr>
          <a:xfrm>
            <a:off x="6400433" y="4470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MX" sz="1150" dirty="0"/>
          </a:p>
        </p:txBody>
      </p:sp>
      <p:sp>
        <p:nvSpPr>
          <p:cNvPr id="40" name="Shape"/>
          <p:cNvSpPr/>
          <p:nvPr/>
        </p:nvSpPr>
        <p:spPr>
          <a:xfrm>
            <a:off x="4572914" y="4885512"/>
            <a:ext cx="3045866" cy="36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4755794" y="4885512"/>
            <a:ext cx="182751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cancelaron</a:t>
            </a:r>
            <a:endParaRPr lang="es-MX" sz="1250" dirty="0"/>
          </a:p>
        </p:txBody>
      </p:sp>
      <p:sp>
        <p:nvSpPr>
          <p:cNvPr id="42" name="Text"/>
          <p:cNvSpPr txBox="1"/>
          <p:nvPr/>
        </p:nvSpPr>
        <p:spPr>
          <a:xfrm>
            <a:off x="6400433" y="4885512"/>
            <a:ext cx="103546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MX" sz="1150" dirty="0"/>
          </a:p>
        </p:txBody>
      </p:sp>
      <p:sp>
        <p:nvSpPr>
          <p:cNvPr id="43" name="Shape"/>
          <p:cNvSpPr/>
          <p:nvPr/>
        </p:nvSpPr>
        <p:spPr>
          <a:xfrm>
            <a:off x="8121700" y="1810512"/>
            <a:ext cx="3503066" cy="3600000"/>
          </a:xfrm>
          <a:prstGeom prst="roundRect">
            <a:avLst>
              <a:gd name="adj" fmla="val 2933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8350300" y="2016252"/>
            <a:ext cx="304586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de ejemplo</a:t>
            </a:r>
            <a:endParaRPr lang="es-MX" sz="1700" dirty="0"/>
          </a:p>
        </p:txBody>
      </p:sp>
      <p:sp>
        <p:nvSpPr>
          <p:cNvPr id="45" name="Text"/>
          <p:cNvSpPr txBox="1"/>
          <p:nvPr/>
        </p:nvSpPr>
        <p:spPr>
          <a:xfrm>
            <a:off x="8350300" y="2430512"/>
            <a:ext cx="304586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RAC-2025-00011, del archivo de la sesión 1.</a:t>
            </a:r>
            <a:endParaRPr lang="es-MX" sz="1100" dirty="0"/>
          </a:p>
        </p:txBody>
      </p:sp>
      <p:sp>
        <p:nvSpPr>
          <p:cNvPr id="46" name="Shape"/>
          <p:cNvSpPr/>
          <p:nvPr/>
        </p:nvSpPr>
        <p:spPr>
          <a:xfrm>
            <a:off x="8350300" y="2810512"/>
            <a:ext cx="3045866" cy="11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"/>
          <p:cNvSpPr txBox="1"/>
          <p:nvPr/>
        </p:nvSpPr>
        <p:spPr>
          <a:xfrm>
            <a:off x="8502700" y="2940512"/>
            <a:ext cx="2741066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s-MX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«Dice que le depositaron menos de lo que le toca. Esperaba tres mil cien y solo le llegaron mil quinientos cincuenta.»</a:t>
            </a:r>
            <a:endParaRPr lang="es-MX" sz="1150" dirty="0"/>
          </a:p>
        </p:txBody>
      </p:sp>
      <p:sp>
        <p:nvSpPr>
          <p:cNvPr id="48" name="Text"/>
          <p:cNvSpPr txBox="1"/>
          <p:nvPr/>
        </p:nvSpPr>
        <p:spPr>
          <a:xfrm>
            <a:off x="8350300" y="4110512"/>
            <a:ext cx="304586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 aquí:</a:t>
            </a:r>
            <a:endParaRPr lang="es-MX" sz="1150" dirty="0"/>
          </a:p>
        </p:txBody>
      </p:sp>
      <p:sp>
        <p:nvSpPr>
          <p:cNvPr id="49" name="Text"/>
          <p:cNvSpPr txBox="1"/>
          <p:nvPr/>
        </p:nvSpPr>
        <p:spPr>
          <a:xfrm>
            <a:off x="8350300" y="4380512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s-MX" sz="1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depositaron · esperaba · cincuenta</a:t>
            </a:r>
            <a:endParaRPr lang="es-MX" sz="1400" dirty="0"/>
          </a:p>
        </p:txBody>
      </p:sp>
      <p:sp>
        <p:nvSpPr>
          <p:cNvPr id="50" name="Text"/>
          <p:cNvSpPr txBox="1"/>
          <p:nvPr/>
        </p:nvSpPr>
        <p:spPr>
          <a:xfrm>
            <a:off x="8350300" y="4840512"/>
            <a:ext cx="304586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s-MX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en 3, en 1 y en 1 de los 118 registros.</a:t>
            </a:r>
            <a:endParaRPr lang="es-MX" sz="1050" dirty="0"/>
          </a:p>
        </p:txBody>
      </p:sp>
      <p:sp>
        <p:nvSpPr>
          <p:cNvPr id="51" name="Shape"/>
          <p:cNvSpPr/>
          <p:nvPr/>
        </p:nvSpPr>
        <p:spPr>
          <a:xfrm>
            <a:off x="566928" y="5660000"/>
            <a:ext cx="11057839" cy="64000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52" name="Text"/>
          <p:cNvSpPr txBox="1"/>
          <p:nvPr/>
        </p:nvSpPr>
        <p:spPr>
          <a:xfrm>
            <a:off x="804672" y="5660000"/>
            <a:ext cx="10582351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el otro lado de la misma moneda: una palabra rara pesa mucho, pero un tema del que solo hay dos o tres registros no junta casos suficientes para volverse categoría. Termina en «otros», y «otros» se revisa a mano.</a:t>
            </a:r>
            <a:endParaRPr lang="es-MX" sz="1300" dirty="0"/>
          </a:p>
        </p:txBody>
      </p:sp>
      <p:sp>
        <p:nvSpPr>
          <p:cNvPr id="53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tu propio corpus: Registros_atencion_ciudadana_PARTICIPANTE.xlsx, hoja Registros, los 118 registros de la Práctica C.</a:t>
            </a:r>
            <a:endParaRPr lang="es-MX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ónde falla cont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falla contar palabras</a:t>
            </a:r>
            <a:endParaRPr lang="es-MX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pares de registros reales del archivo de la sesión 1. En los dos, quien solo compara palabras se equivoca.</a:t>
            </a:r>
            <a:endParaRPr lang="es-MX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41248" y="2029968"/>
            <a:ext cx="4912015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palabras, temas distintos</a:t>
            </a:r>
            <a:endParaRPr lang="es-MX" sz="1700" dirty="0"/>
          </a:p>
        </p:txBody>
      </p:sp>
      <p:sp>
        <p:nvSpPr>
          <p:cNvPr id="6" name="Shape"/>
          <p:cNvSpPr/>
          <p:nvPr/>
        </p:nvSpPr>
        <p:spPr>
          <a:xfrm>
            <a:off x="841248" y="2550512"/>
            <a:ext cx="4912015" cy="1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1024128" y="2650512"/>
            <a:ext cx="4546255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spc="1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RAC-2025-00073</a:t>
            </a:r>
            <a:endParaRPr lang="es-MX" sz="1000" dirty="0"/>
          </a:p>
        </p:txBody>
      </p:sp>
      <p:sp>
        <p:nvSpPr>
          <p:cNvPr id="8" name="Text"/>
          <p:cNvSpPr txBox="1"/>
          <p:nvPr/>
        </p:nvSpPr>
        <p:spPr>
          <a:xfrm>
            <a:off x="1024128" y="2880512"/>
            <a:ext cx="4546255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Manifiesta que su esposo cobró con su tarjeta sin su permiso y quiere saber cómo cambiar el NIP.</a:t>
            </a:r>
            <a:endParaRPr lang="es-MX" sz="1200" dirty="0"/>
          </a:p>
        </p:txBody>
      </p:sp>
      <p:sp>
        <p:nvSpPr>
          <p:cNvPr id="9" name="Shape"/>
          <p:cNvSpPr/>
          <p:nvPr/>
        </p:nvSpPr>
        <p:spPr>
          <a:xfrm>
            <a:off x="841248" y="3610512"/>
            <a:ext cx="4912015" cy="1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1024128" y="3710512"/>
            <a:ext cx="4546255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spc="1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RAC-2025-00055</a:t>
            </a:r>
            <a:endParaRPr lang="es-MX" sz="1000" dirty="0"/>
          </a:p>
        </p:txBody>
      </p:sp>
      <p:sp>
        <p:nvSpPr>
          <p:cNvPr id="11" name="Text"/>
          <p:cNvSpPr txBox="1"/>
          <p:nvPr/>
        </p:nvSpPr>
        <p:spPr>
          <a:xfrm>
            <a:off x="1024128" y="3940512"/>
            <a:ext cx="4546255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tarjeta caducó el mes pasado y quiere saber si el apoyo se pierde mientras le dan la nueva.</a:t>
            </a:r>
            <a:endParaRPr lang="es-MX" sz="1200" dirty="0"/>
          </a:p>
        </p:txBody>
      </p:sp>
      <p:sp>
        <p:nvSpPr>
          <p:cNvPr id="12" name="Text"/>
          <p:cNvSpPr txBox="1"/>
          <p:nvPr/>
        </p:nvSpPr>
        <p:spPr>
          <a:xfrm>
            <a:off x="841248" y="4680512"/>
            <a:ext cx="491201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25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Comparten: tarjeta · quiere · saber</a:t>
            </a:r>
            <a:endParaRPr lang="es-MX" sz="1250" dirty="0"/>
          </a:p>
        </p:txBody>
      </p:sp>
      <p:sp>
        <p:nvSpPr>
          <p:cNvPr id="13" name="Text"/>
          <p:cNvSpPr txBox="1"/>
          <p:nvPr/>
        </p:nvSpPr>
        <p:spPr>
          <a:xfrm>
            <a:off x="841248" y="5010512"/>
            <a:ext cx="4912015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s-MX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es un caso de seguridad y posible violencia patrimonial; el otro es una duda de reglas de operación. Contando palabras quedan en el mismo montón.</a:t>
            </a:r>
            <a:endParaRPr lang="es-MX" sz="1250" dirty="0"/>
          </a:p>
        </p:txBody>
      </p:sp>
      <p:sp>
        <p:nvSpPr>
          <p:cNvPr id="14" name="Shape"/>
          <p:cNvSpPr/>
          <p:nvPr/>
        </p:nvSpPr>
        <p:spPr>
          <a:xfrm>
            <a:off x="6164511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6438831" y="2029968"/>
            <a:ext cx="4912015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palabras, mismo tema</a:t>
            </a:r>
            <a:endParaRPr lang="es-MX" sz="1700" dirty="0"/>
          </a:p>
        </p:txBody>
      </p:sp>
      <p:sp>
        <p:nvSpPr>
          <p:cNvPr id="16" name="Shape"/>
          <p:cNvSpPr/>
          <p:nvPr/>
        </p:nvSpPr>
        <p:spPr>
          <a:xfrm>
            <a:off x="6438831" y="2550512"/>
            <a:ext cx="4912015" cy="1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6621711" y="2650512"/>
            <a:ext cx="4546255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spc="1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RAC-2025-00014</a:t>
            </a:r>
            <a:endParaRPr lang="es-MX" sz="1000" dirty="0"/>
          </a:p>
        </p:txBody>
      </p:sp>
      <p:sp>
        <p:nvSpPr>
          <p:cNvPr id="18" name="Text"/>
          <p:cNvSpPr txBox="1"/>
          <p:nvPr/>
        </p:nvSpPr>
        <p:spPr>
          <a:xfrm>
            <a:off x="6621711" y="2880512"/>
            <a:ext cx="4546255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beneficiaria señala que el apoyo del bimestre no le ha llegado. Comenta que a su vecina sí le depositaron desde la semana pasada.</a:t>
            </a:r>
            <a:endParaRPr lang="es-MX" sz="1200" dirty="0"/>
          </a:p>
        </p:txBody>
      </p:sp>
      <p:sp>
        <p:nvSpPr>
          <p:cNvPr id="19" name="Shape"/>
          <p:cNvSpPr/>
          <p:nvPr/>
        </p:nvSpPr>
        <p:spPr>
          <a:xfrm>
            <a:off x="6438831" y="3610512"/>
            <a:ext cx="4912015" cy="1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6621711" y="3710512"/>
            <a:ext cx="4546255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spc="1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RAC-2025-00096</a:t>
            </a:r>
            <a:endParaRPr lang="es-MX" sz="1000" dirty="0"/>
          </a:p>
        </p:txBody>
      </p:sp>
      <p:sp>
        <p:nvSpPr>
          <p:cNvPr id="21" name="Text"/>
          <p:cNvSpPr txBox="1"/>
          <p:nvPr/>
        </p:nvSpPr>
        <p:spPr>
          <a:xfrm>
            <a:off x="6621711" y="3940512"/>
            <a:ext cx="4546255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 podido cobrar porque en el banco le dicen que su cuenta aparece inactiva.</a:t>
            </a:r>
            <a:endParaRPr lang="es-MX" sz="1200" dirty="0"/>
          </a:p>
        </p:txBody>
      </p:sp>
      <p:sp>
        <p:nvSpPr>
          <p:cNvPr id="22" name="Text"/>
          <p:cNvSpPr txBox="1"/>
          <p:nvPr/>
        </p:nvSpPr>
        <p:spPr>
          <a:xfrm>
            <a:off x="6438831" y="4680512"/>
            <a:ext cx="491201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2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Comparten: ninguna palabra de contenido</a:t>
            </a:r>
            <a:endParaRPr lang="es-MX" sz="1250" dirty="0"/>
          </a:p>
        </p:txBody>
      </p:sp>
      <p:sp>
        <p:nvSpPr>
          <p:cNvPr id="23" name="Text"/>
          <p:cNvSpPr txBox="1"/>
          <p:nvPr/>
        </p:nvSpPr>
        <p:spPr>
          <a:xfrm>
            <a:off x="6438831" y="5010512"/>
            <a:ext cx="4912015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s-MX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están diciendo «no tengo mi dinero». Contando palabras quedan lejísimos uno del otro.</a:t>
            </a:r>
            <a:endParaRPr lang="es-MX" sz="1250" dirty="0"/>
          </a:p>
        </p:txBody>
      </p:sp>
      <p:sp>
        <p:nvSpPr>
          <p:cNvPr id="24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errores cuestan igual: el primero junta lo que debía separarse y el segundo separa lo que debía juntarse. Por eso el agrupamiento se revisa a mano antes de reportar nada.</a:t>
            </a:r>
            <a:endParaRPr lang="es-MX" sz="1300" dirty="0"/>
          </a:p>
        </p:txBody>
      </p:sp>
      <p:sp>
        <p:nvSpPr>
          <p:cNvPr id="26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ese mismo archivo, hoja Registros: folios RAC-2025-00073, 00055, 00014 y 00096.</a:t>
            </a:r>
            <a:endParaRPr lang="es-MX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ect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Vectores: el texto como coordenadas</a:t>
            </a:r>
            <a:endParaRPr lang="es-MX" sz="3200" dirty="0"/>
          </a:p>
        </p:txBody>
      </p:sp>
      <p:sp>
        <p:nvSpPr>
          <p:cNvPr id="22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texto se vuelve una lista de números, y esa lista es una posición en un mapa. Los textos que significan lo mismo caen cerca aunque no compartan ninguna palabra.</a:t>
            </a:r>
            <a:endParaRPr lang="es-MX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1810512"/>
            <a:ext cx="6705600" cy="3843648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" name="Shape"/>
          <p:cNvSpPr/>
          <p:nvPr/>
        </p:nvSpPr>
        <p:spPr>
          <a:xfrm>
            <a:off x="704088" y="1947672"/>
            <a:ext cx="6431280" cy="3569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4" name="Shape"/>
          <p:cNvSpPr/>
          <p:nvPr/>
        </p:nvSpPr>
        <p:spPr>
          <a:xfrm>
            <a:off x="1266928" y="2360512"/>
            <a:ext cx="1800000" cy="1800000"/>
          </a:xfrm>
          <a:prstGeom prst="ellipse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4366928" y="3660512"/>
            <a:ext cx="1600000" cy="1600000"/>
          </a:xfrm>
          <a:prstGeom prst="ellipse">
            <a:avLst/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6" name="Line"/>
          <p:cNvSpPr/>
          <p:nvPr/>
        </p:nvSpPr>
        <p:spPr>
          <a:xfrm>
            <a:off x="1843128" y="2886712"/>
            <a:ext cx="300000" cy="250000"/>
          </a:xfrm>
          <a:prstGeom prst="line">
            <a:avLst/>
          </a:prstGeom>
          <a:ln w="12700">
            <a:solidFill>
              <a:srgbClr val="2E7D7D"/>
            </a:solidFill>
            <a:prstDash val="sysDot"/>
          </a:ln>
        </p:spPr>
      </p:sp>
      <p:sp>
        <p:nvSpPr>
          <p:cNvPr id="7" name="Shape"/>
          <p:cNvSpPr/>
          <p:nvPr/>
        </p:nvSpPr>
        <p:spPr>
          <a:xfrm>
            <a:off x="1766928" y="2810512"/>
            <a:ext cx="152400" cy="1524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8" name="Shape"/>
          <p:cNvSpPr/>
          <p:nvPr/>
        </p:nvSpPr>
        <p:spPr>
          <a:xfrm>
            <a:off x="2066928" y="3060512"/>
            <a:ext cx="152400" cy="1524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Shape"/>
          <p:cNvSpPr/>
          <p:nvPr/>
        </p:nvSpPr>
        <p:spPr>
          <a:xfrm>
            <a:off x="1616928" y="3290512"/>
            <a:ext cx="152400" cy="1524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2346928" y="3410512"/>
            <a:ext cx="152400" cy="1524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Shape"/>
          <p:cNvSpPr/>
          <p:nvPr/>
        </p:nvSpPr>
        <p:spPr>
          <a:xfrm>
            <a:off x="2466928" y="2940512"/>
            <a:ext cx="152400" cy="1524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2" name="Shape"/>
          <p:cNvSpPr/>
          <p:nvPr/>
        </p:nvSpPr>
        <p:spPr>
          <a:xfrm>
            <a:off x="5116928" y="4190512"/>
            <a:ext cx="152400" cy="1524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3" name="Shape"/>
          <p:cNvSpPr/>
          <p:nvPr/>
        </p:nvSpPr>
        <p:spPr>
          <a:xfrm>
            <a:off x="5416928" y="4450512"/>
            <a:ext cx="152400" cy="1524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4" name="Shape"/>
          <p:cNvSpPr/>
          <p:nvPr/>
        </p:nvSpPr>
        <p:spPr>
          <a:xfrm>
            <a:off x="4966928" y="4660512"/>
            <a:ext cx="152400" cy="1524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1266928" y="2060512"/>
            <a:ext cx="3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me ha llegado mi dinero»</a:t>
            </a:r>
            <a:endParaRPr lang="es-MX" sz="1150" dirty="0"/>
          </a:p>
        </p:txBody>
      </p:sp>
      <p:sp>
        <p:nvSpPr>
          <p:cNvPr id="16" name="Text"/>
          <p:cNvSpPr txBox="1"/>
          <p:nvPr/>
        </p:nvSpPr>
        <p:spPr>
          <a:xfrm>
            <a:off x="2016928" y="2770512"/>
            <a:ext cx="12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RAC-2025-00014</a:t>
            </a:r>
            <a:endParaRPr lang="es-MX" sz="1000" dirty="0"/>
          </a:p>
        </p:txBody>
      </p:sp>
      <p:sp>
        <p:nvSpPr>
          <p:cNvPr id="17" name="Text"/>
          <p:cNvSpPr txBox="1"/>
          <p:nvPr/>
        </p:nvSpPr>
        <p:spPr>
          <a:xfrm>
            <a:off x="2316928" y="3070512"/>
            <a:ext cx="12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RAC-2025-00096</a:t>
            </a:r>
            <a:endParaRPr lang="es-MX" sz="1000" dirty="0"/>
          </a:p>
        </p:txBody>
      </p:sp>
      <p:sp>
        <p:nvSpPr>
          <p:cNvPr id="18" name="Text"/>
          <p:cNvSpPr txBox="1"/>
          <p:nvPr/>
        </p:nvSpPr>
        <p:spPr>
          <a:xfrm>
            <a:off x="4266928" y="3350512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5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«seguridad de mi tarjeta»</a:t>
            </a:r>
            <a:endParaRPr lang="es-MX" sz="1150" dirty="0"/>
          </a:p>
        </p:txBody>
      </p:sp>
      <p:sp>
        <p:nvSpPr>
          <p:cNvPr id="19" name="Text"/>
          <p:cNvSpPr txBox="1"/>
          <p:nvPr/>
        </p:nvSpPr>
        <p:spPr>
          <a:xfrm>
            <a:off x="5666928" y="4460512"/>
            <a:ext cx="12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RAC-2025-00073</a:t>
            </a:r>
            <a:endParaRPr lang="es-MX" sz="1000" dirty="0"/>
          </a:p>
        </p:txBody>
      </p:sp>
      <p:sp>
        <p:nvSpPr>
          <p:cNvPr id="20" name="Text"/>
          <p:cNvSpPr txBox="1"/>
          <p:nvPr/>
        </p:nvSpPr>
        <p:spPr>
          <a:xfrm>
            <a:off x="916928" y="5174160"/>
            <a:ext cx="6005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es un registro. Lo único que importa es qué tan cerca quedó de cuál.</a:t>
            </a:r>
            <a:endParaRPr lang="es-MX" sz="1050" dirty="0"/>
          </a:p>
        </p:txBody>
      </p:sp>
      <p:sp>
        <p:nvSpPr>
          <p:cNvPr id="23" name="Text"/>
          <p:cNvSpPr txBox="1"/>
          <p:nvPr/>
        </p:nvSpPr>
        <p:spPr>
          <a:xfrm>
            <a:off x="7589520" y="1870512"/>
            <a:ext cx="4035247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cambió</a:t>
            </a:r>
            <a:endParaRPr lang="es-MX" sz="1700" dirty="0"/>
          </a:p>
        </p:txBody>
      </p:sp>
      <p:sp>
        <p:nvSpPr>
          <p:cNvPr id="24" name="Text"/>
          <p:cNvSpPr txBox="1"/>
          <p:nvPr/>
        </p:nvSpPr>
        <p:spPr>
          <a:xfrm>
            <a:off x="7589520" y="2370512"/>
            <a:ext cx="4035247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Contando palabras, dos registros solo quedan cerca si repiten las mismas palabras. Por eso el par de la lámina anterior quedaba lejos.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vector de significado no se cuenta: se aprende de millones de textos. Ahí «no le ha llegado», «no ha podido cobrar» y «no me depositaron» terminan apuntando al mismo rumbo.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hace la herramienta cuando le pides agrupar por tema y no por palabra.</a:t>
            </a:r>
            <a:endParaRPr lang="es-MX" sz="1300" dirty="0"/>
          </a:p>
        </p:txBody>
      </p:sp>
      <p:sp>
        <p:nvSpPr>
          <p:cNvPr id="25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mapa tiene cientos de dimensiones, no dos. El dibujo es una simplificación: lo único que se conserva es qué queda cerca de qué.</a:t>
            </a:r>
            <a:endParaRPr lang="es-MX" sz="1300" dirty="0"/>
          </a:p>
        </p:txBody>
      </p:sp>
      <p:sp>
        <p:nvSpPr>
          <p:cNvPr id="27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ese mismo archivo, hoja Registros: folios RAC-2025-00073, 00055, 00014 y 00096.</a:t>
            </a:r>
            <a:endParaRPr lang="es-MX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o que no es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dato no es texto</a:t>
            </a:r>
            <a:endParaRPr lang="es-MX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tabla las columnas no son todas del mismo tipo, y entonces la distancia entre dos casos se calcula distinto.</a:t>
            </a:r>
            <a:endParaRPr lang="es-MX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900000"/>
            <a:ext cx="3503066" cy="34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795528" y="2128600"/>
            <a:ext cx="457200" cy="4572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95528" y="21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MX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MX" sz="1500" dirty="0"/>
          </a:p>
        </p:txBody>
      </p:sp>
      <p:sp>
        <p:nvSpPr>
          <p:cNvPr id="7" name="Text"/>
          <p:cNvSpPr txBox="1"/>
          <p:nvPr/>
        </p:nvSpPr>
        <p:spPr>
          <a:xfrm>
            <a:off x="795528" y="2738200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s-MX" sz="1700" dirty="0"/>
          </a:p>
        </p:txBody>
      </p:sp>
      <p:sp>
        <p:nvSpPr>
          <p:cNvPr id="8" name="Text"/>
          <p:cNvSpPr txBox="1"/>
          <p:nvPr/>
        </p:nvSpPr>
        <p:spPr>
          <a:xfrm>
            <a:off x="795528" y="3298200"/>
            <a:ext cx="3045866" cy="17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padrón conviven la edad, que es un número; el municipio, que es una categoría; y si tiene comprobante, que es un sí o un no.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esas tres columnas entre sí no significa nada.</a:t>
            </a:r>
            <a:endParaRPr lang="es-MX" sz="1300" dirty="0"/>
          </a:p>
        </p:txBody>
      </p:sp>
      <p:sp>
        <p:nvSpPr>
          <p:cNvPr id="9" name="Shape"/>
          <p:cNvSpPr/>
          <p:nvPr/>
        </p:nvSpPr>
        <p:spPr>
          <a:xfrm>
            <a:off x="4344314" y="1900000"/>
            <a:ext cx="3503066" cy="3400000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4572914" y="2128600"/>
            <a:ext cx="457200" cy="4572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572914" y="21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MX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MX" sz="1500" dirty="0"/>
          </a:p>
        </p:txBody>
      </p:sp>
      <p:sp>
        <p:nvSpPr>
          <p:cNvPr id="12" name="Text"/>
          <p:cNvSpPr txBox="1"/>
          <p:nvPr/>
        </p:nvSpPr>
        <p:spPr>
          <a:xfrm>
            <a:off x="4572914" y="2738200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distancia de Gower</a:t>
            </a:r>
            <a:endParaRPr lang="es-MX" sz="1700" dirty="0"/>
          </a:p>
        </p:txBody>
      </p:sp>
      <p:sp>
        <p:nvSpPr>
          <p:cNvPr id="13" name="Text"/>
          <p:cNvSpPr txBox="1"/>
          <p:nvPr/>
        </p:nvSpPr>
        <p:spPr>
          <a:xfrm>
            <a:off x="4572914" y="3298200"/>
            <a:ext cx="3045866" cy="17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más usada para tablas con variables mezcladas.</a:t>
            </a:r>
            <a:endParaRPr lang="es-MX" sz="13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cada columna a una escala de cero a uno: cero si los dos casos son iguales en esa columna, uno si son lo más distintos posible. Después promedia todas las columnas.</a:t>
            </a:r>
            <a:endParaRPr lang="es-MX" sz="1300" dirty="0"/>
          </a:p>
        </p:txBody>
      </p:sp>
      <p:sp>
        <p:nvSpPr>
          <p:cNvPr id="14" name="Shape"/>
          <p:cNvSpPr/>
          <p:nvPr/>
        </p:nvSpPr>
        <p:spPr>
          <a:xfrm>
            <a:off x="8121700" y="1900000"/>
            <a:ext cx="3503066" cy="3400000"/>
          </a:xfrm>
          <a:prstGeom prst="roundRect">
            <a:avLst>
              <a:gd name="adj" fmla="val 2933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8350300" y="2128600"/>
            <a:ext cx="457200" cy="4572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8350300" y="21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MX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MX" sz="1500" dirty="0"/>
          </a:p>
        </p:txBody>
      </p:sp>
      <p:sp>
        <p:nvSpPr>
          <p:cNvPr id="17" name="Text"/>
          <p:cNvSpPr txBox="1"/>
          <p:nvPr/>
        </p:nvSpPr>
        <p:spPr>
          <a:xfrm>
            <a:off x="8350300" y="2738200"/>
            <a:ext cx="3045866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s-MX" sz="17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 aquí</a:t>
            </a:r>
            <a:endParaRPr lang="es-MX" sz="1700" dirty="0"/>
          </a:p>
        </p:txBody>
      </p:sp>
      <p:sp>
        <p:nvSpPr>
          <p:cNvPr id="18" name="Text"/>
          <p:cNvSpPr txBox="1"/>
          <p:nvPr/>
        </p:nvSpPr>
        <p:spPr>
          <a:xfrm>
            <a:off x="8350300" y="3298200"/>
            <a:ext cx="3045866" cy="17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Emparejar casos parecidos, depurar padrones buscando registros casi idénticos y agrupar municipios por varias características a la vez.</a:t>
            </a:r>
            <a:endParaRPr lang="es-MX" sz="1300" dirty="0"/>
          </a:p>
        </p:txBody>
      </p:sp>
      <p:sp>
        <p:nvSpPr>
          <p:cNvPr id="19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se practica en el Módulo III, que es donde sí vas a escribir código. Por ahora basta con que sepas que existe y que la distancia que eliges cambia el resultado.</a:t>
            </a:r>
            <a:endParaRPr lang="es-MX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e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MX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seguir por tu cuenta</a:t>
            </a:r>
            <a:endParaRPr lang="es-MX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s-MX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fuentes, todas verificables: es exactamente lo que este curso te pide hacer con cualquier referencia.</a:t>
            </a:r>
            <a:endParaRPr lang="es-MX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900000"/>
            <a:ext cx="3503066" cy="35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795528" y="2174320"/>
            <a:ext cx="304586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Jurafsky y Martin</a:t>
            </a:r>
            <a:endParaRPr lang="es-MX" sz="1700" dirty="0"/>
          </a:p>
        </p:txBody>
      </p:sp>
      <p:sp>
        <p:nvSpPr>
          <p:cNvPr id="6" name="Text"/>
          <p:cNvSpPr txBox="1"/>
          <p:nvPr/>
        </p:nvSpPr>
        <p:spPr>
          <a:xfrm>
            <a:off x="795528" y="2750000"/>
            <a:ext cx="3045866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Language Processing. El capítulo de vectores semánticos explica con calma todo lo de estas láminas. Gratuito y en línea.</a:t>
            </a:r>
            <a:endParaRPr lang="es-MX" sz="1300" dirty="0"/>
          </a:p>
        </p:txBody>
      </p:sp>
      <p:sp>
        <p:nvSpPr>
          <p:cNvPr id="7" name="Shape"/>
          <p:cNvSpPr/>
          <p:nvPr/>
        </p:nvSpPr>
        <p:spPr>
          <a:xfrm>
            <a:off x="795528" y="4605680"/>
            <a:ext cx="3045866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932688" y="4605680"/>
            <a:ext cx="277154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MX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web.stanford.edu/~jurafsky/slp3/</a:t>
            </a:r>
            <a:endParaRPr lang="es-MX" sz="1100" dirty="0"/>
          </a:p>
        </p:txBody>
      </p:sp>
      <p:sp>
        <p:nvSpPr>
          <p:cNvPr id="9" name="Shape"/>
          <p:cNvSpPr/>
          <p:nvPr/>
        </p:nvSpPr>
        <p:spPr>
          <a:xfrm>
            <a:off x="4344314" y="1900000"/>
            <a:ext cx="3503066" cy="35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4572914" y="2174320"/>
            <a:ext cx="304586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Gower, 1971</a:t>
            </a:r>
            <a:endParaRPr lang="es-MX" sz="1700" dirty="0"/>
          </a:p>
        </p:txBody>
      </p:sp>
      <p:sp>
        <p:nvSpPr>
          <p:cNvPr id="11" name="Text"/>
          <p:cNvSpPr txBox="1"/>
          <p:nvPr/>
        </p:nvSpPr>
        <p:spPr>
          <a:xfrm>
            <a:off x="4572914" y="2750000"/>
            <a:ext cx="3045866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Coefficient of Similarity and Some of Its Properties. Biometrics 27(4). El artículo original de la distancia de la lámina 7.</a:t>
            </a:r>
            <a:endParaRPr lang="es-MX" sz="1300" dirty="0"/>
          </a:p>
        </p:txBody>
      </p:sp>
      <p:sp>
        <p:nvSpPr>
          <p:cNvPr id="12" name="Shape"/>
          <p:cNvSpPr/>
          <p:nvPr/>
        </p:nvSpPr>
        <p:spPr>
          <a:xfrm>
            <a:off x="4572914" y="4605680"/>
            <a:ext cx="3045866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4710074" y="4605680"/>
            <a:ext cx="277154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MX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doi.org/10.2307/2528823</a:t>
            </a:r>
            <a:endParaRPr lang="es-MX" sz="1100" dirty="0"/>
          </a:p>
        </p:txBody>
      </p:sp>
      <p:sp>
        <p:nvSpPr>
          <p:cNvPr id="14" name="Shape"/>
          <p:cNvSpPr/>
          <p:nvPr/>
        </p:nvSpPr>
        <p:spPr>
          <a:xfrm>
            <a:off x="8121700" y="1900000"/>
            <a:ext cx="3503066" cy="35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8350300" y="2174320"/>
            <a:ext cx="304586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Alammar</a:t>
            </a:r>
            <a:endParaRPr lang="es-MX" sz="1700" dirty="0"/>
          </a:p>
        </p:txBody>
      </p:sp>
      <p:sp>
        <p:nvSpPr>
          <p:cNvPr id="16" name="Text"/>
          <p:cNvSpPr txBox="1"/>
          <p:nvPr/>
        </p:nvSpPr>
        <p:spPr>
          <a:xfrm>
            <a:off x="8350300" y="2750000"/>
            <a:ext cx="3045866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Illustrated Word2vec. La explicación visual de por qué un texto se puede volver una posición en un mapa.</a:t>
            </a:r>
            <a:endParaRPr lang="es-MX" sz="1300" dirty="0"/>
          </a:p>
        </p:txBody>
      </p:sp>
      <p:sp>
        <p:nvSpPr>
          <p:cNvPr id="17" name="Shape"/>
          <p:cNvSpPr/>
          <p:nvPr/>
        </p:nvSpPr>
        <p:spPr>
          <a:xfrm>
            <a:off x="8350300" y="4605680"/>
            <a:ext cx="3045866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8487460" y="4605680"/>
            <a:ext cx="277154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MX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jalammar.github.io/illustrated-word2vec/</a:t>
            </a:r>
            <a:endParaRPr lang="es-MX" sz="1100" dirty="0"/>
          </a:p>
        </p:txBody>
      </p:sp>
      <p:sp>
        <p:nvSpPr>
          <p:cNvPr id="19" name="Text"/>
          <p:cNvSpPr txBox="1"/>
          <p:nvPr/>
        </p:nvSpPr>
        <p:spPr>
          <a:xfrm>
            <a:off x="566928" y="5700000"/>
            <a:ext cx="11057839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verificadas el 17 de septiembre de 2026.</a:t>
            </a:r>
            <a:endParaRPr lang="es-MX" sz="1200" dirty="0"/>
          </a:p>
          <a:p>
            <a:pPr indent="0" marL="0">
              <a:buNone/>
            </a:pPr>
            <a:r>
              <a:rPr lang="es-MX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anexo es lectura opcional y acompaña la charla del receso de la sesión 4.</a:t>
            </a:r>
            <a:endParaRPr lang="es-MX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2026-09-13T23:31:27Z</dcterms:created>
  <dcterms:modified xsi:type="dcterms:W3CDTF">2026-09-13T23:31:27Z</dcterms:modified>
</cp:coreProperties>
</file>