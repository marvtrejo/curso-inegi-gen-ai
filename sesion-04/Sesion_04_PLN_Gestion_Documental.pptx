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 revelar la distribución real de los temas hasta el final. Los seis registros ambiguos son los que hacen la discusión.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371600" y="-2011680"/>
            <a:ext cx="5852160" cy="5852160"/>
          </a:xfrm>
          <a:prstGeom prst="ellipse">
            <a:avLst/>
          </a:prstGeom>
          <a:solidFill>
            <a:srgbClr val="24404E"/>
          </a:solidFill>
          <a:ln w="12700">
            <a:solidFill>
              <a:srgbClr val="24404E"/>
            </a:solidFill>
            <a:prstDash val="solid"/>
          </a:ln>
        </p:spPr>
      </p:sp>
      <p:sp>
        <p:nvSpPr>
          <p:cNvPr id="3" name="Shape 1"/>
          <p:cNvSpPr/>
          <p:nvPr/>
        </p:nvSpPr>
        <p:spPr>
          <a:xfrm>
            <a:off x="9692640" y="4206240"/>
            <a:ext cx="4206240" cy="4206240"/>
          </a:xfrm>
          <a:prstGeom prst="ellipse">
            <a:avLst/>
          </a:prstGeom>
          <a:solidFill>
            <a:srgbClr val="24404E"/>
          </a:solidFill>
          <a:ln w="12700">
            <a:solidFill>
              <a:srgbClr val="24404E"/>
            </a:solidFill>
            <a:prstDash val="solid"/>
          </a:ln>
        </p:spPr>
      </p:sp>
      <p:sp>
        <p:nvSpPr>
          <p:cNvPr id="4" name="Text 2"/>
          <p:cNvSpPr txBox="1"/>
          <p:nvPr/>
        </p:nvSpPr>
        <p:spPr>
          <a:xfrm>
            <a:off x="566928" y="1417320"/>
            <a:ext cx="10424160" cy="365760"/>
          </a:xfrm>
          <a:prstGeom prst="rect">
            <a:avLst/>
          </a:prstGeom>
          <a:noFill/>
          <a:ln/>
        </p:spPr>
        <p:txBody>
          <a:bodyPr wrap="square" lIns="0" tIns="0" rIns="0" bIns="0" rtlCol="0" anchor="ctr"/>
          <a:lstStyle/>
          <a:p>
            <a:pPr indent="0" marL="0">
              <a:buNone/>
            </a:pPr>
            <a:r>
              <a:rPr lang="en-US" sz="1500" b="1" spc="200" kern="0" dirty="0">
                <a:solidFill>
                  <a:srgbClr val="D7E7E7"/>
                </a:solidFill>
                <a:latin typeface="Calibri" pitchFamily="34" charset="0"/>
                <a:ea typeface="Calibri" pitchFamily="34" charset="-122"/>
                <a:cs typeface="Calibri" pitchFamily="34" charset="-120"/>
              </a:rPr>
              <a:t>MÓDULO II. ANÁLISIS CUALITATIVO ASISTIDO POR IA Y PLN</a:t>
            </a:r>
            <a:endParaRPr lang="en-US" sz="1500" dirty="0"/>
          </a:p>
        </p:txBody>
      </p:sp>
      <p:sp>
        <p:nvSpPr>
          <p:cNvPr id="5" name="Text 3"/>
          <p:cNvSpPr txBox="1"/>
          <p:nvPr/>
        </p:nvSpPr>
        <p:spPr>
          <a:xfrm>
            <a:off x="566928" y="1874520"/>
            <a:ext cx="10424160" cy="640080"/>
          </a:xfrm>
          <a:prstGeom prst="rect">
            <a:avLst/>
          </a:prstGeom>
          <a:noFill/>
          <a:ln/>
        </p:spPr>
        <p:txBody>
          <a:bodyPr wrap="square" lIns="0" tIns="0" rIns="0" bIns="0" rtlCol="0" anchor="ctr"/>
          <a:lstStyle/>
          <a:p>
            <a:pPr indent="0" marL="0">
              <a:buNone/>
            </a:pPr>
            <a:r>
              <a:rPr lang="en-US" sz="4400" b="1" dirty="0">
                <a:solidFill>
                  <a:srgbClr val="C85A28"/>
                </a:solidFill>
                <a:latin typeface="Arial" pitchFamily="34" charset="0"/>
                <a:ea typeface="Arial" pitchFamily="34" charset="-122"/>
                <a:cs typeface="Arial" pitchFamily="34" charset="-120"/>
              </a:rPr>
              <a:t>Sesión 4</a:t>
            </a:r>
            <a:endParaRPr lang="en-US" sz="4400" dirty="0"/>
          </a:p>
        </p:txBody>
      </p:sp>
      <p:sp>
        <p:nvSpPr>
          <p:cNvPr id="6" name="Text 4"/>
          <p:cNvSpPr txBox="1"/>
          <p:nvPr/>
        </p:nvSpPr>
        <p:spPr>
          <a:xfrm>
            <a:off x="566928" y="2560320"/>
            <a:ext cx="10607040" cy="155448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Procesamiento de lenguaje natural para la gestión documental</a:t>
            </a:r>
            <a:endParaRPr lang="en-US" sz="3400" dirty="0"/>
          </a:p>
        </p:txBody>
      </p:sp>
      <p:sp>
        <p:nvSpPr>
          <p:cNvPr id="7" name="Shape 5"/>
          <p:cNvSpPr/>
          <p:nvPr/>
        </p:nvSpPr>
        <p:spPr>
          <a:xfrm>
            <a:off x="566928" y="4480560"/>
            <a:ext cx="5120640" cy="54864"/>
          </a:xfrm>
          <a:prstGeom prst="roundRect">
            <a:avLst>
              <a:gd name="adj" fmla="val 50000"/>
            </a:avLst>
          </a:prstGeom>
          <a:solidFill>
            <a:srgbClr val="2E7D7D"/>
          </a:solidFill>
          <a:ln w="12700">
            <a:solidFill>
              <a:srgbClr val="2E7D7D"/>
            </a:solidFill>
            <a:prstDash val="solid"/>
          </a:ln>
        </p:spPr>
      </p:sp>
      <p:sp>
        <p:nvSpPr>
          <p:cNvPr id="8" name="Text 6"/>
          <p:cNvSpPr txBox="1"/>
          <p:nvPr/>
        </p:nvSpPr>
        <p:spPr>
          <a:xfrm>
            <a:off x="566928" y="4709160"/>
            <a:ext cx="10424160" cy="365760"/>
          </a:xfrm>
          <a:prstGeom prst="rect">
            <a:avLst/>
          </a:prstGeom>
          <a:noFill/>
          <a:ln/>
        </p:spPr>
        <p:txBody>
          <a:bodyPr wrap="square" lIns="0" tIns="0" rIns="0" bIns="0" rtlCol="0" anchor="ctr"/>
          <a:lstStyle/>
          <a:p>
            <a:pPr indent="0" marL="0">
              <a:buNone/>
            </a:pPr>
            <a:r>
              <a:rPr lang="en-US" sz="1600" dirty="0">
                <a:solidFill>
                  <a:srgbClr val="FFFFFF"/>
                </a:solidFill>
                <a:latin typeface="Calibri" pitchFamily="34" charset="0"/>
                <a:ea typeface="Calibri" pitchFamily="34" charset="-122"/>
                <a:cs typeface="Calibri" pitchFamily="34" charset="-120"/>
              </a:rPr>
              <a:t>Viernes 18 de septiembre de 2026, 9:00 a 11:30 horas</a:t>
            </a:r>
            <a:endParaRPr lang="en-US" sz="1600" dirty="0"/>
          </a:p>
        </p:txBody>
      </p:sp>
      <p:sp>
        <p:nvSpPr>
          <p:cNvPr id="9" name="Text 7"/>
          <p:cNvSpPr txBox="1"/>
          <p:nvPr/>
        </p:nvSpPr>
        <p:spPr>
          <a:xfrm>
            <a:off x="566928" y="5120640"/>
            <a:ext cx="10424160" cy="365760"/>
          </a:xfrm>
          <a:prstGeom prst="rect">
            <a:avLst/>
          </a:prstGeom>
          <a:noFill/>
          <a:ln/>
        </p:spPr>
        <p:txBody>
          <a:bodyPr wrap="square" lIns="0" tIns="0" rIns="0" bIns="0" rtlCol="0" anchor="ctr"/>
          <a:lstStyle/>
          <a:p>
            <a:pPr indent="0" marL="0">
              <a:buNone/>
            </a:pPr>
            <a:r>
              <a:rPr lang="en-US" sz="1300" dirty="0">
                <a:solidFill>
                  <a:srgbClr val="D7E7E7"/>
                </a:solidFill>
                <a:latin typeface="Calibri" pitchFamily="34" charset="0"/>
                <a:ea typeface="Calibri" pitchFamily="34" charset="-122"/>
                <a:cs typeface="Calibri" pitchFamily="34" charset="-120"/>
              </a:rPr>
              <a:t>Curso de Inteligencia Artificial Aplicada. INEGI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Cómo vamos a usar los 150 minutos</a:t>
            </a:r>
            <a:endParaRPr lang="en-US" sz="3200" dirty="0"/>
          </a:p>
        </p:txBody>
      </p:sp>
      <p:sp>
        <p:nvSpPr>
          <p:cNvPr id="3" name="Shape 1"/>
          <p:cNvSpPr/>
          <p:nvPr/>
        </p:nvSpPr>
        <p:spPr>
          <a:xfrm>
            <a:off x="9485071" y="457200"/>
            <a:ext cx="2139696" cy="347472"/>
          </a:xfrm>
          <a:prstGeom prst="roundRect">
            <a:avLst>
              <a:gd name="adj" fmla="val 50000"/>
            </a:avLst>
          </a:prstGeom>
          <a:solidFill>
            <a:srgbClr val="F2F5F6"/>
          </a:solidFill>
          <a:ln w="12700">
            <a:solidFill>
              <a:srgbClr val="F2F5F6"/>
            </a:solidFill>
            <a:prstDash val="solid"/>
          </a:ln>
        </p:spPr>
      </p:sp>
      <p:sp>
        <p:nvSpPr>
          <p:cNvPr id="4" name="Text 2"/>
          <p:cNvSpPr txBox="1"/>
          <p:nvPr/>
        </p:nvSpPr>
        <p:spPr>
          <a:xfrm>
            <a:off x="9485071" y="457200"/>
            <a:ext cx="2139696" cy="347472"/>
          </a:xfrm>
          <a:prstGeom prst="rect">
            <a:avLst/>
          </a:prstGeom>
          <a:noFill/>
          <a:ln/>
        </p:spPr>
        <p:txBody>
          <a:bodyPr wrap="square" lIns="0" tIns="0" rIns="0" bIns="0" rtlCol="0" anchor="ctr"/>
          <a:lstStyle/>
          <a:p>
            <a:pPr algn="ctr" indent="0" marL="0">
              <a:buNone/>
            </a:pPr>
            <a:r>
              <a:rPr lang="en-US" sz="1200" b="1" dirty="0">
                <a:solidFill>
                  <a:srgbClr val="5A6B73"/>
                </a:solidFill>
                <a:latin typeface="Calibri" pitchFamily="34" charset="0"/>
                <a:ea typeface="Calibri" pitchFamily="34" charset="-122"/>
                <a:cs typeface="Calibri" pitchFamily="34" charset="-120"/>
              </a:rPr>
              <a:t>9:00 a 11:30</a:t>
            </a:r>
            <a:endParaRPr lang="en-US" sz="1200" dirty="0"/>
          </a:p>
        </p:txBody>
      </p:sp>
      <p:sp>
        <p:nvSpPr>
          <p:cNvPr id="5" name="Shape 3"/>
          <p:cNvSpPr/>
          <p:nvPr/>
        </p:nvSpPr>
        <p:spPr>
          <a:xfrm>
            <a:off x="566928" y="1408176"/>
            <a:ext cx="5364328" cy="1081278"/>
          </a:xfrm>
          <a:prstGeom prst="roundRect">
            <a:avLst>
              <a:gd name="adj" fmla="val 5920"/>
            </a:avLst>
          </a:prstGeom>
          <a:solidFill>
            <a:srgbClr val="F2F5F6"/>
          </a:solidFill>
          <a:ln w="12700">
            <a:solidFill>
              <a:srgbClr val="F2F5F6"/>
            </a:solidFill>
            <a:prstDash val="solid"/>
          </a:ln>
        </p:spPr>
      </p:sp>
      <p:sp>
        <p:nvSpPr>
          <p:cNvPr id="6" name="Text 4"/>
          <p:cNvSpPr txBox="1"/>
          <p:nvPr/>
        </p:nvSpPr>
        <p:spPr>
          <a:xfrm>
            <a:off x="786384"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9:00</a:t>
            </a:r>
            <a:endParaRPr lang="en-US" sz="1300" dirty="0"/>
          </a:p>
        </p:txBody>
      </p:sp>
      <p:sp>
        <p:nvSpPr>
          <p:cNvPr id="7" name="Text 5"/>
          <p:cNvSpPr txBox="1"/>
          <p:nvPr/>
        </p:nvSpPr>
        <p:spPr>
          <a:xfrm>
            <a:off x="2194560"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Las cuatro tareas del PLN y para qué sirve cada una</a:t>
            </a:r>
            <a:endParaRPr lang="en-US" sz="1350" dirty="0"/>
          </a:p>
        </p:txBody>
      </p:sp>
      <p:sp>
        <p:nvSpPr>
          <p:cNvPr id="8" name="Shape 6"/>
          <p:cNvSpPr/>
          <p:nvPr/>
        </p:nvSpPr>
        <p:spPr>
          <a:xfrm>
            <a:off x="566928" y="2635758"/>
            <a:ext cx="5364328" cy="1081278"/>
          </a:xfrm>
          <a:prstGeom prst="roundRect">
            <a:avLst>
              <a:gd name="adj" fmla="val 5920"/>
            </a:avLst>
          </a:prstGeom>
          <a:solidFill>
            <a:srgbClr val="F2F5F6"/>
          </a:solidFill>
          <a:ln w="12700">
            <a:solidFill>
              <a:srgbClr val="F2F5F6"/>
            </a:solidFill>
            <a:prstDash val="solid"/>
          </a:ln>
        </p:spPr>
      </p:sp>
      <p:sp>
        <p:nvSpPr>
          <p:cNvPr id="9" name="Text 7"/>
          <p:cNvSpPr txBox="1"/>
          <p:nvPr/>
        </p:nvSpPr>
        <p:spPr>
          <a:xfrm>
            <a:off x="786384"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9:25</a:t>
            </a:r>
            <a:endParaRPr lang="en-US" sz="1300" dirty="0"/>
          </a:p>
        </p:txBody>
      </p:sp>
      <p:sp>
        <p:nvSpPr>
          <p:cNvPr id="10" name="Text 8"/>
          <p:cNvSpPr txBox="1"/>
          <p:nvPr/>
        </p:nvSpPr>
        <p:spPr>
          <a:xfrm>
            <a:off x="2194560"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A: síntesis extractiva y abstractiva del mismo documento</a:t>
            </a:r>
            <a:endParaRPr lang="en-US" sz="1350" dirty="0"/>
          </a:p>
        </p:txBody>
      </p:sp>
      <p:sp>
        <p:nvSpPr>
          <p:cNvPr id="11" name="Shape 9"/>
          <p:cNvSpPr/>
          <p:nvPr/>
        </p:nvSpPr>
        <p:spPr>
          <a:xfrm>
            <a:off x="566928" y="3863340"/>
            <a:ext cx="5364328" cy="1081278"/>
          </a:xfrm>
          <a:prstGeom prst="roundRect">
            <a:avLst>
              <a:gd name="adj" fmla="val 5920"/>
            </a:avLst>
          </a:prstGeom>
          <a:solidFill>
            <a:srgbClr val="F2F5F6"/>
          </a:solidFill>
          <a:ln w="12700">
            <a:solidFill>
              <a:srgbClr val="F2F5F6"/>
            </a:solidFill>
            <a:prstDash val="solid"/>
          </a:ln>
        </p:spPr>
      </p:sp>
      <p:sp>
        <p:nvSpPr>
          <p:cNvPr id="12" name="Text 10"/>
          <p:cNvSpPr txBox="1"/>
          <p:nvPr/>
        </p:nvSpPr>
        <p:spPr>
          <a:xfrm>
            <a:off x="786384"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9:45</a:t>
            </a:r>
            <a:endParaRPr lang="en-US" sz="1300" dirty="0"/>
          </a:p>
        </p:txBody>
      </p:sp>
      <p:sp>
        <p:nvSpPr>
          <p:cNvPr id="13" name="Text 11"/>
          <p:cNvSpPr txBox="1"/>
          <p:nvPr/>
        </p:nvSpPr>
        <p:spPr>
          <a:xfrm>
            <a:off x="2194560"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B: extracción de entidades sobre tres programas</a:t>
            </a:r>
            <a:endParaRPr lang="en-US" sz="1350" dirty="0"/>
          </a:p>
        </p:txBody>
      </p:sp>
      <p:sp>
        <p:nvSpPr>
          <p:cNvPr id="14" name="Shape 12"/>
          <p:cNvSpPr/>
          <p:nvPr/>
        </p:nvSpPr>
        <p:spPr>
          <a:xfrm>
            <a:off x="566928" y="5090922"/>
            <a:ext cx="5364328" cy="1081278"/>
          </a:xfrm>
          <a:prstGeom prst="roundRect">
            <a:avLst>
              <a:gd name="adj" fmla="val 5920"/>
            </a:avLst>
          </a:prstGeom>
          <a:solidFill>
            <a:srgbClr val="F7E4D8"/>
          </a:solidFill>
          <a:ln w="12700">
            <a:solidFill>
              <a:srgbClr val="F7E4D8"/>
            </a:solidFill>
            <a:prstDash val="solid"/>
          </a:ln>
        </p:spPr>
      </p:sp>
      <p:sp>
        <p:nvSpPr>
          <p:cNvPr id="15" name="Text 13"/>
          <p:cNvSpPr txBox="1"/>
          <p:nvPr/>
        </p:nvSpPr>
        <p:spPr>
          <a:xfrm>
            <a:off x="786384" y="5090922"/>
            <a:ext cx="1371600" cy="1081278"/>
          </a:xfrm>
          <a:prstGeom prst="rect">
            <a:avLst/>
          </a:prstGeom>
          <a:noFill/>
          <a:ln/>
        </p:spPr>
        <p:txBody>
          <a:bodyPr wrap="square" lIns="0" tIns="0" rIns="0" bIns="0" rtlCol="0" anchor="ctr"/>
          <a:lstStyle/>
          <a:p>
            <a:pPr indent="0" marL="0">
              <a:buNone/>
            </a:pPr>
            <a:r>
              <a:rPr lang="en-US" sz="1300" b="1" dirty="0">
                <a:solidFill>
                  <a:srgbClr val="C85A28"/>
                </a:solidFill>
                <a:latin typeface="Arial" pitchFamily="34" charset="0"/>
                <a:ea typeface="Arial" pitchFamily="34" charset="-122"/>
                <a:cs typeface="Arial" pitchFamily="34" charset="-120"/>
              </a:rPr>
              <a:t>10:15</a:t>
            </a:r>
            <a:endParaRPr lang="en-US" sz="1300" dirty="0"/>
          </a:p>
        </p:txBody>
      </p:sp>
      <p:sp>
        <p:nvSpPr>
          <p:cNvPr id="16" name="Text 14"/>
          <p:cNvSpPr txBox="1"/>
          <p:nvPr/>
        </p:nvSpPr>
        <p:spPr>
          <a:xfrm>
            <a:off x="2194560"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Receso de diez minutos</a:t>
            </a:r>
            <a:endParaRPr lang="en-US" sz="1350" dirty="0"/>
          </a:p>
        </p:txBody>
      </p:sp>
      <p:sp>
        <p:nvSpPr>
          <p:cNvPr id="17" name="Shape 15"/>
          <p:cNvSpPr/>
          <p:nvPr/>
        </p:nvSpPr>
        <p:spPr>
          <a:xfrm>
            <a:off x="6260440" y="1408176"/>
            <a:ext cx="5364328" cy="1081278"/>
          </a:xfrm>
          <a:prstGeom prst="roundRect">
            <a:avLst>
              <a:gd name="adj" fmla="val 5920"/>
            </a:avLst>
          </a:prstGeom>
          <a:solidFill>
            <a:srgbClr val="F2F5F6"/>
          </a:solidFill>
          <a:ln w="12700">
            <a:solidFill>
              <a:srgbClr val="F2F5F6"/>
            </a:solidFill>
            <a:prstDash val="solid"/>
          </a:ln>
        </p:spPr>
      </p:sp>
      <p:sp>
        <p:nvSpPr>
          <p:cNvPr id="18" name="Text 16"/>
          <p:cNvSpPr txBox="1"/>
          <p:nvPr/>
        </p:nvSpPr>
        <p:spPr>
          <a:xfrm>
            <a:off x="6479896" y="1408176"/>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10:25</a:t>
            </a:r>
            <a:endParaRPr lang="en-US" sz="1300" dirty="0"/>
          </a:p>
        </p:txBody>
      </p:sp>
      <p:sp>
        <p:nvSpPr>
          <p:cNvPr id="19" name="Text 17"/>
          <p:cNvSpPr txBox="1"/>
          <p:nvPr/>
        </p:nvSpPr>
        <p:spPr>
          <a:xfrm>
            <a:off x="7888072" y="1463040"/>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C: agrupamiento temático con ratificación humana</a:t>
            </a:r>
            <a:endParaRPr lang="en-US" sz="1350" dirty="0"/>
          </a:p>
        </p:txBody>
      </p:sp>
      <p:sp>
        <p:nvSpPr>
          <p:cNvPr id="20" name="Shape 18"/>
          <p:cNvSpPr/>
          <p:nvPr/>
        </p:nvSpPr>
        <p:spPr>
          <a:xfrm>
            <a:off x="6260440" y="2635758"/>
            <a:ext cx="5364328" cy="1081278"/>
          </a:xfrm>
          <a:prstGeom prst="roundRect">
            <a:avLst>
              <a:gd name="adj" fmla="val 5920"/>
            </a:avLst>
          </a:prstGeom>
          <a:solidFill>
            <a:srgbClr val="F2F5F6"/>
          </a:solidFill>
          <a:ln w="12700">
            <a:solidFill>
              <a:srgbClr val="F2F5F6"/>
            </a:solidFill>
            <a:prstDash val="solid"/>
          </a:ln>
        </p:spPr>
      </p:sp>
      <p:sp>
        <p:nvSpPr>
          <p:cNvPr id="21" name="Text 19"/>
          <p:cNvSpPr txBox="1"/>
          <p:nvPr/>
        </p:nvSpPr>
        <p:spPr>
          <a:xfrm>
            <a:off x="6479896" y="2635758"/>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11:00</a:t>
            </a:r>
            <a:endParaRPr lang="en-US" sz="1300" dirty="0"/>
          </a:p>
        </p:txBody>
      </p:sp>
      <p:sp>
        <p:nvSpPr>
          <p:cNvPr id="22" name="Text 20"/>
          <p:cNvSpPr txBox="1"/>
          <p:nvPr/>
        </p:nvSpPr>
        <p:spPr>
          <a:xfrm>
            <a:off x="7888072" y="2690622"/>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Práctica D: postura y sentimiento</a:t>
            </a:r>
            <a:endParaRPr lang="en-US" sz="1350" dirty="0"/>
          </a:p>
        </p:txBody>
      </p:sp>
      <p:sp>
        <p:nvSpPr>
          <p:cNvPr id="23" name="Shape 21"/>
          <p:cNvSpPr/>
          <p:nvPr/>
        </p:nvSpPr>
        <p:spPr>
          <a:xfrm>
            <a:off x="6260440" y="3863340"/>
            <a:ext cx="5364328" cy="1081278"/>
          </a:xfrm>
          <a:prstGeom prst="roundRect">
            <a:avLst>
              <a:gd name="adj" fmla="val 5920"/>
            </a:avLst>
          </a:prstGeom>
          <a:solidFill>
            <a:srgbClr val="F2F5F6"/>
          </a:solidFill>
          <a:ln w="12700">
            <a:solidFill>
              <a:srgbClr val="F2F5F6"/>
            </a:solidFill>
            <a:prstDash val="solid"/>
          </a:ln>
        </p:spPr>
      </p:sp>
      <p:sp>
        <p:nvSpPr>
          <p:cNvPr id="24" name="Text 22"/>
          <p:cNvSpPr txBox="1"/>
          <p:nvPr/>
        </p:nvSpPr>
        <p:spPr>
          <a:xfrm>
            <a:off x="6479896" y="3863340"/>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11:15</a:t>
            </a:r>
            <a:endParaRPr lang="en-US" sz="1300" dirty="0"/>
          </a:p>
        </p:txBody>
      </p:sp>
      <p:sp>
        <p:nvSpPr>
          <p:cNvPr id="25" name="Text 23"/>
          <p:cNvSpPr txBox="1"/>
          <p:nvPr/>
        </p:nvSpPr>
        <p:spPr>
          <a:xfrm>
            <a:off x="7888072" y="3918204"/>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La ventana de contexto y qué hacer cuando el corpus no cabe</a:t>
            </a:r>
            <a:endParaRPr lang="en-US" sz="1350" dirty="0"/>
          </a:p>
        </p:txBody>
      </p:sp>
      <p:sp>
        <p:nvSpPr>
          <p:cNvPr id="26" name="Shape 24"/>
          <p:cNvSpPr/>
          <p:nvPr/>
        </p:nvSpPr>
        <p:spPr>
          <a:xfrm>
            <a:off x="6260440" y="5090922"/>
            <a:ext cx="5364328" cy="1081278"/>
          </a:xfrm>
          <a:prstGeom prst="roundRect">
            <a:avLst>
              <a:gd name="adj" fmla="val 5920"/>
            </a:avLst>
          </a:prstGeom>
          <a:solidFill>
            <a:srgbClr val="F2F5F6"/>
          </a:solidFill>
          <a:ln w="12700">
            <a:solidFill>
              <a:srgbClr val="F2F5F6"/>
            </a:solidFill>
            <a:prstDash val="solid"/>
          </a:ln>
        </p:spPr>
      </p:sp>
      <p:sp>
        <p:nvSpPr>
          <p:cNvPr id="27" name="Text 25"/>
          <p:cNvSpPr txBox="1"/>
          <p:nvPr/>
        </p:nvSpPr>
        <p:spPr>
          <a:xfrm>
            <a:off x="6479896" y="5090922"/>
            <a:ext cx="1371600" cy="1081278"/>
          </a:xfrm>
          <a:prstGeom prst="rect">
            <a:avLst/>
          </a:prstGeom>
          <a:noFill/>
          <a:ln/>
        </p:spPr>
        <p:txBody>
          <a:bodyPr wrap="square" lIns="0" tIns="0" rIns="0" bIns="0" rtlCol="0" anchor="ctr"/>
          <a:lstStyle/>
          <a:p>
            <a:pPr indent="0" marL="0">
              <a:buNone/>
            </a:pPr>
            <a:r>
              <a:rPr lang="en-US" sz="1300" b="1" dirty="0">
                <a:solidFill>
                  <a:srgbClr val="2E7D7D"/>
                </a:solidFill>
                <a:latin typeface="Arial" pitchFamily="34" charset="0"/>
                <a:ea typeface="Arial" pitchFamily="34" charset="-122"/>
                <a:cs typeface="Arial" pitchFamily="34" charset="-120"/>
              </a:rPr>
              <a:t>11:25</a:t>
            </a:r>
            <a:endParaRPr lang="en-US" sz="1300" dirty="0"/>
          </a:p>
        </p:txBody>
      </p:sp>
      <p:sp>
        <p:nvSpPr>
          <p:cNvPr id="28" name="Text 26"/>
          <p:cNvSpPr txBox="1"/>
          <p:nvPr/>
        </p:nvSpPr>
        <p:spPr>
          <a:xfrm>
            <a:off x="7888072" y="5145786"/>
            <a:ext cx="3517240" cy="971550"/>
          </a:xfrm>
          <a:prstGeom prst="rect">
            <a:avLst/>
          </a:prstGeom>
          <a:noFill/>
          <a:ln/>
        </p:spPr>
        <p:txBody>
          <a:bodyPr wrap="square" lIns="0" tIns="0" rIns="0" bIns="0" rtlCol="0" anchor="ctr"/>
          <a:lstStyle/>
          <a:p>
            <a:pPr indent="0" marL="0">
              <a:lnSpc>
                <a:spcPct val="105000"/>
              </a:lnSpc>
              <a:buNone/>
            </a:pPr>
            <a:r>
              <a:rPr lang="en-US" sz="1350" dirty="0">
                <a:solidFill>
                  <a:srgbClr val="16262E"/>
                </a:solidFill>
                <a:latin typeface="Calibri" pitchFamily="34" charset="0"/>
                <a:ea typeface="Calibri" pitchFamily="34" charset="-122"/>
                <a:cs typeface="Calibri" pitchFamily="34" charset="-120"/>
              </a:rPr>
              <a:t>Cierre y entregables</a:t>
            </a:r>
            <a:endParaRPr lang="en-US" sz="1350" dirty="0"/>
          </a:p>
        </p:txBody>
      </p:sp>
      <p:sp>
        <p:nvSpPr>
          <p:cNvPr id="29" name="Text 27"/>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Hoy son 90 minutos de práctica. Es la sesión con más trabajo de mano de todo el bloque.</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Cuatro tareas, cuatro usos distintos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Todo lo que se hace con texto en volumen cae en una de estas cuatro. Conviene saber cuál se necesita antes de abrir la herramienta.</a:t>
            </a:r>
            <a:endParaRPr lang="en-US" sz="1500" dirty="0"/>
          </a:p>
        </p:txBody>
      </p:sp>
      <p:sp>
        <p:nvSpPr>
          <p:cNvPr id="4" name="Shape 2"/>
          <p:cNvSpPr/>
          <p:nvPr/>
        </p:nvSpPr>
        <p:spPr>
          <a:xfrm>
            <a:off x="566928" y="2011680"/>
            <a:ext cx="2558720" cy="2078228"/>
          </a:xfrm>
          <a:prstGeom prst="roundRect">
            <a:avLst>
              <a:gd name="adj" fmla="val 3520"/>
            </a:avLst>
          </a:prstGeom>
          <a:solidFill>
            <a:srgbClr val="D7E7E7"/>
          </a:solidFill>
          <a:ln w="12700">
            <a:solidFill>
              <a:srgbClr val="D7E7E7"/>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Síntesis automática</a:t>
            </a:r>
            <a:endParaRPr lang="en-US" sz="1600" dirty="0"/>
          </a:p>
        </p:txBody>
      </p:sp>
      <p:sp>
        <p:nvSpPr>
          <p:cNvPr id="8" name="Text 6"/>
          <p:cNvSpPr txBox="1"/>
          <p:nvPr/>
        </p:nvSpPr>
        <p:spPr>
          <a:xfrm>
            <a:off x="804672" y="3273552"/>
            <a:ext cx="2083232"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Reducir mucho texto a poco texto. Tiene dos variantes que sirven para cosas distintas.</a:t>
            </a:r>
            <a:endParaRPr lang="en-US" sz="1300" dirty="0"/>
          </a:p>
        </p:txBody>
      </p:sp>
      <p:sp>
        <p:nvSpPr>
          <p:cNvPr id="9" name="Shape 7"/>
          <p:cNvSpPr/>
          <p:nvPr/>
        </p:nvSpPr>
        <p:spPr>
          <a:xfrm>
            <a:off x="3399968" y="2011680"/>
            <a:ext cx="2558720" cy="2078228"/>
          </a:xfrm>
          <a:prstGeom prst="roundRect">
            <a:avLst>
              <a:gd name="adj" fmla="val 3520"/>
            </a:avLst>
          </a:prstGeom>
          <a:solidFill>
            <a:srgbClr val="D7E7E7"/>
          </a:solidFill>
          <a:ln w="12700">
            <a:solidFill>
              <a:srgbClr val="D7E7E7"/>
            </a:solidFill>
            <a:prstDash val="solid"/>
          </a:ln>
        </p:spPr>
      </p:sp>
      <p:sp>
        <p:nvSpPr>
          <p:cNvPr id="10" name="Shape 8"/>
          <p:cNvSpPr/>
          <p:nvPr/>
        </p:nvSpPr>
        <p:spPr>
          <a:xfrm>
            <a:off x="3637712"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363771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363771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Extracción de entidades</a:t>
            </a:r>
            <a:endParaRPr lang="en-US" sz="1600" dirty="0"/>
          </a:p>
        </p:txBody>
      </p:sp>
      <p:sp>
        <p:nvSpPr>
          <p:cNvPr id="13" name="Text 11"/>
          <p:cNvSpPr txBox="1"/>
          <p:nvPr/>
        </p:nvSpPr>
        <p:spPr>
          <a:xfrm>
            <a:off x="3637712" y="3273552"/>
            <a:ext cx="2083232"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Sacar datos específicos de texto denso y ponerlos en una tabla comparable.</a:t>
            </a:r>
            <a:endParaRPr lang="en-US" sz="1300" dirty="0"/>
          </a:p>
        </p:txBody>
      </p:sp>
      <p:sp>
        <p:nvSpPr>
          <p:cNvPr id="14" name="Shape 12"/>
          <p:cNvSpPr/>
          <p:nvPr/>
        </p:nvSpPr>
        <p:spPr>
          <a:xfrm>
            <a:off x="6233008" y="2011680"/>
            <a:ext cx="2558720" cy="2078228"/>
          </a:xfrm>
          <a:prstGeom prst="roundRect">
            <a:avLst>
              <a:gd name="adj" fmla="val 3520"/>
            </a:avLst>
          </a:prstGeom>
          <a:solidFill>
            <a:srgbClr val="D7E7E7"/>
          </a:solidFill>
          <a:ln w="12700">
            <a:solidFill>
              <a:srgbClr val="D7E7E7"/>
            </a:solidFill>
            <a:prstDash val="solid"/>
          </a:ln>
        </p:spPr>
      </p:sp>
      <p:sp>
        <p:nvSpPr>
          <p:cNvPr id="15" name="Shape 13"/>
          <p:cNvSpPr/>
          <p:nvPr/>
        </p:nvSpPr>
        <p:spPr>
          <a:xfrm>
            <a:off x="6470752"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647075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6470752"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Agrupamiento temático</a:t>
            </a:r>
            <a:endParaRPr lang="en-US" sz="1600" dirty="0"/>
          </a:p>
        </p:txBody>
      </p:sp>
      <p:sp>
        <p:nvSpPr>
          <p:cNvPr id="18" name="Text 16"/>
          <p:cNvSpPr txBox="1"/>
          <p:nvPr/>
        </p:nvSpPr>
        <p:spPr>
          <a:xfrm>
            <a:off x="6470752" y="3273552"/>
            <a:ext cx="2083232"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Descubrir de qué habla un conjunto de textos cuando son demasiados para leerlos.</a:t>
            </a:r>
            <a:endParaRPr lang="en-US" sz="1300" dirty="0"/>
          </a:p>
        </p:txBody>
      </p:sp>
      <p:sp>
        <p:nvSpPr>
          <p:cNvPr id="19" name="Shape 17"/>
          <p:cNvSpPr/>
          <p:nvPr/>
        </p:nvSpPr>
        <p:spPr>
          <a:xfrm>
            <a:off x="9066047" y="2011680"/>
            <a:ext cx="2558720" cy="2078228"/>
          </a:xfrm>
          <a:prstGeom prst="roundRect">
            <a:avLst>
              <a:gd name="adj" fmla="val 3520"/>
            </a:avLst>
          </a:prstGeom>
          <a:solidFill>
            <a:srgbClr val="D7E7E7"/>
          </a:solidFill>
          <a:ln w="12700">
            <a:solidFill>
              <a:srgbClr val="D7E7E7"/>
            </a:solidFill>
            <a:prstDash val="solid"/>
          </a:ln>
        </p:spPr>
      </p:sp>
      <p:sp>
        <p:nvSpPr>
          <p:cNvPr id="20" name="Shape 18"/>
          <p:cNvSpPr/>
          <p:nvPr/>
        </p:nvSpPr>
        <p:spPr>
          <a:xfrm>
            <a:off x="9303791" y="2231136"/>
            <a:ext cx="420624" cy="420624"/>
          </a:xfrm>
          <a:prstGeom prst="ellipse">
            <a:avLst/>
          </a:prstGeom>
          <a:solidFill>
            <a:srgbClr val="2E7D7D"/>
          </a:solidFill>
          <a:ln w="12700">
            <a:solidFill>
              <a:srgbClr val="2E7D7D"/>
            </a:solidFill>
            <a:prstDash val="solid"/>
          </a:ln>
        </p:spPr>
      </p:sp>
      <p:sp>
        <p:nvSpPr>
          <p:cNvPr id="21" name="Text 19"/>
          <p:cNvSpPr txBox="1"/>
          <p:nvPr/>
        </p:nvSpPr>
        <p:spPr>
          <a:xfrm>
            <a:off x="9303791"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9303791" y="2798064"/>
            <a:ext cx="208323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Postura y sentimiento</a:t>
            </a:r>
            <a:endParaRPr lang="en-US" sz="1600" dirty="0"/>
          </a:p>
        </p:txBody>
      </p:sp>
      <p:sp>
        <p:nvSpPr>
          <p:cNvPr id="23" name="Text 21"/>
          <p:cNvSpPr txBox="1"/>
          <p:nvPr/>
        </p:nvSpPr>
        <p:spPr>
          <a:xfrm>
            <a:off x="9303791" y="3273552"/>
            <a:ext cx="2083232"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Clasificar textos para medir percepciones o cumplimiento normativo.</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Las dos síntesis y cuándo usar cada una</a:t>
            </a:r>
            <a:endParaRPr lang="en-US" sz="3200" dirty="0"/>
          </a:p>
        </p:txBody>
      </p:sp>
      <p:sp>
        <p:nvSpPr>
          <p:cNvPr id="3" name="Shape 1"/>
          <p:cNvSpPr/>
          <p:nvPr/>
        </p:nvSpPr>
        <p:spPr>
          <a:xfrm>
            <a:off x="566928" y="1408176"/>
            <a:ext cx="5364328" cy="2672334"/>
          </a:xfrm>
          <a:prstGeom prst="roundRect">
            <a:avLst>
              <a:gd name="adj" fmla="val 2737"/>
            </a:avLst>
          </a:prstGeom>
          <a:solidFill>
            <a:srgbClr val="D7E7E7"/>
          </a:solidFill>
          <a:ln w="12700">
            <a:solidFill>
              <a:srgbClr val="D7E7E7"/>
            </a:solidFill>
            <a:prstDash val="solid"/>
          </a:ln>
        </p:spPr>
      </p:sp>
      <p:sp>
        <p:nvSpPr>
          <p:cNvPr id="4" name="Shape 2"/>
          <p:cNvSpPr/>
          <p:nvPr/>
        </p:nvSpPr>
        <p:spPr>
          <a:xfrm>
            <a:off x="566928" y="1408176"/>
            <a:ext cx="5364328" cy="658368"/>
          </a:xfrm>
          <a:prstGeom prst="roundRect">
            <a:avLst>
              <a:gd name="adj" fmla="val 11111"/>
            </a:avLst>
          </a:prstGeom>
          <a:solidFill>
            <a:srgbClr val="2E7D7D"/>
          </a:solidFill>
          <a:ln w="12700">
            <a:solidFill>
              <a:srgbClr val="2E7D7D"/>
            </a:solidFill>
            <a:prstDash val="solid"/>
          </a:ln>
        </p:spPr>
      </p:sp>
      <p:sp>
        <p:nvSpPr>
          <p:cNvPr id="5" name="Shape 3"/>
          <p:cNvSpPr/>
          <p:nvPr/>
        </p:nvSpPr>
        <p:spPr>
          <a:xfrm>
            <a:off x="566928" y="1773936"/>
            <a:ext cx="5364328" cy="292608"/>
          </a:xfrm>
          <a:prstGeom prst="rect">
            <a:avLst/>
          </a:prstGeom>
          <a:solidFill>
            <a:srgbClr val="2E7D7D"/>
          </a:solidFill>
          <a:ln w="12700">
            <a:solidFill>
              <a:srgbClr val="2E7D7D"/>
            </a:solidFill>
            <a:prstDash val="solid"/>
          </a:ln>
        </p:spPr>
      </p:sp>
      <p:sp>
        <p:nvSpPr>
          <p:cNvPr id="6" name="Text 4"/>
          <p:cNvSpPr txBox="1"/>
          <p:nvPr/>
        </p:nvSpPr>
        <p:spPr>
          <a:xfrm>
            <a:off x="822960" y="1408176"/>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Extractiva</a:t>
            </a:r>
            <a:endParaRPr lang="en-US" sz="1700" dirty="0"/>
          </a:p>
        </p:txBody>
      </p:sp>
      <p:sp>
        <p:nvSpPr>
          <p:cNvPr id="7" name="Text 5"/>
          <p:cNvSpPr txBox="1"/>
          <p:nvPr/>
        </p:nvSpPr>
        <p:spPr>
          <a:xfrm>
            <a:off x="822960" y="2276856"/>
            <a:ext cx="4852264" cy="157505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Toma las oraciones exactas del documento, sin reescribirlas.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Sirve cuando hay que conservar la redacción original porque el texto se va a citar.</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Es más segura: no puede inventar, porque solo puede copiar.</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Úsela para armar la evidencia.</a:t>
            </a:r>
            <a:endParaRPr lang="en-US" sz="1400" dirty="0"/>
          </a:p>
        </p:txBody>
      </p:sp>
      <p:sp>
        <p:nvSpPr>
          <p:cNvPr id="8" name="Shape 6"/>
          <p:cNvSpPr/>
          <p:nvPr/>
        </p:nvSpPr>
        <p:spPr>
          <a:xfrm>
            <a:off x="6260440" y="1408176"/>
            <a:ext cx="5364328" cy="2672334"/>
          </a:xfrm>
          <a:prstGeom prst="roundRect">
            <a:avLst>
              <a:gd name="adj" fmla="val 2737"/>
            </a:avLst>
          </a:prstGeom>
          <a:solidFill>
            <a:srgbClr val="F7E4D8"/>
          </a:solidFill>
          <a:ln w="12700">
            <a:solidFill>
              <a:srgbClr val="F7E4D8"/>
            </a:solidFill>
            <a:prstDash val="solid"/>
          </a:ln>
        </p:spPr>
      </p:sp>
      <p:sp>
        <p:nvSpPr>
          <p:cNvPr id="9" name="Shape 7"/>
          <p:cNvSpPr/>
          <p:nvPr/>
        </p:nvSpPr>
        <p:spPr>
          <a:xfrm>
            <a:off x="6260440" y="1408176"/>
            <a:ext cx="5364328" cy="658368"/>
          </a:xfrm>
          <a:prstGeom prst="roundRect">
            <a:avLst>
              <a:gd name="adj" fmla="val 11111"/>
            </a:avLst>
          </a:prstGeom>
          <a:solidFill>
            <a:srgbClr val="C85A28"/>
          </a:solidFill>
          <a:ln w="12700">
            <a:solidFill>
              <a:srgbClr val="C85A28"/>
            </a:solidFill>
            <a:prstDash val="solid"/>
          </a:ln>
        </p:spPr>
      </p:sp>
      <p:sp>
        <p:nvSpPr>
          <p:cNvPr id="10" name="Shape 8"/>
          <p:cNvSpPr/>
          <p:nvPr/>
        </p:nvSpPr>
        <p:spPr>
          <a:xfrm>
            <a:off x="6260440" y="1773936"/>
            <a:ext cx="5364328" cy="292608"/>
          </a:xfrm>
          <a:prstGeom prst="rect">
            <a:avLst/>
          </a:prstGeom>
          <a:solidFill>
            <a:srgbClr val="C85A28"/>
          </a:solidFill>
          <a:ln w="12700">
            <a:solidFill>
              <a:srgbClr val="C85A28"/>
            </a:solidFill>
            <a:prstDash val="solid"/>
          </a:ln>
        </p:spPr>
      </p:sp>
      <p:sp>
        <p:nvSpPr>
          <p:cNvPr id="11" name="Text 9"/>
          <p:cNvSpPr txBox="1"/>
          <p:nvPr/>
        </p:nvSpPr>
        <p:spPr>
          <a:xfrm>
            <a:off x="6516472" y="1408176"/>
            <a:ext cx="4852264" cy="658368"/>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Abstractiva</a:t>
            </a:r>
            <a:endParaRPr lang="en-US" sz="1700" dirty="0"/>
          </a:p>
        </p:txBody>
      </p:sp>
      <p:sp>
        <p:nvSpPr>
          <p:cNvPr id="12" name="Text 10"/>
          <p:cNvSpPr txBox="1"/>
          <p:nvPr/>
        </p:nvSpPr>
        <p:spPr>
          <a:xfrm>
            <a:off x="6516472" y="2276856"/>
            <a:ext cx="4852264" cy="1575054"/>
          </a:xfrm>
          <a:prstGeom prst="rect">
            <a:avLst/>
          </a:prstGeom>
          <a:noFill/>
          <a:ln/>
        </p:spPr>
        <p:txBody>
          <a:bodyPr wrap="square" lIns="0" tIns="0" rIns="0" bIns="0" rtlCol="0" anchor="t"/>
          <a:lstStyle/>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Reescribe el contenido en palabras nuevas.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Sirve cuando hace falta un resumen que integre patrones y contradicciones entre varios documentos.</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Es más útil y más riesgosa: puede introducir matices que no estaban.</a:t>
            </a:r>
            <a:endParaRPr lang="en-US" sz="1400" dirty="0"/>
          </a:p>
          <a:p>
            <a:pPr indent="0" marL="0">
              <a:lnSpc>
                <a:spcPct val="115000"/>
              </a:lnSpc>
              <a:spcAft>
                <a:spcPts val="600"/>
              </a:spcAft>
              <a:buNone/>
            </a:pPr>
            <a:r>
              <a:rPr lang="en-US" sz="1400" dirty="0">
                <a:solidFill>
                  <a:srgbClr val="16262E"/>
                </a:solidFill>
                <a:latin typeface="Calibri" pitchFamily="34" charset="0"/>
                <a:ea typeface="Calibri" pitchFamily="34" charset="-122"/>
                <a:cs typeface="Calibri" pitchFamily="34" charset="-120"/>
              </a:rPr>
              <a:t>Úsela para redactar la conclusión, y verifíquela contra la extractiva.</a:t>
            </a:r>
            <a:endParaRPr lang="en-US" sz="1400" dirty="0"/>
          </a:p>
        </p:txBody>
      </p:sp>
      <p:sp>
        <p:nvSpPr>
          <p:cNvPr id="13" name="Text 11"/>
          <p:cNvSpPr txBox="1"/>
          <p:nvPr/>
        </p:nvSpPr>
        <p:spPr>
          <a:xfrm>
            <a:off x="566928" y="6327648"/>
            <a:ext cx="11057839" cy="292608"/>
          </a:xfrm>
          <a:prstGeom prst="rect">
            <a:avLst/>
          </a:prstGeom>
          <a:noFill/>
          <a:ln/>
        </p:spPr>
        <p:txBody>
          <a:bodyPr wrap="square" lIns="0" tIns="0" rIns="0" bIns="0" rtlCol="0" anchor="ctr"/>
          <a:lstStyle/>
          <a:p>
            <a:pPr indent="0" marL="0">
              <a:buNone/>
            </a:pPr>
            <a:r>
              <a:rPr lang="en-US" sz="1000" dirty="0">
                <a:solidFill>
                  <a:srgbClr val="5A6B73"/>
                </a:solidFill>
                <a:latin typeface="Calibri" pitchFamily="34" charset="0"/>
                <a:ea typeface="Calibri" pitchFamily="34" charset="-122"/>
                <a:cs typeface="Calibri" pitchFamily="34" charset="-120"/>
              </a:rPr>
              <a:t>Regla práctica: la extractiva arma la evidencia y la abstractiva redacta la conclusión.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AHORA USTEDES</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20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Práctica A. Las dos síntesis del mismo documento</a:t>
            </a:r>
            <a:endParaRPr lang="en-US" sz="2900" dirty="0"/>
          </a:p>
        </p:txBody>
      </p:sp>
      <p:sp>
        <p:nvSpPr>
          <p:cNvPr id="7" name="Shape 5"/>
          <p:cNvSpPr/>
          <p:nvPr/>
        </p:nvSpPr>
        <p:spPr>
          <a:xfrm>
            <a:off x="566928" y="1920240"/>
            <a:ext cx="11057839" cy="880110"/>
          </a:xfrm>
          <a:prstGeom prst="roundRect">
            <a:avLst>
              <a:gd name="adj" fmla="val 7273"/>
            </a:avLst>
          </a:prstGeom>
          <a:solidFill>
            <a:srgbClr val="FFFFFF"/>
          </a:solidFill>
          <a:ln w="12700">
            <a:solidFill>
              <a:srgbClr val="FFFFFF"/>
            </a:solidFill>
            <a:prstDash val="solid"/>
          </a:ln>
        </p:spPr>
      </p:sp>
      <p:sp>
        <p:nvSpPr>
          <p:cNvPr id="8" name="Shape 6"/>
          <p:cNvSpPr/>
          <p:nvPr/>
        </p:nvSpPr>
        <p:spPr>
          <a:xfrm>
            <a:off x="786384" y="214998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1499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69723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Tome un informe de evaluación público y pídale a Copilot la síntesis extractiva, indicándole expresamente que transcriba oraciones textuales sin reescribirlas.</a:t>
            </a:r>
            <a:endParaRPr lang="en-US" sz="1450" dirty="0"/>
          </a:p>
        </p:txBody>
      </p:sp>
      <p:sp>
        <p:nvSpPr>
          <p:cNvPr id="11" name="Shape 9"/>
          <p:cNvSpPr/>
          <p:nvPr/>
        </p:nvSpPr>
        <p:spPr>
          <a:xfrm>
            <a:off x="566928" y="2983230"/>
            <a:ext cx="11057839" cy="880110"/>
          </a:xfrm>
          <a:prstGeom prst="roundRect">
            <a:avLst>
              <a:gd name="adj" fmla="val 7273"/>
            </a:avLst>
          </a:prstGeom>
          <a:solidFill>
            <a:srgbClr val="FFFFFF"/>
          </a:solidFill>
          <a:ln w="12700">
            <a:solidFill>
              <a:srgbClr val="FFFFFF"/>
            </a:solidFill>
            <a:prstDash val="solid"/>
          </a:ln>
        </p:spPr>
      </p:sp>
      <p:sp>
        <p:nvSpPr>
          <p:cNvPr id="12" name="Shape 10"/>
          <p:cNvSpPr/>
          <p:nvPr/>
        </p:nvSpPr>
        <p:spPr>
          <a:xfrm>
            <a:off x="786384" y="321297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321297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3074670"/>
            <a:ext cx="9960559" cy="69723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Pídale ahora la síntesis abstractiva del mismo documento, indicándole que integre los hallazgos en un resumen ejecutivo de máximo 200 palabras.</a:t>
            </a:r>
            <a:endParaRPr lang="en-US" sz="1450" dirty="0"/>
          </a:p>
        </p:txBody>
      </p:sp>
      <p:sp>
        <p:nvSpPr>
          <p:cNvPr id="15" name="Shape 13"/>
          <p:cNvSpPr/>
          <p:nvPr/>
        </p:nvSpPr>
        <p:spPr>
          <a:xfrm>
            <a:off x="566928" y="4046220"/>
            <a:ext cx="11057839" cy="880110"/>
          </a:xfrm>
          <a:prstGeom prst="roundRect">
            <a:avLst>
              <a:gd name="adj" fmla="val 7273"/>
            </a:avLst>
          </a:prstGeom>
          <a:solidFill>
            <a:srgbClr val="FFFFFF"/>
          </a:solidFill>
          <a:ln w="12700">
            <a:solidFill>
              <a:srgbClr val="FFFFFF"/>
            </a:solidFill>
            <a:prstDash val="solid"/>
          </a:ln>
        </p:spPr>
      </p:sp>
      <p:sp>
        <p:nvSpPr>
          <p:cNvPr id="16" name="Shape 14"/>
          <p:cNvSpPr/>
          <p:nvPr/>
        </p:nvSpPr>
        <p:spPr>
          <a:xfrm>
            <a:off x="786384" y="427596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427596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4137660"/>
            <a:ext cx="9960559" cy="69723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Ponga las dos salidas lado a lado y busque una afirmación que aparezca en la abstractiva pero no se sostenga en ninguna oración de la extractiva.</a:t>
            </a:r>
            <a:endParaRPr lang="en-US" sz="1450" dirty="0"/>
          </a:p>
        </p:txBody>
      </p:sp>
      <p:sp>
        <p:nvSpPr>
          <p:cNvPr id="19" name="Shape 17"/>
          <p:cNvSpPr/>
          <p:nvPr/>
        </p:nvSpPr>
        <p:spPr>
          <a:xfrm>
            <a:off x="566928" y="5109210"/>
            <a:ext cx="11057839" cy="880110"/>
          </a:xfrm>
          <a:prstGeom prst="roundRect">
            <a:avLst>
              <a:gd name="adj" fmla="val 7273"/>
            </a:avLst>
          </a:prstGeom>
          <a:solidFill>
            <a:srgbClr val="FFFFFF"/>
          </a:solidFill>
          <a:ln w="12700">
            <a:solidFill>
              <a:srgbClr val="FFFFFF"/>
            </a:solidFill>
            <a:prstDash val="solid"/>
          </a:ln>
        </p:spPr>
      </p:sp>
      <p:sp>
        <p:nvSpPr>
          <p:cNvPr id="20" name="Shape 18"/>
          <p:cNvSpPr/>
          <p:nvPr/>
        </p:nvSpPr>
        <p:spPr>
          <a:xfrm>
            <a:off x="786384" y="533895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53389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5200650"/>
            <a:ext cx="9960559" cy="69723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Escriba en su bitácora en qué caso usaría cada una en su trabajo real.</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2800" b="1" dirty="0">
                <a:solidFill>
                  <a:srgbClr val="16262E"/>
                </a:solidFill>
                <a:latin typeface="Arial" pitchFamily="34" charset="0"/>
                <a:ea typeface="Arial" pitchFamily="34" charset="-122"/>
                <a:cs typeface="Arial" pitchFamily="34" charset="-120"/>
              </a:rPr>
              <a:t>Extracción de entidades: sacar la tabla de adentro del texto</a:t>
            </a:r>
            <a:endParaRPr lang="en-US" sz="28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Es la tarea que más tiempo ahorra en la revisión de reglas de operación.</a:t>
            </a:r>
            <a:endParaRPr lang="en-US" sz="1500" dirty="0"/>
          </a:p>
        </p:txBody>
      </p:sp>
      <p:sp>
        <p:nvSpPr>
          <p:cNvPr id="4" name="Shape 2"/>
          <p:cNvSpPr/>
          <p:nvPr/>
        </p:nvSpPr>
        <p:spPr>
          <a:xfrm>
            <a:off x="566928" y="2011680"/>
            <a:ext cx="3503066" cy="1529588"/>
          </a:xfrm>
          <a:prstGeom prst="roundRect">
            <a:avLst>
              <a:gd name="adj" fmla="val 4782"/>
            </a:avLst>
          </a:prstGeom>
          <a:solidFill>
            <a:srgbClr val="F2F5F6"/>
          </a:solidFill>
          <a:ln w="12700">
            <a:solidFill>
              <a:srgbClr val="F2F5F6"/>
            </a:solidFill>
            <a:prstDash val="solid"/>
          </a:ln>
        </p:spPr>
      </p:sp>
      <p:sp>
        <p:nvSpPr>
          <p:cNvPr id="5" name="Text 3"/>
          <p:cNvSpPr txBox="1"/>
          <p:nvPr/>
        </p:nvSpPr>
        <p:spPr>
          <a:xfrm>
            <a:off x="804672" y="224942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Población objetivo</a:t>
            </a:r>
            <a:endParaRPr lang="en-US" sz="1600" dirty="0"/>
          </a:p>
        </p:txBody>
      </p:sp>
      <p:sp>
        <p:nvSpPr>
          <p:cNvPr id="6" name="Text 4"/>
          <p:cNvSpPr txBox="1"/>
          <p:nvPr/>
        </p:nvSpPr>
        <p:spPr>
          <a:xfrm>
            <a:off x="804672" y="2724912"/>
            <a:ext cx="3027578"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Por ejemplo, mujeres rurales de 18 a 59 años. Aparece redactada dentro de un artículo, casi nunca en una tabla.</a:t>
            </a:r>
            <a:endParaRPr lang="en-US" sz="1300" dirty="0"/>
          </a:p>
        </p:txBody>
      </p:sp>
      <p:sp>
        <p:nvSpPr>
          <p:cNvPr id="7" name="Shape 5"/>
          <p:cNvSpPr/>
          <p:nvPr/>
        </p:nvSpPr>
        <p:spPr>
          <a:xfrm>
            <a:off x="4344314" y="2011680"/>
            <a:ext cx="3503066" cy="1529588"/>
          </a:xfrm>
          <a:prstGeom prst="roundRect">
            <a:avLst>
              <a:gd name="adj" fmla="val 4782"/>
            </a:avLst>
          </a:prstGeom>
          <a:solidFill>
            <a:srgbClr val="F2F5F6"/>
          </a:solidFill>
          <a:ln w="12700">
            <a:solidFill>
              <a:srgbClr val="F2F5F6"/>
            </a:solidFill>
            <a:prstDash val="solid"/>
          </a:ln>
        </p:spPr>
      </p:sp>
      <p:sp>
        <p:nvSpPr>
          <p:cNvPr id="8" name="Text 6"/>
          <p:cNvSpPr txBox="1"/>
          <p:nvPr/>
        </p:nvSpPr>
        <p:spPr>
          <a:xfrm>
            <a:off x="4582058" y="224942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Monto del apoyo</a:t>
            </a:r>
            <a:endParaRPr lang="en-US" sz="1600" dirty="0"/>
          </a:p>
        </p:txBody>
      </p:sp>
      <p:sp>
        <p:nvSpPr>
          <p:cNvPr id="9" name="Text 7"/>
          <p:cNvSpPr txBox="1"/>
          <p:nvPr/>
        </p:nvSpPr>
        <p:spPr>
          <a:xfrm>
            <a:off x="4582058" y="2724912"/>
            <a:ext cx="3027578"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Por ejemplo, 3,100 pesos bimestrales. Suele venir con condiciones de incremento y reducción escondidas en el mismo párrafo.</a:t>
            </a:r>
            <a:endParaRPr lang="en-US" sz="1300" dirty="0"/>
          </a:p>
        </p:txBody>
      </p:sp>
      <p:sp>
        <p:nvSpPr>
          <p:cNvPr id="10" name="Shape 8"/>
          <p:cNvSpPr/>
          <p:nvPr/>
        </p:nvSpPr>
        <p:spPr>
          <a:xfrm>
            <a:off x="8121701" y="2011680"/>
            <a:ext cx="3503066" cy="1529588"/>
          </a:xfrm>
          <a:prstGeom prst="roundRect">
            <a:avLst>
              <a:gd name="adj" fmla="val 4782"/>
            </a:avLst>
          </a:prstGeom>
          <a:solidFill>
            <a:srgbClr val="F7E4D8"/>
          </a:solidFill>
          <a:ln w="12700">
            <a:solidFill>
              <a:srgbClr val="F7E4D8"/>
            </a:solidFill>
            <a:prstDash val="solid"/>
          </a:ln>
        </p:spPr>
      </p:sp>
      <p:sp>
        <p:nvSpPr>
          <p:cNvPr id="11" name="Text 9"/>
          <p:cNvSpPr txBox="1"/>
          <p:nvPr/>
        </p:nvSpPr>
        <p:spPr>
          <a:xfrm>
            <a:off x="8359445" y="224942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Requisitos administrativos</a:t>
            </a:r>
            <a:endParaRPr lang="en-US" sz="1600" dirty="0"/>
          </a:p>
        </p:txBody>
      </p:sp>
      <p:sp>
        <p:nvSpPr>
          <p:cNvPr id="12" name="Text 10"/>
          <p:cNvSpPr txBox="1"/>
          <p:nvPr/>
        </p:nvSpPr>
        <p:spPr>
          <a:xfrm>
            <a:off x="8359445" y="2724912"/>
            <a:ext cx="3027578" cy="57861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Por ejemplo, comprobante de domicilio y CURP. Fíjense siempre si la lista es limitativa o enunciativa.</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AHORA USTEDES</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30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Práctica B. Tres programas en una sola tabla</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Trabajen con tres conjuntos de reglas de operación de programas distintos. Lleguen a una sola tabla con las mismas columnas para los tres.</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Aquí está la dificultad real: cada documento nombra las cosas de manera distinta, y el modelo va a forzar equivalencias que no existen.</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Su trabajo es detectar dónde forzó una equivalencia falsa y corregirla a mano. Marquen esas celdas con color.</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Cuenten cuántas equivalencias forzadas encontraron. Ese número es el entregable interesante, no la tabla.</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Se hace en Copilot dentro de Excel. Plantilla en Plantillas_tabulares_curso_IA.xlsx.</a:t>
            </a:r>
            <a:endParaRPr lang="en-US" sz="13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566928" y="2331720"/>
            <a:ext cx="1371600" cy="1371600"/>
          </a:xfrm>
          <a:prstGeom prst="ellipse">
            <a:avLst/>
          </a:prstGeom>
          <a:solidFill>
            <a:srgbClr val="C85A28"/>
          </a:solidFill>
          <a:ln w="12700">
            <a:solidFill>
              <a:srgbClr val="C85A28"/>
            </a:solidFill>
            <a:prstDash val="solid"/>
          </a:ln>
        </p:spPr>
      </p:sp>
      <p:sp>
        <p:nvSpPr>
          <p:cNvPr id="3" name="Text 1"/>
          <p:cNvSpPr txBox="1"/>
          <p:nvPr/>
        </p:nvSpPr>
        <p:spPr>
          <a:xfrm>
            <a:off x="566928" y="2331720"/>
            <a:ext cx="1371600" cy="1371600"/>
          </a:xfrm>
          <a:prstGeom prst="rect">
            <a:avLst/>
          </a:prstGeom>
          <a:noFill/>
          <a:ln/>
        </p:spPr>
        <p:txBody>
          <a:bodyPr wrap="square" lIns="0" tIns="0" rIns="0" bIns="0" rtlCol="0" anchor="ctr"/>
          <a:lstStyle/>
          <a:p>
            <a:pPr algn="ctr" indent="0" marL="0">
              <a:buNone/>
            </a:pPr>
            <a:r>
              <a:rPr lang="en-US" sz="4400" b="1" dirty="0">
                <a:solidFill>
                  <a:srgbClr val="FFFFFF"/>
                </a:solidFill>
                <a:latin typeface="Arial" pitchFamily="34" charset="0"/>
                <a:ea typeface="Arial" pitchFamily="34" charset="-122"/>
                <a:cs typeface="Arial" pitchFamily="34" charset="-120"/>
              </a:rPr>
              <a:t>3</a:t>
            </a:r>
            <a:endParaRPr lang="en-US" sz="4400" dirty="0"/>
          </a:p>
        </p:txBody>
      </p:sp>
      <p:sp>
        <p:nvSpPr>
          <p:cNvPr id="4" name="Text 2"/>
          <p:cNvSpPr txBox="1"/>
          <p:nvPr/>
        </p:nvSpPr>
        <p:spPr>
          <a:xfrm>
            <a:off x="2487168" y="2331720"/>
            <a:ext cx="8778240" cy="365760"/>
          </a:xfrm>
          <a:prstGeom prst="rect">
            <a:avLst/>
          </a:prstGeom>
          <a:noFill/>
          <a:ln/>
        </p:spPr>
        <p:txBody>
          <a:bodyPr wrap="square" lIns="0" tIns="0" rIns="0" bIns="0" rtlCol="0" anchor="ctr"/>
          <a:lstStyle/>
          <a:p>
            <a:pPr indent="0" marL="0">
              <a:buNone/>
            </a:pPr>
            <a:r>
              <a:rPr lang="en-US" sz="1400" b="1" spc="200" kern="0" dirty="0">
                <a:solidFill>
                  <a:srgbClr val="D7E7E7"/>
                </a:solidFill>
                <a:latin typeface="Calibri" pitchFamily="34" charset="0"/>
                <a:ea typeface="Calibri" pitchFamily="34" charset="-122"/>
                <a:cs typeface="Calibri" pitchFamily="34" charset="-120"/>
              </a:rPr>
              <a:t>LA PRÁCTICA MÁS IMPORTANTE DEL DÍA</a:t>
            </a:r>
            <a:endParaRPr lang="en-US" sz="1400" dirty="0"/>
          </a:p>
        </p:txBody>
      </p:sp>
      <p:sp>
        <p:nvSpPr>
          <p:cNvPr id="5" name="Text 3"/>
          <p:cNvSpPr txBox="1"/>
          <p:nvPr/>
        </p:nvSpPr>
        <p:spPr>
          <a:xfrm>
            <a:off x="2487168" y="2697480"/>
            <a:ext cx="8961120" cy="1188720"/>
          </a:xfrm>
          <a:prstGeom prst="rect">
            <a:avLst/>
          </a:prstGeom>
          <a:noFill/>
          <a:ln/>
        </p:spPr>
        <p:txBody>
          <a:bodyPr wrap="square" lIns="0" tIns="0" rIns="0" bIns="0" rtlCol="0" anchor="t"/>
          <a:lstStyle/>
          <a:p>
            <a:pPr indent="0" marL="0">
              <a:buNone/>
            </a:pPr>
            <a:r>
              <a:rPr lang="en-US" sz="3400" b="1" dirty="0">
                <a:solidFill>
                  <a:srgbClr val="FFFFFF"/>
                </a:solidFill>
                <a:latin typeface="Arial" pitchFamily="34" charset="0"/>
                <a:ea typeface="Arial" pitchFamily="34" charset="-122"/>
                <a:cs typeface="Arial" pitchFamily="34" charset="-120"/>
              </a:rPr>
              <a:t>Agrupamiento temático con ratificación humana</a:t>
            </a:r>
            <a:endParaRPr lang="en-US" sz="3400" dirty="0"/>
          </a:p>
        </p:txBody>
      </p:sp>
      <p:sp>
        <p:nvSpPr>
          <p:cNvPr id="6" name="Shape 4"/>
          <p:cNvSpPr/>
          <p:nvPr/>
        </p:nvSpPr>
        <p:spPr>
          <a:xfrm>
            <a:off x="9338767" y="457200"/>
            <a:ext cx="2286000" cy="347472"/>
          </a:xfrm>
          <a:prstGeom prst="roundRect">
            <a:avLst>
              <a:gd name="adj" fmla="val 50000"/>
            </a:avLst>
          </a:prstGeom>
          <a:solidFill>
            <a:srgbClr val="24404E"/>
          </a:solidFill>
          <a:ln w="12700">
            <a:solidFill>
              <a:srgbClr val="24404E"/>
            </a:solidFill>
            <a:prstDash val="solid"/>
          </a:ln>
        </p:spPr>
      </p:sp>
      <p:sp>
        <p:nvSpPr>
          <p:cNvPr id="7" name="Text 5"/>
          <p:cNvSpPr txBox="1"/>
          <p:nvPr/>
        </p:nvSpPr>
        <p:spPr>
          <a:xfrm>
            <a:off x="9338767" y="457200"/>
            <a:ext cx="2286000" cy="347472"/>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10:25 a 11:00</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El flujo de trabajo profesional tiene tres tiempos</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El orden no es una sugerencia. Es lo que convierte el ejercicio en un trabajo defendible.</a:t>
            </a:r>
            <a:endParaRPr lang="en-US" sz="1500" dirty="0"/>
          </a:p>
        </p:txBody>
      </p:sp>
      <p:sp>
        <p:nvSpPr>
          <p:cNvPr id="4" name="Shape 2"/>
          <p:cNvSpPr/>
          <p:nvPr/>
        </p:nvSpPr>
        <p:spPr>
          <a:xfrm>
            <a:off x="566928" y="2011680"/>
            <a:ext cx="3503066" cy="2623058"/>
          </a:xfrm>
          <a:prstGeom prst="roundRect">
            <a:avLst>
              <a:gd name="adj" fmla="val 2789"/>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herramienta propone</a:t>
            </a:r>
            <a:endParaRPr lang="en-US" sz="1600" dirty="0"/>
          </a:p>
        </p:txBody>
      </p:sp>
      <p:sp>
        <p:nvSpPr>
          <p:cNvPr id="8" name="Text 6"/>
          <p:cNvSpPr txBox="1"/>
          <p:nvPr/>
        </p:nvSpPr>
        <p:spPr>
          <a:xfrm>
            <a:off x="804672" y="3273552"/>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le da una muestra de los registros y se le pide un libro de códigos: categorías, con su definición y con ejemplos.</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Aquí la herramienta hace lo que hace bien, que es encontrar patrones en volumen.</a:t>
            </a:r>
            <a:endParaRPr lang="en-US" sz="1300" dirty="0"/>
          </a:p>
        </p:txBody>
      </p:sp>
      <p:sp>
        <p:nvSpPr>
          <p:cNvPr id="9" name="Shape 7"/>
          <p:cNvSpPr/>
          <p:nvPr/>
        </p:nvSpPr>
        <p:spPr>
          <a:xfrm>
            <a:off x="4344314" y="2011680"/>
            <a:ext cx="3503066" cy="2623058"/>
          </a:xfrm>
          <a:prstGeom prst="roundRect">
            <a:avLst>
              <a:gd name="adj" fmla="val 2789"/>
            </a:avLst>
          </a:prstGeom>
          <a:solidFill>
            <a:srgbClr val="F7E4D8"/>
          </a:solidFill>
          <a:ln w="12700">
            <a:solidFill>
              <a:srgbClr val="F7E4D8"/>
            </a:solidFill>
            <a:prstDash val="solid"/>
          </a:ln>
        </p:spPr>
      </p:sp>
      <p:sp>
        <p:nvSpPr>
          <p:cNvPr id="10" name="Shape 8"/>
          <p:cNvSpPr/>
          <p:nvPr/>
        </p:nvSpPr>
        <p:spPr>
          <a:xfrm>
            <a:off x="4582058" y="2231136"/>
            <a:ext cx="420624" cy="420624"/>
          </a:xfrm>
          <a:prstGeom prst="ellipse">
            <a:avLst/>
          </a:prstGeom>
          <a:solidFill>
            <a:srgbClr val="C85A28"/>
          </a:solidFill>
          <a:ln w="12700">
            <a:solidFill>
              <a:srgbClr val="C85A28"/>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persona ratifica</a:t>
            </a:r>
            <a:endParaRPr lang="en-US" sz="1600" dirty="0"/>
          </a:p>
        </p:txBody>
      </p:sp>
      <p:sp>
        <p:nvSpPr>
          <p:cNvPr id="13" name="Text 11"/>
          <p:cNvSpPr txBox="1"/>
          <p:nvPr/>
        </p:nvSpPr>
        <p:spPr>
          <a:xfrm>
            <a:off x="4582058" y="3273552"/>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Usted revisa ese libro de códigos, elimina las categorías que se traslapan, precisa las definiciones ambiguas y agrega las que el modelo no vio.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Este paso lo hace usted. No se delega.</a:t>
            </a:r>
            <a:endParaRPr lang="en-US" sz="1300" dirty="0"/>
          </a:p>
        </p:txBody>
      </p:sp>
      <p:sp>
        <p:nvSpPr>
          <p:cNvPr id="14" name="Shape 12"/>
          <p:cNvSpPr/>
          <p:nvPr/>
        </p:nvSpPr>
        <p:spPr>
          <a:xfrm>
            <a:off x="8121701" y="2011680"/>
            <a:ext cx="3503066" cy="2623058"/>
          </a:xfrm>
          <a:prstGeom prst="roundRect">
            <a:avLst>
              <a:gd name="adj" fmla="val 2789"/>
            </a:avLst>
          </a:prstGeom>
          <a:solidFill>
            <a:srgbClr val="F2F5F6"/>
          </a:solidFill>
          <a:ln w="12700">
            <a:solidFill>
              <a:srgbClr val="F2F5F6"/>
            </a:solidFill>
            <a:prstDash val="solid"/>
          </a:ln>
        </p:spPr>
      </p:sp>
      <p:sp>
        <p:nvSpPr>
          <p:cNvPr id="15" name="Shape 13"/>
          <p:cNvSpPr/>
          <p:nvPr/>
        </p:nvSpPr>
        <p:spPr>
          <a:xfrm>
            <a:off x="8359445" y="2231136"/>
            <a:ext cx="420624" cy="420624"/>
          </a:xfrm>
          <a:prstGeom prst="ellipse">
            <a:avLst/>
          </a:prstGeom>
          <a:solidFill>
            <a:srgbClr val="2E7D7D"/>
          </a:solidFill>
          <a:ln w="12700">
            <a:solidFill>
              <a:srgbClr val="2E7D7D"/>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herramienta aplica</a:t>
            </a:r>
            <a:endParaRPr lang="en-US" sz="1600" dirty="0"/>
          </a:p>
        </p:txBody>
      </p:sp>
      <p:sp>
        <p:nvSpPr>
          <p:cNvPr id="18" name="Text 16"/>
          <p:cNvSpPr txBox="1"/>
          <p:nvPr/>
        </p:nvSpPr>
        <p:spPr>
          <a:xfrm>
            <a:off x="8359445" y="3273552"/>
            <a:ext cx="3027578" cy="1123442"/>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Se clasifica el conjunto completo con el libro de códigos ya ratificado, y se revisa una muestra de veinte registros para estimar qué tan bien lo hizo.</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0058400" y="-1463040"/>
            <a:ext cx="4023360" cy="4023360"/>
          </a:xfrm>
          <a:prstGeom prst="ellipse">
            <a:avLst/>
          </a:prstGeom>
          <a:solidFill>
            <a:srgbClr val="24404E"/>
          </a:solidFill>
          <a:ln w="12700">
            <a:solidFill>
              <a:srgbClr val="24404E"/>
            </a:solidFill>
            <a:prstDash val="solid"/>
          </a:ln>
        </p:spPr>
      </p:sp>
      <p:sp>
        <p:nvSpPr>
          <p:cNvPr id="3" name="Text 1"/>
          <p:cNvSpPr txBox="1"/>
          <p:nvPr/>
        </p:nvSpPr>
        <p:spPr>
          <a:xfrm>
            <a:off x="932688" y="13716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POR QUÉ EL ORDEN IMPORTA</a:t>
            </a:r>
            <a:endParaRPr lang="en-US" sz="1400" dirty="0"/>
          </a:p>
        </p:txBody>
      </p:sp>
      <p:sp>
        <p:nvSpPr>
          <p:cNvPr id="4" name="Text 2"/>
          <p:cNvSpPr txBox="1"/>
          <p:nvPr/>
        </p:nvSpPr>
        <p:spPr>
          <a:xfrm>
            <a:off x="932688" y="1828800"/>
            <a:ext cx="10241280" cy="2377440"/>
          </a:xfrm>
          <a:prstGeom prst="rect">
            <a:avLst/>
          </a:prstGeom>
          <a:noFill/>
          <a:ln/>
        </p:spPr>
        <p:txBody>
          <a:bodyPr wrap="square" lIns="0" tIns="0" rIns="0" bIns="0" rtlCol="0" anchor="t"/>
          <a:lstStyle/>
          <a:p>
            <a:pPr indent="0" marL="0">
              <a:lnSpc>
                <a:spcPct val="112000"/>
              </a:lnSpc>
              <a:buNone/>
            </a:pPr>
            <a:r>
              <a:rPr lang="en-US" sz="3000" b="1" dirty="0">
                <a:solidFill>
                  <a:srgbClr val="FFFFFF"/>
                </a:solidFill>
                <a:latin typeface="Arial" pitchFamily="34" charset="0"/>
                <a:ea typeface="Arial" pitchFamily="34" charset="-122"/>
                <a:cs typeface="Arial" pitchFamily="34" charset="-120"/>
              </a:rPr>
              <a:t>Si deja que el modelo invente las categorías y clasifique de un solo golpe, nadie va a poder explicar después de dónde salieron las categorías.</a:t>
            </a:r>
            <a:endParaRPr lang="en-US" sz="3000" dirty="0"/>
          </a:p>
        </p:txBody>
      </p:sp>
      <p:sp>
        <p:nvSpPr>
          <p:cNvPr id="5" name="Text 3"/>
          <p:cNvSpPr txBox="1"/>
          <p:nvPr/>
        </p:nvSpPr>
        <p:spPr>
          <a:xfrm>
            <a:off x="932688" y="4343400"/>
            <a:ext cx="10058400" cy="1371600"/>
          </a:xfrm>
          <a:prstGeom prst="rect">
            <a:avLst/>
          </a:prstGeom>
          <a:noFill/>
          <a:ln/>
        </p:spPr>
        <p:txBody>
          <a:bodyPr wrap="square" lIns="0" tIns="0" rIns="0" bIns="0" rtlCol="0" anchor="t"/>
          <a:lstStyle/>
          <a:p>
            <a:pPr indent="0" marL="0">
              <a:lnSpc>
                <a:spcPct val="115000"/>
              </a:lnSpc>
              <a:buNone/>
            </a:pPr>
            <a:r>
              <a:rPr lang="en-US" sz="1600" dirty="0">
                <a:solidFill>
                  <a:srgbClr val="D7E7E7"/>
                </a:solidFill>
                <a:latin typeface="Calibri" pitchFamily="34" charset="0"/>
                <a:ea typeface="Calibri" pitchFamily="34" charset="-122"/>
                <a:cs typeface="Calibri" pitchFamily="34" charset="-120"/>
              </a:rPr>
              <a:t>Y en una evaluación de política pública, las categorías son el análisis. Si no puede defender el libro de códigos, no puede defender ninguna de las cifras que salen de él. El paso dos es el que convierte una salida automática en evidencia.</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D7E7E7"/>
        </a:solidFill>
      </p:bgPr>
    </p:bg>
    <p:spTree>
      <p:nvGrpSpPr>
        <p:cNvPr id="1" name=""/>
        <p:cNvGrpSpPr/>
        <p:nvPr/>
      </p:nvGrpSpPr>
      <p:grpSpPr>
        <a:xfrm>
          <a:off x="0" y="0"/>
          <a:ext cx="0" cy="0"/>
          <a:chOff x="0" y="0"/>
          <a:chExt cx="0" cy="0"/>
        </a:xfrm>
      </p:grpSpPr>
      <p:sp>
        <p:nvSpPr>
          <p:cNvPr id="2" name="Shape 0"/>
          <p:cNvSpPr/>
          <p:nvPr/>
        </p:nvSpPr>
        <p:spPr>
          <a:xfrm>
            <a:off x="566928" y="457200"/>
            <a:ext cx="2788920" cy="457200"/>
          </a:xfrm>
          <a:prstGeom prst="roundRect">
            <a:avLst>
              <a:gd name="adj" fmla="val 50000"/>
            </a:avLst>
          </a:prstGeom>
          <a:solidFill>
            <a:srgbClr val="2E7D7D"/>
          </a:solidFill>
          <a:ln w="12700">
            <a:solidFill>
              <a:srgbClr val="2E7D7D"/>
            </a:solidFill>
            <a:prstDash val="solid"/>
          </a:ln>
        </p:spPr>
      </p:sp>
      <p:sp>
        <p:nvSpPr>
          <p:cNvPr id="3" name="Text 1"/>
          <p:cNvSpPr txBox="1"/>
          <p:nvPr/>
        </p:nvSpPr>
        <p:spPr>
          <a:xfrm>
            <a:off x="566928" y="457200"/>
            <a:ext cx="2788920" cy="457200"/>
          </a:xfrm>
          <a:prstGeom prst="rect">
            <a:avLst/>
          </a:prstGeom>
          <a:noFill/>
          <a:ln/>
        </p:spPr>
        <p:txBody>
          <a:bodyPr wrap="square" lIns="0" tIns="0" rIns="0" bIns="0" rtlCol="0" anchor="ctr"/>
          <a:lstStyle/>
          <a:p>
            <a:pPr algn="ctr" indent="0" marL="0">
              <a:buNone/>
            </a:pPr>
            <a:r>
              <a:rPr lang="en-US" sz="1300" b="1" spc="200" kern="0" dirty="0">
                <a:solidFill>
                  <a:srgbClr val="FFFFFF"/>
                </a:solidFill>
                <a:latin typeface="Arial" pitchFamily="34" charset="0"/>
                <a:ea typeface="Arial" pitchFamily="34" charset="-122"/>
                <a:cs typeface="Arial" pitchFamily="34" charset="-120"/>
              </a:rPr>
              <a:t>AHORA USTEDES</a:t>
            </a:r>
            <a:endParaRPr lang="en-US" sz="1300" dirty="0"/>
          </a:p>
        </p:txBody>
      </p:sp>
      <p:sp>
        <p:nvSpPr>
          <p:cNvPr id="4" name="Shape 2"/>
          <p:cNvSpPr/>
          <p:nvPr/>
        </p:nvSpPr>
        <p:spPr>
          <a:xfrm>
            <a:off x="9704527" y="457200"/>
            <a:ext cx="1920240" cy="457200"/>
          </a:xfrm>
          <a:prstGeom prst="roundRect">
            <a:avLst>
              <a:gd name="adj" fmla="val 50000"/>
            </a:avLst>
          </a:prstGeom>
          <a:solidFill>
            <a:srgbClr val="C85A28"/>
          </a:solidFill>
          <a:ln w="12700">
            <a:solidFill>
              <a:srgbClr val="C85A28"/>
            </a:solidFill>
            <a:prstDash val="solid"/>
          </a:ln>
        </p:spPr>
      </p:sp>
      <p:sp>
        <p:nvSpPr>
          <p:cNvPr id="5" name="Text 3"/>
          <p:cNvSpPr txBox="1"/>
          <p:nvPr/>
        </p:nvSpPr>
        <p:spPr>
          <a:xfrm>
            <a:off x="9704527" y="457200"/>
            <a:ext cx="19202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35 minutos</a:t>
            </a:r>
            <a:endParaRPr lang="en-US" sz="1300" dirty="0"/>
          </a:p>
        </p:txBody>
      </p:sp>
      <p:sp>
        <p:nvSpPr>
          <p:cNvPr id="6" name="Text 4"/>
          <p:cNvSpPr txBox="1"/>
          <p:nvPr/>
        </p:nvSpPr>
        <p:spPr>
          <a:xfrm>
            <a:off x="566928" y="1078992"/>
            <a:ext cx="11057839" cy="685800"/>
          </a:xfrm>
          <a:prstGeom prst="rect">
            <a:avLst/>
          </a:prstGeom>
          <a:noFill/>
          <a:ln/>
        </p:spPr>
        <p:txBody>
          <a:bodyPr wrap="square" lIns="0" tIns="0" rIns="0" bIns="0" rtlCol="0" anchor="ctr"/>
          <a:lstStyle/>
          <a:p>
            <a:pPr indent="0" marL="0">
              <a:buNone/>
            </a:pPr>
            <a:r>
              <a:rPr lang="en-US" sz="2900" b="1" dirty="0">
                <a:solidFill>
                  <a:srgbClr val="16262E"/>
                </a:solidFill>
                <a:latin typeface="Arial" pitchFamily="34" charset="0"/>
                <a:ea typeface="Arial" pitchFamily="34" charset="-122"/>
                <a:cs typeface="Arial" pitchFamily="34" charset="-120"/>
              </a:rPr>
              <a:t>Práctica C. Cien registros de atención ciudadana</a:t>
            </a:r>
            <a:endParaRPr lang="en-US" sz="2900" dirty="0"/>
          </a:p>
        </p:txBody>
      </p:sp>
      <p:sp>
        <p:nvSpPr>
          <p:cNvPr id="7" name="Shape 5"/>
          <p:cNvSpPr/>
          <p:nvPr/>
        </p:nvSpPr>
        <p:spPr>
          <a:xfrm>
            <a:off x="566928" y="1920240"/>
            <a:ext cx="11057839" cy="628650"/>
          </a:xfrm>
          <a:prstGeom prst="roundRect">
            <a:avLst>
              <a:gd name="adj" fmla="val 10182"/>
            </a:avLst>
          </a:prstGeom>
          <a:solidFill>
            <a:srgbClr val="FFFFFF"/>
          </a:solidFill>
          <a:ln w="12700">
            <a:solidFill>
              <a:srgbClr val="FFFFFF"/>
            </a:solidFill>
            <a:prstDash val="solid"/>
          </a:ln>
        </p:spPr>
      </p:sp>
      <p:sp>
        <p:nvSpPr>
          <p:cNvPr id="8" name="Shape 6"/>
          <p:cNvSpPr/>
          <p:nvPr/>
        </p:nvSpPr>
        <p:spPr>
          <a:xfrm>
            <a:off x="786384" y="2024253"/>
            <a:ext cx="420624" cy="420624"/>
          </a:xfrm>
          <a:prstGeom prst="ellipse">
            <a:avLst/>
          </a:prstGeom>
          <a:solidFill>
            <a:srgbClr val="2E7D7D"/>
          </a:solidFill>
          <a:ln w="12700">
            <a:solidFill>
              <a:srgbClr val="2E7D7D"/>
            </a:solidFill>
            <a:prstDash val="solid"/>
          </a:ln>
        </p:spPr>
      </p:sp>
      <p:sp>
        <p:nvSpPr>
          <p:cNvPr id="9" name="Text 7"/>
          <p:cNvSpPr txBox="1"/>
          <p:nvPr/>
        </p:nvSpPr>
        <p:spPr>
          <a:xfrm>
            <a:off x="786384" y="202425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10" name="Text 8"/>
          <p:cNvSpPr txBox="1"/>
          <p:nvPr/>
        </p:nvSpPr>
        <p:spPr>
          <a:xfrm>
            <a:off x="1408176" y="201168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Diez minutos. Dele a la herramienta una muestra de los registros y pídale un libro de códigos con categoría, definición operativa y tres ejemplos de cada una.</a:t>
            </a:r>
            <a:endParaRPr lang="en-US" sz="1450" dirty="0"/>
          </a:p>
        </p:txBody>
      </p:sp>
      <p:sp>
        <p:nvSpPr>
          <p:cNvPr id="11" name="Shape 9"/>
          <p:cNvSpPr/>
          <p:nvPr/>
        </p:nvSpPr>
        <p:spPr>
          <a:xfrm>
            <a:off x="566928" y="2731770"/>
            <a:ext cx="11057839" cy="628650"/>
          </a:xfrm>
          <a:prstGeom prst="roundRect">
            <a:avLst>
              <a:gd name="adj" fmla="val 10182"/>
            </a:avLst>
          </a:prstGeom>
          <a:solidFill>
            <a:srgbClr val="FFFFFF"/>
          </a:solidFill>
          <a:ln w="12700">
            <a:solidFill>
              <a:srgbClr val="FFFFFF"/>
            </a:solidFill>
            <a:prstDash val="solid"/>
          </a:ln>
        </p:spPr>
      </p:sp>
      <p:sp>
        <p:nvSpPr>
          <p:cNvPr id="12" name="Shape 10"/>
          <p:cNvSpPr/>
          <p:nvPr/>
        </p:nvSpPr>
        <p:spPr>
          <a:xfrm>
            <a:off x="786384" y="2835783"/>
            <a:ext cx="420624" cy="420624"/>
          </a:xfrm>
          <a:prstGeom prst="ellipse">
            <a:avLst/>
          </a:prstGeom>
          <a:solidFill>
            <a:srgbClr val="2E7D7D"/>
          </a:solidFill>
          <a:ln w="12700">
            <a:solidFill>
              <a:srgbClr val="2E7D7D"/>
            </a:solidFill>
            <a:prstDash val="solid"/>
          </a:ln>
        </p:spPr>
      </p:sp>
      <p:sp>
        <p:nvSpPr>
          <p:cNvPr id="13" name="Text 11"/>
          <p:cNvSpPr txBox="1"/>
          <p:nvPr/>
        </p:nvSpPr>
        <p:spPr>
          <a:xfrm>
            <a:off x="786384" y="283578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4" name="Text 12"/>
          <p:cNvSpPr txBox="1"/>
          <p:nvPr/>
        </p:nvSpPr>
        <p:spPr>
          <a:xfrm>
            <a:off x="1408176" y="282321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Quince minutos. Revise ese libro de códigos y corríjalo. Llene sobre todo la columna de qué NO incluye cada categoría, que es la que evita los traslapes.</a:t>
            </a:r>
            <a:endParaRPr lang="en-US" sz="1450" dirty="0"/>
          </a:p>
        </p:txBody>
      </p:sp>
      <p:sp>
        <p:nvSpPr>
          <p:cNvPr id="15" name="Shape 13"/>
          <p:cNvSpPr/>
          <p:nvPr/>
        </p:nvSpPr>
        <p:spPr>
          <a:xfrm>
            <a:off x="566928" y="3543300"/>
            <a:ext cx="11057839" cy="628650"/>
          </a:xfrm>
          <a:prstGeom prst="roundRect">
            <a:avLst>
              <a:gd name="adj" fmla="val 10182"/>
            </a:avLst>
          </a:prstGeom>
          <a:solidFill>
            <a:srgbClr val="FFFFFF"/>
          </a:solidFill>
          <a:ln w="12700">
            <a:solidFill>
              <a:srgbClr val="FFFFFF"/>
            </a:solidFill>
            <a:prstDash val="solid"/>
          </a:ln>
        </p:spPr>
      </p:sp>
      <p:sp>
        <p:nvSpPr>
          <p:cNvPr id="16" name="Shape 14"/>
          <p:cNvSpPr/>
          <p:nvPr/>
        </p:nvSpPr>
        <p:spPr>
          <a:xfrm>
            <a:off x="786384" y="3647313"/>
            <a:ext cx="420624" cy="420624"/>
          </a:xfrm>
          <a:prstGeom prst="ellipse">
            <a:avLst/>
          </a:prstGeom>
          <a:solidFill>
            <a:srgbClr val="2E7D7D"/>
          </a:solidFill>
          <a:ln w="12700">
            <a:solidFill>
              <a:srgbClr val="2E7D7D"/>
            </a:solidFill>
            <a:prstDash val="solid"/>
          </a:ln>
        </p:spPr>
      </p:sp>
      <p:sp>
        <p:nvSpPr>
          <p:cNvPr id="17" name="Text 15"/>
          <p:cNvSpPr txBox="1"/>
          <p:nvPr/>
        </p:nvSpPr>
        <p:spPr>
          <a:xfrm>
            <a:off x="786384" y="364731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8" name="Text 16"/>
          <p:cNvSpPr txBox="1"/>
          <p:nvPr/>
        </p:nvSpPr>
        <p:spPr>
          <a:xfrm>
            <a:off x="1408176" y="363474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Diez minutos. Clasifique el conjunto completo con el libro ratificado y revise una muestra de veinte registros para ver cuántos quedaron bien clasificados.</a:t>
            </a:r>
            <a:endParaRPr lang="en-US" sz="1450" dirty="0"/>
          </a:p>
        </p:txBody>
      </p:sp>
      <p:sp>
        <p:nvSpPr>
          <p:cNvPr id="19" name="Shape 17"/>
          <p:cNvSpPr/>
          <p:nvPr/>
        </p:nvSpPr>
        <p:spPr>
          <a:xfrm>
            <a:off x="566928" y="4354830"/>
            <a:ext cx="11057839" cy="628650"/>
          </a:xfrm>
          <a:prstGeom prst="roundRect">
            <a:avLst>
              <a:gd name="adj" fmla="val 10182"/>
            </a:avLst>
          </a:prstGeom>
          <a:solidFill>
            <a:srgbClr val="FFFFFF"/>
          </a:solidFill>
          <a:ln w="12700">
            <a:solidFill>
              <a:srgbClr val="FFFFFF"/>
            </a:solidFill>
            <a:prstDash val="solid"/>
          </a:ln>
        </p:spPr>
      </p:sp>
      <p:sp>
        <p:nvSpPr>
          <p:cNvPr id="20" name="Shape 18"/>
          <p:cNvSpPr/>
          <p:nvPr/>
        </p:nvSpPr>
        <p:spPr>
          <a:xfrm>
            <a:off x="786384" y="4458843"/>
            <a:ext cx="420624" cy="420624"/>
          </a:xfrm>
          <a:prstGeom prst="ellipse">
            <a:avLst/>
          </a:prstGeom>
          <a:solidFill>
            <a:srgbClr val="2E7D7D"/>
          </a:solidFill>
          <a:ln w="12700">
            <a:solidFill>
              <a:srgbClr val="2E7D7D"/>
            </a:solidFill>
            <a:prstDash val="solid"/>
          </a:ln>
        </p:spPr>
      </p:sp>
      <p:sp>
        <p:nvSpPr>
          <p:cNvPr id="21" name="Text 19"/>
          <p:cNvSpPr txBox="1"/>
          <p:nvPr/>
        </p:nvSpPr>
        <p:spPr>
          <a:xfrm>
            <a:off x="786384" y="4458843"/>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4</a:t>
            </a:r>
            <a:endParaRPr lang="en-US" sz="1400" dirty="0"/>
          </a:p>
        </p:txBody>
      </p:sp>
      <p:sp>
        <p:nvSpPr>
          <p:cNvPr id="22" name="Text 20"/>
          <p:cNvSpPr txBox="1"/>
          <p:nvPr/>
        </p:nvSpPr>
        <p:spPr>
          <a:xfrm>
            <a:off x="1408176" y="4446270"/>
            <a:ext cx="9960559" cy="445770"/>
          </a:xfrm>
          <a:prstGeom prst="rect">
            <a:avLst/>
          </a:prstGeom>
          <a:noFill/>
          <a:ln/>
        </p:spPr>
        <p:txBody>
          <a:bodyPr wrap="square" lIns="0" tIns="0" rIns="0" bIns="0" rtlCol="0" anchor="ctr"/>
          <a:lstStyle/>
          <a:p>
            <a:pPr indent="0" marL="0">
              <a:lnSpc>
                <a:spcPct val="110000"/>
              </a:lnSpc>
              <a:buNone/>
            </a:pPr>
            <a:r>
              <a:rPr lang="en-US" sz="1450" dirty="0">
                <a:solidFill>
                  <a:srgbClr val="16262E"/>
                </a:solidFill>
                <a:latin typeface="Calibri" pitchFamily="34" charset="0"/>
                <a:ea typeface="Calibri" pitchFamily="34" charset="-122"/>
                <a:cs typeface="Calibri" pitchFamily="34" charset="-120"/>
              </a:rPr>
              <a:t>Hay seis registros que tocan dos o tres temas a la vez. Vean qué hace la herramienta con ellos y qué haría usted.</a:t>
            </a:r>
            <a:endParaRPr lang="en-US" sz="1450" dirty="0"/>
          </a:p>
        </p:txBody>
      </p:sp>
      <p:sp>
        <p:nvSpPr>
          <p:cNvPr id="23" name="Shape 21"/>
          <p:cNvSpPr/>
          <p:nvPr/>
        </p:nvSpPr>
        <p:spPr>
          <a:xfrm>
            <a:off x="566928" y="5193792"/>
            <a:ext cx="11057839" cy="777240"/>
          </a:xfrm>
          <a:prstGeom prst="roundRect">
            <a:avLst>
              <a:gd name="adj" fmla="val 8235"/>
            </a:avLst>
          </a:prstGeom>
          <a:solidFill>
            <a:srgbClr val="16262E"/>
          </a:solidFill>
          <a:ln w="12700">
            <a:solidFill>
              <a:srgbClr val="16262E"/>
            </a:solidFill>
            <a:prstDash val="solid"/>
          </a:ln>
        </p:spPr>
      </p:sp>
      <p:sp>
        <p:nvSpPr>
          <p:cNvPr id="24" name="Text 22"/>
          <p:cNvSpPr txBox="1"/>
          <p:nvPr/>
        </p:nvSpPr>
        <p:spPr>
          <a:xfrm>
            <a:off x="841248" y="5193792"/>
            <a:ext cx="10509199" cy="777240"/>
          </a:xfrm>
          <a:prstGeom prst="rect">
            <a:avLst/>
          </a:prstGeom>
          <a:noFill/>
          <a:ln/>
        </p:spPr>
        <p:txBody>
          <a:bodyPr wrap="square" lIns="0" tIns="0" rIns="0" bIns="0" rtlCol="0" anchor="ctr"/>
          <a:lstStyle/>
          <a:p>
            <a:pPr indent="0" marL="0">
              <a:buNone/>
            </a:pPr>
            <a:r>
              <a:rPr lang="en-US" sz="1350" dirty="0">
                <a:solidFill>
                  <a:srgbClr val="FFFFFF"/>
                </a:solidFill>
                <a:latin typeface="Calibri" pitchFamily="34" charset="0"/>
                <a:ea typeface="Calibri" pitchFamily="34" charset="-122"/>
                <a:cs typeface="Calibri" pitchFamily="34" charset="-120"/>
              </a:rPr>
              <a:t>Archivo: Registros_atencion_ciudadana_sintetico.xlsx, hoja Registros. Plantilla del libro de códigos en Plantillas_tabulares_curso_IA.xlsx.</a:t>
            </a:r>
            <a:endParaRPr lang="en-US" sz="13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Práctica D. Postura y sentimiento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Quince minutos sobre transcripciones de foros de consulta comunitaria.</a:t>
            </a:r>
            <a:endParaRPr lang="en-US" sz="1500" dirty="0"/>
          </a:p>
        </p:txBody>
      </p:sp>
      <p:sp>
        <p:nvSpPr>
          <p:cNvPr id="4" name="Shape 2"/>
          <p:cNvSpPr/>
          <p:nvPr/>
        </p:nvSpPr>
        <p:spPr>
          <a:xfrm>
            <a:off x="566928" y="2011680"/>
            <a:ext cx="5391760" cy="1856486"/>
          </a:xfrm>
          <a:prstGeom prst="roundRect">
            <a:avLst>
              <a:gd name="adj" fmla="val 3940"/>
            </a:avLst>
          </a:prstGeom>
          <a:solidFill>
            <a:srgbClr val="D7E7E7"/>
          </a:solidFill>
          <a:ln w="12700">
            <a:solidFill>
              <a:srgbClr val="D7E7E7"/>
            </a:solidFill>
            <a:prstDash val="solid"/>
          </a:ln>
        </p:spPr>
      </p:sp>
      <p:sp>
        <p:nvSpPr>
          <p:cNvPr id="5" name="Text 3"/>
          <p:cNvSpPr txBox="1"/>
          <p:nvPr/>
        </p:nvSpPr>
        <p:spPr>
          <a:xfrm>
            <a:off x="804672" y="2249424"/>
            <a:ext cx="491627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Clasifiquen por dos ejes al mismo tiempo</a:t>
            </a:r>
            <a:endParaRPr lang="en-US" sz="1600" dirty="0"/>
          </a:p>
        </p:txBody>
      </p:sp>
      <p:sp>
        <p:nvSpPr>
          <p:cNvPr id="6" name="Text 4"/>
          <p:cNvSpPr txBox="1"/>
          <p:nvPr/>
        </p:nvSpPr>
        <p:spPr>
          <a:xfrm>
            <a:off x="804672" y="2724912"/>
            <a:ext cx="4916272" cy="90551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Polaridad: positiva, neutra o negativa.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Causa raíz: infraestructura, presupuesto, gestión o transparencia.</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Un solo eje casi nunca alcanza para decidir nada.</a:t>
            </a:r>
            <a:endParaRPr lang="en-US" sz="1300" dirty="0"/>
          </a:p>
        </p:txBody>
      </p:sp>
      <p:sp>
        <p:nvSpPr>
          <p:cNvPr id="7" name="Shape 5"/>
          <p:cNvSpPr/>
          <p:nvPr/>
        </p:nvSpPr>
        <p:spPr>
          <a:xfrm>
            <a:off x="6233008" y="2011680"/>
            <a:ext cx="5391760" cy="1856486"/>
          </a:xfrm>
          <a:prstGeom prst="roundRect">
            <a:avLst>
              <a:gd name="adj" fmla="val 3940"/>
            </a:avLst>
          </a:prstGeom>
          <a:solidFill>
            <a:srgbClr val="F7E4D8"/>
          </a:solidFill>
          <a:ln w="12700">
            <a:solidFill>
              <a:srgbClr val="F7E4D8"/>
            </a:solidFill>
            <a:prstDash val="solid"/>
          </a:ln>
        </p:spPr>
      </p:sp>
      <p:sp>
        <p:nvSpPr>
          <p:cNvPr id="8" name="Text 6"/>
          <p:cNvSpPr txBox="1"/>
          <p:nvPr/>
        </p:nvSpPr>
        <p:spPr>
          <a:xfrm>
            <a:off x="6470752" y="2249424"/>
            <a:ext cx="4916272"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La pregunta que hay que hacerse al final</a:t>
            </a:r>
            <a:endParaRPr lang="en-US" sz="1600" dirty="0"/>
          </a:p>
        </p:txBody>
      </p:sp>
      <p:sp>
        <p:nvSpPr>
          <p:cNvPr id="9" name="Text 7"/>
          <p:cNvSpPr txBox="1"/>
          <p:nvPr/>
        </p:nvSpPr>
        <p:spPr>
          <a:xfrm>
            <a:off x="6470752" y="2724912"/>
            <a:ext cx="4916272" cy="905510"/>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Si el resultado es que el 62 por ciento de las intervenciones fueron negativas, ¿qué decisión de política se puede tomar con eso?</a:t>
            </a:r>
            <a:endParaRPr lang="en-US" sz="1300" dirty="0"/>
          </a:p>
          <a:p>
            <a:pPr indent="0" marL="0">
              <a:lnSpc>
                <a:spcPct val="110000"/>
              </a:lnSpc>
              <a:buNone/>
            </a:pPr>
            <a:endParaRPr lang="en-US" sz="1300" dirty="0"/>
          </a:p>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La respuesta suele ser ninguna, y ahí está la lección: la polaridad sola no es un hallazgo, es un punto de partida.</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66928" y="402336"/>
            <a:ext cx="9229039" cy="749808"/>
          </a:xfrm>
          <a:prstGeom prst="rect">
            <a:avLst/>
          </a:prstGeom>
          <a:noFill/>
          <a:ln/>
        </p:spPr>
        <p:txBody>
          <a:bodyPr wrap="square" lIns="0" tIns="0" rIns="0" bIns="0" rtlCol="0" anchor="t"/>
          <a:lstStyle/>
          <a:p>
            <a:pPr algn="l" indent="0" marL="0">
              <a:buNone/>
            </a:pPr>
            <a:r>
              <a:rPr lang="en-US" sz="3200" b="1" dirty="0">
                <a:solidFill>
                  <a:srgbClr val="16262E"/>
                </a:solidFill>
                <a:latin typeface="Arial" pitchFamily="34" charset="0"/>
                <a:ea typeface="Arial" pitchFamily="34" charset="-122"/>
                <a:cs typeface="Arial" pitchFamily="34" charset="-120"/>
              </a:rPr>
              <a:t>Cuando el corpus no cabe en la ventana de contexto</a:t>
            </a:r>
            <a:endParaRPr lang="en-US" sz="3200" dirty="0"/>
          </a:p>
        </p:txBody>
      </p:sp>
      <p:sp>
        <p:nvSpPr>
          <p:cNvPr id="3" name="Text 1"/>
          <p:cNvSpPr txBox="1"/>
          <p:nvPr/>
        </p:nvSpPr>
        <p:spPr>
          <a:xfrm>
            <a:off x="566928" y="1280160"/>
            <a:ext cx="9960559" cy="365760"/>
          </a:xfrm>
          <a:prstGeom prst="rect">
            <a:avLst/>
          </a:prstGeom>
          <a:noFill/>
          <a:ln/>
        </p:spPr>
        <p:txBody>
          <a:bodyPr wrap="square" lIns="0" tIns="0" rIns="0" bIns="0" rtlCol="0" anchor="t"/>
          <a:lstStyle/>
          <a:p>
            <a:pPr indent="0" marL="0">
              <a:buNone/>
            </a:pPr>
            <a:r>
              <a:rPr lang="en-US" sz="1500" dirty="0">
                <a:solidFill>
                  <a:srgbClr val="5A6B73"/>
                </a:solidFill>
                <a:latin typeface="Calibri" pitchFamily="34" charset="0"/>
                <a:ea typeface="Calibri" pitchFamily="34" charset="-122"/>
                <a:cs typeface="Calibri" pitchFamily="34" charset="-120"/>
              </a:rPr>
              <a:t>Toda herramienta tiene un límite de cuánto texto puede leer de una sola vez. Hay tres salidas.</a:t>
            </a:r>
            <a:endParaRPr lang="en-US" sz="1500" dirty="0"/>
          </a:p>
        </p:txBody>
      </p:sp>
      <p:sp>
        <p:nvSpPr>
          <p:cNvPr id="4" name="Shape 2"/>
          <p:cNvSpPr/>
          <p:nvPr/>
        </p:nvSpPr>
        <p:spPr>
          <a:xfrm>
            <a:off x="566928" y="2011680"/>
            <a:ext cx="3503066" cy="2296160"/>
          </a:xfrm>
          <a:prstGeom prst="roundRect">
            <a:avLst>
              <a:gd name="adj" fmla="val 3186"/>
            </a:avLst>
          </a:prstGeom>
          <a:solidFill>
            <a:srgbClr val="F2F5F6"/>
          </a:solidFill>
          <a:ln w="12700">
            <a:solidFill>
              <a:srgbClr val="F2F5F6"/>
            </a:solidFill>
            <a:prstDash val="solid"/>
          </a:ln>
        </p:spPr>
      </p:sp>
      <p:sp>
        <p:nvSpPr>
          <p:cNvPr id="5" name="Shape 3"/>
          <p:cNvSpPr/>
          <p:nvPr/>
        </p:nvSpPr>
        <p:spPr>
          <a:xfrm>
            <a:off x="804672" y="2231136"/>
            <a:ext cx="420624" cy="420624"/>
          </a:xfrm>
          <a:prstGeom prst="ellipse">
            <a:avLst/>
          </a:prstGeom>
          <a:solidFill>
            <a:srgbClr val="2E7D7D"/>
          </a:solidFill>
          <a:ln w="12700">
            <a:solidFill>
              <a:srgbClr val="2E7D7D"/>
            </a:solidFill>
            <a:prstDash val="solid"/>
          </a:ln>
        </p:spPr>
      </p:sp>
      <p:sp>
        <p:nvSpPr>
          <p:cNvPr id="6" name="Text 4"/>
          <p:cNvSpPr txBox="1"/>
          <p:nvPr/>
        </p:nvSpPr>
        <p:spPr>
          <a:xfrm>
            <a:off x="804672"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txBox="1"/>
          <p:nvPr/>
        </p:nvSpPr>
        <p:spPr>
          <a:xfrm>
            <a:off x="804672"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Partir en bloques</a:t>
            </a:r>
            <a:endParaRPr lang="en-US" sz="1600" dirty="0"/>
          </a:p>
        </p:txBody>
      </p:sp>
      <p:sp>
        <p:nvSpPr>
          <p:cNvPr id="8" name="Text 6"/>
          <p:cNvSpPr txBox="1"/>
          <p:nvPr/>
        </p:nvSpPr>
        <p:spPr>
          <a:xfrm>
            <a:off x="804672" y="3273552"/>
            <a:ext cx="3027578" cy="796544"/>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Procesar por tandas y consolidar los resultados al final. Funciona, pero hay que cuidar que el libro de códigos sea el mismo en todas las tandas.</a:t>
            </a:r>
            <a:endParaRPr lang="en-US" sz="1300" dirty="0"/>
          </a:p>
        </p:txBody>
      </p:sp>
      <p:sp>
        <p:nvSpPr>
          <p:cNvPr id="9" name="Shape 7"/>
          <p:cNvSpPr/>
          <p:nvPr/>
        </p:nvSpPr>
        <p:spPr>
          <a:xfrm>
            <a:off x="4344314" y="2011680"/>
            <a:ext cx="3503066" cy="2296160"/>
          </a:xfrm>
          <a:prstGeom prst="roundRect">
            <a:avLst>
              <a:gd name="adj" fmla="val 3186"/>
            </a:avLst>
          </a:prstGeom>
          <a:solidFill>
            <a:srgbClr val="F2F5F6"/>
          </a:solidFill>
          <a:ln w="12700">
            <a:solidFill>
              <a:srgbClr val="F2F5F6"/>
            </a:solidFill>
            <a:prstDash val="solid"/>
          </a:ln>
        </p:spPr>
      </p:sp>
      <p:sp>
        <p:nvSpPr>
          <p:cNvPr id="10" name="Shape 8"/>
          <p:cNvSpPr/>
          <p:nvPr/>
        </p:nvSpPr>
        <p:spPr>
          <a:xfrm>
            <a:off x="4582058" y="2231136"/>
            <a:ext cx="420624" cy="420624"/>
          </a:xfrm>
          <a:prstGeom prst="ellipse">
            <a:avLst/>
          </a:prstGeom>
          <a:solidFill>
            <a:srgbClr val="2E7D7D"/>
          </a:solidFill>
          <a:ln w="12700">
            <a:solidFill>
              <a:srgbClr val="2E7D7D"/>
            </a:solidFill>
            <a:prstDash val="solid"/>
          </a:ln>
        </p:spPr>
      </p:sp>
      <p:sp>
        <p:nvSpPr>
          <p:cNvPr id="11" name="Text 9"/>
          <p:cNvSpPr txBox="1"/>
          <p:nvPr/>
        </p:nvSpPr>
        <p:spPr>
          <a:xfrm>
            <a:off x="4582058"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txBox="1"/>
          <p:nvPr/>
        </p:nvSpPr>
        <p:spPr>
          <a:xfrm>
            <a:off x="4582058"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Trabajar con muestra</a:t>
            </a:r>
            <a:endParaRPr lang="en-US" sz="1600" dirty="0"/>
          </a:p>
        </p:txBody>
      </p:sp>
      <p:sp>
        <p:nvSpPr>
          <p:cNvPr id="13" name="Text 11"/>
          <p:cNvSpPr txBox="1"/>
          <p:nvPr/>
        </p:nvSpPr>
        <p:spPr>
          <a:xfrm>
            <a:off x="4582058" y="3273552"/>
            <a:ext cx="3027578" cy="796544"/>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Construir el libro de códigos sobre una muestra representativa y después validar contra el total. Es lo que hicimos hoy.</a:t>
            </a:r>
            <a:endParaRPr lang="en-US" sz="1300" dirty="0"/>
          </a:p>
        </p:txBody>
      </p:sp>
      <p:sp>
        <p:nvSpPr>
          <p:cNvPr id="14" name="Shape 12"/>
          <p:cNvSpPr/>
          <p:nvPr/>
        </p:nvSpPr>
        <p:spPr>
          <a:xfrm>
            <a:off x="8121701" y="2011680"/>
            <a:ext cx="3503066" cy="2296160"/>
          </a:xfrm>
          <a:prstGeom prst="roundRect">
            <a:avLst>
              <a:gd name="adj" fmla="val 3186"/>
            </a:avLst>
          </a:prstGeom>
          <a:solidFill>
            <a:srgbClr val="F7E4D8"/>
          </a:solidFill>
          <a:ln w="12700">
            <a:solidFill>
              <a:srgbClr val="F7E4D8"/>
            </a:solidFill>
            <a:prstDash val="solid"/>
          </a:ln>
        </p:spPr>
      </p:sp>
      <p:sp>
        <p:nvSpPr>
          <p:cNvPr id="15" name="Shape 13"/>
          <p:cNvSpPr/>
          <p:nvPr/>
        </p:nvSpPr>
        <p:spPr>
          <a:xfrm>
            <a:off x="8359445" y="2231136"/>
            <a:ext cx="420624" cy="420624"/>
          </a:xfrm>
          <a:prstGeom prst="ellipse">
            <a:avLst/>
          </a:prstGeom>
          <a:solidFill>
            <a:srgbClr val="C85A28"/>
          </a:solidFill>
          <a:ln w="12700">
            <a:solidFill>
              <a:srgbClr val="C85A28"/>
            </a:solidFill>
            <a:prstDash val="solid"/>
          </a:ln>
        </p:spPr>
      </p:sp>
      <p:sp>
        <p:nvSpPr>
          <p:cNvPr id="16" name="Text 14"/>
          <p:cNvSpPr txBox="1"/>
          <p:nvPr/>
        </p:nvSpPr>
        <p:spPr>
          <a:xfrm>
            <a:off x="8359445" y="2231136"/>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txBox="1"/>
          <p:nvPr/>
        </p:nvSpPr>
        <p:spPr>
          <a:xfrm>
            <a:off x="8359445" y="2798064"/>
            <a:ext cx="3027578" cy="457200"/>
          </a:xfrm>
          <a:prstGeom prst="rect">
            <a:avLst/>
          </a:prstGeom>
          <a:noFill/>
          <a:ln/>
        </p:spPr>
        <p:txBody>
          <a:bodyPr wrap="square" lIns="0" tIns="0" rIns="0" bIns="0" rtlCol="0" anchor="t"/>
          <a:lstStyle/>
          <a:p>
            <a:pPr indent="0" marL="0">
              <a:buNone/>
            </a:pPr>
            <a:r>
              <a:rPr lang="en-US" sz="1600" b="1" dirty="0">
                <a:solidFill>
                  <a:srgbClr val="16262E"/>
                </a:solidFill>
                <a:latin typeface="Arial" pitchFamily="34" charset="0"/>
                <a:ea typeface="Arial" pitchFamily="34" charset="-122"/>
                <a:cs typeface="Arial" pitchFamily="34" charset="-120"/>
              </a:rPr>
              <a:t>Pasar a código</a:t>
            </a:r>
            <a:endParaRPr lang="en-US" sz="1600" dirty="0"/>
          </a:p>
        </p:txBody>
      </p:sp>
      <p:sp>
        <p:nvSpPr>
          <p:cNvPr id="18" name="Text 16"/>
          <p:cNvSpPr txBox="1"/>
          <p:nvPr/>
        </p:nvSpPr>
        <p:spPr>
          <a:xfrm>
            <a:off x="8359445" y="3273552"/>
            <a:ext cx="3027578" cy="796544"/>
          </a:xfrm>
          <a:prstGeom prst="rect">
            <a:avLst/>
          </a:prstGeom>
          <a:noFill/>
          <a:ln/>
        </p:spPr>
        <p:txBody>
          <a:bodyPr wrap="square" lIns="0" tIns="0" rIns="0" bIns="0" rtlCol="0" anchor="t"/>
          <a:lstStyle/>
          <a:p>
            <a:pPr indent="0" marL="0">
              <a:lnSpc>
                <a:spcPct val="110000"/>
              </a:lnSpc>
              <a:buNone/>
            </a:pPr>
            <a:r>
              <a:rPr lang="en-US" sz="1300" dirty="0">
                <a:solidFill>
                  <a:srgbClr val="16262E"/>
                </a:solidFill>
                <a:latin typeface="Calibri" pitchFamily="34" charset="0"/>
                <a:ea typeface="Calibri" pitchFamily="34" charset="-122"/>
                <a:cs typeface="Calibri" pitchFamily="34" charset="-120"/>
              </a:rPr>
              <a:t>Cuando el volumen es de decenas de miles de registros, el chat deja de ser la herramienta. Eso es exactamente el Módulo III.</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6262E"/>
        </a:solidFill>
      </p:bgPr>
    </p:bg>
    <p:spTree>
      <p:nvGrpSpPr>
        <p:cNvPr id="1" name=""/>
        <p:cNvGrpSpPr/>
        <p:nvPr/>
      </p:nvGrpSpPr>
      <p:grpSpPr>
        <a:xfrm>
          <a:off x="0" y="0"/>
          <a:ext cx="0" cy="0"/>
          <a:chOff x="0" y="0"/>
          <a:chExt cx="0" cy="0"/>
        </a:xfrm>
      </p:grpSpPr>
      <p:sp>
        <p:nvSpPr>
          <p:cNvPr id="2" name="Shape 0"/>
          <p:cNvSpPr/>
          <p:nvPr/>
        </p:nvSpPr>
        <p:spPr>
          <a:xfrm>
            <a:off x="-1737360" y="3931920"/>
            <a:ext cx="4754880" cy="4754880"/>
          </a:xfrm>
          <a:prstGeom prst="ellipse">
            <a:avLst/>
          </a:prstGeom>
          <a:solidFill>
            <a:srgbClr val="24404E"/>
          </a:solidFill>
          <a:ln w="12700">
            <a:solidFill>
              <a:srgbClr val="24404E"/>
            </a:solidFill>
            <a:prstDash val="solid"/>
          </a:ln>
        </p:spPr>
      </p:sp>
      <p:sp>
        <p:nvSpPr>
          <p:cNvPr id="3" name="Text 1"/>
          <p:cNvSpPr txBox="1"/>
          <p:nvPr/>
        </p:nvSpPr>
        <p:spPr>
          <a:xfrm>
            <a:off x="566928" y="685800"/>
            <a:ext cx="10424160" cy="365760"/>
          </a:xfrm>
          <a:prstGeom prst="rect">
            <a:avLst/>
          </a:prstGeom>
          <a:noFill/>
          <a:ln/>
        </p:spPr>
        <p:txBody>
          <a:bodyPr wrap="square" lIns="0" tIns="0" rIns="0" bIns="0" rtlCol="0" anchor="ctr"/>
          <a:lstStyle/>
          <a:p>
            <a:pPr indent="0" marL="0">
              <a:buNone/>
            </a:pPr>
            <a:r>
              <a:rPr lang="en-US" sz="1400" b="1" spc="200" kern="0" dirty="0">
                <a:solidFill>
                  <a:srgbClr val="C85A28"/>
                </a:solidFill>
                <a:latin typeface="Calibri" pitchFamily="34" charset="0"/>
                <a:ea typeface="Calibri" pitchFamily="34" charset="-122"/>
                <a:cs typeface="Calibri" pitchFamily="34" charset="-120"/>
              </a:rPr>
              <a:t>AL SALIR DE HOY</a:t>
            </a:r>
            <a:endParaRPr lang="en-US" sz="1400" dirty="0"/>
          </a:p>
        </p:txBody>
      </p:sp>
      <p:sp>
        <p:nvSpPr>
          <p:cNvPr id="4" name="Text 2"/>
          <p:cNvSpPr txBox="1"/>
          <p:nvPr/>
        </p:nvSpPr>
        <p:spPr>
          <a:xfrm>
            <a:off x="566928" y="1097280"/>
            <a:ext cx="10607040" cy="73152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Entregables de la sesión 4</a:t>
            </a:r>
            <a:endParaRPr lang="en-US" sz="3000" dirty="0"/>
          </a:p>
        </p:txBody>
      </p:sp>
      <p:sp>
        <p:nvSpPr>
          <p:cNvPr id="5" name="Shape 3"/>
          <p:cNvSpPr/>
          <p:nvPr/>
        </p:nvSpPr>
        <p:spPr>
          <a:xfrm>
            <a:off x="566928" y="2011680"/>
            <a:ext cx="11057839" cy="857250"/>
          </a:xfrm>
          <a:prstGeom prst="roundRect">
            <a:avLst>
              <a:gd name="adj" fmla="val 7467"/>
            </a:avLst>
          </a:prstGeom>
          <a:solidFill>
            <a:srgbClr val="24404E"/>
          </a:solidFill>
          <a:ln w="12700">
            <a:solidFill>
              <a:srgbClr val="24404E"/>
            </a:solidFill>
            <a:prstDash val="solid"/>
          </a:ln>
        </p:spPr>
      </p:sp>
      <p:sp>
        <p:nvSpPr>
          <p:cNvPr id="6" name="Shape 4"/>
          <p:cNvSpPr/>
          <p:nvPr/>
        </p:nvSpPr>
        <p:spPr>
          <a:xfrm>
            <a:off x="804672" y="2239137"/>
            <a:ext cx="402336" cy="402336"/>
          </a:xfrm>
          <a:prstGeom prst="ellipse">
            <a:avLst/>
          </a:prstGeom>
          <a:solidFill>
            <a:srgbClr val="2E7D7D"/>
          </a:solidFill>
          <a:ln w="12700">
            <a:solidFill>
              <a:srgbClr val="2E7D7D"/>
            </a:solidFill>
            <a:prstDash val="solid"/>
          </a:ln>
        </p:spPr>
      </p:sp>
      <p:sp>
        <p:nvSpPr>
          <p:cNvPr id="7" name="Text 5"/>
          <p:cNvSpPr txBox="1"/>
          <p:nvPr/>
        </p:nvSpPr>
        <p:spPr>
          <a:xfrm>
            <a:off x="804672" y="2239137"/>
            <a:ext cx="402336" cy="402336"/>
          </a:xfrm>
          <a:prstGeom prst="rect">
            <a:avLst/>
          </a:prstGeom>
          <a:noFill/>
          <a:ln/>
        </p:spPr>
        <p:txBody>
          <a:bodyPr wrap="square" lIns="0" tIns="0" rIns="0" bIns="0" rtlCol="0" anchor="ctr"/>
          <a:lstStyle/>
          <a:p>
            <a:pPr algn="ctr" indent="0" marL="0">
              <a:buNone/>
            </a:pPr>
            <a:endParaRPr lang="en-US" sz="1200" dirty="0"/>
          </a:p>
        </p:txBody>
      </p:sp>
      <p:sp>
        <p:nvSpPr>
          <p:cNvPr id="8" name="Text 6"/>
          <p:cNvSpPr txBox="1"/>
          <p:nvPr/>
        </p:nvSpPr>
        <p:spPr>
          <a:xfrm>
            <a:off x="1426464" y="208483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tabla comparativa de tres programas, con las equivalencias forzadas marcadas y corregidas.</a:t>
            </a:r>
            <a:endParaRPr lang="en-US" sz="1450" dirty="0"/>
          </a:p>
        </p:txBody>
      </p:sp>
      <p:sp>
        <p:nvSpPr>
          <p:cNvPr id="9" name="Shape 7"/>
          <p:cNvSpPr/>
          <p:nvPr/>
        </p:nvSpPr>
        <p:spPr>
          <a:xfrm>
            <a:off x="566928" y="3051810"/>
            <a:ext cx="11057839" cy="857250"/>
          </a:xfrm>
          <a:prstGeom prst="roundRect">
            <a:avLst>
              <a:gd name="adj" fmla="val 7467"/>
            </a:avLst>
          </a:prstGeom>
          <a:solidFill>
            <a:srgbClr val="24404E"/>
          </a:solidFill>
          <a:ln w="12700">
            <a:solidFill>
              <a:srgbClr val="24404E"/>
            </a:solidFill>
            <a:prstDash val="solid"/>
          </a:ln>
        </p:spPr>
      </p:sp>
      <p:sp>
        <p:nvSpPr>
          <p:cNvPr id="10" name="Shape 8"/>
          <p:cNvSpPr/>
          <p:nvPr/>
        </p:nvSpPr>
        <p:spPr>
          <a:xfrm>
            <a:off x="804672" y="3279267"/>
            <a:ext cx="402336" cy="402336"/>
          </a:xfrm>
          <a:prstGeom prst="ellipse">
            <a:avLst/>
          </a:prstGeom>
          <a:solidFill>
            <a:srgbClr val="2E7D7D"/>
          </a:solidFill>
          <a:ln w="12700">
            <a:solidFill>
              <a:srgbClr val="2E7D7D"/>
            </a:solidFill>
            <a:prstDash val="solid"/>
          </a:ln>
        </p:spPr>
      </p:sp>
      <p:sp>
        <p:nvSpPr>
          <p:cNvPr id="11" name="Text 9"/>
          <p:cNvSpPr txBox="1"/>
          <p:nvPr/>
        </p:nvSpPr>
        <p:spPr>
          <a:xfrm>
            <a:off x="804672" y="3279267"/>
            <a:ext cx="402336" cy="402336"/>
          </a:xfrm>
          <a:prstGeom prst="rect">
            <a:avLst/>
          </a:prstGeom>
          <a:noFill/>
          <a:ln/>
        </p:spPr>
        <p:txBody>
          <a:bodyPr wrap="square" lIns="0" tIns="0" rIns="0" bIns="0" rtlCol="0" anchor="ctr"/>
          <a:lstStyle/>
          <a:p>
            <a:pPr algn="ctr" indent="0" marL="0">
              <a:buNone/>
            </a:pPr>
            <a:endParaRPr lang="en-US" sz="1200" dirty="0"/>
          </a:p>
        </p:txBody>
      </p:sp>
      <p:sp>
        <p:nvSpPr>
          <p:cNvPr id="12" name="Text 10"/>
          <p:cNvSpPr txBox="1"/>
          <p:nvPr/>
        </p:nvSpPr>
        <p:spPr>
          <a:xfrm>
            <a:off x="1426464" y="312496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El libro de códigos en sus dos versiones: la que propuso la herramienta y la que usted ratificó.</a:t>
            </a:r>
            <a:endParaRPr lang="en-US" sz="1450" dirty="0"/>
          </a:p>
        </p:txBody>
      </p:sp>
      <p:sp>
        <p:nvSpPr>
          <p:cNvPr id="13" name="Shape 11"/>
          <p:cNvSpPr/>
          <p:nvPr/>
        </p:nvSpPr>
        <p:spPr>
          <a:xfrm>
            <a:off x="566928" y="4091940"/>
            <a:ext cx="11057839" cy="857250"/>
          </a:xfrm>
          <a:prstGeom prst="roundRect">
            <a:avLst>
              <a:gd name="adj" fmla="val 7467"/>
            </a:avLst>
          </a:prstGeom>
          <a:solidFill>
            <a:srgbClr val="24404E"/>
          </a:solidFill>
          <a:ln w="12700">
            <a:solidFill>
              <a:srgbClr val="24404E"/>
            </a:solidFill>
            <a:prstDash val="solid"/>
          </a:ln>
        </p:spPr>
      </p:sp>
      <p:sp>
        <p:nvSpPr>
          <p:cNvPr id="14" name="Shape 12"/>
          <p:cNvSpPr/>
          <p:nvPr/>
        </p:nvSpPr>
        <p:spPr>
          <a:xfrm>
            <a:off x="804672" y="4319397"/>
            <a:ext cx="402336" cy="402336"/>
          </a:xfrm>
          <a:prstGeom prst="ellipse">
            <a:avLst/>
          </a:prstGeom>
          <a:solidFill>
            <a:srgbClr val="2E7D7D"/>
          </a:solidFill>
          <a:ln w="12700">
            <a:solidFill>
              <a:srgbClr val="2E7D7D"/>
            </a:solidFill>
            <a:prstDash val="solid"/>
          </a:ln>
        </p:spPr>
      </p:sp>
      <p:sp>
        <p:nvSpPr>
          <p:cNvPr id="15" name="Text 13"/>
          <p:cNvSpPr txBox="1"/>
          <p:nvPr/>
        </p:nvSpPr>
        <p:spPr>
          <a:xfrm>
            <a:off x="804672" y="4319397"/>
            <a:ext cx="402336" cy="402336"/>
          </a:xfrm>
          <a:prstGeom prst="rect">
            <a:avLst/>
          </a:prstGeom>
          <a:noFill/>
          <a:ln/>
        </p:spPr>
        <p:txBody>
          <a:bodyPr wrap="square" lIns="0" tIns="0" rIns="0" bIns="0" rtlCol="0" anchor="ctr"/>
          <a:lstStyle/>
          <a:p>
            <a:pPr algn="ctr" indent="0" marL="0">
              <a:buNone/>
            </a:pPr>
            <a:endParaRPr lang="en-US" sz="1200" dirty="0"/>
          </a:p>
        </p:txBody>
      </p:sp>
      <p:sp>
        <p:nvSpPr>
          <p:cNvPr id="16" name="Text 14"/>
          <p:cNvSpPr txBox="1"/>
          <p:nvPr/>
        </p:nvSpPr>
        <p:spPr>
          <a:xfrm>
            <a:off x="1426464" y="416509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La nota de su bitácora sobre en qué caso usaría la síntesis extractiva y en cuál la abstractiva.</a:t>
            </a:r>
            <a:endParaRPr lang="en-US" sz="1450" dirty="0"/>
          </a:p>
        </p:txBody>
      </p:sp>
      <p:sp>
        <p:nvSpPr>
          <p:cNvPr id="17" name="Shape 15"/>
          <p:cNvSpPr/>
          <p:nvPr/>
        </p:nvSpPr>
        <p:spPr>
          <a:xfrm>
            <a:off x="566928" y="5132070"/>
            <a:ext cx="11057839" cy="857250"/>
          </a:xfrm>
          <a:prstGeom prst="roundRect">
            <a:avLst>
              <a:gd name="adj" fmla="val 7467"/>
            </a:avLst>
          </a:prstGeom>
          <a:solidFill>
            <a:srgbClr val="24404E"/>
          </a:solidFill>
          <a:ln w="12700">
            <a:solidFill>
              <a:srgbClr val="24404E"/>
            </a:solidFill>
            <a:prstDash val="solid"/>
          </a:ln>
        </p:spPr>
      </p:sp>
      <p:sp>
        <p:nvSpPr>
          <p:cNvPr id="18" name="Shape 16"/>
          <p:cNvSpPr/>
          <p:nvPr/>
        </p:nvSpPr>
        <p:spPr>
          <a:xfrm>
            <a:off x="804672" y="5359527"/>
            <a:ext cx="402336" cy="402336"/>
          </a:xfrm>
          <a:prstGeom prst="ellipse">
            <a:avLst/>
          </a:prstGeom>
          <a:solidFill>
            <a:srgbClr val="2E7D7D"/>
          </a:solidFill>
          <a:ln w="12700">
            <a:solidFill>
              <a:srgbClr val="2E7D7D"/>
            </a:solidFill>
            <a:prstDash val="solid"/>
          </a:ln>
        </p:spPr>
      </p:sp>
      <p:sp>
        <p:nvSpPr>
          <p:cNvPr id="19" name="Text 17"/>
          <p:cNvSpPr txBox="1"/>
          <p:nvPr/>
        </p:nvSpPr>
        <p:spPr>
          <a:xfrm>
            <a:off x="804672" y="5359527"/>
            <a:ext cx="402336" cy="402336"/>
          </a:xfrm>
          <a:prstGeom prst="rect">
            <a:avLst/>
          </a:prstGeom>
          <a:noFill/>
          <a:ln/>
        </p:spPr>
        <p:txBody>
          <a:bodyPr wrap="square" lIns="0" tIns="0" rIns="0" bIns="0" rtlCol="0" anchor="ctr"/>
          <a:lstStyle/>
          <a:p>
            <a:pPr algn="ctr" indent="0" marL="0">
              <a:buNone/>
            </a:pPr>
            <a:endParaRPr lang="en-US" sz="1200" dirty="0"/>
          </a:p>
        </p:txBody>
      </p:sp>
      <p:sp>
        <p:nvSpPr>
          <p:cNvPr id="20" name="Text 18"/>
          <p:cNvSpPr txBox="1"/>
          <p:nvPr/>
        </p:nvSpPr>
        <p:spPr>
          <a:xfrm>
            <a:off x="1426464" y="5205222"/>
            <a:ext cx="9960559" cy="710946"/>
          </a:xfrm>
          <a:prstGeom prst="rect">
            <a:avLst/>
          </a:prstGeom>
          <a:noFill/>
          <a:ln/>
        </p:spPr>
        <p:txBody>
          <a:bodyPr wrap="square" lIns="0" tIns="0" rIns="0" bIns="0" rtlCol="0" anchor="ctr"/>
          <a:lstStyle/>
          <a:p>
            <a:pPr indent="0" marL="0">
              <a:lnSpc>
                <a:spcPct val="110000"/>
              </a:lnSpc>
              <a:buNone/>
            </a:pPr>
            <a:r>
              <a:rPr lang="en-US" sz="1450" dirty="0">
                <a:solidFill>
                  <a:srgbClr val="FFFFFF"/>
                </a:solidFill>
                <a:latin typeface="Calibri" pitchFamily="34" charset="0"/>
                <a:ea typeface="Calibri" pitchFamily="34" charset="-122"/>
                <a:cs typeface="Calibri" pitchFamily="34" charset="-120"/>
              </a:rPr>
              <a:t>Para el lunes: nada que preparar. Vamos a recorrer el ecosistema completo de herramientas.</a:t>
            </a:r>
            <a:endParaRPr lang="en-US" sz="1450" dirty="0"/>
          </a:p>
        </p:txBody>
      </p:sp>
      <p:sp>
        <p:nvSpPr>
          <p:cNvPr id="21" name="Text 19"/>
          <p:cNvSpPr txBox="1"/>
          <p:nvPr/>
        </p:nvSpPr>
        <p:spPr>
          <a:xfrm>
            <a:off x="566928" y="6172200"/>
            <a:ext cx="11057839" cy="411480"/>
          </a:xfrm>
          <a:prstGeom prst="rect">
            <a:avLst/>
          </a:prstGeom>
          <a:noFill/>
          <a:ln/>
        </p:spPr>
        <p:txBody>
          <a:bodyPr wrap="square" lIns="0" tIns="0" rIns="0" bIns="0" rtlCol="0" anchor="ctr"/>
          <a:lstStyle/>
          <a:p>
            <a:pPr indent="0" marL="0">
              <a:buNone/>
            </a:pPr>
            <a:r>
              <a:rPr lang="en-US" sz="1300" i="1" dirty="0">
                <a:solidFill>
                  <a:srgbClr val="D7E7E7"/>
                </a:solidFill>
                <a:latin typeface="Calibri" pitchFamily="34" charset="0"/>
                <a:ea typeface="Calibri" pitchFamily="34" charset="-122"/>
                <a:cs typeface="Calibri" pitchFamily="34" charset="-120"/>
              </a:rPr>
              <a:t>Sesión 5, lunes 21 de septiembre: plataformas especializadas en análisis cualitativo con IA.</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Curso de Inteligencia Artificial Aplicada</dc:creator>
  <cp:lastModifiedBy>Curso de Inteligencia Artificial Aplicada</cp:lastModifiedBy>
  <cp:revision>1</cp:revision>
  <dcterms:created xsi:type="dcterms:W3CDTF">2026-09-11T00:51:03Z</dcterms:created>
  <dcterms:modified xsi:type="dcterms:W3CDTF">2026-09-11T00:51:03Z</dcterms:modified>
</cp:coreProperties>
</file>