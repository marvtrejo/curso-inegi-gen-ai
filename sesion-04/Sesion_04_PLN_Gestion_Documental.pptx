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22"/>
    <p:sldId id="272" r:id="rId23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  <Relationship Id="rId22" Type="http://schemas.openxmlformats.org/officeDocument/2006/relationships/slide" Target="slides/slide16.xml"/>
  <Relationship Id="rId23" Type="http://schemas.openxmlformats.org/officeDocument/2006/relationships/slide" Target="slides/slide17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Comparte solo la versión de participante del archivo de registros. Si compartes el completo, la hoja de clave revela los temas y la práctica C se arruina.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Anuncia desde el principio que lo que se busca es la afirmación que no se sostiene. Si no, se quedan comparando estilos.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Dales dos ejemplos de qué buscar: población objetivo contra población potencial, y una lista limitativa contra una enunciativa. Los que terminan en quince minutos no están cazando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reveles la distribución real de los temas hasta el final. Los seis registros ambiguos son los que hacen la discusión. Cronometra los tres tiempos en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Diez minutos. Haz notar que la segunda salida ya la usaron hoy sin darse cuenta: construyeron el libro sobre una muestra y después clasificaron el total. Es una técnica, no un atajo.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minutos. La frase que tienen que salir diciendo es «frecuente aquí, raro en el resto».</a:t>
            </a:r>
          </a:p>
          <a:p>
            <a:r>
              <a:rPr lang="en-US" dirty="0"/>
              <a:t>Los conteos son reales: se calcularon sobre los 118 registros que ellos van a clasificar en la Práctica C.</a:t>
            </a:r>
          </a:p>
          <a:p>
            <a:r>
              <a:rPr lang="en-US" dirty="0"/>
              <a:t>El remate es el que importa para la evaluación: la minoría no se pierde por descuido del modelo, se pierde por cómo está construida la medida. Enlaza con el sesgo de mayoría de la sesión 1.</a:t>
            </a:r>
          </a:p>
          <a:p>
            <a:r>
              <a:rPr lang="en-US" dirty="0"/>
              <a:t>Si alguien del área de ciencia de datos pregunta por la fórmula, remítelo al anexo y a la charla del receso: en clase no se escribe ninguna fórmula.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C21451-1387-4CA6-816F-3879F97B5CB2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minutos. Lee las cuatro citas en voz alta antes de explicar nada: el grupo suele detectar solo el par que comparte palabras.</a:t>
            </a:r>
          </a:p>
          <a:p>
            <a:r>
              <a:rPr lang="en-US" dirty="0"/>
              <a:t>La pregunta que abre la discusión: ¿cuál de los dos errores es más caro en una evaluación? Normalmente llegan a que juntar temas distintos infla una categoría y separar el mismo tema esconde un problema.</a:t>
            </a:r>
          </a:p>
          <a:p>
            <a:r>
              <a:rPr lang="en-US" dirty="0"/>
              <a:t>Aquí se anuncia la charla opcional del receso, de diez minutos, sobre el anexo visual: sesion-04/Anexo_De_las_palabras_a_los_numeros.pptx.</a:t>
            </a:r>
          </a:p>
          <a:p>
            <a:r>
              <a:rPr lang="en-US" dirty="0"/>
              <a:t>Gower solo se nombra, no se explica. Es el gancho del Módulo III para quienes trabajan con padrones y tablas.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C21451-1387-4CA6-816F-3879F97B5CB2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2011680"/>
            <a:ext cx="5852160" cy="5852160"/>
          </a:xfrm>
          <a:prstGeom prst="ellipse">
            <a:avLst/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417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II. ANÁLISIS CUALITATIVO ASISTIDO POR IA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745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4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6032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trabajar con mucho texto: las cuatro tareas del PLN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66928" y="4480560"/>
            <a:ext cx="5120640" cy="54864"/>
          </a:xfrm>
          <a:prstGeom prst="roundRect">
            <a:avLst>
              <a:gd name="adj" fmla="val 50000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47091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 18 de septiembre de 2026, 9:00 a 11:30 horas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Inteligencia Artificial Aplicada. INEGI 2026. CC BY-NC-SA 4.0.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vamos a usar los 150 minutos</a:t>
            </a:r>
            <a:endParaRPr lang="en-US" sz="3200" dirty="0"/>
          </a:p>
        </p:txBody>
      </p:sp>
      <p:sp>
        <p:nvSpPr>
          <p:cNvPr id="3" name="Shape"/>
          <p:cNvSpPr/>
          <p:nvPr/>
        </p:nvSpPr>
        <p:spPr>
          <a:xfrm>
            <a:off x="9485071" y="457200"/>
            <a:ext cx="2139696" cy="347472"/>
          </a:xfrm>
          <a:prstGeom prst="roundRect">
            <a:avLst>
              <a:gd name="adj" fmla="val 50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4" name="Text"/>
          <p:cNvSpPr txBox="1"/>
          <p:nvPr/>
        </p:nvSpPr>
        <p:spPr>
          <a:xfrm>
            <a:off x="9485071" y="457200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a 11:30</a:t>
            </a:r>
            <a:endParaRPr lang="en-US" sz="1200" dirty="0"/>
          </a:p>
        </p:txBody>
      </p:sp>
      <p:sp>
        <p:nvSpPr>
          <p:cNvPr id="5" name="Shape"/>
          <p:cNvSpPr/>
          <p:nvPr/>
        </p:nvSpPr>
        <p:spPr>
          <a:xfrm>
            <a:off x="566928" y="1408176"/>
            <a:ext cx="5364328" cy="860000"/>
          </a:xfrm>
          <a:prstGeom prst="roundRect">
            <a:avLst>
              <a:gd name="adj" fmla="val 5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6" name="Text"/>
          <p:cNvSpPr txBox="1"/>
          <p:nvPr/>
        </p:nvSpPr>
        <p:spPr>
          <a:xfrm>
            <a:off x="786384" y="1408176"/>
            <a:ext cx="1371600" cy="8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9:00</a:t>
            </a:r>
            <a:endParaRPr lang="en-US" sz="1300" dirty="0"/>
          </a:p>
        </p:txBody>
      </p:sp>
      <p:sp>
        <p:nvSpPr>
          <p:cNvPr id="7" name="Text"/>
          <p:cNvSpPr txBox="1"/>
          <p:nvPr/>
        </p:nvSpPr>
        <p:spPr>
          <a:xfrm>
            <a:off x="2194560" y="1448176"/>
            <a:ext cx="351724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tareas y para qué sirve cada una</a:t>
            </a:r>
            <a:endParaRPr lang="en-US" sz="1300" dirty="0"/>
          </a:p>
        </p:txBody>
      </p:sp>
      <p:sp>
        <p:nvSpPr>
          <p:cNvPr id="8" name="Shape"/>
          <p:cNvSpPr/>
          <p:nvPr/>
        </p:nvSpPr>
        <p:spPr>
          <a:xfrm>
            <a:off x="566928" y="2341176"/>
            <a:ext cx="5364328" cy="860000"/>
          </a:xfrm>
          <a:prstGeom prst="roundRect">
            <a:avLst>
              <a:gd name="adj" fmla="val 5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9" name="Text"/>
          <p:cNvSpPr txBox="1"/>
          <p:nvPr/>
        </p:nvSpPr>
        <p:spPr>
          <a:xfrm>
            <a:off x="786384" y="2341176"/>
            <a:ext cx="1371600" cy="8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9:25</a:t>
            </a:r>
            <a:endParaRPr lang="en-US" sz="1300" dirty="0"/>
          </a:p>
        </p:txBody>
      </p:sp>
      <p:sp>
        <p:nvSpPr>
          <p:cNvPr id="10" name="Text"/>
          <p:cNvSpPr txBox="1"/>
          <p:nvPr/>
        </p:nvSpPr>
        <p:spPr>
          <a:xfrm>
            <a:off x="2194560" y="2381176"/>
            <a:ext cx="351724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A: las dos formas de resumir</a:t>
            </a:r>
            <a:endParaRPr lang="en-US" sz="1300" dirty="0"/>
          </a:p>
        </p:txBody>
      </p:sp>
      <p:sp>
        <p:nvSpPr>
          <p:cNvPr id="11" name="Shape"/>
          <p:cNvSpPr/>
          <p:nvPr/>
        </p:nvSpPr>
        <p:spPr>
          <a:xfrm>
            <a:off x="566928" y="3274176"/>
            <a:ext cx="5364328" cy="860000"/>
          </a:xfrm>
          <a:prstGeom prst="roundRect">
            <a:avLst>
              <a:gd name="adj" fmla="val 5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2" name="Text"/>
          <p:cNvSpPr txBox="1"/>
          <p:nvPr/>
        </p:nvSpPr>
        <p:spPr>
          <a:xfrm>
            <a:off x="786384" y="3274176"/>
            <a:ext cx="1371600" cy="8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9:37</a:t>
            </a:r>
            <a:endParaRPr lang="en-US" sz="1300" dirty="0"/>
          </a:p>
        </p:txBody>
      </p:sp>
      <p:sp>
        <p:nvSpPr>
          <p:cNvPr id="13" name="Text"/>
          <p:cNvSpPr txBox="1"/>
          <p:nvPr/>
        </p:nvSpPr>
        <p:spPr>
          <a:xfrm>
            <a:off x="2194560" y="3314176"/>
            <a:ext cx="351724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B: sacar la tabla de adentro del texto</a:t>
            </a:r>
            <a:endParaRPr lang="en-US" sz="1300" dirty="0"/>
          </a:p>
        </p:txBody>
      </p:sp>
      <p:sp>
        <p:nvSpPr>
          <p:cNvPr id="14" name="Shape"/>
          <p:cNvSpPr/>
          <p:nvPr/>
        </p:nvSpPr>
        <p:spPr>
          <a:xfrm>
            <a:off x="566928" y="4207176"/>
            <a:ext cx="5364328" cy="860000"/>
          </a:xfrm>
          <a:prstGeom prst="roundRect">
            <a:avLst>
              <a:gd name="adj" fmla="val 5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5" name="Text"/>
          <p:cNvSpPr txBox="1"/>
          <p:nvPr/>
        </p:nvSpPr>
        <p:spPr>
          <a:xfrm>
            <a:off x="786384" y="4207176"/>
            <a:ext cx="1371600" cy="8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10:07</a:t>
            </a:r>
            <a:endParaRPr lang="en-US" sz="1300" dirty="0"/>
          </a:p>
        </p:txBody>
      </p:sp>
      <p:sp>
        <p:nvSpPr>
          <p:cNvPr id="16" name="Text"/>
          <p:cNvSpPr txBox="1"/>
          <p:nvPr/>
        </p:nvSpPr>
        <p:spPr>
          <a:xfrm>
            <a:off x="2194560" y="4247176"/>
            <a:ext cx="351724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decide la máquina que dos textos se parecen</a:t>
            </a:r>
            <a:endParaRPr lang="en-US" sz="1300" dirty="0"/>
          </a:p>
        </p:txBody>
      </p:sp>
      <p:sp>
        <p:nvSpPr>
          <p:cNvPr id="17" name="Shape"/>
          <p:cNvSpPr/>
          <p:nvPr/>
        </p:nvSpPr>
        <p:spPr>
          <a:xfrm>
            <a:off x="566928" y="5140176"/>
            <a:ext cx="5364328" cy="860000"/>
          </a:xfrm>
          <a:prstGeom prst="roundRect">
            <a:avLst>
              <a:gd name="adj" fmla="val 5000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786384" y="5140176"/>
            <a:ext cx="1371600" cy="8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10:19</a:t>
            </a:r>
            <a:endParaRPr lang="en-US" sz="1300" dirty="0"/>
          </a:p>
        </p:txBody>
      </p:sp>
      <p:sp>
        <p:nvSpPr>
          <p:cNvPr id="19" name="Text"/>
          <p:cNvSpPr txBox="1"/>
          <p:nvPr/>
        </p:nvSpPr>
        <p:spPr>
          <a:xfrm>
            <a:off x="2194560" y="5180176"/>
            <a:ext cx="351724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Receso, con charla opcional sobre vectores</a:t>
            </a:r>
            <a:endParaRPr lang="en-US" sz="1300" dirty="0"/>
          </a:p>
        </p:txBody>
      </p:sp>
      <p:sp>
        <p:nvSpPr>
          <p:cNvPr id="20" name="Shape"/>
          <p:cNvSpPr/>
          <p:nvPr/>
        </p:nvSpPr>
        <p:spPr>
          <a:xfrm>
            <a:off x="6260440" y="1408176"/>
            <a:ext cx="5364328" cy="860000"/>
          </a:xfrm>
          <a:prstGeom prst="roundRect">
            <a:avLst>
              <a:gd name="adj" fmla="val 5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1" name="Text"/>
          <p:cNvSpPr txBox="1"/>
          <p:nvPr/>
        </p:nvSpPr>
        <p:spPr>
          <a:xfrm>
            <a:off x="6479896" y="1408176"/>
            <a:ext cx="1371600" cy="8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10:29</a:t>
            </a:r>
            <a:endParaRPr lang="en-US" sz="1300" dirty="0"/>
          </a:p>
        </p:txBody>
      </p:sp>
      <p:sp>
        <p:nvSpPr>
          <p:cNvPr id="22" name="Text"/>
          <p:cNvSpPr txBox="1"/>
          <p:nvPr/>
        </p:nvSpPr>
        <p:spPr>
          <a:xfrm>
            <a:off x="7888072" y="1448176"/>
            <a:ext cx="351724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C: agrupar temas sin perder a la minoría</a:t>
            </a:r>
            <a:endParaRPr lang="en-US" sz="1300" dirty="0"/>
          </a:p>
        </p:txBody>
      </p:sp>
      <p:sp>
        <p:nvSpPr>
          <p:cNvPr id="23" name="Shape"/>
          <p:cNvSpPr/>
          <p:nvPr/>
        </p:nvSpPr>
        <p:spPr>
          <a:xfrm>
            <a:off x="6260440" y="2341176"/>
            <a:ext cx="5364328" cy="860000"/>
          </a:xfrm>
          <a:prstGeom prst="roundRect">
            <a:avLst>
              <a:gd name="adj" fmla="val 5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4" name="Text"/>
          <p:cNvSpPr txBox="1"/>
          <p:nvPr/>
        </p:nvSpPr>
        <p:spPr>
          <a:xfrm>
            <a:off x="6479896" y="2341176"/>
            <a:ext cx="1371600" cy="8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11:04</a:t>
            </a:r>
            <a:endParaRPr lang="en-US" sz="1300" dirty="0"/>
          </a:p>
        </p:txBody>
      </p:sp>
      <p:sp>
        <p:nvSpPr>
          <p:cNvPr id="25" name="Text"/>
          <p:cNvSpPr txBox="1"/>
          <p:nvPr/>
        </p:nvSpPr>
        <p:spPr>
          <a:xfrm>
            <a:off x="7888072" y="2381176"/>
            <a:ext cx="351724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D: postura y causa raíz</a:t>
            </a:r>
            <a:endParaRPr lang="en-US" sz="1300" dirty="0"/>
          </a:p>
        </p:txBody>
      </p:sp>
      <p:sp>
        <p:nvSpPr>
          <p:cNvPr id="26" name="Shape"/>
          <p:cNvSpPr/>
          <p:nvPr/>
        </p:nvSpPr>
        <p:spPr>
          <a:xfrm>
            <a:off x="6260440" y="3274176"/>
            <a:ext cx="5364328" cy="860000"/>
          </a:xfrm>
          <a:prstGeom prst="roundRect">
            <a:avLst>
              <a:gd name="adj" fmla="val 5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7" name="Text"/>
          <p:cNvSpPr txBox="1"/>
          <p:nvPr/>
        </p:nvSpPr>
        <p:spPr>
          <a:xfrm>
            <a:off x="6479896" y="3274176"/>
            <a:ext cx="1371600" cy="8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11:19</a:t>
            </a:r>
            <a:endParaRPr lang="en-US" sz="1300" dirty="0"/>
          </a:p>
        </p:txBody>
      </p:sp>
      <p:sp>
        <p:nvSpPr>
          <p:cNvPr id="28" name="Text"/>
          <p:cNvSpPr txBox="1"/>
          <p:nvPr/>
        </p:nvSpPr>
        <p:spPr>
          <a:xfrm>
            <a:off x="7888072" y="3314176"/>
            <a:ext cx="351724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haces cuando el texto no cabe</a:t>
            </a:r>
            <a:endParaRPr lang="en-US" sz="1300" dirty="0"/>
          </a:p>
        </p:txBody>
      </p:sp>
      <p:sp>
        <p:nvSpPr>
          <p:cNvPr id="29" name="Shape"/>
          <p:cNvSpPr/>
          <p:nvPr/>
        </p:nvSpPr>
        <p:spPr>
          <a:xfrm>
            <a:off x="6260440" y="4207176"/>
            <a:ext cx="5364328" cy="860000"/>
          </a:xfrm>
          <a:prstGeom prst="roundRect">
            <a:avLst>
              <a:gd name="adj" fmla="val 5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30" name="Text"/>
          <p:cNvSpPr txBox="1"/>
          <p:nvPr/>
        </p:nvSpPr>
        <p:spPr>
          <a:xfrm>
            <a:off x="6479896" y="4207176"/>
            <a:ext cx="1371600" cy="8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11:27</a:t>
            </a:r>
            <a:endParaRPr lang="en-US" sz="1300" dirty="0"/>
          </a:p>
        </p:txBody>
      </p:sp>
      <p:sp>
        <p:nvSpPr>
          <p:cNvPr id="31" name="Text"/>
          <p:cNvSpPr txBox="1"/>
          <p:nvPr/>
        </p:nvSpPr>
        <p:spPr>
          <a:xfrm>
            <a:off x="7888072" y="4247176"/>
            <a:ext cx="351724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entregables</a:t>
            </a:r>
            <a:endParaRPr lang="en-US" sz="1300" dirty="0"/>
          </a:p>
        </p:txBody>
      </p:sp>
      <p:sp>
        <p:nvSpPr>
          <p:cNvPr id="32" name="Text"/>
          <p:cNvSpPr txBox="1"/>
          <p:nvPr/>
        </p:nvSpPr>
        <p:spPr>
          <a:xfrm>
            <a:off x="566928" y="63276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trabajas unos 90 minutos con las manos en el teclado. Es la sesión con más práctica de las dos semanas.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31720"/>
            <a:ext cx="1371600" cy="1371600"/>
          </a:xfrm>
          <a:prstGeom prst="ellipse">
            <a:avLst/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487168" y="23317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BLOQUE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487168" y="269748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cuatro tareas del procesamiento de texto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631375" y="457200"/>
            <a:ext cx="1993392" cy="347472"/>
          </a:xfrm>
          <a:prstGeom prst="roundRect">
            <a:avLst>
              <a:gd name="adj" fmla="val 50000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31375" y="45720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a 9:25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2290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todo tu trabajo con texto cae en una de estas cuatro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0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antes de escribir un prompt es cuál de las cuatro tienes enfrente. El prompt es distinto en cada caso.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2558720" cy="2493772"/>
          </a:xfrm>
          <a:prstGeom prst="roundRect">
            <a:avLst>
              <a:gd name="adj" fmla="val 2933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231136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798064"/>
            <a:ext cx="208323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Resumir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63392"/>
            <a:ext cx="2083232" cy="1040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mucho texto en poco texto. Tiene dos formas y sirven para cosas distintas.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99968" y="2011680"/>
            <a:ext cx="2558720" cy="2493772"/>
          </a:xfrm>
          <a:prstGeom prst="roundRect">
            <a:avLst>
              <a:gd name="adj" fmla="val 2933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7712" y="2231136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37712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37712" y="2798064"/>
            <a:ext cx="208323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Sacar datos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37712" y="3263392"/>
            <a:ext cx="2083232" cy="1040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información específica de texto denso y ponerla en una tabla comparable.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3008" y="2011680"/>
            <a:ext cx="2558720" cy="2493772"/>
          </a:xfrm>
          <a:prstGeom prst="roundRect">
            <a:avLst>
              <a:gd name="adj" fmla="val 2933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0752" y="2231136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70752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70752" y="2798064"/>
            <a:ext cx="208323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Agrupar temas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70752" y="3263392"/>
            <a:ext cx="2083232" cy="1040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Descubrir de qué hablan un montón de textos cuando son demasiados para leerlos.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66047" y="2011680"/>
            <a:ext cx="2558720" cy="2493772"/>
          </a:xfrm>
          <a:prstGeom prst="roundRect">
            <a:avLst>
              <a:gd name="adj" fmla="val 2933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03791" y="2231136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03791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303791" y="2798064"/>
            <a:ext cx="208323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Clasificar postura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303791" y="3263392"/>
            <a:ext cx="2083232" cy="1040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percepciones o cumplimiento sobre un conjunto de testimonios o quejas.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2290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dos formas de resumir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0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parecen y no sirven para lo mismo.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810512"/>
            <a:ext cx="5364328" cy="2672334"/>
          </a:xfrm>
          <a:prstGeom prst="roundRect">
            <a:avLst>
              <a:gd name="adj" fmla="val 2737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810512"/>
            <a:ext cx="5364328" cy="658368"/>
          </a:xfrm>
          <a:prstGeom prst="roundRect">
            <a:avLst>
              <a:gd name="adj" fmla="val 11111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176272"/>
            <a:ext cx="5364328" cy="292608"/>
          </a:xfrm>
          <a:prstGeom prst="rect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10512"/>
            <a:ext cx="4852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Extractiva: copia las frases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79192"/>
            <a:ext cx="4852264" cy="1575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las oraciones exactas del documento, sin reescribirlas.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cuando necesitas conservar la redacción porque vas a citar el texto.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más segura: no puede inventar, porque solo puede copiar.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Úsala para armar tu evidencia.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0440" y="1810512"/>
            <a:ext cx="5364328" cy="2672334"/>
          </a:xfrm>
          <a:prstGeom prst="roundRect">
            <a:avLst>
              <a:gd name="adj" fmla="val 2737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0440" y="1810512"/>
            <a:ext cx="5364328" cy="658368"/>
          </a:xfrm>
          <a:prstGeom prst="roundRect">
            <a:avLst>
              <a:gd name="adj" fmla="val 11111"/>
            </a:avLst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0440" y="2176272"/>
            <a:ext cx="5364328" cy="292608"/>
          </a:xfrm>
          <a:prstGeom prst="rect">
            <a:avLst/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16472" y="1810512"/>
            <a:ext cx="4852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Abstractiva: escribe de nuevo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6472" y="2679192"/>
            <a:ext cx="4852264" cy="1575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Reescribe el contenido con palabras nuevas.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cuando necesitas un resumen que integre patrones y contradicciones entre varios documentos.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más útil y más riesgosa: puede meter matices que no estaban.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Úsala para redactar tu conclusión, y compárala contra la extractiva.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63276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práctica: la extractiva arma la evidencia, la abstractiva redacta la conclusión.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7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TURNO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704527" y="4572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04527" y="457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minutos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78992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Práctica A. Las dos formas sobre el mismo documento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66928" y="1920240"/>
            <a:ext cx="11057839" cy="88011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214998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14998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08176" y="2011680"/>
            <a:ext cx="9960559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Adjunta un informe de evaluación público en Copilot Chat y pide la síntesis extractiva. Dile expresamente que transcriba oraciones textuales sin reescribirlas, y que las ponga entre comillas.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66928" y="2983230"/>
            <a:ext cx="11057839" cy="88011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321297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321297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08176" y="3074670"/>
            <a:ext cx="9960559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pide la abstractiva del mismo documento, con un máximo de doscientas palabras.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6928" y="4046220"/>
            <a:ext cx="11057839" cy="88011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427596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427596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08176" y="4137660"/>
            <a:ext cx="9960559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Ponlas lado a lado y busca una sola cosa: una afirmación de la abstractiva que no se sostenga en ninguna oración de la extractiva.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66928" y="5109210"/>
            <a:ext cx="11057839" cy="88011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533895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533895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08176" y="5200650"/>
            <a:ext cx="9960559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en tu bitácora en qué caso usarías cada una en tu trabajo real.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2290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Sacar la tabla de adentro del texto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0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tarea que más tiempo te ahorra cuando revisas reglas de operación.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3503066" cy="1945132"/>
          </a:xfrm>
          <a:prstGeom prst="roundRect">
            <a:avLst>
              <a:gd name="adj" fmla="val 3761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249424"/>
            <a:ext cx="3027578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Población objetivo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714752"/>
            <a:ext cx="3027578" cy="1040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ejemplo, mujeres rurales de 18 a 59 años. Viene redactada dentro de un artículo, casi nunca en una tabla.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4314" y="2011680"/>
            <a:ext cx="3503066" cy="1945132"/>
          </a:xfrm>
          <a:prstGeom prst="roundRect">
            <a:avLst>
              <a:gd name="adj" fmla="val 3761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82058" y="2249424"/>
            <a:ext cx="3027578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Monto del apoyo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82058" y="2714752"/>
            <a:ext cx="3027578" cy="1040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ejemplo, 3,100 pesos bimestrales. Suele traer condiciones de aumento y de reducción escondidas en el mismo párrafo.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1701" y="2011680"/>
            <a:ext cx="3503066" cy="1945132"/>
          </a:xfrm>
          <a:prstGeom prst="roundRect">
            <a:avLst>
              <a:gd name="adj" fmla="val 3761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9445" y="2249424"/>
            <a:ext cx="3027578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59445" y="2714752"/>
            <a:ext cx="3027578" cy="1040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ejemplo, comprobante de domicilio y CURP. Fíjate siempre si la lista es limitativa o enunciativa: no es lo mismo.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7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TURNO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704527" y="4572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04527" y="457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minutos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78992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Práctica B. Tres programas en una sola tabla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66928" y="192024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202425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02425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08176" y="201168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 con tres conjuntos de reglas de operación distintos. Llega a una sola tabla con las mismas columnas para los tres.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66928" y="273177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283578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283578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08176" y="282321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está la dificultad de verdad: cada documento le pone otro nombre a las cosas, y el modelo va a forzar equivalencias que no existen.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6928" y="354330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364731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364731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08176" y="363474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trabajo es cazar esas equivalencias falsas y corregirlas a mano. Marca esas celdas con color.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66928" y="435483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45884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445884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08176" y="444627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cuántas encontraste. Ese número es el entregable interesante, no la tabla.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66928" y="5193792"/>
            <a:ext cx="11057839" cy="777240"/>
          </a:xfrm>
          <a:prstGeom prst="roundRect">
            <a:avLst>
              <a:gd name="adj" fmla="val 8235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" y="5193792"/>
            <a:ext cx="105091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hace en Copilot Chat con los tres documentos adjuntos. Las ligas están en sesion-04/Reglas_de_operacion_Practica_B.md; la tabla final va en Plantillas_tabulares_curso_IA.xlsx.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31720"/>
            <a:ext cx="1371600" cy="1371600"/>
          </a:xfrm>
          <a:prstGeom prst="ellipse">
            <a:avLst/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487168" y="23317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PRÁCTICA MÁS IMPORTANTE DEL DÍA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487168" y="269748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Agrupar temas sin perder a la minoría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338767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38767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10:29 a 11:04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2290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 profesional tiene tres tiempos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0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no es una sugerencia. Es lo que convierte el ejercicio en un trabajo que puedes defender.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810512"/>
            <a:ext cx="3405530" cy="3950208"/>
          </a:xfrm>
          <a:prstGeom prst="roundRect">
            <a:avLst>
              <a:gd name="adj" fmla="val 2417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86229" y="2066544"/>
            <a:ext cx="566928" cy="566928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86229" y="2066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743200"/>
            <a:ext cx="3039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propone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3273552"/>
            <a:ext cx="2966618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das una muestra de los registros y le pides un libro de códigos: categorías, con su definición y con ejemplos.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hace lo que hace bien, que es encontrar patrones en volumen.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45610" y="2194560"/>
            <a:ext cx="274320" cy="310896"/>
          </a:xfrm>
          <a:prstGeom prst="rightArrow">
            <a:avLst/>
          </a:prstGeom>
          <a:solidFill>
            <a:srgbClr val="5A6B73"/>
          </a:solidFill>
          <a:ln w="12700">
            <a:solidFill>
              <a:srgbClr val="5A6B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93082" y="1810512"/>
            <a:ext cx="3405530" cy="3950208"/>
          </a:xfrm>
          <a:prstGeom prst="roundRect">
            <a:avLst>
              <a:gd name="adj" fmla="val 2417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12384" y="2066544"/>
            <a:ext cx="566928" cy="566928"/>
          </a:xfrm>
          <a:prstGeom prst="ellipse">
            <a:avLst/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12384" y="2066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5962" y="2743200"/>
            <a:ext cx="3039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 ratificas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2538" y="3273552"/>
            <a:ext cx="2966618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Revisas ese libro de códigos. Quitas las categorías que se traslapan, precisas las definiciones vagas y agregas las que el modelo no vio.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paso lo haces tú. No se delega.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71765" y="2194560"/>
            <a:ext cx="274320" cy="310896"/>
          </a:xfrm>
          <a:prstGeom prst="rightArrow">
            <a:avLst/>
          </a:prstGeom>
          <a:solidFill>
            <a:srgbClr val="5A6B73"/>
          </a:solidFill>
          <a:ln w="12700">
            <a:solidFill>
              <a:srgbClr val="5A6B7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19237" y="1810512"/>
            <a:ext cx="3405530" cy="3950208"/>
          </a:xfrm>
          <a:prstGeom prst="roundRect">
            <a:avLst>
              <a:gd name="adj" fmla="val 2417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38538" y="2066544"/>
            <a:ext cx="566928" cy="566928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38538" y="2066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402117" y="2743200"/>
            <a:ext cx="3039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aplica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438693" y="3273552"/>
            <a:ext cx="2966618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Clasificas el conjunto completo con el libro ya ratificado.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revisas una muestra de veinte registros para ver qué tan bien lo hizo.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870448"/>
            <a:ext cx="11057839" cy="493776"/>
          </a:xfrm>
          <a:prstGeom prst="roundRect">
            <a:avLst>
              <a:gd name="adj" fmla="val 11111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5870448"/>
            <a:ext cx="1058235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dejas que el modelo invente las categorías y clasifique de un solo golpe, nadie va a poder explicar después de dónde salieron esas categorías.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463040"/>
            <a:ext cx="4023360" cy="4023360"/>
          </a:xfrm>
          <a:prstGeom prst="ellipse">
            <a:avLst/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13716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EL ORDEN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182880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una evaluación, las categorías son el análisis. Si no puedes defender el libro de códigos, no puedes defender ninguna cifra que salga de él.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43434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paso dos es el que convierte una salida automática en evidencia. Es también el que se califica. Un libro de códigos sin diferencias entre la versión propuesta y la ratificada es la señal de que ese paso no se hizo.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7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TURNO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704527" y="4572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04527" y="457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minutos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78992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Práctica C. Cien registros de atención ciudadana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66928" y="192024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202425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02425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08176" y="201168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minutos. Dale una muestra de los registros y pídele un libro de códigos con categoría, definición y tres ejemplos de cada una.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66928" y="273177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283578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283578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08176" y="282321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Quince minutos. Revisa y corrige ese libro. Llena sobre todo la columna de qué NO incluye cada categoría: es la que evita los traslapes y la que casi nadie llena.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6928" y="354330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364731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364731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08176" y="363474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minutos. Clasifica el conjunto completo con tu libro ratificado y revisa una muestra de veinte para ver cuántos quedaron bien.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66928" y="435483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45884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445884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08176" y="444627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registros que tocan dos o tres temas a la vez. Fíjate qué hace el modelo con ellos y qué harías tú.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66928" y="5193792"/>
            <a:ext cx="11057839" cy="777240"/>
          </a:xfrm>
          <a:prstGeom prst="roundRect">
            <a:avLst>
              <a:gd name="adj" fmla="val 8235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" y="5193792"/>
            <a:ext cx="105091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Archivo: Registros_atencion_ciudadana_PARTICIPANTE.xlsx, hoja Registros. Súbelo a OneDrive y adjúntalo en Copilot Chat; si no lee la hoja, pega los registros directo.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2290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Práctica D. Postura y causa raíz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0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Quince minutos sobre el archivo Transcripciones_foro_PARTICIPANTE.docx, en la carpeta de la sesión 4.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5391760" cy="2291842"/>
          </a:xfrm>
          <a:prstGeom prst="roundRect">
            <a:avLst>
              <a:gd name="adj" fmla="val 3192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249424"/>
            <a:ext cx="491627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 por dos ejes a la vez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714752"/>
            <a:ext cx="4916272" cy="1387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Polaridad: positiva, neutra o negativa.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raíz: infraestructura, presupuesto, gestión o transparencia.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eje casi nunca alcanza para decidir nada.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33008" y="2011680"/>
            <a:ext cx="5391760" cy="2291842"/>
          </a:xfrm>
          <a:prstGeom prst="roundRect">
            <a:avLst>
              <a:gd name="adj" fmla="val 3192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70752" y="2249424"/>
            <a:ext cx="491627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pregunta del final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70752" y="2714752"/>
            <a:ext cx="4916272" cy="1387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 resultado es que el 62 por ciento de las intervenciones fueron negativas, ¿qué decisión de política puedes tomar con eso?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suele ser ninguna. Ahí está la lección: la polaridad sola no es un hallazgo, es un punto de partida.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2290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el texto no cabe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0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herramienta tiene un límite de cuánto puede leer de una sola vez. Es la ventana de contexto que viste el lunes.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432304"/>
            <a:ext cx="381340" cy="667512"/>
          </a:xfrm>
          <a:prstGeom prst="roundRect">
            <a:avLst>
              <a:gd name="adj" fmla="val 7194"/>
            </a:avLst>
          </a:prstGeom>
          <a:solidFill>
            <a:srgbClr val="DCE3E6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3988" y="2432304"/>
            <a:ext cx="381340" cy="667512"/>
          </a:xfrm>
          <a:prstGeom prst="roundRect">
            <a:avLst>
              <a:gd name="adj" fmla="val 7194"/>
            </a:avLst>
          </a:prstGeom>
          <a:solidFill>
            <a:srgbClr val="DCE3E6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21048" y="2432304"/>
            <a:ext cx="381340" cy="667512"/>
          </a:xfrm>
          <a:prstGeom prst="roundRect">
            <a:avLst>
              <a:gd name="adj" fmla="val 7194"/>
            </a:avLst>
          </a:prstGeom>
          <a:solidFill>
            <a:srgbClr val="DCE3E6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48108" y="2432304"/>
            <a:ext cx="381340" cy="667512"/>
          </a:xfrm>
          <a:prstGeom prst="roundRect">
            <a:avLst>
              <a:gd name="adj" fmla="val 7194"/>
            </a:avLst>
          </a:prstGeom>
          <a:solidFill>
            <a:srgbClr val="DCE3E6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75168" y="2194560"/>
            <a:ext cx="381340" cy="1143000"/>
          </a:xfrm>
          <a:prstGeom prst="roundRect">
            <a:avLst>
              <a:gd name="adj" fmla="val 7194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02228" y="2194560"/>
            <a:ext cx="381340" cy="1143000"/>
          </a:xfrm>
          <a:prstGeom prst="roundRect">
            <a:avLst>
              <a:gd name="adj" fmla="val 7194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29288" y="2194560"/>
            <a:ext cx="381340" cy="1143000"/>
          </a:xfrm>
          <a:prstGeom prst="roundRect">
            <a:avLst>
              <a:gd name="adj" fmla="val 7194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56348" y="2194560"/>
            <a:ext cx="381340" cy="1143000"/>
          </a:xfrm>
          <a:prstGeom prst="roundRect">
            <a:avLst>
              <a:gd name="adj" fmla="val 7194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83408" y="2194560"/>
            <a:ext cx="381340" cy="1143000"/>
          </a:xfrm>
          <a:prstGeom prst="roundRect">
            <a:avLst>
              <a:gd name="adj" fmla="val 7194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10468" y="2194560"/>
            <a:ext cx="381340" cy="1143000"/>
          </a:xfrm>
          <a:prstGeom prst="roundRect">
            <a:avLst>
              <a:gd name="adj" fmla="val 7194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37528" y="2194560"/>
            <a:ext cx="381340" cy="1143000"/>
          </a:xfrm>
          <a:prstGeom prst="roundRect">
            <a:avLst>
              <a:gd name="adj" fmla="val 7194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64588" y="2194560"/>
            <a:ext cx="381340" cy="1143000"/>
          </a:xfrm>
          <a:prstGeom prst="roundRect">
            <a:avLst>
              <a:gd name="adj" fmla="val 7194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91648" y="2194560"/>
            <a:ext cx="381340" cy="1143000"/>
          </a:xfrm>
          <a:prstGeom prst="roundRect">
            <a:avLst>
              <a:gd name="adj" fmla="val 7194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18708" y="2194560"/>
            <a:ext cx="381340" cy="1143000"/>
          </a:xfrm>
          <a:prstGeom prst="roundRect">
            <a:avLst>
              <a:gd name="adj" fmla="val 7194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45768" y="2432304"/>
            <a:ext cx="381340" cy="667512"/>
          </a:xfrm>
          <a:prstGeom prst="roundRect">
            <a:avLst>
              <a:gd name="adj" fmla="val 7194"/>
            </a:avLst>
          </a:prstGeom>
          <a:solidFill>
            <a:srgbClr val="DCE3E6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72828" y="2432304"/>
            <a:ext cx="381340" cy="667512"/>
          </a:xfrm>
          <a:prstGeom prst="roundRect">
            <a:avLst>
              <a:gd name="adj" fmla="val 7194"/>
            </a:avLst>
          </a:prstGeom>
          <a:solidFill>
            <a:srgbClr val="DCE3E6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9888" y="2432304"/>
            <a:ext cx="381340" cy="667512"/>
          </a:xfrm>
          <a:prstGeom prst="roundRect">
            <a:avLst>
              <a:gd name="adj" fmla="val 7194"/>
            </a:avLst>
          </a:prstGeom>
          <a:solidFill>
            <a:srgbClr val="DCE3E6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26947" y="2432304"/>
            <a:ext cx="381340" cy="667512"/>
          </a:xfrm>
          <a:prstGeom prst="roundRect">
            <a:avLst>
              <a:gd name="adj" fmla="val 7194"/>
            </a:avLst>
          </a:prstGeom>
          <a:solidFill>
            <a:srgbClr val="DCE3E6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54007" y="2432304"/>
            <a:ext cx="381340" cy="667512"/>
          </a:xfrm>
          <a:prstGeom prst="roundRect">
            <a:avLst>
              <a:gd name="adj" fmla="val 7194"/>
            </a:avLst>
          </a:prstGeom>
          <a:solidFill>
            <a:srgbClr val="DCE3E6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1067" y="2432304"/>
            <a:ext cx="381340" cy="667512"/>
          </a:xfrm>
          <a:prstGeom prst="roundRect">
            <a:avLst>
              <a:gd name="adj" fmla="val 7194"/>
            </a:avLst>
          </a:prstGeom>
          <a:solidFill>
            <a:srgbClr val="DCE3E6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08127" y="2432304"/>
            <a:ext cx="381340" cy="667512"/>
          </a:xfrm>
          <a:prstGeom prst="roundRect">
            <a:avLst>
              <a:gd name="adj" fmla="val 7194"/>
            </a:avLst>
          </a:prstGeom>
          <a:solidFill>
            <a:srgbClr val="DCE3E6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35187" y="2432304"/>
            <a:ext cx="381340" cy="667512"/>
          </a:xfrm>
          <a:prstGeom prst="roundRect">
            <a:avLst>
              <a:gd name="adj" fmla="val 7194"/>
            </a:avLst>
          </a:prstGeom>
          <a:solidFill>
            <a:srgbClr val="DCE3E6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62247" y="2432304"/>
            <a:ext cx="381340" cy="667512"/>
          </a:xfrm>
          <a:prstGeom prst="roundRect">
            <a:avLst>
              <a:gd name="adj" fmla="val 7194"/>
            </a:avLst>
          </a:prstGeom>
          <a:solidFill>
            <a:srgbClr val="DCE3E6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389307" y="2432304"/>
            <a:ext cx="381340" cy="667512"/>
          </a:xfrm>
          <a:prstGeom prst="roundRect">
            <a:avLst>
              <a:gd name="adj" fmla="val 7194"/>
            </a:avLst>
          </a:prstGeom>
          <a:solidFill>
            <a:srgbClr val="DCE3E6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816367" y="2432304"/>
            <a:ext cx="381340" cy="667512"/>
          </a:xfrm>
          <a:prstGeom prst="roundRect">
            <a:avLst>
              <a:gd name="adj" fmla="val 7194"/>
            </a:avLst>
          </a:prstGeom>
          <a:solidFill>
            <a:srgbClr val="DCE3E6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243427" y="2432304"/>
            <a:ext cx="381340" cy="667512"/>
          </a:xfrm>
          <a:prstGeom prst="roundRect">
            <a:avLst>
              <a:gd name="adj" fmla="val 7194"/>
            </a:avLst>
          </a:prstGeom>
          <a:solidFill>
            <a:srgbClr val="DCE3E6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83728" y="2029968"/>
            <a:ext cx="4407760" cy="1472184"/>
          </a:xfrm>
          <a:prstGeom prst="roundRect">
            <a:avLst>
              <a:gd name="adj" fmla="val 4969"/>
            </a:avLst>
          </a:prstGeom>
          <a:ln w="31750">
            <a:solidFill>
              <a:srgbClr val="C85A28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2183728" y="3575304"/>
            <a:ext cx="440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el modelo ve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28648" y="35753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 ve, y no te avisa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66928" y="4050792"/>
            <a:ext cx="5391760" cy="2167128"/>
          </a:xfrm>
          <a:prstGeom prst="roundRect">
            <a:avLst>
              <a:gd name="adj" fmla="val 3376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4672" y="4251960"/>
            <a:ext cx="491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no es que falle</a:t>
            </a:r>
            <a:endParaRPr lang="en-US" sz="1550" dirty="0"/>
          </a:p>
        </p:txBody>
      </p:sp>
      <p:sp>
        <p:nvSpPr>
          <p:cNvPr id="35" name="Text 33"/>
          <p:cNvSpPr txBox="1"/>
          <p:nvPr/>
        </p:nvSpPr>
        <p:spPr>
          <a:xfrm>
            <a:off x="804672" y="4636008"/>
            <a:ext cx="491627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es que no te dice que no vio el resto. El resumen que te devuelve suena igual de completo que si lo hubiera leído todo.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aunque quepa, el peso se reparte: en un documento muy largo, un dato del medio recibe menos atención que uno del principio o del final.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33008" y="4050792"/>
            <a:ext cx="5391760" cy="2167128"/>
          </a:xfrm>
          <a:prstGeom prst="roundRect">
            <a:avLst>
              <a:gd name="adj" fmla="val 3376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70752" y="4251960"/>
            <a:ext cx="491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salidas</a:t>
            </a:r>
            <a:endParaRPr lang="en-US" sz="1550" dirty="0"/>
          </a:p>
        </p:txBody>
      </p:sp>
      <p:sp>
        <p:nvSpPr>
          <p:cNvPr id="38" name="Text 36"/>
          <p:cNvSpPr txBox="1"/>
          <p:nvPr/>
        </p:nvSpPr>
        <p:spPr>
          <a:xfrm>
            <a:off x="6470752" y="4636008"/>
            <a:ext cx="491627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Parte el texto en bloques y consolida al final, con el mismo libro de códigos en todas las tandas.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Trabaja con una muestra y valida contra el total. Es lo que hiciste hoy.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Pásate a código. Cuando son decenas de miles de registros, el chat ya no alcanza. Eso es el Módulo III.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3931920"/>
            <a:ext cx="4754880" cy="4754880"/>
          </a:xfrm>
          <a:prstGeom prst="ellipse">
            <a:avLst/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685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SALIR DE HOY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972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entregas hoy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11057839" cy="857250"/>
          </a:xfrm>
          <a:prstGeom prst="roundRect">
            <a:avLst>
              <a:gd name="adj" fmla="val 7467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239137"/>
            <a:ext cx="402336" cy="402336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23913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26464" y="2084832"/>
            <a:ext cx="9960559" cy="710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tabla comparativa de tres programas, con las equivalencias forzadas marcadas y corregidas.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3051810"/>
            <a:ext cx="11057839" cy="857250"/>
          </a:xfrm>
          <a:prstGeom prst="roundRect">
            <a:avLst>
              <a:gd name="adj" fmla="val 7467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3279267"/>
            <a:ext cx="402336" cy="402336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327926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26464" y="3124962"/>
            <a:ext cx="9960559" cy="710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libro de códigos en sus dos versiones: la que propuso el modelo y la que tú ratificaste. Si no hay diferencias entre las dos, el paso dos no se hizo.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66928" y="4091940"/>
            <a:ext cx="11057839" cy="857250"/>
          </a:xfrm>
          <a:prstGeom prst="roundRect">
            <a:avLst>
              <a:gd name="adj" fmla="val 7467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4319397"/>
            <a:ext cx="402336" cy="402336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431939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26464" y="4165092"/>
            <a:ext cx="9960559" cy="710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nota de tu bitácora sobre en qué caso usarías la síntesis extractiva y en cuál la abstractiva.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66928" y="5132070"/>
            <a:ext cx="11057839" cy="857250"/>
          </a:xfrm>
          <a:prstGeom prst="roundRect">
            <a:avLst>
              <a:gd name="adj" fmla="val 7467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5359527"/>
            <a:ext cx="402336" cy="402336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535952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26464" y="5205222"/>
            <a:ext cx="9960559" cy="710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tema tentativo del proyecto final de tu equipo, con la ruta metodológica que consideran.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172200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5, lunes 21 de septiembre: las plataformas de análisis cualitativo. Ese día sí activas la prueba de Elicit, no antes.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F-ID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decide la máquina que dos textos se parecen</a:t>
            </a:r>
            <a:endParaRPr lang="en-US" sz="3200" dirty="0"/>
          </a:p>
        </p:txBody>
      </p:sp>
      <p:sp>
        <p:nvSpPr>
          <p:cNvPr id="3" name="Text"/>
          <p:cNvSpPr txBox="1"/>
          <p:nvPr/>
        </p:nvSpPr>
        <p:spPr>
          <a:xfrm>
            <a:off x="566928" y="12801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lee: cuenta palabras y las pesa. Estos son los conteos reales de tus 118 registros de atención ciudadana.</a:t>
            </a:r>
            <a:endParaRPr lang="en-US" sz="1500" dirty="0"/>
          </a:p>
        </p:txBody>
      </p:sp>
      <p:sp>
        <p:nvSpPr>
          <p:cNvPr id="4" name="Shape"/>
          <p:cNvSpPr/>
          <p:nvPr/>
        </p:nvSpPr>
        <p:spPr>
          <a:xfrm>
            <a:off x="566928" y="1900000"/>
            <a:ext cx="5460655" cy="3350000"/>
          </a:xfrm>
          <a:prstGeom prst="roundRect">
            <a:avLst>
              <a:gd name="adj" fmla="val 2933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5" name="Text"/>
          <p:cNvSpPr txBox="1"/>
          <p:nvPr/>
        </p:nvSpPr>
        <p:spPr>
          <a:xfrm>
            <a:off x="841248" y="2100000"/>
            <a:ext cx="491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que no distinguen nada</a:t>
            </a:r>
            <a:endParaRPr lang="en-US" sz="1700" dirty="0"/>
          </a:p>
        </p:txBody>
      </p:sp>
      <p:sp>
        <p:nvSpPr>
          <p:cNvPr id="6" name="Text"/>
          <p:cNvSpPr txBox="1"/>
          <p:nvPr/>
        </p:nvSpPr>
        <p:spPr>
          <a:xfrm>
            <a:off x="841248" y="2530000"/>
            <a:ext cx="491201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 en casi todos los registros, así que no separan un tema de otro.</a:t>
            </a:r>
            <a:endParaRPr lang="en-US" sz="1250" dirty="0"/>
          </a:p>
        </p:txBody>
      </p:sp>
      <p:sp>
        <p:nvSpPr>
          <p:cNvPr id="7" name="Shape"/>
          <p:cNvSpPr/>
          <p:nvPr/>
        </p:nvSpPr>
        <p:spPr>
          <a:xfrm>
            <a:off x="841248" y="3050000"/>
            <a:ext cx="3000000" cy="4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"/>
          <p:cNvSpPr txBox="1"/>
          <p:nvPr/>
        </p:nvSpPr>
        <p:spPr>
          <a:xfrm>
            <a:off x="841248" y="3050000"/>
            <a:ext cx="30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</a:t>
            </a:r>
            <a:endParaRPr lang="en-US" sz="1300" dirty="0"/>
          </a:p>
        </p:txBody>
      </p:sp>
      <p:sp>
        <p:nvSpPr>
          <p:cNvPr id="9" name="Text"/>
          <p:cNvSpPr txBox="1"/>
          <p:nvPr/>
        </p:nvSpPr>
        <p:spPr>
          <a:xfrm>
            <a:off x="3966928" y="3050000"/>
            <a:ext cx="17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de 118</a:t>
            </a:r>
            <a:endParaRPr lang="en-US" sz="1200" dirty="0"/>
          </a:p>
        </p:txBody>
      </p:sp>
      <p:sp>
        <p:nvSpPr>
          <p:cNvPr id="10" name="Shape"/>
          <p:cNvSpPr/>
          <p:nvPr/>
        </p:nvSpPr>
        <p:spPr>
          <a:xfrm>
            <a:off x="841248" y="3540000"/>
            <a:ext cx="3000000" cy="4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841248" y="3540000"/>
            <a:ext cx="30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</a:t>
            </a:r>
            <a:endParaRPr lang="en-US" sz="1300" dirty="0"/>
          </a:p>
        </p:txBody>
      </p:sp>
      <p:sp>
        <p:nvSpPr>
          <p:cNvPr id="12" name="Text"/>
          <p:cNvSpPr txBox="1"/>
          <p:nvPr/>
        </p:nvSpPr>
        <p:spPr>
          <a:xfrm>
            <a:off x="3966928" y="3540000"/>
            <a:ext cx="17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de 118</a:t>
            </a:r>
            <a:endParaRPr lang="en-US" sz="1200" dirty="0"/>
          </a:p>
        </p:txBody>
      </p:sp>
      <p:sp>
        <p:nvSpPr>
          <p:cNvPr id="13" name="Shape"/>
          <p:cNvSpPr/>
          <p:nvPr/>
        </p:nvSpPr>
        <p:spPr>
          <a:xfrm>
            <a:off x="841248" y="4030000"/>
            <a:ext cx="3000000" cy="4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"/>
          <p:cNvSpPr txBox="1"/>
          <p:nvPr/>
        </p:nvSpPr>
        <p:spPr>
          <a:xfrm>
            <a:off x="841248" y="4030000"/>
            <a:ext cx="30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tramite</a:t>
            </a:r>
            <a:endParaRPr lang="en-US" sz="1300" dirty="0"/>
          </a:p>
        </p:txBody>
      </p:sp>
      <p:sp>
        <p:nvSpPr>
          <p:cNvPr id="15" name="Text"/>
          <p:cNvSpPr txBox="1"/>
          <p:nvPr/>
        </p:nvSpPr>
        <p:spPr>
          <a:xfrm>
            <a:off x="3966928" y="4030000"/>
            <a:ext cx="17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 118</a:t>
            </a:r>
            <a:endParaRPr lang="en-US" sz="1200" dirty="0"/>
          </a:p>
        </p:txBody>
      </p:sp>
      <p:sp>
        <p:nvSpPr>
          <p:cNvPr id="16" name="Shape"/>
          <p:cNvSpPr/>
          <p:nvPr/>
        </p:nvSpPr>
        <p:spPr>
          <a:xfrm>
            <a:off x="841248" y="4520000"/>
            <a:ext cx="3000000" cy="4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"/>
          <p:cNvSpPr txBox="1"/>
          <p:nvPr/>
        </p:nvSpPr>
        <p:spPr>
          <a:xfrm>
            <a:off x="841248" y="4520000"/>
            <a:ext cx="30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cajero</a:t>
            </a:r>
            <a:endParaRPr lang="en-US" sz="1300" dirty="0"/>
          </a:p>
        </p:txBody>
      </p:sp>
      <p:sp>
        <p:nvSpPr>
          <p:cNvPr id="18" name="Text"/>
          <p:cNvSpPr txBox="1"/>
          <p:nvPr/>
        </p:nvSpPr>
        <p:spPr>
          <a:xfrm>
            <a:off x="3966928" y="4520000"/>
            <a:ext cx="17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 118</a:t>
            </a:r>
            <a:endParaRPr lang="en-US" sz="1200" dirty="0"/>
          </a:p>
        </p:txBody>
      </p:sp>
      <p:sp>
        <p:nvSpPr>
          <p:cNvPr id="19" name="Shape"/>
          <p:cNvSpPr/>
          <p:nvPr/>
        </p:nvSpPr>
        <p:spPr>
          <a:xfrm>
            <a:off x="6164511" y="1900000"/>
            <a:ext cx="5460655" cy="3350000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0" name="Text"/>
          <p:cNvSpPr txBox="1"/>
          <p:nvPr/>
        </p:nvSpPr>
        <p:spPr>
          <a:xfrm>
            <a:off x="6438831" y="2100000"/>
            <a:ext cx="491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que sí marcan un tema</a:t>
            </a:r>
            <a:endParaRPr lang="en-US" sz="1700" dirty="0"/>
          </a:p>
        </p:txBody>
      </p:sp>
      <p:sp>
        <p:nvSpPr>
          <p:cNvPr id="21" name="Text"/>
          <p:cNvSpPr txBox="1"/>
          <p:nvPr/>
        </p:nvSpPr>
        <p:spPr>
          <a:xfrm>
            <a:off x="6438831" y="2530000"/>
            <a:ext cx="491201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raras en el resto del corpus, y por eso pesan cuando aparecen.</a:t>
            </a:r>
            <a:endParaRPr lang="en-US" sz="1250" dirty="0"/>
          </a:p>
        </p:txBody>
      </p:sp>
      <p:sp>
        <p:nvSpPr>
          <p:cNvPr id="22" name="Shape"/>
          <p:cNvSpPr/>
          <p:nvPr/>
        </p:nvSpPr>
        <p:spPr>
          <a:xfrm>
            <a:off x="6438831" y="3050000"/>
            <a:ext cx="3000000" cy="4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"/>
          <p:cNvSpPr txBox="1"/>
          <p:nvPr/>
        </p:nvSpPr>
        <p:spPr>
          <a:xfrm>
            <a:off x="6438831" y="3050000"/>
            <a:ext cx="30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convocatoria</a:t>
            </a:r>
            <a:endParaRPr lang="en-US" sz="1300" dirty="0"/>
          </a:p>
        </p:txBody>
      </p:sp>
      <p:sp>
        <p:nvSpPr>
          <p:cNvPr id="24" name="Text"/>
          <p:cNvSpPr txBox="1"/>
          <p:nvPr/>
        </p:nvSpPr>
        <p:spPr>
          <a:xfrm>
            <a:off x="9564511" y="3050000"/>
            <a:ext cx="17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 118</a:t>
            </a:r>
            <a:endParaRPr lang="en-US" sz="1200" dirty="0"/>
          </a:p>
        </p:txBody>
      </p:sp>
      <p:sp>
        <p:nvSpPr>
          <p:cNvPr id="25" name="Shape"/>
          <p:cNvSpPr/>
          <p:nvPr/>
        </p:nvSpPr>
        <p:spPr>
          <a:xfrm>
            <a:off x="6438831" y="3540000"/>
            <a:ext cx="3000000" cy="4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"/>
          <p:cNvSpPr txBox="1"/>
          <p:nvPr/>
        </p:nvSpPr>
        <p:spPr>
          <a:xfrm>
            <a:off x="6438831" y="3540000"/>
            <a:ext cx="30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comprobante</a:t>
            </a:r>
            <a:endParaRPr lang="en-US" sz="1300" dirty="0"/>
          </a:p>
        </p:txBody>
      </p:sp>
      <p:sp>
        <p:nvSpPr>
          <p:cNvPr id="27" name="Text"/>
          <p:cNvSpPr txBox="1"/>
          <p:nvPr/>
        </p:nvSpPr>
        <p:spPr>
          <a:xfrm>
            <a:off x="9564511" y="3540000"/>
            <a:ext cx="17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 118</a:t>
            </a:r>
            <a:endParaRPr lang="en-US" sz="1200" dirty="0"/>
          </a:p>
        </p:txBody>
      </p:sp>
      <p:sp>
        <p:nvSpPr>
          <p:cNvPr id="28" name="Shape"/>
          <p:cNvSpPr/>
          <p:nvPr/>
        </p:nvSpPr>
        <p:spPr>
          <a:xfrm>
            <a:off x="6438831" y="4030000"/>
            <a:ext cx="3000000" cy="4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"/>
          <p:cNvSpPr txBox="1"/>
          <p:nvPr/>
        </p:nvSpPr>
        <p:spPr>
          <a:xfrm>
            <a:off x="6438831" y="4030000"/>
            <a:ext cx="30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rechazaron</a:t>
            </a:r>
            <a:endParaRPr lang="en-US" sz="1300" dirty="0"/>
          </a:p>
        </p:txBody>
      </p:sp>
      <p:sp>
        <p:nvSpPr>
          <p:cNvPr id="30" name="Text"/>
          <p:cNvSpPr txBox="1"/>
          <p:nvPr/>
        </p:nvSpPr>
        <p:spPr>
          <a:xfrm>
            <a:off x="9564511" y="4030000"/>
            <a:ext cx="17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 118</a:t>
            </a:r>
            <a:endParaRPr lang="en-US" sz="1200" dirty="0"/>
          </a:p>
        </p:txBody>
      </p:sp>
      <p:sp>
        <p:nvSpPr>
          <p:cNvPr id="31" name="Shape"/>
          <p:cNvSpPr/>
          <p:nvPr/>
        </p:nvSpPr>
        <p:spPr>
          <a:xfrm>
            <a:off x="6438831" y="4520000"/>
            <a:ext cx="3000000" cy="4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"/>
          <p:cNvSpPr txBox="1"/>
          <p:nvPr/>
        </p:nvSpPr>
        <p:spPr>
          <a:xfrm>
            <a:off x="6438831" y="4520000"/>
            <a:ext cx="30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descalifica</a:t>
            </a:r>
            <a:endParaRPr lang="en-US" sz="1300" dirty="0"/>
          </a:p>
        </p:txBody>
      </p:sp>
      <p:sp>
        <p:nvSpPr>
          <p:cNvPr id="33" name="Text"/>
          <p:cNvSpPr txBox="1"/>
          <p:nvPr/>
        </p:nvSpPr>
        <p:spPr>
          <a:xfrm>
            <a:off x="9564511" y="4520000"/>
            <a:ext cx="17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 118</a:t>
            </a:r>
            <a:endParaRPr lang="en-US" sz="1200" dirty="0"/>
          </a:p>
        </p:txBody>
      </p:sp>
      <p:sp>
        <p:nvSpPr>
          <p:cNvPr id="34" name="Shape"/>
          <p:cNvSpPr/>
          <p:nvPr/>
        </p:nvSpPr>
        <p:spPr>
          <a:xfrm>
            <a:off x="566928" y="5700000"/>
            <a:ext cx="11057839" cy="594360"/>
          </a:xfrm>
          <a:prstGeom prst="roundRect">
            <a:avLst>
              <a:gd name="adj" fmla="val 8235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35" name="Text"/>
          <p:cNvSpPr txBox="1"/>
          <p:nvPr/>
        </p:nvSpPr>
        <p:spPr>
          <a:xfrm>
            <a:off x="804672" y="5700000"/>
            <a:ext cx="105823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cabe en una frase: una palabra pesa cuando es frecuente aquí y rara en el resto. De ahí sale algo que te importa: una queja poco frecuente nunca junta peso suficiente para volverse categoría, y termina en la bolsa de «otros».</a:t>
            </a:r>
            <a:endParaRPr lang="en-US" sz="1300" dirty="0"/>
          </a:p>
        </p:txBody>
      </p:sp>
      <p:sp>
        <p:nvSpPr>
          <p:cNvPr id="36" name="Text"/>
          <p:cNvSpPr txBox="1"/>
          <p:nvPr/>
        </p:nvSpPr>
        <p:spPr>
          <a:xfrm>
            <a:off x="566928" y="6360000"/>
            <a:ext cx="11057839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Conteos de tu propio corpus: Registros_atencion_ciudadana_PARTICIPANTE.xlsx, hoja Registros, el mismo archivo de la Práctica C.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ect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Contar palabras falla en dos direcciones</a:t>
            </a:r>
            <a:endParaRPr lang="en-US" sz="3200" dirty="0"/>
          </a:p>
        </p:txBody>
      </p:sp>
      <p:sp>
        <p:nvSpPr>
          <p:cNvPr id="3" name="Text"/>
          <p:cNvSpPr txBox="1"/>
          <p:nvPr/>
        </p:nvSpPr>
        <p:spPr>
          <a:xfrm>
            <a:off x="566928" y="12801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registros reales del corpus de hoy. A la izquierda comparten palabras y no comparten tema; a la derecha es exactamente al revés.</a:t>
            </a:r>
            <a:endParaRPr lang="en-US" sz="1500" dirty="0"/>
          </a:p>
        </p:txBody>
      </p:sp>
      <p:sp>
        <p:nvSpPr>
          <p:cNvPr id="4" name="Shape"/>
          <p:cNvSpPr/>
          <p:nvPr/>
        </p:nvSpPr>
        <p:spPr>
          <a:xfrm>
            <a:off x="566928" y="1900000"/>
            <a:ext cx="5460655" cy="3550000"/>
          </a:xfrm>
          <a:prstGeom prst="roundRect">
            <a:avLst>
              <a:gd name="adj" fmla="val 2933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5" name="Text"/>
          <p:cNvSpPr txBox="1"/>
          <p:nvPr/>
        </p:nvSpPr>
        <p:spPr>
          <a:xfrm>
            <a:off x="796928" y="2080000"/>
            <a:ext cx="5000655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8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Mismas palabras, distinto tema</a:t>
            </a:r>
            <a:endParaRPr lang="en-US" sz="1600" dirty="0"/>
          </a:p>
        </p:txBody>
      </p:sp>
      <p:sp>
        <p:nvSpPr>
          <p:cNvPr id="6" name="Shape"/>
          <p:cNvSpPr/>
          <p:nvPr/>
        </p:nvSpPr>
        <p:spPr>
          <a:xfrm>
            <a:off x="796928" y="2400000"/>
            <a:ext cx="5000000" cy="11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"/>
          <p:cNvSpPr txBox="1"/>
          <p:nvPr/>
        </p:nvSpPr>
        <p:spPr>
          <a:xfrm>
            <a:off x="1036928" y="2520000"/>
            <a:ext cx="452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«Manifiesta que su esposo cobró con su tarjeta sin su permiso y quiere saber cómo cambiar el NIP.»</a:t>
            </a:r>
            <a:endParaRPr lang="en-US" sz="1250" dirty="0"/>
          </a:p>
        </p:txBody>
      </p:sp>
      <p:sp>
        <p:nvSpPr>
          <p:cNvPr id="8" name="Text"/>
          <p:cNvSpPr txBox="1"/>
          <p:nvPr/>
        </p:nvSpPr>
        <p:spPr>
          <a:xfrm>
            <a:off x="1036928" y="3280000"/>
            <a:ext cx="452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RAC-2025-00073</a:t>
            </a:r>
            <a:endParaRPr lang="en-US" sz="1050" dirty="0"/>
          </a:p>
        </p:txBody>
      </p:sp>
      <p:sp>
        <p:nvSpPr>
          <p:cNvPr id="9" name="Shape"/>
          <p:cNvSpPr/>
          <p:nvPr/>
        </p:nvSpPr>
        <p:spPr>
          <a:xfrm>
            <a:off x="796928" y="3560000"/>
            <a:ext cx="5000000" cy="11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"/>
          <p:cNvSpPr txBox="1"/>
          <p:nvPr/>
        </p:nvSpPr>
        <p:spPr>
          <a:xfrm>
            <a:off x="1036928" y="3680000"/>
            <a:ext cx="452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«Su tarjeta caducó el mes pasado y quiere saber si el apoyo se pierde mientras le dan la nueva.»</a:t>
            </a:r>
            <a:endParaRPr lang="en-US" sz="1250" dirty="0"/>
          </a:p>
        </p:txBody>
      </p:sp>
      <p:sp>
        <p:nvSpPr>
          <p:cNvPr id="11" name="Text"/>
          <p:cNvSpPr txBox="1"/>
          <p:nvPr/>
        </p:nvSpPr>
        <p:spPr>
          <a:xfrm>
            <a:off x="1036928" y="4440000"/>
            <a:ext cx="452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RAC-2025-00055</a:t>
            </a:r>
            <a:endParaRPr lang="en-US" sz="1050" dirty="0"/>
          </a:p>
        </p:txBody>
      </p:sp>
      <p:sp>
        <p:nvSpPr>
          <p:cNvPr id="12" name="Text"/>
          <p:cNvSpPr txBox="1"/>
          <p:nvPr/>
        </p:nvSpPr>
        <p:spPr>
          <a:xfrm>
            <a:off x="796928" y="4790000"/>
            <a:ext cx="500065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Comparten tarjeta, quiere y saber. Una es de uso indebido y la otra de vigencia del plástico.</a:t>
            </a:r>
            <a:endParaRPr lang="en-US" sz="1250" dirty="0"/>
          </a:p>
        </p:txBody>
      </p:sp>
      <p:sp>
        <p:nvSpPr>
          <p:cNvPr id="13" name="Shape"/>
          <p:cNvSpPr/>
          <p:nvPr/>
        </p:nvSpPr>
        <p:spPr>
          <a:xfrm>
            <a:off x="6164511" y="1900000"/>
            <a:ext cx="5460655" cy="3550000"/>
          </a:xfrm>
          <a:prstGeom prst="roundRect">
            <a:avLst>
              <a:gd name="adj" fmla="val 2933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14" name="Text"/>
          <p:cNvSpPr txBox="1"/>
          <p:nvPr/>
        </p:nvSpPr>
        <p:spPr>
          <a:xfrm>
            <a:off x="6394511" y="2080000"/>
            <a:ext cx="5000655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Distintas palabras, mismo tema</a:t>
            </a:r>
            <a:endParaRPr lang="en-US" sz="1600" dirty="0"/>
          </a:p>
        </p:txBody>
      </p:sp>
      <p:sp>
        <p:nvSpPr>
          <p:cNvPr id="15" name="Shape"/>
          <p:cNvSpPr/>
          <p:nvPr/>
        </p:nvSpPr>
        <p:spPr>
          <a:xfrm>
            <a:off x="6394511" y="2400000"/>
            <a:ext cx="5000000" cy="11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"/>
          <p:cNvSpPr txBox="1"/>
          <p:nvPr/>
        </p:nvSpPr>
        <p:spPr>
          <a:xfrm>
            <a:off x="6634511" y="2520000"/>
            <a:ext cx="452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«La beneficiaria señala que el apoyo del bimestre no le ha llegado. Comenta que a su vecina sí le depositaron desde la semana pasada.»</a:t>
            </a:r>
            <a:endParaRPr lang="en-US" sz="1250" dirty="0"/>
          </a:p>
        </p:txBody>
      </p:sp>
      <p:sp>
        <p:nvSpPr>
          <p:cNvPr id="17" name="Text"/>
          <p:cNvSpPr txBox="1"/>
          <p:nvPr/>
        </p:nvSpPr>
        <p:spPr>
          <a:xfrm>
            <a:off x="6634511" y="3280000"/>
            <a:ext cx="452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RAC-2025-00014</a:t>
            </a:r>
            <a:endParaRPr lang="en-US" sz="1050" dirty="0"/>
          </a:p>
        </p:txBody>
      </p:sp>
      <p:sp>
        <p:nvSpPr>
          <p:cNvPr id="18" name="Shape"/>
          <p:cNvSpPr/>
          <p:nvPr/>
        </p:nvSpPr>
        <p:spPr>
          <a:xfrm>
            <a:off x="6394511" y="3560000"/>
            <a:ext cx="5000000" cy="11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"/>
          <p:cNvSpPr txBox="1"/>
          <p:nvPr/>
        </p:nvSpPr>
        <p:spPr>
          <a:xfrm>
            <a:off x="6634511" y="3680000"/>
            <a:ext cx="452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 ha podido cobrar porque en el banco le dicen que su cuenta aparece inactiva.»</a:t>
            </a:r>
            <a:endParaRPr lang="en-US" sz="1250" dirty="0"/>
          </a:p>
        </p:txBody>
      </p:sp>
      <p:sp>
        <p:nvSpPr>
          <p:cNvPr id="20" name="Text"/>
          <p:cNvSpPr txBox="1"/>
          <p:nvPr/>
        </p:nvSpPr>
        <p:spPr>
          <a:xfrm>
            <a:off x="6634511" y="4440000"/>
            <a:ext cx="452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RAC-2025-00096</a:t>
            </a:r>
            <a:endParaRPr lang="en-US" sz="1050" dirty="0"/>
          </a:p>
        </p:txBody>
      </p:sp>
      <p:sp>
        <p:nvSpPr>
          <p:cNvPr id="21" name="Text"/>
          <p:cNvSpPr txBox="1"/>
          <p:nvPr/>
        </p:nvSpPr>
        <p:spPr>
          <a:xfrm>
            <a:off x="6394511" y="4790000"/>
            <a:ext cx="500065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comparten una sola palabra de contenido. Las dos dicen lo mismo: no tengo mi dinero.</a:t>
            </a:r>
            <a:endParaRPr lang="en-US" sz="1250" dirty="0"/>
          </a:p>
        </p:txBody>
      </p:sp>
      <p:sp>
        <p:nvSpPr>
          <p:cNvPr id="22" name="Shape"/>
          <p:cNvSpPr/>
          <p:nvPr/>
        </p:nvSpPr>
        <p:spPr>
          <a:xfrm>
            <a:off x="566928" y="5700000"/>
            <a:ext cx="11057839" cy="594360"/>
          </a:xfrm>
          <a:prstGeom prst="roundRect">
            <a:avLst>
              <a:gd name="adj" fmla="val 8235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23" name="Text"/>
          <p:cNvSpPr txBox="1"/>
          <p:nvPr/>
        </p:nvSpPr>
        <p:spPr>
          <a:xfrm>
            <a:off x="804672" y="5700000"/>
            <a:ext cx="105823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las herramientas convierten el texto en coordenadas, los vectores: lo que significa parecido queda cerca aunque esté escrito distinto. Y cuando el dato no es texto sino una tabla de variables mezcladas, la distancia se mide con Gower, que verás en el Módulo III.</a:t>
            </a:r>
            <a:endParaRPr lang="en-US" sz="1300" dirty="0"/>
          </a:p>
        </p:txBody>
      </p:sp>
      <p:sp>
        <p:nvSpPr>
          <p:cNvPr id="24" name="Text"/>
          <p:cNvSpPr txBox="1"/>
          <p:nvPr/>
        </p:nvSpPr>
        <p:spPr>
          <a:xfrm>
            <a:off x="566928" y="6360000"/>
            <a:ext cx="11057839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salen de ese mismo archivo, hoja Registros: folios RAC-2025-00073, 00055, 00014 y 00096. Ábrelos y verifícalos.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Curso de Inteligencia Artificial Aplicada</dc:creator>
  <cp:lastModifiedBy>Curso de Inteligencia Artificial Aplicada</cp:lastModifiedBy>
  <cp:revision>1</cp:revision>
  <dcterms:created xsi:type="dcterms:W3CDTF">2026-09-13T23:31:27Z</dcterms:created>
  <dcterms:modified xsi:type="dcterms:W3CDTF">2026-09-13T23:31:27Z</dcterms:modified>
</cp:coreProperties>
</file>