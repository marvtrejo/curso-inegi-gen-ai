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minutos. Encuadre: la sesion pasada construyeron un estimado defendible. Hoy lo hacemos reproducible de verdad, que es distinto de que corra. Tres amenazas: el azar sin fijar (una semilla), la aritmetica fragil (el codigo corre y miente), y el entorno que cambia (otra version, otra maquina, otra corrida del asistente). Trabajamos en R Markdown, que es el entorno reproducible de R; en Python el equivalente es Jupyter o Colab. Terminamos 13:30.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minutos. Mismo formato que la 7: concepto y demo corta en clase, practica a fondo de tarea. Los tres bloques son las tres amenazas a la reproducibilidad. Si va retrasado, acorte la sintesis. La 9 es el laboratorio aplicado que junta 7 y 8 de principio a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minutos, el mapa. La frase ancla, en cadena con la 7: alla vimos que correr no es estar bien; hoy, que correr no es reproducir. Las tres tarjetas son los tres bloques. El gancho con la 7: muchos de esos errores estandar por diseno se calculan por remuestreo, y sin semilla cambian cada corrida, asi que la reproducibilidad no es un lujo, es parte de que el numero sea defendible.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Divisor, un minuto. Unos 28 minutos al receso. Bootstrap, validacion cruzada y simulacion usan numeros aleatorios; sin fijar la semilla, el resultado cambia cada corrida, y la IA suele omitirla.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minutos. Publico que conoce bootstrap y validacion cruzada, asi que el foco es la reproducibilidad, no el metodo. La semilla fija el generador de numeros aleatorios; con ella el azar se repite identico. El punto de IA: los asistentes suelen omitir set.seed, el codigo corre igual, y el descuido no se nota hasta que alguien intenta reproducir y obtiene otro numero. La lamina que sigue lo mide.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minutos, primera lamina insignia. El mensaje: mismo codigo, mismo dato, y solo por cambiar la semilla el EE va de 1.48 a 1.56. Sin semilla, cada corrida es una de estas al azar; con set.seed(1) es 1.48 siempre, para cualquiera. Aterrice la apuesta: parece cosa de decimales, pero junto a un umbral, p de 0.05 o el borde de un intervalo, esa diferencia voltea la conclusion. Por eso la semilla no es opcional en trabajo que se firma.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Divisor, un minuto. El limite del calculo numerico que pide el temario, de verdad: un modelo de lenguaje no calcula, predice; y aun el codigo ejecutable puede ser numericamente ingenuo.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minutos. Dos capas, y es la justificacion tecnica del temario hecha en serio. Capa 1: un LLM predice tokens, no tiene calculadora; por eso se le pide codigo, no el numero. Capa 2, la que sorprende a este publico: aun el codigo ejecutable puede ser numericamente fragil. La computadora hace literalmente lo que dice la formula; si la formula es ingenua, corre sin quejarse y da un numero mal. La lamina que sigue lo muestra con dos casos.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minutos, segunda lamina insignia. Dos hechos verificables. Uno: 0.1 mas 0.2 no es 0.3 en la computadora, es 0.30000000000000004, porque los decimales se guardan en binario y muchos no caben; el error es diminuto pero se acumula. Dos, el fuerte: tres numeros que van de uno en uno tienen varianza uno, obvio; pero la formula ingenua, sum de cuadrados menos n por media al cuadrado, resta dos numeros enormes y casi iguales, cancela toda la informacion y devuelve cero, sin error. R usa un algoritmo estable en var(); la formula de libro no. La leccion: pedir funciones probadas y verificar contra un caso conocido.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Divisor, un minuto. Aunque fijes semilla y uses funciones robustas, el mismo codigo puede dar distinto en otra maquina si cambio una version; y la IA misma es una fuente de variacion.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minutos. Aunque fijes la semilla, faltan dos cosas: las versiones de los paquetes (un default que cambia entre versiones te mueve el numero) y el insumo (si el archivo cambio, cambia el resultado). Y una tercera que es nueva con la IA: el mismo prompt da codigo distinto en cada corrida, porque el modelo no es determinista. Por eso lo que se archiva no es el prompt, es el flujo terminado: codigo, semilla, insumo fijo y versiones. Ese paquete se reproduce; la conversacion con la IA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minutos. Retome la cosecha real de la S7 como evidencia: dos formas del mismo pedido a DeepSeek dieron dos analisis distintos, y a temperatura mayor que cero dos personas con el mismo prompt reciben respuestas que no coinciden. Por eso guardar el prompt no reproduce nada. Lo que se fija es el flujo: codigo, semilla, insumo y versiones. sessionInfo registra las versiones, renv las congela, y la prueba final es reiniciar y correr todo de cero. Si no sale igual, algo quedo fuera.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minutos, lamina de pago. Los tres candados: fijar el azar (semilla), aritmetica robusta (funciones probadas), fijar el entorno (insumo y versiones). Cada uno evita una de las tres amenazas del dia. El artefacto reproducible es el flujo terminado, no el prompt ni la conversacion. La prueba unica y exigible: reiniciar y correr todo de cero y obtener el mismo numero. Eso es lo que la rubrica tecnica evalua en el entregable.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minutos. Izquierda, lo que se le pide al asistente: semilla visible, funciones probadas, insumo y versiones documentados, el codigo y que corra de cero. Derecha, lo que no se delega: verificar que el numero se calculo y contra un caso conocido, oler la fragilidad numerica, correr de cero para comprobar, y archivar el flujo, no la conversacion. Este es el habito que se llevan a la practica y a la Sesion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Divisor. Demo corta en clase y el grueso de tarea, un R Markdown sobre el mismo microdato. Veinte minutos en clase, el resto en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en dos minutos y arranquen la parte 1. Parte 1: el bootstrap del efecto del programa, sin semilla cambia cada corrida, con set.seed es el mismo (alrededor de 1.48 con la semilla 1). Parte 2: la funcion de varianza a mano da cero para numeros grandes y juntos; que diagnostiquen la cancelacion y usen var(). Parte 3: semilla mas insumo fijo mas sessionInfo, reiniciar y correr todo, y comprobar que reproduce. El entregable es el Rmd tejido. Tarea a su ritmo.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minutos. Repase las tres ideas y confirme el entregable, que es la tarea. El puente a la 9: ya tienen hacer bien el estimado (7) y hacerlo reproducible (8); la 9 los junta en el laboratorio aplicado de principio a fin, con un error plantado de la IA para cazar y el entregable reproducible que evalua la rubrica. Agradezca y cierre a tiempo.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Lamina de referencia. No se lee en clase. Sostiene el nivel tecnico si preguntan por reproducibilidad, punto flotante o estabilidad numerica.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188720"/>
            <a:ext cx="3566160" cy="3566160"/>
          </a:xfrm>
          <a:prstGeom prst="ellipse">
            <a:avLst/>
          </a:prstGeom>
          <a:solidFill>
            <a:srgbClr val="20384F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572000"/>
            <a:ext cx="2560320" cy="2560320"/>
          </a:xfrm>
          <a:prstGeom prst="ellipse">
            <a:avLst/>
          </a:prstGeom>
          <a:solidFill>
            <a:srgbClr val="CB5E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III · SESIÓN 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Entornos reproducibles: el mismo número, otra vez, para cualquiera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977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Semillas y azar controlado, límites del cálculo numérico, y un entorno que da lo mismo en otra máquina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41248" y="4828032"/>
            <a:ext cx="2926080" cy="0"/>
          </a:xfrm>
          <a:prstGeom prst="line">
            <a:avLst/>
          </a:prstGeom>
          <a:noFill/>
          <a:ln w="25400">
            <a:solidFill>
              <a:srgbClr val="CB5E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 · INEGI 2026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3766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III, Sesión 2 · sigue el bloque cuantitativo · 11:00 a 13:30 h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usamos los 150 minutos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bloques de concepto con demo corta, un receso, y una práctica que se va de tarea.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1672" cy="512064"/>
          </a:xfrm>
          <a:prstGeom prst="rect">
            <a:avLst/>
          </a:prstGeom>
          <a:solidFill>
            <a:srgbClr val="EEF2F5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3736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5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11:00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37360"/>
            <a:ext cx="9262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Apertura: que corra no es que reproduzca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249424"/>
            <a:ext cx="11091672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249424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5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11:12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249424"/>
            <a:ext cx="9262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El azar sin fijar: la semilla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761488"/>
            <a:ext cx="11091672" cy="512064"/>
          </a:xfrm>
          <a:prstGeom prst="rect">
            <a:avLst/>
          </a:prstGeom>
          <a:solidFill>
            <a:srgbClr val="FBEEE5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76148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3E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11:40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194560" y="2761488"/>
            <a:ext cx="9262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3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Receso · 10 minutos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273552"/>
            <a:ext cx="11091672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273552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5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11:50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273552"/>
            <a:ext cx="9262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La aritmética frágil: límites del cálculo numérico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785616"/>
            <a:ext cx="11091672" cy="512064"/>
          </a:xfrm>
          <a:prstGeom prst="rect">
            <a:avLst/>
          </a:prstGeom>
          <a:solidFill>
            <a:srgbClr val="EEF2F5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78561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5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12:20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3785616"/>
            <a:ext cx="9262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El entorno que cambió, y la IA que varía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29768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5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12:45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4297680"/>
            <a:ext cx="9262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y flujo reproducible con IA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809744"/>
            <a:ext cx="11091672" cy="512064"/>
          </a:xfrm>
          <a:prstGeom prst="rect">
            <a:avLst/>
          </a:prstGeom>
          <a:solidFill>
            <a:srgbClr val="EEF2F5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4809744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5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13:05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2194560" y="4809744"/>
            <a:ext cx="9262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guiada y encuadre de la tarea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321808"/>
            <a:ext cx="11091672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32180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5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13:25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2194560" y="5321808"/>
            <a:ext cx="9262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y puente a la Sesión 9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un número corra no es que reproduzca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Reproducir es dar el mismo número otra vez, para otra persona, en otra máquina. Tres cosas lo rompen, y la sesión pasada ya dejó una pista: el error estándar por remuestreo cambia en cada corrida si no fijas el azar.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3502152" cy="2926080"/>
          </a:xfrm>
          <a:prstGeom prst="roundRect">
            <a:avLst>
              <a:gd name="adj" fmla="val 1875"/>
            </a:avLst>
          </a:prstGeom>
          <a:solidFill>
            <a:srgbClr val="EEF2F5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514600"/>
            <a:ext cx="502920" cy="502920"/>
          </a:xfrm>
          <a:prstGeom prst="ellipse">
            <a:avLst/>
          </a:prstGeom>
          <a:solidFill>
            <a:srgbClr val="CB5E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154680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azar sin fijar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65760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bootstrap o una simulación sin semilla da un número distinto cada vez. Ni tú reproduces el tuyo de ayer.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" y="4636008"/>
            <a:ext cx="2990088" cy="0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" y="4690872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B5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2240280"/>
            <a:ext cx="3502152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99432" y="2514600"/>
            <a:ext cx="502920" cy="502920"/>
          </a:xfrm>
          <a:prstGeom prst="ellipse">
            <a:avLst/>
          </a:prstGeom>
          <a:solidFill>
            <a:srgbClr val="CB5E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9432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3154680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aritmética frágil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365760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que corre puede estar numéricamente mal: da cero donde la varianza es uno. Y la IA no calcula, predice.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99432" y="4636008"/>
            <a:ext cx="2990088" cy="0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99432" y="4690872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B5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2240280"/>
            <a:ext cx="3502152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94192" y="2514600"/>
            <a:ext cx="502920" cy="502920"/>
          </a:xfrm>
          <a:prstGeom prst="ellipse">
            <a:avLst/>
          </a:prstGeom>
          <a:solidFill>
            <a:srgbClr val="CB5E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94192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394192" y="3154680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entorno que cambió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394192" y="365760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 versión de un paquete, u otra corrida del asistente, cambia el resultado. Se fija el flujo, no el prompt.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394192" y="4636008"/>
            <a:ext cx="2990088" cy="0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94192" y="4690872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B5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6053328"/>
            <a:ext cx="11091672" cy="603504"/>
          </a:xfrm>
          <a:prstGeom prst="rect">
            <a:avLst/>
          </a:prstGeom>
          <a:solidFill>
            <a:srgbClr val="FBEEE5"/>
          </a:solidFill>
          <a:ln/>
        </p:spPr>
      </p:sp>
      <p:sp>
        <p:nvSpPr>
          <p:cNvPr id="26" name="Shape 24"/>
          <p:cNvSpPr/>
          <p:nvPr/>
        </p:nvSpPr>
        <p:spPr>
          <a:xfrm>
            <a:off x="749808" y="6272784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B5E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51560" y="6053328"/>
            <a:ext cx="10405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3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hicieron un estimado defendible. Reproducible es que dé lo mismo otra vez, para otra persona, en otra máquina. Eso se construye, no se asume.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68880"/>
            <a:ext cx="1371600" cy="1371600"/>
          </a:xfrm>
          <a:prstGeom prst="ellipse">
            <a:avLst/>
          </a:prstGeom>
          <a:solidFill>
            <a:srgbClr val="CB5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46888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514600" y="2670048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5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514600" y="3072384"/>
            <a:ext cx="9052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azar sin fijar: la semilla</a:t>
            </a:r>
            <a:endParaRPr lang="en-US" sz="2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azar necesita una semilla para reproducirse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método que remuestrea o simula usa números aleatorios. Sin fijar el punto de partida, no hay dos corridas iguales.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02152" cy="1828800"/>
          </a:xfrm>
          <a:prstGeom prst="roundRect">
            <a:avLst>
              <a:gd name="adj" fmla="val 3000"/>
            </a:avLst>
          </a:prstGeom>
          <a:solidFill>
            <a:srgbClr val="EEF2F5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03120"/>
            <a:ext cx="3044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aparece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78608"/>
            <a:ext cx="3044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Bootstrap, validación cruzada, simulación, bosques aleatorios. Justo como se calculan muchos errores estándar de la Sesión 7.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20240"/>
            <a:ext cx="3502152" cy="1828800"/>
          </a:xfrm>
          <a:prstGeom prst="roundRect">
            <a:avLst>
              <a:gd name="adj" fmla="val 3000"/>
            </a:avLst>
          </a:prstGeom>
          <a:solidFill>
            <a:srgbClr val="E7F2EA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2103120"/>
            <a:ext cx="3044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la semilla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578608"/>
            <a:ext cx="3044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set.seed(n) fija el punto de partida del generador. Con ella, el azar es el mismo cada vez, para cualquiera.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502152" cy="1828800"/>
          </a:xfrm>
          <a:prstGeom prst="roundRect">
            <a:avLst>
              <a:gd name="adj" fmla="val 3000"/>
            </a:avLst>
          </a:prstGeom>
          <a:solidFill>
            <a:srgbClr val="F9E7E3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66760" y="2103120"/>
            <a:ext cx="3044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23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trampa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2578608"/>
            <a:ext cx="3044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falta la semilla, el código corre pero el número de hoy no es el de mañana. Revisa que el asistente la haya puesto.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11091672" cy="1371600"/>
          </a:xfrm>
          <a:prstGeom prst="roundRect">
            <a:avLst>
              <a:gd name="adj" fmla="val 4000"/>
            </a:avLst>
          </a:prstGeom>
          <a:solidFill>
            <a:srgbClr val="15293B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187952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semilla no cambia el método, cambia si se puede repetir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572000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4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la semilla no hace el bootstrap más correcto ni menos; lo hace reproducible. Dos personas con el mismo dato, el mismo código y la misma semilla obtienen el mismo intervalo. Sin semilla, cada quien reporta un número ligeramente distinto, y ninguno puede rehacer el del otro.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6053328"/>
            <a:ext cx="11091672" cy="603504"/>
          </a:xfrm>
          <a:prstGeom prst="rect">
            <a:avLst/>
          </a:prstGeom>
          <a:solidFill>
            <a:srgbClr val="FBEEE5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6272784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B5E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" y="6053328"/>
            <a:ext cx="10405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3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simple: si el código usa azar, la primera línea fija la semilla. Si no la ves, el resultado no es reproducible.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bootstrap, distinta semilla, distinto número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estándar del efecto del programa por remuestreo, sobre el microdato de la Sesión 7. Mismo código, mismo dato, solo cambia la semilla.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420624"/>
          </a:xfrm>
          <a:prstGeom prst="rect">
            <a:avLst/>
          </a:prstGeom>
          <a:solidFill>
            <a:srgbClr val="15293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Semilla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828800"/>
            <a:ext cx="2926080" cy="420624"/>
          </a:xfrm>
          <a:prstGeom prst="rect">
            <a:avLst/>
          </a:prstGeom>
          <a:solidFill>
            <a:srgbClr val="15293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91840" y="182880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 del bootstrap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49424"/>
            <a:ext cx="2743200" cy="420624"/>
          </a:xfrm>
          <a:prstGeom prst="rect">
            <a:avLst/>
          </a:prstGeom>
          <a:solidFill>
            <a:srgbClr val="EEF2F5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249424"/>
            <a:ext cx="265176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set.seed(1)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91840" y="2249424"/>
            <a:ext cx="2926080" cy="420624"/>
          </a:xfrm>
          <a:prstGeom prst="rect">
            <a:avLst/>
          </a:prstGeom>
          <a:solidFill>
            <a:srgbClr val="EEF2F5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37560" y="2249424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1.48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670048"/>
            <a:ext cx="2743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670048"/>
            <a:ext cx="265176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set.seed(2)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291840" y="2670048"/>
            <a:ext cx="2926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337560" y="267004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1.50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090672"/>
            <a:ext cx="2743200" cy="420624"/>
          </a:xfrm>
          <a:prstGeom prst="rect">
            <a:avLst/>
          </a:prstGeom>
          <a:solidFill>
            <a:srgbClr val="EEF2F5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090672"/>
            <a:ext cx="265176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set.seed(3)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291840" y="3090672"/>
            <a:ext cx="2926080" cy="420624"/>
          </a:xfrm>
          <a:prstGeom prst="rect">
            <a:avLst/>
          </a:prstGeom>
          <a:solidFill>
            <a:srgbClr val="EEF2F5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37560" y="30906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1.51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511296"/>
            <a:ext cx="2743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3511296"/>
            <a:ext cx="2651760" cy="42062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set.seed(4)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291840" y="3511296"/>
            <a:ext cx="2926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37560" y="3511296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1.56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675120" y="1828800"/>
            <a:ext cx="4965192" cy="1207008"/>
          </a:xfrm>
          <a:prstGeom prst="roundRect">
            <a:avLst>
              <a:gd name="adj" fmla="val 4545"/>
            </a:avLst>
          </a:prstGeom>
          <a:solidFill>
            <a:srgbClr val="F9E7E3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49440" y="1975104"/>
            <a:ext cx="4416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23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FIJAR LA SEMILLA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2286000"/>
            <a:ext cx="4416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corrida cae en una de estas al azar. No puedes reproducir ni tu propio número.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675120" y="3182112"/>
            <a:ext cx="4965192" cy="1207008"/>
          </a:xfrm>
          <a:prstGeom prst="roundRect">
            <a:avLst>
              <a:gd name="adj" fmla="val 4545"/>
            </a:avLst>
          </a:prstGeom>
          <a:solidFill>
            <a:srgbClr val="E7F2EA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949440" y="3328416"/>
            <a:ext cx="4416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set.seed(1)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949440" y="3639312"/>
            <a:ext cx="4416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 siempre, en cada corrida y en cualquier máquina. Cualquiera reproduce el intervalo.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6053328"/>
            <a:ext cx="11091672" cy="603504"/>
          </a:xfrm>
          <a:prstGeom prst="rect">
            <a:avLst/>
          </a:prstGeom>
          <a:solidFill>
            <a:srgbClr val="FBEEE5"/>
          </a:solidFill>
          <a:ln/>
        </p:spPr>
      </p:sp>
      <p:sp>
        <p:nvSpPr>
          <p:cNvPr id="31" name="Shape 29"/>
          <p:cNvSpPr/>
          <p:nvPr/>
        </p:nvSpPr>
        <p:spPr>
          <a:xfrm>
            <a:off x="749808" y="6272784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B5E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51560" y="6053328"/>
            <a:ext cx="10405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3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Parece cosa de decimales, pero cerca de un umbral, un valor p de 0.05 o el borde de un intervalo, esa diferencia voltea la conclusión.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190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R: set.seed(1) antes del bootstrap. Lo mismo aplica a validación cruzada, simulación y cualquier procedimiento con sample() o rnorm().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68880"/>
            <a:ext cx="1371600" cy="1371600"/>
          </a:xfrm>
          <a:prstGeom prst="ellipse">
            <a:avLst/>
          </a:prstGeom>
          <a:solidFill>
            <a:srgbClr val="CB5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46888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514600" y="2670048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5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514600" y="3072384"/>
            <a:ext cx="9052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aritmética frágil: corre y miente</a:t>
            </a:r>
            <a:endParaRPr lang="en-US" sz="2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el cálculo numérico falla, en dos capas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es del modelo; la otra, del código que escribe. Las dos se cuelan a un número que se ve bien.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02152" cy="1828800"/>
          </a:xfrm>
          <a:prstGeom prst="roundRect">
            <a:avLst>
              <a:gd name="adj" fmla="val 3000"/>
            </a:avLst>
          </a:prstGeom>
          <a:solidFill>
            <a:srgbClr val="F9E7E3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0312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A23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1: la IA no calcula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61488"/>
            <a:ext cx="3044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modelo de lenguaje predice el texto que sigue; no opera los números. Por eso no le pides el número, le pides el código.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20240"/>
            <a:ext cx="3502152" cy="1828800"/>
          </a:xfrm>
          <a:prstGeom prst="roundRect">
            <a:avLst>
              <a:gd name="adj" fmla="val 3000"/>
            </a:avLst>
          </a:prstGeom>
          <a:solidFill>
            <a:srgbClr val="FCF3DD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210312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8A6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2: el código es frágil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761488"/>
            <a:ext cx="3044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Aun ejecutable, una fórmula ingenua se rompe: los decimales no son exactos, y restar números grandes cancela la información.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502152" cy="1828800"/>
          </a:xfrm>
          <a:prstGeom prst="roundRect">
            <a:avLst>
              <a:gd name="adj" fmla="val 3000"/>
            </a:avLst>
          </a:prstGeom>
          <a:solidFill>
            <a:srgbClr val="E7F2EA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66760" y="210312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2E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cura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2761488"/>
            <a:ext cx="3044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 código use funciones probadas, no fórmulas de libro; y verificar el número contra un caso conocido.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11091672" cy="1371600"/>
          </a:xfrm>
          <a:prstGeom prst="roundRect">
            <a:avLst>
              <a:gd name="adj" fmla="val 4000"/>
            </a:avLst>
          </a:prstGeom>
          <a:solidFill>
            <a:srgbClr val="15293B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187952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Ejecutable no es lo mismo que correcto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572000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4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el cálculo del chat y ponerlo en código resuelve la primera capa: una máquina de verdad opera, no adivina. Pero el código que la IA escribe todavía puede ser numéricamente ingenuo. La computadora hace exactamente lo que dice la fórmula, y si la fórmula es frágil, corre sin error y devuelve un número falso.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6053328"/>
            <a:ext cx="11091672" cy="603504"/>
          </a:xfrm>
          <a:prstGeom prst="rect">
            <a:avLst/>
          </a:prstGeom>
          <a:solidFill>
            <a:srgbClr val="FBEEE5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6272784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B5E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" y="6053328"/>
            <a:ext cx="10405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3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chat adivina el número; el código ingenuo lo calcula mal con seguridad. La segunda trampa es peor, porque parece rigor.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sin error, y el número está mal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hechos que cualquiera puede reproducir en R, y que ninguna advertencia señala.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EEF2F5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DECIMALES NO SON EXACTOS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323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 + 0.2 == 0.3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80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3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pPr indent="0" marL="0">
              <a:buNone/>
            </a:pPr>
            <a:r>
              <a:rPr lang="en-US" sz="12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el resultado real es 0.30000000000000004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computadora guarda los decimales en binario, y muchos no caben exactos. El error es diminuto, hasta que se acumula.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5352" y="19202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F9E7E3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9672" y="21031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23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FÓRMULA INGENUA DE LA VARIANZA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4323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 de  1,000,000,004 · 005 · 006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519672" y="2880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correcta: 1</a:t>
            </a:r>
            <a:pPr indent="0" marL="0">
              <a:buNone/>
            </a:pPr>
            <a:r>
              <a:rPr lang="en-US" sz="13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fórmula ingenua: </a:t>
            </a:r>
            <a:pPr indent="0" marL="0">
              <a:buNone/>
            </a:pPr>
            <a:r>
              <a:rPr lang="en-US" sz="1500" b="1" dirty="0">
                <a:solidFill>
                  <a:srgbClr val="A23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519672" y="32918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números que difieren de uno en uno: su varianza es uno. Restar sus cuadrados, casi iguales y enormes, cancela todo y da cero.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6053328"/>
            <a:ext cx="11091672" cy="603504"/>
          </a:xfrm>
          <a:prstGeom prst="rect">
            <a:avLst/>
          </a:prstGeom>
          <a:solidFill>
            <a:srgbClr val="FBEEE5"/>
          </a:solidFill>
          <a:ln/>
        </p:spPr>
      </p:sp>
      <p:sp>
        <p:nvSpPr>
          <p:cNvPr id="15" name="Shape 13"/>
          <p:cNvSpPr/>
          <p:nvPr/>
        </p:nvSpPr>
        <p:spPr>
          <a:xfrm>
            <a:off x="749808" y="6272784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B5E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51560" y="6053328"/>
            <a:ext cx="10405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3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chat adivina el número; el código ingenuo devuelve cero para datos cuya varianza es uno, sin un solo error. Usar var(), no la fórmula de libro, es la diferencia.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68880"/>
            <a:ext cx="1371600" cy="1371600"/>
          </a:xfrm>
          <a:prstGeom prst="ellipse">
            <a:avLst/>
          </a:prstGeom>
          <a:solidFill>
            <a:srgbClr val="CB5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46888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514600" y="2670048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5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514600" y="3072384"/>
            <a:ext cx="9052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entorno que cambió, y la IA que varía</a:t>
            </a:r>
            <a:endParaRPr lang="en-US" sz="2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código puede dar distinto en otra máquina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semilla fija el azar; falta fijar todo lo demás que el número toca.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02152" cy="1828800"/>
          </a:xfrm>
          <a:prstGeom prst="roundRect">
            <a:avLst>
              <a:gd name="adj" fmla="val 3000"/>
            </a:avLst>
          </a:prstGeom>
          <a:solidFill>
            <a:srgbClr val="EEF2F5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03120"/>
            <a:ext cx="3044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versiones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78608"/>
            <a:ext cx="3044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 versión de un paquete puede cambiar un default o un cálculo. El mismo código, otro resultado, sin que nadie lo tocara.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20240"/>
            <a:ext cx="3502152" cy="1828800"/>
          </a:xfrm>
          <a:prstGeom prst="roundRect">
            <a:avLst>
              <a:gd name="adj" fmla="val 3000"/>
            </a:avLst>
          </a:prstGeom>
          <a:solidFill>
            <a:srgbClr val="EEF2F5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2103120"/>
            <a:ext cx="3044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insumo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578608"/>
            <a:ext cx="3044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archivo de datos se editó, el número cambia aunque el código sea idéntico. El insumo se fija y se describe.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502152" cy="1828800"/>
          </a:xfrm>
          <a:prstGeom prst="roundRect">
            <a:avLst>
              <a:gd name="adj" fmla="val 3000"/>
            </a:avLst>
          </a:prstGeom>
          <a:solidFill>
            <a:srgbClr val="F9E7E3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66760" y="2103120"/>
            <a:ext cx="3044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3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que varía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2578608"/>
            <a:ext cx="3044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prompt puede dar código distinto en cada corrida o a cada persona. Un asistente no es determinista.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11091672" cy="1371600"/>
          </a:xfrm>
          <a:prstGeom prst="roundRect">
            <a:avLst>
              <a:gd name="adj" fmla="val 4000"/>
            </a:avLst>
          </a:prstGeom>
          <a:solidFill>
            <a:srgbClr val="15293B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187952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fija el flujo, no el prompt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572000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4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sirve guardar el prompt que le diste a la IA, porque mañana el mismo prompt da otro código. Lo que se guarda y se comparte es el flujo terminado: el código, la semilla, el insumo fijo y las versiones (sessionInfo o renv). Ese paquete corre igual en otra máquina; el prompt no.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6053328"/>
            <a:ext cx="11091672" cy="603504"/>
          </a:xfrm>
          <a:prstGeom prst="rect">
            <a:avLst/>
          </a:prstGeom>
          <a:solidFill>
            <a:srgbClr val="FBEEE5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6272784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B5E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" y="6053328"/>
            <a:ext cx="10405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3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artefacto reproducible es el flujo, no la conversación con la IA. La IA ayuda a escribirlo; una vez escrito, se fija y deja de depender de ella.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no es determinista, el flujo sí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nuestra prueba con DeepSeek, dos formas del mismo pedido dieron dos análisis distintos. Lo que se fija no es lo que le pediste, es lo que quedó escrito.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F9E7E3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23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VARÍA: LA IA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5059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problema, dos códigos distintos, según cómo se pida y en qué corrida.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temperatura mayor que cero, dos personas con el mismo prompt reciben respuestas que no coinciden. Guardar el prompt no basta para reproducir.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45352" y="19202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E7F2EA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FIJA: EL FLUJO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45059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código, la semilla, el insumo y las versiones, en un archivo que se vuelve a correr.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30175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sessionInfo() deja registro de las versiones; renv las congela. La prueba final: reiniciar y correr todo de cero, y obtener el mismo número.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6053328"/>
            <a:ext cx="11091672" cy="603504"/>
          </a:xfrm>
          <a:prstGeom prst="rect">
            <a:avLst/>
          </a:prstGeom>
          <a:solidFill>
            <a:srgbClr val="FBEEE5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6272784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B5E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" y="6053328"/>
            <a:ext cx="10405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3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prueba de fuego es reiniciar y correr todo de arriba a abajo. Si el número no sale igual, algo quedó fuera del flujo, y no es reproducible.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de verdad: la lista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candados para que un número corra igual otra vez, para otra persona, en otra máquina.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017520" cy="566928"/>
          </a:xfrm>
          <a:prstGeom prst="rect">
            <a:avLst/>
          </a:prstGeom>
          <a:solidFill>
            <a:srgbClr val="15293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candado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566160" y="1874520"/>
            <a:ext cx="4023360" cy="566928"/>
          </a:xfrm>
          <a:prstGeom prst="rect">
            <a:avLst/>
          </a:prstGeom>
          <a:solidFill>
            <a:srgbClr val="15293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61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evita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589520" y="1874520"/>
            <a:ext cx="4050792" cy="566928"/>
          </a:xfrm>
          <a:prstGeom prst="rect">
            <a:avLst/>
          </a:prstGeom>
          <a:solidFill>
            <a:srgbClr val="15293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0" y="1874520"/>
            <a:ext cx="4050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441448"/>
            <a:ext cx="3017520" cy="566928"/>
          </a:xfrm>
          <a:prstGeom prst="rect">
            <a:avLst/>
          </a:prstGeom>
          <a:solidFill>
            <a:srgbClr val="EEF2F5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441448"/>
            <a:ext cx="2926080" cy="56692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el azar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566160" y="2441448"/>
            <a:ext cx="4023360" cy="566928"/>
          </a:xfrm>
          <a:prstGeom prst="rect">
            <a:avLst/>
          </a:prstGeom>
          <a:solidFill>
            <a:srgbClr val="EEF2F5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11880" y="244144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el remuestreo o la simulación cambie cada corrida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589520" y="2441448"/>
            <a:ext cx="4050792" cy="566928"/>
          </a:xfrm>
          <a:prstGeom prst="rect">
            <a:avLst/>
          </a:prstGeom>
          <a:solidFill>
            <a:srgbClr val="EEF2F5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35240" y="2441448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set.seed(n) antes de cualquier azar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008376"/>
            <a:ext cx="30175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008376"/>
            <a:ext cx="2926080" cy="56692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Aritmética robusta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566160" y="3008376"/>
            <a:ext cx="40233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11880" y="30083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el código corra y devuelva un número falso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589520" y="3008376"/>
            <a:ext cx="405079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35240" y="3008376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funciones probadas (var, no la fórmula de libro)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3575304"/>
            <a:ext cx="3017520" cy="566928"/>
          </a:xfrm>
          <a:prstGeom prst="rect">
            <a:avLst/>
          </a:prstGeom>
          <a:solidFill>
            <a:srgbClr val="EEF2F5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4360" y="3575304"/>
            <a:ext cx="2926080" cy="56692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el entorno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566160" y="3575304"/>
            <a:ext cx="4023360" cy="566928"/>
          </a:xfrm>
          <a:prstGeom prst="rect">
            <a:avLst/>
          </a:prstGeom>
          <a:solidFill>
            <a:srgbClr val="EEF2F5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611880" y="357530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otra versión o el archivo editado muevan el número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589520" y="3575304"/>
            <a:ext cx="4050792" cy="566928"/>
          </a:xfrm>
          <a:prstGeom prst="rect">
            <a:avLst/>
          </a:prstGeom>
          <a:solidFill>
            <a:srgbClr val="EEF2F5"/>
          </a:solidFill>
          <a:ln w="6350">
            <a:solidFill>
              <a:srgbClr val="D5DC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35240" y="3575304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insumo fijo + sessionInfo o renv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4251960"/>
            <a:ext cx="11091672" cy="1463040"/>
          </a:xfrm>
          <a:prstGeom prst="roundRect">
            <a:avLst>
              <a:gd name="adj" fmla="val 3750"/>
            </a:avLst>
          </a:prstGeom>
          <a:solidFill>
            <a:srgbClr val="15293B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4416552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artefacto es el flujo, y la prueba es reiniciar y correr todo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68680" y="480060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4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ayuda a escribir el análisis; lo que se entrega y se defiende es el flujo terminado, no la conversación con ella. Con los tres candados puestos, cualquiera reinicia el documento, lo corre de cero, y obtiene el mismo número que ustedes. Ese es el estándar que evalúa la rúbrica técnica.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trabajar reproducible con la IA, y qué no se delega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asistente escribe rápido; la disciplina de que el número se repita es suya.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3108960"/>
          </a:xfrm>
          <a:prstGeom prst="roundRect">
            <a:avLst>
              <a:gd name="adj" fmla="val 1765"/>
            </a:avLst>
          </a:prstGeom>
          <a:solidFill>
            <a:srgbClr val="E7F2EA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140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E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LE PIDE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42032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fije la semilla en todo lo que use azar, y la deje visible.</a:t>
            </a:r>
            <a:endParaRPr lang="en-US" sz="1250" dirty="0"/>
          </a:p>
          <a:p>
            <a:pPr marL="342900" indent="-3429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use funciones probadas, no fórmulas de libro para varianza o regresión.</a:t>
            </a:r>
            <a:endParaRPr lang="en-US" sz="1250" dirty="0"/>
          </a:p>
          <a:p>
            <a:pPr marL="342900" indent="-3429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documente el insumo y registre versiones (sessionInfo).</a:t>
            </a:r>
            <a:endParaRPr lang="en-US" sz="1250" dirty="0"/>
          </a:p>
          <a:p>
            <a:pPr marL="342900" indent="-3429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código, no el número; y que corra de cero, de arriba a abajo.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45352" y="1920240"/>
            <a:ext cx="5394960" cy="3108960"/>
          </a:xfrm>
          <a:prstGeom prst="roundRect">
            <a:avLst>
              <a:gd name="adj" fmla="val 1765"/>
            </a:avLst>
          </a:prstGeom>
          <a:solidFill>
            <a:srgbClr val="EEF2F5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212140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B5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SE DELEGA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542032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que el número se calculó, no se adivinó, y contra un caso conocido.</a:t>
            </a:r>
            <a:endParaRPr lang="en-US" sz="1250" dirty="0"/>
          </a:p>
          <a:p>
            <a:pPr marL="342900" indent="-3429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cuándo una fórmula es numéricamente frágil.</a:t>
            </a:r>
            <a:endParaRPr lang="en-US" sz="1250" dirty="0"/>
          </a:p>
          <a:p>
            <a:pPr marL="342900" indent="-3429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Reiniciar y correr todo para comprobar que reproduce.</a:t>
            </a:r>
            <a:endParaRPr lang="en-US" sz="1250" dirty="0"/>
          </a:p>
          <a:p>
            <a:pPr marL="342900" indent="-3429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Archivar el flujo terminado, no la conversación con la IA.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6053328"/>
            <a:ext cx="11091672" cy="603504"/>
          </a:xfrm>
          <a:prstGeom prst="rect">
            <a:avLst/>
          </a:prstGeom>
          <a:solidFill>
            <a:srgbClr val="FBEEE5"/>
          </a:solidFill>
          <a:ln/>
        </p:spPr>
      </p:sp>
      <p:sp>
        <p:nvSpPr>
          <p:cNvPr id="11" name="Shape 9"/>
          <p:cNvSpPr/>
          <p:nvPr/>
        </p:nvSpPr>
        <p:spPr>
          <a:xfrm>
            <a:off x="749808" y="6272784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B5E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6053328"/>
            <a:ext cx="10405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3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es rapidísima escribiendo el flujo. Que ese flujo reproduzca el mismo número, otra vez y para otro, es responsabilidad de ustedes.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68880"/>
            <a:ext cx="1371600" cy="1371600"/>
          </a:xfrm>
          <a:prstGeom prst="ellipse">
            <a:avLst/>
          </a:prstGeom>
          <a:solidFill>
            <a:srgbClr val="CB5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46888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514600" y="2670048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5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Y TAREA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514600" y="3072384"/>
            <a:ext cx="9052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el azar, cazar la fórmula frágil, dejar el flujo reproducible</a:t>
            </a:r>
            <a:endParaRPr lang="en-US" sz="2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turno, y de tarea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el mismo microdato de la Sesión 7 (datos_encuesta_sintetica.csv). Tres tareas, en R Markdown.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02152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39112"/>
            <a:ext cx="457200" cy="457200"/>
          </a:xfrm>
          <a:prstGeom prst="ellipse">
            <a:avLst/>
          </a:prstGeom>
          <a:solidFill>
            <a:srgbClr val="CB5E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75688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semilla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24328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el azar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54680"/>
            <a:ext cx="3044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Bootstrapea el error estándar del efecto del programa con y sin set.seed. Muestra que solo con la semilla obtienes el mismo número dos veces.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502152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2039112"/>
            <a:ext cx="457200" cy="457200"/>
          </a:xfrm>
          <a:prstGeom prst="ellipse">
            <a:avLst/>
          </a:prstGeom>
          <a:solidFill>
            <a:srgbClr val="CB5E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166360" y="2075688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aritmética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24328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Cazar la fórmula frágil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154680"/>
            <a:ext cx="3044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damos una función de varianza escrita a mano que devuelve cero. Diagnostica por qué y arréglala con la función probada.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1783080"/>
            <a:ext cx="3502152" cy="2743200"/>
          </a:xfrm>
          <a:prstGeom prst="roundRect">
            <a:avLst>
              <a:gd name="adj" fmla="val 2000"/>
            </a:avLst>
          </a:prstGeom>
          <a:solidFill>
            <a:srgbClr val="EEF2F5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66760" y="2039112"/>
            <a:ext cx="457200" cy="457200"/>
          </a:xfrm>
          <a:prstGeom prst="ellipse">
            <a:avLst/>
          </a:prstGeom>
          <a:solidFill>
            <a:srgbClr val="CB5E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6676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2075688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2624328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 el flujo reproducible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8366760" y="3154680"/>
            <a:ext cx="3044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 semilla, insumo fijo y sessionInfo. Reinicia y corre todo de cero, y comprueba que el número no cambia.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754880"/>
            <a:ext cx="11091672" cy="960120"/>
          </a:xfrm>
          <a:prstGeom prst="roundRect">
            <a:avLst>
              <a:gd name="adj" fmla="val 5714"/>
            </a:avLst>
          </a:prstGeom>
          <a:solidFill>
            <a:srgbClr val="15293B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90118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5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DURA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5212080"/>
            <a:ext cx="10451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4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entregable tiene que reproducir: si al reiniciar y correr todo el número cambia, no está terminado. Reproducir es el criterio, no que haya corrido una vez.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9893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Entregable: Laboratorio_S08.Rmd tejido a HTML (R). En clase se arranca la parte 1; las tres partes, más una auditoría de código de IA, se terminan de tarea.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llevan y qué entregan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del bloque de reproducibilidad y puente a la Sesión 9.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EEF2F5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5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ideas del día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código usa azar, la semilla decide si tu número se puede repetir.</a:t>
            </a:r>
            <a:endParaRPr lang="en-US" sz="13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Ejecutable no es correcto: una fórmula frágil corre y miente; usa funciones probadas.</a:t>
            </a:r>
            <a:endParaRPr lang="en-US" sz="13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fija el flujo, no el prompt; y la prueba es reiniciar y correr todo.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45352" y="1874520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5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entregable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4688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Laboratorio_S08.Rmd tejido a HTML, con las tres tareas resueltas.</a:t>
            </a:r>
            <a:endParaRPr lang="en-US" sz="13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bootstrap reproducible, una fórmula frágil diagnosticada y corregida.</a:t>
            </a:r>
            <a:endParaRPr lang="en-US" sz="13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flujo con semilla, insumo fijo y versiones, que corre igual de cero.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434840"/>
            <a:ext cx="11091672" cy="1371600"/>
          </a:xfrm>
          <a:prstGeom prst="roundRect">
            <a:avLst>
              <a:gd name="adj" fmla="val 4000"/>
            </a:avLst>
          </a:prstGeom>
          <a:solidFill>
            <a:srgbClr val="15293B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599432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abre la Sesión 9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83480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4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tienen las dos mitades del bloque cuantitativo: hacer bien el estimado (Sesión 7) y hacerlo reproducible (hoy). La Sesión 9 las junta en el Laboratorio Cuantitativo Aplicado, de principio a fin sobre el mismo tipo de microdato, con un error de la IA plantado que tendrán que cazar, y el entregable reproducible que evalúa la rúbrica técnica.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0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quien quiera ir al origen de cada idea.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B5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REPRODUCIBILIDAD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 (2011). «Reproducible Research in Computational Science». Science 334(6060).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R Markdown y de renv (entornos y versiones fijas). Jupyter y Colab son el equivalente en Python.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semillas y aleatoriedad: documentación de set.seed y del muestreo en R.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B5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NUMÉRICO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24028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Goldberg (1991). «What Every Computer Scientist Should Know About Floating-Point Arithmetic». ACM.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9718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Higham (2002). «Accuracy and Stability of Numerical Algorithms». La referencia de cancelación y estabilidad.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7033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Welford (1962) y el algoritmo estable de varianza que usa var() en R.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2026-09-23T00:38:55Z</dcterms:created>
  <dcterms:modified xsi:type="dcterms:W3CDTF">2026-09-23T00:38:55Z</dcterms:modified>
</cp:coreProperties>
</file>