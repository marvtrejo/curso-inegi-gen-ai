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minutos. Encuadre: en la Sesion 7 aprendimos a pedir analisis, depurar datos y verificar el numero. Hoy damos el paso que hace ese numero defendible ante otros: que sea reproducible. Tres ideas: el notebook como documento que se vuelve a correr, que significa 100% reproducible, y por que el calculo va en codigo ejecutable y no en el chat. Aqui tambien aterriza el agente de codigo. Terminamos 13:30.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minutos. Mismo formato que la 6 y la 7: concepto antes de la practica. La practica de hoy es en parte una auditoria (encontrar que rompe la reproducibilidad), asi que funciona igual para quien no programa. Nomenclatura: el Laboratorio Practico 3 del contrato es la Sesion 9; lo de hoy es practica guiada. Si va retrasado, acorte el receso, no la practica.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minutos, el mapa del dia. Conecte con la 7: acaban de vivir que limpiar a mano no escala ni se documenta solo. Las tres preguntas son los tres bloques. La del chat (la 3) suele sorprender a los no tecnicos: creen que si el modelo escribe una cifra, la calculo. Aterrice la frase del banner: reproducible es mismo insumo mas mismos pasos igual a mismo resultado, para cualquiera.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Divisor, un minuto. Unos 28 minutos al receso. La idea: un notebook no es un lugar para escribir Python, es un documento que registra un analisis y se puede volver a correr, y es el hogar seguro de un agente de codigo.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minutos. La imagen que se llevan: un notebook es como un documento de Word donde algunos parrafos son codigo que de verdad corre y deja su resultado pegado debajo. Por eso sirve para evaluacion: no es solo el numero, es el numero con su receta y su justificacion en el mismo lugar. Jupyter local da control pero requiere instalacion (solicitud a sistemas aqui). Colab es el mismo notebook en la nube sin instalar, comodo, pero es servicio externo y por eso el dato que sube importa, lo vemos en el semaforo. Recuerde la realidad del curso: Colab sigue en veremos, asi que hoy sera sobre todo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Seis minutos, y es la lamina que pidieron ubicar. El contraste es todo: un agente en un chat te da el numero sin el como (caja negra); el mismo agente dentro de un notebook deja el codigo a la vista y re-corrible (auditable). Por eso el agente conviene de esta sesion en adelante, no antes: primero (Sesion 7) construimos el reflejo de verificar; aqui le damos el envoltorio que lo hace seguro. La frase clave: ayudante para el trabajo, no para el juicio. Y los avisos practicos del pie: demo del instructor, seis a mano, resto en Excel, y semaforo para datos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Divisor, un minuto. Reproducible es una palabra que se usa suelta; aqui la definimos con precision y vemos que la rompe.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minutos. La regla es corta y hay que repetirla: mismo insumo mas mismos pasos igual a mismo resultado, para cualquiera y en cualquier maquina. Las dos piezas: los pasos como codigo (no clics) y el porque como markdown. Conecte fuerte con la 7: la bitacora que llenaron a mano es esto mismo, pero escrito como codigo que se corre. Ahi la limpieza deja de ser un acto de 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Seis minutos, el ejemplo trabajado del dia. El estado oculto es el error mas comun y el mas traicionero: el notebook muestra 3,200 porque esa variable quedo en memoria, pero al reiniciar y correr en orden da 2,000 porque la celda de limpieza no estaba donde debia. Use los mismos numeros de la Sesion 7 para que reconozcan el caso. Los otros dos enemigos son el arreglo manual no escrito y el insumo que cambia. Los tres se curan igual, en la lamina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minutos. La prueba de fuego es concreta y exigible: reiniciar y correr todo. Si no sale igual, no cuenta. La consecuencia es la que cuesta interiorizar: todo arreglo manual tiene que volverse codigo. En Excel el equivalente para los que no programan es una receta ordenada y escrita, que veremos en la practica. Los tres habitos son la version accionable. Cierre conectando con la 7: esto es la bitacora en su forma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Divisor, un minuto. La justificacion tecnica que pide el temario: la IA de chat no calcula, predice; el codigo ejecutable es la cura. Es el porque de fondo de todo el modulo.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Seis minutos, el corazon conceptual. La idea que se llevan: un modelo de lenguaje predice el siguiente token que suena bien; no tiene una calculadora adentro. Por eso cuenta mal una tabla y multiplica mal numeros grandes: estima el resultado. Los dos ejemplos son concretos y verificables: el conteo del Norte da 6 exacto por codigo; 4,827 por 3,916 da 18,902,532. El punto fino del banner: lo peligroso es que se equivoca por poco, un numero casi correcto con total seguridad. No es cosa de mejor prompt, es la naturaleza del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minutos. La cura en una frase: no le pidas el numero, pidele el codigo que lo calcula. Eso mueve la aritmetica de la adivinanza del modelo a la ejecucion de una maquina real, y de paso te deja el codigo para leerlo. Aqui cierra el arco del agente: el agente es mas confiable que el chat porque corre el codigo, no lo narra, pero solo si puedes revisarlo. Ejecutar a ciegas no es mejor que adivinar. Es la union de los tres bloques.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minutos, lamina de sintesis. Es el mapa de todo el tramo cuantitativo del curso. Los tres primeros pasos son la Sesion 7, los dos ultimos la 8. Enfatice que un numero correcto sin documentar ni reproducir sigue siendo indefendible ante un comite, porque nadie mas lo puede obtener. Este flujo es tambien el molde del laboratorio aplicado de la Sesion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minutos. El giro de hoy: Colab y los agentes suelen ser servicios externos en la nube, asi que subir un microdato real ahi es sacar el dato del Instituto. Por eso lo ficticio (verde) corre en cualquier lado, lo amarillo solo en entornos institucionales, y lo rojo en ninguno. Recuerdeles que el material de la practica es ficticio para poder usar la nube sin riesgo. La regla de siempre: el dato decide la herramienta, y ahora tambien decide donde corre.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Divisor. Practica corta en tres partes: auditar la reproducibilidad de un analisis, comparar chat contra codigo, y escribir la receta reproducible. Los entregables son concretos y no requieren programar. Treinta y ocho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 en dos minutos y suelte, con avisos a los cortes. Parte 1 (14 min): la lista trae siete practicas; cuatro rompen reproducibilidad (arreglo manual, correr fuera de orden, insumo que cambia, sin documentar) y tres no. La hoja tiene comprobacion. Parte 2 (12 min): que argumenten por que el codigo, no que adivinen; el conteo del Norte da 6 y el chat suele fallar. Parte 3 (12 min): la receta debe llevar a 3,200 y ser seguible por otro; es la bitacora ordenada. Los seis que programan corren el notebook y ayudan a su mesa; el instructor hace la demo del agente al inicio de la practica.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minutos. Repase las tres ideas y confirme los entregables. El puente a la 9 es directo: junta todo el tramo cuantitativo en un laboratorio de principio a fin sobre datos mas grandes, y ahi la rubrica tecnica evalua el entregable reproducible. Agradezca y cierre a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Lamina de referencia. No se lee en clase; sostiene el argumento de reproducibilidad y el de por que los modelos de chat fallan en calculo si el area tecnica pregunta.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93B"/>
        </a:solidFill>
      </p:bgPr>
    </p:bg>
    <p:spTree>
      <p:nvGrpSpPr>
        <p:cNvPr id="1" name=""/>
        <p:cNvGrpSpPr/>
        <p:nvPr/>
      </p:nvGrpSpPr>
      <p:grpSpPr>
        <a:xfrm>
          <a:off x="0" y="0"/>
          <a:ext cx="0" cy="0"/>
          <a:chOff x="0" y="0"/>
          <a:chExt cx="0" cy="0"/>
        </a:xfrm>
      </p:grpSpPr>
      <p:sp>
        <p:nvSpPr>
          <p:cNvPr id="2" name="Shape 0"/>
          <p:cNvSpPr/>
          <p:nvPr/>
        </p:nvSpPr>
        <p:spPr>
          <a:xfrm>
            <a:off x="9784080" y="-1188720"/>
            <a:ext cx="3566160" cy="3566160"/>
          </a:xfrm>
          <a:prstGeom prst="ellipse">
            <a:avLst/>
          </a:prstGeom>
          <a:solidFill>
            <a:srgbClr val="20384F"/>
          </a:solidFill>
          <a:ln/>
        </p:spPr>
      </p:sp>
      <p:sp>
        <p:nvSpPr>
          <p:cNvPr id="3" name="Shape 1"/>
          <p:cNvSpPr/>
          <p:nvPr/>
        </p:nvSpPr>
        <p:spPr>
          <a:xfrm>
            <a:off x="10881360" y="4572000"/>
            <a:ext cx="2560320" cy="2560320"/>
          </a:xfrm>
          <a:prstGeom prst="ellipse">
            <a:avLst/>
          </a:prstGeom>
          <a:solidFill>
            <a:srgbClr val="CB5E2E"/>
          </a:solidFill>
          <a:ln/>
        </p:spPr>
      </p:sp>
      <p:sp>
        <p:nvSpPr>
          <p:cNvPr id="4" name="Text 2"/>
          <p:cNvSpPr txBox="1"/>
          <p:nvPr/>
        </p:nvSpPr>
        <p:spPr>
          <a:xfrm>
            <a:off x="822960" y="1417320"/>
            <a:ext cx="10058400" cy="365760"/>
          </a:xfrm>
          <a:prstGeom prst="rect">
            <a:avLst/>
          </a:prstGeom>
          <a:noFill/>
          <a:ln/>
        </p:spPr>
        <p:txBody>
          <a:bodyPr wrap="square" lIns="0" tIns="0" rIns="0" bIns="0" rtlCol="0" anchor="ctr"/>
          <a:lstStyle/>
          <a:p>
            <a:pPr indent="0" marL="0">
              <a:buNone/>
            </a:pPr>
            <a:r>
              <a:rPr lang="en-US" sz="1300" b="1" spc="300" kern="0" dirty="0">
                <a:solidFill>
                  <a:srgbClr val="E58A5B"/>
                </a:solidFill>
                <a:latin typeface="Calibri" pitchFamily="34" charset="0"/>
                <a:ea typeface="Calibri" pitchFamily="34" charset="-122"/>
                <a:cs typeface="Calibri" pitchFamily="34" charset="-120"/>
              </a:rPr>
              <a:t>MÓDULO III · SESIÓN 8</a:t>
            </a:r>
            <a:endParaRPr lang="en-US" sz="1300" dirty="0"/>
          </a:p>
        </p:txBody>
      </p:sp>
      <p:sp>
        <p:nvSpPr>
          <p:cNvPr id="5" name="Text 3"/>
          <p:cNvSpPr txBox="1"/>
          <p:nvPr/>
        </p:nvSpPr>
        <p:spPr>
          <a:xfrm>
            <a:off x="822960" y="2103120"/>
            <a:ext cx="10515600" cy="1645920"/>
          </a:xfrm>
          <a:prstGeom prst="rect">
            <a:avLst/>
          </a:prstGeom>
          <a:noFill/>
          <a:ln/>
        </p:spPr>
        <p:txBody>
          <a:bodyPr wrap="square" lIns="0" tIns="0" rIns="0" bIns="0" rtlCol="0" anchor="ctr"/>
          <a:lstStyle/>
          <a:p>
            <a:pPr indent="0" marL="0">
              <a:lnSpc>
                <a:spcPct val="98000"/>
              </a:lnSpc>
              <a:buNone/>
            </a:pPr>
            <a:r>
              <a:rPr lang="en-US" sz="3400" b="1" dirty="0">
                <a:solidFill>
                  <a:srgbClr val="FFFFFF"/>
                </a:solidFill>
                <a:latin typeface="Calibri" pitchFamily="34" charset="0"/>
                <a:ea typeface="Calibri" pitchFamily="34" charset="-122"/>
                <a:cs typeface="Calibri" pitchFamily="34" charset="-120"/>
              </a:rPr>
              <a:t>Entornos reproducibles: del número a un procedimiento que cualquiera repite</a:t>
            </a:r>
            <a:endParaRPr lang="en-US" sz="3400" dirty="0"/>
          </a:p>
        </p:txBody>
      </p:sp>
      <p:sp>
        <p:nvSpPr>
          <p:cNvPr id="6" name="Text 4"/>
          <p:cNvSpPr txBox="1"/>
          <p:nvPr/>
        </p:nvSpPr>
        <p:spPr>
          <a:xfrm>
            <a:off x="822960" y="3977640"/>
            <a:ext cx="10058400" cy="457200"/>
          </a:xfrm>
          <a:prstGeom prst="rect">
            <a:avLst/>
          </a:prstGeom>
          <a:noFill/>
          <a:ln/>
        </p:spPr>
        <p:txBody>
          <a:bodyPr wrap="square" lIns="0" tIns="0" rIns="0" bIns="0" rtlCol="0" anchor="ctr"/>
          <a:lstStyle/>
          <a:p>
            <a:pPr indent="0" marL="0">
              <a:buNone/>
            </a:pPr>
            <a:r>
              <a:rPr lang="en-US" sz="1600" dirty="0">
                <a:solidFill>
                  <a:srgbClr val="E4EAF0"/>
                </a:solidFill>
                <a:latin typeface="Calibri" pitchFamily="34" charset="0"/>
                <a:ea typeface="Calibri" pitchFamily="34" charset="-122"/>
                <a:cs typeface="Calibri" pitchFamily="34" charset="-120"/>
              </a:rPr>
              <a:t>Notebooks (Jupyter y Colab), agentes de código, y por qué el cálculo va en código y no en el chat</a:t>
            </a:r>
            <a:endParaRPr lang="en-US" sz="1600" dirty="0"/>
          </a:p>
        </p:txBody>
      </p:sp>
      <p:sp>
        <p:nvSpPr>
          <p:cNvPr id="7" name="Shape 5"/>
          <p:cNvSpPr/>
          <p:nvPr/>
        </p:nvSpPr>
        <p:spPr>
          <a:xfrm>
            <a:off x="841248" y="4828032"/>
            <a:ext cx="2926080" cy="0"/>
          </a:xfrm>
          <a:prstGeom prst="line">
            <a:avLst/>
          </a:prstGeom>
          <a:noFill/>
          <a:ln w="25400">
            <a:solidFill>
              <a:srgbClr val="CB5E2E"/>
            </a:solidFill>
            <a:prstDash val="solid"/>
          </a:ln>
        </p:spPr>
      </p:sp>
      <p:sp>
        <p:nvSpPr>
          <p:cNvPr id="8" name="Text 6"/>
          <p:cNvSpPr txBox="1"/>
          <p:nvPr/>
        </p:nvSpPr>
        <p:spPr>
          <a:xfrm>
            <a:off x="822960" y="5029200"/>
            <a:ext cx="10058400" cy="365760"/>
          </a:xfrm>
          <a:prstGeom prst="rect">
            <a:avLst/>
          </a:prstGeom>
          <a:noFill/>
          <a:ln/>
        </p:spPr>
        <p:txBody>
          <a:bodyPr wrap="square" lIns="0" tIns="0" rIns="0" bIns="0" rtlCol="0" anchor="ctr"/>
          <a:lstStyle/>
          <a:p>
            <a:pPr indent="0" marL="0">
              <a:buNone/>
            </a:pPr>
            <a:r>
              <a:rPr lang="en-US" sz="1300" dirty="0">
                <a:solidFill>
                  <a:srgbClr val="E4EAF0"/>
                </a:solidFill>
                <a:latin typeface="Calibri" pitchFamily="34" charset="0"/>
                <a:ea typeface="Calibri" pitchFamily="34" charset="-122"/>
                <a:cs typeface="Calibri" pitchFamily="34" charset="-120"/>
              </a:rPr>
              <a:t>Curso de Inteligencia Artificial Aplicada · INEGI 2026</a:t>
            </a:r>
            <a:endParaRPr lang="en-US" sz="1300" dirty="0"/>
          </a:p>
        </p:txBody>
      </p:sp>
      <p:sp>
        <p:nvSpPr>
          <p:cNvPr id="9" name="Text 7"/>
          <p:cNvSpPr txBox="1"/>
          <p:nvPr/>
        </p:nvSpPr>
        <p:spPr>
          <a:xfrm>
            <a:off x="822960" y="5376672"/>
            <a:ext cx="10058400" cy="365760"/>
          </a:xfrm>
          <a:prstGeom prst="rect">
            <a:avLst/>
          </a:prstGeom>
          <a:noFill/>
          <a:ln/>
        </p:spPr>
        <p:txBody>
          <a:bodyPr wrap="square" lIns="0" tIns="0" rIns="0" bIns="0" rtlCol="0" anchor="ctr"/>
          <a:lstStyle/>
          <a:p>
            <a:pPr indent="0" marL="0">
              <a:buNone/>
            </a:pPr>
            <a:r>
              <a:rPr lang="en-US" sz="1300" dirty="0">
                <a:solidFill>
                  <a:srgbClr val="60707E"/>
                </a:solidFill>
                <a:latin typeface="Calibri" pitchFamily="34" charset="0"/>
                <a:ea typeface="Calibri" pitchFamily="34" charset="-122"/>
                <a:cs typeface="Calibri" pitchFamily="34" charset="-120"/>
              </a:rPr>
              <a:t>Módulo III, Sesión 2 · continúa el bloque cuantitativo · 11:00 a 13:30 h</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Cómo usamos los 150 minutos</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Tres bloques de concepto, un receso y una práctica guiada.</a:t>
            </a:r>
            <a:endParaRPr lang="en-US" sz="1400" dirty="0"/>
          </a:p>
        </p:txBody>
      </p:sp>
      <p:sp>
        <p:nvSpPr>
          <p:cNvPr id="4" name="Shape 2"/>
          <p:cNvSpPr/>
          <p:nvPr/>
        </p:nvSpPr>
        <p:spPr>
          <a:xfrm>
            <a:off x="548640" y="1691640"/>
            <a:ext cx="11091672" cy="548640"/>
          </a:xfrm>
          <a:prstGeom prst="rect">
            <a:avLst/>
          </a:prstGeom>
          <a:solidFill>
            <a:srgbClr val="EEF2F5"/>
          </a:solidFill>
          <a:ln w="6350">
            <a:solidFill>
              <a:srgbClr val="D5DCE3"/>
            </a:solidFill>
            <a:prstDash val="solid"/>
          </a:ln>
        </p:spPr>
      </p:sp>
      <p:sp>
        <p:nvSpPr>
          <p:cNvPr id="5" name="Text 3"/>
          <p:cNvSpPr txBox="1"/>
          <p:nvPr/>
        </p:nvSpPr>
        <p:spPr>
          <a:xfrm>
            <a:off x="685800" y="1691640"/>
            <a:ext cx="1371600" cy="548640"/>
          </a:xfrm>
          <a:prstGeom prst="rect">
            <a:avLst/>
          </a:prstGeom>
          <a:noFill/>
          <a:ln/>
        </p:spPr>
        <p:txBody>
          <a:bodyPr wrap="square" lIns="0" tIns="0" rIns="0" bIns="0" rtlCol="0" anchor="ctr"/>
          <a:lstStyle/>
          <a:p>
            <a:pPr indent="0" marL="0">
              <a:buNone/>
            </a:pPr>
            <a:r>
              <a:rPr lang="en-US" sz="1700" b="1" dirty="0">
                <a:solidFill>
                  <a:srgbClr val="CB5E2E"/>
                </a:solidFill>
                <a:latin typeface="Cambria" pitchFamily="34" charset="0"/>
                <a:ea typeface="Cambria" pitchFamily="34" charset="-122"/>
                <a:cs typeface="Cambria" pitchFamily="34" charset="-120"/>
              </a:rPr>
              <a:t>11:00</a:t>
            </a:r>
            <a:endParaRPr lang="en-US" sz="1700" dirty="0"/>
          </a:p>
        </p:txBody>
      </p:sp>
      <p:sp>
        <p:nvSpPr>
          <p:cNvPr id="6" name="Text 4"/>
          <p:cNvSpPr txBox="1"/>
          <p:nvPr/>
        </p:nvSpPr>
        <p:spPr>
          <a:xfrm>
            <a:off x="2194560" y="1691640"/>
            <a:ext cx="9262872" cy="548640"/>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Apertura: de un número a un resultado defendible</a:t>
            </a:r>
            <a:endParaRPr lang="en-US" sz="1400" dirty="0"/>
          </a:p>
        </p:txBody>
      </p:sp>
      <p:sp>
        <p:nvSpPr>
          <p:cNvPr id="7" name="Shape 5"/>
          <p:cNvSpPr/>
          <p:nvPr/>
        </p:nvSpPr>
        <p:spPr>
          <a:xfrm>
            <a:off x="548640" y="2240280"/>
            <a:ext cx="11091672" cy="548640"/>
          </a:xfrm>
          <a:prstGeom prst="rect">
            <a:avLst/>
          </a:prstGeom>
          <a:solidFill>
            <a:srgbClr val="FFFFFF"/>
          </a:solidFill>
          <a:ln w="6350">
            <a:solidFill>
              <a:srgbClr val="D5DCE3"/>
            </a:solidFill>
            <a:prstDash val="solid"/>
          </a:ln>
        </p:spPr>
      </p:sp>
      <p:sp>
        <p:nvSpPr>
          <p:cNvPr id="8" name="Text 6"/>
          <p:cNvSpPr txBox="1"/>
          <p:nvPr/>
        </p:nvSpPr>
        <p:spPr>
          <a:xfrm>
            <a:off x="685800" y="2240280"/>
            <a:ext cx="1371600" cy="548640"/>
          </a:xfrm>
          <a:prstGeom prst="rect">
            <a:avLst/>
          </a:prstGeom>
          <a:noFill/>
          <a:ln/>
        </p:spPr>
        <p:txBody>
          <a:bodyPr wrap="square" lIns="0" tIns="0" rIns="0" bIns="0" rtlCol="0" anchor="ctr"/>
          <a:lstStyle/>
          <a:p>
            <a:pPr indent="0" marL="0">
              <a:buNone/>
            </a:pPr>
            <a:r>
              <a:rPr lang="en-US" sz="1700" b="1" dirty="0">
                <a:solidFill>
                  <a:srgbClr val="CB5E2E"/>
                </a:solidFill>
                <a:latin typeface="Cambria" pitchFamily="34" charset="0"/>
                <a:ea typeface="Cambria" pitchFamily="34" charset="-122"/>
                <a:cs typeface="Cambria" pitchFamily="34" charset="-120"/>
              </a:rPr>
              <a:t>11:12</a:t>
            </a:r>
            <a:endParaRPr lang="en-US" sz="1700" dirty="0"/>
          </a:p>
        </p:txBody>
      </p:sp>
      <p:sp>
        <p:nvSpPr>
          <p:cNvPr id="9" name="Text 7"/>
          <p:cNvSpPr txBox="1"/>
          <p:nvPr/>
        </p:nvSpPr>
        <p:spPr>
          <a:xfrm>
            <a:off x="2194560" y="2240280"/>
            <a:ext cx="9262872" cy="548640"/>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Bloque 1 · El notebook y dónde vive el agente de código</a:t>
            </a:r>
            <a:endParaRPr lang="en-US" sz="1400" dirty="0"/>
          </a:p>
        </p:txBody>
      </p:sp>
      <p:sp>
        <p:nvSpPr>
          <p:cNvPr id="10" name="Shape 8"/>
          <p:cNvSpPr/>
          <p:nvPr/>
        </p:nvSpPr>
        <p:spPr>
          <a:xfrm>
            <a:off x="548640" y="2788920"/>
            <a:ext cx="11091672" cy="548640"/>
          </a:xfrm>
          <a:prstGeom prst="rect">
            <a:avLst/>
          </a:prstGeom>
          <a:solidFill>
            <a:srgbClr val="FBEEE5"/>
          </a:solidFill>
          <a:ln w="6350">
            <a:solidFill>
              <a:srgbClr val="D5DCE3"/>
            </a:solidFill>
            <a:prstDash val="solid"/>
          </a:ln>
        </p:spPr>
      </p:sp>
      <p:sp>
        <p:nvSpPr>
          <p:cNvPr id="11" name="Text 9"/>
          <p:cNvSpPr txBox="1"/>
          <p:nvPr/>
        </p:nvSpPr>
        <p:spPr>
          <a:xfrm>
            <a:off x="685800" y="2788920"/>
            <a:ext cx="1371600" cy="548640"/>
          </a:xfrm>
          <a:prstGeom prst="rect">
            <a:avLst/>
          </a:prstGeom>
          <a:noFill/>
          <a:ln/>
        </p:spPr>
        <p:txBody>
          <a:bodyPr wrap="square" lIns="0" tIns="0" rIns="0" bIns="0" rtlCol="0" anchor="ctr"/>
          <a:lstStyle/>
          <a:p>
            <a:pPr indent="0" marL="0">
              <a:buNone/>
            </a:pPr>
            <a:r>
              <a:rPr lang="en-US" sz="1700" b="1" dirty="0">
                <a:solidFill>
                  <a:srgbClr val="8C3E19"/>
                </a:solidFill>
                <a:latin typeface="Cambria" pitchFamily="34" charset="0"/>
                <a:ea typeface="Cambria" pitchFamily="34" charset="-122"/>
                <a:cs typeface="Cambria" pitchFamily="34" charset="-120"/>
              </a:rPr>
              <a:t>11:40</a:t>
            </a:r>
            <a:endParaRPr lang="en-US" sz="1700" dirty="0"/>
          </a:p>
        </p:txBody>
      </p:sp>
      <p:sp>
        <p:nvSpPr>
          <p:cNvPr id="12" name="Text 10"/>
          <p:cNvSpPr txBox="1"/>
          <p:nvPr/>
        </p:nvSpPr>
        <p:spPr>
          <a:xfrm>
            <a:off x="2194560" y="2788920"/>
            <a:ext cx="9262872" cy="548640"/>
          </a:xfrm>
          <a:prstGeom prst="rect">
            <a:avLst/>
          </a:prstGeom>
          <a:noFill/>
          <a:ln/>
        </p:spPr>
        <p:txBody>
          <a:bodyPr wrap="square" lIns="0" tIns="0" rIns="0" bIns="0" rtlCol="0" anchor="ctr"/>
          <a:lstStyle/>
          <a:p>
            <a:pPr indent="0" marL="0">
              <a:buNone/>
            </a:pPr>
            <a:r>
              <a:rPr lang="en-US" sz="1400" b="1" dirty="0">
                <a:solidFill>
                  <a:srgbClr val="8C3E19"/>
                </a:solidFill>
                <a:latin typeface="Calibri" pitchFamily="34" charset="0"/>
                <a:ea typeface="Calibri" pitchFamily="34" charset="-122"/>
                <a:cs typeface="Calibri" pitchFamily="34" charset="-120"/>
              </a:rPr>
              <a:t>Receso · 10 minutos</a:t>
            </a:r>
            <a:endParaRPr lang="en-US" sz="1400" dirty="0"/>
          </a:p>
        </p:txBody>
      </p:sp>
      <p:sp>
        <p:nvSpPr>
          <p:cNvPr id="13" name="Shape 11"/>
          <p:cNvSpPr/>
          <p:nvPr/>
        </p:nvSpPr>
        <p:spPr>
          <a:xfrm>
            <a:off x="548640" y="3337560"/>
            <a:ext cx="11091672" cy="548640"/>
          </a:xfrm>
          <a:prstGeom prst="rect">
            <a:avLst/>
          </a:prstGeom>
          <a:solidFill>
            <a:srgbClr val="FFFFFF"/>
          </a:solidFill>
          <a:ln w="6350">
            <a:solidFill>
              <a:srgbClr val="D5DCE3"/>
            </a:solidFill>
            <a:prstDash val="solid"/>
          </a:ln>
        </p:spPr>
      </p:sp>
      <p:sp>
        <p:nvSpPr>
          <p:cNvPr id="14" name="Text 12"/>
          <p:cNvSpPr txBox="1"/>
          <p:nvPr/>
        </p:nvSpPr>
        <p:spPr>
          <a:xfrm>
            <a:off x="685800" y="3337560"/>
            <a:ext cx="1371600" cy="548640"/>
          </a:xfrm>
          <a:prstGeom prst="rect">
            <a:avLst/>
          </a:prstGeom>
          <a:noFill/>
          <a:ln/>
        </p:spPr>
        <p:txBody>
          <a:bodyPr wrap="square" lIns="0" tIns="0" rIns="0" bIns="0" rtlCol="0" anchor="ctr"/>
          <a:lstStyle/>
          <a:p>
            <a:pPr indent="0" marL="0">
              <a:buNone/>
            </a:pPr>
            <a:r>
              <a:rPr lang="en-US" sz="1700" b="1" dirty="0">
                <a:solidFill>
                  <a:srgbClr val="CB5E2E"/>
                </a:solidFill>
                <a:latin typeface="Cambria" pitchFamily="34" charset="0"/>
                <a:ea typeface="Cambria" pitchFamily="34" charset="-122"/>
                <a:cs typeface="Cambria" pitchFamily="34" charset="-120"/>
              </a:rPr>
              <a:t>11:50</a:t>
            </a:r>
            <a:endParaRPr lang="en-US" sz="1700" dirty="0"/>
          </a:p>
        </p:txBody>
      </p:sp>
      <p:sp>
        <p:nvSpPr>
          <p:cNvPr id="15" name="Text 13"/>
          <p:cNvSpPr txBox="1"/>
          <p:nvPr/>
        </p:nvSpPr>
        <p:spPr>
          <a:xfrm>
            <a:off x="2194560" y="3337560"/>
            <a:ext cx="9262872" cy="548640"/>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Bloque 2 · Reproducible de verdad: mismo insumo, mismo resultado</a:t>
            </a:r>
            <a:endParaRPr lang="en-US" sz="1400" dirty="0"/>
          </a:p>
        </p:txBody>
      </p:sp>
      <p:sp>
        <p:nvSpPr>
          <p:cNvPr id="16" name="Shape 14"/>
          <p:cNvSpPr/>
          <p:nvPr/>
        </p:nvSpPr>
        <p:spPr>
          <a:xfrm>
            <a:off x="548640" y="3886200"/>
            <a:ext cx="11091672" cy="548640"/>
          </a:xfrm>
          <a:prstGeom prst="rect">
            <a:avLst/>
          </a:prstGeom>
          <a:solidFill>
            <a:srgbClr val="EEF2F5"/>
          </a:solidFill>
          <a:ln w="6350">
            <a:solidFill>
              <a:srgbClr val="D5DCE3"/>
            </a:solidFill>
            <a:prstDash val="solid"/>
          </a:ln>
        </p:spPr>
      </p:sp>
      <p:sp>
        <p:nvSpPr>
          <p:cNvPr id="17" name="Text 15"/>
          <p:cNvSpPr txBox="1"/>
          <p:nvPr/>
        </p:nvSpPr>
        <p:spPr>
          <a:xfrm>
            <a:off x="685800" y="3886200"/>
            <a:ext cx="1371600" cy="548640"/>
          </a:xfrm>
          <a:prstGeom prst="rect">
            <a:avLst/>
          </a:prstGeom>
          <a:noFill/>
          <a:ln/>
        </p:spPr>
        <p:txBody>
          <a:bodyPr wrap="square" lIns="0" tIns="0" rIns="0" bIns="0" rtlCol="0" anchor="ctr"/>
          <a:lstStyle/>
          <a:p>
            <a:pPr indent="0" marL="0">
              <a:buNone/>
            </a:pPr>
            <a:r>
              <a:rPr lang="en-US" sz="1700" b="1" dirty="0">
                <a:solidFill>
                  <a:srgbClr val="CB5E2E"/>
                </a:solidFill>
                <a:latin typeface="Cambria" pitchFamily="34" charset="0"/>
                <a:ea typeface="Cambria" pitchFamily="34" charset="-122"/>
                <a:cs typeface="Cambria" pitchFamily="34" charset="-120"/>
              </a:rPr>
              <a:t>12:20</a:t>
            </a:r>
            <a:endParaRPr lang="en-US" sz="1700" dirty="0"/>
          </a:p>
        </p:txBody>
      </p:sp>
      <p:sp>
        <p:nvSpPr>
          <p:cNvPr id="18" name="Text 16"/>
          <p:cNvSpPr txBox="1"/>
          <p:nvPr/>
        </p:nvSpPr>
        <p:spPr>
          <a:xfrm>
            <a:off x="2194560" y="3886200"/>
            <a:ext cx="9262872" cy="548640"/>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Bloque 3 · Por qué el número va en código, no en el chat</a:t>
            </a:r>
            <a:endParaRPr lang="en-US" sz="1400" dirty="0"/>
          </a:p>
        </p:txBody>
      </p:sp>
      <p:sp>
        <p:nvSpPr>
          <p:cNvPr id="19" name="Shape 17"/>
          <p:cNvSpPr/>
          <p:nvPr/>
        </p:nvSpPr>
        <p:spPr>
          <a:xfrm>
            <a:off x="548640" y="4434840"/>
            <a:ext cx="11091672" cy="548640"/>
          </a:xfrm>
          <a:prstGeom prst="rect">
            <a:avLst/>
          </a:prstGeom>
          <a:solidFill>
            <a:srgbClr val="FFFFFF"/>
          </a:solidFill>
          <a:ln w="6350">
            <a:solidFill>
              <a:srgbClr val="D5DCE3"/>
            </a:solidFill>
            <a:prstDash val="solid"/>
          </a:ln>
        </p:spPr>
      </p:sp>
      <p:sp>
        <p:nvSpPr>
          <p:cNvPr id="20" name="Text 18"/>
          <p:cNvSpPr txBox="1"/>
          <p:nvPr/>
        </p:nvSpPr>
        <p:spPr>
          <a:xfrm>
            <a:off x="685800" y="4434840"/>
            <a:ext cx="1371600" cy="548640"/>
          </a:xfrm>
          <a:prstGeom prst="rect">
            <a:avLst/>
          </a:prstGeom>
          <a:noFill/>
          <a:ln/>
        </p:spPr>
        <p:txBody>
          <a:bodyPr wrap="square" lIns="0" tIns="0" rIns="0" bIns="0" rtlCol="0" anchor="ctr"/>
          <a:lstStyle/>
          <a:p>
            <a:pPr indent="0" marL="0">
              <a:buNone/>
            </a:pPr>
            <a:r>
              <a:rPr lang="en-US" sz="1700" b="1" dirty="0">
                <a:solidFill>
                  <a:srgbClr val="CB5E2E"/>
                </a:solidFill>
                <a:latin typeface="Cambria" pitchFamily="34" charset="0"/>
                <a:ea typeface="Cambria" pitchFamily="34" charset="-122"/>
                <a:cs typeface="Cambria" pitchFamily="34" charset="-120"/>
              </a:rPr>
              <a:t>12:42</a:t>
            </a:r>
            <a:endParaRPr lang="en-US" sz="1700" dirty="0"/>
          </a:p>
        </p:txBody>
      </p:sp>
      <p:sp>
        <p:nvSpPr>
          <p:cNvPr id="21" name="Text 19"/>
          <p:cNvSpPr txBox="1"/>
          <p:nvPr/>
        </p:nvSpPr>
        <p:spPr>
          <a:xfrm>
            <a:off x="2194560" y="4434840"/>
            <a:ext cx="9262872" cy="548640"/>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Práctica guiada</a:t>
            </a:r>
            <a:endParaRPr lang="en-US" sz="1400" dirty="0"/>
          </a:p>
        </p:txBody>
      </p:sp>
      <p:sp>
        <p:nvSpPr>
          <p:cNvPr id="22" name="Shape 20"/>
          <p:cNvSpPr/>
          <p:nvPr/>
        </p:nvSpPr>
        <p:spPr>
          <a:xfrm>
            <a:off x="548640" y="4983480"/>
            <a:ext cx="11091672" cy="548640"/>
          </a:xfrm>
          <a:prstGeom prst="rect">
            <a:avLst/>
          </a:prstGeom>
          <a:solidFill>
            <a:srgbClr val="EEF2F5"/>
          </a:solidFill>
          <a:ln w="6350">
            <a:solidFill>
              <a:srgbClr val="D5DCE3"/>
            </a:solidFill>
            <a:prstDash val="solid"/>
          </a:ln>
        </p:spPr>
      </p:sp>
      <p:sp>
        <p:nvSpPr>
          <p:cNvPr id="23" name="Text 21"/>
          <p:cNvSpPr txBox="1"/>
          <p:nvPr/>
        </p:nvSpPr>
        <p:spPr>
          <a:xfrm>
            <a:off x="685800" y="4983480"/>
            <a:ext cx="1371600" cy="548640"/>
          </a:xfrm>
          <a:prstGeom prst="rect">
            <a:avLst/>
          </a:prstGeom>
          <a:noFill/>
          <a:ln/>
        </p:spPr>
        <p:txBody>
          <a:bodyPr wrap="square" lIns="0" tIns="0" rIns="0" bIns="0" rtlCol="0" anchor="ctr"/>
          <a:lstStyle/>
          <a:p>
            <a:pPr indent="0" marL="0">
              <a:buNone/>
            </a:pPr>
            <a:r>
              <a:rPr lang="en-US" sz="1700" b="1" dirty="0">
                <a:solidFill>
                  <a:srgbClr val="CB5E2E"/>
                </a:solidFill>
                <a:latin typeface="Cambria" pitchFamily="34" charset="0"/>
                <a:ea typeface="Cambria" pitchFamily="34" charset="-122"/>
                <a:cs typeface="Cambria" pitchFamily="34" charset="-120"/>
              </a:rPr>
              <a:t>13:20</a:t>
            </a:r>
            <a:endParaRPr lang="en-US" sz="1700" dirty="0"/>
          </a:p>
        </p:txBody>
      </p:sp>
      <p:sp>
        <p:nvSpPr>
          <p:cNvPr id="24" name="Text 22"/>
          <p:cNvSpPr txBox="1"/>
          <p:nvPr/>
        </p:nvSpPr>
        <p:spPr>
          <a:xfrm>
            <a:off x="2194560" y="4983480"/>
            <a:ext cx="9262872" cy="548640"/>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Cierre y puente a la Sesión 9</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Un número no es un resultado hasta que alguien lo reproduce</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En la sesión pasada limpiaron un padrón y sacaron un promedio corregido. Pero lo hicieron una vez, a mano, en su máquina. Tres preguntas deciden si eso es un resultado o solo un número que salió hoy.</a:t>
            </a:r>
            <a:endParaRPr lang="en-US" sz="1400" dirty="0"/>
          </a:p>
        </p:txBody>
      </p:sp>
      <p:sp>
        <p:nvSpPr>
          <p:cNvPr id="4" name="Shape 2"/>
          <p:cNvSpPr/>
          <p:nvPr/>
        </p:nvSpPr>
        <p:spPr>
          <a:xfrm>
            <a:off x="548640" y="2148840"/>
            <a:ext cx="3502152" cy="3063240"/>
          </a:xfrm>
          <a:prstGeom prst="roundRect">
            <a:avLst>
              <a:gd name="adj" fmla="val 1791"/>
            </a:avLst>
          </a:prstGeom>
          <a:solidFill>
            <a:srgbClr val="EEF2F5"/>
          </a:solidFill>
          <a:ln w="9525">
            <a:solidFill>
              <a:srgbClr val="D5DCE3"/>
            </a:solidFill>
            <a:prstDash val="solid"/>
          </a:ln>
        </p:spPr>
      </p:sp>
      <p:sp>
        <p:nvSpPr>
          <p:cNvPr id="5" name="Shape 3"/>
          <p:cNvSpPr/>
          <p:nvPr/>
        </p:nvSpPr>
        <p:spPr>
          <a:xfrm>
            <a:off x="804672" y="2423160"/>
            <a:ext cx="502920" cy="502920"/>
          </a:xfrm>
          <a:prstGeom prst="ellipse">
            <a:avLst/>
          </a:prstGeom>
          <a:solidFill>
            <a:srgbClr val="CB5E2E"/>
          </a:solidFill>
          <a:ln/>
        </p:spPr>
      </p:sp>
      <p:sp>
        <p:nvSpPr>
          <p:cNvPr id="6" name="Text 4"/>
          <p:cNvSpPr txBox="1"/>
          <p:nvPr/>
        </p:nvSpPr>
        <p:spPr>
          <a:xfrm>
            <a:off x="804672" y="24231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804672" y="3063240"/>
            <a:ext cx="2990088" cy="548640"/>
          </a:xfrm>
          <a:prstGeom prst="rect">
            <a:avLst/>
          </a:prstGeom>
          <a:noFill/>
          <a:ln/>
        </p:spPr>
        <p:txBody>
          <a:bodyPr wrap="square" lIns="0" tIns="0" rIns="0" bIns="0" rtlCol="0" anchor="ctr"/>
          <a:lstStyle/>
          <a:p>
            <a:pPr indent="0" marL="0">
              <a:lnSpc>
                <a:spcPct val="95000"/>
              </a:lnSpc>
              <a:buNone/>
            </a:pPr>
            <a:r>
              <a:rPr lang="en-US" sz="1550" b="1" dirty="0">
                <a:solidFill>
                  <a:srgbClr val="1E2A35"/>
                </a:solidFill>
                <a:latin typeface="Calibri" pitchFamily="34" charset="0"/>
                <a:ea typeface="Calibri" pitchFamily="34" charset="-122"/>
                <a:cs typeface="Calibri" pitchFamily="34" charset="-120"/>
              </a:rPr>
              <a:t>¿Sale igual mañana?</a:t>
            </a:r>
            <a:endParaRPr lang="en-US" sz="1550" dirty="0"/>
          </a:p>
        </p:txBody>
      </p:sp>
      <p:sp>
        <p:nvSpPr>
          <p:cNvPr id="8" name="Text 6"/>
          <p:cNvSpPr txBox="1"/>
          <p:nvPr/>
        </p:nvSpPr>
        <p:spPr>
          <a:xfrm>
            <a:off x="804672" y="3611880"/>
            <a:ext cx="2990088" cy="1005840"/>
          </a:xfrm>
          <a:prstGeom prst="rect">
            <a:avLst/>
          </a:prstGeom>
          <a:noFill/>
          <a:ln/>
        </p:spPr>
        <p:txBody>
          <a:bodyPr wrap="square" lIns="0" tIns="0" rIns="0" bIns="0" rtlCol="0" anchor="ctr"/>
          <a:lstStyle/>
          <a:p>
            <a:pPr indent="0" marL="0">
              <a:lnSpc>
                <a:spcPct val="100000"/>
              </a:lnSpc>
              <a:buNone/>
            </a:pPr>
            <a:r>
              <a:rPr lang="en-US" sz="1250" dirty="0">
                <a:solidFill>
                  <a:srgbClr val="60707E"/>
                </a:solidFill>
                <a:latin typeface="Calibri" pitchFamily="34" charset="0"/>
                <a:ea typeface="Calibri" pitchFamily="34" charset="-122"/>
                <a:cs typeface="Calibri" pitchFamily="34" charset="-120"/>
              </a:rPr>
              <a:t>Si repites los pasos, ¿da lo mismo, o dependió del orden en que corriste las cosas y de un arreglo que ya no recuerdas?</a:t>
            </a:r>
            <a:endParaRPr lang="en-US" sz="1250" dirty="0"/>
          </a:p>
        </p:txBody>
      </p:sp>
      <p:sp>
        <p:nvSpPr>
          <p:cNvPr id="9" name="Shape 7"/>
          <p:cNvSpPr/>
          <p:nvPr/>
        </p:nvSpPr>
        <p:spPr>
          <a:xfrm>
            <a:off x="804672" y="4636008"/>
            <a:ext cx="2990088" cy="0"/>
          </a:xfrm>
          <a:prstGeom prst="line">
            <a:avLst/>
          </a:prstGeom>
          <a:noFill/>
          <a:ln w="9525">
            <a:solidFill>
              <a:srgbClr val="D5DCE3"/>
            </a:solidFill>
            <a:prstDash val="solid"/>
          </a:ln>
        </p:spPr>
      </p:sp>
      <p:sp>
        <p:nvSpPr>
          <p:cNvPr id="10" name="Text 8"/>
          <p:cNvSpPr txBox="1"/>
          <p:nvPr/>
        </p:nvSpPr>
        <p:spPr>
          <a:xfrm>
            <a:off x="804672" y="4690872"/>
            <a:ext cx="2990088" cy="457200"/>
          </a:xfrm>
          <a:prstGeom prst="rect">
            <a:avLst/>
          </a:prstGeom>
          <a:noFill/>
          <a:ln/>
        </p:spPr>
        <p:txBody>
          <a:bodyPr wrap="square" lIns="0" tIns="0" rIns="0" bIns="0" rtlCol="0" anchor="ctr"/>
          <a:lstStyle/>
          <a:p>
            <a:pPr indent="0" marL="0">
              <a:buNone/>
            </a:pPr>
            <a:r>
              <a:rPr lang="en-US" sz="1150" b="1" dirty="0">
                <a:solidFill>
                  <a:srgbClr val="CB5E2E"/>
                </a:solidFill>
                <a:latin typeface="Calibri" pitchFamily="34" charset="0"/>
                <a:ea typeface="Calibri" pitchFamily="34" charset="-122"/>
                <a:cs typeface="Calibri" pitchFamily="34" charset="-120"/>
              </a:rPr>
              <a:t>Lo resuelve un notebook</a:t>
            </a:r>
            <a:endParaRPr lang="en-US" sz="1150" dirty="0"/>
          </a:p>
        </p:txBody>
      </p:sp>
      <p:sp>
        <p:nvSpPr>
          <p:cNvPr id="11" name="Shape 9"/>
          <p:cNvSpPr/>
          <p:nvPr/>
        </p:nvSpPr>
        <p:spPr>
          <a:xfrm>
            <a:off x="4343400" y="2148840"/>
            <a:ext cx="3502152" cy="3063240"/>
          </a:xfrm>
          <a:prstGeom prst="roundRect">
            <a:avLst>
              <a:gd name="adj" fmla="val 1791"/>
            </a:avLst>
          </a:prstGeom>
          <a:solidFill>
            <a:srgbClr val="FFFFFF"/>
          </a:solidFill>
          <a:ln w="9525">
            <a:solidFill>
              <a:srgbClr val="D5DCE3"/>
            </a:solidFill>
            <a:prstDash val="solid"/>
          </a:ln>
        </p:spPr>
      </p:sp>
      <p:sp>
        <p:nvSpPr>
          <p:cNvPr id="12" name="Shape 10"/>
          <p:cNvSpPr/>
          <p:nvPr/>
        </p:nvSpPr>
        <p:spPr>
          <a:xfrm>
            <a:off x="4599432" y="2423160"/>
            <a:ext cx="502920" cy="502920"/>
          </a:xfrm>
          <a:prstGeom prst="ellipse">
            <a:avLst/>
          </a:prstGeom>
          <a:solidFill>
            <a:srgbClr val="CB5E2E"/>
          </a:solidFill>
          <a:ln/>
        </p:spPr>
      </p:sp>
      <p:sp>
        <p:nvSpPr>
          <p:cNvPr id="13" name="Text 11"/>
          <p:cNvSpPr txBox="1"/>
          <p:nvPr/>
        </p:nvSpPr>
        <p:spPr>
          <a:xfrm>
            <a:off x="4599432" y="24231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2"/>
          <p:cNvSpPr txBox="1"/>
          <p:nvPr/>
        </p:nvSpPr>
        <p:spPr>
          <a:xfrm>
            <a:off x="4599432" y="3063240"/>
            <a:ext cx="2990088" cy="548640"/>
          </a:xfrm>
          <a:prstGeom prst="rect">
            <a:avLst/>
          </a:prstGeom>
          <a:noFill/>
          <a:ln/>
        </p:spPr>
        <p:txBody>
          <a:bodyPr wrap="square" lIns="0" tIns="0" rIns="0" bIns="0" rtlCol="0" anchor="ctr"/>
          <a:lstStyle/>
          <a:p>
            <a:pPr indent="0" marL="0">
              <a:lnSpc>
                <a:spcPct val="95000"/>
              </a:lnSpc>
              <a:buNone/>
            </a:pPr>
            <a:r>
              <a:rPr lang="en-US" sz="1550" b="1" dirty="0">
                <a:solidFill>
                  <a:srgbClr val="1E2A35"/>
                </a:solidFill>
                <a:latin typeface="Calibri" pitchFamily="34" charset="0"/>
                <a:ea typeface="Calibri" pitchFamily="34" charset="-122"/>
                <a:cs typeface="Calibri" pitchFamily="34" charset="-120"/>
              </a:rPr>
              <a:t>¿Alguien más lo obtiene?</a:t>
            </a:r>
            <a:endParaRPr lang="en-US" sz="1550" dirty="0"/>
          </a:p>
        </p:txBody>
      </p:sp>
      <p:sp>
        <p:nvSpPr>
          <p:cNvPr id="15" name="Text 13"/>
          <p:cNvSpPr txBox="1"/>
          <p:nvPr/>
        </p:nvSpPr>
        <p:spPr>
          <a:xfrm>
            <a:off x="4599432" y="3611880"/>
            <a:ext cx="2990088" cy="1005840"/>
          </a:xfrm>
          <a:prstGeom prst="rect">
            <a:avLst/>
          </a:prstGeom>
          <a:noFill/>
          <a:ln/>
        </p:spPr>
        <p:txBody>
          <a:bodyPr wrap="square" lIns="0" tIns="0" rIns="0" bIns="0" rtlCol="0" anchor="ctr"/>
          <a:lstStyle/>
          <a:p>
            <a:pPr indent="0" marL="0">
              <a:lnSpc>
                <a:spcPct val="100000"/>
              </a:lnSpc>
              <a:buNone/>
            </a:pPr>
            <a:r>
              <a:rPr lang="en-US" sz="1250" dirty="0">
                <a:solidFill>
                  <a:srgbClr val="60707E"/>
                </a:solidFill>
                <a:latin typeface="Calibri" pitchFamily="34" charset="0"/>
                <a:ea typeface="Calibri" pitchFamily="34" charset="-122"/>
                <a:cs typeface="Calibri" pitchFamily="34" charset="-120"/>
              </a:rPr>
              <a:t>Si otra persona toma tus datos, ¿llega al mismo número, o solo tú sabes qué le hiciste al archivo?</a:t>
            </a:r>
            <a:endParaRPr lang="en-US" sz="1250" dirty="0"/>
          </a:p>
        </p:txBody>
      </p:sp>
      <p:sp>
        <p:nvSpPr>
          <p:cNvPr id="16" name="Shape 14"/>
          <p:cNvSpPr/>
          <p:nvPr/>
        </p:nvSpPr>
        <p:spPr>
          <a:xfrm>
            <a:off x="4599432" y="4636008"/>
            <a:ext cx="2990088" cy="0"/>
          </a:xfrm>
          <a:prstGeom prst="line">
            <a:avLst/>
          </a:prstGeom>
          <a:noFill/>
          <a:ln w="9525">
            <a:solidFill>
              <a:srgbClr val="D5DCE3"/>
            </a:solidFill>
            <a:prstDash val="solid"/>
          </a:ln>
        </p:spPr>
      </p:sp>
      <p:sp>
        <p:nvSpPr>
          <p:cNvPr id="17" name="Text 15"/>
          <p:cNvSpPr txBox="1"/>
          <p:nvPr/>
        </p:nvSpPr>
        <p:spPr>
          <a:xfrm>
            <a:off x="4599432" y="4690872"/>
            <a:ext cx="2990088" cy="457200"/>
          </a:xfrm>
          <a:prstGeom prst="rect">
            <a:avLst/>
          </a:prstGeom>
          <a:noFill/>
          <a:ln/>
        </p:spPr>
        <p:txBody>
          <a:bodyPr wrap="square" lIns="0" tIns="0" rIns="0" bIns="0" rtlCol="0" anchor="ctr"/>
          <a:lstStyle/>
          <a:p>
            <a:pPr indent="0" marL="0">
              <a:buNone/>
            </a:pPr>
            <a:r>
              <a:rPr lang="en-US" sz="1150" b="1" dirty="0">
                <a:solidFill>
                  <a:srgbClr val="CB5E2E"/>
                </a:solidFill>
                <a:latin typeface="Calibri" pitchFamily="34" charset="0"/>
                <a:ea typeface="Calibri" pitchFamily="34" charset="-122"/>
                <a:cs typeface="Calibri" pitchFamily="34" charset="-120"/>
              </a:rPr>
              <a:t>Lo resuelve documentar el flujo</a:t>
            </a:r>
            <a:endParaRPr lang="en-US" sz="1150" dirty="0"/>
          </a:p>
        </p:txBody>
      </p:sp>
      <p:sp>
        <p:nvSpPr>
          <p:cNvPr id="18" name="Shape 16"/>
          <p:cNvSpPr/>
          <p:nvPr/>
        </p:nvSpPr>
        <p:spPr>
          <a:xfrm>
            <a:off x="8138160" y="2148840"/>
            <a:ext cx="3502152" cy="3063240"/>
          </a:xfrm>
          <a:prstGeom prst="roundRect">
            <a:avLst>
              <a:gd name="adj" fmla="val 1791"/>
            </a:avLst>
          </a:prstGeom>
          <a:solidFill>
            <a:srgbClr val="FFFFFF"/>
          </a:solidFill>
          <a:ln w="9525">
            <a:solidFill>
              <a:srgbClr val="D5DCE3"/>
            </a:solidFill>
            <a:prstDash val="solid"/>
          </a:ln>
        </p:spPr>
      </p:sp>
      <p:sp>
        <p:nvSpPr>
          <p:cNvPr id="19" name="Shape 17"/>
          <p:cNvSpPr/>
          <p:nvPr/>
        </p:nvSpPr>
        <p:spPr>
          <a:xfrm>
            <a:off x="8394192" y="2423160"/>
            <a:ext cx="502920" cy="502920"/>
          </a:xfrm>
          <a:prstGeom prst="ellipse">
            <a:avLst/>
          </a:prstGeom>
          <a:solidFill>
            <a:srgbClr val="CB5E2E"/>
          </a:solidFill>
          <a:ln/>
        </p:spPr>
      </p:sp>
      <p:sp>
        <p:nvSpPr>
          <p:cNvPr id="20" name="Text 18"/>
          <p:cNvSpPr txBox="1"/>
          <p:nvPr/>
        </p:nvSpPr>
        <p:spPr>
          <a:xfrm>
            <a:off x="8394192" y="24231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1" name="Text 19"/>
          <p:cNvSpPr txBox="1"/>
          <p:nvPr/>
        </p:nvSpPr>
        <p:spPr>
          <a:xfrm>
            <a:off x="8394192" y="3063240"/>
            <a:ext cx="2990088" cy="548640"/>
          </a:xfrm>
          <a:prstGeom prst="rect">
            <a:avLst/>
          </a:prstGeom>
          <a:noFill/>
          <a:ln/>
        </p:spPr>
        <p:txBody>
          <a:bodyPr wrap="square" lIns="0" tIns="0" rIns="0" bIns="0" rtlCol="0" anchor="ctr"/>
          <a:lstStyle/>
          <a:p>
            <a:pPr indent="0" marL="0">
              <a:lnSpc>
                <a:spcPct val="95000"/>
              </a:lnSpc>
              <a:buNone/>
            </a:pPr>
            <a:r>
              <a:rPr lang="en-US" sz="1550" b="1" dirty="0">
                <a:solidFill>
                  <a:srgbClr val="1E2A35"/>
                </a:solidFill>
                <a:latin typeface="Calibri" pitchFamily="34" charset="0"/>
                <a:ea typeface="Calibri" pitchFamily="34" charset="-122"/>
                <a:cs typeface="Calibri" pitchFamily="34" charset="-120"/>
              </a:rPr>
              <a:t>¿El número está calculado?</a:t>
            </a:r>
            <a:endParaRPr lang="en-US" sz="1550" dirty="0"/>
          </a:p>
        </p:txBody>
      </p:sp>
      <p:sp>
        <p:nvSpPr>
          <p:cNvPr id="22" name="Text 20"/>
          <p:cNvSpPr txBox="1"/>
          <p:nvPr/>
        </p:nvSpPr>
        <p:spPr>
          <a:xfrm>
            <a:off x="8394192" y="3611880"/>
            <a:ext cx="2990088" cy="1005840"/>
          </a:xfrm>
          <a:prstGeom prst="rect">
            <a:avLst/>
          </a:prstGeom>
          <a:noFill/>
          <a:ln/>
        </p:spPr>
        <p:txBody>
          <a:bodyPr wrap="square" lIns="0" tIns="0" rIns="0" bIns="0" rtlCol="0" anchor="ctr"/>
          <a:lstStyle/>
          <a:p>
            <a:pPr indent="0" marL="0">
              <a:lnSpc>
                <a:spcPct val="100000"/>
              </a:lnSpc>
              <a:buNone/>
            </a:pPr>
            <a:r>
              <a:rPr lang="en-US" sz="1250" dirty="0">
                <a:solidFill>
                  <a:srgbClr val="60707E"/>
                </a:solidFill>
                <a:latin typeface="Calibri" pitchFamily="34" charset="0"/>
                <a:ea typeface="Calibri" pitchFamily="34" charset="-122"/>
                <a:cs typeface="Calibri" pitchFamily="34" charset="-120"/>
              </a:rPr>
              <a:t>¿Lo calculó una máquina, o lo estimó un modelo de chat que predice cifras plausibles sin operar?</a:t>
            </a:r>
            <a:endParaRPr lang="en-US" sz="1250" dirty="0"/>
          </a:p>
        </p:txBody>
      </p:sp>
      <p:sp>
        <p:nvSpPr>
          <p:cNvPr id="23" name="Shape 21"/>
          <p:cNvSpPr/>
          <p:nvPr/>
        </p:nvSpPr>
        <p:spPr>
          <a:xfrm>
            <a:off x="8394192" y="4636008"/>
            <a:ext cx="2990088" cy="0"/>
          </a:xfrm>
          <a:prstGeom prst="line">
            <a:avLst/>
          </a:prstGeom>
          <a:noFill/>
          <a:ln w="9525">
            <a:solidFill>
              <a:srgbClr val="D5DCE3"/>
            </a:solidFill>
            <a:prstDash val="solid"/>
          </a:ln>
        </p:spPr>
      </p:sp>
      <p:sp>
        <p:nvSpPr>
          <p:cNvPr id="24" name="Text 22"/>
          <p:cNvSpPr txBox="1"/>
          <p:nvPr/>
        </p:nvSpPr>
        <p:spPr>
          <a:xfrm>
            <a:off x="8394192" y="4690872"/>
            <a:ext cx="2990088" cy="457200"/>
          </a:xfrm>
          <a:prstGeom prst="rect">
            <a:avLst/>
          </a:prstGeom>
          <a:noFill/>
          <a:ln/>
        </p:spPr>
        <p:txBody>
          <a:bodyPr wrap="square" lIns="0" tIns="0" rIns="0" bIns="0" rtlCol="0" anchor="ctr"/>
          <a:lstStyle/>
          <a:p>
            <a:pPr indent="0" marL="0">
              <a:buNone/>
            </a:pPr>
            <a:r>
              <a:rPr lang="en-US" sz="1150" b="1" dirty="0">
                <a:solidFill>
                  <a:srgbClr val="CB5E2E"/>
                </a:solidFill>
                <a:latin typeface="Calibri" pitchFamily="34" charset="0"/>
                <a:ea typeface="Calibri" pitchFamily="34" charset="-122"/>
                <a:cs typeface="Calibri" pitchFamily="34" charset="-120"/>
              </a:rPr>
              <a:t>Lo resuelve el código ejecutable</a:t>
            </a:r>
            <a:endParaRPr lang="en-US" sz="1150" dirty="0"/>
          </a:p>
        </p:txBody>
      </p:sp>
      <p:sp>
        <p:nvSpPr>
          <p:cNvPr id="25" name="Shape 23"/>
          <p:cNvSpPr/>
          <p:nvPr/>
        </p:nvSpPr>
        <p:spPr>
          <a:xfrm>
            <a:off x="548640" y="6053328"/>
            <a:ext cx="11091672" cy="603504"/>
          </a:xfrm>
          <a:prstGeom prst="rect">
            <a:avLst/>
          </a:prstGeom>
          <a:solidFill>
            <a:srgbClr val="FBEEE5"/>
          </a:solidFill>
          <a:ln/>
        </p:spPr>
      </p:sp>
      <p:sp>
        <p:nvSpPr>
          <p:cNvPr id="26" name="Shape 24"/>
          <p:cNvSpPr/>
          <p:nvPr/>
        </p:nvSpPr>
        <p:spPr>
          <a:xfrm>
            <a:off x="749808" y="6272784"/>
            <a:ext cx="164592" cy="164592"/>
          </a:xfrm>
          <a:prstGeom prst="roundRect">
            <a:avLst>
              <a:gd name="adj" fmla="val 22222"/>
            </a:avLst>
          </a:prstGeom>
          <a:solidFill>
            <a:srgbClr val="CB5E2E"/>
          </a:solidFill>
          <a:ln/>
        </p:spPr>
      </p:sp>
      <p:sp>
        <p:nvSpPr>
          <p:cNvPr id="27" name="Text 25"/>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Reproducibilidad es que el mismo insumo y los mismos pasos den el mismo resultado, para cualquiera. Es lo que separa un cálculo que corriste de un resultado que se puede defender ante un comité.</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5293B"/>
        </a:solidFill>
      </p:bgPr>
    </p:bg>
    <p:spTree>
      <p:nvGrpSpPr>
        <p:cNvPr id="1" name=""/>
        <p:cNvGrpSpPr/>
        <p:nvPr/>
      </p:nvGrpSpPr>
      <p:grpSpPr>
        <a:xfrm>
          <a:off x="0" y="0"/>
          <a:ext cx="0" cy="0"/>
          <a:chOff x="0" y="0"/>
          <a:chExt cx="0" cy="0"/>
        </a:xfrm>
      </p:grpSpPr>
      <p:sp>
        <p:nvSpPr>
          <p:cNvPr id="2" name="Shape 0"/>
          <p:cNvSpPr/>
          <p:nvPr/>
        </p:nvSpPr>
        <p:spPr>
          <a:xfrm>
            <a:off x="822960" y="2468880"/>
            <a:ext cx="1371600" cy="1371600"/>
          </a:xfrm>
          <a:prstGeom prst="ellipse">
            <a:avLst/>
          </a:prstGeom>
          <a:solidFill>
            <a:srgbClr val="CB5E2E"/>
          </a:solidFill>
          <a:ln/>
        </p:spPr>
      </p:sp>
      <p:sp>
        <p:nvSpPr>
          <p:cNvPr id="3" name="Text 1"/>
          <p:cNvSpPr txBox="1"/>
          <p:nvPr/>
        </p:nvSpPr>
        <p:spPr>
          <a:xfrm>
            <a:off x="822960" y="246888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4" name="Text 2"/>
          <p:cNvSpPr txBox="1"/>
          <p:nvPr/>
        </p:nvSpPr>
        <p:spPr>
          <a:xfrm>
            <a:off x="2514600" y="2670048"/>
            <a:ext cx="8961120" cy="411480"/>
          </a:xfrm>
          <a:prstGeom prst="rect">
            <a:avLst/>
          </a:prstGeom>
          <a:noFill/>
          <a:ln/>
        </p:spPr>
        <p:txBody>
          <a:bodyPr wrap="square" lIns="0" tIns="0" rIns="0" bIns="0" rtlCol="0" anchor="ctr"/>
          <a:lstStyle/>
          <a:p>
            <a:pPr indent="0" marL="0">
              <a:buNone/>
            </a:pPr>
            <a:r>
              <a:rPr lang="en-US" sz="1400" b="1" spc="200" kern="0" dirty="0">
                <a:solidFill>
                  <a:srgbClr val="E58A5B"/>
                </a:solidFill>
                <a:latin typeface="Calibri" pitchFamily="34" charset="0"/>
                <a:ea typeface="Calibri" pitchFamily="34" charset="-122"/>
                <a:cs typeface="Calibri" pitchFamily="34" charset="-120"/>
              </a:rPr>
              <a:t>BLOQUE 1</a:t>
            </a:r>
            <a:endParaRPr lang="en-US" sz="1400" dirty="0"/>
          </a:p>
        </p:txBody>
      </p:sp>
      <p:sp>
        <p:nvSpPr>
          <p:cNvPr id="5" name="Text 3"/>
          <p:cNvSpPr txBox="1"/>
          <p:nvPr/>
        </p:nvSpPr>
        <p:spPr>
          <a:xfrm>
            <a:off x="2514600" y="3072384"/>
            <a:ext cx="9052560" cy="11887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El notebook y dónde vive el agente de código</a:t>
            </a:r>
            <a:endParaRPr lang="en-US" sz="3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Un notebook no es «donde se escribe Python»</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Es un documento que mezcla tres cosas en un solo archivo que se corre de arriba a abajo.</a:t>
            </a:r>
            <a:endParaRPr lang="en-US" sz="1400" dirty="0"/>
          </a:p>
        </p:txBody>
      </p:sp>
      <p:sp>
        <p:nvSpPr>
          <p:cNvPr id="4" name="Shape 2"/>
          <p:cNvSpPr/>
          <p:nvPr/>
        </p:nvSpPr>
        <p:spPr>
          <a:xfrm>
            <a:off x="548640" y="1874520"/>
            <a:ext cx="3502152" cy="1371600"/>
          </a:xfrm>
          <a:prstGeom prst="roundRect">
            <a:avLst>
              <a:gd name="adj" fmla="val 4000"/>
            </a:avLst>
          </a:prstGeom>
          <a:solidFill>
            <a:srgbClr val="E7F2EA"/>
          </a:solidFill>
          <a:ln w="9525">
            <a:solidFill>
              <a:srgbClr val="D5DCE3"/>
            </a:solidFill>
            <a:prstDash val="solid"/>
          </a:ln>
        </p:spPr>
      </p:sp>
      <p:sp>
        <p:nvSpPr>
          <p:cNvPr id="5" name="Text 3"/>
          <p:cNvSpPr txBox="1"/>
          <p:nvPr/>
        </p:nvSpPr>
        <p:spPr>
          <a:xfrm>
            <a:off x="777240" y="2057400"/>
            <a:ext cx="3044952" cy="365760"/>
          </a:xfrm>
          <a:prstGeom prst="rect">
            <a:avLst/>
          </a:prstGeom>
          <a:noFill/>
          <a:ln/>
        </p:spPr>
        <p:txBody>
          <a:bodyPr wrap="square" lIns="0" tIns="0" rIns="0" bIns="0" rtlCol="0" anchor="ctr"/>
          <a:lstStyle/>
          <a:p>
            <a:pPr indent="0" marL="0">
              <a:buNone/>
            </a:pPr>
            <a:r>
              <a:rPr lang="en-US" sz="1600" b="1" dirty="0">
                <a:solidFill>
                  <a:srgbClr val="2E6E49"/>
                </a:solidFill>
                <a:latin typeface="Calibri" pitchFamily="34" charset="0"/>
                <a:ea typeface="Calibri" pitchFamily="34" charset="-122"/>
                <a:cs typeface="Calibri" pitchFamily="34" charset="-120"/>
              </a:rPr>
              <a:t>Código</a:t>
            </a:r>
            <a:endParaRPr lang="en-US" sz="1600" dirty="0"/>
          </a:p>
        </p:txBody>
      </p:sp>
      <p:sp>
        <p:nvSpPr>
          <p:cNvPr id="6" name="Text 4"/>
          <p:cNvSpPr txBox="1"/>
          <p:nvPr/>
        </p:nvSpPr>
        <p:spPr>
          <a:xfrm>
            <a:off x="777240" y="2468880"/>
            <a:ext cx="3044952" cy="685800"/>
          </a:xfrm>
          <a:prstGeom prst="rect">
            <a:avLst/>
          </a:prstGeom>
          <a:noFill/>
          <a:ln/>
        </p:spPr>
        <p:txBody>
          <a:bodyPr wrap="square" lIns="0" tIns="0" rIns="0" bIns="0" rtlCol="0" anchor="ctr"/>
          <a:lstStyle/>
          <a:p>
            <a:pPr indent="0" marL="0">
              <a:lnSpc>
                <a:spcPct val="100000"/>
              </a:lnSpc>
              <a:buNone/>
            </a:pPr>
            <a:r>
              <a:rPr lang="en-US" sz="1250" dirty="0">
                <a:solidFill>
                  <a:srgbClr val="1E2A35"/>
                </a:solidFill>
                <a:latin typeface="Calibri" pitchFamily="34" charset="0"/>
                <a:ea typeface="Calibri" pitchFamily="34" charset="-122"/>
                <a:cs typeface="Calibri" pitchFamily="34" charset="-120"/>
              </a:rPr>
              <a:t>las instrucciones que hacen el cálculo, en celdas</a:t>
            </a:r>
            <a:endParaRPr lang="en-US" sz="1250" dirty="0"/>
          </a:p>
        </p:txBody>
      </p:sp>
      <p:sp>
        <p:nvSpPr>
          <p:cNvPr id="7" name="Shape 5"/>
          <p:cNvSpPr/>
          <p:nvPr/>
        </p:nvSpPr>
        <p:spPr>
          <a:xfrm>
            <a:off x="4343400" y="1874520"/>
            <a:ext cx="3502152" cy="1371600"/>
          </a:xfrm>
          <a:prstGeom prst="roundRect">
            <a:avLst>
              <a:gd name="adj" fmla="val 4000"/>
            </a:avLst>
          </a:prstGeom>
          <a:solidFill>
            <a:srgbClr val="EEF2F5"/>
          </a:solidFill>
          <a:ln w="9525">
            <a:solidFill>
              <a:srgbClr val="D5DCE3"/>
            </a:solidFill>
            <a:prstDash val="solid"/>
          </a:ln>
        </p:spPr>
      </p:sp>
      <p:sp>
        <p:nvSpPr>
          <p:cNvPr id="8" name="Text 6"/>
          <p:cNvSpPr txBox="1"/>
          <p:nvPr/>
        </p:nvSpPr>
        <p:spPr>
          <a:xfrm>
            <a:off x="4572000" y="2057400"/>
            <a:ext cx="3044952" cy="365760"/>
          </a:xfrm>
          <a:prstGeom prst="rect">
            <a:avLst/>
          </a:prstGeom>
          <a:noFill/>
          <a:ln/>
        </p:spPr>
        <p:txBody>
          <a:bodyPr wrap="square" lIns="0" tIns="0" rIns="0" bIns="0" rtlCol="0" anchor="ctr"/>
          <a:lstStyle/>
          <a:p>
            <a:pPr indent="0" marL="0">
              <a:buNone/>
            </a:pPr>
            <a:r>
              <a:rPr lang="en-US" sz="1600" b="1" dirty="0">
                <a:solidFill>
                  <a:srgbClr val="1E2A35"/>
                </a:solidFill>
                <a:latin typeface="Calibri" pitchFamily="34" charset="0"/>
                <a:ea typeface="Calibri" pitchFamily="34" charset="-122"/>
                <a:cs typeface="Calibri" pitchFamily="34" charset="-120"/>
              </a:rPr>
              <a:t>Resultado</a:t>
            </a:r>
            <a:endParaRPr lang="en-US" sz="1600" dirty="0"/>
          </a:p>
        </p:txBody>
      </p:sp>
      <p:sp>
        <p:nvSpPr>
          <p:cNvPr id="9" name="Text 7"/>
          <p:cNvSpPr txBox="1"/>
          <p:nvPr/>
        </p:nvSpPr>
        <p:spPr>
          <a:xfrm>
            <a:off x="4572000" y="2468880"/>
            <a:ext cx="3044952" cy="685800"/>
          </a:xfrm>
          <a:prstGeom prst="rect">
            <a:avLst/>
          </a:prstGeom>
          <a:noFill/>
          <a:ln/>
        </p:spPr>
        <p:txBody>
          <a:bodyPr wrap="square" lIns="0" tIns="0" rIns="0" bIns="0" rtlCol="0" anchor="ctr"/>
          <a:lstStyle/>
          <a:p>
            <a:pPr indent="0" marL="0">
              <a:lnSpc>
                <a:spcPct val="100000"/>
              </a:lnSpc>
              <a:buNone/>
            </a:pPr>
            <a:r>
              <a:rPr lang="en-US" sz="1250" dirty="0">
                <a:solidFill>
                  <a:srgbClr val="1E2A35"/>
                </a:solidFill>
                <a:latin typeface="Calibri" pitchFamily="34" charset="0"/>
                <a:ea typeface="Calibri" pitchFamily="34" charset="-122"/>
                <a:cs typeface="Calibri" pitchFamily="34" charset="-120"/>
              </a:rPr>
              <a:t>el número, la tabla o la gráfica que produjo cada celda</a:t>
            </a:r>
            <a:endParaRPr lang="en-US" sz="1250" dirty="0"/>
          </a:p>
        </p:txBody>
      </p:sp>
      <p:sp>
        <p:nvSpPr>
          <p:cNvPr id="10" name="Shape 8"/>
          <p:cNvSpPr/>
          <p:nvPr/>
        </p:nvSpPr>
        <p:spPr>
          <a:xfrm>
            <a:off x="8138160" y="1874520"/>
            <a:ext cx="3502152" cy="1371600"/>
          </a:xfrm>
          <a:prstGeom prst="roundRect">
            <a:avLst>
              <a:gd name="adj" fmla="val 4000"/>
            </a:avLst>
          </a:prstGeom>
          <a:solidFill>
            <a:srgbClr val="FBEEE5"/>
          </a:solidFill>
          <a:ln w="9525">
            <a:solidFill>
              <a:srgbClr val="D5DCE3"/>
            </a:solidFill>
            <a:prstDash val="solid"/>
          </a:ln>
        </p:spPr>
      </p:sp>
      <p:sp>
        <p:nvSpPr>
          <p:cNvPr id="11" name="Text 9"/>
          <p:cNvSpPr txBox="1"/>
          <p:nvPr/>
        </p:nvSpPr>
        <p:spPr>
          <a:xfrm>
            <a:off x="8366760" y="2057400"/>
            <a:ext cx="3044952" cy="365760"/>
          </a:xfrm>
          <a:prstGeom prst="rect">
            <a:avLst/>
          </a:prstGeom>
          <a:noFill/>
          <a:ln/>
        </p:spPr>
        <p:txBody>
          <a:bodyPr wrap="square" lIns="0" tIns="0" rIns="0" bIns="0" rtlCol="0" anchor="ctr"/>
          <a:lstStyle/>
          <a:p>
            <a:pPr indent="0" marL="0">
              <a:buNone/>
            </a:pPr>
            <a:r>
              <a:rPr lang="en-US" sz="1600" b="1" dirty="0">
                <a:solidFill>
                  <a:srgbClr val="8C3E19"/>
                </a:solidFill>
                <a:latin typeface="Calibri" pitchFamily="34" charset="0"/>
                <a:ea typeface="Calibri" pitchFamily="34" charset="-122"/>
                <a:cs typeface="Calibri" pitchFamily="34" charset="-120"/>
              </a:rPr>
              <a:t>Explicación</a:t>
            </a:r>
            <a:endParaRPr lang="en-US" sz="1600" dirty="0"/>
          </a:p>
        </p:txBody>
      </p:sp>
      <p:sp>
        <p:nvSpPr>
          <p:cNvPr id="12" name="Text 10"/>
          <p:cNvSpPr txBox="1"/>
          <p:nvPr/>
        </p:nvSpPr>
        <p:spPr>
          <a:xfrm>
            <a:off x="8366760" y="2468880"/>
            <a:ext cx="3044952" cy="685800"/>
          </a:xfrm>
          <a:prstGeom prst="rect">
            <a:avLst/>
          </a:prstGeom>
          <a:noFill/>
          <a:ln/>
        </p:spPr>
        <p:txBody>
          <a:bodyPr wrap="square" lIns="0" tIns="0" rIns="0" bIns="0" rtlCol="0" anchor="ctr"/>
          <a:lstStyle/>
          <a:p>
            <a:pPr indent="0" marL="0">
              <a:lnSpc>
                <a:spcPct val="100000"/>
              </a:lnSpc>
              <a:buNone/>
            </a:pPr>
            <a:r>
              <a:rPr lang="en-US" sz="1250" dirty="0">
                <a:solidFill>
                  <a:srgbClr val="1E2A35"/>
                </a:solidFill>
                <a:latin typeface="Calibri" pitchFamily="34" charset="0"/>
                <a:ea typeface="Calibri" pitchFamily="34" charset="-122"/>
                <a:cs typeface="Calibri" pitchFamily="34" charset="-120"/>
              </a:rPr>
              <a:t>texto que dice qué se hizo y por qué (celdas de markdown)</a:t>
            </a:r>
            <a:endParaRPr lang="en-US" sz="1250" dirty="0"/>
          </a:p>
        </p:txBody>
      </p:sp>
      <p:sp>
        <p:nvSpPr>
          <p:cNvPr id="13" name="Shape 11"/>
          <p:cNvSpPr/>
          <p:nvPr/>
        </p:nvSpPr>
        <p:spPr>
          <a:xfrm>
            <a:off x="548640" y="3611880"/>
            <a:ext cx="5394960" cy="1828800"/>
          </a:xfrm>
          <a:prstGeom prst="roundRect">
            <a:avLst>
              <a:gd name="adj" fmla="val 3000"/>
            </a:avLst>
          </a:prstGeom>
          <a:solidFill>
            <a:srgbClr val="FFFFFF"/>
          </a:solidFill>
          <a:ln w="9525">
            <a:solidFill>
              <a:srgbClr val="D5DCE3"/>
            </a:solidFill>
            <a:prstDash val="solid"/>
          </a:ln>
        </p:spPr>
      </p:sp>
      <p:sp>
        <p:nvSpPr>
          <p:cNvPr id="14" name="Text 12"/>
          <p:cNvSpPr txBox="1"/>
          <p:nvPr/>
        </p:nvSpPr>
        <p:spPr>
          <a:xfrm>
            <a:off x="822960" y="3794760"/>
            <a:ext cx="4846320" cy="365760"/>
          </a:xfrm>
          <a:prstGeom prst="rect">
            <a:avLst/>
          </a:prstGeom>
          <a:noFill/>
          <a:ln/>
        </p:spPr>
        <p:txBody>
          <a:bodyPr wrap="square" lIns="0" tIns="0" rIns="0" bIns="0" rtlCol="0" anchor="ctr"/>
          <a:lstStyle/>
          <a:p>
            <a:pPr indent="0" marL="0">
              <a:buNone/>
            </a:pPr>
            <a:r>
              <a:rPr lang="en-US" sz="1500" b="1" dirty="0">
                <a:solidFill>
                  <a:srgbClr val="CB5E2E"/>
                </a:solidFill>
                <a:latin typeface="Calibri" pitchFamily="34" charset="0"/>
                <a:ea typeface="Calibri" pitchFamily="34" charset="-122"/>
                <a:cs typeface="Calibri" pitchFamily="34" charset="-120"/>
              </a:rPr>
              <a:t>Jupyter</a:t>
            </a:r>
            <a:endParaRPr lang="en-US" sz="1500" dirty="0"/>
          </a:p>
        </p:txBody>
      </p:sp>
      <p:sp>
        <p:nvSpPr>
          <p:cNvPr id="15" name="Text 13"/>
          <p:cNvSpPr txBox="1"/>
          <p:nvPr/>
        </p:nvSpPr>
        <p:spPr>
          <a:xfrm>
            <a:off x="822960" y="4178808"/>
            <a:ext cx="4846320" cy="109728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El notebook corre en la computadora. Da control total, pero hay que instalarlo, y en las máquinas del Instituto eso pasa por una solicitud a sistemas.</a:t>
            </a:r>
            <a:endParaRPr lang="en-US" sz="1250" dirty="0"/>
          </a:p>
        </p:txBody>
      </p:sp>
      <p:sp>
        <p:nvSpPr>
          <p:cNvPr id="16" name="Shape 14"/>
          <p:cNvSpPr/>
          <p:nvPr/>
        </p:nvSpPr>
        <p:spPr>
          <a:xfrm>
            <a:off x="6217920" y="3611880"/>
            <a:ext cx="5422392" cy="1828800"/>
          </a:xfrm>
          <a:prstGeom prst="roundRect">
            <a:avLst>
              <a:gd name="adj" fmla="val 3000"/>
            </a:avLst>
          </a:prstGeom>
          <a:solidFill>
            <a:srgbClr val="FFFFFF"/>
          </a:solidFill>
          <a:ln w="9525">
            <a:solidFill>
              <a:srgbClr val="D5DCE3"/>
            </a:solidFill>
            <a:prstDash val="solid"/>
          </a:ln>
        </p:spPr>
      </p:sp>
      <p:sp>
        <p:nvSpPr>
          <p:cNvPr id="17" name="Text 15"/>
          <p:cNvSpPr txBox="1"/>
          <p:nvPr/>
        </p:nvSpPr>
        <p:spPr>
          <a:xfrm>
            <a:off x="6492240" y="3794760"/>
            <a:ext cx="4846320" cy="365760"/>
          </a:xfrm>
          <a:prstGeom prst="rect">
            <a:avLst/>
          </a:prstGeom>
          <a:noFill/>
          <a:ln/>
        </p:spPr>
        <p:txBody>
          <a:bodyPr wrap="square" lIns="0" tIns="0" rIns="0" bIns="0" rtlCol="0" anchor="ctr"/>
          <a:lstStyle/>
          <a:p>
            <a:pPr indent="0" marL="0">
              <a:buNone/>
            </a:pPr>
            <a:r>
              <a:rPr lang="en-US" sz="1500" b="1" dirty="0">
                <a:solidFill>
                  <a:srgbClr val="CB5E2E"/>
                </a:solidFill>
                <a:latin typeface="Calibri" pitchFamily="34" charset="0"/>
                <a:ea typeface="Calibri" pitchFamily="34" charset="-122"/>
                <a:cs typeface="Calibri" pitchFamily="34" charset="-120"/>
              </a:rPr>
              <a:t>Google Colab</a:t>
            </a:r>
            <a:endParaRPr lang="en-US" sz="1500" dirty="0"/>
          </a:p>
        </p:txBody>
      </p:sp>
      <p:sp>
        <p:nvSpPr>
          <p:cNvPr id="18" name="Text 16"/>
          <p:cNvSpPr txBox="1"/>
          <p:nvPr/>
        </p:nvSpPr>
        <p:spPr>
          <a:xfrm>
            <a:off x="6492240" y="4178808"/>
            <a:ext cx="4846320" cy="109728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El mismo notebook corre en la nube, en el navegador, sin instalar nada. Cómodo, pero es un servicio externo: importa qué datos suben a él.</a:t>
            </a:r>
            <a:endParaRPr lang="en-US" sz="1250" dirty="0"/>
          </a:p>
        </p:txBody>
      </p:sp>
      <p:sp>
        <p:nvSpPr>
          <p:cNvPr id="19" name="Shape 17"/>
          <p:cNvSpPr/>
          <p:nvPr/>
        </p:nvSpPr>
        <p:spPr>
          <a:xfrm>
            <a:off x="548640" y="6053328"/>
            <a:ext cx="11091672" cy="603504"/>
          </a:xfrm>
          <a:prstGeom prst="rect">
            <a:avLst/>
          </a:prstGeom>
          <a:solidFill>
            <a:srgbClr val="FBEEE5"/>
          </a:solidFill>
          <a:ln/>
        </p:spPr>
      </p:sp>
      <p:sp>
        <p:nvSpPr>
          <p:cNvPr id="20" name="Shape 18"/>
          <p:cNvSpPr/>
          <p:nvPr/>
        </p:nvSpPr>
        <p:spPr>
          <a:xfrm>
            <a:off x="749808" y="6272784"/>
            <a:ext cx="164592" cy="164592"/>
          </a:xfrm>
          <a:prstGeom prst="roundRect">
            <a:avLst>
              <a:gd name="adj" fmla="val 22222"/>
            </a:avLst>
          </a:prstGeom>
          <a:solidFill>
            <a:srgbClr val="CB5E2E"/>
          </a:solidFill>
          <a:ln/>
        </p:spPr>
      </p:sp>
      <p:sp>
        <p:nvSpPr>
          <p:cNvPr id="21" name="Text 19"/>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La clave no es el lenguaje: es que el archivo guarda el cálculo, su resultado y su explicación juntos, y se puede volver a correr entero.</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Dónde vive el agente de código</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Un agente que hace análisis no solo escribe el código: lo corre y te entrega el número terminado. Es la herramienta más útil del módulo y la más fácil de creerle de más.</a:t>
            </a:r>
            <a:endParaRPr lang="en-US" sz="1400" dirty="0"/>
          </a:p>
        </p:txBody>
      </p:sp>
      <p:sp>
        <p:nvSpPr>
          <p:cNvPr id="4" name="Shape 2"/>
          <p:cNvSpPr/>
          <p:nvPr/>
        </p:nvSpPr>
        <p:spPr>
          <a:xfrm>
            <a:off x="548640" y="1920240"/>
            <a:ext cx="5394960" cy="2148840"/>
          </a:xfrm>
          <a:prstGeom prst="roundRect">
            <a:avLst>
              <a:gd name="adj" fmla="val 2553"/>
            </a:avLst>
          </a:prstGeom>
          <a:solidFill>
            <a:srgbClr val="F9E7E3"/>
          </a:solidFill>
          <a:ln w="9525">
            <a:solidFill>
              <a:srgbClr val="D5DCE3"/>
            </a:solidFill>
            <a:prstDash val="solid"/>
          </a:ln>
        </p:spPr>
      </p:sp>
      <p:sp>
        <p:nvSpPr>
          <p:cNvPr id="5" name="Text 3"/>
          <p:cNvSpPr txBox="1"/>
          <p:nvPr/>
        </p:nvSpPr>
        <p:spPr>
          <a:xfrm>
            <a:off x="822960" y="2103120"/>
            <a:ext cx="4846320" cy="320040"/>
          </a:xfrm>
          <a:prstGeom prst="rect">
            <a:avLst/>
          </a:prstGeom>
          <a:noFill/>
          <a:ln/>
        </p:spPr>
        <p:txBody>
          <a:bodyPr wrap="square" lIns="0" tIns="0" rIns="0" bIns="0" rtlCol="0" anchor="ctr"/>
          <a:lstStyle/>
          <a:p>
            <a:pPr indent="0" marL="0">
              <a:buNone/>
            </a:pPr>
            <a:r>
              <a:rPr lang="en-US" sz="1200" b="1" spc="100" kern="0" dirty="0">
                <a:solidFill>
                  <a:srgbClr val="A23B22"/>
                </a:solidFill>
                <a:latin typeface="Calibri" pitchFamily="34" charset="0"/>
                <a:ea typeface="Calibri" pitchFamily="34" charset="-122"/>
                <a:cs typeface="Calibri" pitchFamily="34" charset="-120"/>
              </a:rPr>
              <a:t>EN UN CHAT, A SOLAS</a:t>
            </a:r>
            <a:endParaRPr lang="en-US" sz="1200" dirty="0"/>
          </a:p>
        </p:txBody>
      </p:sp>
      <p:sp>
        <p:nvSpPr>
          <p:cNvPr id="6" name="Text 4"/>
          <p:cNvSpPr txBox="1"/>
          <p:nvPr/>
        </p:nvSpPr>
        <p:spPr>
          <a:xfrm>
            <a:off x="822960" y="2450592"/>
            <a:ext cx="4846320" cy="457200"/>
          </a:xfrm>
          <a:prstGeom prst="rect">
            <a:avLst/>
          </a:prstGeom>
          <a:noFill/>
          <a:ln/>
        </p:spPr>
        <p:txBody>
          <a:bodyPr wrap="square" lIns="0" tIns="0" rIns="0" bIns="0" rtlCol="0" anchor="ctr"/>
          <a:lstStyle/>
          <a:p>
            <a:pPr indent="0" marL="0">
              <a:buNone/>
            </a:pPr>
            <a:r>
              <a:rPr lang="en-US" sz="1500" b="1" dirty="0">
                <a:solidFill>
                  <a:srgbClr val="1E2A35"/>
                </a:solidFill>
                <a:latin typeface="Calibri" pitchFamily="34" charset="0"/>
                <a:ea typeface="Calibri" pitchFamily="34" charset="-122"/>
                <a:cs typeface="Calibri" pitchFamily="34" charset="-120"/>
              </a:rPr>
              <a:t>Te da el número, no el cómo</a:t>
            </a:r>
            <a:endParaRPr lang="en-US" sz="1500" dirty="0"/>
          </a:p>
        </p:txBody>
      </p:sp>
      <p:sp>
        <p:nvSpPr>
          <p:cNvPr id="7" name="Text 5"/>
          <p:cNvSpPr txBox="1"/>
          <p:nvPr/>
        </p:nvSpPr>
        <p:spPr>
          <a:xfrm>
            <a:off x="822960" y="2944368"/>
            <a:ext cx="4846320" cy="105156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Ves una cifra terminada y una explicación en prosa. No ves qué columna tomó, qué hizo con lo inválido, ni puedes volver a correrlo. La caja es negra.</a:t>
            </a:r>
            <a:endParaRPr lang="en-US" sz="1250" dirty="0"/>
          </a:p>
        </p:txBody>
      </p:sp>
      <p:sp>
        <p:nvSpPr>
          <p:cNvPr id="8" name="Shape 6"/>
          <p:cNvSpPr/>
          <p:nvPr/>
        </p:nvSpPr>
        <p:spPr>
          <a:xfrm>
            <a:off x="6245352" y="1920240"/>
            <a:ext cx="5394960" cy="2148840"/>
          </a:xfrm>
          <a:prstGeom prst="roundRect">
            <a:avLst>
              <a:gd name="adj" fmla="val 2553"/>
            </a:avLst>
          </a:prstGeom>
          <a:solidFill>
            <a:srgbClr val="E7F2EA"/>
          </a:solidFill>
          <a:ln w="9525">
            <a:solidFill>
              <a:srgbClr val="D5DCE3"/>
            </a:solidFill>
            <a:prstDash val="solid"/>
          </a:ln>
        </p:spPr>
      </p:sp>
      <p:sp>
        <p:nvSpPr>
          <p:cNvPr id="9" name="Text 7"/>
          <p:cNvSpPr txBox="1"/>
          <p:nvPr/>
        </p:nvSpPr>
        <p:spPr>
          <a:xfrm>
            <a:off x="6519672" y="2103120"/>
            <a:ext cx="4846320" cy="320040"/>
          </a:xfrm>
          <a:prstGeom prst="rect">
            <a:avLst/>
          </a:prstGeom>
          <a:noFill/>
          <a:ln/>
        </p:spPr>
        <p:txBody>
          <a:bodyPr wrap="square" lIns="0" tIns="0" rIns="0" bIns="0" rtlCol="0" anchor="ctr"/>
          <a:lstStyle/>
          <a:p>
            <a:pPr indent="0" marL="0">
              <a:buNone/>
            </a:pPr>
            <a:r>
              <a:rPr lang="en-US" sz="1200" b="1" spc="100" kern="0" dirty="0">
                <a:solidFill>
                  <a:srgbClr val="2E6E49"/>
                </a:solidFill>
                <a:latin typeface="Calibri" pitchFamily="34" charset="0"/>
                <a:ea typeface="Calibri" pitchFamily="34" charset="-122"/>
                <a:cs typeface="Calibri" pitchFamily="34" charset="-120"/>
              </a:rPr>
              <a:t>DENTRO DE UN NOTEBOOK</a:t>
            </a:r>
            <a:endParaRPr lang="en-US" sz="1200" dirty="0"/>
          </a:p>
        </p:txBody>
      </p:sp>
      <p:sp>
        <p:nvSpPr>
          <p:cNvPr id="10" name="Text 8"/>
          <p:cNvSpPr txBox="1"/>
          <p:nvPr/>
        </p:nvSpPr>
        <p:spPr>
          <a:xfrm>
            <a:off x="6519672" y="2450592"/>
            <a:ext cx="4846320" cy="457200"/>
          </a:xfrm>
          <a:prstGeom prst="rect">
            <a:avLst/>
          </a:prstGeom>
          <a:noFill/>
          <a:ln/>
        </p:spPr>
        <p:txBody>
          <a:bodyPr wrap="square" lIns="0" tIns="0" rIns="0" bIns="0" rtlCol="0" anchor="ctr"/>
          <a:lstStyle/>
          <a:p>
            <a:pPr indent="0" marL="0">
              <a:buNone/>
            </a:pPr>
            <a:r>
              <a:rPr lang="en-US" sz="1500" b="1" dirty="0">
                <a:solidFill>
                  <a:srgbClr val="1E2A35"/>
                </a:solidFill>
                <a:latin typeface="Calibri" pitchFamily="34" charset="0"/>
                <a:ea typeface="Calibri" pitchFamily="34" charset="-122"/>
                <a:cs typeface="Calibri" pitchFamily="34" charset="-120"/>
              </a:rPr>
              <a:t>Te da el código que corrió</a:t>
            </a:r>
            <a:endParaRPr lang="en-US" sz="1500" dirty="0"/>
          </a:p>
        </p:txBody>
      </p:sp>
      <p:sp>
        <p:nvSpPr>
          <p:cNvPr id="11" name="Text 9"/>
          <p:cNvSpPr txBox="1"/>
          <p:nvPr/>
        </p:nvSpPr>
        <p:spPr>
          <a:xfrm>
            <a:off x="6519672" y="2944368"/>
            <a:ext cx="4846320" cy="105156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El agente escribe y ejecuta el código en celdas que quedan a la vista. Puedes leer cada paso, cambiarlo y volver a correrlo. La caja negra se vuelve auditable.</a:t>
            </a:r>
            <a:endParaRPr lang="en-US" sz="1250" dirty="0"/>
          </a:p>
        </p:txBody>
      </p:sp>
      <p:sp>
        <p:nvSpPr>
          <p:cNvPr id="12" name="Shape 10"/>
          <p:cNvSpPr/>
          <p:nvPr/>
        </p:nvSpPr>
        <p:spPr>
          <a:xfrm>
            <a:off x="548640" y="4297680"/>
            <a:ext cx="11091672" cy="1371600"/>
          </a:xfrm>
          <a:prstGeom prst="roundRect">
            <a:avLst>
              <a:gd name="adj" fmla="val 4000"/>
            </a:avLst>
          </a:prstGeom>
          <a:solidFill>
            <a:srgbClr val="15293B"/>
          </a:solidFill>
          <a:ln/>
        </p:spPr>
      </p:sp>
      <p:sp>
        <p:nvSpPr>
          <p:cNvPr id="13" name="Text 11"/>
          <p:cNvSpPr txBox="1"/>
          <p:nvPr/>
        </p:nvSpPr>
        <p:spPr>
          <a:xfrm>
            <a:off x="868680" y="4462272"/>
            <a:ext cx="10451592" cy="365760"/>
          </a:xfrm>
          <a:prstGeom prst="rect">
            <a:avLst/>
          </a:prstGeom>
          <a:noFill/>
          <a:ln/>
        </p:spPr>
        <p:txBody>
          <a:bodyPr wrap="square" lIns="0" tIns="0" rIns="0" bIns="0" rtlCol="0" anchor="ctr"/>
          <a:lstStyle/>
          <a:p>
            <a:pPr indent="0" marL="0">
              <a:buNone/>
            </a:pPr>
            <a:r>
              <a:rPr lang="en-US" sz="1600" b="1" dirty="0">
                <a:solidFill>
                  <a:srgbClr val="E58A5B"/>
                </a:solidFill>
                <a:latin typeface="Calibri" pitchFamily="34" charset="0"/>
                <a:ea typeface="Calibri" pitchFamily="34" charset="-122"/>
                <a:cs typeface="Calibri" pitchFamily="34" charset="-120"/>
              </a:rPr>
              <a:t>El agente es buen ayudante para el trabajo, no para el juicio</a:t>
            </a:r>
            <a:endParaRPr lang="en-US" sz="1600" dirty="0"/>
          </a:p>
        </p:txBody>
      </p:sp>
      <p:sp>
        <p:nvSpPr>
          <p:cNvPr id="14" name="Text 12"/>
          <p:cNvSpPr txBox="1"/>
          <p:nvPr/>
        </p:nvSpPr>
        <p:spPr>
          <a:xfrm>
            <a:off x="868680" y="4846320"/>
            <a:ext cx="10451592" cy="777240"/>
          </a:xfrm>
          <a:prstGeom prst="rect">
            <a:avLst/>
          </a:prstGeom>
          <a:noFill/>
          <a:ln/>
        </p:spPr>
        <p:txBody>
          <a:bodyPr wrap="square" lIns="0" tIns="0" rIns="0" bIns="0" rtlCol="0" anchor="ctr"/>
          <a:lstStyle/>
          <a:p>
            <a:pPr indent="0" marL="0">
              <a:lnSpc>
                <a:spcPct val="105000"/>
              </a:lnSpc>
              <a:buNone/>
            </a:pPr>
            <a:r>
              <a:rPr lang="en-US" sz="1250" dirty="0">
                <a:solidFill>
                  <a:srgbClr val="E4EAF0"/>
                </a:solidFill>
                <a:latin typeface="Calibri" pitchFamily="34" charset="0"/>
                <a:ea typeface="Calibri" pitchFamily="34" charset="-122"/>
                <a:cs typeface="Calibri" pitchFamily="34" charset="-120"/>
              </a:rPr>
              <a:t>Úsenlo para lo mecánico: explorar, limpiar, graficar, probar enfoques rápido. El juicio sigue siendo suyo: decidir qué limpieza es correcta, si un dato extremo es real, si el número tiene sentido para la política. El entorno reproducible es lo que convierte al agente de caja negra en algo que se puede revisar.</a:t>
            </a:r>
            <a:endParaRPr lang="en-US" sz="1250" dirty="0"/>
          </a:p>
        </p:txBody>
      </p:sp>
      <p:sp>
        <p:nvSpPr>
          <p:cNvPr id="15" name="Text 13"/>
          <p:cNvSpPr txBox="1"/>
          <p:nvPr/>
        </p:nvSpPr>
        <p:spPr>
          <a:xfrm>
            <a:off x="548640" y="6419088"/>
            <a:ext cx="11091672" cy="292608"/>
          </a:xfrm>
          <a:prstGeom prst="rect">
            <a:avLst/>
          </a:prstGeom>
          <a:noFill/>
          <a:ln/>
        </p:spPr>
        <p:txBody>
          <a:bodyPr wrap="square" lIns="0" tIns="0" rIns="0" bIns="0" rtlCol="0" anchor="ctr"/>
          <a:lstStyle/>
          <a:p>
            <a:pPr indent="0" marL="0">
              <a:buNone/>
            </a:pPr>
            <a:r>
              <a:rPr lang="en-US" sz="900" i="1" dirty="0">
                <a:solidFill>
                  <a:srgbClr val="60707E"/>
                </a:solidFill>
                <a:latin typeface="Calibri" pitchFamily="34" charset="0"/>
                <a:ea typeface="Calibri" pitchFamily="34" charset="-122"/>
                <a:cs typeface="Calibri" pitchFamily="34" charset="-120"/>
              </a:rPr>
              <a:t>En clase será demostración del instructor. Los seis que programan pueden seguirlo en el notebook; el resto trabaja la misma lógica en la vía de Excel. Con datos reales aplica el semáforo: un microdato es amarillo y no sube a una herramienta abierta.</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5293B"/>
        </a:solidFill>
      </p:bgPr>
    </p:bg>
    <p:spTree>
      <p:nvGrpSpPr>
        <p:cNvPr id="1" name=""/>
        <p:cNvGrpSpPr/>
        <p:nvPr/>
      </p:nvGrpSpPr>
      <p:grpSpPr>
        <a:xfrm>
          <a:off x="0" y="0"/>
          <a:ext cx="0" cy="0"/>
          <a:chOff x="0" y="0"/>
          <a:chExt cx="0" cy="0"/>
        </a:xfrm>
      </p:grpSpPr>
      <p:sp>
        <p:nvSpPr>
          <p:cNvPr id="2" name="Shape 0"/>
          <p:cNvSpPr/>
          <p:nvPr/>
        </p:nvSpPr>
        <p:spPr>
          <a:xfrm>
            <a:off x="822960" y="2468880"/>
            <a:ext cx="1371600" cy="1371600"/>
          </a:xfrm>
          <a:prstGeom prst="ellipse">
            <a:avLst/>
          </a:prstGeom>
          <a:solidFill>
            <a:srgbClr val="CB5E2E"/>
          </a:solidFill>
          <a:ln/>
        </p:spPr>
      </p:sp>
      <p:sp>
        <p:nvSpPr>
          <p:cNvPr id="3" name="Text 1"/>
          <p:cNvSpPr txBox="1"/>
          <p:nvPr/>
        </p:nvSpPr>
        <p:spPr>
          <a:xfrm>
            <a:off x="822960" y="246888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4" name="Text 2"/>
          <p:cNvSpPr txBox="1"/>
          <p:nvPr/>
        </p:nvSpPr>
        <p:spPr>
          <a:xfrm>
            <a:off x="2514600" y="2670048"/>
            <a:ext cx="8961120" cy="411480"/>
          </a:xfrm>
          <a:prstGeom prst="rect">
            <a:avLst/>
          </a:prstGeom>
          <a:noFill/>
          <a:ln/>
        </p:spPr>
        <p:txBody>
          <a:bodyPr wrap="square" lIns="0" tIns="0" rIns="0" bIns="0" rtlCol="0" anchor="ctr"/>
          <a:lstStyle/>
          <a:p>
            <a:pPr indent="0" marL="0">
              <a:buNone/>
            </a:pPr>
            <a:r>
              <a:rPr lang="en-US" sz="1400" b="1" spc="200" kern="0" dirty="0">
                <a:solidFill>
                  <a:srgbClr val="E58A5B"/>
                </a:solidFill>
                <a:latin typeface="Calibri" pitchFamily="34" charset="0"/>
                <a:ea typeface="Calibri" pitchFamily="34" charset="-122"/>
                <a:cs typeface="Calibri" pitchFamily="34" charset="-120"/>
              </a:rPr>
              <a:t>BLOQUE 2</a:t>
            </a:r>
            <a:endParaRPr lang="en-US" sz="1400" dirty="0"/>
          </a:p>
        </p:txBody>
      </p:sp>
      <p:sp>
        <p:nvSpPr>
          <p:cNvPr id="5" name="Text 3"/>
          <p:cNvSpPr txBox="1"/>
          <p:nvPr/>
        </p:nvSpPr>
        <p:spPr>
          <a:xfrm>
            <a:off x="2514600" y="3072384"/>
            <a:ext cx="9052560" cy="11887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Reproducible de verdad: mismo insumo, mismo resultado</a:t>
            </a:r>
            <a:endParaRPr lang="en-US" sz="3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Qué quiere decir «100% reproducible»</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Una sola regla, y una consecuencia práctica que conecta con la bitácora de la sesión pasada.</a:t>
            </a:r>
            <a:endParaRPr lang="en-US" sz="1400" dirty="0"/>
          </a:p>
        </p:txBody>
      </p:sp>
      <p:sp>
        <p:nvSpPr>
          <p:cNvPr id="4" name="Shape 2"/>
          <p:cNvSpPr/>
          <p:nvPr/>
        </p:nvSpPr>
        <p:spPr>
          <a:xfrm>
            <a:off x="548640" y="1874520"/>
            <a:ext cx="11091672" cy="1371600"/>
          </a:xfrm>
          <a:prstGeom prst="roundRect">
            <a:avLst>
              <a:gd name="adj" fmla="val 4000"/>
            </a:avLst>
          </a:prstGeom>
          <a:solidFill>
            <a:srgbClr val="EEF2F5"/>
          </a:solidFill>
          <a:ln w="9525">
            <a:solidFill>
              <a:srgbClr val="D5DCE3"/>
            </a:solidFill>
            <a:prstDash val="solid"/>
          </a:ln>
        </p:spPr>
      </p:sp>
      <p:sp>
        <p:nvSpPr>
          <p:cNvPr id="5" name="Text 3"/>
          <p:cNvSpPr txBox="1"/>
          <p:nvPr/>
        </p:nvSpPr>
        <p:spPr>
          <a:xfrm>
            <a:off x="868680" y="2011680"/>
            <a:ext cx="10451592" cy="320040"/>
          </a:xfrm>
          <a:prstGeom prst="rect">
            <a:avLst/>
          </a:prstGeom>
          <a:noFill/>
          <a:ln/>
        </p:spPr>
        <p:txBody>
          <a:bodyPr wrap="square" lIns="0" tIns="0" rIns="0" bIns="0" rtlCol="0" anchor="ctr"/>
          <a:lstStyle/>
          <a:p>
            <a:pPr indent="0" marL="0">
              <a:buNone/>
            </a:pPr>
            <a:r>
              <a:rPr lang="en-US" sz="1400" b="1" dirty="0">
                <a:solidFill>
                  <a:srgbClr val="CB5E2E"/>
                </a:solidFill>
                <a:latin typeface="Calibri" pitchFamily="34" charset="0"/>
                <a:ea typeface="Calibri" pitchFamily="34" charset="-122"/>
                <a:cs typeface="Calibri" pitchFamily="34" charset="-120"/>
              </a:rPr>
              <a:t>La regla</a:t>
            </a:r>
            <a:endParaRPr lang="en-US" sz="1400" dirty="0"/>
          </a:p>
        </p:txBody>
      </p:sp>
      <p:sp>
        <p:nvSpPr>
          <p:cNvPr id="6" name="Text 4"/>
          <p:cNvSpPr txBox="1"/>
          <p:nvPr/>
        </p:nvSpPr>
        <p:spPr>
          <a:xfrm>
            <a:off x="868680" y="2359152"/>
            <a:ext cx="10451592" cy="822960"/>
          </a:xfrm>
          <a:prstGeom prst="rect">
            <a:avLst/>
          </a:prstGeom>
          <a:noFill/>
          <a:ln/>
        </p:spPr>
        <p:txBody>
          <a:bodyPr wrap="square" lIns="0" tIns="0" rIns="0" bIns="0" rtlCol="0" anchor="ctr"/>
          <a:lstStyle/>
          <a:p>
            <a:pPr indent="0" marL="0">
              <a:lnSpc>
                <a:spcPct val="105000"/>
              </a:lnSpc>
              <a:buNone/>
            </a:pPr>
            <a:r>
              <a:rPr lang="en-US" sz="1350" b="1" dirty="0">
                <a:solidFill>
                  <a:srgbClr val="1E2A35"/>
                </a:solidFill>
                <a:latin typeface="Calibri" pitchFamily="34" charset="0"/>
                <a:ea typeface="Calibri" pitchFamily="34" charset="-122"/>
                <a:cs typeface="Calibri" pitchFamily="34" charset="-120"/>
              </a:rPr>
              <a:t>El mismo insumo más los mismos pasos dan el mismo resultado, para cualquier persona y en cualquier máquina. </a:t>
            </a:r>
            <a:pPr indent="0" marL="0">
              <a:lnSpc>
                <a:spcPct val="105000"/>
              </a:lnSpc>
              <a:buNone/>
            </a:pPr>
            <a:r>
              <a:rPr lang="en-US" sz="1350" dirty="0">
                <a:solidFill>
                  <a:srgbClr val="60707E"/>
                </a:solidFill>
                <a:latin typeface="Calibri" pitchFamily="34" charset="0"/>
                <a:ea typeface="Calibri" pitchFamily="34" charset="-122"/>
                <a:cs typeface="Calibri" pitchFamily="34" charset="-120"/>
              </a:rPr>
              <a:t>Si el número depende de algo que no quedó escrito (el orden en que corriste, un arreglo manual, un archivo que cambió), no es reproducible.</a:t>
            </a:r>
            <a:endParaRPr lang="en-US" sz="1350" dirty="0"/>
          </a:p>
        </p:txBody>
      </p:sp>
      <p:sp>
        <p:nvSpPr>
          <p:cNvPr id="7" name="Shape 5"/>
          <p:cNvSpPr/>
          <p:nvPr/>
        </p:nvSpPr>
        <p:spPr>
          <a:xfrm>
            <a:off x="548640" y="3566160"/>
            <a:ext cx="5394960" cy="1828800"/>
          </a:xfrm>
          <a:prstGeom prst="roundRect">
            <a:avLst>
              <a:gd name="adj" fmla="val 3000"/>
            </a:avLst>
          </a:prstGeom>
          <a:solidFill>
            <a:srgbClr val="FFFFFF"/>
          </a:solidFill>
          <a:ln w="9525">
            <a:solidFill>
              <a:srgbClr val="D5DCE3"/>
            </a:solidFill>
            <a:prstDash val="solid"/>
          </a:ln>
        </p:spPr>
      </p:sp>
      <p:sp>
        <p:nvSpPr>
          <p:cNvPr id="8" name="Text 6"/>
          <p:cNvSpPr txBox="1"/>
          <p:nvPr/>
        </p:nvSpPr>
        <p:spPr>
          <a:xfrm>
            <a:off x="822960" y="3749040"/>
            <a:ext cx="4846320" cy="365760"/>
          </a:xfrm>
          <a:prstGeom prst="rect">
            <a:avLst/>
          </a:prstGeom>
          <a:noFill/>
          <a:ln/>
        </p:spPr>
        <p:txBody>
          <a:bodyPr wrap="square" lIns="0" tIns="0" rIns="0" bIns="0" rtlCol="0" anchor="ctr"/>
          <a:lstStyle/>
          <a:p>
            <a:pPr indent="0" marL="0">
              <a:buNone/>
            </a:pPr>
            <a:r>
              <a:rPr lang="en-US" sz="1500" b="1" dirty="0">
                <a:solidFill>
                  <a:srgbClr val="1E2A35"/>
                </a:solidFill>
                <a:latin typeface="Calibri" pitchFamily="34" charset="0"/>
                <a:ea typeface="Calibri" pitchFamily="34" charset="-122"/>
                <a:cs typeface="Calibri" pitchFamily="34" charset="-120"/>
              </a:rPr>
              <a:t>Los pasos, escritos como código</a:t>
            </a:r>
            <a:endParaRPr lang="en-US" sz="1500" dirty="0"/>
          </a:p>
        </p:txBody>
      </p:sp>
      <p:sp>
        <p:nvSpPr>
          <p:cNvPr id="9" name="Text 7"/>
          <p:cNvSpPr txBox="1"/>
          <p:nvPr/>
        </p:nvSpPr>
        <p:spPr>
          <a:xfrm>
            <a:off x="822960" y="4133088"/>
            <a:ext cx="4846320" cy="1143000"/>
          </a:xfrm>
          <a:prstGeom prst="rect">
            <a:avLst/>
          </a:prstGeom>
          <a:noFill/>
          <a:ln/>
        </p:spPr>
        <p:txBody>
          <a:bodyPr wrap="square" lIns="0" tIns="0" rIns="0" bIns="0" rtlCol="0" anchor="ctr"/>
          <a:lstStyle/>
          <a:p>
            <a:pPr indent="0" marL="0">
              <a:lnSpc>
                <a:spcPct val="105000"/>
              </a:lnSpc>
              <a:buNone/>
            </a:pPr>
            <a:r>
              <a:rPr lang="en-US" sz="1300" dirty="0">
                <a:solidFill>
                  <a:srgbClr val="1E2A35"/>
                </a:solidFill>
                <a:latin typeface="Calibri" pitchFamily="34" charset="0"/>
                <a:ea typeface="Calibri" pitchFamily="34" charset="-122"/>
                <a:cs typeface="Calibri" pitchFamily="34" charset="-120"/>
              </a:rPr>
              <a:t>Cada cosa que le hiciste al dato es una línea que se vuelve a correr, no un clic que hiciste una vez. La bitácora de la Sesión 7, convertida en código, es exactamente esto.</a:t>
            </a:r>
            <a:endParaRPr lang="en-US" sz="1300" dirty="0"/>
          </a:p>
        </p:txBody>
      </p:sp>
      <p:sp>
        <p:nvSpPr>
          <p:cNvPr id="10" name="Shape 8"/>
          <p:cNvSpPr/>
          <p:nvPr/>
        </p:nvSpPr>
        <p:spPr>
          <a:xfrm>
            <a:off x="6245352" y="3566160"/>
            <a:ext cx="5394960" cy="1828800"/>
          </a:xfrm>
          <a:prstGeom prst="roundRect">
            <a:avLst>
              <a:gd name="adj" fmla="val 3000"/>
            </a:avLst>
          </a:prstGeom>
          <a:solidFill>
            <a:srgbClr val="FFFFFF"/>
          </a:solidFill>
          <a:ln w="9525">
            <a:solidFill>
              <a:srgbClr val="D5DCE3"/>
            </a:solidFill>
            <a:prstDash val="solid"/>
          </a:ln>
        </p:spPr>
      </p:sp>
      <p:sp>
        <p:nvSpPr>
          <p:cNvPr id="11" name="Text 9"/>
          <p:cNvSpPr txBox="1"/>
          <p:nvPr/>
        </p:nvSpPr>
        <p:spPr>
          <a:xfrm>
            <a:off x="6519672" y="3749040"/>
            <a:ext cx="4846320" cy="365760"/>
          </a:xfrm>
          <a:prstGeom prst="rect">
            <a:avLst/>
          </a:prstGeom>
          <a:noFill/>
          <a:ln/>
        </p:spPr>
        <p:txBody>
          <a:bodyPr wrap="square" lIns="0" tIns="0" rIns="0" bIns="0" rtlCol="0" anchor="ctr"/>
          <a:lstStyle/>
          <a:p>
            <a:pPr indent="0" marL="0">
              <a:buNone/>
            </a:pPr>
            <a:r>
              <a:rPr lang="en-US" sz="1500" b="1" dirty="0">
                <a:solidFill>
                  <a:srgbClr val="1E2A35"/>
                </a:solidFill>
                <a:latin typeface="Calibri" pitchFamily="34" charset="0"/>
                <a:ea typeface="Calibri" pitchFamily="34" charset="-122"/>
                <a:cs typeface="Calibri" pitchFamily="34" charset="-120"/>
              </a:rPr>
              <a:t>El porqué, escrito como texto</a:t>
            </a:r>
            <a:endParaRPr lang="en-US" sz="1500" dirty="0"/>
          </a:p>
        </p:txBody>
      </p:sp>
      <p:sp>
        <p:nvSpPr>
          <p:cNvPr id="12" name="Text 10"/>
          <p:cNvSpPr txBox="1"/>
          <p:nvPr/>
        </p:nvSpPr>
        <p:spPr>
          <a:xfrm>
            <a:off x="6519672" y="4133088"/>
            <a:ext cx="4846320" cy="1143000"/>
          </a:xfrm>
          <a:prstGeom prst="rect">
            <a:avLst/>
          </a:prstGeom>
          <a:noFill/>
          <a:ln/>
        </p:spPr>
        <p:txBody>
          <a:bodyPr wrap="square" lIns="0" tIns="0" rIns="0" bIns="0" rtlCol="0" anchor="ctr"/>
          <a:lstStyle/>
          <a:p>
            <a:pPr indent="0" marL="0">
              <a:lnSpc>
                <a:spcPct val="105000"/>
              </a:lnSpc>
              <a:buNone/>
            </a:pPr>
            <a:r>
              <a:rPr lang="en-US" sz="1300" dirty="0">
                <a:solidFill>
                  <a:srgbClr val="1E2A35"/>
                </a:solidFill>
                <a:latin typeface="Calibri" pitchFamily="34" charset="0"/>
                <a:ea typeface="Calibri" pitchFamily="34" charset="-122"/>
                <a:cs typeface="Calibri" pitchFamily="34" charset="-120"/>
              </a:rPr>
              <a:t>Las celdas de markdown explican qué hace cada bloque y por qué. Eso es «documentado»: quien lo hereda entiende las decisiones, no solo ve el código.</a:t>
            </a:r>
            <a:endParaRPr lang="en-US" sz="1300" dirty="0"/>
          </a:p>
        </p:txBody>
      </p:sp>
      <p:sp>
        <p:nvSpPr>
          <p:cNvPr id="13" name="Shape 11"/>
          <p:cNvSpPr/>
          <p:nvPr/>
        </p:nvSpPr>
        <p:spPr>
          <a:xfrm>
            <a:off x="548640" y="6053328"/>
            <a:ext cx="11091672" cy="603504"/>
          </a:xfrm>
          <a:prstGeom prst="rect">
            <a:avLst/>
          </a:prstGeom>
          <a:solidFill>
            <a:srgbClr val="FBEEE5"/>
          </a:solidFill>
          <a:ln/>
        </p:spPr>
      </p:sp>
      <p:sp>
        <p:nvSpPr>
          <p:cNvPr id="14" name="Shape 12"/>
          <p:cNvSpPr/>
          <p:nvPr/>
        </p:nvSpPr>
        <p:spPr>
          <a:xfrm>
            <a:off x="749808" y="6272784"/>
            <a:ext cx="164592" cy="164592"/>
          </a:xfrm>
          <a:prstGeom prst="roundRect">
            <a:avLst>
              <a:gd name="adj" fmla="val 22222"/>
            </a:avLst>
          </a:prstGeom>
          <a:solidFill>
            <a:srgbClr val="CB5E2E"/>
          </a:solidFill>
          <a:ln/>
        </p:spPr>
      </p:sp>
      <p:sp>
        <p:nvSpPr>
          <p:cNvPr id="15" name="Text 13"/>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Documentado y reproducible no son adornos: son lo que hace que otro evaluador, o el mismo dentro de un año, obtenga el mismo número y confíe en él.</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El enemigo silencioso: el estado oculto</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El caso más común de un notebook que engaña: corre y muestra un número, pero ese número dependió del orden en que apretaste las celdas.</a:t>
            </a:r>
            <a:endParaRPr lang="en-US" sz="1400" dirty="0"/>
          </a:p>
        </p:txBody>
      </p:sp>
      <p:sp>
        <p:nvSpPr>
          <p:cNvPr id="4" name="Shape 2"/>
          <p:cNvSpPr/>
          <p:nvPr/>
        </p:nvSpPr>
        <p:spPr>
          <a:xfrm>
            <a:off x="548640" y="1920240"/>
            <a:ext cx="5394960" cy="2148840"/>
          </a:xfrm>
          <a:prstGeom prst="roundRect">
            <a:avLst>
              <a:gd name="adj" fmla="val 2553"/>
            </a:avLst>
          </a:prstGeom>
          <a:solidFill>
            <a:srgbClr val="EEF2F5"/>
          </a:solidFill>
          <a:ln w="9525">
            <a:solidFill>
              <a:srgbClr val="D5DCE3"/>
            </a:solidFill>
            <a:prstDash val="solid"/>
          </a:ln>
        </p:spPr>
      </p:sp>
      <p:sp>
        <p:nvSpPr>
          <p:cNvPr id="5" name="Text 3"/>
          <p:cNvSpPr txBox="1"/>
          <p:nvPr/>
        </p:nvSpPr>
        <p:spPr>
          <a:xfrm>
            <a:off x="822960" y="2103120"/>
            <a:ext cx="4846320" cy="320040"/>
          </a:xfrm>
          <a:prstGeom prst="rect">
            <a:avLst/>
          </a:prstGeom>
          <a:noFill/>
          <a:ln/>
        </p:spPr>
        <p:txBody>
          <a:bodyPr wrap="square" lIns="0" tIns="0" rIns="0" bIns="0" rtlCol="0" anchor="ctr"/>
          <a:lstStyle/>
          <a:p>
            <a:pPr indent="0" marL="0">
              <a:buNone/>
            </a:pPr>
            <a:r>
              <a:rPr lang="en-US" sz="1200" b="1" spc="100" kern="0" dirty="0">
                <a:solidFill>
                  <a:srgbClr val="60707E"/>
                </a:solidFill>
                <a:latin typeface="Calibri" pitchFamily="34" charset="0"/>
                <a:ea typeface="Calibri" pitchFamily="34" charset="-122"/>
                <a:cs typeface="Calibri" pitchFamily="34" charset="-120"/>
              </a:rPr>
              <a:t>LO QUE VES EN PANTALLA</a:t>
            </a:r>
            <a:endParaRPr lang="en-US" sz="1200" dirty="0"/>
          </a:p>
        </p:txBody>
      </p:sp>
      <p:sp>
        <p:nvSpPr>
          <p:cNvPr id="6" name="Text 4"/>
          <p:cNvSpPr txBox="1"/>
          <p:nvPr/>
        </p:nvSpPr>
        <p:spPr>
          <a:xfrm>
            <a:off x="822960" y="2450592"/>
            <a:ext cx="4846320" cy="411480"/>
          </a:xfrm>
          <a:prstGeom prst="rect">
            <a:avLst/>
          </a:prstGeom>
          <a:noFill/>
          <a:ln/>
        </p:spPr>
        <p:txBody>
          <a:bodyPr wrap="square" lIns="0" tIns="0" rIns="0" bIns="0" rtlCol="0" anchor="ctr"/>
          <a:lstStyle/>
          <a:p>
            <a:pPr indent="0" marL="0">
              <a:buNone/>
            </a:pPr>
            <a:r>
              <a:rPr lang="en-US" sz="1600" b="1" dirty="0">
                <a:solidFill>
                  <a:srgbClr val="2E6E49"/>
                </a:solidFill>
                <a:latin typeface="Cambria" pitchFamily="34" charset="0"/>
                <a:ea typeface="Cambria" pitchFamily="34" charset="-122"/>
                <a:cs typeface="Cambria" pitchFamily="34" charset="-120"/>
              </a:rPr>
              <a:t>Promedio corregido: 3,200</a:t>
            </a:r>
            <a:endParaRPr lang="en-US" sz="1600" dirty="0"/>
          </a:p>
        </p:txBody>
      </p:sp>
      <p:sp>
        <p:nvSpPr>
          <p:cNvPr id="7" name="Text 5"/>
          <p:cNvSpPr txBox="1"/>
          <p:nvPr/>
        </p:nvSpPr>
        <p:spPr>
          <a:xfrm>
            <a:off x="822960" y="2926080"/>
            <a:ext cx="4846320" cy="105156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Corriste la celda de limpieza, luego editaste algo arriba, volviste a correr solo el promedio. En pantalla se ve bien.</a:t>
            </a:r>
            <a:endParaRPr lang="en-US" sz="1250" dirty="0"/>
          </a:p>
        </p:txBody>
      </p:sp>
      <p:sp>
        <p:nvSpPr>
          <p:cNvPr id="8" name="Shape 6"/>
          <p:cNvSpPr/>
          <p:nvPr/>
        </p:nvSpPr>
        <p:spPr>
          <a:xfrm>
            <a:off x="6245352" y="1920240"/>
            <a:ext cx="5394960" cy="2148840"/>
          </a:xfrm>
          <a:prstGeom prst="roundRect">
            <a:avLst>
              <a:gd name="adj" fmla="val 2553"/>
            </a:avLst>
          </a:prstGeom>
          <a:solidFill>
            <a:srgbClr val="F9E7E3"/>
          </a:solidFill>
          <a:ln w="9525">
            <a:solidFill>
              <a:srgbClr val="D5DCE3"/>
            </a:solidFill>
            <a:prstDash val="solid"/>
          </a:ln>
        </p:spPr>
      </p:sp>
      <p:sp>
        <p:nvSpPr>
          <p:cNvPr id="9" name="Text 7"/>
          <p:cNvSpPr txBox="1"/>
          <p:nvPr/>
        </p:nvSpPr>
        <p:spPr>
          <a:xfrm>
            <a:off x="6519672" y="2103120"/>
            <a:ext cx="4846320" cy="320040"/>
          </a:xfrm>
          <a:prstGeom prst="rect">
            <a:avLst/>
          </a:prstGeom>
          <a:noFill/>
          <a:ln/>
        </p:spPr>
        <p:txBody>
          <a:bodyPr wrap="square" lIns="0" tIns="0" rIns="0" bIns="0" rtlCol="0" anchor="ctr"/>
          <a:lstStyle/>
          <a:p>
            <a:pPr indent="0" marL="0">
              <a:buNone/>
            </a:pPr>
            <a:r>
              <a:rPr lang="en-US" sz="1200" b="1" spc="100" kern="0" dirty="0">
                <a:solidFill>
                  <a:srgbClr val="A23B22"/>
                </a:solidFill>
                <a:latin typeface="Calibri" pitchFamily="34" charset="0"/>
                <a:ea typeface="Calibri" pitchFamily="34" charset="-122"/>
                <a:cs typeface="Calibri" pitchFamily="34" charset="-120"/>
              </a:rPr>
              <a:t>LO QUE SALE AL REINICIAR</a:t>
            </a:r>
            <a:endParaRPr lang="en-US" sz="1200" dirty="0"/>
          </a:p>
        </p:txBody>
      </p:sp>
      <p:sp>
        <p:nvSpPr>
          <p:cNvPr id="10" name="Text 8"/>
          <p:cNvSpPr txBox="1"/>
          <p:nvPr/>
        </p:nvSpPr>
        <p:spPr>
          <a:xfrm>
            <a:off x="6519672" y="2450592"/>
            <a:ext cx="4846320" cy="411480"/>
          </a:xfrm>
          <a:prstGeom prst="rect">
            <a:avLst/>
          </a:prstGeom>
          <a:noFill/>
          <a:ln/>
        </p:spPr>
        <p:txBody>
          <a:bodyPr wrap="square" lIns="0" tIns="0" rIns="0" bIns="0" rtlCol="0" anchor="ctr"/>
          <a:lstStyle/>
          <a:p>
            <a:pPr indent="0" marL="0">
              <a:buNone/>
            </a:pPr>
            <a:r>
              <a:rPr lang="en-US" sz="1600" b="1" dirty="0">
                <a:solidFill>
                  <a:srgbClr val="A23B22"/>
                </a:solidFill>
                <a:latin typeface="Cambria" pitchFamily="34" charset="0"/>
                <a:ea typeface="Cambria" pitchFamily="34" charset="-122"/>
                <a:cs typeface="Cambria" pitchFamily="34" charset="-120"/>
              </a:rPr>
              <a:t>Promedio: 2,000</a:t>
            </a:r>
            <a:endParaRPr lang="en-US" sz="1600" dirty="0"/>
          </a:p>
        </p:txBody>
      </p:sp>
      <p:sp>
        <p:nvSpPr>
          <p:cNvPr id="11" name="Text 9"/>
          <p:cNvSpPr txBox="1"/>
          <p:nvPr/>
        </p:nvSpPr>
        <p:spPr>
          <a:xfrm>
            <a:off x="6519672" y="2926080"/>
            <a:ext cx="4846320" cy="105156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Reinicias y corres de arriba a abajo: la limpieza quedó fuera del orden real y el número cambia. El 3,200 vivía solo en la memoria de la sesión, no en el código.</a:t>
            </a:r>
            <a:endParaRPr lang="en-US" sz="1250" dirty="0"/>
          </a:p>
        </p:txBody>
      </p:sp>
      <p:sp>
        <p:nvSpPr>
          <p:cNvPr id="12" name="Shape 10"/>
          <p:cNvSpPr/>
          <p:nvPr/>
        </p:nvSpPr>
        <p:spPr>
          <a:xfrm>
            <a:off x="548640" y="4297680"/>
            <a:ext cx="11091672" cy="1371600"/>
          </a:xfrm>
          <a:prstGeom prst="roundRect">
            <a:avLst>
              <a:gd name="adj" fmla="val 4000"/>
            </a:avLst>
          </a:prstGeom>
          <a:solidFill>
            <a:srgbClr val="15293B"/>
          </a:solidFill>
          <a:ln/>
        </p:spPr>
      </p:sp>
      <p:sp>
        <p:nvSpPr>
          <p:cNvPr id="13" name="Text 11"/>
          <p:cNvSpPr txBox="1"/>
          <p:nvPr/>
        </p:nvSpPr>
        <p:spPr>
          <a:xfrm>
            <a:off x="868680" y="4462272"/>
            <a:ext cx="10451592" cy="365760"/>
          </a:xfrm>
          <a:prstGeom prst="rect">
            <a:avLst/>
          </a:prstGeom>
          <a:noFill/>
          <a:ln/>
        </p:spPr>
        <p:txBody>
          <a:bodyPr wrap="square" lIns="0" tIns="0" rIns="0" bIns="0" rtlCol="0" anchor="ctr"/>
          <a:lstStyle/>
          <a:p>
            <a:pPr indent="0" marL="0">
              <a:buNone/>
            </a:pPr>
            <a:r>
              <a:rPr lang="en-US" sz="1500" b="1" dirty="0">
                <a:solidFill>
                  <a:srgbClr val="E58A5B"/>
                </a:solidFill>
                <a:latin typeface="Calibri" pitchFamily="34" charset="0"/>
                <a:ea typeface="Calibri" pitchFamily="34" charset="-122"/>
                <a:cs typeface="Calibri" pitchFamily="34" charset="-120"/>
              </a:rPr>
              <a:t>Los otros dos enemigos</a:t>
            </a:r>
            <a:endParaRPr lang="en-US" sz="1500" dirty="0"/>
          </a:p>
        </p:txBody>
      </p:sp>
      <p:sp>
        <p:nvSpPr>
          <p:cNvPr id="14" name="Text 12"/>
          <p:cNvSpPr txBox="1"/>
          <p:nvPr/>
        </p:nvSpPr>
        <p:spPr>
          <a:xfrm>
            <a:off x="868680" y="4846320"/>
            <a:ext cx="10451592" cy="777240"/>
          </a:xfrm>
          <a:prstGeom prst="rect">
            <a:avLst/>
          </a:prstGeom>
          <a:noFill/>
          <a:ln/>
        </p:spPr>
        <p:txBody>
          <a:bodyPr wrap="square" lIns="0" tIns="0" rIns="0" bIns="0" rtlCol="0" anchor="ctr"/>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El arreglo manual que no quedó escrito </a:t>
            </a:r>
            <a:pPr indent="0" marL="0">
              <a:lnSpc>
                <a:spcPct val="105000"/>
              </a:lnSpc>
              <a:buNone/>
            </a:pPr>
            <a:r>
              <a:rPr lang="en-US" sz="1250" dirty="0">
                <a:solidFill>
                  <a:srgbClr val="E4EAF0"/>
                </a:solidFill>
                <a:latin typeface="Calibri" pitchFamily="34" charset="0"/>
                <a:ea typeface="Calibri" pitchFamily="34" charset="-122"/>
                <a:cs typeface="Calibri" pitchFamily="34" charset="-120"/>
              </a:rPr>
              <a:t>(«lo corregí a mano en Excel»: nadie lo puede repetir). </a:t>
            </a:r>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El insumo que cambia </a:t>
            </a:r>
            <a:pPr indent="0" marL="0">
              <a:lnSpc>
                <a:spcPct val="105000"/>
              </a:lnSpc>
              <a:buNone/>
            </a:pPr>
            <a:r>
              <a:rPr lang="en-US" sz="1250" dirty="0">
                <a:solidFill>
                  <a:srgbClr val="E4EAF0"/>
                </a:solidFill>
                <a:latin typeface="Calibri" pitchFamily="34" charset="0"/>
                <a:ea typeface="Calibri" pitchFamily="34" charset="-122"/>
                <a:cs typeface="Calibri" pitchFamily="34" charset="-120"/>
              </a:rPr>
              <a:t>(el archivo de origen se editó y ya no da lo mismo). Los tres tienen la misma cura.</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La prueba: reinicia y corre todo</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Una sola disciplina cura los tres enemigos, y es fácil de exigir en un entregable.</a:t>
            </a:r>
            <a:endParaRPr lang="en-US" sz="1400" dirty="0"/>
          </a:p>
        </p:txBody>
      </p:sp>
      <p:sp>
        <p:nvSpPr>
          <p:cNvPr id="4" name="Shape 2"/>
          <p:cNvSpPr/>
          <p:nvPr/>
        </p:nvSpPr>
        <p:spPr>
          <a:xfrm>
            <a:off x="548640" y="1920240"/>
            <a:ext cx="5394960" cy="1371600"/>
          </a:xfrm>
          <a:prstGeom prst="roundRect">
            <a:avLst>
              <a:gd name="adj" fmla="val 4000"/>
            </a:avLst>
          </a:prstGeom>
          <a:solidFill>
            <a:srgbClr val="E7F2EA"/>
          </a:solidFill>
          <a:ln w="9525">
            <a:solidFill>
              <a:srgbClr val="D5DCE3"/>
            </a:solidFill>
            <a:prstDash val="solid"/>
          </a:ln>
        </p:spPr>
      </p:sp>
      <p:sp>
        <p:nvSpPr>
          <p:cNvPr id="5" name="Text 3"/>
          <p:cNvSpPr txBox="1"/>
          <p:nvPr/>
        </p:nvSpPr>
        <p:spPr>
          <a:xfrm>
            <a:off x="822960" y="2084832"/>
            <a:ext cx="4846320" cy="365760"/>
          </a:xfrm>
          <a:prstGeom prst="rect">
            <a:avLst/>
          </a:prstGeom>
          <a:noFill/>
          <a:ln/>
        </p:spPr>
        <p:txBody>
          <a:bodyPr wrap="square" lIns="0" tIns="0" rIns="0" bIns="0" rtlCol="0" anchor="ctr"/>
          <a:lstStyle/>
          <a:p>
            <a:pPr indent="0" marL="0">
              <a:buNone/>
            </a:pPr>
            <a:r>
              <a:rPr lang="en-US" sz="1500" b="1" dirty="0">
                <a:solidFill>
                  <a:srgbClr val="2E6E49"/>
                </a:solidFill>
                <a:latin typeface="Calibri" pitchFamily="34" charset="0"/>
                <a:ea typeface="Calibri" pitchFamily="34" charset="-122"/>
                <a:cs typeface="Calibri" pitchFamily="34" charset="-120"/>
              </a:rPr>
              <a:t>La prueba de fuego</a:t>
            </a:r>
            <a:endParaRPr lang="en-US" sz="1500" dirty="0"/>
          </a:p>
        </p:txBody>
      </p:sp>
      <p:sp>
        <p:nvSpPr>
          <p:cNvPr id="6" name="Text 4"/>
          <p:cNvSpPr txBox="1"/>
          <p:nvPr/>
        </p:nvSpPr>
        <p:spPr>
          <a:xfrm>
            <a:off x="822960" y="2468880"/>
            <a:ext cx="4846320" cy="731520"/>
          </a:xfrm>
          <a:prstGeom prst="rect">
            <a:avLst/>
          </a:prstGeom>
          <a:noFill/>
          <a:ln/>
        </p:spPr>
        <p:txBody>
          <a:bodyPr wrap="square" lIns="0" tIns="0" rIns="0" bIns="0" rtlCol="0" anchor="ctr"/>
          <a:lstStyle/>
          <a:p>
            <a:pPr indent="0" marL="0">
              <a:lnSpc>
                <a:spcPct val="105000"/>
              </a:lnSpc>
              <a:buNone/>
            </a:pPr>
            <a:r>
              <a:rPr lang="en-US" sz="1300" dirty="0">
                <a:solidFill>
                  <a:srgbClr val="1E2A35"/>
                </a:solidFill>
                <a:latin typeface="Calibri" pitchFamily="34" charset="0"/>
                <a:ea typeface="Calibri" pitchFamily="34" charset="-122"/>
                <a:cs typeface="Calibri" pitchFamily="34" charset="-120"/>
              </a:rPr>
              <a:t>Reinicia el notebook y córrelo de la primera celda a la última. Si el número no sale igual, no es reproducible.</a:t>
            </a:r>
            <a:endParaRPr lang="en-US" sz="1300" dirty="0"/>
          </a:p>
        </p:txBody>
      </p:sp>
      <p:sp>
        <p:nvSpPr>
          <p:cNvPr id="7" name="Shape 5"/>
          <p:cNvSpPr/>
          <p:nvPr/>
        </p:nvSpPr>
        <p:spPr>
          <a:xfrm>
            <a:off x="6245352" y="1920240"/>
            <a:ext cx="5394960" cy="1371600"/>
          </a:xfrm>
          <a:prstGeom prst="roundRect">
            <a:avLst>
              <a:gd name="adj" fmla="val 4000"/>
            </a:avLst>
          </a:prstGeom>
          <a:solidFill>
            <a:srgbClr val="EEF2F5"/>
          </a:solidFill>
          <a:ln w="9525">
            <a:solidFill>
              <a:srgbClr val="D5DCE3"/>
            </a:solidFill>
            <a:prstDash val="solid"/>
          </a:ln>
        </p:spPr>
      </p:sp>
      <p:sp>
        <p:nvSpPr>
          <p:cNvPr id="8" name="Text 6"/>
          <p:cNvSpPr txBox="1"/>
          <p:nvPr/>
        </p:nvSpPr>
        <p:spPr>
          <a:xfrm>
            <a:off x="6519672" y="2084832"/>
            <a:ext cx="4846320" cy="365760"/>
          </a:xfrm>
          <a:prstGeom prst="rect">
            <a:avLst/>
          </a:prstGeom>
          <a:noFill/>
          <a:ln/>
        </p:spPr>
        <p:txBody>
          <a:bodyPr wrap="square" lIns="0" tIns="0" rIns="0" bIns="0" rtlCol="0" anchor="ctr"/>
          <a:lstStyle/>
          <a:p>
            <a:pPr indent="0" marL="0">
              <a:buNone/>
            </a:pPr>
            <a:r>
              <a:rPr lang="en-US" sz="1500" b="1" dirty="0">
                <a:solidFill>
                  <a:srgbClr val="CB5E2E"/>
                </a:solidFill>
                <a:latin typeface="Calibri" pitchFamily="34" charset="0"/>
                <a:ea typeface="Calibri" pitchFamily="34" charset="-122"/>
                <a:cs typeface="Calibri" pitchFamily="34" charset="-120"/>
              </a:rPr>
              <a:t>La consecuencia</a:t>
            </a:r>
            <a:endParaRPr lang="en-US" sz="1500" dirty="0"/>
          </a:p>
        </p:txBody>
      </p:sp>
      <p:sp>
        <p:nvSpPr>
          <p:cNvPr id="9" name="Text 7"/>
          <p:cNvSpPr txBox="1"/>
          <p:nvPr/>
        </p:nvSpPr>
        <p:spPr>
          <a:xfrm>
            <a:off x="6519672" y="2468880"/>
            <a:ext cx="4846320" cy="731520"/>
          </a:xfrm>
          <a:prstGeom prst="rect">
            <a:avLst/>
          </a:prstGeom>
          <a:noFill/>
          <a:ln/>
        </p:spPr>
        <p:txBody>
          <a:bodyPr wrap="square" lIns="0" tIns="0" rIns="0" bIns="0" rtlCol="0" anchor="ctr"/>
          <a:lstStyle/>
          <a:p>
            <a:pPr indent="0" marL="0">
              <a:lnSpc>
                <a:spcPct val="105000"/>
              </a:lnSpc>
              <a:buNone/>
            </a:pPr>
            <a:r>
              <a:rPr lang="en-US" sz="1300" dirty="0">
                <a:solidFill>
                  <a:srgbClr val="1E2A35"/>
                </a:solidFill>
                <a:latin typeface="Calibri" pitchFamily="34" charset="0"/>
                <a:ea typeface="Calibri" pitchFamily="34" charset="-122"/>
                <a:cs typeface="Calibri" pitchFamily="34" charset="-120"/>
              </a:rPr>
              <a:t>Todo paso manual tiene que volverse una línea de código. Si lo hiciste a mano, no lo escribiste; si no lo escribiste, no se puede repetir.</a:t>
            </a:r>
            <a:endParaRPr lang="en-US" sz="1300" dirty="0"/>
          </a:p>
        </p:txBody>
      </p:sp>
      <p:sp>
        <p:nvSpPr>
          <p:cNvPr id="10" name="Shape 8"/>
          <p:cNvSpPr/>
          <p:nvPr/>
        </p:nvSpPr>
        <p:spPr>
          <a:xfrm>
            <a:off x="548640" y="3566160"/>
            <a:ext cx="11091672" cy="1874520"/>
          </a:xfrm>
          <a:prstGeom prst="roundRect">
            <a:avLst>
              <a:gd name="adj" fmla="val 2927"/>
            </a:avLst>
          </a:prstGeom>
          <a:solidFill>
            <a:srgbClr val="15293B"/>
          </a:solidFill>
          <a:ln/>
        </p:spPr>
      </p:sp>
      <p:sp>
        <p:nvSpPr>
          <p:cNvPr id="11" name="Text 9"/>
          <p:cNvSpPr txBox="1"/>
          <p:nvPr/>
        </p:nvSpPr>
        <p:spPr>
          <a:xfrm>
            <a:off x="868680" y="3749040"/>
            <a:ext cx="10451592" cy="365760"/>
          </a:xfrm>
          <a:prstGeom prst="rect">
            <a:avLst/>
          </a:prstGeom>
          <a:noFill/>
          <a:ln/>
        </p:spPr>
        <p:txBody>
          <a:bodyPr wrap="square" lIns="0" tIns="0" rIns="0" bIns="0" rtlCol="0" anchor="ctr"/>
          <a:lstStyle/>
          <a:p>
            <a:pPr indent="0" marL="0">
              <a:buNone/>
            </a:pPr>
            <a:r>
              <a:rPr lang="en-US" sz="1500" b="1" dirty="0">
                <a:solidFill>
                  <a:srgbClr val="E58A5B"/>
                </a:solidFill>
                <a:latin typeface="Calibri" pitchFamily="34" charset="0"/>
                <a:ea typeface="Calibri" pitchFamily="34" charset="-122"/>
                <a:cs typeface="Calibri" pitchFamily="34" charset="-120"/>
              </a:rPr>
              <a:t>Tres hábitos que lo garantizan</a:t>
            </a:r>
            <a:endParaRPr lang="en-US" sz="1500" dirty="0"/>
          </a:p>
        </p:txBody>
      </p:sp>
      <p:sp>
        <p:nvSpPr>
          <p:cNvPr id="12" name="Text 10"/>
          <p:cNvSpPr txBox="1"/>
          <p:nvPr/>
        </p:nvSpPr>
        <p:spPr>
          <a:xfrm>
            <a:off x="868680" y="4160520"/>
            <a:ext cx="10451592" cy="1188720"/>
          </a:xfrm>
          <a:prstGeom prst="rect">
            <a:avLst/>
          </a:prstGeom>
          <a:noFill/>
          <a:ln/>
        </p:spPr>
        <p:txBody>
          <a:bodyPr wrap="square" lIns="0" tIns="0" rIns="0" bIns="0" rtlCol="0" anchor="ctr"/>
          <a:lstStyle/>
          <a:p>
            <a:pPr marL="342900" indent="-342900">
              <a:lnSpc>
                <a:spcPct val="100000"/>
              </a:lnSpc>
              <a:spcAft>
                <a:spcPts val="800"/>
              </a:spcAft>
              <a:buSzPct val="100000"/>
              <a:buChar char="•"/>
            </a:pPr>
            <a:r>
              <a:rPr lang="en-US" sz="1300" dirty="0">
                <a:solidFill>
                  <a:srgbClr val="E4EAF0"/>
                </a:solidFill>
                <a:latin typeface="Calibri" pitchFamily="34" charset="0"/>
                <a:ea typeface="Calibri" pitchFamily="34" charset="-122"/>
                <a:cs typeface="Calibri" pitchFamily="34" charset="-120"/>
              </a:rPr>
              <a:t>Corre las celdas en orden, de arriba a abajo, siempre. Nada de saltar.</a:t>
            </a:r>
            <a:endParaRPr lang="en-US" sz="1300" dirty="0"/>
          </a:p>
          <a:p>
            <a:pPr marL="342900" indent="-342900">
              <a:lnSpc>
                <a:spcPct val="100000"/>
              </a:lnSpc>
              <a:spcAft>
                <a:spcPts val="800"/>
              </a:spcAft>
              <a:buSzPct val="100000"/>
              <a:buChar char="•"/>
            </a:pPr>
            <a:r>
              <a:rPr lang="en-US" sz="1300" dirty="0">
                <a:solidFill>
                  <a:srgbClr val="E4EAF0"/>
                </a:solidFill>
                <a:latin typeface="Calibri" pitchFamily="34" charset="0"/>
                <a:ea typeface="Calibri" pitchFamily="34" charset="-122"/>
                <a:cs typeface="Calibri" pitchFamily="34" charset="-120"/>
              </a:rPr>
              <a:t>Convierte cada limpieza en código: nada se arregla a mano fuera del notebook.</a:t>
            </a:r>
            <a:endParaRPr lang="en-US" sz="1300" dirty="0"/>
          </a:p>
          <a:p>
            <a:pPr marL="342900" indent="-342900">
              <a:lnSpc>
                <a:spcPct val="100000"/>
              </a:lnSpc>
              <a:spcAft>
                <a:spcPts val="800"/>
              </a:spcAft>
              <a:buSzPct val="100000"/>
              <a:buChar char="•"/>
            </a:pPr>
            <a:r>
              <a:rPr lang="en-US" sz="1300" dirty="0">
                <a:solidFill>
                  <a:srgbClr val="E4EAF0"/>
                </a:solidFill>
                <a:latin typeface="Calibri" pitchFamily="34" charset="0"/>
                <a:ea typeface="Calibri" pitchFamily="34" charset="-122"/>
                <a:cs typeface="Calibri" pitchFamily="34" charset="-120"/>
              </a:rPr>
              <a:t>Deja fijo el insumo y descríbelo: qué archivo, de cuándo, con qué columnas.</a:t>
            </a:r>
            <a:endParaRPr lang="en-US" sz="1300" dirty="0"/>
          </a:p>
        </p:txBody>
      </p:sp>
      <p:sp>
        <p:nvSpPr>
          <p:cNvPr id="13" name="Shape 11"/>
          <p:cNvSpPr/>
          <p:nvPr/>
        </p:nvSpPr>
        <p:spPr>
          <a:xfrm>
            <a:off x="548640" y="6053328"/>
            <a:ext cx="11091672" cy="603504"/>
          </a:xfrm>
          <a:prstGeom prst="rect">
            <a:avLst/>
          </a:prstGeom>
          <a:solidFill>
            <a:srgbClr val="FBEEE5"/>
          </a:solidFill>
          <a:ln/>
        </p:spPr>
      </p:sp>
      <p:sp>
        <p:nvSpPr>
          <p:cNvPr id="14" name="Shape 12"/>
          <p:cNvSpPr/>
          <p:nvPr/>
        </p:nvSpPr>
        <p:spPr>
          <a:xfrm>
            <a:off x="749808" y="6272784"/>
            <a:ext cx="164592" cy="164592"/>
          </a:xfrm>
          <a:prstGeom prst="roundRect">
            <a:avLst>
              <a:gd name="adj" fmla="val 22222"/>
            </a:avLst>
          </a:prstGeom>
          <a:solidFill>
            <a:srgbClr val="CB5E2E"/>
          </a:solidFill>
          <a:ln/>
        </p:spPr>
      </p:sp>
      <p:sp>
        <p:nvSpPr>
          <p:cNvPr id="15" name="Text 13"/>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El notebook reproducible es la bitácora de la Sesión 7 llevada a su forma final: no solo dice qué limpiaste, deja que cualquiera lo vuelva a correr y lo compruebe.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5293B"/>
        </a:solidFill>
      </p:bgPr>
    </p:bg>
    <p:spTree>
      <p:nvGrpSpPr>
        <p:cNvPr id="1" name=""/>
        <p:cNvGrpSpPr/>
        <p:nvPr/>
      </p:nvGrpSpPr>
      <p:grpSpPr>
        <a:xfrm>
          <a:off x="0" y="0"/>
          <a:ext cx="0" cy="0"/>
          <a:chOff x="0" y="0"/>
          <a:chExt cx="0" cy="0"/>
        </a:xfrm>
      </p:grpSpPr>
      <p:sp>
        <p:nvSpPr>
          <p:cNvPr id="2" name="Shape 0"/>
          <p:cNvSpPr/>
          <p:nvPr/>
        </p:nvSpPr>
        <p:spPr>
          <a:xfrm>
            <a:off x="822960" y="2468880"/>
            <a:ext cx="1371600" cy="1371600"/>
          </a:xfrm>
          <a:prstGeom prst="ellipse">
            <a:avLst/>
          </a:prstGeom>
          <a:solidFill>
            <a:srgbClr val="CB5E2E"/>
          </a:solidFill>
          <a:ln/>
        </p:spPr>
      </p:sp>
      <p:sp>
        <p:nvSpPr>
          <p:cNvPr id="3" name="Text 1"/>
          <p:cNvSpPr txBox="1"/>
          <p:nvPr/>
        </p:nvSpPr>
        <p:spPr>
          <a:xfrm>
            <a:off x="822960" y="246888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4" name="Text 2"/>
          <p:cNvSpPr txBox="1"/>
          <p:nvPr/>
        </p:nvSpPr>
        <p:spPr>
          <a:xfrm>
            <a:off x="2514600" y="2670048"/>
            <a:ext cx="8961120" cy="411480"/>
          </a:xfrm>
          <a:prstGeom prst="rect">
            <a:avLst/>
          </a:prstGeom>
          <a:noFill/>
          <a:ln/>
        </p:spPr>
        <p:txBody>
          <a:bodyPr wrap="square" lIns="0" tIns="0" rIns="0" bIns="0" rtlCol="0" anchor="ctr"/>
          <a:lstStyle/>
          <a:p>
            <a:pPr indent="0" marL="0">
              <a:buNone/>
            </a:pPr>
            <a:r>
              <a:rPr lang="en-US" sz="1400" b="1" spc="200" kern="0" dirty="0">
                <a:solidFill>
                  <a:srgbClr val="E58A5B"/>
                </a:solidFill>
                <a:latin typeface="Calibri" pitchFamily="34" charset="0"/>
                <a:ea typeface="Calibri" pitchFamily="34" charset="-122"/>
                <a:cs typeface="Calibri" pitchFamily="34" charset="-120"/>
              </a:rPr>
              <a:t>BLOQUE 3</a:t>
            </a:r>
            <a:endParaRPr lang="en-US" sz="1400" dirty="0"/>
          </a:p>
        </p:txBody>
      </p:sp>
      <p:sp>
        <p:nvSpPr>
          <p:cNvPr id="5" name="Text 3"/>
          <p:cNvSpPr txBox="1"/>
          <p:nvPr/>
        </p:nvSpPr>
        <p:spPr>
          <a:xfrm>
            <a:off x="2514600" y="3072384"/>
            <a:ext cx="9052560" cy="11887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Por qué el número va en código, no en el chat</a:t>
            </a:r>
            <a:endParaRPr lang="en-US" sz="3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Un modelo de chat no calcula: adivina</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Un modelo de lenguaje predice el siguiente texto que suena bien. No opera los números, los estima, y por eso falla justo en lo cuantitativo.</a:t>
            </a:r>
            <a:endParaRPr lang="en-US" sz="1400" dirty="0"/>
          </a:p>
        </p:txBody>
      </p:sp>
      <p:sp>
        <p:nvSpPr>
          <p:cNvPr id="4" name="Shape 2"/>
          <p:cNvSpPr/>
          <p:nvPr/>
        </p:nvSpPr>
        <p:spPr>
          <a:xfrm>
            <a:off x="548640" y="1920240"/>
            <a:ext cx="5394960" cy="2651760"/>
          </a:xfrm>
          <a:prstGeom prst="roundRect">
            <a:avLst>
              <a:gd name="adj" fmla="val 2069"/>
            </a:avLst>
          </a:prstGeom>
          <a:solidFill>
            <a:srgbClr val="FFFFFF"/>
          </a:solidFill>
          <a:ln w="9525">
            <a:solidFill>
              <a:srgbClr val="D5DCE3"/>
            </a:solidFill>
            <a:prstDash val="solid"/>
          </a:ln>
        </p:spPr>
      </p:sp>
      <p:sp>
        <p:nvSpPr>
          <p:cNvPr id="5" name="Text 3"/>
          <p:cNvSpPr txBox="1"/>
          <p:nvPr/>
        </p:nvSpPr>
        <p:spPr>
          <a:xfrm>
            <a:off x="822960" y="2103120"/>
            <a:ext cx="4846320" cy="411480"/>
          </a:xfrm>
          <a:prstGeom prst="rect">
            <a:avLst/>
          </a:prstGeom>
          <a:noFill/>
          <a:ln/>
        </p:spPr>
        <p:txBody>
          <a:bodyPr wrap="square" lIns="0" tIns="0" rIns="0" bIns="0" rtlCol="0" anchor="ctr"/>
          <a:lstStyle/>
          <a:p>
            <a:pPr indent="0" marL="0">
              <a:buNone/>
            </a:pPr>
            <a:r>
              <a:rPr lang="en-US" sz="1450" b="1" dirty="0">
                <a:solidFill>
                  <a:srgbClr val="1E2A35"/>
                </a:solidFill>
                <a:latin typeface="Calibri" pitchFamily="34" charset="0"/>
                <a:ea typeface="Calibri" pitchFamily="34" charset="-122"/>
                <a:cs typeface="Calibri" pitchFamily="34" charset="-120"/>
              </a:rPr>
              <a:t>Pídele que cuente sobre una tabla</a:t>
            </a:r>
            <a:endParaRPr lang="en-US" sz="1450" dirty="0"/>
          </a:p>
        </p:txBody>
      </p:sp>
      <p:sp>
        <p:nvSpPr>
          <p:cNvPr id="6" name="Text 4"/>
          <p:cNvSpPr txBox="1"/>
          <p:nvPr/>
        </p:nvSpPr>
        <p:spPr>
          <a:xfrm>
            <a:off x="822960" y="2542032"/>
            <a:ext cx="4846320" cy="411480"/>
          </a:xfrm>
          <a:prstGeom prst="rect">
            <a:avLst/>
          </a:prstGeom>
          <a:noFill/>
          <a:ln/>
        </p:spPr>
        <p:txBody>
          <a:bodyPr wrap="square" lIns="0" tIns="0" rIns="0" bIns="0" rtlCol="0" anchor="ctr"/>
          <a:lstStyle/>
          <a:p>
            <a:pPr indent="0" marL="0">
              <a:buNone/>
            </a:pPr>
            <a:r>
              <a:rPr lang="en-US" sz="1250" i="1" dirty="0">
                <a:solidFill>
                  <a:srgbClr val="60707E"/>
                </a:solidFill>
                <a:latin typeface="Cambria" pitchFamily="34" charset="0"/>
                <a:ea typeface="Cambria" pitchFamily="34" charset="-122"/>
                <a:cs typeface="Cambria" pitchFamily="34" charset="-120"/>
              </a:rPr>
              <a:t>«De estos 18 registros, ¿cuántos son del Norte?»</a:t>
            </a:r>
            <a:endParaRPr lang="en-US" sz="1250" dirty="0"/>
          </a:p>
        </p:txBody>
      </p:sp>
      <p:sp>
        <p:nvSpPr>
          <p:cNvPr id="7" name="Text 5"/>
          <p:cNvSpPr txBox="1"/>
          <p:nvPr/>
        </p:nvSpPr>
        <p:spPr>
          <a:xfrm>
            <a:off x="822960" y="2999232"/>
            <a:ext cx="4846320" cy="96012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El chat lee la tabla de corrido y responde una cifra plausible, casi siempre errada por uno o dos. </a:t>
            </a:r>
            <a:pPr indent="0" marL="0">
              <a:lnSpc>
                <a:spcPct val="105000"/>
              </a:lnSpc>
              <a:buNone/>
            </a:pPr>
            <a:r>
              <a:rPr lang="en-US" sz="1250" b="1" dirty="0">
                <a:solidFill>
                  <a:srgbClr val="2E6E49"/>
                </a:solidFill>
                <a:latin typeface="Calibri" pitchFamily="34" charset="0"/>
                <a:ea typeface="Calibri" pitchFamily="34" charset="-122"/>
                <a:cs typeface="Calibri" pitchFamily="34" charset="-120"/>
              </a:rPr>
              <a:t>El código la filtra y cuenta exacto: 6.</a:t>
            </a:r>
            <a:endParaRPr lang="en-US" sz="1250" dirty="0"/>
          </a:p>
        </p:txBody>
      </p:sp>
      <p:sp>
        <p:nvSpPr>
          <p:cNvPr id="8" name="Shape 6"/>
          <p:cNvSpPr/>
          <p:nvPr/>
        </p:nvSpPr>
        <p:spPr>
          <a:xfrm>
            <a:off x="6245352" y="1920240"/>
            <a:ext cx="5394960" cy="2651760"/>
          </a:xfrm>
          <a:prstGeom prst="roundRect">
            <a:avLst>
              <a:gd name="adj" fmla="val 2069"/>
            </a:avLst>
          </a:prstGeom>
          <a:solidFill>
            <a:srgbClr val="FFFFFF"/>
          </a:solidFill>
          <a:ln w="9525">
            <a:solidFill>
              <a:srgbClr val="D5DCE3"/>
            </a:solidFill>
            <a:prstDash val="solid"/>
          </a:ln>
        </p:spPr>
      </p:sp>
      <p:sp>
        <p:nvSpPr>
          <p:cNvPr id="9" name="Text 7"/>
          <p:cNvSpPr txBox="1"/>
          <p:nvPr/>
        </p:nvSpPr>
        <p:spPr>
          <a:xfrm>
            <a:off x="6519672" y="2103120"/>
            <a:ext cx="4846320" cy="411480"/>
          </a:xfrm>
          <a:prstGeom prst="rect">
            <a:avLst/>
          </a:prstGeom>
          <a:noFill/>
          <a:ln/>
        </p:spPr>
        <p:txBody>
          <a:bodyPr wrap="square" lIns="0" tIns="0" rIns="0" bIns="0" rtlCol="0" anchor="ctr"/>
          <a:lstStyle/>
          <a:p>
            <a:pPr indent="0" marL="0">
              <a:buNone/>
            </a:pPr>
            <a:r>
              <a:rPr lang="en-US" sz="1450" b="1" dirty="0">
                <a:solidFill>
                  <a:srgbClr val="1E2A35"/>
                </a:solidFill>
                <a:latin typeface="Calibri" pitchFamily="34" charset="0"/>
                <a:ea typeface="Calibri" pitchFamily="34" charset="-122"/>
                <a:cs typeface="Calibri" pitchFamily="34" charset="-120"/>
              </a:rPr>
              <a:t>Pídele una operación grande</a:t>
            </a:r>
            <a:endParaRPr lang="en-US" sz="1450" dirty="0"/>
          </a:p>
        </p:txBody>
      </p:sp>
      <p:sp>
        <p:nvSpPr>
          <p:cNvPr id="10" name="Text 8"/>
          <p:cNvSpPr txBox="1"/>
          <p:nvPr/>
        </p:nvSpPr>
        <p:spPr>
          <a:xfrm>
            <a:off x="6519672" y="2542032"/>
            <a:ext cx="4846320" cy="411480"/>
          </a:xfrm>
          <a:prstGeom prst="rect">
            <a:avLst/>
          </a:prstGeom>
          <a:noFill/>
          <a:ln/>
        </p:spPr>
        <p:txBody>
          <a:bodyPr wrap="square" lIns="0" tIns="0" rIns="0" bIns="0" rtlCol="0" anchor="ctr"/>
          <a:lstStyle/>
          <a:p>
            <a:pPr indent="0" marL="0">
              <a:buNone/>
            </a:pPr>
            <a:r>
              <a:rPr lang="en-US" sz="1250" i="1" dirty="0">
                <a:solidFill>
                  <a:srgbClr val="60707E"/>
                </a:solidFill>
                <a:latin typeface="Cambria" pitchFamily="34" charset="0"/>
                <a:ea typeface="Cambria" pitchFamily="34" charset="-122"/>
                <a:cs typeface="Cambria" pitchFamily="34" charset="-120"/>
              </a:rPr>
              <a:t>«¿Cuánto es 4,827 × 3,916?»</a:t>
            </a:r>
            <a:endParaRPr lang="en-US" sz="1250" dirty="0"/>
          </a:p>
        </p:txBody>
      </p:sp>
      <p:sp>
        <p:nvSpPr>
          <p:cNvPr id="11" name="Text 9"/>
          <p:cNvSpPr txBox="1"/>
          <p:nvPr/>
        </p:nvSpPr>
        <p:spPr>
          <a:xfrm>
            <a:off x="6519672" y="2999232"/>
            <a:ext cx="4846320" cy="96012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Devuelve un número del tamaño correcto pero con dígitos mal, porque predice cifras, no multiplica. </a:t>
            </a:r>
            <a:pPr indent="0" marL="0">
              <a:lnSpc>
                <a:spcPct val="105000"/>
              </a:lnSpc>
              <a:buNone/>
            </a:pPr>
            <a:r>
              <a:rPr lang="en-US" sz="1250" b="1" dirty="0">
                <a:solidFill>
                  <a:srgbClr val="2E6E49"/>
                </a:solidFill>
                <a:latin typeface="Calibri" pitchFamily="34" charset="0"/>
                <a:ea typeface="Calibri" pitchFamily="34" charset="-122"/>
                <a:cs typeface="Calibri" pitchFamily="34" charset="-120"/>
              </a:rPr>
              <a:t>El código da 18,902,532.</a:t>
            </a:r>
            <a:endParaRPr lang="en-US" sz="1250" dirty="0"/>
          </a:p>
        </p:txBody>
      </p:sp>
      <p:sp>
        <p:nvSpPr>
          <p:cNvPr id="12" name="Shape 10"/>
          <p:cNvSpPr/>
          <p:nvPr/>
        </p:nvSpPr>
        <p:spPr>
          <a:xfrm>
            <a:off x="548640" y="6053328"/>
            <a:ext cx="11091672" cy="603504"/>
          </a:xfrm>
          <a:prstGeom prst="rect">
            <a:avLst/>
          </a:prstGeom>
          <a:solidFill>
            <a:srgbClr val="FBEEE5"/>
          </a:solidFill>
          <a:ln/>
        </p:spPr>
      </p:sp>
      <p:sp>
        <p:nvSpPr>
          <p:cNvPr id="13" name="Shape 11"/>
          <p:cNvSpPr/>
          <p:nvPr/>
        </p:nvSpPr>
        <p:spPr>
          <a:xfrm>
            <a:off x="749808" y="6272784"/>
            <a:ext cx="164592" cy="164592"/>
          </a:xfrm>
          <a:prstGeom prst="roundRect">
            <a:avLst>
              <a:gd name="adj" fmla="val 22222"/>
            </a:avLst>
          </a:prstGeom>
          <a:solidFill>
            <a:srgbClr val="CB5E2E"/>
          </a:solidFill>
          <a:ln/>
        </p:spPr>
      </p:sp>
      <p:sp>
        <p:nvSpPr>
          <p:cNvPr id="14" name="Text 12"/>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Lo peligroso no es que se equivoque feo, sino poco: un número casi correcto, dicho con seguridad, nadie lo duda.</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La cura: que el modelo escriba el código, no el número</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No le pidas el resultado; pídele el código que lo calcula, y deja que una máquina de verdad lo ejecute.</a:t>
            </a:r>
            <a:endParaRPr lang="en-US" sz="1400" dirty="0"/>
          </a:p>
        </p:txBody>
      </p:sp>
      <p:sp>
        <p:nvSpPr>
          <p:cNvPr id="4" name="Shape 2"/>
          <p:cNvSpPr/>
          <p:nvPr/>
        </p:nvSpPr>
        <p:spPr>
          <a:xfrm>
            <a:off x="548640" y="1920240"/>
            <a:ext cx="5394960" cy="1828800"/>
          </a:xfrm>
          <a:prstGeom prst="roundRect">
            <a:avLst>
              <a:gd name="adj" fmla="val 3000"/>
            </a:avLst>
          </a:prstGeom>
          <a:solidFill>
            <a:srgbClr val="F9E7E3"/>
          </a:solidFill>
          <a:ln w="9525">
            <a:solidFill>
              <a:srgbClr val="D5DCE3"/>
            </a:solidFill>
            <a:prstDash val="solid"/>
          </a:ln>
        </p:spPr>
      </p:sp>
      <p:sp>
        <p:nvSpPr>
          <p:cNvPr id="5" name="Text 3"/>
          <p:cNvSpPr txBox="1"/>
          <p:nvPr/>
        </p:nvSpPr>
        <p:spPr>
          <a:xfrm>
            <a:off x="822960" y="2103120"/>
            <a:ext cx="4846320" cy="320040"/>
          </a:xfrm>
          <a:prstGeom prst="rect">
            <a:avLst/>
          </a:prstGeom>
          <a:noFill/>
          <a:ln/>
        </p:spPr>
        <p:txBody>
          <a:bodyPr wrap="square" lIns="0" tIns="0" rIns="0" bIns="0" rtlCol="0" anchor="ctr"/>
          <a:lstStyle/>
          <a:p>
            <a:pPr indent="0" marL="0">
              <a:buNone/>
            </a:pPr>
            <a:r>
              <a:rPr lang="en-US" sz="1200" b="1" spc="100" kern="0" dirty="0">
                <a:solidFill>
                  <a:srgbClr val="A23B22"/>
                </a:solidFill>
                <a:latin typeface="Calibri" pitchFamily="34" charset="0"/>
                <a:ea typeface="Calibri" pitchFamily="34" charset="-122"/>
                <a:cs typeface="Calibri" pitchFamily="34" charset="-120"/>
              </a:rPr>
              <a:t>PEDIRLE EL NÚMERO</a:t>
            </a:r>
            <a:endParaRPr lang="en-US" sz="1200" dirty="0"/>
          </a:p>
        </p:txBody>
      </p:sp>
      <p:sp>
        <p:nvSpPr>
          <p:cNvPr id="6" name="Text 4"/>
          <p:cNvSpPr txBox="1"/>
          <p:nvPr/>
        </p:nvSpPr>
        <p:spPr>
          <a:xfrm>
            <a:off x="822960" y="2432304"/>
            <a:ext cx="4846320" cy="365760"/>
          </a:xfrm>
          <a:prstGeom prst="rect">
            <a:avLst/>
          </a:prstGeom>
          <a:noFill/>
          <a:ln/>
        </p:spPr>
        <p:txBody>
          <a:bodyPr wrap="square" lIns="0" tIns="0" rIns="0" bIns="0" rtlCol="0" anchor="ctr"/>
          <a:lstStyle/>
          <a:p>
            <a:pPr indent="0" marL="0">
              <a:buNone/>
            </a:pPr>
            <a:r>
              <a:rPr lang="en-US" sz="1400" i="1" dirty="0">
                <a:solidFill>
                  <a:srgbClr val="1E2A35"/>
                </a:solidFill>
                <a:latin typeface="Cambria" pitchFamily="34" charset="0"/>
                <a:ea typeface="Cambria" pitchFamily="34" charset="-122"/>
                <a:cs typeface="Cambria" pitchFamily="34" charset="-120"/>
              </a:rPr>
              <a:t>«dame el promedio»</a:t>
            </a:r>
            <a:endParaRPr lang="en-US" sz="1400" dirty="0"/>
          </a:p>
        </p:txBody>
      </p:sp>
      <p:sp>
        <p:nvSpPr>
          <p:cNvPr id="7" name="Text 5"/>
          <p:cNvSpPr txBox="1"/>
          <p:nvPr/>
        </p:nvSpPr>
        <p:spPr>
          <a:xfrm>
            <a:off x="822960" y="2880360"/>
            <a:ext cx="4846320" cy="73152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El modelo estima la cifra. Confías en su adivinanza.</a:t>
            </a:r>
            <a:endParaRPr lang="en-US" sz="1250" dirty="0"/>
          </a:p>
        </p:txBody>
      </p:sp>
      <p:sp>
        <p:nvSpPr>
          <p:cNvPr id="8" name="Shape 6"/>
          <p:cNvSpPr/>
          <p:nvPr/>
        </p:nvSpPr>
        <p:spPr>
          <a:xfrm>
            <a:off x="6245352" y="1920240"/>
            <a:ext cx="5394960" cy="1828800"/>
          </a:xfrm>
          <a:prstGeom prst="roundRect">
            <a:avLst>
              <a:gd name="adj" fmla="val 3000"/>
            </a:avLst>
          </a:prstGeom>
          <a:solidFill>
            <a:srgbClr val="E7F2EA"/>
          </a:solidFill>
          <a:ln w="9525">
            <a:solidFill>
              <a:srgbClr val="D5DCE3"/>
            </a:solidFill>
            <a:prstDash val="solid"/>
          </a:ln>
        </p:spPr>
      </p:sp>
      <p:sp>
        <p:nvSpPr>
          <p:cNvPr id="9" name="Text 7"/>
          <p:cNvSpPr txBox="1"/>
          <p:nvPr/>
        </p:nvSpPr>
        <p:spPr>
          <a:xfrm>
            <a:off x="6519672" y="2103120"/>
            <a:ext cx="4846320" cy="320040"/>
          </a:xfrm>
          <a:prstGeom prst="rect">
            <a:avLst/>
          </a:prstGeom>
          <a:noFill/>
          <a:ln/>
        </p:spPr>
        <p:txBody>
          <a:bodyPr wrap="square" lIns="0" tIns="0" rIns="0" bIns="0" rtlCol="0" anchor="ctr"/>
          <a:lstStyle/>
          <a:p>
            <a:pPr indent="0" marL="0">
              <a:buNone/>
            </a:pPr>
            <a:r>
              <a:rPr lang="en-US" sz="1200" b="1" spc="100" kern="0" dirty="0">
                <a:solidFill>
                  <a:srgbClr val="2E6E49"/>
                </a:solidFill>
                <a:latin typeface="Calibri" pitchFamily="34" charset="0"/>
                <a:ea typeface="Calibri" pitchFamily="34" charset="-122"/>
                <a:cs typeface="Calibri" pitchFamily="34" charset="-120"/>
              </a:rPr>
              <a:t>PEDIRLE EL CÓDIGO</a:t>
            </a:r>
            <a:endParaRPr lang="en-US" sz="1200" dirty="0"/>
          </a:p>
        </p:txBody>
      </p:sp>
      <p:sp>
        <p:nvSpPr>
          <p:cNvPr id="10" name="Text 8"/>
          <p:cNvSpPr txBox="1"/>
          <p:nvPr/>
        </p:nvSpPr>
        <p:spPr>
          <a:xfrm>
            <a:off x="6519672" y="2432304"/>
            <a:ext cx="4846320" cy="365760"/>
          </a:xfrm>
          <a:prstGeom prst="rect">
            <a:avLst/>
          </a:prstGeom>
          <a:noFill/>
          <a:ln/>
        </p:spPr>
        <p:txBody>
          <a:bodyPr wrap="square" lIns="0" tIns="0" rIns="0" bIns="0" rtlCol="0" anchor="ctr"/>
          <a:lstStyle/>
          <a:p>
            <a:pPr indent="0" marL="0">
              <a:buNone/>
            </a:pPr>
            <a:r>
              <a:rPr lang="en-US" sz="1400" i="1" dirty="0">
                <a:solidFill>
                  <a:srgbClr val="1E2A35"/>
                </a:solidFill>
                <a:latin typeface="Cambria" pitchFamily="34" charset="0"/>
                <a:ea typeface="Cambria" pitchFamily="34" charset="-122"/>
                <a:cs typeface="Cambria" pitchFamily="34" charset="-120"/>
              </a:rPr>
              <a:t>«escribe el código que calcula el promedio»</a:t>
            </a:r>
            <a:endParaRPr lang="en-US" sz="1400" dirty="0"/>
          </a:p>
        </p:txBody>
      </p:sp>
      <p:sp>
        <p:nvSpPr>
          <p:cNvPr id="11" name="Text 9"/>
          <p:cNvSpPr txBox="1"/>
          <p:nvPr/>
        </p:nvSpPr>
        <p:spPr>
          <a:xfrm>
            <a:off x="6519672" y="2880360"/>
            <a:ext cx="4846320" cy="73152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El modelo escribe; el intérprete calcula. Confías en la ejecución, y puedes leer el código.</a:t>
            </a:r>
            <a:endParaRPr lang="en-US" sz="1250" dirty="0"/>
          </a:p>
        </p:txBody>
      </p:sp>
      <p:sp>
        <p:nvSpPr>
          <p:cNvPr id="12" name="Shape 10"/>
          <p:cNvSpPr/>
          <p:nvPr/>
        </p:nvSpPr>
        <p:spPr>
          <a:xfrm>
            <a:off x="548640" y="3977640"/>
            <a:ext cx="11091672" cy="1737360"/>
          </a:xfrm>
          <a:prstGeom prst="roundRect">
            <a:avLst>
              <a:gd name="adj" fmla="val 3158"/>
            </a:avLst>
          </a:prstGeom>
          <a:solidFill>
            <a:srgbClr val="15293B"/>
          </a:solidFill>
          <a:ln/>
        </p:spPr>
      </p:sp>
      <p:sp>
        <p:nvSpPr>
          <p:cNvPr id="13" name="Text 11"/>
          <p:cNvSpPr txBox="1"/>
          <p:nvPr/>
        </p:nvSpPr>
        <p:spPr>
          <a:xfrm>
            <a:off x="868680" y="4160520"/>
            <a:ext cx="10451592" cy="365760"/>
          </a:xfrm>
          <a:prstGeom prst="rect">
            <a:avLst/>
          </a:prstGeom>
          <a:noFill/>
          <a:ln/>
        </p:spPr>
        <p:txBody>
          <a:bodyPr wrap="square" lIns="0" tIns="0" rIns="0" bIns="0" rtlCol="0" anchor="ctr"/>
          <a:lstStyle/>
          <a:p>
            <a:pPr indent="0" marL="0">
              <a:buNone/>
            </a:pPr>
            <a:r>
              <a:rPr lang="en-US" sz="1600" b="1" dirty="0">
                <a:solidFill>
                  <a:srgbClr val="E58A5B"/>
                </a:solidFill>
                <a:latin typeface="Calibri" pitchFamily="34" charset="0"/>
                <a:ea typeface="Calibri" pitchFamily="34" charset="-122"/>
                <a:cs typeface="Calibri" pitchFamily="34" charset="-120"/>
              </a:rPr>
              <a:t>Por eso el notebook, y por eso el agente dentro de él</a:t>
            </a:r>
            <a:endParaRPr lang="en-US" sz="1600" dirty="0"/>
          </a:p>
        </p:txBody>
      </p:sp>
      <p:sp>
        <p:nvSpPr>
          <p:cNvPr id="14" name="Text 12"/>
          <p:cNvSpPr txBox="1"/>
          <p:nvPr/>
        </p:nvSpPr>
        <p:spPr>
          <a:xfrm>
            <a:off x="868680" y="4544568"/>
            <a:ext cx="10451592" cy="1097280"/>
          </a:xfrm>
          <a:prstGeom prst="rect">
            <a:avLst/>
          </a:prstGeom>
          <a:noFill/>
          <a:ln/>
        </p:spPr>
        <p:txBody>
          <a:bodyPr wrap="square" lIns="0" tIns="0" rIns="0" bIns="0" rtlCol="0" anchor="ctr"/>
          <a:lstStyle/>
          <a:p>
            <a:pPr indent="0" marL="0">
              <a:lnSpc>
                <a:spcPct val="105000"/>
              </a:lnSpc>
              <a:buNone/>
            </a:pPr>
            <a:r>
              <a:rPr lang="en-US" sz="1300" dirty="0">
                <a:solidFill>
                  <a:srgbClr val="E4EAF0"/>
                </a:solidFill>
                <a:latin typeface="Calibri" pitchFamily="34" charset="0"/>
                <a:ea typeface="Calibri" pitchFamily="34" charset="-122"/>
                <a:cs typeface="Calibri" pitchFamily="34" charset="-120"/>
              </a:rPr>
              <a:t>Esto se llama prompt-to-code, y es la razón de fondo para trabajar lo cuantitativo en un notebook y no en un chat. </a:t>
            </a:r>
            <a:pPr indent="0" marL="0">
              <a:lnSpc>
                <a:spcPct val="105000"/>
              </a:lnSpc>
              <a:buNone/>
            </a:pPr>
            <a:r>
              <a:rPr lang="en-US" sz="1300" b="1" dirty="0">
                <a:solidFill>
                  <a:srgbClr val="FFFFFF"/>
                </a:solidFill>
                <a:latin typeface="Calibri" pitchFamily="34" charset="0"/>
                <a:ea typeface="Calibri" pitchFamily="34" charset="-122"/>
                <a:cs typeface="Calibri" pitchFamily="34" charset="-120"/>
              </a:rPr>
              <a:t>Un agente de código es más confiable que un chat justamente porque corre el código en vez de narrar el número; </a:t>
            </a:r>
            <a:pPr indent="0" marL="0">
              <a:lnSpc>
                <a:spcPct val="105000"/>
              </a:lnSpc>
              <a:buNone/>
            </a:pPr>
            <a:r>
              <a:rPr lang="en-US" sz="1300" dirty="0">
                <a:solidFill>
                  <a:srgbClr val="E4EAF0"/>
                </a:solidFill>
                <a:latin typeface="Calibri" pitchFamily="34" charset="0"/>
                <a:ea typeface="Calibri" pitchFamily="34" charset="-122"/>
                <a:cs typeface="Calibri" pitchFamily="34" charset="-120"/>
              </a:rPr>
              <a:t>pero solo si tú puedes leer y volver a correr lo que hizo. Ejecutar sin poder revisar no es mejor que adivinar.</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El flujo cuantitativo completo</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Juntando la Sesión 7 y la 8: el camino de un dato crudo a un número que se puede defender.</a:t>
            </a:r>
            <a:endParaRPr lang="en-US" sz="1400" dirty="0"/>
          </a:p>
        </p:txBody>
      </p:sp>
      <p:sp>
        <p:nvSpPr>
          <p:cNvPr id="4" name="Shape 2"/>
          <p:cNvSpPr/>
          <p:nvPr/>
        </p:nvSpPr>
        <p:spPr>
          <a:xfrm>
            <a:off x="548640" y="2011680"/>
            <a:ext cx="2035454" cy="2468880"/>
          </a:xfrm>
          <a:prstGeom prst="roundRect">
            <a:avLst>
              <a:gd name="adj" fmla="val 2695"/>
            </a:avLst>
          </a:prstGeom>
          <a:solidFill>
            <a:srgbClr val="EEF2F5"/>
          </a:solidFill>
          <a:ln w="9525">
            <a:solidFill>
              <a:srgbClr val="D5DCE3"/>
            </a:solidFill>
            <a:prstDash val="solid"/>
          </a:ln>
        </p:spPr>
      </p:sp>
      <p:sp>
        <p:nvSpPr>
          <p:cNvPr id="5" name="Shape 3"/>
          <p:cNvSpPr/>
          <p:nvPr/>
        </p:nvSpPr>
        <p:spPr>
          <a:xfrm>
            <a:off x="1292047" y="2240280"/>
            <a:ext cx="548640" cy="548640"/>
          </a:xfrm>
          <a:prstGeom prst="ellipse">
            <a:avLst/>
          </a:prstGeom>
          <a:solidFill>
            <a:srgbClr val="CB5E2E"/>
          </a:solidFill>
          <a:ln/>
        </p:spPr>
      </p:sp>
      <p:sp>
        <p:nvSpPr>
          <p:cNvPr id="6" name="Text 4"/>
          <p:cNvSpPr txBox="1"/>
          <p:nvPr/>
        </p:nvSpPr>
        <p:spPr>
          <a:xfrm>
            <a:off x="1292047" y="22402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685800" y="2926080"/>
            <a:ext cx="1761134" cy="365760"/>
          </a:xfrm>
          <a:prstGeom prst="rect">
            <a:avLst/>
          </a:prstGeom>
          <a:noFill/>
          <a:ln/>
        </p:spPr>
        <p:txBody>
          <a:bodyPr wrap="square" lIns="0" tIns="0" rIns="0" bIns="0" rtlCol="0" anchor="ctr"/>
          <a:lstStyle/>
          <a:p>
            <a:pPr algn="ctr" indent="0" marL="0">
              <a:buNone/>
            </a:pPr>
            <a:r>
              <a:rPr lang="en-US" sz="1500" b="1" dirty="0">
                <a:solidFill>
                  <a:srgbClr val="1E2A35"/>
                </a:solidFill>
                <a:latin typeface="Calibri" pitchFamily="34" charset="0"/>
                <a:ea typeface="Calibri" pitchFamily="34" charset="-122"/>
                <a:cs typeface="Calibri" pitchFamily="34" charset="-120"/>
              </a:rPr>
              <a:t>Explorar</a:t>
            </a:r>
            <a:endParaRPr lang="en-US" sz="1500" dirty="0"/>
          </a:p>
        </p:txBody>
      </p:sp>
      <p:sp>
        <p:nvSpPr>
          <p:cNvPr id="8" name="Text 6"/>
          <p:cNvSpPr txBox="1"/>
          <p:nvPr/>
        </p:nvSpPr>
        <p:spPr>
          <a:xfrm>
            <a:off x="713232" y="3337560"/>
            <a:ext cx="1706270" cy="1051560"/>
          </a:xfrm>
          <a:prstGeom prst="rect">
            <a:avLst/>
          </a:prstGeom>
          <a:noFill/>
          <a:ln/>
        </p:spPr>
        <p:txBody>
          <a:bodyPr wrap="square" lIns="0" tIns="0" rIns="0" bIns="0" rtlCol="0" anchor="ctr"/>
          <a:lstStyle/>
          <a:p>
            <a:pPr algn="ctr" indent="0" marL="0">
              <a:lnSpc>
                <a:spcPct val="100000"/>
              </a:lnSpc>
              <a:buNone/>
            </a:pPr>
            <a:r>
              <a:rPr lang="en-US" sz="1100" dirty="0">
                <a:solidFill>
                  <a:srgbClr val="60707E"/>
                </a:solidFill>
                <a:latin typeface="Calibri" pitchFamily="34" charset="0"/>
                <a:ea typeface="Calibri" pitchFamily="34" charset="-122"/>
                <a:cs typeface="Calibri" pitchFamily="34" charset="-120"/>
              </a:rPr>
              <a:t>EDA: mirar tipos, faltantes, rangos y duplicados antes de calcular</a:t>
            </a:r>
            <a:endParaRPr lang="en-US" sz="1100" dirty="0"/>
          </a:p>
        </p:txBody>
      </p:sp>
      <p:sp>
        <p:nvSpPr>
          <p:cNvPr id="9" name="Shape 7"/>
          <p:cNvSpPr/>
          <p:nvPr/>
        </p:nvSpPr>
        <p:spPr>
          <a:xfrm>
            <a:off x="2812694" y="2011680"/>
            <a:ext cx="2035454" cy="2468880"/>
          </a:xfrm>
          <a:prstGeom prst="roundRect">
            <a:avLst>
              <a:gd name="adj" fmla="val 2695"/>
            </a:avLst>
          </a:prstGeom>
          <a:solidFill>
            <a:srgbClr val="EEF2F5"/>
          </a:solidFill>
          <a:ln w="9525">
            <a:solidFill>
              <a:srgbClr val="D5DCE3"/>
            </a:solidFill>
            <a:prstDash val="solid"/>
          </a:ln>
        </p:spPr>
      </p:sp>
      <p:sp>
        <p:nvSpPr>
          <p:cNvPr id="10" name="Shape 8"/>
          <p:cNvSpPr/>
          <p:nvPr/>
        </p:nvSpPr>
        <p:spPr>
          <a:xfrm>
            <a:off x="3556102" y="2240280"/>
            <a:ext cx="548640" cy="548640"/>
          </a:xfrm>
          <a:prstGeom prst="ellipse">
            <a:avLst/>
          </a:prstGeom>
          <a:solidFill>
            <a:srgbClr val="CB5E2E"/>
          </a:solidFill>
          <a:ln/>
        </p:spPr>
      </p:sp>
      <p:sp>
        <p:nvSpPr>
          <p:cNvPr id="11" name="Text 9"/>
          <p:cNvSpPr txBox="1"/>
          <p:nvPr/>
        </p:nvSpPr>
        <p:spPr>
          <a:xfrm>
            <a:off x="3556102" y="22402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txBox="1"/>
          <p:nvPr/>
        </p:nvSpPr>
        <p:spPr>
          <a:xfrm>
            <a:off x="2949854" y="2926080"/>
            <a:ext cx="1761134" cy="365760"/>
          </a:xfrm>
          <a:prstGeom prst="rect">
            <a:avLst/>
          </a:prstGeom>
          <a:noFill/>
          <a:ln/>
        </p:spPr>
        <p:txBody>
          <a:bodyPr wrap="square" lIns="0" tIns="0" rIns="0" bIns="0" rtlCol="0" anchor="ctr"/>
          <a:lstStyle/>
          <a:p>
            <a:pPr algn="ctr" indent="0" marL="0">
              <a:buNone/>
            </a:pPr>
            <a:r>
              <a:rPr lang="en-US" sz="1500" b="1" dirty="0">
                <a:solidFill>
                  <a:srgbClr val="1E2A35"/>
                </a:solidFill>
                <a:latin typeface="Calibri" pitchFamily="34" charset="0"/>
                <a:ea typeface="Calibri" pitchFamily="34" charset="-122"/>
                <a:cs typeface="Calibri" pitchFamily="34" charset="-120"/>
              </a:rPr>
              <a:t>Depurar</a:t>
            </a:r>
            <a:endParaRPr lang="en-US" sz="1500" dirty="0"/>
          </a:p>
        </p:txBody>
      </p:sp>
      <p:sp>
        <p:nvSpPr>
          <p:cNvPr id="13" name="Text 11"/>
          <p:cNvSpPr txBox="1"/>
          <p:nvPr/>
        </p:nvSpPr>
        <p:spPr>
          <a:xfrm>
            <a:off x="2977286" y="3337560"/>
            <a:ext cx="1706270" cy="1051560"/>
          </a:xfrm>
          <a:prstGeom prst="rect">
            <a:avLst/>
          </a:prstGeom>
          <a:noFill/>
          <a:ln/>
        </p:spPr>
        <p:txBody>
          <a:bodyPr wrap="square" lIns="0" tIns="0" rIns="0" bIns="0" rtlCol="0" anchor="ctr"/>
          <a:lstStyle/>
          <a:p>
            <a:pPr algn="ctr" indent="0" marL="0">
              <a:lnSpc>
                <a:spcPct val="100000"/>
              </a:lnSpc>
              <a:buNone/>
            </a:pPr>
            <a:r>
              <a:rPr lang="en-US" sz="1100" dirty="0">
                <a:solidFill>
                  <a:srgbClr val="60707E"/>
                </a:solidFill>
                <a:latin typeface="Calibri" pitchFamily="34" charset="0"/>
                <a:ea typeface="Calibri" pitchFamily="34" charset="-122"/>
                <a:cs typeface="Calibri" pitchFamily="34" charset="-120"/>
              </a:rPr>
              <a:t>arreglar texto, vacíos, duplicados y categorías, con criterio</a:t>
            </a:r>
            <a:endParaRPr lang="en-US" sz="1100" dirty="0"/>
          </a:p>
        </p:txBody>
      </p:sp>
      <p:sp>
        <p:nvSpPr>
          <p:cNvPr id="14" name="Shape 12"/>
          <p:cNvSpPr/>
          <p:nvPr/>
        </p:nvSpPr>
        <p:spPr>
          <a:xfrm>
            <a:off x="5076749" y="2011680"/>
            <a:ext cx="2035454" cy="2468880"/>
          </a:xfrm>
          <a:prstGeom prst="roundRect">
            <a:avLst>
              <a:gd name="adj" fmla="val 2695"/>
            </a:avLst>
          </a:prstGeom>
          <a:solidFill>
            <a:srgbClr val="EEF2F5"/>
          </a:solidFill>
          <a:ln w="9525">
            <a:solidFill>
              <a:srgbClr val="D5DCE3"/>
            </a:solidFill>
            <a:prstDash val="solid"/>
          </a:ln>
        </p:spPr>
      </p:sp>
      <p:sp>
        <p:nvSpPr>
          <p:cNvPr id="15" name="Shape 13"/>
          <p:cNvSpPr/>
          <p:nvPr/>
        </p:nvSpPr>
        <p:spPr>
          <a:xfrm>
            <a:off x="5820156" y="2240280"/>
            <a:ext cx="548640" cy="548640"/>
          </a:xfrm>
          <a:prstGeom prst="ellipse">
            <a:avLst/>
          </a:prstGeom>
          <a:solidFill>
            <a:srgbClr val="CB5E2E"/>
          </a:solidFill>
          <a:ln/>
        </p:spPr>
      </p:sp>
      <p:sp>
        <p:nvSpPr>
          <p:cNvPr id="16" name="Text 14"/>
          <p:cNvSpPr txBox="1"/>
          <p:nvPr/>
        </p:nvSpPr>
        <p:spPr>
          <a:xfrm>
            <a:off x="5820156" y="22402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txBox="1"/>
          <p:nvPr/>
        </p:nvSpPr>
        <p:spPr>
          <a:xfrm>
            <a:off x="5213909" y="2926080"/>
            <a:ext cx="1761134" cy="365760"/>
          </a:xfrm>
          <a:prstGeom prst="rect">
            <a:avLst/>
          </a:prstGeom>
          <a:noFill/>
          <a:ln/>
        </p:spPr>
        <p:txBody>
          <a:bodyPr wrap="square" lIns="0" tIns="0" rIns="0" bIns="0" rtlCol="0" anchor="ctr"/>
          <a:lstStyle/>
          <a:p>
            <a:pPr algn="ctr" indent="0" marL="0">
              <a:buNone/>
            </a:pPr>
            <a:r>
              <a:rPr lang="en-US" sz="1500" b="1" dirty="0">
                <a:solidFill>
                  <a:srgbClr val="1E2A35"/>
                </a:solidFill>
                <a:latin typeface="Calibri" pitchFamily="34" charset="0"/>
                <a:ea typeface="Calibri" pitchFamily="34" charset="-122"/>
                <a:cs typeface="Calibri" pitchFamily="34" charset="-120"/>
              </a:rPr>
              <a:t>Verificar</a:t>
            </a:r>
            <a:endParaRPr lang="en-US" sz="1500" dirty="0"/>
          </a:p>
        </p:txBody>
      </p:sp>
      <p:sp>
        <p:nvSpPr>
          <p:cNvPr id="18" name="Text 16"/>
          <p:cNvSpPr txBox="1"/>
          <p:nvPr/>
        </p:nvSpPr>
        <p:spPr>
          <a:xfrm>
            <a:off x="5241341" y="3337560"/>
            <a:ext cx="1706270" cy="1051560"/>
          </a:xfrm>
          <a:prstGeom prst="rect">
            <a:avLst/>
          </a:prstGeom>
          <a:noFill/>
          <a:ln/>
        </p:spPr>
        <p:txBody>
          <a:bodyPr wrap="square" lIns="0" tIns="0" rIns="0" bIns="0" rtlCol="0" anchor="ctr"/>
          <a:lstStyle/>
          <a:p>
            <a:pPr algn="ctr" indent="0" marL="0">
              <a:lnSpc>
                <a:spcPct val="100000"/>
              </a:lnSpc>
              <a:buNone/>
            </a:pPr>
            <a:r>
              <a:rPr lang="en-US" sz="1100" dirty="0">
                <a:solidFill>
                  <a:srgbClr val="60707E"/>
                </a:solidFill>
                <a:latin typeface="Calibri" pitchFamily="34" charset="0"/>
                <a:ea typeface="Calibri" pitchFamily="34" charset="-122"/>
                <a:cs typeface="Calibri" pitchFamily="34" charset="-120"/>
              </a:rPr>
              <a:t>contrastar el número contra algo conocido; leer lo que hizo la IA</a:t>
            </a:r>
            <a:endParaRPr lang="en-US" sz="1100" dirty="0"/>
          </a:p>
        </p:txBody>
      </p:sp>
      <p:sp>
        <p:nvSpPr>
          <p:cNvPr id="19" name="Shape 17"/>
          <p:cNvSpPr/>
          <p:nvPr/>
        </p:nvSpPr>
        <p:spPr>
          <a:xfrm>
            <a:off x="7340803" y="2011680"/>
            <a:ext cx="2035454" cy="2468880"/>
          </a:xfrm>
          <a:prstGeom prst="roundRect">
            <a:avLst>
              <a:gd name="adj" fmla="val 2695"/>
            </a:avLst>
          </a:prstGeom>
          <a:solidFill>
            <a:srgbClr val="E7F2EA"/>
          </a:solidFill>
          <a:ln w="9525">
            <a:solidFill>
              <a:srgbClr val="D5DCE3"/>
            </a:solidFill>
            <a:prstDash val="solid"/>
          </a:ln>
        </p:spPr>
      </p:sp>
      <p:sp>
        <p:nvSpPr>
          <p:cNvPr id="20" name="Shape 18"/>
          <p:cNvSpPr/>
          <p:nvPr/>
        </p:nvSpPr>
        <p:spPr>
          <a:xfrm>
            <a:off x="8084210" y="2240280"/>
            <a:ext cx="548640" cy="548640"/>
          </a:xfrm>
          <a:prstGeom prst="ellipse">
            <a:avLst/>
          </a:prstGeom>
          <a:solidFill>
            <a:srgbClr val="CB5E2E"/>
          </a:solidFill>
          <a:ln/>
        </p:spPr>
      </p:sp>
      <p:sp>
        <p:nvSpPr>
          <p:cNvPr id="21" name="Text 19"/>
          <p:cNvSpPr txBox="1"/>
          <p:nvPr/>
        </p:nvSpPr>
        <p:spPr>
          <a:xfrm>
            <a:off x="8084210" y="22402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2" name="Text 20"/>
          <p:cNvSpPr txBox="1"/>
          <p:nvPr/>
        </p:nvSpPr>
        <p:spPr>
          <a:xfrm>
            <a:off x="7477963" y="2926080"/>
            <a:ext cx="1761134" cy="365760"/>
          </a:xfrm>
          <a:prstGeom prst="rect">
            <a:avLst/>
          </a:prstGeom>
          <a:noFill/>
          <a:ln/>
        </p:spPr>
        <p:txBody>
          <a:bodyPr wrap="square" lIns="0" tIns="0" rIns="0" bIns="0" rtlCol="0" anchor="ctr"/>
          <a:lstStyle/>
          <a:p>
            <a:pPr algn="ctr" indent="0" marL="0">
              <a:buNone/>
            </a:pPr>
            <a:r>
              <a:rPr lang="en-US" sz="1500" b="1" dirty="0">
                <a:solidFill>
                  <a:srgbClr val="1E2A35"/>
                </a:solidFill>
                <a:latin typeface="Calibri" pitchFamily="34" charset="0"/>
                <a:ea typeface="Calibri" pitchFamily="34" charset="-122"/>
                <a:cs typeface="Calibri" pitchFamily="34" charset="-120"/>
              </a:rPr>
              <a:t>Documentar</a:t>
            </a:r>
            <a:endParaRPr lang="en-US" sz="1500" dirty="0"/>
          </a:p>
        </p:txBody>
      </p:sp>
      <p:sp>
        <p:nvSpPr>
          <p:cNvPr id="23" name="Text 21"/>
          <p:cNvSpPr txBox="1"/>
          <p:nvPr/>
        </p:nvSpPr>
        <p:spPr>
          <a:xfrm>
            <a:off x="7505395" y="3337560"/>
            <a:ext cx="1706270" cy="1051560"/>
          </a:xfrm>
          <a:prstGeom prst="rect">
            <a:avLst/>
          </a:prstGeom>
          <a:noFill/>
          <a:ln/>
        </p:spPr>
        <p:txBody>
          <a:bodyPr wrap="square" lIns="0" tIns="0" rIns="0" bIns="0" rtlCol="0" anchor="ctr"/>
          <a:lstStyle/>
          <a:p>
            <a:pPr algn="ctr" indent="0" marL="0">
              <a:lnSpc>
                <a:spcPct val="100000"/>
              </a:lnSpc>
              <a:buNone/>
            </a:pPr>
            <a:r>
              <a:rPr lang="en-US" sz="1100" dirty="0">
                <a:solidFill>
                  <a:srgbClr val="60707E"/>
                </a:solidFill>
                <a:latin typeface="Calibri" pitchFamily="34" charset="0"/>
                <a:ea typeface="Calibri" pitchFamily="34" charset="-122"/>
                <a:cs typeface="Calibri" pitchFamily="34" charset="-120"/>
              </a:rPr>
              <a:t>cada paso como código y su porqué como texto en el notebook</a:t>
            </a:r>
            <a:endParaRPr lang="en-US" sz="1100" dirty="0"/>
          </a:p>
        </p:txBody>
      </p:sp>
      <p:sp>
        <p:nvSpPr>
          <p:cNvPr id="24" name="Shape 22"/>
          <p:cNvSpPr/>
          <p:nvPr/>
        </p:nvSpPr>
        <p:spPr>
          <a:xfrm>
            <a:off x="9604858" y="2011680"/>
            <a:ext cx="2035454" cy="2468880"/>
          </a:xfrm>
          <a:prstGeom prst="roundRect">
            <a:avLst>
              <a:gd name="adj" fmla="val 2695"/>
            </a:avLst>
          </a:prstGeom>
          <a:solidFill>
            <a:srgbClr val="E7F2EA"/>
          </a:solidFill>
          <a:ln w="9525">
            <a:solidFill>
              <a:srgbClr val="D5DCE3"/>
            </a:solidFill>
            <a:prstDash val="solid"/>
          </a:ln>
        </p:spPr>
      </p:sp>
      <p:sp>
        <p:nvSpPr>
          <p:cNvPr id="25" name="Shape 23"/>
          <p:cNvSpPr/>
          <p:nvPr/>
        </p:nvSpPr>
        <p:spPr>
          <a:xfrm>
            <a:off x="10348265" y="2240280"/>
            <a:ext cx="548640" cy="548640"/>
          </a:xfrm>
          <a:prstGeom prst="ellipse">
            <a:avLst/>
          </a:prstGeom>
          <a:solidFill>
            <a:srgbClr val="CB5E2E"/>
          </a:solidFill>
          <a:ln/>
        </p:spPr>
      </p:sp>
      <p:sp>
        <p:nvSpPr>
          <p:cNvPr id="26" name="Text 24"/>
          <p:cNvSpPr txBox="1"/>
          <p:nvPr/>
        </p:nvSpPr>
        <p:spPr>
          <a:xfrm>
            <a:off x="10348265" y="22402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7" name="Text 25"/>
          <p:cNvSpPr txBox="1"/>
          <p:nvPr/>
        </p:nvSpPr>
        <p:spPr>
          <a:xfrm>
            <a:off x="9742018" y="2926080"/>
            <a:ext cx="1761134" cy="365760"/>
          </a:xfrm>
          <a:prstGeom prst="rect">
            <a:avLst/>
          </a:prstGeom>
          <a:noFill/>
          <a:ln/>
        </p:spPr>
        <p:txBody>
          <a:bodyPr wrap="square" lIns="0" tIns="0" rIns="0" bIns="0" rtlCol="0" anchor="ctr"/>
          <a:lstStyle/>
          <a:p>
            <a:pPr algn="ctr" indent="0" marL="0">
              <a:buNone/>
            </a:pPr>
            <a:r>
              <a:rPr lang="en-US" sz="1500" b="1" dirty="0">
                <a:solidFill>
                  <a:srgbClr val="1E2A35"/>
                </a:solidFill>
                <a:latin typeface="Calibri" pitchFamily="34" charset="0"/>
                <a:ea typeface="Calibri" pitchFamily="34" charset="-122"/>
                <a:cs typeface="Calibri" pitchFamily="34" charset="-120"/>
              </a:rPr>
              <a:t>Reproducir</a:t>
            </a:r>
            <a:endParaRPr lang="en-US" sz="1500" dirty="0"/>
          </a:p>
        </p:txBody>
      </p:sp>
      <p:sp>
        <p:nvSpPr>
          <p:cNvPr id="28" name="Text 26"/>
          <p:cNvSpPr txBox="1"/>
          <p:nvPr/>
        </p:nvSpPr>
        <p:spPr>
          <a:xfrm>
            <a:off x="9769450" y="3337560"/>
            <a:ext cx="1706270" cy="1051560"/>
          </a:xfrm>
          <a:prstGeom prst="rect">
            <a:avLst/>
          </a:prstGeom>
          <a:noFill/>
          <a:ln/>
        </p:spPr>
        <p:txBody>
          <a:bodyPr wrap="square" lIns="0" tIns="0" rIns="0" bIns="0" rtlCol="0" anchor="ctr"/>
          <a:lstStyle/>
          <a:p>
            <a:pPr algn="ctr" indent="0" marL="0">
              <a:lnSpc>
                <a:spcPct val="100000"/>
              </a:lnSpc>
              <a:buNone/>
            </a:pPr>
            <a:r>
              <a:rPr lang="en-US" sz="1100" dirty="0">
                <a:solidFill>
                  <a:srgbClr val="60707E"/>
                </a:solidFill>
                <a:latin typeface="Calibri" pitchFamily="34" charset="0"/>
                <a:ea typeface="Calibri" pitchFamily="34" charset="-122"/>
                <a:cs typeface="Calibri" pitchFamily="34" charset="-120"/>
              </a:rPr>
              <a:t>reiniciar y correr todo: cualquiera obtiene el mismo resultado</a:t>
            </a:r>
            <a:endParaRPr lang="en-US" sz="1100" dirty="0"/>
          </a:p>
        </p:txBody>
      </p:sp>
      <p:sp>
        <p:nvSpPr>
          <p:cNvPr id="29" name="Text 27"/>
          <p:cNvSpPr txBox="1"/>
          <p:nvPr/>
        </p:nvSpPr>
        <p:spPr>
          <a:xfrm>
            <a:off x="548640" y="4617720"/>
            <a:ext cx="6563563" cy="320040"/>
          </a:xfrm>
          <a:prstGeom prst="rect">
            <a:avLst/>
          </a:prstGeom>
          <a:noFill/>
          <a:ln/>
        </p:spPr>
        <p:txBody>
          <a:bodyPr wrap="square" lIns="0" tIns="0" rIns="0" bIns="0" rtlCol="0" anchor="ctr"/>
          <a:lstStyle/>
          <a:p>
            <a:pPr algn="ctr" indent="0" marL="0">
              <a:buNone/>
            </a:pPr>
            <a:r>
              <a:rPr lang="en-US" sz="1200" b="1" dirty="0">
                <a:solidFill>
                  <a:srgbClr val="CB5E2E"/>
                </a:solidFill>
                <a:latin typeface="Calibri" pitchFamily="34" charset="0"/>
                <a:ea typeface="Calibri" pitchFamily="34" charset="-122"/>
                <a:cs typeface="Calibri" pitchFamily="34" charset="-120"/>
              </a:rPr>
              <a:t>Sesión 7</a:t>
            </a:r>
            <a:endParaRPr lang="en-US" sz="1200" dirty="0"/>
          </a:p>
        </p:txBody>
      </p:sp>
      <p:sp>
        <p:nvSpPr>
          <p:cNvPr id="30" name="Text 28"/>
          <p:cNvSpPr txBox="1"/>
          <p:nvPr/>
        </p:nvSpPr>
        <p:spPr>
          <a:xfrm>
            <a:off x="7340803" y="4617720"/>
            <a:ext cx="4299509" cy="320040"/>
          </a:xfrm>
          <a:prstGeom prst="rect">
            <a:avLst/>
          </a:prstGeom>
          <a:noFill/>
          <a:ln/>
        </p:spPr>
        <p:txBody>
          <a:bodyPr wrap="square" lIns="0" tIns="0" rIns="0" bIns="0" rtlCol="0" anchor="ctr"/>
          <a:lstStyle/>
          <a:p>
            <a:pPr algn="ctr" indent="0" marL="0">
              <a:buNone/>
            </a:pPr>
            <a:r>
              <a:rPr lang="en-US" sz="1200" b="1" dirty="0">
                <a:solidFill>
                  <a:srgbClr val="2E6E49"/>
                </a:solidFill>
                <a:latin typeface="Calibri" pitchFamily="34" charset="0"/>
                <a:ea typeface="Calibri" pitchFamily="34" charset="-122"/>
                <a:cs typeface="Calibri" pitchFamily="34" charset="-120"/>
              </a:rPr>
              <a:t>Sesión 8</a:t>
            </a:r>
            <a:endParaRPr lang="en-US" sz="1200" dirty="0"/>
          </a:p>
        </p:txBody>
      </p:sp>
      <p:sp>
        <p:nvSpPr>
          <p:cNvPr id="31" name="Shape 29"/>
          <p:cNvSpPr/>
          <p:nvPr/>
        </p:nvSpPr>
        <p:spPr>
          <a:xfrm>
            <a:off x="548640" y="6053328"/>
            <a:ext cx="11091672" cy="603504"/>
          </a:xfrm>
          <a:prstGeom prst="rect">
            <a:avLst/>
          </a:prstGeom>
          <a:solidFill>
            <a:srgbClr val="FBEEE5"/>
          </a:solidFill>
          <a:ln/>
        </p:spPr>
      </p:sp>
      <p:sp>
        <p:nvSpPr>
          <p:cNvPr id="32" name="Shape 30"/>
          <p:cNvSpPr/>
          <p:nvPr/>
        </p:nvSpPr>
        <p:spPr>
          <a:xfrm>
            <a:off x="749808" y="6272784"/>
            <a:ext cx="164592" cy="164592"/>
          </a:xfrm>
          <a:prstGeom prst="roundRect">
            <a:avLst>
              <a:gd name="adj" fmla="val 22222"/>
            </a:avLst>
          </a:prstGeom>
          <a:solidFill>
            <a:srgbClr val="CB5E2E"/>
          </a:solidFill>
          <a:ln/>
        </p:spPr>
      </p:sp>
      <p:sp>
        <p:nvSpPr>
          <p:cNvPr id="33" name="Text 31"/>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Un número sin los pasos 4 y 5 puede ser correcto, pero no es defendible: nadie más lo puede obtener ni comprobar. La reproducibilidad no adorna el análisis, lo hace revisable.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El semáforo de datos, en la nube</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Colab y muchos asistentes son servicios externos. Con microdatos, dónde corre el análisis importa tanto como qué hace.</a:t>
            </a:r>
            <a:endParaRPr lang="en-US" sz="1400" dirty="0"/>
          </a:p>
        </p:txBody>
      </p:sp>
      <p:sp>
        <p:nvSpPr>
          <p:cNvPr id="4" name="Shape 2"/>
          <p:cNvSpPr/>
          <p:nvPr/>
        </p:nvSpPr>
        <p:spPr>
          <a:xfrm>
            <a:off x="548640" y="2057400"/>
            <a:ext cx="3502152" cy="2743200"/>
          </a:xfrm>
          <a:prstGeom prst="roundRect">
            <a:avLst>
              <a:gd name="adj" fmla="val 2000"/>
            </a:avLst>
          </a:prstGeom>
          <a:solidFill>
            <a:srgbClr val="FFFFFF"/>
          </a:solidFill>
          <a:ln w="9525">
            <a:solidFill>
              <a:srgbClr val="D5DCE3"/>
            </a:solidFill>
            <a:prstDash val="solid"/>
          </a:ln>
        </p:spPr>
      </p:sp>
      <p:sp>
        <p:nvSpPr>
          <p:cNvPr id="5" name="Shape 3"/>
          <p:cNvSpPr/>
          <p:nvPr/>
        </p:nvSpPr>
        <p:spPr>
          <a:xfrm>
            <a:off x="1933956" y="2331720"/>
            <a:ext cx="731520" cy="731520"/>
          </a:xfrm>
          <a:prstGeom prst="ellipse">
            <a:avLst/>
          </a:prstGeom>
          <a:solidFill>
            <a:srgbClr val="3E9B5B"/>
          </a:solidFill>
          <a:ln/>
        </p:spPr>
      </p:sp>
      <p:sp>
        <p:nvSpPr>
          <p:cNvPr id="6" name="Text 4"/>
          <p:cNvSpPr txBox="1"/>
          <p:nvPr/>
        </p:nvSpPr>
        <p:spPr>
          <a:xfrm>
            <a:off x="777240" y="3200400"/>
            <a:ext cx="3044952" cy="365760"/>
          </a:xfrm>
          <a:prstGeom prst="rect">
            <a:avLst/>
          </a:prstGeom>
          <a:noFill/>
          <a:ln/>
        </p:spPr>
        <p:txBody>
          <a:bodyPr wrap="square" lIns="0" tIns="0" rIns="0" bIns="0" rtlCol="0" anchor="ctr"/>
          <a:lstStyle/>
          <a:p>
            <a:pPr algn="ctr" indent="0" marL="0">
              <a:buNone/>
            </a:pPr>
            <a:r>
              <a:rPr lang="en-US" sz="1600" b="1" dirty="0">
                <a:solidFill>
                  <a:srgbClr val="2E6E49"/>
                </a:solidFill>
                <a:latin typeface="Calibri" pitchFamily="34" charset="0"/>
                <a:ea typeface="Calibri" pitchFamily="34" charset="-122"/>
                <a:cs typeface="Calibri" pitchFamily="34" charset="-120"/>
              </a:rPr>
              <a:t>Verde</a:t>
            </a:r>
            <a:endParaRPr lang="en-US" sz="1600" dirty="0"/>
          </a:p>
        </p:txBody>
      </p:sp>
      <p:sp>
        <p:nvSpPr>
          <p:cNvPr id="7" name="Text 5"/>
          <p:cNvSpPr txBox="1"/>
          <p:nvPr/>
        </p:nvSpPr>
        <p:spPr>
          <a:xfrm>
            <a:off x="777240" y="3611880"/>
            <a:ext cx="3044952" cy="777240"/>
          </a:xfrm>
          <a:prstGeom prst="rect">
            <a:avLst/>
          </a:prstGeom>
          <a:noFill/>
          <a:ln/>
        </p:spPr>
        <p:txBody>
          <a:bodyPr wrap="square" lIns="0" tIns="0" rIns="0" bIns="0" rtlCol="0" anchor="ctr"/>
          <a:lstStyle/>
          <a:p>
            <a:pPr algn="ctr" indent="0" marL="0">
              <a:lnSpc>
                <a:spcPct val="100000"/>
              </a:lnSpc>
              <a:buNone/>
            </a:pPr>
            <a:r>
              <a:rPr lang="en-US" sz="1200" dirty="0">
                <a:solidFill>
                  <a:srgbClr val="1E2A35"/>
                </a:solidFill>
                <a:latin typeface="Calibri" pitchFamily="34" charset="0"/>
                <a:ea typeface="Calibri" pitchFamily="34" charset="-122"/>
                <a:cs typeface="Calibri" pitchFamily="34" charset="-120"/>
              </a:rPr>
              <a:t>Datos ficticios o ya públicos. No identifican a nadie.</a:t>
            </a:r>
            <a:endParaRPr lang="en-US" sz="1200" dirty="0"/>
          </a:p>
        </p:txBody>
      </p:sp>
      <p:sp>
        <p:nvSpPr>
          <p:cNvPr id="8" name="Shape 6"/>
          <p:cNvSpPr/>
          <p:nvPr/>
        </p:nvSpPr>
        <p:spPr>
          <a:xfrm>
            <a:off x="777240" y="4343400"/>
            <a:ext cx="3044952" cy="18288"/>
          </a:xfrm>
          <a:prstGeom prst="rect">
            <a:avLst/>
          </a:prstGeom>
          <a:solidFill>
            <a:srgbClr val="D5DCE3"/>
          </a:solidFill>
          <a:ln/>
        </p:spPr>
      </p:sp>
      <p:sp>
        <p:nvSpPr>
          <p:cNvPr id="9" name="Text 7"/>
          <p:cNvSpPr txBox="1"/>
          <p:nvPr/>
        </p:nvSpPr>
        <p:spPr>
          <a:xfrm>
            <a:off x="777240" y="4398264"/>
            <a:ext cx="3044952" cy="365760"/>
          </a:xfrm>
          <a:prstGeom prst="rect">
            <a:avLst/>
          </a:prstGeom>
          <a:noFill/>
          <a:ln/>
        </p:spPr>
        <p:txBody>
          <a:bodyPr wrap="square" lIns="0" tIns="0" rIns="0" bIns="0" rtlCol="0" anchor="ctr"/>
          <a:lstStyle/>
          <a:p>
            <a:pPr algn="ctr" indent="0" marL="0">
              <a:lnSpc>
                <a:spcPct val="95000"/>
              </a:lnSpc>
              <a:buNone/>
            </a:pPr>
            <a:r>
              <a:rPr lang="en-US" sz="1150" b="1" dirty="0">
                <a:solidFill>
                  <a:srgbClr val="2E6E49"/>
                </a:solidFill>
                <a:latin typeface="Calibri" pitchFamily="34" charset="0"/>
                <a:ea typeface="Calibri" pitchFamily="34" charset="-122"/>
                <a:cs typeface="Calibri" pitchFamily="34" charset="-120"/>
              </a:rPr>
              <a:t>Colab, agentes y cualquier notebook en la nube.</a:t>
            </a:r>
            <a:endParaRPr lang="en-US" sz="1150" dirty="0"/>
          </a:p>
        </p:txBody>
      </p:sp>
      <p:sp>
        <p:nvSpPr>
          <p:cNvPr id="10" name="Shape 8"/>
          <p:cNvSpPr/>
          <p:nvPr/>
        </p:nvSpPr>
        <p:spPr>
          <a:xfrm>
            <a:off x="4343400" y="2057400"/>
            <a:ext cx="3502152" cy="2743200"/>
          </a:xfrm>
          <a:prstGeom prst="roundRect">
            <a:avLst>
              <a:gd name="adj" fmla="val 2000"/>
            </a:avLst>
          </a:prstGeom>
          <a:solidFill>
            <a:srgbClr val="FFFFFF"/>
          </a:solidFill>
          <a:ln w="9525">
            <a:solidFill>
              <a:srgbClr val="D5DCE3"/>
            </a:solidFill>
            <a:prstDash val="solid"/>
          </a:ln>
        </p:spPr>
      </p:sp>
      <p:sp>
        <p:nvSpPr>
          <p:cNvPr id="11" name="Shape 9"/>
          <p:cNvSpPr/>
          <p:nvPr/>
        </p:nvSpPr>
        <p:spPr>
          <a:xfrm>
            <a:off x="5728716" y="2331720"/>
            <a:ext cx="731520" cy="731520"/>
          </a:xfrm>
          <a:prstGeom prst="ellipse">
            <a:avLst/>
          </a:prstGeom>
          <a:solidFill>
            <a:srgbClr val="E0A82E"/>
          </a:solidFill>
          <a:ln/>
        </p:spPr>
      </p:sp>
      <p:sp>
        <p:nvSpPr>
          <p:cNvPr id="12" name="Text 10"/>
          <p:cNvSpPr txBox="1"/>
          <p:nvPr/>
        </p:nvSpPr>
        <p:spPr>
          <a:xfrm>
            <a:off x="4572000" y="3200400"/>
            <a:ext cx="3044952" cy="365760"/>
          </a:xfrm>
          <a:prstGeom prst="rect">
            <a:avLst/>
          </a:prstGeom>
          <a:noFill/>
          <a:ln/>
        </p:spPr>
        <p:txBody>
          <a:bodyPr wrap="square" lIns="0" tIns="0" rIns="0" bIns="0" rtlCol="0" anchor="ctr"/>
          <a:lstStyle/>
          <a:p>
            <a:pPr algn="ctr" indent="0" marL="0">
              <a:buNone/>
            </a:pPr>
            <a:r>
              <a:rPr lang="en-US" sz="1600" b="1" dirty="0">
                <a:solidFill>
                  <a:srgbClr val="8A6D1F"/>
                </a:solidFill>
                <a:latin typeface="Calibri" pitchFamily="34" charset="0"/>
                <a:ea typeface="Calibri" pitchFamily="34" charset="-122"/>
                <a:cs typeface="Calibri" pitchFamily="34" charset="-120"/>
              </a:rPr>
              <a:t>Amarillo</a:t>
            </a:r>
            <a:endParaRPr lang="en-US" sz="1600" dirty="0"/>
          </a:p>
        </p:txBody>
      </p:sp>
      <p:sp>
        <p:nvSpPr>
          <p:cNvPr id="13" name="Text 11"/>
          <p:cNvSpPr txBox="1"/>
          <p:nvPr/>
        </p:nvSpPr>
        <p:spPr>
          <a:xfrm>
            <a:off x="4572000" y="3611880"/>
            <a:ext cx="3044952" cy="777240"/>
          </a:xfrm>
          <a:prstGeom prst="rect">
            <a:avLst/>
          </a:prstGeom>
          <a:noFill/>
          <a:ln/>
        </p:spPr>
        <p:txBody>
          <a:bodyPr wrap="square" lIns="0" tIns="0" rIns="0" bIns="0" rtlCol="0" anchor="ctr"/>
          <a:lstStyle/>
          <a:p>
            <a:pPr algn="ctr" indent="0" marL="0">
              <a:lnSpc>
                <a:spcPct val="100000"/>
              </a:lnSpc>
              <a:buNone/>
            </a:pPr>
            <a:r>
              <a:rPr lang="en-US" sz="1200" dirty="0">
                <a:solidFill>
                  <a:srgbClr val="1E2A35"/>
                </a:solidFill>
                <a:latin typeface="Calibri" pitchFamily="34" charset="0"/>
                <a:ea typeface="Calibri" pitchFamily="34" charset="-122"/>
                <a:cs typeface="Calibri" pitchFamily="34" charset="-120"/>
              </a:rPr>
              <a:t>Microdatos que permiten identificar a una persona.</a:t>
            </a:r>
            <a:endParaRPr lang="en-US" sz="1200" dirty="0"/>
          </a:p>
        </p:txBody>
      </p:sp>
      <p:sp>
        <p:nvSpPr>
          <p:cNvPr id="14" name="Shape 12"/>
          <p:cNvSpPr/>
          <p:nvPr/>
        </p:nvSpPr>
        <p:spPr>
          <a:xfrm>
            <a:off x="4572000" y="4343400"/>
            <a:ext cx="3044952" cy="18288"/>
          </a:xfrm>
          <a:prstGeom prst="rect">
            <a:avLst/>
          </a:prstGeom>
          <a:solidFill>
            <a:srgbClr val="D5DCE3"/>
          </a:solidFill>
          <a:ln/>
        </p:spPr>
      </p:sp>
      <p:sp>
        <p:nvSpPr>
          <p:cNvPr id="15" name="Text 13"/>
          <p:cNvSpPr txBox="1"/>
          <p:nvPr/>
        </p:nvSpPr>
        <p:spPr>
          <a:xfrm>
            <a:off x="4572000" y="4398264"/>
            <a:ext cx="3044952" cy="365760"/>
          </a:xfrm>
          <a:prstGeom prst="rect">
            <a:avLst/>
          </a:prstGeom>
          <a:noFill/>
          <a:ln/>
        </p:spPr>
        <p:txBody>
          <a:bodyPr wrap="square" lIns="0" tIns="0" rIns="0" bIns="0" rtlCol="0" anchor="ctr"/>
          <a:lstStyle/>
          <a:p>
            <a:pPr algn="ctr" indent="0" marL="0">
              <a:lnSpc>
                <a:spcPct val="95000"/>
              </a:lnSpc>
              <a:buNone/>
            </a:pPr>
            <a:r>
              <a:rPr lang="en-US" sz="1150" b="1" dirty="0">
                <a:solidFill>
                  <a:srgbClr val="8A6D1F"/>
                </a:solidFill>
                <a:latin typeface="Calibri" pitchFamily="34" charset="0"/>
                <a:ea typeface="Calibri" pitchFamily="34" charset="-122"/>
                <a:cs typeface="Calibri" pitchFamily="34" charset="-120"/>
              </a:rPr>
              <a:t>Solo entornos institucionales; no a Colab abierto.</a:t>
            </a:r>
            <a:endParaRPr lang="en-US" sz="1150" dirty="0"/>
          </a:p>
        </p:txBody>
      </p:sp>
      <p:sp>
        <p:nvSpPr>
          <p:cNvPr id="16" name="Shape 14"/>
          <p:cNvSpPr/>
          <p:nvPr/>
        </p:nvSpPr>
        <p:spPr>
          <a:xfrm>
            <a:off x="8138160" y="2057400"/>
            <a:ext cx="3502152" cy="2743200"/>
          </a:xfrm>
          <a:prstGeom prst="roundRect">
            <a:avLst>
              <a:gd name="adj" fmla="val 2000"/>
            </a:avLst>
          </a:prstGeom>
          <a:solidFill>
            <a:srgbClr val="FFFFFF"/>
          </a:solidFill>
          <a:ln w="9525">
            <a:solidFill>
              <a:srgbClr val="D5DCE3"/>
            </a:solidFill>
            <a:prstDash val="solid"/>
          </a:ln>
        </p:spPr>
      </p:sp>
      <p:sp>
        <p:nvSpPr>
          <p:cNvPr id="17" name="Shape 15"/>
          <p:cNvSpPr/>
          <p:nvPr/>
        </p:nvSpPr>
        <p:spPr>
          <a:xfrm>
            <a:off x="9523476" y="2331720"/>
            <a:ext cx="731520" cy="731520"/>
          </a:xfrm>
          <a:prstGeom prst="ellipse">
            <a:avLst/>
          </a:prstGeom>
          <a:solidFill>
            <a:srgbClr val="C0472B"/>
          </a:solidFill>
          <a:ln/>
        </p:spPr>
      </p:sp>
      <p:sp>
        <p:nvSpPr>
          <p:cNvPr id="18" name="Text 16"/>
          <p:cNvSpPr txBox="1"/>
          <p:nvPr/>
        </p:nvSpPr>
        <p:spPr>
          <a:xfrm>
            <a:off x="8366760" y="3200400"/>
            <a:ext cx="3044952" cy="365760"/>
          </a:xfrm>
          <a:prstGeom prst="rect">
            <a:avLst/>
          </a:prstGeom>
          <a:noFill/>
          <a:ln/>
        </p:spPr>
        <p:txBody>
          <a:bodyPr wrap="square" lIns="0" tIns="0" rIns="0" bIns="0" rtlCol="0" anchor="ctr"/>
          <a:lstStyle/>
          <a:p>
            <a:pPr algn="ctr" indent="0" marL="0">
              <a:buNone/>
            </a:pPr>
            <a:r>
              <a:rPr lang="en-US" sz="1600" b="1" dirty="0">
                <a:solidFill>
                  <a:srgbClr val="A23B22"/>
                </a:solidFill>
                <a:latin typeface="Calibri" pitchFamily="34" charset="0"/>
                <a:ea typeface="Calibri" pitchFamily="34" charset="-122"/>
                <a:cs typeface="Calibri" pitchFamily="34" charset="-120"/>
              </a:rPr>
              <a:t>Rojo</a:t>
            </a:r>
            <a:endParaRPr lang="en-US" sz="1600" dirty="0"/>
          </a:p>
        </p:txBody>
      </p:sp>
      <p:sp>
        <p:nvSpPr>
          <p:cNvPr id="19" name="Text 17"/>
          <p:cNvSpPr txBox="1"/>
          <p:nvPr/>
        </p:nvSpPr>
        <p:spPr>
          <a:xfrm>
            <a:off x="8366760" y="3611880"/>
            <a:ext cx="3044952" cy="777240"/>
          </a:xfrm>
          <a:prstGeom prst="rect">
            <a:avLst/>
          </a:prstGeom>
          <a:noFill/>
          <a:ln/>
        </p:spPr>
        <p:txBody>
          <a:bodyPr wrap="square" lIns="0" tIns="0" rIns="0" bIns="0" rtlCol="0" anchor="ctr"/>
          <a:lstStyle/>
          <a:p>
            <a:pPr algn="ctr" indent="0" marL="0">
              <a:lnSpc>
                <a:spcPct val="100000"/>
              </a:lnSpc>
              <a:buNone/>
            </a:pPr>
            <a:r>
              <a:rPr lang="en-US" sz="1200" dirty="0">
                <a:solidFill>
                  <a:srgbClr val="1E2A35"/>
                </a:solidFill>
                <a:latin typeface="Calibri" pitchFamily="34" charset="0"/>
                <a:ea typeface="Calibri" pitchFamily="34" charset="-122"/>
                <a:cs typeface="Calibri" pitchFamily="34" charset="-120"/>
              </a:rPr>
              <a:t>Datos personales sensibles o confidenciales.</a:t>
            </a:r>
            <a:endParaRPr lang="en-US" sz="1200" dirty="0"/>
          </a:p>
        </p:txBody>
      </p:sp>
      <p:sp>
        <p:nvSpPr>
          <p:cNvPr id="20" name="Shape 18"/>
          <p:cNvSpPr/>
          <p:nvPr/>
        </p:nvSpPr>
        <p:spPr>
          <a:xfrm>
            <a:off x="8366760" y="4343400"/>
            <a:ext cx="3044952" cy="18288"/>
          </a:xfrm>
          <a:prstGeom prst="rect">
            <a:avLst/>
          </a:prstGeom>
          <a:solidFill>
            <a:srgbClr val="D5DCE3"/>
          </a:solidFill>
          <a:ln/>
        </p:spPr>
      </p:sp>
      <p:sp>
        <p:nvSpPr>
          <p:cNvPr id="21" name="Text 19"/>
          <p:cNvSpPr txBox="1"/>
          <p:nvPr/>
        </p:nvSpPr>
        <p:spPr>
          <a:xfrm>
            <a:off x="8366760" y="4398264"/>
            <a:ext cx="3044952" cy="365760"/>
          </a:xfrm>
          <a:prstGeom prst="rect">
            <a:avLst/>
          </a:prstGeom>
          <a:noFill/>
          <a:ln/>
        </p:spPr>
        <p:txBody>
          <a:bodyPr wrap="square" lIns="0" tIns="0" rIns="0" bIns="0" rtlCol="0" anchor="ctr"/>
          <a:lstStyle/>
          <a:p>
            <a:pPr algn="ctr" indent="0" marL="0">
              <a:lnSpc>
                <a:spcPct val="95000"/>
              </a:lnSpc>
              <a:buNone/>
            </a:pPr>
            <a:r>
              <a:rPr lang="en-US" sz="1150" b="1" dirty="0">
                <a:solidFill>
                  <a:srgbClr val="A23B22"/>
                </a:solidFill>
                <a:latin typeface="Calibri" pitchFamily="34" charset="0"/>
                <a:ea typeface="Calibri" pitchFamily="34" charset="-122"/>
                <a:cs typeface="Calibri" pitchFamily="34" charset="-120"/>
              </a:rPr>
              <a:t>No salen a ninguna herramienta de IA.</a:t>
            </a:r>
            <a:endParaRPr lang="en-US" sz="1150" dirty="0"/>
          </a:p>
        </p:txBody>
      </p:sp>
      <p:sp>
        <p:nvSpPr>
          <p:cNvPr id="22" name="Shape 20"/>
          <p:cNvSpPr/>
          <p:nvPr/>
        </p:nvSpPr>
        <p:spPr>
          <a:xfrm>
            <a:off x="548640" y="6053328"/>
            <a:ext cx="11091672" cy="603504"/>
          </a:xfrm>
          <a:prstGeom prst="rect">
            <a:avLst/>
          </a:prstGeom>
          <a:solidFill>
            <a:srgbClr val="FBEEE5"/>
          </a:solidFill>
          <a:ln/>
        </p:spPr>
      </p:sp>
      <p:sp>
        <p:nvSpPr>
          <p:cNvPr id="23" name="Shape 21"/>
          <p:cNvSpPr/>
          <p:nvPr/>
        </p:nvSpPr>
        <p:spPr>
          <a:xfrm>
            <a:off x="749808" y="6272784"/>
            <a:ext cx="164592" cy="164592"/>
          </a:xfrm>
          <a:prstGeom prst="roundRect">
            <a:avLst>
              <a:gd name="adj" fmla="val 22222"/>
            </a:avLst>
          </a:prstGeom>
          <a:solidFill>
            <a:srgbClr val="CB5E2E"/>
          </a:solidFill>
          <a:ln/>
        </p:spPr>
      </p:sp>
      <p:sp>
        <p:nvSpPr>
          <p:cNvPr id="24" name="Text 22"/>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Subir un microdato real a Colab es sacarlo del Instituto a un servicio externo. El registro del curso es ficticio (verde) a propósito, para poder correrlo en la nube sin riesgo.</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5293B"/>
        </a:solidFill>
      </p:bgPr>
    </p:bg>
    <p:spTree>
      <p:nvGrpSpPr>
        <p:cNvPr id="1" name=""/>
        <p:cNvGrpSpPr/>
        <p:nvPr/>
      </p:nvGrpSpPr>
      <p:grpSpPr>
        <a:xfrm>
          <a:off x="0" y="0"/>
          <a:ext cx="0" cy="0"/>
          <a:chOff x="0" y="0"/>
          <a:chExt cx="0" cy="0"/>
        </a:xfrm>
      </p:grpSpPr>
      <p:sp>
        <p:nvSpPr>
          <p:cNvPr id="2" name="Shape 0"/>
          <p:cNvSpPr/>
          <p:nvPr/>
        </p:nvSpPr>
        <p:spPr>
          <a:xfrm>
            <a:off x="822960" y="2468880"/>
            <a:ext cx="1371600" cy="1371600"/>
          </a:xfrm>
          <a:prstGeom prst="ellipse">
            <a:avLst/>
          </a:prstGeom>
          <a:solidFill>
            <a:srgbClr val="CB5E2E"/>
          </a:solidFill>
          <a:ln/>
        </p:spPr>
      </p:sp>
      <p:sp>
        <p:nvSpPr>
          <p:cNvPr id="3" name="Text 1"/>
          <p:cNvSpPr txBox="1"/>
          <p:nvPr/>
        </p:nvSpPr>
        <p:spPr>
          <a:xfrm>
            <a:off x="822960" y="246888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4" name="Text 2"/>
          <p:cNvSpPr txBox="1"/>
          <p:nvPr/>
        </p:nvSpPr>
        <p:spPr>
          <a:xfrm>
            <a:off x="2514600" y="2670048"/>
            <a:ext cx="8961120" cy="411480"/>
          </a:xfrm>
          <a:prstGeom prst="rect">
            <a:avLst/>
          </a:prstGeom>
          <a:noFill/>
          <a:ln/>
        </p:spPr>
        <p:txBody>
          <a:bodyPr wrap="square" lIns="0" tIns="0" rIns="0" bIns="0" rtlCol="0" anchor="ctr"/>
          <a:lstStyle/>
          <a:p>
            <a:pPr indent="0" marL="0">
              <a:buNone/>
            </a:pPr>
            <a:r>
              <a:rPr lang="en-US" sz="1400" b="1" spc="200" kern="0" dirty="0">
                <a:solidFill>
                  <a:srgbClr val="E58A5B"/>
                </a:solidFill>
                <a:latin typeface="Calibri" pitchFamily="34" charset="0"/>
                <a:ea typeface="Calibri" pitchFamily="34" charset="-122"/>
                <a:cs typeface="Calibri" pitchFamily="34" charset="-120"/>
              </a:rPr>
              <a:t>PRÁCTICA GUIADA</a:t>
            </a:r>
            <a:endParaRPr lang="en-US" sz="1400" dirty="0"/>
          </a:p>
        </p:txBody>
      </p:sp>
      <p:sp>
        <p:nvSpPr>
          <p:cNvPr id="5" name="Text 3"/>
          <p:cNvSpPr txBox="1"/>
          <p:nvPr/>
        </p:nvSpPr>
        <p:spPr>
          <a:xfrm>
            <a:off x="2514600" y="3072384"/>
            <a:ext cx="9052560" cy="11887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Auditar, comparar y documentar</a:t>
            </a:r>
            <a:endParaRPr lang="en-US" sz="3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Práctica guiada: su turno</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Sobre el mismo padrón de la Sesión 7. Tres partes, ninguna exige programar.</a:t>
            </a:r>
            <a:endParaRPr lang="en-US" sz="1400" dirty="0"/>
          </a:p>
        </p:txBody>
      </p:sp>
      <p:sp>
        <p:nvSpPr>
          <p:cNvPr id="4" name="Shape 2"/>
          <p:cNvSpPr/>
          <p:nvPr/>
        </p:nvSpPr>
        <p:spPr>
          <a:xfrm>
            <a:off x="548640" y="1783080"/>
            <a:ext cx="3502152" cy="2743200"/>
          </a:xfrm>
          <a:prstGeom prst="roundRect">
            <a:avLst>
              <a:gd name="adj" fmla="val 2000"/>
            </a:avLst>
          </a:prstGeom>
          <a:solidFill>
            <a:srgbClr val="FFFFFF"/>
          </a:solidFill>
          <a:ln w="9525">
            <a:solidFill>
              <a:srgbClr val="D5DCE3"/>
            </a:solidFill>
            <a:prstDash val="solid"/>
          </a:ln>
        </p:spPr>
      </p:sp>
      <p:sp>
        <p:nvSpPr>
          <p:cNvPr id="5" name="Shape 3"/>
          <p:cNvSpPr/>
          <p:nvPr/>
        </p:nvSpPr>
        <p:spPr>
          <a:xfrm>
            <a:off x="777240" y="2039112"/>
            <a:ext cx="457200" cy="457200"/>
          </a:xfrm>
          <a:prstGeom prst="ellipse">
            <a:avLst/>
          </a:prstGeom>
          <a:solidFill>
            <a:srgbClr val="CB5E2E"/>
          </a:solidFill>
          <a:ln/>
        </p:spPr>
      </p:sp>
      <p:sp>
        <p:nvSpPr>
          <p:cNvPr id="6" name="Text 4"/>
          <p:cNvSpPr txBox="1"/>
          <p:nvPr/>
        </p:nvSpPr>
        <p:spPr>
          <a:xfrm>
            <a:off x="777240" y="203911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1371600" y="2075688"/>
            <a:ext cx="2496312" cy="365760"/>
          </a:xfrm>
          <a:prstGeom prst="rect">
            <a:avLst/>
          </a:prstGeom>
          <a:noFill/>
          <a:ln/>
        </p:spPr>
        <p:txBody>
          <a:bodyPr wrap="square" lIns="0" tIns="0" rIns="0" bIns="0" rtlCol="0" anchor="ctr"/>
          <a:lstStyle/>
          <a:p>
            <a:pPr indent="0" marL="0">
              <a:buNone/>
            </a:pPr>
            <a:r>
              <a:rPr lang="en-US" sz="1200" b="1" dirty="0">
                <a:solidFill>
                  <a:srgbClr val="60707E"/>
                </a:solidFill>
                <a:latin typeface="Calibri" pitchFamily="34" charset="0"/>
                <a:ea typeface="Calibri" pitchFamily="34" charset="-122"/>
                <a:cs typeface="Calibri" pitchFamily="34" charset="-120"/>
              </a:rPr>
              <a:t>14 min</a:t>
            </a:r>
            <a:endParaRPr lang="en-US" sz="1200" dirty="0"/>
          </a:p>
        </p:txBody>
      </p:sp>
      <p:sp>
        <p:nvSpPr>
          <p:cNvPr id="8" name="Text 6"/>
          <p:cNvSpPr txBox="1"/>
          <p:nvPr/>
        </p:nvSpPr>
        <p:spPr>
          <a:xfrm>
            <a:off x="777240" y="2624328"/>
            <a:ext cx="3044952" cy="502920"/>
          </a:xfrm>
          <a:prstGeom prst="rect">
            <a:avLst/>
          </a:prstGeom>
          <a:noFill/>
          <a:ln/>
        </p:spPr>
        <p:txBody>
          <a:bodyPr wrap="square" lIns="0" tIns="0" rIns="0" bIns="0" rtlCol="0" anchor="ctr"/>
          <a:lstStyle/>
          <a:p>
            <a:pPr indent="0" marL="0">
              <a:buNone/>
            </a:pPr>
            <a:r>
              <a:rPr lang="en-US" sz="1500" b="1" dirty="0">
                <a:solidFill>
                  <a:srgbClr val="1E2A35"/>
                </a:solidFill>
                <a:latin typeface="Calibri" pitchFamily="34" charset="0"/>
                <a:ea typeface="Calibri" pitchFamily="34" charset="-122"/>
                <a:cs typeface="Calibri" pitchFamily="34" charset="-120"/>
              </a:rPr>
              <a:t>Auditar la reproducibilidad</a:t>
            </a:r>
            <a:endParaRPr lang="en-US" sz="1500" dirty="0"/>
          </a:p>
        </p:txBody>
      </p:sp>
      <p:sp>
        <p:nvSpPr>
          <p:cNvPr id="9" name="Text 7"/>
          <p:cNvSpPr txBox="1"/>
          <p:nvPr/>
        </p:nvSpPr>
        <p:spPr>
          <a:xfrm>
            <a:off x="777240" y="3154680"/>
            <a:ext cx="3044952" cy="1280160"/>
          </a:xfrm>
          <a:prstGeom prst="rect">
            <a:avLst/>
          </a:prstGeom>
          <a:noFill/>
          <a:ln/>
        </p:spPr>
        <p:txBody>
          <a:bodyPr wrap="square" lIns="0" tIns="0" rIns="0" bIns="0" rtlCol="0" anchor="ctr"/>
          <a:lstStyle/>
          <a:p>
            <a:pPr indent="0" marL="0">
              <a:lnSpc>
                <a:spcPct val="105000"/>
              </a:lnSpc>
              <a:buNone/>
            </a:pPr>
            <a:r>
              <a:rPr lang="en-US" sz="1200" dirty="0">
                <a:solidFill>
                  <a:srgbClr val="1E2A35"/>
                </a:solidFill>
                <a:latin typeface="Calibri" pitchFamily="34" charset="0"/>
                <a:ea typeface="Calibri" pitchFamily="34" charset="-122"/>
                <a:cs typeface="Calibri" pitchFamily="34" charset="-120"/>
              </a:rPr>
              <a:t>Les damos los pasos que alguien siguió para sacar un número. Marquen cuáles rompen la reproducibilidad y por qué, y digan cómo lo arreglarían.</a:t>
            </a:r>
            <a:endParaRPr lang="en-US" sz="1200" dirty="0"/>
          </a:p>
        </p:txBody>
      </p:sp>
      <p:sp>
        <p:nvSpPr>
          <p:cNvPr id="10" name="Shape 8"/>
          <p:cNvSpPr/>
          <p:nvPr/>
        </p:nvSpPr>
        <p:spPr>
          <a:xfrm>
            <a:off x="4343400" y="1783080"/>
            <a:ext cx="3502152" cy="2743200"/>
          </a:xfrm>
          <a:prstGeom prst="roundRect">
            <a:avLst>
              <a:gd name="adj" fmla="val 2000"/>
            </a:avLst>
          </a:prstGeom>
          <a:solidFill>
            <a:srgbClr val="FFFFFF"/>
          </a:solidFill>
          <a:ln w="9525">
            <a:solidFill>
              <a:srgbClr val="D5DCE3"/>
            </a:solidFill>
            <a:prstDash val="solid"/>
          </a:ln>
        </p:spPr>
      </p:sp>
      <p:sp>
        <p:nvSpPr>
          <p:cNvPr id="11" name="Shape 9"/>
          <p:cNvSpPr/>
          <p:nvPr/>
        </p:nvSpPr>
        <p:spPr>
          <a:xfrm>
            <a:off x="4572000" y="2039112"/>
            <a:ext cx="457200" cy="457200"/>
          </a:xfrm>
          <a:prstGeom prst="ellipse">
            <a:avLst/>
          </a:prstGeom>
          <a:solidFill>
            <a:srgbClr val="CB5E2E"/>
          </a:solidFill>
          <a:ln/>
        </p:spPr>
      </p:sp>
      <p:sp>
        <p:nvSpPr>
          <p:cNvPr id="12" name="Text 10"/>
          <p:cNvSpPr txBox="1"/>
          <p:nvPr/>
        </p:nvSpPr>
        <p:spPr>
          <a:xfrm>
            <a:off x="4572000" y="203911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txBox="1"/>
          <p:nvPr/>
        </p:nvSpPr>
        <p:spPr>
          <a:xfrm>
            <a:off x="5166360" y="2075688"/>
            <a:ext cx="2496312" cy="365760"/>
          </a:xfrm>
          <a:prstGeom prst="rect">
            <a:avLst/>
          </a:prstGeom>
          <a:noFill/>
          <a:ln/>
        </p:spPr>
        <p:txBody>
          <a:bodyPr wrap="square" lIns="0" tIns="0" rIns="0" bIns="0" rtlCol="0" anchor="ctr"/>
          <a:lstStyle/>
          <a:p>
            <a:pPr indent="0" marL="0">
              <a:buNone/>
            </a:pPr>
            <a:r>
              <a:rPr lang="en-US" sz="1200" b="1" dirty="0">
                <a:solidFill>
                  <a:srgbClr val="60707E"/>
                </a:solidFill>
                <a:latin typeface="Calibri" pitchFamily="34" charset="0"/>
                <a:ea typeface="Calibri" pitchFamily="34" charset="-122"/>
                <a:cs typeface="Calibri" pitchFamily="34" charset="-120"/>
              </a:rPr>
              <a:t>12 min</a:t>
            </a:r>
            <a:endParaRPr lang="en-US" sz="1200" dirty="0"/>
          </a:p>
        </p:txBody>
      </p:sp>
      <p:sp>
        <p:nvSpPr>
          <p:cNvPr id="14" name="Text 12"/>
          <p:cNvSpPr txBox="1"/>
          <p:nvPr/>
        </p:nvSpPr>
        <p:spPr>
          <a:xfrm>
            <a:off x="4572000" y="2624328"/>
            <a:ext cx="3044952" cy="502920"/>
          </a:xfrm>
          <a:prstGeom prst="rect">
            <a:avLst/>
          </a:prstGeom>
          <a:noFill/>
          <a:ln/>
        </p:spPr>
        <p:txBody>
          <a:bodyPr wrap="square" lIns="0" tIns="0" rIns="0" bIns="0" rtlCol="0" anchor="ctr"/>
          <a:lstStyle/>
          <a:p>
            <a:pPr indent="0" marL="0">
              <a:buNone/>
            </a:pPr>
            <a:r>
              <a:rPr lang="en-US" sz="1500" b="1" dirty="0">
                <a:solidFill>
                  <a:srgbClr val="1E2A35"/>
                </a:solidFill>
                <a:latin typeface="Calibri" pitchFamily="34" charset="0"/>
                <a:ea typeface="Calibri" pitchFamily="34" charset="-122"/>
                <a:cs typeface="Calibri" pitchFamily="34" charset="-120"/>
              </a:rPr>
              <a:t>Chat contra código</a:t>
            </a:r>
            <a:endParaRPr lang="en-US" sz="1500" dirty="0"/>
          </a:p>
        </p:txBody>
      </p:sp>
      <p:sp>
        <p:nvSpPr>
          <p:cNvPr id="15" name="Text 13"/>
          <p:cNvSpPr txBox="1"/>
          <p:nvPr/>
        </p:nvSpPr>
        <p:spPr>
          <a:xfrm>
            <a:off x="4572000" y="3154680"/>
            <a:ext cx="3044952" cy="1280160"/>
          </a:xfrm>
          <a:prstGeom prst="rect">
            <a:avLst/>
          </a:prstGeom>
          <a:noFill/>
          <a:ln/>
        </p:spPr>
        <p:txBody>
          <a:bodyPr wrap="square" lIns="0" tIns="0" rIns="0" bIns="0" rtlCol="0" anchor="ctr"/>
          <a:lstStyle/>
          <a:p>
            <a:pPr indent="0" marL="0">
              <a:lnSpc>
                <a:spcPct val="105000"/>
              </a:lnSpc>
              <a:buNone/>
            </a:pPr>
            <a:r>
              <a:rPr lang="en-US" sz="1200" dirty="0">
                <a:solidFill>
                  <a:srgbClr val="1E2A35"/>
                </a:solidFill>
                <a:latin typeface="Calibri" pitchFamily="34" charset="0"/>
                <a:ea typeface="Calibri" pitchFamily="34" charset="-122"/>
                <a:cs typeface="Calibri" pitchFamily="34" charset="-120"/>
              </a:rPr>
              <a:t>Comparen la respuesta que dio un chat con la que dio el código sobre el padrón. Digan cuál creer y por qué.</a:t>
            </a:r>
            <a:endParaRPr lang="en-US" sz="1200" dirty="0"/>
          </a:p>
        </p:txBody>
      </p:sp>
      <p:sp>
        <p:nvSpPr>
          <p:cNvPr id="16" name="Shape 14"/>
          <p:cNvSpPr/>
          <p:nvPr/>
        </p:nvSpPr>
        <p:spPr>
          <a:xfrm>
            <a:off x="8138160" y="1783080"/>
            <a:ext cx="3502152" cy="2743200"/>
          </a:xfrm>
          <a:prstGeom prst="roundRect">
            <a:avLst>
              <a:gd name="adj" fmla="val 2000"/>
            </a:avLst>
          </a:prstGeom>
          <a:solidFill>
            <a:srgbClr val="EEF2F5"/>
          </a:solidFill>
          <a:ln w="9525">
            <a:solidFill>
              <a:srgbClr val="D5DCE3"/>
            </a:solidFill>
            <a:prstDash val="solid"/>
          </a:ln>
        </p:spPr>
      </p:sp>
      <p:sp>
        <p:nvSpPr>
          <p:cNvPr id="17" name="Shape 15"/>
          <p:cNvSpPr/>
          <p:nvPr/>
        </p:nvSpPr>
        <p:spPr>
          <a:xfrm>
            <a:off x="8366760" y="2039112"/>
            <a:ext cx="457200" cy="457200"/>
          </a:xfrm>
          <a:prstGeom prst="ellipse">
            <a:avLst/>
          </a:prstGeom>
          <a:solidFill>
            <a:srgbClr val="CB5E2E"/>
          </a:solidFill>
          <a:ln/>
        </p:spPr>
      </p:sp>
      <p:sp>
        <p:nvSpPr>
          <p:cNvPr id="18" name="Text 16"/>
          <p:cNvSpPr txBox="1"/>
          <p:nvPr/>
        </p:nvSpPr>
        <p:spPr>
          <a:xfrm>
            <a:off x="8366760" y="203911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txBox="1"/>
          <p:nvPr/>
        </p:nvSpPr>
        <p:spPr>
          <a:xfrm>
            <a:off x="8961120" y="2075688"/>
            <a:ext cx="2496312" cy="365760"/>
          </a:xfrm>
          <a:prstGeom prst="rect">
            <a:avLst/>
          </a:prstGeom>
          <a:noFill/>
          <a:ln/>
        </p:spPr>
        <p:txBody>
          <a:bodyPr wrap="square" lIns="0" tIns="0" rIns="0" bIns="0" rtlCol="0" anchor="ctr"/>
          <a:lstStyle/>
          <a:p>
            <a:pPr indent="0" marL="0">
              <a:buNone/>
            </a:pPr>
            <a:r>
              <a:rPr lang="en-US" sz="1200" b="1" dirty="0">
                <a:solidFill>
                  <a:srgbClr val="60707E"/>
                </a:solidFill>
                <a:latin typeface="Calibri" pitchFamily="34" charset="0"/>
                <a:ea typeface="Calibri" pitchFamily="34" charset="-122"/>
                <a:cs typeface="Calibri" pitchFamily="34" charset="-120"/>
              </a:rPr>
              <a:t>12 min</a:t>
            </a:r>
            <a:endParaRPr lang="en-US" sz="1200" dirty="0"/>
          </a:p>
        </p:txBody>
      </p:sp>
      <p:sp>
        <p:nvSpPr>
          <p:cNvPr id="20" name="Text 18"/>
          <p:cNvSpPr txBox="1"/>
          <p:nvPr/>
        </p:nvSpPr>
        <p:spPr>
          <a:xfrm>
            <a:off x="8366760" y="2624328"/>
            <a:ext cx="3044952" cy="502920"/>
          </a:xfrm>
          <a:prstGeom prst="rect">
            <a:avLst/>
          </a:prstGeom>
          <a:noFill/>
          <a:ln/>
        </p:spPr>
        <p:txBody>
          <a:bodyPr wrap="square" lIns="0" tIns="0" rIns="0" bIns="0" rtlCol="0" anchor="ctr"/>
          <a:lstStyle/>
          <a:p>
            <a:pPr indent="0" marL="0">
              <a:buNone/>
            </a:pPr>
            <a:r>
              <a:rPr lang="en-US" sz="1500" b="1" dirty="0">
                <a:solidFill>
                  <a:srgbClr val="1E2A35"/>
                </a:solidFill>
                <a:latin typeface="Calibri" pitchFamily="34" charset="0"/>
                <a:ea typeface="Calibri" pitchFamily="34" charset="-122"/>
                <a:cs typeface="Calibri" pitchFamily="34" charset="-120"/>
              </a:rPr>
              <a:t>La receta reproducible</a:t>
            </a:r>
            <a:endParaRPr lang="en-US" sz="1500" dirty="0"/>
          </a:p>
        </p:txBody>
      </p:sp>
      <p:sp>
        <p:nvSpPr>
          <p:cNvPr id="21" name="Text 19"/>
          <p:cNvSpPr txBox="1"/>
          <p:nvPr/>
        </p:nvSpPr>
        <p:spPr>
          <a:xfrm>
            <a:off x="8366760" y="3154680"/>
            <a:ext cx="3044952" cy="1280160"/>
          </a:xfrm>
          <a:prstGeom prst="rect">
            <a:avLst/>
          </a:prstGeom>
          <a:noFill/>
          <a:ln/>
        </p:spPr>
        <p:txBody>
          <a:bodyPr wrap="square" lIns="0" tIns="0" rIns="0" bIns="0" rtlCol="0" anchor="ctr"/>
          <a:lstStyle/>
          <a:p>
            <a:pPr indent="0" marL="0">
              <a:lnSpc>
                <a:spcPct val="105000"/>
              </a:lnSpc>
              <a:buNone/>
            </a:pPr>
            <a:r>
              <a:rPr lang="en-US" sz="1200" dirty="0">
                <a:solidFill>
                  <a:srgbClr val="1E2A35"/>
                </a:solidFill>
                <a:latin typeface="Calibri" pitchFamily="34" charset="0"/>
                <a:ea typeface="Calibri" pitchFamily="34" charset="-122"/>
                <a:cs typeface="Calibri" pitchFamily="34" charset="-120"/>
              </a:rPr>
              <a:t>Escriban, en orden, los pasos documentados para reproducir el promedio corregido. Cualquiera debería obtener 3,200 siguiéndolos.</a:t>
            </a:r>
            <a:endParaRPr lang="en-US" sz="1200" dirty="0"/>
          </a:p>
        </p:txBody>
      </p:sp>
      <p:sp>
        <p:nvSpPr>
          <p:cNvPr id="22" name="Shape 20"/>
          <p:cNvSpPr/>
          <p:nvPr/>
        </p:nvSpPr>
        <p:spPr>
          <a:xfrm>
            <a:off x="548640" y="4754880"/>
            <a:ext cx="11091672" cy="960120"/>
          </a:xfrm>
          <a:prstGeom prst="roundRect">
            <a:avLst>
              <a:gd name="adj" fmla="val 5714"/>
            </a:avLst>
          </a:prstGeom>
          <a:solidFill>
            <a:srgbClr val="15293B"/>
          </a:solidFill>
          <a:ln/>
        </p:spPr>
      </p:sp>
      <p:sp>
        <p:nvSpPr>
          <p:cNvPr id="23" name="Text 21"/>
          <p:cNvSpPr txBox="1"/>
          <p:nvPr/>
        </p:nvSpPr>
        <p:spPr>
          <a:xfrm>
            <a:off x="868680" y="4901184"/>
            <a:ext cx="2743200" cy="320040"/>
          </a:xfrm>
          <a:prstGeom prst="rect">
            <a:avLst/>
          </a:prstGeom>
          <a:noFill/>
          <a:ln/>
        </p:spPr>
        <p:txBody>
          <a:bodyPr wrap="square" lIns="0" tIns="0" rIns="0" bIns="0" rtlCol="0" anchor="ctr"/>
          <a:lstStyle/>
          <a:p>
            <a:pPr indent="0" marL="0">
              <a:buNone/>
            </a:pPr>
            <a:r>
              <a:rPr lang="en-US" sz="1300" b="1" spc="100" kern="0" dirty="0">
                <a:solidFill>
                  <a:srgbClr val="E58A5B"/>
                </a:solidFill>
                <a:latin typeface="Calibri" pitchFamily="34" charset="0"/>
                <a:ea typeface="Calibri" pitchFamily="34" charset="-122"/>
                <a:cs typeface="Calibri" pitchFamily="34" charset="-120"/>
              </a:rPr>
              <a:t>LA REGLA DURA</a:t>
            </a:r>
            <a:endParaRPr lang="en-US" sz="1300" dirty="0"/>
          </a:p>
        </p:txBody>
      </p:sp>
      <p:sp>
        <p:nvSpPr>
          <p:cNvPr id="24" name="Text 22"/>
          <p:cNvSpPr txBox="1"/>
          <p:nvPr/>
        </p:nvSpPr>
        <p:spPr>
          <a:xfrm>
            <a:off x="868680" y="5212080"/>
            <a:ext cx="10451592" cy="457200"/>
          </a:xfrm>
          <a:prstGeom prst="rect">
            <a:avLst/>
          </a:prstGeom>
          <a:noFill/>
          <a:ln/>
        </p:spPr>
        <p:txBody>
          <a:bodyPr wrap="square" lIns="0" tIns="0" rIns="0" bIns="0" rtlCol="0" anchor="ctr"/>
          <a:lstStyle/>
          <a:p>
            <a:pPr indent="0" marL="0">
              <a:lnSpc>
                <a:spcPct val="100000"/>
              </a:lnSpc>
              <a:buNone/>
            </a:pPr>
            <a:r>
              <a:rPr lang="en-US" sz="1300" dirty="0">
                <a:solidFill>
                  <a:srgbClr val="E4EAF0"/>
                </a:solidFill>
                <a:latin typeface="Calibri" pitchFamily="34" charset="0"/>
                <a:ea typeface="Calibri" pitchFamily="34" charset="-122"/>
                <a:cs typeface="Calibri" pitchFamily="34" charset="-120"/>
              </a:rPr>
              <a:t>Si tu receta no la puede seguir alguien más y llegar al mismo número, no es reproducible. Un resultado que solo tú puedes obtener no es un resultado.</a:t>
            </a:r>
            <a:endParaRPr lang="en-US" sz="1300" dirty="0"/>
          </a:p>
        </p:txBody>
      </p:sp>
      <p:sp>
        <p:nvSpPr>
          <p:cNvPr id="25" name="Text 23"/>
          <p:cNvSpPr txBox="1"/>
          <p:nvPr/>
        </p:nvSpPr>
        <p:spPr>
          <a:xfrm>
            <a:off x="548640" y="5989320"/>
            <a:ext cx="11091672" cy="292608"/>
          </a:xfrm>
          <a:prstGeom prst="rect">
            <a:avLst/>
          </a:prstGeom>
          <a:noFill/>
          <a:ln/>
        </p:spPr>
        <p:txBody>
          <a:bodyPr wrap="square" lIns="0" tIns="0" rIns="0" bIns="0" rtlCol="0" anchor="ctr"/>
          <a:lstStyle/>
          <a:p>
            <a:pPr indent="0" marL="0">
              <a:buNone/>
            </a:pPr>
            <a:r>
              <a:rPr lang="en-US" sz="900" i="1" dirty="0">
                <a:solidFill>
                  <a:srgbClr val="60707E"/>
                </a:solidFill>
                <a:latin typeface="Calibri" pitchFamily="34" charset="0"/>
                <a:ea typeface="Calibri" pitchFamily="34" charset="-122"/>
                <a:cs typeface="Calibri" pitchFamily="34" charset="-120"/>
              </a:rPr>
              <a:t>Archivo: Laboratorio_S08.xlsx (hojas Auditoría, Chat vs código y Receta). Quien programa: notebook Laboratorio_S08.ipynb, el flujo ya reproducible y una demo de agente de código.</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Qué se llevan y qué entregan</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Cierre del bloque de reproducibilidad y puente a la Sesión 9.</a:t>
            </a:r>
            <a:endParaRPr lang="en-US" sz="1400" dirty="0"/>
          </a:p>
        </p:txBody>
      </p:sp>
      <p:sp>
        <p:nvSpPr>
          <p:cNvPr id="4" name="Shape 2"/>
          <p:cNvSpPr/>
          <p:nvPr/>
        </p:nvSpPr>
        <p:spPr>
          <a:xfrm>
            <a:off x="548640" y="1874520"/>
            <a:ext cx="5394960" cy="2286000"/>
          </a:xfrm>
          <a:prstGeom prst="roundRect">
            <a:avLst>
              <a:gd name="adj" fmla="val 2400"/>
            </a:avLst>
          </a:prstGeom>
          <a:solidFill>
            <a:srgbClr val="EEF2F5"/>
          </a:solidFill>
          <a:ln w="9525">
            <a:solidFill>
              <a:srgbClr val="D5DCE3"/>
            </a:solidFill>
            <a:prstDash val="solid"/>
          </a:ln>
        </p:spPr>
      </p:sp>
      <p:sp>
        <p:nvSpPr>
          <p:cNvPr id="5" name="Text 3"/>
          <p:cNvSpPr txBox="1"/>
          <p:nvPr/>
        </p:nvSpPr>
        <p:spPr>
          <a:xfrm>
            <a:off x="822960" y="2057400"/>
            <a:ext cx="4846320" cy="365760"/>
          </a:xfrm>
          <a:prstGeom prst="rect">
            <a:avLst/>
          </a:prstGeom>
          <a:noFill/>
          <a:ln/>
        </p:spPr>
        <p:txBody>
          <a:bodyPr wrap="square" lIns="0" tIns="0" rIns="0" bIns="0" rtlCol="0" anchor="ctr"/>
          <a:lstStyle/>
          <a:p>
            <a:pPr indent="0" marL="0">
              <a:buNone/>
            </a:pPr>
            <a:r>
              <a:rPr lang="en-US" sz="1500" b="1" dirty="0">
                <a:solidFill>
                  <a:srgbClr val="CB5E2E"/>
                </a:solidFill>
                <a:latin typeface="Calibri" pitchFamily="34" charset="0"/>
                <a:ea typeface="Calibri" pitchFamily="34" charset="-122"/>
                <a:cs typeface="Calibri" pitchFamily="34" charset="-120"/>
              </a:rPr>
              <a:t>Las tres ideas del día</a:t>
            </a:r>
            <a:endParaRPr lang="en-US" sz="1500" dirty="0"/>
          </a:p>
        </p:txBody>
      </p:sp>
      <p:sp>
        <p:nvSpPr>
          <p:cNvPr id="6" name="Text 4"/>
          <p:cNvSpPr txBox="1"/>
          <p:nvPr/>
        </p:nvSpPr>
        <p:spPr>
          <a:xfrm>
            <a:off x="822960" y="2468880"/>
            <a:ext cx="4846320" cy="1554480"/>
          </a:xfrm>
          <a:prstGeom prst="rect">
            <a:avLst/>
          </a:prstGeom>
          <a:noFill/>
          <a:ln/>
        </p:spPr>
        <p:txBody>
          <a:bodyPr wrap="square" lIns="0" tIns="0" rIns="0" bIns="0" rtlCol="0" anchor="ctr"/>
          <a:lstStyle/>
          <a:p>
            <a:pPr marL="342900" indent="-342900">
              <a:lnSpc>
                <a:spcPct val="100000"/>
              </a:lnSpc>
              <a:spcAft>
                <a:spcPts val="800"/>
              </a:spcAft>
              <a:buSzPct val="100000"/>
              <a:buChar char="•"/>
            </a:pPr>
            <a:r>
              <a:rPr lang="en-US" sz="1300" dirty="0">
                <a:solidFill>
                  <a:srgbClr val="1E2A35"/>
                </a:solidFill>
                <a:latin typeface="Calibri" pitchFamily="34" charset="0"/>
                <a:ea typeface="Calibri" pitchFamily="34" charset="-122"/>
                <a:cs typeface="Calibri" pitchFamily="34" charset="-120"/>
              </a:rPr>
              <a:t>Un número no es un resultado hasta que alguien más lo reproduce.</a:t>
            </a:r>
            <a:endParaRPr lang="en-US" sz="1300" dirty="0"/>
          </a:p>
          <a:p>
            <a:pPr marL="342900" indent="-342900">
              <a:lnSpc>
                <a:spcPct val="100000"/>
              </a:lnSpc>
              <a:spcAft>
                <a:spcPts val="800"/>
              </a:spcAft>
              <a:buSzPct val="100000"/>
              <a:buChar char="•"/>
            </a:pPr>
            <a:r>
              <a:rPr lang="en-US" sz="1300" dirty="0">
                <a:solidFill>
                  <a:srgbClr val="1E2A35"/>
                </a:solidFill>
                <a:latin typeface="Calibri" pitchFamily="34" charset="0"/>
                <a:ea typeface="Calibri" pitchFamily="34" charset="-122"/>
                <a:cs typeface="Calibri" pitchFamily="34" charset="-120"/>
              </a:rPr>
              <a:t>Un modelo de chat adivina los números; el código ejecutable los calcula.</a:t>
            </a:r>
            <a:endParaRPr lang="en-US" sz="1300" dirty="0"/>
          </a:p>
          <a:p>
            <a:pPr marL="342900" indent="-342900">
              <a:lnSpc>
                <a:spcPct val="100000"/>
              </a:lnSpc>
              <a:spcAft>
                <a:spcPts val="800"/>
              </a:spcAft>
              <a:buSzPct val="100000"/>
              <a:buChar char="•"/>
            </a:pPr>
            <a:r>
              <a:rPr lang="en-US" sz="1300" dirty="0">
                <a:solidFill>
                  <a:srgbClr val="1E2A35"/>
                </a:solidFill>
                <a:latin typeface="Calibri" pitchFamily="34" charset="0"/>
                <a:ea typeface="Calibri" pitchFamily="34" charset="-122"/>
                <a:cs typeface="Calibri" pitchFamily="34" charset="-120"/>
              </a:rPr>
              <a:t>El agente de código conviene dentro de un notebook, donde se puede leer y volver a correr.</a:t>
            </a:r>
            <a:endParaRPr lang="en-US" sz="1300" dirty="0"/>
          </a:p>
        </p:txBody>
      </p:sp>
      <p:sp>
        <p:nvSpPr>
          <p:cNvPr id="7" name="Shape 5"/>
          <p:cNvSpPr/>
          <p:nvPr/>
        </p:nvSpPr>
        <p:spPr>
          <a:xfrm>
            <a:off x="6245352" y="1874520"/>
            <a:ext cx="5394960" cy="2286000"/>
          </a:xfrm>
          <a:prstGeom prst="roundRect">
            <a:avLst>
              <a:gd name="adj" fmla="val 2400"/>
            </a:avLst>
          </a:prstGeom>
          <a:solidFill>
            <a:srgbClr val="FFFFFF"/>
          </a:solidFill>
          <a:ln w="9525">
            <a:solidFill>
              <a:srgbClr val="D5DCE3"/>
            </a:solidFill>
            <a:prstDash val="solid"/>
          </a:ln>
        </p:spPr>
      </p:sp>
      <p:sp>
        <p:nvSpPr>
          <p:cNvPr id="8" name="Text 6"/>
          <p:cNvSpPr txBox="1"/>
          <p:nvPr/>
        </p:nvSpPr>
        <p:spPr>
          <a:xfrm>
            <a:off x="6519672" y="2057400"/>
            <a:ext cx="4846320" cy="365760"/>
          </a:xfrm>
          <a:prstGeom prst="rect">
            <a:avLst/>
          </a:prstGeom>
          <a:noFill/>
          <a:ln/>
        </p:spPr>
        <p:txBody>
          <a:bodyPr wrap="square" lIns="0" tIns="0" rIns="0" bIns="0" rtlCol="0" anchor="ctr"/>
          <a:lstStyle/>
          <a:p>
            <a:pPr indent="0" marL="0">
              <a:buNone/>
            </a:pPr>
            <a:r>
              <a:rPr lang="en-US" sz="1500" b="1" dirty="0">
                <a:solidFill>
                  <a:srgbClr val="CB5E2E"/>
                </a:solidFill>
                <a:latin typeface="Calibri" pitchFamily="34" charset="0"/>
                <a:ea typeface="Calibri" pitchFamily="34" charset="-122"/>
                <a:cs typeface="Calibri" pitchFamily="34" charset="-120"/>
              </a:rPr>
              <a:t>Entregables de la práctica</a:t>
            </a:r>
            <a:endParaRPr lang="en-US" sz="1500" dirty="0"/>
          </a:p>
        </p:txBody>
      </p:sp>
      <p:sp>
        <p:nvSpPr>
          <p:cNvPr id="9" name="Text 7"/>
          <p:cNvSpPr txBox="1"/>
          <p:nvPr/>
        </p:nvSpPr>
        <p:spPr>
          <a:xfrm>
            <a:off x="6519672" y="2468880"/>
            <a:ext cx="4846320" cy="1554480"/>
          </a:xfrm>
          <a:prstGeom prst="rect">
            <a:avLst/>
          </a:prstGeom>
          <a:noFill/>
          <a:ln/>
        </p:spPr>
        <p:txBody>
          <a:bodyPr wrap="square" lIns="0" tIns="0" rIns="0" bIns="0" rtlCol="0" anchor="ctr"/>
          <a:lstStyle/>
          <a:p>
            <a:pPr marL="342900" indent="-342900">
              <a:lnSpc>
                <a:spcPct val="100000"/>
              </a:lnSpc>
              <a:spcAft>
                <a:spcPts val="800"/>
              </a:spcAft>
              <a:buSzPct val="100000"/>
              <a:buChar char="•"/>
            </a:pPr>
            <a:r>
              <a:rPr lang="en-US" sz="1300" dirty="0">
                <a:solidFill>
                  <a:srgbClr val="1E2A35"/>
                </a:solidFill>
                <a:latin typeface="Calibri" pitchFamily="34" charset="0"/>
                <a:ea typeface="Calibri" pitchFamily="34" charset="-122"/>
                <a:cs typeface="Calibri" pitchFamily="34" charset="-120"/>
              </a:rPr>
              <a:t>La auditoría del análisis, con los puntos que rompen la reproducibilidad.</a:t>
            </a:r>
            <a:endParaRPr lang="en-US" sz="1300" dirty="0"/>
          </a:p>
          <a:p>
            <a:pPr marL="342900" indent="-342900">
              <a:lnSpc>
                <a:spcPct val="100000"/>
              </a:lnSpc>
              <a:spcAft>
                <a:spcPts val="800"/>
              </a:spcAft>
              <a:buSzPct val="100000"/>
              <a:buChar char="•"/>
            </a:pPr>
            <a:r>
              <a:rPr lang="en-US" sz="1300" dirty="0">
                <a:solidFill>
                  <a:srgbClr val="1E2A35"/>
                </a:solidFill>
                <a:latin typeface="Calibri" pitchFamily="34" charset="0"/>
                <a:ea typeface="Calibri" pitchFamily="34" charset="-122"/>
                <a:cs typeface="Calibri" pitchFamily="34" charset="-120"/>
              </a:rPr>
              <a:t>El veredicto de chat contra código, argumentado.</a:t>
            </a:r>
            <a:endParaRPr lang="en-US" sz="1300" dirty="0"/>
          </a:p>
          <a:p>
            <a:pPr marL="342900" indent="-342900">
              <a:lnSpc>
                <a:spcPct val="100000"/>
              </a:lnSpc>
              <a:spcAft>
                <a:spcPts val="800"/>
              </a:spcAft>
              <a:buSzPct val="100000"/>
              <a:buChar char="•"/>
            </a:pPr>
            <a:r>
              <a:rPr lang="en-US" sz="1300" dirty="0">
                <a:solidFill>
                  <a:srgbClr val="1E2A35"/>
                </a:solidFill>
                <a:latin typeface="Calibri" pitchFamily="34" charset="0"/>
                <a:ea typeface="Calibri" pitchFamily="34" charset="-122"/>
                <a:cs typeface="Calibri" pitchFamily="34" charset="-120"/>
              </a:rPr>
              <a:t>La receta reproducible que lleva a 3,200.</a:t>
            </a:r>
            <a:endParaRPr lang="en-US" sz="1300" dirty="0"/>
          </a:p>
        </p:txBody>
      </p:sp>
      <p:sp>
        <p:nvSpPr>
          <p:cNvPr id="10" name="Shape 8"/>
          <p:cNvSpPr/>
          <p:nvPr/>
        </p:nvSpPr>
        <p:spPr>
          <a:xfrm>
            <a:off x="548640" y="4434840"/>
            <a:ext cx="11091672" cy="1371600"/>
          </a:xfrm>
          <a:prstGeom prst="roundRect">
            <a:avLst>
              <a:gd name="adj" fmla="val 4000"/>
            </a:avLst>
          </a:prstGeom>
          <a:solidFill>
            <a:srgbClr val="15293B"/>
          </a:solidFill>
          <a:ln/>
        </p:spPr>
      </p:sp>
      <p:sp>
        <p:nvSpPr>
          <p:cNvPr id="11" name="Text 9"/>
          <p:cNvSpPr txBox="1"/>
          <p:nvPr/>
        </p:nvSpPr>
        <p:spPr>
          <a:xfrm>
            <a:off x="868680" y="4599432"/>
            <a:ext cx="10451592" cy="365760"/>
          </a:xfrm>
          <a:prstGeom prst="rect">
            <a:avLst/>
          </a:prstGeom>
          <a:noFill/>
          <a:ln/>
        </p:spPr>
        <p:txBody>
          <a:bodyPr wrap="square" lIns="0" tIns="0" rIns="0" bIns="0" rtlCol="0" anchor="ctr"/>
          <a:lstStyle/>
          <a:p>
            <a:pPr indent="0" marL="0">
              <a:buNone/>
            </a:pPr>
            <a:r>
              <a:rPr lang="en-US" sz="1600" b="1" dirty="0">
                <a:solidFill>
                  <a:srgbClr val="E58A5B"/>
                </a:solidFill>
                <a:latin typeface="Calibri" pitchFamily="34" charset="0"/>
                <a:ea typeface="Calibri" pitchFamily="34" charset="-122"/>
                <a:cs typeface="Calibri" pitchFamily="34" charset="-120"/>
              </a:rPr>
              <a:t>Lo que abre la Sesión 9</a:t>
            </a:r>
            <a:endParaRPr lang="en-US" sz="1600" dirty="0"/>
          </a:p>
        </p:txBody>
      </p:sp>
      <p:sp>
        <p:nvSpPr>
          <p:cNvPr id="12" name="Text 10"/>
          <p:cNvSpPr txBox="1"/>
          <p:nvPr/>
        </p:nvSpPr>
        <p:spPr>
          <a:xfrm>
            <a:off x="868680" y="4983480"/>
            <a:ext cx="10451592" cy="777240"/>
          </a:xfrm>
          <a:prstGeom prst="rect">
            <a:avLst/>
          </a:prstGeom>
          <a:noFill/>
          <a:ln/>
        </p:spPr>
        <p:txBody>
          <a:bodyPr wrap="square" lIns="0" tIns="0" rIns="0" bIns="0" rtlCol="0" anchor="ctr"/>
          <a:lstStyle/>
          <a:p>
            <a:pPr indent="0" marL="0">
              <a:lnSpc>
                <a:spcPct val="105000"/>
              </a:lnSpc>
              <a:buNone/>
            </a:pPr>
            <a:r>
              <a:rPr lang="en-US" sz="1350" dirty="0">
                <a:solidFill>
                  <a:srgbClr val="E4EAF0"/>
                </a:solidFill>
                <a:latin typeface="Calibri" pitchFamily="34" charset="0"/>
                <a:ea typeface="Calibri" pitchFamily="34" charset="-122"/>
                <a:cs typeface="Calibri" pitchFamily="34" charset="-120"/>
              </a:rPr>
              <a:t>Ya tienen las piezas: explorar, depurar y verificar de la Sesión 7, documentar y reproducir de hoy. La Sesión 9 las junta en el Laboratorio Cuantitativo Aplicado, sobre un registro administrativo más grande y de principio a fin, con la rúbrica técnica evaluando el entregable reproducible.</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Fuentes</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Para quien quiera ir al origen de cada idea.</a:t>
            </a:r>
            <a:endParaRPr lang="en-US" sz="1400" dirty="0"/>
          </a:p>
        </p:txBody>
      </p:sp>
      <p:sp>
        <p:nvSpPr>
          <p:cNvPr id="4" name="Text 2"/>
          <p:cNvSpPr txBox="1"/>
          <p:nvPr/>
        </p:nvSpPr>
        <p:spPr>
          <a:xfrm>
            <a:off x="548640" y="1783080"/>
            <a:ext cx="5212080" cy="365760"/>
          </a:xfrm>
          <a:prstGeom prst="rect">
            <a:avLst/>
          </a:prstGeom>
          <a:noFill/>
          <a:ln/>
        </p:spPr>
        <p:txBody>
          <a:bodyPr wrap="square" lIns="0" tIns="0" rIns="0" bIns="0" rtlCol="0" anchor="ctr"/>
          <a:lstStyle/>
          <a:p>
            <a:pPr indent="0" marL="0">
              <a:buNone/>
            </a:pPr>
            <a:r>
              <a:rPr lang="en-US" sz="1250" b="1" spc="100" kern="0" dirty="0">
                <a:solidFill>
                  <a:srgbClr val="CB5E2E"/>
                </a:solidFill>
                <a:latin typeface="Calibri" pitchFamily="34" charset="0"/>
                <a:ea typeface="Calibri" pitchFamily="34" charset="-122"/>
                <a:cs typeface="Calibri" pitchFamily="34" charset="-120"/>
              </a:rPr>
              <a:t>NOTEBOOKS Y REPRODUCIBILIDAD</a:t>
            </a:r>
            <a:endParaRPr lang="en-US" sz="1250" dirty="0"/>
          </a:p>
        </p:txBody>
      </p:sp>
      <p:sp>
        <p:nvSpPr>
          <p:cNvPr id="5" name="Text 3"/>
          <p:cNvSpPr txBox="1"/>
          <p:nvPr/>
        </p:nvSpPr>
        <p:spPr>
          <a:xfrm>
            <a:off x="548640" y="2240280"/>
            <a:ext cx="5212080" cy="640080"/>
          </a:xfrm>
          <a:prstGeom prst="rect">
            <a:avLst/>
          </a:prstGeom>
          <a:noFill/>
          <a:ln/>
        </p:spPr>
        <p:txBody>
          <a:bodyPr wrap="square" lIns="0" tIns="0" rIns="0" bIns="0" rtlCol="0" anchor="ctr"/>
          <a:lstStyle/>
          <a:p>
            <a:pPr indent="0" marL="0">
              <a:lnSpc>
                <a:spcPct val="100000"/>
              </a:lnSpc>
              <a:buNone/>
            </a:pPr>
            <a:r>
              <a:rPr lang="en-US" sz="1150" dirty="0">
                <a:solidFill>
                  <a:srgbClr val="1E2A35"/>
                </a:solidFill>
                <a:latin typeface="Calibri" pitchFamily="34" charset="0"/>
                <a:ea typeface="Calibri" pitchFamily="34" charset="-122"/>
                <a:cs typeface="Calibri" pitchFamily="34" charset="-120"/>
              </a:rPr>
              <a:t>Kluyver et al. (2016). «Jupyter Notebooks: a publishing format for reproducible computational workflows». ELPUB.</a:t>
            </a:r>
            <a:endParaRPr lang="en-US" sz="1150" dirty="0"/>
          </a:p>
        </p:txBody>
      </p:sp>
      <p:sp>
        <p:nvSpPr>
          <p:cNvPr id="6" name="Text 4"/>
          <p:cNvSpPr txBox="1"/>
          <p:nvPr/>
        </p:nvSpPr>
        <p:spPr>
          <a:xfrm>
            <a:off x="548640" y="2953512"/>
            <a:ext cx="5212080" cy="640080"/>
          </a:xfrm>
          <a:prstGeom prst="rect">
            <a:avLst/>
          </a:prstGeom>
          <a:noFill/>
          <a:ln/>
        </p:spPr>
        <p:txBody>
          <a:bodyPr wrap="square" lIns="0" tIns="0" rIns="0" bIns="0" rtlCol="0" anchor="ctr"/>
          <a:lstStyle/>
          <a:p>
            <a:pPr indent="0" marL="0">
              <a:lnSpc>
                <a:spcPct val="100000"/>
              </a:lnSpc>
              <a:buNone/>
            </a:pPr>
            <a:r>
              <a:rPr lang="en-US" sz="1150" dirty="0">
                <a:solidFill>
                  <a:srgbClr val="1E2A35"/>
                </a:solidFill>
                <a:latin typeface="Calibri" pitchFamily="34" charset="0"/>
                <a:ea typeface="Calibri" pitchFamily="34" charset="-122"/>
                <a:cs typeface="Calibri" pitchFamily="34" charset="-120"/>
              </a:rPr>
              <a:t>Rule et al. (2019). «Ten simple rules for writing and sharing computational analyses in Jupyter Notebooks». PLOS Comp. Biology 15(7).</a:t>
            </a:r>
            <a:endParaRPr lang="en-US" sz="1150" dirty="0"/>
          </a:p>
        </p:txBody>
      </p:sp>
      <p:sp>
        <p:nvSpPr>
          <p:cNvPr id="7" name="Text 5"/>
          <p:cNvSpPr txBox="1"/>
          <p:nvPr/>
        </p:nvSpPr>
        <p:spPr>
          <a:xfrm>
            <a:off x="548640" y="3666744"/>
            <a:ext cx="5212080" cy="640080"/>
          </a:xfrm>
          <a:prstGeom prst="rect">
            <a:avLst/>
          </a:prstGeom>
          <a:noFill/>
          <a:ln/>
        </p:spPr>
        <p:txBody>
          <a:bodyPr wrap="square" lIns="0" tIns="0" rIns="0" bIns="0" rtlCol="0" anchor="ctr"/>
          <a:lstStyle/>
          <a:p>
            <a:pPr indent="0" marL="0">
              <a:lnSpc>
                <a:spcPct val="100000"/>
              </a:lnSpc>
              <a:buNone/>
            </a:pPr>
            <a:r>
              <a:rPr lang="en-US" sz="1150" dirty="0">
                <a:solidFill>
                  <a:srgbClr val="1E2A35"/>
                </a:solidFill>
                <a:latin typeface="Calibri" pitchFamily="34" charset="0"/>
                <a:ea typeface="Calibri" pitchFamily="34" charset="-122"/>
                <a:cs typeface="Calibri" pitchFamily="34" charset="-120"/>
              </a:rPr>
              <a:t>Peng (2011). «Reproducible Research in Computational Science». Science 334(6060).</a:t>
            </a:r>
            <a:endParaRPr lang="en-US" sz="1150" dirty="0"/>
          </a:p>
        </p:txBody>
      </p:sp>
      <p:sp>
        <p:nvSpPr>
          <p:cNvPr id="8" name="Text 6"/>
          <p:cNvSpPr txBox="1"/>
          <p:nvPr/>
        </p:nvSpPr>
        <p:spPr>
          <a:xfrm>
            <a:off x="6309360" y="1783080"/>
            <a:ext cx="5212080" cy="365760"/>
          </a:xfrm>
          <a:prstGeom prst="rect">
            <a:avLst/>
          </a:prstGeom>
          <a:noFill/>
          <a:ln/>
        </p:spPr>
        <p:txBody>
          <a:bodyPr wrap="square" lIns="0" tIns="0" rIns="0" bIns="0" rtlCol="0" anchor="ctr"/>
          <a:lstStyle/>
          <a:p>
            <a:pPr indent="0" marL="0">
              <a:buNone/>
            </a:pPr>
            <a:r>
              <a:rPr lang="en-US" sz="1250" b="1" spc="100" kern="0" dirty="0">
                <a:solidFill>
                  <a:srgbClr val="CB5E2E"/>
                </a:solidFill>
                <a:latin typeface="Calibri" pitchFamily="34" charset="0"/>
                <a:ea typeface="Calibri" pitchFamily="34" charset="-122"/>
                <a:cs typeface="Calibri" pitchFamily="34" charset="-120"/>
              </a:rPr>
              <a:t>LÍMITES DE LOS MODELOS EN CÁLCULO</a:t>
            </a:r>
            <a:endParaRPr lang="en-US" sz="1250" dirty="0"/>
          </a:p>
        </p:txBody>
      </p:sp>
      <p:sp>
        <p:nvSpPr>
          <p:cNvPr id="9" name="Text 7"/>
          <p:cNvSpPr txBox="1"/>
          <p:nvPr/>
        </p:nvSpPr>
        <p:spPr>
          <a:xfrm>
            <a:off x="6309360" y="2240280"/>
            <a:ext cx="5212080" cy="640080"/>
          </a:xfrm>
          <a:prstGeom prst="rect">
            <a:avLst/>
          </a:prstGeom>
          <a:noFill/>
          <a:ln/>
        </p:spPr>
        <p:txBody>
          <a:bodyPr wrap="square" lIns="0" tIns="0" rIns="0" bIns="0" rtlCol="0" anchor="ctr"/>
          <a:lstStyle/>
          <a:p>
            <a:pPr indent="0" marL="0">
              <a:lnSpc>
                <a:spcPct val="100000"/>
              </a:lnSpc>
              <a:buNone/>
            </a:pPr>
            <a:r>
              <a:rPr lang="en-US" sz="1150" dirty="0">
                <a:solidFill>
                  <a:srgbClr val="1E2A35"/>
                </a:solidFill>
                <a:latin typeface="Calibri" pitchFamily="34" charset="0"/>
                <a:ea typeface="Calibri" pitchFamily="34" charset="-122"/>
                <a:cs typeface="Calibri" pitchFamily="34" charset="-120"/>
              </a:rPr>
              <a:t>Documentación de Google Colab; documentación de Copilot en Excel (análisis en lenguaje natural).</a:t>
            </a:r>
            <a:endParaRPr lang="en-US" sz="1150" dirty="0"/>
          </a:p>
        </p:txBody>
      </p:sp>
      <p:sp>
        <p:nvSpPr>
          <p:cNvPr id="10" name="Text 8"/>
          <p:cNvSpPr txBox="1"/>
          <p:nvPr/>
        </p:nvSpPr>
        <p:spPr>
          <a:xfrm>
            <a:off x="6309360" y="2953512"/>
            <a:ext cx="5212080" cy="640080"/>
          </a:xfrm>
          <a:prstGeom prst="rect">
            <a:avLst/>
          </a:prstGeom>
          <a:noFill/>
          <a:ln/>
        </p:spPr>
        <p:txBody>
          <a:bodyPr wrap="square" lIns="0" tIns="0" rIns="0" bIns="0" rtlCol="0" anchor="ctr"/>
          <a:lstStyle/>
          <a:p>
            <a:pPr indent="0" marL="0">
              <a:lnSpc>
                <a:spcPct val="100000"/>
              </a:lnSpc>
              <a:buNone/>
            </a:pPr>
            <a:r>
              <a:rPr lang="en-US" sz="1150" dirty="0">
                <a:solidFill>
                  <a:srgbClr val="1E2A35"/>
                </a:solidFill>
                <a:latin typeface="Calibri" pitchFamily="34" charset="0"/>
                <a:ea typeface="Calibri" pitchFamily="34" charset="-122"/>
                <a:cs typeface="Calibri" pitchFamily="34" charset="-120"/>
              </a:rPr>
              <a:t>Sobre por qué los LLM fallan en aritmética: predicen tokens, no operan; ver material técnico de tokenización y razonamiento numérico.</a:t>
            </a:r>
            <a:endParaRPr lang="en-US" sz="1150" dirty="0"/>
          </a:p>
        </p:txBody>
      </p:sp>
      <p:sp>
        <p:nvSpPr>
          <p:cNvPr id="11" name="Text 9"/>
          <p:cNvSpPr txBox="1"/>
          <p:nvPr/>
        </p:nvSpPr>
        <p:spPr>
          <a:xfrm>
            <a:off x="6309360" y="3666744"/>
            <a:ext cx="5212080" cy="365760"/>
          </a:xfrm>
          <a:prstGeom prst="rect">
            <a:avLst/>
          </a:prstGeom>
          <a:noFill/>
          <a:ln/>
        </p:spPr>
        <p:txBody>
          <a:bodyPr wrap="square" lIns="0" tIns="0" rIns="0" bIns="0" rtlCol="0" anchor="ctr"/>
          <a:lstStyle/>
          <a:p>
            <a:pPr indent="0" marL="0">
              <a:buNone/>
            </a:pPr>
            <a:r>
              <a:rPr lang="en-US" sz="1250" b="1" spc="100" kern="0" dirty="0">
                <a:solidFill>
                  <a:srgbClr val="CB5E2E"/>
                </a:solidFill>
                <a:latin typeface="Calibri" pitchFamily="34" charset="0"/>
                <a:ea typeface="Calibri" pitchFamily="34" charset="-122"/>
                <a:cs typeface="Calibri" pitchFamily="34" charset="-120"/>
              </a:rPr>
              <a:t>VALIDACIÓN E IDONEIDAD</a:t>
            </a:r>
            <a:endParaRPr lang="en-US" sz="1250" dirty="0"/>
          </a:p>
        </p:txBody>
      </p:sp>
      <p:sp>
        <p:nvSpPr>
          <p:cNvPr id="12" name="Text 10"/>
          <p:cNvSpPr txBox="1"/>
          <p:nvPr/>
        </p:nvSpPr>
        <p:spPr>
          <a:xfrm>
            <a:off x="6309360" y="4123944"/>
            <a:ext cx="5212080" cy="640080"/>
          </a:xfrm>
          <a:prstGeom prst="rect">
            <a:avLst/>
          </a:prstGeom>
          <a:noFill/>
          <a:ln/>
        </p:spPr>
        <p:txBody>
          <a:bodyPr wrap="square" lIns="0" tIns="0" rIns="0" bIns="0" rtlCol="0" anchor="ctr"/>
          <a:lstStyle/>
          <a:p>
            <a:pPr indent="0" marL="0">
              <a:lnSpc>
                <a:spcPct val="100000"/>
              </a:lnSpc>
              <a:buNone/>
            </a:pPr>
            <a:r>
              <a:rPr lang="en-US" sz="1150" dirty="0">
                <a:solidFill>
                  <a:srgbClr val="1E2A35"/>
                </a:solidFill>
                <a:latin typeface="Calibri" pitchFamily="34" charset="0"/>
                <a:ea typeface="Calibri" pitchFamily="34" charset="-122"/>
                <a:cs typeface="Calibri" pitchFamily="34" charset="-120"/>
              </a:rPr>
              <a:t>Remite al Módulo I (Sesión 3) y a la Sesión 7 del curso: validación crítica e idoneidad tarea-herramienta.</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2026-09-22T16:47:19Z</dcterms:created>
  <dcterms:modified xsi:type="dcterms:W3CDTF">2026-09-22T16:47:19Z</dcterms:modified>
</cp:coreProperties>
</file>