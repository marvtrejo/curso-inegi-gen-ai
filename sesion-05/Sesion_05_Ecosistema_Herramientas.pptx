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8.xml" ContentType="application/vnd.openxmlformats-officedocument.presentationml.slide+xml"/>
  <Override PartName="/ppt/slides/slide19.xml" ContentType="application/vnd.openxmlformats-officedocument.presentationml.slide+xml"/>
  <Override PartName="/ppt/notesSlides/notesSlide19.xml" ContentType="application/vnd.openxmlformats-officedocument.presentationml.notesSlide+xml"/>
  <Override PartName="/ppt/notesSlides/notesSlide18.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4" r:id="rId25"/>
    <p:sldId id="273" r:id="rId24"/>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  <Relationship Id="rId24" Type="http://schemas.openxmlformats.org/officeDocument/2006/relationships/slide" Target="slides/slide18.xml"/>
  <Relationship Id="rId25" Type="http://schemas.openxmlformats.org/officeDocument/2006/relationships/slide" Target="slides/slide19.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se usa el mismo corpus del viernes y el libro de códigos que cada equipo ratificó. Ten listo Atlas.ti o MAXQDA con un proyecto ya codificado: es lo único que hay que preparar con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tres se cubren por demostración conforme a lo indicado por la coordinación del Instituto: las herramientas no disponibles desde la infraestructura institucional pueden abordarse mediante sesiones expositivas de los instructores.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Diez minutos de reloj. Todo se hace con información verde; la prueba usa un dato inventado.</a:t>
            </a:r>
          </a:p>
          <a:p>
            <a:r>
              <a:rPr lang="en-US" dirty="0"/>
              <a:t>Los participantes confirmaron el 21 de septiembre que desde Copilot Chat llegan a sus documentos del OneDrive institucional; ya se había comprobado en vivo el 15. Eso es acceso por selección, no búsqueda para contestar: según la documentación de Microsoft, sin la licencia de paga no hay índice semántico ni anclaje amplio a datos de trabajo, y elegir un archivo de OneDrive equivale a subirlo a la conversación. El menú sí sugiere archivos, por actividad reciente y por nombre, tipo o autor; quien elige eres tú.</a:t>
            </a:r>
          </a:p>
          <a:p>
            <a:r>
              <a:rPr lang="en-US" dirty="0"/>
              <a:t>Minutos 0 a 2, el dato señuelo: cada quien crea en su OneDrive un Word de nombre neutro, por ejemplo «Notas sueltas», con un dato inventado que no exista en la web: «La clave del equipo Ajolote es magnolia-7391». Lo guarda y lo cierra. El paso 2 de la lámina, organizar la carpeta y nombrar bien, es la regla para su trabajo diario; hoy basta con entenderla.</a:t>
            </a:r>
          </a:p>
          <a:p>
            <a:r>
              <a:rPr lang="en-US" dirty="0"/>
              <a:t>Minutos 2 a 5, paso 3: Copilot Chat en página completa del navegador, no en el panel de Edge ni en Outlook, sin agente y en un chat nuevo. Sin escribir «/» ni tocar las sugerencias bajo el cuadro, teclean: «Sin que yo adjunte nada: ¿cuál es la clave del equipo Ajolote? Dime en qué archivo de mi OneDrive está y dame la liga». Solo cuenta como hallazgo si contesta magnolia-7391 y la liga abre su archivo. Lo esperado con Copilot Chat es que no lo encuentre.</a:t>
            </a:r>
          </a:p>
          <a:p>
            <a:r>
              <a:rPr lang="en-US" dirty="0"/>
              <a:t>Minutos 5 a 8, paso 4: en ese mismo chat agregan el archivo desde OneDrive y repiten la pregunta pidiendo la cita. Debe contestar la clave. Es el control: si con el archivo agregado tampoco contesta, la prueba no es concluyente; el acceso estándar puede restringirse en horas de alta demanda. Que empiecen con uno o dos archivos: Microsoft no publica un tope para Copilot Chat de trabajo, así que no cites cifras.</a:t>
            </a:r>
          </a:p>
          <a:p>
            <a:r>
              <a:rPr lang="en-US" dirty="0"/>
              <a:t>Minutos 8 a 10: dos o tres personas cuentan la diferencia. Lo que debe salir: sin archivo contesta de memoria y de la web; con archivo contesta con tus documentos, pero solo con los que tú elegiste.</a:t>
            </a:r>
          </a:p>
          <a:p>
            <a:r>
              <a:rPr lang="en-US" dirty="0"/>
              <a:t>Si a alguien Copilot le cita el archivo sin señalárselo, no concluyas que tiene la licencia de paga. Descarta primero una sugerencia con archivo, el panel de Edge, un agente o cuaderno, la memoria de otro chat y la web; después revisa la etiqueta bajo su nombre en m365.cloud.microsoft, al pie de la página de inicio. El resultado describe esa cuenta ese día, no al Instituto completo.</a:t>
            </a:r>
          </a:p>
          <a:p>
            <a:r>
              <a:rPr lang="en-US" dirty="0"/>
              <a:t>Para información amarilla: es apta aquí porque Copilot Chat con cuenta institucional es la única herramienta con contrato, no porque el archivo se quede en OneDrive. Con la búsqueda web activa pueden salir a Bing unas cuantas palabras derivadas de la pregunta.</a:t>
            </a:r>
          </a:p>
          <a:p>
            <a:r>
              <a:rPr lang="en-US" dirty="0"/>
              <a:t>Con un documento muy largo no des por hecho que lo leyó completo: pregunta por una sección intermedia o pártelo. No prometas que se puede agregar una carpeta completa de un golpe; para Copilot Chat sin licencia no está documentado.</a:t>
            </a:r>
          </a:p>
        </p:txBody>
      </p:sp>
      <p:sp>
        <p:nvSpPr>
          <p:cNvPr id="4" name="Slide Number Placeholder 3"/>
          <p:cNvSpPr>
            <a:spLocks noGrp="1"/>
          </p:cNvSpPr>
          <p:nvPr>
            <p:ph type="sldNum" sz="quarter" idx="10"/>
          </p:nvPr>
        </p:nvSpPr>
        <p:spPr/>
        <p:txBody>
          <a:bodyPr/>
          <a:lstStyle/>
          <a:p>
            <a:fld id="{B3C21451-1387-4CA6-816F-3879F97B5CB9}" type="slidenum">
              <a:rPr lang="en-US"/>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minutos. Es la lámina del viernes aplicada a documentos: partir, convertir en coordenadas, recuperar lo más cercano.</a:t>
            </a:r>
          </a:p>
          <a:p>
            <a:r>
              <a:rPr lang="en-US" dirty="0"/>
              <a:t>Cierra con el dato del banner: los equipos 4, 5 y 6 ya usaron RAG esta mañana sin llamarlo así. Perplexity, Elicit y Consensus buscan antes de escribir; por eso traen citas.</a:t>
            </a:r>
          </a:p>
          <a:p>
            <a:r>
              <a:rPr lang="en-US" dirty="0"/>
              <a:t>Precisión para el grupo técnico: los sistemas reales casi nunca buscan solo por cercanía de significado. Combinan cercanía con coincidencia de palabras (búsqueda híbrida) y reordenan los resultados antes de entregarlos al modelo.</a:t>
            </a:r>
          </a:p>
          <a:p>
            <a:r>
              <a:rPr lang="en-US" dirty="0"/>
              <a:t>El puente a la práctica: desde el Copilot Chat del Instituto sí se llega a los archivos de OneDrive, pero no hay un buscador que elija por ti. El menú sugiere archivos por nombre y por actividad reciente para que tú escojas; Microsoft reserva el índice semántico a la licencia de paga Microsoft 365 Copilot. Elegir un archivo equivale a subirlo a la conversación.</a:t>
            </a:r>
          </a:p>
        </p:txBody>
      </p:sp>
      <p:sp>
        <p:nvSpPr>
          <p:cNvPr id="4" name="Slide Number Placeholder 3"/>
          <p:cNvSpPr>
            <a:spLocks noGrp="1"/>
          </p:cNvSpPr>
          <p:nvPr>
            <p:ph type="sldNum" sz="quarter" idx="10"/>
          </p:nvPr>
        </p:nvSpPr>
        <p:spPr/>
        <p:txBody>
          <a:bodyPr/>
          <a:lstStyle/>
          <a:p>
            <a:fld id="{B3C21451-1387-4CA6-816F-3879F97B5CB9}" type="slidenum">
              <a:rPr lang="en-US"/>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minutos. Es la única lámina de teoría del bloque; la profundidad va en el anexo y en la charla del receso.</a:t>
            </a:r>
          </a:p>
          <a:p>
            <a:r>
              <a:rPr lang="en-US" dirty="0"/>
              <a:t>Metáfora: adjuntar es poner los documentos sobre el escritorio; el modelo lee lo que tú pusiste. RAG es una biblioteca con bibliotecario: alguien indexó el acervo y un buscador trae los fragmentos que parecen pertinentes.</a:t>
            </a:r>
          </a:p>
          <a:p>
            <a:r>
              <a:rPr lang="en-US" dirty="0"/>
              <a:t>Para economistas: el escritorio no tiene costo fijo y su costo marginal crece con cada página que se procesa en cada pregunta. La biblioteca tiene costo fijo (armar y mantener el índice) y consultas baratas. Ninguna de las dos garantiza la respuesta.</a:t>
            </a:r>
          </a:p>
          <a:p>
            <a:r>
              <a:rPr lang="en-US" dirty="0"/>
              <a:t>Cómo falla cada una. Escritorio: Liu y otros («Lost in the Middle», TACL 2024) mostraron con modelos de 2023 que lo que queda en medio del contexto se aprovecha peor. Los modelos actuales lo mitigaron en búsquedas sencillas, pero su exactitud sigue bajando conforme crece el contexto (RULER, NoLiMa). Biblioteca: si el buscador no recupera el fragmento correcto, el modelo contesta sin él. Por eso es falso que el RAG «asegure» la respuesta exacta.</a:t>
            </a:r>
          </a:p>
          <a:p>
            <a:r>
              <a:rPr lang="en-US" dirty="0"/>
              <a:t>Dato para quien pregunte: ChatGPT no carga siempre el archivo completo. OpenAI documenta que en Enterprise pega en el contexto hasta cierto número de tokens y manda todo el texto a un índice privado del que recupera fragmentos. Es decir, hace RAG por dentro. No cites la cifra como fija: la página avisa que puede cambiar.</a:t>
            </a:r>
          </a:p>
          <a:p>
            <a:r>
              <a:rPr lang="en-US" dirty="0"/>
              <a:t>Si alguien técnico pide más (embeddings, búsqueda híbrida, reordenamiento, caché de prompts), remítelo al Anexo_Ventana_de_contexto_y_RAG.pptx. No abras ese frente aquí.</a:t>
            </a:r>
          </a:p>
        </p:txBody>
      </p:sp>
      <p:sp>
        <p:nvSpPr>
          <p:cNvPr id="4" name="Slide Number Placeholder 3"/>
          <p:cNvSpPr>
            <a:spLocks noGrp="1"/>
          </p:cNvSpPr>
          <p:nvPr>
            <p:ph type="sldNum" sz="quarter" idx="10"/>
          </p:nvPr>
        </p:nvSpPr>
        <p:spPr/>
        <p:txBody>
          <a:bodyPr/>
          <a:lstStyle/>
          <a:p>
            <a:fld id="{B3C21451-1387-4CA6-816F-3879F97B5CB9}" type="slidenum">
              <a:rPr lang="en-US"/>
              <a:t>19</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371600" y="-2011680"/>
            <a:ext cx="5852160" cy="5852160"/>
          </a:xfrm>
          <a:prstGeom prst="ellipse">
            <a:avLst/>
          </a:prstGeom>
          <a:solidFill>
            <a:srgbClr val="24404E"/>
          </a:solidFill>
          <a:ln w="12700">
            <a:solidFill>
              <a:srgbClr val="24404E"/>
            </a:solidFill>
            <a:prstDash val="solid"/>
          </a:ln>
        </p:spPr>
      </p:sp>
      <p:sp>
        <p:nvSpPr>
          <p:cNvPr id="3" name="Shape 1"/>
          <p:cNvSpPr/>
          <p:nvPr/>
        </p:nvSpPr>
        <p:spPr>
          <a:xfrm>
            <a:off x="9692640" y="4206240"/>
            <a:ext cx="4206240" cy="4206240"/>
          </a:xfrm>
          <a:prstGeom prst="ellipse">
            <a:avLst/>
          </a:prstGeom>
          <a:solidFill>
            <a:srgbClr val="24404E"/>
          </a:solidFill>
          <a:ln w="12700">
            <a:solidFill>
              <a:srgbClr val="24404E"/>
            </a:solidFill>
            <a:prstDash val="solid"/>
          </a:ln>
        </p:spPr>
      </p:sp>
      <p:sp>
        <p:nvSpPr>
          <p:cNvPr id="4" name="Text 2"/>
          <p:cNvSpPr txBox="1"/>
          <p:nvPr/>
        </p:nvSpPr>
        <p:spPr>
          <a:xfrm>
            <a:off x="566928" y="1417320"/>
            <a:ext cx="10424160" cy="365760"/>
          </a:xfrm>
          <a:prstGeom prst="rect">
            <a:avLst/>
          </a:prstGeom>
          <a:noFill/>
          <a:ln/>
        </p:spPr>
        <p:txBody>
          <a:bodyPr wrap="square" lIns="0" tIns="0" rIns="0" bIns="0" rtlCol="0" anchor="ctr"/>
          <a:lstStyle/>
          <a:p>
            <a:pPr indent="0" marL="0">
              <a:buNone/>
            </a:pPr>
            <a:r>
              <a:rPr lang="en-US" sz="1500" b="1" spc="200" kern="0" dirty="0">
                <a:solidFill>
                  <a:srgbClr val="D7E7E7"/>
                </a:solidFill>
                <a:latin typeface="Calibri" pitchFamily="34" charset="0"/>
                <a:ea typeface="Calibri" pitchFamily="34" charset="-122"/>
                <a:cs typeface="Calibri" pitchFamily="34" charset="-120"/>
              </a:rPr>
              <a:t>MÓDULO II. ANÁLISIS CUALITATIVO ASISTIDO POR IA</a:t>
            </a:r>
            <a:endParaRPr lang="en-US" sz="1500" dirty="0"/>
          </a:p>
        </p:txBody>
      </p:sp>
      <p:sp>
        <p:nvSpPr>
          <p:cNvPr id="5" name="Text 3"/>
          <p:cNvSpPr txBox="1"/>
          <p:nvPr/>
        </p:nvSpPr>
        <p:spPr>
          <a:xfrm>
            <a:off x="566928" y="1874520"/>
            <a:ext cx="10424160" cy="640080"/>
          </a:xfrm>
          <a:prstGeom prst="rect">
            <a:avLst/>
          </a:prstGeom>
          <a:noFill/>
          <a:ln/>
        </p:spPr>
        <p:txBody>
          <a:bodyPr wrap="square" lIns="0" tIns="0" rIns="0" bIns="0" rtlCol="0" anchor="ctr"/>
          <a:lstStyle/>
          <a:p>
            <a:pPr indent="0" marL="0">
              <a:buNone/>
            </a:pPr>
            <a:r>
              <a:rPr lang="en-US" sz="4400" b="1" dirty="0">
                <a:solidFill>
                  <a:srgbClr val="C85A28"/>
                </a:solidFill>
                <a:latin typeface="Arial" pitchFamily="34" charset="0"/>
                <a:ea typeface="Arial" pitchFamily="34" charset="-122"/>
                <a:cs typeface="Arial" pitchFamily="34" charset="-120"/>
              </a:rPr>
              <a:t>Sesión 5</a:t>
            </a:r>
            <a:endParaRPr lang="en-US" sz="4400" dirty="0"/>
          </a:p>
        </p:txBody>
      </p:sp>
      <p:sp>
        <p:nvSpPr>
          <p:cNvPr id="6" name="Text 4"/>
          <p:cNvSpPr txBox="1"/>
          <p:nvPr/>
        </p:nvSpPr>
        <p:spPr>
          <a:xfrm>
            <a:off x="566928" y="2560320"/>
            <a:ext cx="10607040" cy="155448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Plataformas de análisis cualitativo: codificar, medir postura y comparar contra Copilot</a:t>
            </a:r>
            <a:endParaRPr lang="en-US" sz="3400" dirty="0"/>
          </a:p>
        </p:txBody>
      </p:sp>
      <p:sp>
        <p:nvSpPr>
          <p:cNvPr id="7" name="Shape 5"/>
          <p:cNvSpPr/>
          <p:nvPr/>
        </p:nvSpPr>
        <p:spPr>
          <a:xfrm>
            <a:off x="566928" y="4480560"/>
            <a:ext cx="5120640" cy="54864"/>
          </a:xfrm>
          <a:prstGeom prst="roundRect">
            <a:avLst>
              <a:gd name="adj" fmla="val 50000"/>
            </a:avLst>
          </a:prstGeom>
          <a:solidFill>
            <a:srgbClr val="2E7D7D"/>
          </a:solidFill>
          <a:ln w="12700">
            <a:solidFill>
              <a:srgbClr val="2E7D7D"/>
            </a:solidFill>
            <a:prstDash val="solid"/>
          </a:ln>
        </p:spPr>
      </p:sp>
      <p:sp>
        <p:nvSpPr>
          <p:cNvPr id="8" name="Text 6"/>
          <p:cNvSpPr txBox="1"/>
          <p:nvPr/>
        </p:nvSpPr>
        <p:spPr>
          <a:xfrm>
            <a:off x="566928" y="4709160"/>
            <a:ext cx="1042416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Lunes 21 de septiembre de 2026, 9:00 a 11:30 horas</a:t>
            </a:r>
            <a:endParaRPr lang="en-US" sz="1600" dirty="0"/>
          </a:p>
        </p:txBody>
      </p:sp>
      <p:sp>
        <p:nvSpPr>
          <p:cNvPr id="9" name="Text 7"/>
          <p:cNvSpPr txBox="1"/>
          <p:nvPr/>
        </p:nvSpPr>
        <p:spPr>
          <a:xfrm>
            <a:off x="566928" y="5120640"/>
            <a:ext cx="10424160" cy="365760"/>
          </a:xfrm>
          <a:prstGeom prst="rect">
            <a:avLst/>
          </a:prstGeom>
          <a:noFill/>
          <a:ln/>
        </p:spPr>
        <p:txBody>
          <a:bodyPr wrap="square" lIns="0" tIns="0" rIns="0" bIns="0" rtlCol="0" anchor="ctr"/>
          <a:lstStyle/>
          <a:p>
            <a:pPr indent="0" marL="0">
              <a:buNone/>
            </a:pPr>
            <a:r>
              <a:rPr lang="en-US" sz="1300" dirty="0">
                <a:solidFill>
                  <a:srgbClr val="D7E7E7"/>
                </a:solidFill>
                <a:latin typeface="Calibri" pitchFamily="34" charset="0"/>
                <a:ea typeface="Calibri" pitchFamily="34" charset="-122"/>
                <a:cs typeface="Calibri" pitchFamily="34" charset="-120"/>
              </a:rPr>
              <a:t>Curso de Inteligencia Artificial Aplicada. INEGI 2026. CC BY-NC-SA 4.0.</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Cómo vamos a usar los 150 minutos</a:t>
            </a:r>
            <a:endParaRPr lang="en-US" sz="3200" dirty="0"/>
          </a:p>
        </p:txBody>
      </p:sp>
      <p:sp>
        <p:nvSpPr>
          <p:cNvPr id="3" name="Shape 1"/>
          <p:cNvSpPr/>
          <p:nvPr/>
        </p:nvSpPr>
        <p:spPr>
          <a:xfrm>
            <a:off x="9485071" y="457200"/>
            <a:ext cx="2139696" cy="347472"/>
          </a:xfrm>
          <a:prstGeom prst="roundRect">
            <a:avLst>
              <a:gd name="adj" fmla="val 50000"/>
            </a:avLst>
          </a:prstGeom>
          <a:solidFill>
            <a:srgbClr val="F2F5F6"/>
          </a:solidFill>
          <a:ln w="12700">
            <a:solidFill>
              <a:srgbClr val="F2F5F6"/>
            </a:solidFill>
            <a:prstDash val="solid"/>
          </a:ln>
        </p:spPr>
      </p:sp>
      <p:sp>
        <p:nvSpPr>
          <p:cNvPr id="4" name="Text 2"/>
          <p:cNvSpPr txBox="1"/>
          <p:nvPr/>
        </p:nvSpPr>
        <p:spPr>
          <a:xfrm>
            <a:off x="9485071" y="457200"/>
            <a:ext cx="2139696" cy="347472"/>
          </a:xfrm>
          <a:prstGeom prst="rect">
            <a:avLst/>
          </a:prstGeom>
          <a:noFill/>
          <a:ln/>
        </p:spPr>
        <p:txBody>
          <a:bodyPr wrap="square" lIns="0" tIns="0" rIns="0" bIns="0" rtlCol="0" anchor="ctr"/>
          <a:lstStyle/>
          <a:p>
            <a:pPr algn="ctr" indent="0" marL="0">
              <a:buNone/>
            </a:pPr>
            <a:r>
              <a:rPr lang="en-US" sz="1200" b="1" dirty="0">
                <a:solidFill>
                  <a:srgbClr val="5A6B73"/>
                </a:solidFill>
                <a:latin typeface="Calibri" pitchFamily="34" charset="0"/>
                <a:ea typeface="Calibri" pitchFamily="34" charset="-122"/>
                <a:cs typeface="Calibri" pitchFamily="34" charset="-120"/>
              </a:rPr>
              <a:t>9:00 a 11:30</a:t>
            </a:r>
            <a:endParaRPr lang="en-US" sz="1200" dirty="0"/>
          </a:p>
        </p:txBody>
      </p:sp>
      <p:sp>
        <p:nvSpPr>
          <p:cNvPr id="5" name="Shape 3"/>
          <p:cNvSpPr/>
          <p:nvPr/>
        </p:nvSpPr>
        <p:spPr>
          <a:xfrm>
            <a:off x="566928" y="1408176"/>
            <a:ext cx="5364328" cy="1081278"/>
          </a:xfrm>
          <a:prstGeom prst="roundRect">
            <a:avLst>
              <a:gd name="adj" fmla="val 5920"/>
            </a:avLst>
          </a:prstGeom>
          <a:solidFill>
            <a:srgbClr val="F2F5F6"/>
          </a:solidFill>
          <a:ln w="12700">
            <a:solidFill>
              <a:srgbClr val="F2F5F6"/>
            </a:solidFill>
            <a:prstDash val="solid"/>
          </a:ln>
        </p:spPr>
      </p:sp>
      <p:sp>
        <p:nvSpPr>
          <p:cNvPr id="6" name="Text 4"/>
          <p:cNvSpPr txBox="1"/>
          <p:nvPr/>
        </p:nvSpPr>
        <p:spPr>
          <a:xfrm>
            <a:off x="786384" y="1408176"/>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9:00</a:t>
            </a:r>
            <a:endParaRPr lang="en-US" sz="1300" dirty="0"/>
          </a:p>
        </p:txBody>
      </p:sp>
      <p:sp>
        <p:nvSpPr>
          <p:cNvPr id="7" name="Text 5"/>
          <p:cNvSpPr txBox="1"/>
          <p:nvPr/>
        </p:nvSpPr>
        <p:spPr>
          <a:xfrm>
            <a:off x="2194560" y="1463040"/>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El mapa del ecosistema, con las categorías del Instituto</a:t>
            </a:r>
            <a:endParaRPr lang="en-US" sz="1350" dirty="0"/>
          </a:p>
        </p:txBody>
      </p:sp>
      <p:sp>
        <p:nvSpPr>
          <p:cNvPr id="8" name="Shape 6"/>
          <p:cNvSpPr/>
          <p:nvPr/>
        </p:nvSpPr>
        <p:spPr>
          <a:xfrm>
            <a:off x="566928" y="2635758"/>
            <a:ext cx="5364328" cy="1081278"/>
          </a:xfrm>
          <a:prstGeom prst="roundRect">
            <a:avLst>
              <a:gd name="adj" fmla="val 5920"/>
            </a:avLst>
          </a:prstGeom>
          <a:solidFill>
            <a:srgbClr val="F2F5F6"/>
          </a:solidFill>
          <a:ln w="12700">
            <a:solidFill>
              <a:srgbClr val="F2F5F6"/>
            </a:solidFill>
            <a:prstDash val="solid"/>
          </a:ln>
        </p:spPr>
      </p:sp>
      <p:sp>
        <p:nvSpPr>
          <p:cNvPr id="9" name="Text 7"/>
          <p:cNvSpPr txBox="1"/>
          <p:nvPr/>
        </p:nvSpPr>
        <p:spPr>
          <a:xfrm>
            <a:off x="786384" y="2635758"/>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9:15</a:t>
            </a:r>
            <a:endParaRPr lang="en-US" sz="1300" dirty="0"/>
          </a:p>
        </p:txBody>
      </p:sp>
      <p:sp>
        <p:nvSpPr>
          <p:cNvPr id="10" name="Text 8"/>
          <p:cNvSpPr txBox="1"/>
          <p:nvPr/>
        </p:nvSpPr>
        <p:spPr>
          <a:xfrm>
            <a:off x="2194560" y="2690622"/>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El reparto por equipos y la tarea de hoy</a:t>
            </a:r>
            <a:endParaRPr lang="en-US" sz="1350" dirty="0"/>
          </a:p>
        </p:txBody>
      </p:sp>
      <p:sp>
        <p:nvSpPr>
          <p:cNvPr id="11" name="Shape 9"/>
          <p:cNvSpPr/>
          <p:nvPr/>
        </p:nvSpPr>
        <p:spPr>
          <a:xfrm>
            <a:off x="566928" y="3863340"/>
            <a:ext cx="5364328" cy="1081278"/>
          </a:xfrm>
          <a:prstGeom prst="roundRect">
            <a:avLst>
              <a:gd name="adj" fmla="val 5920"/>
            </a:avLst>
          </a:prstGeom>
          <a:solidFill>
            <a:srgbClr val="F2F5F6"/>
          </a:solidFill>
          <a:ln w="12700">
            <a:solidFill>
              <a:srgbClr val="F2F5F6"/>
            </a:solidFill>
            <a:prstDash val="solid"/>
          </a:ln>
        </p:spPr>
      </p:sp>
      <p:sp>
        <p:nvSpPr>
          <p:cNvPr id="12" name="Text 10"/>
          <p:cNvSpPr txBox="1"/>
          <p:nvPr/>
        </p:nvSpPr>
        <p:spPr>
          <a:xfrm>
            <a:off x="786384"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9:25</a:t>
            </a:r>
            <a:endParaRPr lang="en-US" sz="1300" dirty="0"/>
          </a:p>
        </p:txBody>
      </p:sp>
      <p:sp>
        <p:nvSpPr>
          <p:cNvPr id="13" name="Text 11"/>
          <p:cNvSpPr txBox="1"/>
          <p:nvPr/>
        </p:nvSpPr>
        <p:spPr>
          <a:xfrm>
            <a:off x="2194560" y="3918204"/>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Práctica: codifica y sustenta con tu herramienta asignada</a:t>
            </a:r>
            <a:endParaRPr lang="en-US" sz="1350" dirty="0"/>
          </a:p>
        </p:txBody>
      </p:sp>
      <p:sp>
        <p:nvSpPr>
          <p:cNvPr id="14" name="Shape 12"/>
          <p:cNvSpPr/>
          <p:nvPr/>
        </p:nvSpPr>
        <p:spPr>
          <a:xfrm>
            <a:off x="566928" y="5090922"/>
            <a:ext cx="5364328" cy="1081278"/>
          </a:xfrm>
          <a:prstGeom prst="roundRect">
            <a:avLst>
              <a:gd name="adj" fmla="val 5920"/>
            </a:avLst>
          </a:prstGeom>
          <a:solidFill>
            <a:srgbClr val="F7E4D8"/>
          </a:solidFill>
          <a:ln w="12700">
            <a:solidFill>
              <a:srgbClr val="F7E4D8"/>
            </a:solidFill>
            <a:prstDash val="solid"/>
          </a:ln>
        </p:spPr>
      </p:sp>
      <p:sp>
        <p:nvSpPr>
          <p:cNvPr id="15" name="Text 13"/>
          <p:cNvSpPr txBox="1"/>
          <p:nvPr/>
        </p:nvSpPr>
        <p:spPr>
          <a:xfrm>
            <a:off x="786384" y="5090922"/>
            <a:ext cx="1371600" cy="1081278"/>
          </a:xfrm>
          <a:prstGeom prst="rect">
            <a:avLst/>
          </a:prstGeom>
          <a:noFill/>
          <a:ln/>
        </p:spPr>
        <p:txBody>
          <a:bodyPr wrap="square" lIns="0" tIns="0" rIns="0" bIns="0" rtlCol="0" anchor="ctr"/>
          <a:lstStyle/>
          <a:p>
            <a:pPr indent="0" marL="0">
              <a:buNone/>
            </a:pPr>
            <a:r>
              <a:rPr lang="en-US" sz="1300" b="1" dirty="0">
                <a:solidFill>
                  <a:srgbClr val="C85A28"/>
                </a:solidFill>
                <a:latin typeface="Arial" pitchFamily="34" charset="0"/>
                <a:ea typeface="Arial" pitchFamily="34" charset="-122"/>
                <a:cs typeface="Arial" pitchFamily="34" charset="-120"/>
              </a:rPr>
              <a:t>10:10</a:t>
            </a:r>
            <a:endParaRPr lang="en-US" sz="1300" dirty="0"/>
          </a:p>
        </p:txBody>
      </p:sp>
      <p:sp>
        <p:nvSpPr>
          <p:cNvPr id="16" name="Text 14"/>
          <p:cNvSpPr txBox="1"/>
          <p:nvPr/>
        </p:nvSpPr>
        <p:spPr>
          <a:xfrm>
            <a:off x="2194560" y="5145786"/>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Receso de diez minutos, con charla opcional: ventana de contexto y RAG</a:t>
            </a:r>
            <a:endParaRPr lang="en-US" sz="1350" dirty="0"/>
          </a:p>
        </p:txBody>
      </p:sp>
      <p:sp>
        <p:nvSpPr>
          <p:cNvPr id="17" name="Shape 15"/>
          <p:cNvSpPr/>
          <p:nvPr/>
        </p:nvSpPr>
        <p:spPr>
          <a:xfrm>
            <a:off x="6260440" y="1408176"/>
            <a:ext cx="5364328" cy="1081278"/>
          </a:xfrm>
          <a:prstGeom prst="roundRect">
            <a:avLst>
              <a:gd name="adj" fmla="val 5920"/>
            </a:avLst>
          </a:prstGeom>
          <a:solidFill>
            <a:srgbClr val="F2F5F6"/>
          </a:solidFill>
          <a:ln w="12700">
            <a:solidFill>
              <a:srgbClr val="F2F5F6"/>
            </a:solidFill>
            <a:prstDash val="solid"/>
          </a:ln>
        </p:spPr>
      </p:sp>
      <p:sp>
        <p:nvSpPr>
          <p:cNvPr id="18" name="Text 16"/>
          <p:cNvSpPr txBox="1"/>
          <p:nvPr/>
        </p:nvSpPr>
        <p:spPr>
          <a:xfrm>
            <a:off x="6479896" y="1408176"/>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10:20</a:t>
            </a:r>
            <a:endParaRPr lang="en-US" sz="1300" dirty="0"/>
          </a:p>
        </p:txBody>
      </p:sp>
      <p:sp>
        <p:nvSpPr>
          <p:cNvPr id="19" name="Text 17"/>
          <p:cNvSpPr txBox="1"/>
          <p:nvPr/>
        </p:nvSpPr>
        <p:spPr>
          <a:xfrm>
            <a:off x="7888072" y="1463040"/>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Puesta en común: cinco minutos por equipo</a:t>
            </a:r>
            <a:endParaRPr lang="en-US" sz="1350" dirty="0"/>
          </a:p>
        </p:txBody>
      </p:sp>
      <p:sp>
        <p:nvSpPr>
          <p:cNvPr id="20" name="Shape 18"/>
          <p:cNvSpPr/>
          <p:nvPr/>
        </p:nvSpPr>
        <p:spPr>
          <a:xfrm>
            <a:off x="6260440" y="2635758"/>
            <a:ext cx="5364328" cy="1081278"/>
          </a:xfrm>
          <a:prstGeom prst="roundRect">
            <a:avLst>
              <a:gd name="adj" fmla="val 5920"/>
            </a:avLst>
          </a:prstGeom>
          <a:solidFill>
            <a:srgbClr val="F2F5F6"/>
          </a:solidFill>
          <a:ln w="12700">
            <a:solidFill>
              <a:srgbClr val="F2F5F6"/>
            </a:solidFill>
            <a:prstDash val="solid"/>
          </a:ln>
        </p:spPr>
      </p:sp>
      <p:sp>
        <p:nvSpPr>
          <p:cNvPr id="21" name="Text 19"/>
          <p:cNvSpPr txBox="1"/>
          <p:nvPr/>
        </p:nvSpPr>
        <p:spPr>
          <a:xfrm>
            <a:off x="6479896" y="2635758"/>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10:50</a:t>
            </a:r>
            <a:endParaRPr lang="en-US" sz="1300" dirty="0"/>
          </a:p>
        </p:txBody>
      </p:sp>
      <p:sp>
        <p:nvSpPr>
          <p:cNvPr id="22" name="Text 20"/>
          <p:cNvSpPr txBox="1"/>
          <p:nvPr/>
        </p:nvSpPr>
        <p:spPr>
          <a:xfrm>
            <a:off x="7888072" y="2690622"/>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Demostración del software cualitativo especializado</a:t>
            </a:r>
            <a:endParaRPr lang="en-US" sz="1350" dirty="0"/>
          </a:p>
        </p:txBody>
      </p:sp>
      <p:sp>
        <p:nvSpPr>
          <p:cNvPr id="23" name="Shape 21"/>
          <p:cNvSpPr/>
          <p:nvPr/>
        </p:nvSpPr>
        <p:spPr>
          <a:xfrm>
            <a:off x="6260440" y="3863340"/>
            <a:ext cx="5364328" cy="1081278"/>
          </a:xfrm>
          <a:prstGeom prst="roundRect">
            <a:avLst>
              <a:gd name="adj" fmla="val 5920"/>
            </a:avLst>
          </a:prstGeom>
          <a:solidFill>
            <a:srgbClr val="F2F5F6"/>
          </a:solidFill>
          <a:ln w="12700">
            <a:solidFill>
              <a:srgbClr val="F2F5F6"/>
            </a:solidFill>
            <a:prstDash val="solid"/>
          </a:ln>
        </p:spPr>
      </p:sp>
      <p:sp>
        <p:nvSpPr>
          <p:cNvPr id="24" name="Text 22"/>
          <p:cNvSpPr txBox="1"/>
          <p:nvPr/>
        </p:nvSpPr>
        <p:spPr>
          <a:xfrm>
            <a:off x="6479896"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11:07</a:t>
            </a:r>
            <a:endParaRPr lang="en-US" sz="1300" dirty="0"/>
          </a:p>
        </p:txBody>
      </p:sp>
      <p:sp>
        <p:nvSpPr>
          <p:cNvPr id="25" name="Text 23"/>
          <p:cNvSpPr txBox="1"/>
          <p:nvPr/>
        </p:nvSpPr>
        <p:spPr>
          <a:xfrm>
            <a:off x="7888072" y="3918204"/>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El RAG que sí puedes operar hoy</a:t>
            </a:r>
            <a:endParaRPr lang="en-US" sz="1350" dirty="0"/>
          </a:p>
        </p:txBody>
      </p:sp>
      <p:sp>
        <p:nvSpPr>
          <p:cNvPr id="26" name="Shape 24"/>
          <p:cNvSpPr/>
          <p:nvPr/>
        </p:nvSpPr>
        <p:spPr>
          <a:xfrm>
            <a:off x="6260440" y="5090922"/>
            <a:ext cx="5364328" cy="1081278"/>
          </a:xfrm>
          <a:prstGeom prst="roundRect">
            <a:avLst>
              <a:gd name="adj" fmla="val 5920"/>
            </a:avLst>
          </a:prstGeom>
          <a:solidFill>
            <a:srgbClr val="F2F5F6"/>
          </a:solidFill>
          <a:ln w="12700">
            <a:solidFill>
              <a:srgbClr val="F2F5F6"/>
            </a:solidFill>
            <a:prstDash val="solid"/>
          </a:ln>
        </p:spPr>
      </p:sp>
      <p:sp>
        <p:nvSpPr>
          <p:cNvPr id="27" name="Text 25"/>
          <p:cNvSpPr txBox="1"/>
          <p:nvPr/>
        </p:nvSpPr>
        <p:spPr>
          <a:xfrm>
            <a:off x="6479896" y="5090922"/>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11:25</a:t>
            </a:r>
            <a:endParaRPr lang="en-US" sz="1300" dirty="0"/>
          </a:p>
        </p:txBody>
      </p:sp>
      <p:sp>
        <p:nvSpPr>
          <p:cNvPr id="28" name="Text 26"/>
          <p:cNvSpPr txBox="1"/>
          <p:nvPr/>
        </p:nvSpPr>
        <p:spPr>
          <a:xfrm>
            <a:off x="7888072" y="5145786"/>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Cierre y cuadro comparativo</a:t>
            </a:r>
            <a:endParaRPr lang="en-US" sz="1350" dirty="0"/>
          </a:p>
        </p:txBody>
      </p:sp>
      <p:sp>
        <p:nvSpPr>
          <p:cNvPr id="29" name="Text 27"/>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Hoy no empiezas de cero. Trabajas sobre el corpus y el libro de códigos que ratificaste el viernes.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Lo que hoy tenemos que contestar</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Tres preguntas que vienen del contrato del curso. Al cerrar la sesión las tres quedan respondidas con tu propio trabajo.</a:t>
            </a:r>
            <a:endParaRPr lang="en-US" sz="1500" dirty="0"/>
          </a:p>
        </p:txBody>
      </p:sp>
      <p:sp>
        <p:nvSpPr>
          <p:cNvPr id="4" name="Shape 2"/>
          <p:cNvSpPr/>
          <p:nvPr/>
        </p:nvSpPr>
        <p:spPr>
          <a:xfrm>
            <a:off x="566928" y="2011680"/>
            <a:ext cx="3503066" cy="2757932"/>
          </a:xfrm>
          <a:prstGeom prst="roundRect">
            <a:avLst>
              <a:gd name="adj" fmla="val 2652"/>
            </a:avLst>
          </a:prstGeom>
          <a:solidFill>
            <a:srgbClr val="D7E7E7"/>
          </a:solidFill>
          <a:ln w="12700">
            <a:solidFill>
              <a:srgbClr val="D7E7E7"/>
            </a:solidFill>
            <a:prstDash val="solid"/>
          </a:ln>
        </p:spPr>
      </p:sp>
      <p:sp>
        <p:nvSpPr>
          <p:cNvPr id="5" name="Shape 3"/>
          <p:cNvSpPr/>
          <p:nvPr/>
        </p:nvSpPr>
        <p:spPr>
          <a:xfrm>
            <a:off x="804672" y="2231136"/>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798064"/>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¿Qué tan bien codifica cada herramienta?</a:t>
            </a:r>
            <a:endParaRPr lang="en-US" sz="1600" dirty="0"/>
          </a:p>
        </p:txBody>
      </p:sp>
      <p:sp>
        <p:nvSpPr>
          <p:cNvPr id="8" name="Text 6"/>
          <p:cNvSpPr txBox="1"/>
          <p:nvPr/>
        </p:nvSpPr>
        <p:spPr>
          <a:xfrm>
            <a:off x="804672" y="3527552"/>
            <a:ext cx="3027578" cy="104089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Aplicar tu libro de códigos ratificado sobre el mismo corpus, con una herramienta distinta a Copilot.</a:t>
            </a:r>
            <a:endParaRPr lang="en-US" sz="1300" dirty="0"/>
          </a:p>
        </p:txBody>
      </p:sp>
      <p:sp>
        <p:nvSpPr>
          <p:cNvPr id="9" name="Shape 7"/>
          <p:cNvSpPr/>
          <p:nvPr/>
        </p:nvSpPr>
        <p:spPr>
          <a:xfrm>
            <a:off x="4344314" y="2011680"/>
            <a:ext cx="3503066" cy="2757932"/>
          </a:xfrm>
          <a:prstGeom prst="roundRect">
            <a:avLst>
              <a:gd name="adj" fmla="val 2652"/>
            </a:avLst>
          </a:prstGeom>
          <a:solidFill>
            <a:srgbClr val="D7E7E7"/>
          </a:solidFill>
          <a:ln w="12700">
            <a:solidFill>
              <a:srgbClr val="D7E7E7"/>
            </a:solidFill>
            <a:prstDash val="solid"/>
          </a:ln>
        </p:spPr>
      </p:sp>
      <p:sp>
        <p:nvSpPr>
          <p:cNvPr id="10" name="Shape 8"/>
          <p:cNvSpPr/>
          <p:nvPr/>
        </p:nvSpPr>
        <p:spPr>
          <a:xfrm>
            <a:off x="4582058" y="2231136"/>
            <a:ext cx="420624" cy="420624"/>
          </a:xfrm>
          <a:prstGeom prst="ellipse">
            <a:avLst/>
          </a:prstGeom>
          <a:solidFill>
            <a:srgbClr val="2E7D7D"/>
          </a:solidFill>
          <a:ln w="12700">
            <a:solidFill>
              <a:srgbClr val="2E7D7D"/>
            </a:solidFill>
            <a:prstDash val="solid"/>
          </a:ln>
        </p:spPr>
      </p:sp>
      <p:sp>
        <p:nvSpPr>
          <p:cNvPr id="11" name="Text 9"/>
          <p:cNvSpPr txBox="1"/>
          <p:nvPr/>
        </p:nvSpPr>
        <p:spPr>
          <a:xfrm>
            <a:off x="4582058"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582058" y="279806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¿Y qué tan bien mide postura?</a:t>
            </a:r>
            <a:endParaRPr lang="en-US" sz="1600" dirty="0"/>
          </a:p>
        </p:txBody>
      </p:sp>
      <p:sp>
        <p:nvSpPr>
          <p:cNvPr id="13" name="Text 11"/>
          <p:cNvSpPr txBox="1"/>
          <p:nvPr/>
        </p:nvSpPr>
        <p:spPr>
          <a:xfrm>
            <a:off x="4582058" y="3263392"/>
            <a:ext cx="3027578" cy="130505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Clasificar polaridad y causa raíz sobre las transcripciones de foro, otra vez con tu herramienta asignada.</a:t>
            </a:r>
            <a:endParaRPr lang="en-US" sz="1300" dirty="0"/>
          </a:p>
        </p:txBody>
      </p:sp>
      <p:sp>
        <p:nvSpPr>
          <p:cNvPr id="14" name="Shape 12"/>
          <p:cNvSpPr/>
          <p:nvPr/>
        </p:nvSpPr>
        <p:spPr>
          <a:xfrm>
            <a:off x="8121701" y="2011680"/>
            <a:ext cx="3503066" cy="2757932"/>
          </a:xfrm>
          <a:prstGeom prst="roundRect">
            <a:avLst>
              <a:gd name="adj" fmla="val 2652"/>
            </a:avLst>
          </a:prstGeom>
          <a:solidFill>
            <a:srgbClr val="F7E4D8"/>
          </a:solidFill>
          <a:ln w="12700">
            <a:solidFill>
              <a:srgbClr val="F7E4D8"/>
            </a:solidFill>
            <a:prstDash val="solid"/>
          </a:ln>
        </p:spPr>
      </p:sp>
      <p:sp>
        <p:nvSpPr>
          <p:cNvPr id="15" name="Shape 13"/>
          <p:cNvSpPr/>
          <p:nvPr/>
        </p:nvSpPr>
        <p:spPr>
          <a:xfrm>
            <a:off x="8359445" y="2231136"/>
            <a:ext cx="420624" cy="420624"/>
          </a:xfrm>
          <a:prstGeom prst="ellipse">
            <a:avLst/>
          </a:prstGeom>
          <a:solidFill>
            <a:srgbClr val="C85A28"/>
          </a:solidFill>
          <a:ln w="12700">
            <a:solidFill>
              <a:srgbClr val="C85A28"/>
            </a:solidFill>
            <a:prstDash val="solid"/>
          </a:ln>
        </p:spPr>
      </p:sp>
      <p:sp>
        <p:nvSpPr>
          <p:cNvPr id="16" name="Text 14"/>
          <p:cNvSpPr txBox="1"/>
          <p:nvPr/>
        </p:nvSpPr>
        <p:spPr>
          <a:xfrm>
            <a:off x="8359445"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59445" y="2798064"/>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¿En qué es mejor o peor que Copilot?</a:t>
            </a:r>
            <a:endParaRPr lang="en-US" sz="1600" dirty="0"/>
          </a:p>
        </p:txBody>
      </p:sp>
      <p:sp>
        <p:nvSpPr>
          <p:cNvPr id="18" name="Text 16"/>
          <p:cNvSpPr txBox="1"/>
          <p:nvPr/>
        </p:nvSpPr>
        <p:spPr>
          <a:xfrm>
            <a:off x="8359445" y="3527552"/>
            <a:ext cx="3027578" cy="104089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Esa comparación es el entregable de hoy y es lo que el curso se comprometió a producir.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1</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PRIMER BLOQUE</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El mapa del ecosistema</a:t>
            </a:r>
            <a:endParaRPr lang="en-US" sz="3400" dirty="0"/>
          </a:p>
        </p:txBody>
      </p:sp>
      <p:sp>
        <p:nvSpPr>
          <p:cNvPr id="6" name="Shape 4"/>
          <p:cNvSpPr/>
          <p:nvPr/>
        </p:nvSpPr>
        <p:spPr>
          <a:xfrm>
            <a:off x="9631375" y="457200"/>
            <a:ext cx="1993392"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631375" y="457200"/>
            <a:ext cx="199339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9:00 a 9:15</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Las categorías son las del Instituto, no las mías</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Vienen de la lista de verificación de acceso que elaboró el propio INEGI. Así queda claro qué cubre el curso de esa lista.</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901952"/>
          <a:ext cx="11057839" cy="914400"/>
        </p:xfrm>
        <a:graphic>
          <a:graphicData uri="http://schemas.openxmlformats.org/drawingml/2006/table">
            <a:tbl>
              <a:tblPr/>
              <a:tblGrid>
                <a:gridCol w="2743200"/>
                <a:gridCol w="3931920"/>
                <a:gridCol w="4389120"/>
              </a:tblGrid>
              <a:tr h="457200">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Categoría</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Abre desde la red</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Dónde se usa en el curso</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r>
              <a:tr h="457200">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Asistentes generales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Copilot, ChatGPT, Claude, Gemini</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Todo el curso. Hoy, para codificar.</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457200">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Búsqueda e investigación</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Perplexity, You.com</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Hoy, para sustentar hallazgos con fuentes.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Investigación académica</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Elicit, Consensus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Hoy, para buscar literatura de evaluación.</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457200">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Productividad e investigación</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NotebookLM (hoy Gemini Notebook), bloqueada</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Hoy, en demostración.</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Código</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Colab, Replit, GitHub Copilot, v0, Bolt</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Módulos III y IV.</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457200">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Imagen, presentaciones y video</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Firefly y Luma abren. Gamma no.</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Módulo IV.</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De las 31 herramientas de la lista del Instituto, el curso usa 15 en ejercicio y cubre 4 más por demostración.</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0058400" y="-1463040"/>
            <a:ext cx="4023360" cy="4023360"/>
          </a:xfrm>
          <a:prstGeom prst="ellipse">
            <a:avLst/>
          </a:prstGeom>
          <a:solidFill>
            <a:srgbClr val="24404E"/>
          </a:solidFill>
          <a:ln w="12700">
            <a:solidFill>
              <a:srgbClr val="24404E"/>
            </a:solidFill>
            <a:prstDash val="solid"/>
          </a:ln>
        </p:spPr>
      </p:sp>
      <p:sp>
        <p:nvSpPr>
          <p:cNvPr id="3" name="Text 1"/>
          <p:cNvSpPr txBox="1"/>
          <p:nvPr/>
        </p:nvSpPr>
        <p:spPr>
          <a:xfrm>
            <a:off x="932688" y="13716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CÓMO LEER ESTE MAPA</a:t>
            </a:r>
            <a:endParaRPr lang="en-US" sz="1400" dirty="0"/>
          </a:p>
        </p:txBody>
      </p:sp>
      <p:sp>
        <p:nvSpPr>
          <p:cNvPr id="4" name="Text 2"/>
          <p:cNvSpPr txBox="1"/>
          <p:nvPr/>
        </p:nvSpPr>
        <p:spPr>
          <a:xfrm>
            <a:off x="932688" y="1828800"/>
            <a:ext cx="10241280" cy="2377440"/>
          </a:xfrm>
          <a:prstGeom prst="rect">
            <a:avLst/>
          </a:prstGeom>
          <a:noFill/>
          <a:ln/>
        </p:spPr>
        <p:txBody>
          <a:bodyPr wrap="square" lIns="0" tIns="0" rIns="0" bIns="0" rtlCol="0" anchor="t"/>
          <a:lstStyle/>
          <a:p>
            <a:pPr indent="0" marL="0">
              <a:lnSpc>
                <a:spcPct val="112000"/>
              </a:lnSpc>
              <a:buNone/>
            </a:pPr>
            <a:r>
              <a:rPr lang="en-US" sz="3000" b="1" dirty="0">
                <a:solidFill>
                  <a:srgbClr val="FFFFFF"/>
                </a:solidFill>
                <a:latin typeface="Arial" pitchFamily="34" charset="0"/>
                <a:ea typeface="Arial" pitchFamily="34" charset="-122"/>
                <a:cs typeface="Arial" pitchFamily="34" charset="-120"/>
              </a:rPr>
              <a:t>Por tarea, no por marca. Es la única forma de que te siga sirviendo dentro de seis meses.</a:t>
            </a:r>
            <a:endParaRPr lang="en-US" sz="3000" dirty="0"/>
          </a:p>
        </p:txBody>
      </p:sp>
      <p:sp>
        <p:nvSpPr>
          <p:cNvPr id="5" name="Text 3"/>
          <p:cNvSpPr txBox="1"/>
          <p:nvPr/>
        </p:nvSpPr>
        <p:spPr>
          <a:xfrm>
            <a:off x="932688" y="4343400"/>
            <a:ext cx="10058400" cy="1371600"/>
          </a:xfrm>
          <a:prstGeom prst="rect">
            <a:avLst/>
          </a:prstGeom>
          <a:noFill/>
          <a:ln/>
        </p:spPr>
        <p:txBody>
          <a:bodyPr wrap="square" lIns="0" tIns="0" rIns="0" bIns="0" rtlCol="0" anchor="t"/>
          <a:lstStyle/>
          <a:p>
            <a:pPr indent="0" marL="0">
              <a:lnSpc>
                <a:spcPct val="115000"/>
              </a:lnSpc>
              <a:buNone/>
            </a:pPr>
            <a:r>
              <a:rPr lang="en-US" sz="1600" dirty="0">
                <a:solidFill>
                  <a:srgbClr val="D7E7E7"/>
                </a:solidFill>
                <a:latin typeface="Calibri" pitchFamily="34" charset="0"/>
                <a:ea typeface="Calibri" pitchFamily="34" charset="-122"/>
                <a:cs typeface="Calibri" pitchFamily="34" charset="-120"/>
              </a:rPr>
              <a:t>Las marcas van a cambiar antes de que termine el año. Lo que no va a cambiar son las tareas. Si sabes qué tarea tienes enfrente, vas a poder evaluar cualquier herramienta que salga después de este curso.</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2</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SEGUNDO BLOQUE</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El reparto y la tarea</a:t>
            </a:r>
            <a:endParaRPr lang="en-US" sz="3400" dirty="0"/>
          </a:p>
        </p:txBody>
      </p:sp>
      <p:sp>
        <p:nvSpPr>
          <p:cNvPr id="6" name="Shape 4"/>
          <p:cNvSpPr/>
          <p:nvPr/>
        </p:nvSpPr>
        <p:spPr>
          <a:xfrm>
            <a:off x="9631375" y="457200"/>
            <a:ext cx="1993392"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631375" y="457200"/>
            <a:ext cx="199339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9:15 a 9:25</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Cada equipo evalúa una herramienta a fondo</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Nadie prueba las ocho. Todos hacen la misma tarea con Copilot como punto de comparación común.</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901952"/>
          <a:ext cx="11057839" cy="914400"/>
        </p:xfrm>
        <a:graphic>
          <a:graphicData uri="http://schemas.openxmlformats.org/drawingml/2006/table">
            <a:tbl>
              <a:tblPr/>
              <a:tblGrid>
                <a:gridCol w="1188720"/>
                <a:gridCol w="2743200"/>
                <a:gridCol w="2286000"/>
                <a:gridCol w="4846320"/>
              </a:tblGrid>
              <a:tr h="457200">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Equipo</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Categoría del Instituto</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Herramienta</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Tarea</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r>
              <a:tr h="457200">
                <a:tc>
                  <a:txBody>
                    <a:bodyPr/>
                    <a:lstStyle/>
                    <a:p>
                      <a:pPr algn="ctr" indent="0" marL="0">
                        <a:buNone/>
                      </a:pPr>
                      <a:r>
                        <a:rPr lang="en-US" sz="1250" b="1" dirty="0">
                          <a:solidFill>
                            <a:srgbClr val="16262E"/>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Asistentes generales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ChatGPT</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Codificar el corpus con tu libro de códigos y clasificar postura.</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457200">
                <a:tc>
                  <a:txBody>
                    <a:bodyPr/>
                    <a:lstStyle/>
                    <a:p>
                      <a:pPr algn="ctr" indent="0" marL="0">
                        <a:buNone/>
                      </a:pPr>
                      <a:r>
                        <a:rPr lang="en-US" sz="1250" b="1" dirty="0">
                          <a:solidFill>
                            <a:srgbClr val="16262E"/>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Asistentes generales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Claude</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Lo mismo.</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r h="457200">
                <a:tc>
                  <a:txBody>
                    <a:bodyPr/>
                    <a:lstStyle/>
                    <a:p>
                      <a:pPr algn="ctr" indent="0" marL="0">
                        <a:buNone/>
                      </a:pPr>
                      <a:r>
                        <a:rPr lang="en-US" sz="1250" b="1" dirty="0">
                          <a:solidFill>
                            <a:srgbClr val="16262E"/>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Asistentes generales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Gemini</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Lo mismo.</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457200">
                <a:tc>
                  <a:txBody>
                    <a:bodyPr/>
                    <a:lstStyle/>
                    <a:p>
                      <a:pPr algn="ctr" indent="0" marL="0">
                        <a:buNone/>
                      </a:pPr>
                      <a:r>
                        <a:rPr lang="en-US" sz="1250" b="1" dirty="0">
                          <a:solidFill>
                            <a:srgbClr val="16262E"/>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Búsqueda e investigación</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Perplexity y You.com</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Sustentar un hallazgo del corpus con fuentes verificables.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r h="457200">
                <a:tc>
                  <a:txBody>
                    <a:bodyPr/>
                    <a:lstStyle/>
                    <a:p>
                      <a:pPr algn="ctr" indent="0" marL="0">
                        <a:buNone/>
                      </a:pPr>
                      <a:r>
                        <a:rPr lang="en-US" sz="1250" b="1" dirty="0">
                          <a:solidFill>
                            <a:srgbClr val="16262E"/>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Investigación académica</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Elicit</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Buscar literatura que sostenga o contradiga ese hallazgo.</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457200">
                <a:tc>
                  <a:txBody>
                    <a:bodyPr/>
                    <a:lstStyle/>
                    <a:p>
                      <a:pPr algn="ctr" indent="0" marL="0">
                        <a:buNone/>
                      </a:pPr>
                      <a:r>
                        <a:rPr lang="en-US" sz="1250" b="1" dirty="0">
                          <a:solidFill>
                            <a:srgbClr val="16262E"/>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Investigación académica</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Consensus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Lo mismo, y explicar en qué se diferencia de Elicit.</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Equipo 5: activa la prueba de Elicit hoy y no antes; son siete días y se vencen el 28. Equipo 4: la cuenta gratuita de You.com es hoy una prueba de 25 consultas; trabaja en Perplexity y usa You.com solo para contrastar.</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Las dos mitades del mismo trabajo</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No son tareas distintas. Son los dos pasos de cualquier análisis cualitativo serio.</a:t>
            </a:r>
            <a:endParaRPr lang="en-US" sz="1500" dirty="0"/>
          </a:p>
        </p:txBody>
      </p:sp>
      <p:sp>
        <p:nvSpPr>
          <p:cNvPr id="4" name="Shape 2"/>
          <p:cNvSpPr/>
          <p:nvPr/>
        </p:nvSpPr>
        <p:spPr>
          <a:xfrm>
            <a:off x="566928" y="1810512"/>
            <a:ext cx="5364328" cy="3152394"/>
          </a:xfrm>
          <a:prstGeom prst="roundRect">
            <a:avLst>
              <a:gd name="adj" fmla="val 2321"/>
            </a:avLst>
          </a:prstGeom>
          <a:solidFill>
            <a:srgbClr val="D7E7E7"/>
          </a:solidFill>
          <a:ln w="12700">
            <a:solidFill>
              <a:srgbClr val="D7E7E7"/>
            </a:solidFill>
            <a:prstDash val="solid"/>
          </a:ln>
        </p:spPr>
      </p:sp>
      <p:sp>
        <p:nvSpPr>
          <p:cNvPr id="5" name="Shape 3"/>
          <p:cNvSpPr/>
          <p:nvPr/>
        </p:nvSpPr>
        <p:spPr>
          <a:xfrm>
            <a:off x="566928" y="1810512"/>
            <a:ext cx="5364328" cy="658368"/>
          </a:xfrm>
          <a:prstGeom prst="roundRect">
            <a:avLst>
              <a:gd name="adj" fmla="val 11111"/>
            </a:avLst>
          </a:prstGeom>
          <a:solidFill>
            <a:srgbClr val="2E7D7D"/>
          </a:solidFill>
          <a:ln w="12700">
            <a:solidFill>
              <a:srgbClr val="2E7D7D"/>
            </a:solidFill>
            <a:prstDash val="solid"/>
          </a:ln>
        </p:spPr>
      </p:sp>
      <p:sp>
        <p:nvSpPr>
          <p:cNvPr id="6" name="Shape 4"/>
          <p:cNvSpPr/>
          <p:nvPr/>
        </p:nvSpPr>
        <p:spPr>
          <a:xfrm>
            <a:off x="566928" y="2176272"/>
            <a:ext cx="5364328" cy="292608"/>
          </a:xfrm>
          <a:prstGeom prst="rect">
            <a:avLst/>
          </a:prstGeom>
          <a:solidFill>
            <a:srgbClr val="2E7D7D"/>
          </a:solidFill>
          <a:ln w="12700">
            <a:solidFill>
              <a:srgbClr val="2E7D7D"/>
            </a:solidFill>
            <a:prstDash val="solid"/>
          </a:ln>
        </p:spPr>
      </p:sp>
      <p:sp>
        <p:nvSpPr>
          <p:cNvPr id="7" name="Text 5"/>
          <p:cNvSpPr txBox="1"/>
          <p:nvPr/>
        </p:nvSpPr>
        <p:spPr>
          <a:xfrm>
            <a:off x="822960" y="1810512"/>
            <a:ext cx="4852264" cy="65836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Equipos 1 a 3: codificar</a:t>
            </a:r>
            <a:endParaRPr lang="en-US" sz="1700" dirty="0"/>
          </a:p>
        </p:txBody>
      </p:sp>
      <p:sp>
        <p:nvSpPr>
          <p:cNvPr id="8" name="Text 6"/>
          <p:cNvSpPr txBox="1"/>
          <p:nvPr/>
        </p:nvSpPr>
        <p:spPr>
          <a:xfrm>
            <a:off x="822960" y="2679192"/>
            <a:ext cx="4852264" cy="2055114"/>
          </a:xfrm>
          <a:prstGeom prst="rect">
            <a:avLst/>
          </a:prstGeom>
          <a:noFill/>
          <a:ln/>
        </p:spPr>
        <p:txBody>
          <a:bodyPr wrap="square" lIns="0" tIns="0" rIns="0" bIns="0" rtlCol="0" anchor="t"/>
          <a:lstStyle/>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Toman el corpus de 118 registros del viernes y su libro de códigos ya ratificado.</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Lo aplican con su herramienta asignada, no con Copilot.</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Después clasifican postura y causa raíz sobre las transcripciones de foro.</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Y comparan, registro por registro, contra lo que les dio Copilot el viernes.</a:t>
            </a:r>
            <a:endParaRPr lang="en-US" sz="1400" dirty="0"/>
          </a:p>
        </p:txBody>
      </p:sp>
      <p:sp>
        <p:nvSpPr>
          <p:cNvPr id="9" name="Shape 7"/>
          <p:cNvSpPr/>
          <p:nvPr/>
        </p:nvSpPr>
        <p:spPr>
          <a:xfrm>
            <a:off x="6260440" y="1810512"/>
            <a:ext cx="5364328" cy="3152394"/>
          </a:xfrm>
          <a:prstGeom prst="roundRect">
            <a:avLst>
              <a:gd name="adj" fmla="val 2321"/>
            </a:avLst>
          </a:prstGeom>
          <a:solidFill>
            <a:srgbClr val="F7E4D8"/>
          </a:solidFill>
          <a:ln w="12700">
            <a:solidFill>
              <a:srgbClr val="F7E4D8"/>
            </a:solidFill>
            <a:prstDash val="solid"/>
          </a:ln>
        </p:spPr>
      </p:sp>
      <p:sp>
        <p:nvSpPr>
          <p:cNvPr id="10" name="Shape 8"/>
          <p:cNvSpPr/>
          <p:nvPr/>
        </p:nvSpPr>
        <p:spPr>
          <a:xfrm>
            <a:off x="6260440" y="1810512"/>
            <a:ext cx="5364328" cy="658368"/>
          </a:xfrm>
          <a:prstGeom prst="roundRect">
            <a:avLst>
              <a:gd name="adj" fmla="val 11111"/>
            </a:avLst>
          </a:prstGeom>
          <a:solidFill>
            <a:srgbClr val="C85A28"/>
          </a:solidFill>
          <a:ln w="12700">
            <a:solidFill>
              <a:srgbClr val="C85A28"/>
            </a:solidFill>
            <a:prstDash val="solid"/>
          </a:ln>
        </p:spPr>
      </p:sp>
      <p:sp>
        <p:nvSpPr>
          <p:cNvPr id="11" name="Shape 9"/>
          <p:cNvSpPr/>
          <p:nvPr/>
        </p:nvSpPr>
        <p:spPr>
          <a:xfrm>
            <a:off x="6260440" y="2176272"/>
            <a:ext cx="5364328" cy="292608"/>
          </a:xfrm>
          <a:prstGeom prst="rect">
            <a:avLst/>
          </a:prstGeom>
          <a:solidFill>
            <a:srgbClr val="C85A28"/>
          </a:solidFill>
          <a:ln w="12700">
            <a:solidFill>
              <a:srgbClr val="C85A28"/>
            </a:solidFill>
            <a:prstDash val="solid"/>
          </a:ln>
        </p:spPr>
      </p:sp>
      <p:sp>
        <p:nvSpPr>
          <p:cNvPr id="12" name="Text 10"/>
          <p:cNvSpPr txBox="1"/>
          <p:nvPr/>
        </p:nvSpPr>
        <p:spPr>
          <a:xfrm>
            <a:off x="6516472" y="1810512"/>
            <a:ext cx="4852264" cy="65836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Equipos 4 a 6: sustentar</a:t>
            </a:r>
            <a:endParaRPr lang="en-US" sz="1700" dirty="0"/>
          </a:p>
        </p:txBody>
      </p:sp>
      <p:sp>
        <p:nvSpPr>
          <p:cNvPr id="13" name="Text 11"/>
          <p:cNvSpPr txBox="1"/>
          <p:nvPr/>
        </p:nvSpPr>
        <p:spPr>
          <a:xfrm>
            <a:off x="6516472" y="2679192"/>
            <a:ext cx="4852264" cy="2055114"/>
          </a:xfrm>
          <a:prstGeom prst="rect">
            <a:avLst/>
          </a:prstGeom>
          <a:noFill/>
          <a:ln/>
        </p:spPr>
        <p:txBody>
          <a:bodyPr wrap="square" lIns="0" tIns="0" rIns="0" bIns="0" rtlCol="0" anchor="t"/>
          <a:lstStyle/>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Toman un hallazgo que salió de la codificación del viernes.</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Buscan si la evidencia lo sostiene o lo contradice, con su herramienta asignada.</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Verifican que las referencias que les dio existan de verdad. Ese dato solo suele ser el hallazgo del día.</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Y comparan contra lo que da Copilot con la misma pregunta.</a:t>
            </a:r>
            <a:endParaRPr lang="en-US" sz="1400" dirty="0"/>
          </a:p>
        </p:txBody>
      </p:sp>
      <p:sp>
        <p:nvSpPr>
          <p:cNvPr id="14" name="Text 12"/>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Codificar sin sustentar produce categorías bonitas que nadie puede defender. Sustentar sin codificar produce citas sueltas.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7E7E7"/>
        </a:solidFill>
      </p:bgPr>
    </p:bg>
    <p:spTree>
      <p:nvGrpSpPr>
        <p:cNvPr id="1" name=""/>
        <p:cNvGrpSpPr/>
        <p:nvPr/>
      </p:nvGrpSpPr>
      <p:grpSpPr>
        <a:xfrm>
          <a:off x="0" y="0"/>
          <a:ext cx="0" cy="0"/>
          <a:chOff x="0" y="0"/>
          <a:chExt cx="0" cy="0"/>
        </a:xfrm>
      </p:grpSpPr>
      <p:sp>
        <p:nvSpPr>
          <p:cNvPr id="2" name="Shape 0"/>
          <p:cNvSpPr/>
          <p:nvPr/>
        </p:nvSpPr>
        <p:spPr>
          <a:xfrm>
            <a:off x="566928" y="457200"/>
            <a:ext cx="2788920" cy="457200"/>
          </a:xfrm>
          <a:prstGeom prst="roundRect">
            <a:avLst>
              <a:gd name="adj" fmla="val 50000"/>
            </a:avLst>
          </a:prstGeom>
          <a:solidFill>
            <a:srgbClr val="2E7D7D"/>
          </a:solidFill>
          <a:ln w="12700">
            <a:solidFill>
              <a:srgbClr val="2E7D7D"/>
            </a:solidFill>
            <a:prstDash val="solid"/>
          </a:ln>
        </p:spPr>
      </p:sp>
      <p:sp>
        <p:nvSpPr>
          <p:cNvPr id="3" name="Text 1"/>
          <p:cNvSpPr txBox="1"/>
          <p:nvPr/>
        </p:nvSpPr>
        <p:spPr>
          <a:xfrm>
            <a:off x="566928" y="457200"/>
            <a:ext cx="278892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TU TURNO</a:t>
            </a:r>
            <a:endParaRPr lang="en-US" sz="1300" dirty="0"/>
          </a:p>
        </p:txBody>
      </p:sp>
      <p:sp>
        <p:nvSpPr>
          <p:cNvPr id="4" name="Shape 2"/>
          <p:cNvSpPr/>
          <p:nvPr/>
        </p:nvSpPr>
        <p:spPr>
          <a:xfrm>
            <a:off x="9704527" y="457200"/>
            <a:ext cx="1920240" cy="457200"/>
          </a:xfrm>
          <a:prstGeom prst="roundRect">
            <a:avLst>
              <a:gd name="adj" fmla="val 50000"/>
            </a:avLst>
          </a:prstGeom>
          <a:solidFill>
            <a:srgbClr val="C85A28"/>
          </a:solidFill>
          <a:ln w="12700">
            <a:solidFill>
              <a:srgbClr val="C85A28"/>
            </a:solidFill>
            <a:prstDash val="solid"/>
          </a:ln>
        </p:spPr>
      </p:sp>
      <p:sp>
        <p:nvSpPr>
          <p:cNvPr id="5" name="Text 3"/>
          <p:cNvSpPr txBox="1"/>
          <p:nvPr/>
        </p:nvSpPr>
        <p:spPr>
          <a:xfrm>
            <a:off x="9704527" y="457200"/>
            <a:ext cx="19202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45 minutos</a:t>
            </a:r>
            <a:endParaRPr lang="en-US" sz="1300" dirty="0"/>
          </a:p>
        </p:txBody>
      </p:sp>
      <p:sp>
        <p:nvSpPr>
          <p:cNvPr id="6" name="Text 4"/>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Tu herramienta contra Copilot, sobre el mismo material</a:t>
            </a:r>
            <a:endParaRPr lang="en-US" sz="2900" dirty="0"/>
          </a:p>
        </p:txBody>
      </p:sp>
      <p:sp>
        <p:nvSpPr>
          <p:cNvPr id="7" name="Shape 5"/>
          <p:cNvSpPr/>
          <p:nvPr/>
        </p:nvSpPr>
        <p:spPr>
          <a:xfrm>
            <a:off x="566928" y="1920240"/>
            <a:ext cx="11057839" cy="628650"/>
          </a:xfrm>
          <a:prstGeom prst="roundRect">
            <a:avLst>
              <a:gd name="adj" fmla="val 10182"/>
            </a:avLst>
          </a:prstGeom>
          <a:solidFill>
            <a:srgbClr val="FFFFFF"/>
          </a:solidFill>
          <a:ln w="12700">
            <a:solidFill>
              <a:srgbClr val="FFFFFF"/>
            </a:solidFill>
            <a:prstDash val="solid"/>
          </a:ln>
        </p:spPr>
      </p:sp>
      <p:sp>
        <p:nvSpPr>
          <p:cNvPr id="8" name="Shape 6"/>
          <p:cNvSpPr/>
          <p:nvPr/>
        </p:nvSpPr>
        <p:spPr>
          <a:xfrm>
            <a:off x="786384" y="2024253"/>
            <a:ext cx="420624" cy="420624"/>
          </a:xfrm>
          <a:prstGeom prst="ellipse">
            <a:avLst/>
          </a:prstGeom>
          <a:solidFill>
            <a:srgbClr val="2E7D7D"/>
          </a:solidFill>
          <a:ln w="12700">
            <a:solidFill>
              <a:srgbClr val="2E7D7D"/>
            </a:solidFill>
            <a:prstDash val="solid"/>
          </a:ln>
        </p:spPr>
      </p:sp>
      <p:sp>
        <p:nvSpPr>
          <p:cNvPr id="9" name="Text 7"/>
          <p:cNvSpPr txBox="1"/>
          <p:nvPr/>
        </p:nvSpPr>
        <p:spPr>
          <a:xfrm>
            <a:off x="786384" y="202425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408176" y="201168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Quince minutos con Copilot Chat. Es el punto de comparación de todos los equipos. Si ya lo hiciste el viernes, revisa y anota lo que te dio.</a:t>
            </a:r>
            <a:endParaRPr lang="en-US" sz="1450" dirty="0"/>
          </a:p>
        </p:txBody>
      </p:sp>
      <p:sp>
        <p:nvSpPr>
          <p:cNvPr id="11" name="Shape 9"/>
          <p:cNvSpPr/>
          <p:nvPr/>
        </p:nvSpPr>
        <p:spPr>
          <a:xfrm>
            <a:off x="566928" y="2731770"/>
            <a:ext cx="11057839" cy="628650"/>
          </a:xfrm>
          <a:prstGeom prst="roundRect">
            <a:avLst>
              <a:gd name="adj" fmla="val 10182"/>
            </a:avLst>
          </a:prstGeom>
          <a:solidFill>
            <a:srgbClr val="FFFFFF"/>
          </a:solidFill>
          <a:ln w="12700">
            <a:solidFill>
              <a:srgbClr val="FFFFFF"/>
            </a:solidFill>
            <a:prstDash val="solid"/>
          </a:ln>
        </p:spPr>
      </p:sp>
      <p:sp>
        <p:nvSpPr>
          <p:cNvPr id="12" name="Shape 10"/>
          <p:cNvSpPr/>
          <p:nvPr/>
        </p:nvSpPr>
        <p:spPr>
          <a:xfrm>
            <a:off x="786384" y="2835783"/>
            <a:ext cx="420624" cy="420624"/>
          </a:xfrm>
          <a:prstGeom prst="ellipse">
            <a:avLst/>
          </a:prstGeom>
          <a:solidFill>
            <a:srgbClr val="2E7D7D"/>
          </a:solidFill>
          <a:ln w="12700">
            <a:solidFill>
              <a:srgbClr val="2E7D7D"/>
            </a:solidFill>
            <a:prstDash val="solid"/>
          </a:ln>
        </p:spPr>
      </p:sp>
      <p:sp>
        <p:nvSpPr>
          <p:cNvPr id="13" name="Text 11"/>
          <p:cNvSpPr txBox="1"/>
          <p:nvPr/>
        </p:nvSpPr>
        <p:spPr>
          <a:xfrm>
            <a:off x="786384" y="283578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408176" y="282321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Veinticinco minutos con tu herramienta asignada. Misma tarea, mismo corpus, mismo libro de códigos.</a:t>
            </a:r>
            <a:endParaRPr lang="en-US" sz="1450" dirty="0"/>
          </a:p>
        </p:txBody>
      </p:sp>
      <p:sp>
        <p:nvSpPr>
          <p:cNvPr id="15" name="Shape 13"/>
          <p:cNvSpPr/>
          <p:nvPr/>
        </p:nvSpPr>
        <p:spPr>
          <a:xfrm>
            <a:off x="566928" y="3543300"/>
            <a:ext cx="11057839" cy="628650"/>
          </a:xfrm>
          <a:prstGeom prst="roundRect">
            <a:avLst>
              <a:gd name="adj" fmla="val 10182"/>
            </a:avLst>
          </a:prstGeom>
          <a:solidFill>
            <a:srgbClr val="FFFFFF"/>
          </a:solidFill>
          <a:ln w="12700">
            <a:solidFill>
              <a:srgbClr val="FFFFFF"/>
            </a:solidFill>
            <a:prstDash val="solid"/>
          </a:ln>
        </p:spPr>
      </p:sp>
      <p:sp>
        <p:nvSpPr>
          <p:cNvPr id="16" name="Shape 14"/>
          <p:cNvSpPr/>
          <p:nvPr/>
        </p:nvSpPr>
        <p:spPr>
          <a:xfrm>
            <a:off x="786384" y="3647313"/>
            <a:ext cx="420624" cy="420624"/>
          </a:xfrm>
          <a:prstGeom prst="ellipse">
            <a:avLst/>
          </a:prstGeom>
          <a:solidFill>
            <a:srgbClr val="2E7D7D"/>
          </a:solidFill>
          <a:ln w="12700">
            <a:solidFill>
              <a:srgbClr val="2E7D7D"/>
            </a:solidFill>
            <a:prstDash val="solid"/>
          </a:ln>
        </p:spPr>
      </p:sp>
      <p:sp>
        <p:nvSpPr>
          <p:cNvPr id="17" name="Text 15"/>
          <p:cNvSpPr txBox="1"/>
          <p:nvPr/>
        </p:nvSpPr>
        <p:spPr>
          <a:xfrm>
            <a:off x="786384" y="364731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408176" y="363474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Busca la diferencia, no la repetición. Si tu herramienta dio lo mismo que Copilot, eso también es un hallazgo y hay que reportarlo.</a:t>
            </a:r>
            <a:endParaRPr lang="en-US" sz="1450" dirty="0"/>
          </a:p>
        </p:txBody>
      </p:sp>
      <p:sp>
        <p:nvSpPr>
          <p:cNvPr id="19" name="Shape 17"/>
          <p:cNvSpPr/>
          <p:nvPr/>
        </p:nvSpPr>
        <p:spPr>
          <a:xfrm>
            <a:off x="566928" y="4354830"/>
            <a:ext cx="11057839" cy="628650"/>
          </a:xfrm>
          <a:prstGeom prst="roundRect">
            <a:avLst>
              <a:gd name="adj" fmla="val 10182"/>
            </a:avLst>
          </a:prstGeom>
          <a:solidFill>
            <a:srgbClr val="FFFFFF"/>
          </a:solidFill>
          <a:ln w="12700">
            <a:solidFill>
              <a:srgbClr val="FFFFFF"/>
            </a:solidFill>
            <a:prstDash val="solid"/>
          </a:ln>
        </p:spPr>
      </p:sp>
      <p:sp>
        <p:nvSpPr>
          <p:cNvPr id="20" name="Shape 18"/>
          <p:cNvSpPr/>
          <p:nvPr/>
        </p:nvSpPr>
        <p:spPr>
          <a:xfrm>
            <a:off x="786384" y="4458843"/>
            <a:ext cx="420624" cy="420624"/>
          </a:xfrm>
          <a:prstGeom prst="ellipse">
            <a:avLst/>
          </a:prstGeom>
          <a:solidFill>
            <a:srgbClr val="2E7D7D"/>
          </a:solidFill>
          <a:ln w="12700">
            <a:solidFill>
              <a:srgbClr val="2E7D7D"/>
            </a:solidFill>
            <a:prstDash val="solid"/>
          </a:ln>
        </p:spPr>
      </p:sp>
      <p:sp>
        <p:nvSpPr>
          <p:cNvPr id="21" name="Text 19"/>
          <p:cNvSpPr txBox="1"/>
          <p:nvPr/>
        </p:nvSpPr>
        <p:spPr>
          <a:xfrm>
            <a:off x="786384" y="445884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408176" y="444627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Cinco minutos para llenar tu renglón del cuadro comparativo y preparar cinco minutos de presentación.</a:t>
            </a:r>
            <a:endParaRPr lang="en-US" sz="1450" dirty="0"/>
          </a:p>
        </p:txBody>
      </p:sp>
      <p:sp>
        <p:nvSpPr>
          <p:cNvPr id="23" name="Shape 21"/>
          <p:cNvSpPr/>
          <p:nvPr/>
        </p:nvSpPr>
        <p:spPr>
          <a:xfrm>
            <a:off x="566928" y="5193792"/>
            <a:ext cx="11057839" cy="777240"/>
          </a:xfrm>
          <a:prstGeom prst="roundRect">
            <a:avLst>
              <a:gd name="adj" fmla="val 8235"/>
            </a:avLst>
          </a:prstGeom>
          <a:solidFill>
            <a:srgbClr val="16262E"/>
          </a:solidFill>
          <a:ln w="12700">
            <a:solidFill>
              <a:srgbClr val="16262E"/>
            </a:solidFill>
            <a:prstDash val="solid"/>
          </a:ln>
        </p:spPr>
      </p:sp>
      <p:sp>
        <p:nvSpPr>
          <p:cNvPr id="24" name="Text 22"/>
          <p:cNvSpPr txBox="1"/>
          <p:nvPr/>
        </p:nvSpPr>
        <p:spPr>
          <a:xfrm>
            <a:off x="841248" y="5193792"/>
            <a:ext cx="10509199" cy="77724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Corpus: Registros_atencion_ciudadana_PARTICIPANTE.xlsx y Transcripciones_foro_PARTICIPANTE.docx, en sesion-04. Cuadro: Plantillas_tabulares_curso_IA.xlsx, hoja Cuadro comparativo.</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3</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PUESTA EN COMÚN</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Cinco minutos por equipo</a:t>
            </a:r>
            <a:endParaRPr lang="en-US" sz="3400" dirty="0"/>
          </a:p>
        </p:txBody>
      </p:sp>
      <p:sp>
        <p:nvSpPr>
          <p:cNvPr id="6" name="Shape 4"/>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10:20 a 10:50</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Tu presentación responde cuatro cosas</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No es una demostración de la herramienta. Es un dictamen sobre ella.</a:t>
            </a:r>
            <a:endParaRPr lang="en-US" sz="1500" dirty="0"/>
          </a:p>
        </p:txBody>
      </p:sp>
      <p:sp>
        <p:nvSpPr>
          <p:cNvPr id="4" name="Shape 2"/>
          <p:cNvSpPr/>
          <p:nvPr/>
        </p:nvSpPr>
        <p:spPr>
          <a:xfrm>
            <a:off x="566928" y="2011680"/>
            <a:ext cx="2558720" cy="2989072"/>
          </a:xfrm>
          <a:prstGeom prst="roundRect">
            <a:avLst>
              <a:gd name="adj" fmla="val 2859"/>
            </a:avLst>
          </a:prstGeom>
          <a:solidFill>
            <a:srgbClr val="F2F5F6"/>
          </a:solidFill>
          <a:ln w="12700">
            <a:solidFill>
              <a:srgbClr val="F2F5F6"/>
            </a:solidFill>
            <a:prstDash val="solid"/>
          </a:ln>
        </p:spPr>
      </p:sp>
      <p:sp>
        <p:nvSpPr>
          <p:cNvPr id="5" name="Shape 3"/>
          <p:cNvSpPr/>
          <p:nvPr/>
        </p:nvSpPr>
        <p:spPr>
          <a:xfrm>
            <a:off x="804672" y="2231136"/>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798064"/>
            <a:ext cx="2083232"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¿Qué hizo mejor que Copilot?</a:t>
            </a:r>
            <a:endParaRPr lang="en-US" sz="1600" dirty="0"/>
          </a:p>
        </p:txBody>
      </p:sp>
      <p:sp>
        <p:nvSpPr>
          <p:cNvPr id="8" name="Text 6"/>
          <p:cNvSpPr txBox="1"/>
          <p:nvPr/>
        </p:nvSpPr>
        <p:spPr>
          <a:xfrm>
            <a:off x="804672" y="3527552"/>
            <a:ext cx="2083232"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Y si la respuesta es nada relevante para nuestro trabajo, esa también es una conclusión válida. Dilo así.</a:t>
            </a:r>
            <a:endParaRPr lang="en-US" sz="1300" dirty="0"/>
          </a:p>
        </p:txBody>
      </p:sp>
      <p:sp>
        <p:nvSpPr>
          <p:cNvPr id="9" name="Shape 7"/>
          <p:cNvSpPr/>
          <p:nvPr/>
        </p:nvSpPr>
        <p:spPr>
          <a:xfrm>
            <a:off x="3399968" y="2011680"/>
            <a:ext cx="2558720" cy="2989072"/>
          </a:xfrm>
          <a:prstGeom prst="roundRect">
            <a:avLst>
              <a:gd name="adj" fmla="val 2859"/>
            </a:avLst>
          </a:prstGeom>
          <a:solidFill>
            <a:srgbClr val="F2F5F6"/>
          </a:solidFill>
          <a:ln w="12700">
            <a:solidFill>
              <a:srgbClr val="F2F5F6"/>
            </a:solidFill>
            <a:prstDash val="solid"/>
          </a:ln>
        </p:spPr>
      </p:sp>
      <p:sp>
        <p:nvSpPr>
          <p:cNvPr id="10" name="Shape 8"/>
          <p:cNvSpPr/>
          <p:nvPr/>
        </p:nvSpPr>
        <p:spPr>
          <a:xfrm>
            <a:off x="3637712" y="2231136"/>
            <a:ext cx="420624" cy="420624"/>
          </a:xfrm>
          <a:prstGeom prst="ellipse">
            <a:avLst/>
          </a:prstGeom>
          <a:solidFill>
            <a:srgbClr val="2E7D7D"/>
          </a:solidFill>
          <a:ln w="12700">
            <a:solidFill>
              <a:srgbClr val="2E7D7D"/>
            </a:solidFill>
            <a:prstDash val="solid"/>
          </a:ln>
        </p:spPr>
      </p:sp>
      <p:sp>
        <p:nvSpPr>
          <p:cNvPr id="11" name="Text 9"/>
          <p:cNvSpPr txBox="1"/>
          <p:nvPr/>
        </p:nvSpPr>
        <p:spPr>
          <a:xfrm>
            <a:off x="363771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3637712" y="2798064"/>
            <a:ext cx="2083232"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¿Qué hizo peor?</a:t>
            </a:r>
            <a:endParaRPr lang="en-US" sz="1600" dirty="0"/>
          </a:p>
        </p:txBody>
      </p:sp>
      <p:sp>
        <p:nvSpPr>
          <p:cNvPr id="13" name="Text 11"/>
          <p:cNvSpPr txBox="1"/>
          <p:nvPr/>
        </p:nvSpPr>
        <p:spPr>
          <a:xfrm>
            <a:off x="3637712" y="3263392"/>
            <a:ext cx="2083232" cy="153619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Categorías que fundió, minorías que perdió, referencias que inventó. Sé específico.</a:t>
            </a:r>
            <a:endParaRPr lang="en-US" sz="1300" dirty="0"/>
          </a:p>
        </p:txBody>
      </p:sp>
      <p:sp>
        <p:nvSpPr>
          <p:cNvPr id="14" name="Shape 12"/>
          <p:cNvSpPr/>
          <p:nvPr/>
        </p:nvSpPr>
        <p:spPr>
          <a:xfrm>
            <a:off x="6233008" y="2011680"/>
            <a:ext cx="2558720" cy="2989072"/>
          </a:xfrm>
          <a:prstGeom prst="roundRect">
            <a:avLst>
              <a:gd name="adj" fmla="val 2859"/>
            </a:avLst>
          </a:prstGeom>
          <a:solidFill>
            <a:srgbClr val="F2F5F6"/>
          </a:solidFill>
          <a:ln w="12700">
            <a:solidFill>
              <a:srgbClr val="F2F5F6"/>
            </a:solidFill>
            <a:prstDash val="solid"/>
          </a:ln>
        </p:spPr>
      </p:sp>
      <p:sp>
        <p:nvSpPr>
          <p:cNvPr id="15" name="Shape 13"/>
          <p:cNvSpPr/>
          <p:nvPr/>
        </p:nvSpPr>
        <p:spPr>
          <a:xfrm>
            <a:off x="6470752" y="2231136"/>
            <a:ext cx="420624" cy="420624"/>
          </a:xfrm>
          <a:prstGeom prst="ellipse">
            <a:avLst/>
          </a:prstGeom>
          <a:solidFill>
            <a:srgbClr val="2E7D7D"/>
          </a:solidFill>
          <a:ln w="12700">
            <a:solidFill>
              <a:srgbClr val="2E7D7D"/>
            </a:solidFill>
            <a:prstDash val="solid"/>
          </a:ln>
        </p:spPr>
      </p:sp>
      <p:sp>
        <p:nvSpPr>
          <p:cNvPr id="16" name="Text 14"/>
          <p:cNvSpPr txBox="1"/>
          <p:nvPr/>
        </p:nvSpPr>
        <p:spPr>
          <a:xfrm>
            <a:off x="647075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6470752" y="2798064"/>
            <a:ext cx="2083232"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¿Qué te pidió a cambio?</a:t>
            </a:r>
            <a:endParaRPr lang="en-US" sz="1600" dirty="0"/>
          </a:p>
        </p:txBody>
      </p:sp>
      <p:sp>
        <p:nvSpPr>
          <p:cNvPr id="18" name="Text 16"/>
          <p:cNvSpPr txBox="1"/>
          <p:nvPr/>
        </p:nvSpPr>
        <p:spPr>
          <a:xfrm>
            <a:off x="6470752" y="3527552"/>
            <a:ext cx="2083232"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Cuenta, costo si se quisiera en serio, tiempo de aprendizaje, y qué información habría que darle.</a:t>
            </a:r>
            <a:endParaRPr lang="en-US" sz="1300" dirty="0"/>
          </a:p>
        </p:txBody>
      </p:sp>
      <p:sp>
        <p:nvSpPr>
          <p:cNvPr id="19" name="Shape 17"/>
          <p:cNvSpPr/>
          <p:nvPr/>
        </p:nvSpPr>
        <p:spPr>
          <a:xfrm>
            <a:off x="9066047" y="2011680"/>
            <a:ext cx="2558720" cy="2989072"/>
          </a:xfrm>
          <a:prstGeom prst="roundRect">
            <a:avLst>
              <a:gd name="adj" fmla="val 2859"/>
            </a:avLst>
          </a:prstGeom>
          <a:solidFill>
            <a:srgbClr val="F7E4D8"/>
          </a:solidFill>
          <a:ln w="12700">
            <a:solidFill>
              <a:srgbClr val="F7E4D8"/>
            </a:solidFill>
            <a:prstDash val="solid"/>
          </a:ln>
        </p:spPr>
      </p:sp>
      <p:sp>
        <p:nvSpPr>
          <p:cNvPr id="20" name="Shape 18"/>
          <p:cNvSpPr/>
          <p:nvPr/>
        </p:nvSpPr>
        <p:spPr>
          <a:xfrm>
            <a:off x="9303791" y="2231136"/>
            <a:ext cx="420624" cy="420624"/>
          </a:xfrm>
          <a:prstGeom prst="ellipse">
            <a:avLst/>
          </a:prstGeom>
          <a:solidFill>
            <a:srgbClr val="C85A28"/>
          </a:solidFill>
          <a:ln w="12700">
            <a:solidFill>
              <a:srgbClr val="C85A28"/>
            </a:solidFill>
            <a:prstDash val="solid"/>
          </a:ln>
        </p:spPr>
      </p:sp>
      <p:sp>
        <p:nvSpPr>
          <p:cNvPr id="21" name="Text 19"/>
          <p:cNvSpPr txBox="1"/>
          <p:nvPr/>
        </p:nvSpPr>
        <p:spPr>
          <a:xfrm>
            <a:off x="9303791"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9303791" y="2798064"/>
            <a:ext cx="2083232"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¿Para qué tarea la recomendarías?</a:t>
            </a:r>
            <a:endParaRPr lang="en-US" sz="1600" dirty="0"/>
          </a:p>
        </p:txBody>
      </p:sp>
      <p:sp>
        <p:nvSpPr>
          <p:cNvPr id="23" name="Text 21"/>
          <p:cNvSpPr txBox="1"/>
          <p:nvPr/>
        </p:nvSpPr>
        <p:spPr>
          <a:xfrm>
            <a:off x="9303791" y="3527552"/>
            <a:ext cx="2083232"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Una tarea concreta de esta área. Si no encuentras ninguna, eso es lo que hay que reportar.</a:t>
            </a:r>
            <a:endParaRPr lang="en-US" sz="1300" dirty="0"/>
          </a:p>
        </p:txBody>
      </p:sp>
      <p:sp>
        <p:nvSpPr>
          <p:cNvPr id="24" name="Text 22"/>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Al terminar las seis presentaciones, el cuadro comparativo queda lleno con evaluación de uso propio, no de demostración.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4</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DEMOSTRACIÓN</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Lo que no se resuelve con permisos de red</a:t>
            </a:r>
            <a:endParaRPr lang="en-US" sz="3400" dirty="0"/>
          </a:p>
        </p:txBody>
      </p:sp>
      <p:sp>
        <p:nvSpPr>
          <p:cNvPr id="6" name="Shape 4"/>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10:50 a 11:07</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2600" b="1" dirty="0">
                <a:solidFill>
                  <a:srgbClr val="16262E"/>
                </a:solidFill>
                <a:latin typeface="Arial" pitchFamily="34" charset="0"/>
                <a:ea typeface="Arial" pitchFamily="34" charset="-122"/>
                <a:cs typeface="Arial" pitchFamily="34" charset="-120"/>
              </a:rPr>
              <a:t>Tres herramientas que no puedes usar hoy, y por qué importan</a:t>
            </a:r>
            <a:endParaRPr lang="en-US" sz="26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Dos requieren licencia de paga y una está bloqueada. Las veo en pantalla, con el mismo corpus que acabas de trabajar.</a:t>
            </a:r>
            <a:endParaRPr lang="en-US" sz="1500" dirty="0"/>
          </a:p>
        </p:txBody>
      </p:sp>
      <p:sp>
        <p:nvSpPr>
          <p:cNvPr id="4" name="Shape 2"/>
          <p:cNvSpPr/>
          <p:nvPr/>
        </p:nvSpPr>
        <p:spPr>
          <a:xfrm>
            <a:off x="566928" y="2011680"/>
            <a:ext cx="3503066" cy="3563112"/>
          </a:xfrm>
          <a:prstGeom prst="roundRect">
            <a:avLst>
              <a:gd name="adj" fmla="val 2088"/>
            </a:avLst>
          </a:prstGeom>
          <a:solidFill>
            <a:srgbClr val="D7E7E7"/>
          </a:solidFill>
          <a:ln w="12700">
            <a:solidFill>
              <a:srgbClr val="D7E7E7"/>
            </a:solidFill>
            <a:prstDash val="solid"/>
          </a:ln>
        </p:spPr>
      </p:sp>
      <p:sp>
        <p:nvSpPr>
          <p:cNvPr id="5" name="Text 3"/>
          <p:cNvSpPr txBox="1"/>
          <p:nvPr/>
        </p:nvSpPr>
        <p:spPr>
          <a:xfrm>
            <a:off x="804672" y="224942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Atlas.ti y MAXQDA</a:t>
            </a:r>
            <a:endParaRPr lang="en-US" sz="1600" dirty="0"/>
          </a:p>
        </p:txBody>
      </p:sp>
      <p:sp>
        <p:nvSpPr>
          <p:cNvPr id="6" name="Text 4"/>
          <p:cNvSpPr txBox="1"/>
          <p:nvPr/>
        </p:nvSpPr>
        <p:spPr>
          <a:xfrm>
            <a:off x="804672" y="2714752"/>
            <a:ext cx="3027578" cy="265887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Son el estándar de la investigación cualitativa formal.</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Lo que hacen distinto no es codificar mejor: es dejar constancia de cómo codificaron. Generan un reporte de codificación auditable.</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Si algún día tienes que defender un análisis cualitativo ante un comité, esa es la diferencia.</a:t>
            </a:r>
            <a:endParaRPr lang="en-US" sz="1300" dirty="0"/>
          </a:p>
        </p:txBody>
      </p:sp>
      <p:sp>
        <p:nvSpPr>
          <p:cNvPr id="7" name="Shape 5"/>
          <p:cNvSpPr/>
          <p:nvPr/>
        </p:nvSpPr>
        <p:spPr>
          <a:xfrm>
            <a:off x="4344314" y="2011680"/>
            <a:ext cx="3503066" cy="3563112"/>
          </a:xfrm>
          <a:prstGeom prst="roundRect">
            <a:avLst>
              <a:gd name="adj" fmla="val 2088"/>
            </a:avLst>
          </a:prstGeom>
          <a:solidFill>
            <a:srgbClr val="F7E4D8"/>
          </a:solidFill>
          <a:ln w="12700">
            <a:solidFill>
              <a:srgbClr val="F7E4D8"/>
            </a:solidFill>
            <a:prstDash val="solid"/>
          </a:ln>
        </p:spPr>
      </p:sp>
      <p:sp>
        <p:nvSpPr>
          <p:cNvPr id="8" name="Text 6"/>
          <p:cNvSpPr txBox="1"/>
          <p:nvPr/>
        </p:nvSpPr>
        <p:spPr>
          <a:xfrm>
            <a:off x="4582058" y="224942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NotebookLM</a:t>
            </a:r>
            <a:endParaRPr lang="en-US" sz="1600" dirty="0"/>
          </a:p>
        </p:txBody>
      </p:sp>
      <p:sp>
        <p:nvSpPr>
          <p:cNvPr id="9" name="Text 7"/>
          <p:cNvSpPr txBox="1"/>
          <p:nvPr/>
        </p:nvSpPr>
        <p:spPr>
          <a:xfrm>
            <a:off x="4582058" y="2714752"/>
            <a:ext cx="3027578" cy="265887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Desde julio se llama Gemini Notebook. Responde citando el párrafo exacto de cada documento fuente.</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Es justo lo que vas a construir a mano mañana en la matriz de evidencia.</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Está bloqueada y vale la pena pedirla: es del mismo proveedor que Gemini, que sí liberaron.</a:t>
            </a:r>
            <a:endParaRPr lang="en-US" sz="1300" dirty="0"/>
          </a:p>
        </p:txBody>
      </p:sp>
      <p:sp>
        <p:nvSpPr>
          <p:cNvPr id="10" name="Shape 8"/>
          <p:cNvSpPr/>
          <p:nvPr/>
        </p:nvSpPr>
        <p:spPr>
          <a:xfrm>
            <a:off x="8121701" y="2011680"/>
            <a:ext cx="3503066" cy="3563112"/>
          </a:xfrm>
          <a:prstGeom prst="roundRect">
            <a:avLst>
              <a:gd name="adj" fmla="val 2088"/>
            </a:avLst>
          </a:prstGeom>
          <a:solidFill>
            <a:srgbClr val="F2F5F6"/>
          </a:solidFill>
          <a:ln w="12700">
            <a:solidFill>
              <a:srgbClr val="F2F5F6"/>
            </a:solidFill>
            <a:prstDash val="solid"/>
          </a:ln>
        </p:spPr>
      </p:sp>
      <p:sp>
        <p:nvSpPr>
          <p:cNvPr id="11" name="Text 9"/>
          <p:cNvSpPr txBox="1"/>
          <p:nvPr/>
        </p:nvSpPr>
        <p:spPr>
          <a:xfrm>
            <a:off x="8359445" y="224942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Qué tienen en común</a:t>
            </a:r>
            <a:endParaRPr lang="en-US" sz="1600" dirty="0"/>
          </a:p>
        </p:txBody>
      </p:sp>
      <p:sp>
        <p:nvSpPr>
          <p:cNvPr id="12" name="Text 10"/>
          <p:cNvSpPr txBox="1"/>
          <p:nvPr/>
        </p:nvSpPr>
        <p:spPr>
          <a:xfrm>
            <a:off x="8359445" y="2714752"/>
            <a:ext cx="3027578" cy="265887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tres resuelven el mismo problema: dejar rastro de cómo se llegó al resultado.</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Ese problema no desaparece porque no tengas la herramienta. Solo cambia quién lo resuelve: mañana lo vas a resolver tú, a mano.</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5</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LA RESPUESTA PRÁCTICA</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El RAG que sí puedes operar hoy</a:t>
            </a:r>
            <a:endParaRPr lang="en-US" sz="3400" dirty="0"/>
          </a:p>
        </p:txBody>
      </p:sp>
      <p:sp>
        <p:nvSpPr>
          <p:cNvPr id="6" name="Shape 4"/>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11:07 a 11:25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7E7E7"/>
        </a:solidFill>
      </p:bgPr>
    </p:bg>
    <p:spTree>
      <p:nvGrpSpPr>
        <p:cNvPr id="1" name=""/>
        <p:cNvGrpSpPr/>
        <p:nvPr/>
      </p:nvGrpSpPr>
      <p:grpSpPr>
        <a:xfrm>
          <a:off x="0" y="0"/>
          <a:ext cx="0" cy="0"/>
          <a:chOff x="0" y="0"/>
          <a:chExt cx="0" cy="0"/>
        </a:xfrm>
      </p:grpSpPr>
      <p:sp>
        <p:nvSpPr>
          <p:cNvPr id="2" name="Shape 0"/>
          <p:cNvSpPr/>
          <p:nvPr/>
        </p:nvSpPr>
        <p:spPr>
          <a:xfrm>
            <a:off x="566928" y="457200"/>
            <a:ext cx="2788920" cy="457200"/>
          </a:xfrm>
          <a:prstGeom prst="roundRect">
            <a:avLst>
              <a:gd name="adj" fmla="val 50000"/>
            </a:avLst>
          </a:prstGeom>
          <a:solidFill>
            <a:srgbClr val="2E7D7D"/>
          </a:solidFill>
          <a:ln w="12700">
            <a:solidFill>
              <a:srgbClr val="2E7D7D"/>
            </a:solidFill>
            <a:prstDash val="solid"/>
          </a:ln>
        </p:spPr>
      </p:sp>
      <p:sp>
        <p:nvSpPr>
          <p:cNvPr id="3" name="Text 1"/>
          <p:cNvSpPr txBox="1"/>
          <p:nvPr/>
        </p:nvSpPr>
        <p:spPr>
          <a:xfrm>
            <a:off x="566928" y="457200"/>
            <a:ext cx="278892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TU TURNO</a:t>
            </a:r>
            <a:endParaRPr lang="en-US" sz="1300" dirty="0"/>
          </a:p>
        </p:txBody>
      </p:sp>
      <p:sp>
        <p:nvSpPr>
          <p:cNvPr id="4" name="Shape 2"/>
          <p:cNvSpPr/>
          <p:nvPr/>
        </p:nvSpPr>
        <p:spPr>
          <a:xfrm>
            <a:off x="9704527" y="457200"/>
            <a:ext cx="1920240" cy="457200"/>
          </a:xfrm>
          <a:prstGeom prst="roundRect">
            <a:avLst>
              <a:gd name="adj" fmla="val 50000"/>
            </a:avLst>
          </a:prstGeom>
          <a:solidFill>
            <a:srgbClr val="C85A28"/>
          </a:solidFill>
          <a:ln w="12700">
            <a:solidFill>
              <a:srgbClr val="C85A28"/>
            </a:solidFill>
            <a:prstDash val="solid"/>
          </a:ln>
        </p:spPr>
      </p:sp>
      <p:sp>
        <p:nvSpPr>
          <p:cNvPr id="5" name="Text 3"/>
          <p:cNvSpPr txBox="1"/>
          <p:nvPr/>
        </p:nvSpPr>
        <p:spPr>
          <a:xfrm>
            <a:off x="9704527" y="457200"/>
            <a:ext cx="19202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10 minutos</a:t>
            </a:r>
            <a:endParaRPr lang="en-US" sz="1300" dirty="0"/>
          </a:p>
        </p:txBody>
      </p:sp>
      <p:sp>
        <p:nvSpPr>
          <p:cNvPr id="6" name="Text 4"/>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Copilot Chat y OneDrive: el bibliotecario eres tú</a:t>
            </a:r>
            <a:endParaRPr lang="en-US" sz="2900" dirty="0"/>
          </a:p>
        </p:txBody>
      </p:sp>
      <p:sp>
        <p:nvSpPr>
          <p:cNvPr id="7" name="Shape 5"/>
          <p:cNvSpPr/>
          <p:nvPr/>
        </p:nvSpPr>
        <p:spPr>
          <a:xfrm>
            <a:off x="566928" y="1920240"/>
            <a:ext cx="11057839" cy="628650"/>
          </a:xfrm>
          <a:prstGeom prst="roundRect">
            <a:avLst>
              <a:gd name="adj" fmla="val 10182"/>
            </a:avLst>
          </a:prstGeom>
          <a:solidFill>
            <a:srgbClr val="FFFFFF"/>
          </a:solidFill>
          <a:ln w="12700">
            <a:solidFill>
              <a:srgbClr val="FFFFFF"/>
            </a:solidFill>
            <a:prstDash val="solid"/>
          </a:ln>
        </p:spPr>
      </p:sp>
      <p:sp>
        <p:nvSpPr>
          <p:cNvPr id="8" name="Shape 6"/>
          <p:cNvSpPr/>
          <p:nvPr/>
        </p:nvSpPr>
        <p:spPr>
          <a:xfrm>
            <a:off x="786384" y="2024253"/>
            <a:ext cx="420624" cy="420624"/>
          </a:xfrm>
          <a:prstGeom prst="ellipse">
            <a:avLst/>
          </a:prstGeom>
          <a:solidFill>
            <a:srgbClr val="2E7D7D"/>
          </a:solidFill>
          <a:ln w="12700">
            <a:solidFill>
              <a:srgbClr val="2E7D7D"/>
            </a:solidFill>
            <a:prstDash val="solid"/>
          </a:ln>
        </p:spPr>
      </p:sp>
      <p:sp>
        <p:nvSpPr>
          <p:cNvPr id="9" name="Text 7"/>
          <p:cNvSpPr txBox="1"/>
          <p:nvPr/>
        </p:nvSpPr>
        <p:spPr>
          <a:xfrm>
            <a:off x="786384" y="202425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408176" y="201168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Desde Copilot Chat sí llegas a tu OneDrive institucional y eliges tus archivos ahí mismo. Puede sugerirte archivos, pero no escoge por ti como haría un RAG: trabaja solo con los que tú agregas.</a:t>
            </a:r>
            <a:endParaRPr lang="en-US" sz="1450" dirty="0"/>
          </a:p>
        </p:txBody>
      </p:sp>
      <p:sp>
        <p:nvSpPr>
          <p:cNvPr id="11" name="Shape 9"/>
          <p:cNvSpPr/>
          <p:nvPr/>
        </p:nvSpPr>
        <p:spPr>
          <a:xfrm>
            <a:off x="566928" y="2731770"/>
            <a:ext cx="11057839" cy="628650"/>
          </a:xfrm>
          <a:prstGeom prst="roundRect">
            <a:avLst>
              <a:gd name="adj" fmla="val 10182"/>
            </a:avLst>
          </a:prstGeom>
          <a:solidFill>
            <a:srgbClr val="FFFFFF"/>
          </a:solidFill>
          <a:ln w="12700">
            <a:solidFill>
              <a:srgbClr val="FFFFFF"/>
            </a:solidFill>
            <a:prstDash val="solid"/>
          </a:ln>
        </p:spPr>
      </p:sp>
      <p:sp>
        <p:nvSpPr>
          <p:cNvPr id="12" name="Shape 10"/>
          <p:cNvSpPr/>
          <p:nvPr/>
        </p:nvSpPr>
        <p:spPr>
          <a:xfrm>
            <a:off x="786384" y="2835783"/>
            <a:ext cx="420624" cy="420624"/>
          </a:xfrm>
          <a:prstGeom prst="ellipse">
            <a:avLst/>
          </a:prstGeom>
          <a:solidFill>
            <a:srgbClr val="2E7D7D"/>
          </a:solidFill>
          <a:ln w="12700">
            <a:solidFill>
              <a:srgbClr val="2E7D7D"/>
            </a:solidFill>
            <a:prstDash val="solid"/>
          </a:ln>
        </p:spPr>
      </p:sp>
      <p:sp>
        <p:nvSpPr>
          <p:cNvPr id="13" name="Text 11"/>
          <p:cNvSpPr txBox="1"/>
          <p:nvPr/>
        </p:nvSpPr>
        <p:spPr>
          <a:xfrm>
            <a:off x="786384" y="283578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408176" y="282321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Organiza una carpeta de OneDrive como base documental de tu tema, una por asunto y no una por año, y nombra cada archivo de manera que el nombre diga qué contiene. Ese nombre es tu índice.</a:t>
            </a:r>
            <a:endParaRPr lang="en-US" sz="1450" dirty="0"/>
          </a:p>
        </p:txBody>
      </p:sp>
      <p:sp>
        <p:nvSpPr>
          <p:cNvPr id="15" name="Shape 13"/>
          <p:cNvSpPr/>
          <p:nvPr/>
        </p:nvSpPr>
        <p:spPr>
          <a:xfrm>
            <a:off x="566928" y="3543300"/>
            <a:ext cx="11057839" cy="628650"/>
          </a:xfrm>
          <a:prstGeom prst="roundRect">
            <a:avLst>
              <a:gd name="adj" fmla="val 10182"/>
            </a:avLst>
          </a:prstGeom>
          <a:solidFill>
            <a:srgbClr val="FFFFFF"/>
          </a:solidFill>
          <a:ln w="12700">
            <a:solidFill>
              <a:srgbClr val="FFFFFF"/>
            </a:solidFill>
            <a:prstDash val="solid"/>
          </a:ln>
        </p:spPr>
      </p:sp>
      <p:sp>
        <p:nvSpPr>
          <p:cNvPr id="16" name="Shape 14"/>
          <p:cNvSpPr/>
          <p:nvPr/>
        </p:nvSpPr>
        <p:spPr>
          <a:xfrm>
            <a:off x="786384" y="3647313"/>
            <a:ext cx="420624" cy="420624"/>
          </a:xfrm>
          <a:prstGeom prst="ellipse">
            <a:avLst/>
          </a:prstGeom>
          <a:solidFill>
            <a:srgbClr val="2E7D7D"/>
          </a:solidFill>
          <a:ln w="12700">
            <a:solidFill>
              <a:srgbClr val="2E7D7D"/>
            </a:solidFill>
            <a:prstDash val="solid"/>
          </a:ln>
        </p:spPr>
      </p:sp>
      <p:sp>
        <p:nvSpPr>
          <p:cNvPr id="17" name="Text 15"/>
          <p:cNvSpPr txBox="1"/>
          <p:nvPr/>
        </p:nvSpPr>
        <p:spPr>
          <a:xfrm>
            <a:off x="786384" y="364731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408176" y="363474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Haz la prueba: en un chat nuevo, sin agregar archivos ni tocar sugerencias, pregunta un dato que esté en tus documentos y no en la web, y pide el archivo de donde sale. Anota si citó tu archivo o contestó sin él.</a:t>
            </a:r>
            <a:endParaRPr lang="en-US" sz="1450" dirty="0"/>
          </a:p>
        </p:txBody>
      </p:sp>
      <p:sp>
        <p:nvSpPr>
          <p:cNvPr id="19" name="Shape 17"/>
          <p:cNvSpPr/>
          <p:nvPr/>
        </p:nvSpPr>
        <p:spPr>
          <a:xfrm>
            <a:off x="566928" y="4354830"/>
            <a:ext cx="11057839" cy="628650"/>
          </a:xfrm>
          <a:prstGeom prst="roundRect">
            <a:avLst>
              <a:gd name="adj" fmla="val 10182"/>
            </a:avLst>
          </a:prstGeom>
          <a:solidFill>
            <a:srgbClr val="FFFFFF"/>
          </a:solidFill>
          <a:ln w="12700">
            <a:solidFill>
              <a:srgbClr val="FFFFFF"/>
            </a:solidFill>
            <a:prstDash val="solid"/>
          </a:ln>
        </p:spPr>
      </p:sp>
      <p:sp>
        <p:nvSpPr>
          <p:cNvPr id="20" name="Shape 18"/>
          <p:cNvSpPr/>
          <p:nvPr/>
        </p:nvSpPr>
        <p:spPr>
          <a:xfrm>
            <a:off x="786384" y="4458843"/>
            <a:ext cx="420624" cy="420624"/>
          </a:xfrm>
          <a:prstGeom prst="ellipse">
            <a:avLst/>
          </a:prstGeom>
          <a:solidFill>
            <a:srgbClr val="2E7D7D"/>
          </a:solidFill>
          <a:ln w="12700">
            <a:solidFill>
              <a:srgbClr val="2E7D7D"/>
            </a:solidFill>
            <a:prstDash val="solid"/>
          </a:ln>
        </p:spPr>
      </p:sp>
      <p:sp>
        <p:nvSpPr>
          <p:cNvPr id="21" name="Text 19"/>
          <p:cNvSpPr txBox="1"/>
          <p:nvPr/>
        </p:nvSpPr>
        <p:spPr>
          <a:xfrm>
            <a:off x="786384" y="445884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408176" y="444627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Ahora elige desde OneDrive los archivos que responden esa pregunta, repítela y pide la cita del párrafo. Compara las dos respuestas.</a:t>
            </a:r>
            <a:endParaRPr lang="en-US" sz="1450" dirty="0"/>
          </a:p>
        </p:txBody>
      </p:sp>
      <p:sp>
        <p:nvSpPr>
          <p:cNvPr id="23" name="Shape 21"/>
          <p:cNvSpPr/>
          <p:nvPr/>
        </p:nvSpPr>
        <p:spPr>
          <a:xfrm>
            <a:off x="566928" y="5193792"/>
            <a:ext cx="11057839" cy="777240"/>
          </a:xfrm>
          <a:prstGeom prst="roundRect">
            <a:avLst>
              <a:gd name="adj" fmla="val 8235"/>
            </a:avLst>
          </a:prstGeom>
          <a:solidFill>
            <a:srgbClr val="16262E"/>
          </a:solidFill>
          <a:ln w="12700">
            <a:solidFill>
              <a:srgbClr val="16262E"/>
            </a:solidFill>
            <a:prstDash val="solid"/>
          </a:ln>
        </p:spPr>
      </p:sp>
      <p:sp>
        <p:nvSpPr>
          <p:cNvPr id="24" name="Text 22"/>
          <p:cNvSpPr txBox="1"/>
          <p:nvPr/>
        </p:nvSpPr>
        <p:spPr>
          <a:xfrm>
            <a:off x="841248" y="5193792"/>
            <a:ext cx="10509199" cy="77724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Es lo único de hoy apto para información amarilla; lo demás es solo para información pública. Si en el paso 3 Copilot citó tu archivo sin que se lo señalaras, avísame: puede ser la licencia de paga, una sugerencia con archivo, otro chat o la web. Lo aclara la etiqueta bajo tu nombre.</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737360" y="3931920"/>
            <a:ext cx="4754880" cy="4754880"/>
          </a:xfrm>
          <a:prstGeom prst="ellipse">
            <a:avLst/>
          </a:prstGeom>
          <a:solidFill>
            <a:srgbClr val="24404E"/>
          </a:solidFill>
          <a:ln w="12700">
            <a:solidFill>
              <a:srgbClr val="24404E"/>
            </a:solidFill>
            <a:prstDash val="solid"/>
          </a:ln>
        </p:spPr>
      </p:sp>
      <p:sp>
        <p:nvSpPr>
          <p:cNvPr id="3" name="Text 1"/>
          <p:cNvSpPr txBox="1"/>
          <p:nvPr/>
        </p:nvSpPr>
        <p:spPr>
          <a:xfrm>
            <a:off x="566928" y="6858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AL SALIR DE HOY</a:t>
            </a:r>
            <a:endParaRPr lang="en-US" sz="1400" dirty="0"/>
          </a:p>
        </p:txBody>
      </p:sp>
      <p:sp>
        <p:nvSpPr>
          <p:cNvPr id="4" name="Text 2"/>
          <p:cNvSpPr txBox="1"/>
          <p:nvPr/>
        </p:nvSpPr>
        <p:spPr>
          <a:xfrm>
            <a:off x="566928" y="1097280"/>
            <a:ext cx="1060704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Lo que entregas hoy</a:t>
            </a:r>
            <a:endParaRPr lang="en-US" sz="3000" dirty="0"/>
          </a:p>
        </p:txBody>
      </p:sp>
      <p:sp>
        <p:nvSpPr>
          <p:cNvPr id="5" name="Shape 3"/>
          <p:cNvSpPr/>
          <p:nvPr/>
        </p:nvSpPr>
        <p:spPr>
          <a:xfrm>
            <a:off x="566928" y="2011680"/>
            <a:ext cx="11057839" cy="857250"/>
          </a:xfrm>
          <a:prstGeom prst="roundRect">
            <a:avLst>
              <a:gd name="adj" fmla="val 7467"/>
            </a:avLst>
          </a:prstGeom>
          <a:solidFill>
            <a:srgbClr val="24404E"/>
          </a:solidFill>
          <a:ln w="12700">
            <a:solidFill>
              <a:srgbClr val="24404E"/>
            </a:solidFill>
            <a:prstDash val="solid"/>
          </a:ln>
        </p:spPr>
      </p:sp>
      <p:sp>
        <p:nvSpPr>
          <p:cNvPr id="6" name="Shape 4"/>
          <p:cNvSpPr/>
          <p:nvPr/>
        </p:nvSpPr>
        <p:spPr>
          <a:xfrm>
            <a:off x="804672" y="2239137"/>
            <a:ext cx="402336" cy="402336"/>
          </a:xfrm>
          <a:prstGeom prst="ellipse">
            <a:avLst/>
          </a:prstGeom>
          <a:solidFill>
            <a:srgbClr val="2E7D7D"/>
          </a:solidFill>
          <a:ln w="12700">
            <a:solidFill>
              <a:srgbClr val="2E7D7D"/>
            </a:solidFill>
            <a:prstDash val="solid"/>
          </a:ln>
        </p:spPr>
      </p:sp>
      <p:sp>
        <p:nvSpPr>
          <p:cNvPr id="7" name="Text 5"/>
          <p:cNvSpPr txBox="1"/>
          <p:nvPr/>
        </p:nvSpPr>
        <p:spPr>
          <a:xfrm>
            <a:off x="804672" y="2239137"/>
            <a:ext cx="402336" cy="402336"/>
          </a:xfrm>
          <a:prstGeom prst="rect">
            <a:avLst/>
          </a:prstGeom>
          <a:noFill/>
          <a:ln/>
        </p:spPr>
        <p:txBody>
          <a:bodyPr wrap="square" lIns="0" tIns="0" rIns="0" bIns="0" rtlCol="0" anchor="ctr"/>
          <a:lstStyle/>
          <a:p>
            <a:pPr algn="ctr" indent="0" marL="0">
              <a:buNone/>
            </a:pPr>
            <a:endParaRPr lang="en-US" sz="1200" dirty="0"/>
          </a:p>
        </p:txBody>
      </p:sp>
      <p:sp>
        <p:nvSpPr>
          <p:cNvPr id="8" name="Text 6"/>
          <p:cNvSpPr txBox="1"/>
          <p:nvPr/>
        </p:nvSpPr>
        <p:spPr>
          <a:xfrm>
            <a:off x="1426464" y="208483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El cuadro comparativo consolidado, con las ocho herramientas evaluadas por uso propio de los seis equipos.</a:t>
            </a:r>
            <a:endParaRPr lang="en-US" sz="1450" dirty="0"/>
          </a:p>
        </p:txBody>
      </p:sp>
      <p:sp>
        <p:nvSpPr>
          <p:cNvPr id="9" name="Shape 7"/>
          <p:cNvSpPr/>
          <p:nvPr/>
        </p:nvSpPr>
        <p:spPr>
          <a:xfrm>
            <a:off x="566928" y="3051810"/>
            <a:ext cx="11057839" cy="857250"/>
          </a:xfrm>
          <a:prstGeom prst="roundRect">
            <a:avLst>
              <a:gd name="adj" fmla="val 7467"/>
            </a:avLst>
          </a:prstGeom>
          <a:solidFill>
            <a:srgbClr val="24404E"/>
          </a:solidFill>
          <a:ln w="12700">
            <a:solidFill>
              <a:srgbClr val="24404E"/>
            </a:solidFill>
            <a:prstDash val="solid"/>
          </a:ln>
        </p:spPr>
      </p:sp>
      <p:sp>
        <p:nvSpPr>
          <p:cNvPr id="10" name="Shape 8"/>
          <p:cNvSpPr/>
          <p:nvPr/>
        </p:nvSpPr>
        <p:spPr>
          <a:xfrm>
            <a:off x="804672" y="3279267"/>
            <a:ext cx="402336" cy="402336"/>
          </a:xfrm>
          <a:prstGeom prst="ellipse">
            <a:avLst/>
          </a:prstGeom>
          <a:solidFill>
            <a:srgbClr val="2E7D7D"/>
          </a:solidFill>
          <a:ln w="12700">
            <a:solidFill>
              <a:srgbClr val="2E7D7D"/>
            </a:solidFill>
            <a:prstDash val="solid"/>
          </a:ln>
        </p:spPr>
      </p:sp>
      <p:sp>
        <p:nvSpPr>
          <p:cNvPr id="11" name="Text 9"/>
          <p:cNvSpPr txBox="1"/>
          <p:nvPr/>
        </p:nvSpPr>
        <p:spPr>
          <a:xfrm>
            <a:off x="804672" y="3279267"/>
            <a:ext cx="402336" cy="402336"/>
          </a:xfrm>
          <a:prstGeom prst="rect">
            <a:avLst/>
          </a:prstGeom>
          <a:noFill/>
          <a:ln/>
        </p:spPr>
        <p:txBody>
          <a:bodyPr wrap="square" lIns="0" tIns="0" rIns="0" bIns="0" rtlCol="0" anchor="ctr"/>
          <a:lstStyle/>
          <a:p>
            <a:pPr algn="ctr" indent="0" marL="0">
              <a:buNone/>
            </a:pPr>
            <a:endParaRPr lang="en-US" sz="1200" dirty="0"/>
          </a:p>
        </p:txBody>
      </p:sp>
      <p:sp>
        <p:nvSpPr>
          <p:cNvPr id="12" name="Text 10"/>
          <p:cNvSpPr txBox="1"/>
          <p:nvPr/>
        </p:nvSpPr>
        <p:spPr>
          <a:xfrm>
            <a:off x="1426464" y="312496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Una cuartilla por equipo: cuál herramienta valdría la pena contratar o solicitar, con costo estimado y para qué tarea.</a:t>
            </a:r>
            <a:endParaRPr lang="en-US" sz="1450" dirty="0"/>
          </a:p>
        </p:txBody>
      </p:sp>
      <p:sp>
        <p:nvSpPr>
          <p:cNvPr id="13" name="Shape 11"/>
          <p:cNvSpPr/>
          <p:nvPr/>
        </p:nvSpPr>
        <p:spPr>
          <a:xfrm>
            <a:off x="566928" y="4091940"/>
            <a:ext cx="11057839" cy="857250"/>
          </a:xfrm>
          <a:prstGeom prst="roundRect">
            <a:avLst>
              <a:gd name="adj" fmla="val 7467"/>
            </a:avLst>
          </a:prstGeom>
          <a:solidFill>
            <a:srgbClr val="24404E"/>
          </a:solidFill>
          <a:ln w="12700">
            <a:solidFill>
              <a:srgbClr val="24404E"/>
            </a:solidFill>
            <a:prstDash val="solid"/>
          </a:ln>
        </p:spPr>
      </p:sp>
      <p:sp>
        <p:nvSpPr>
          <p:cNvPr id="14" name="Shape 12"/>
          <p:cNvSpPr/>
          <p:nvPr/>
        </p:nvSpPr>
        <p:spPr>
          <a:xfrm>
            <a:off x="804672" y="4319397"/>
            <a:ext cx="402336" cy="402336"/>
          </a:xfrm>
          <a:prstGeom prst="ellipse">
            <a:avLst/>
          </a:prstGeom>
          <a:solidFill>
            <a:srgbClr val="2E7D7D"/>
          </a:solidFill>
          <a:ln w="12700">
            <a:solidFill>
              <a:srgbClr val="2E7D7D"/>
            </a:solidFill>
            <a:prstDash val="solid"/>
          </a:ln>
        </p:spPr>
      </p:sp>
      <p:sp>
        <p:nvSpPr>
          <p:cNvPr id="15" name="Text 13"/>
          <p:cNvSpPr txBox="1"/>
          <p:nvPr/>
        </p:nvSpPr>
        <p:spPr>
          <a:xfrm>
            <a:off x="804672" y="4319397"/>
            <a:ext cx="402336" cy="402336"/>
          </a:xfrm>
          <a:prstGeom prst="rect">
            <a:avLst/>
          </a:prstGeom>
          <a:noFill/>
          <a:ln/>
        </p:spPr>
        <p:txBody>
          <a:bodyPr wrap="square" lIns="0" tIns="0" rIns="0" bIns="0" rtlCol="0" anchor="ctr"/>
          <a:lstStyle/>
          <a:p>
            <a:pPr algn="ctr" indent="0" marL="0">
              <a:buNone/>
            </a:pPr>
            <a:endParaRPr lang="en-US" sz="1200" dirty="0"/>
          </a:p>
        </p:txBody>
      </p:sp>
      <p:sp>
        <p:nvSpPr>
          <p:cNvPr id="16" name="Text 14"/>
          <p:cNvSpPr txBox="1"/>
          <p:nvPr/>
        </p:nvSpPr>
        <p:spPr>
          <a:xfrm>
            <a:off x="1426464" y="416509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Esa cuartilla no es un ejercicio de curso. Es el borrador de una solicitud real que tu área puede presentar.</a:t>
            </a:r>
            <a:endParaRPr lang="en-US" sz="1450" dirty="0"/>
          </a:p>
        </p:txBody>
      </p:sp>
      <p:sp>
        <p:nvSpPr>
          <p:cNvPr id="17" name="Shape 15"/>
          <p:cNvSpPr/>
          <p:nvPr/>
        </p:nvSpPr>
        <p:spPr>
          <a:xfrm>
            <a:off x="566928" y="5132070"/>
            <a:ext cx="11057839" cy="857250"/>
          </a:xfrm>
          <a:prstGeom prst="roundRect">
            <a:avLst>
              <a:gd name="adj" fmla="val 7467"/>
            </a:avLst>
          </a:prstGeom>
          <a:solidFill>
            <a:srgbClr val="24404E"/>
          </a:solidFill>
          <a:ln w="12700">
            <a:solidFill>
              <a:srgbClr val="24404E"/>
            </a:solidFill>
            <a:prstDash val="solid"/>
          </a:ln>
        </p:spPr>
      </p:sp>
      <p:sp>
        <p:nvSpPr>
          <p:cNvPr id="18" name="Shape 16"/>
          <p:cNvSpPr/>
          <p:nvPr/>
        </p:nvSpPr>
        <p:spPr>
          <a:xfrm>
            <a:off x="804672" y="5359527"/>
            <a:ext cx="402336" cy="402336"/>
          </a:xfrm>
          <a:prstGeom prst="ellipse">
            <a:avLst/>
          </a:prstGeom>
          <a:solidFill>
            <a:srgbClr val="2E7D7D"/>
          </a:solidFill>
          <a:ln w="12700">
            <a:solidFill>
              <a:srgbClr val="2E7D7D"/>
            </a:solidFill>
            <a:prstDash val="solid"/>
          </a:ln>
        </p:spPr>
      </p:sp>
      <p:sp>
        <p:nvSpPr>
          <p:cNvPr id="19" name="Text 17"/>
          <p:cNvSpPr txBox="1"/>
          <p:nvPr/>
        </p:nvSpPr>
        <p:spPr>
          <a:xfrm>
            <a:off x="804672" y="5359527"/>
            <a:ext cx="402336" cy="402336"/>
          </a:xfrm>
          <a:prstGeom prst="rect">
            <a:avLst/>
          </a:prstGeom>
          <a:noFill/>
          <a:ln/>
        </p:spPr>
        <p:txBody>
          <a:bodyPr wrap="square" lIns="0" tIns="0" rIns="0" bIns="0" rtlCol="0" anchor="ctr"/>
          <a:lstStyle/>
          <a:p>
            <a:pPr algn="ctr" indent="0" marL="0">
              <a:buNone/>
            </a:pPr>
            <a:endParaRPr lang="en-US" sz="1200" dirty="0"/>
          </a:p>
        </p:txBody>
      </p:sp>
      <p:sp>
        <p:nvSpPr>
          <p:cNvPr id="20" name="Text 18"/>
          <p:cNvSpPr txBox="1"/>
          <p:nvPr/>
        </p:nvSpPr>
        <p:spPr>
          <a:xfrm>
            <a:off x="1426464" y="520522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Para mañana: revisa tu bitácora completa y lee el expediente del Laboratorio 2 si todavía no lo haces.</a:t>
            </a:r>
            <a:endParaRPr lang="en-US" sz="1450" dirty="0"/>
          </a:p>
        </p:txBody>
      </p:sp>
      <p:sp>
        <p:nvSpPr>
          <p:cNvPr id="21" name="Text 19"/>
          <p:cNvSpPr txBox="1"/>
          <p:nvPr/>
        </p:nvSpPr>
        <p:spPr>
          <a:xfrm>
            <a:off x="566928" y="6172200"/>
            <a:ext cx="11057839" cy="411480"/>
          </a:xfrm>
          <a:prstGeom prst="rect">
            <a:avLst/>
          </a:prstGeom>
          <a:noFill/>
          <a:ln/>
        </p:spPr>
        <p:txBody>
          <a:bodyPr wrap="square" lIns="0" tIns="0" rIns="0" bIns="0" rtlCol="0" anchor="ctr"/>
          <a:lstStyle/>
          <a:p>
            <a:pPr indent="0" marL="0">
              <a:buNone/>
            </a:pPr>
            <a:r>
              <a:rPr lang="en-US" sz="1300" i="1" dirty="0">
                <a:solidFill>
                  <a:srgbClr val="D7E7E7"/>
                </a:solidFill>
                <a:latin typeface="Calibri" pitchFamily="34" charset="0"/>
                <a:ea typeface="Calibri" pitchFamily="34" charset="-122"/>
                <a:cs typeface="Calibri" pitchFamily="34" charset="-120"/>
              </a:rPr>
              <a:t>Sesión 6, martes 22 de septiembre: laboratorio cualitativo aplicado y cierre del bloque.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RAG cercania">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Cómo busca el bibliotecario: por cercanía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Es la idea del viernes aplicada a documentos completos. Así trabajan por dentro las herramientas que buscan antes de escribir.</a:t>
            </a:r>
            <a:endParaRPr lang="en-US" sz="1500" dirty="0"/>
          </a:p>
        </p:txBody>
      </p:sp>
      <p:sp>
        <p:nvSpPr>
          <p:cNvPr id="4" name="Shape"/>
          <p:cNvSpPr/>
          <p:nvPr/>
        </p:nvSpPr>
        <p:spPr>
          <a:xfrm>
            <a:off x="566928" y="2011680"/>
            <a:ext cx="3503066" cy="2750000"/>
          </a:xfrm>
          <a:prstGeom prst="roundRect">
            <a:avLst>
              <a:gd name="adj" fmla="val 2933"/>
            </a:avLst>
          </a:prstGeom>
          <a:solidFill>
            <a:srgbClr val="F2F5F6"/>
          </a:solidFill>
          <a:ln w="12700">
            <a:solidFill>
              <a:srgbClr val="F2F5F6"/>
            </a:solidFill>
            <a:prstDash val="solid"/>
          </a:ln>
        </p:spPr>
      </p:sp>
      <p:sp>
        <p:nvSpPr>
          <p:cNvPr id="5" name="Shape"/>
          <p:cNvSpPr/>
          <p:nvPr/>
        </p:nvSpPr>
        <p:spPr>
          <a:xfrm>
            <a:off x="804672" y="2231136"/>
            <a:ext cx="420624" cy="420624"/>
          </a:xfrm>
          <a:prstGeom prst="roundRect">
            <a:avLst>
              <a:gd name="adj" fmla="val 50000"/>
            </a:avLst>
          </a:prstGeom>
          <a:solidFill>
            <a:srgbClr val="2E7D7D"/>
          </a:solidFill>
          <a:ln w="12700">
            <a:solidFill>
              <a:srgbClr val="2E7D7D"/>
            </a:solidFill>
            <a:prstDash val="solid"/>
          </a:ln>
        </p:spPr>
      </p:sp>
      <p:sp>
        <p:nvSpPr>
          <p:cNvPr id="6" name="Text"/>
          <p:cNvSpPr txBox="1"/>
          <p:nvPr/>
        </p:nvSpPr>
        <p:spPr>
          <a:xfrm>
            <a:off x="80467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p:cNvSpPr txBox="1"/>
          <p:nvPr/>
        </p:nvSpPr>
        <p:spPr>
          <a:xfrm>
            <a:off x="804672" y="2798064"/>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Parte los documentos</a:t>
            </a:r>
            <a:endParaRPr lang="en-US" sz="1600" dirty="0"/>
          </a:p>
        </p:txBody>
      </p:sp>
      <p:sp>
        <p:nvSpPr>
          <p:cNvPr id="8" name="Text"/>
          <p:cNvSpPr txBox="1"/>
          <p:nvPr/>
        </p:nvSpPr>
        <p:spPr>
          <a:xfrm>
            <a:off x="804672" y="3455000"/>
            <a:ext cx="3027578" cy="1260000"/>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Corta cada archivo en fragmentos del tamaño de unos párrafos, porque un documento entero es demasiado grande para comparar de un golpe.</a:t>
            </a:r>
            <a:endParaRPr lang="en-US" sz="1300" dirty="0"/>
          </a:p>
        </p:txBody>
      </p:sp>
      <p:sp>
        <p:nvSpPr>
          <p:cNvPr id="9" name="Shape"/>
          <p:cNvSpPr/>
          <p:nvPr/>
        </p:nvSpPr>
        <p:spPr>
          <a:xfrm>
            <a:off x="4344314" y="2011680"/>
            <a:ext cx="3503066" cy="2750000"/>
          </a:xfrm>
          <a:prstGeom prst="roundRect">
            <a:avLst>
              <a:gd name="adj" fmla="val 2933"/>
            </a:avLst>
          </a:prstGeom>
          <a:solidFill>
            <a:srgbClr val="F2F5F6"/>
          </a:solidFill>
          <a:ln w="12700">
            <a:solidFill>
              <a:srgbClr val="F2F5F6"/>
            </a:solidFill>
            <a:prstDash val="solid"/>
          </a:ln>
        </p:spPr>
      </p:sp>
      <p:sp>
        <p:nvSpPr>
          <p:cNvPr id="10" name="Shape"/>
          <p:cNvSpPr/>
          <p:nvPr/>
        </p:nvSpPr>
        <p:spPr>
          <a:xfrm>
            <a:off x="4582058" y="2231136"/>
            <a:ext cx="420624" cy="420624"/>
          </a:xfrm>
          <a:prstGeom prst="roundRect">
            <a:avLst>
              <a:gd name="adj" fmla="val 50000"/>
            </a:avLst>
          </a:prstGeom>
          <a:solidFill>
            <a:srgbClr val="2E7D7D"/>
          </a:solidFill>
          <a:ln w="12700">
            <a:solidFill>
              <a:srgbClr val="2E7D7D"/>
            </a:solidFill>
            <a:prstDash val="solid"/>
          </a:ln>
        </p:spPr>
      </p:sp>
      <p:sp>
        <p:nvSpPr>
          <p:cNvPr id="11" name="Text"/>
          <p:cNvSpPr txBox="1"/>
          <p:nvPr/>
        </p:nvSpPr>
        <p:spPr>
          <a:xfrm>
            <a:off x="4582058"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p:cNvSpPr txBox="1"/>
          <p:nvPr/>
        </p:nvSpPr>
        <p:spPr>
          <a:xfrm>
            <a:off x="4582058" y="2798064"/>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Convierte cada fragmento</a:t>
            </a:r>
            <a:endParaRPr lang="en-US" sz="1600" dirty="0"/>
          </a:p>
        </p:txBody>
      </p:sp>
      <p:sp>
        <p:nvSpPr>
          <p:cNvPr id="13" name="Text"/>
          <p:cNvSpPr txBox="1"/>
          <p:nvPr/>
        </p:nvSpPr>
        <p:spPr>
          <a:xfrm>
            <a:off x="4582058" y="3455000"/>
            <a:ext cx="3027578" cy="1260000"/>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Cada fragmento se vuelve coordenadas, igual que los registros del viernes. Dos textos que significan lo mismo quedan cerca.</a:t>
            </a:r>
            <a:endParaRPr lang="en-US" sz="1300" dirty="0"/>
          </a:p>
        </p:txBody>
      </p:sp>
      <p:sp>
        <p:nvSpPr>
          <p:cNvPr id="14" name="Shape"/>
          <p:cNvSpPr/>
          <p:nvPr/>
        </p:nvSpPr>
        <p:spPr>
          <a:xfrm>
            <a:off x="8121701" y="2011680"/>
            <a:ext cx="3503066" cy="2750000"/>
          </a:xfrm>
          <a:prstGeom prst="roundRect">
            <a:avLst>
              <a:gd name="adj" fmla="val 2933"/>
            </a:avLst>
          </a:prstGeom>
          <a:solidFill>
            <a:srgbClr val="F2F5F6"/>
          </a:solidFill>
          <a:ln w="12700">
            <a:solidFill>
              <a:srgbClr val="F2F5F6"/>
            </a:solidFill>
            <a:prstDash val="solid"/>
          </a:ln>
        </p:spPr>
      </p:sp>
      <p:sp>
        <p:nvSpPr>
          <p:cNvPr id="15" name="Shape"/>
          <p:cNvSpPr/>
          <p:nvPr/>
        </p:nvSpPr>
        <p:spPr>
          <a:xfrm>
            <a:off x="8359445" y="2231136"/>
            <a:ext cx="420624" cy="420624"/>
          </a:xfrm>
          <a:prstGeom prst="roundRect">
            <a:avLst>
              <a:gd name="adj" fmla="val 50000"/>
            </a:avLst>
          </a:prstGeom>
          <a:solidFill>
            <a:srgbClr val="2E7D7D"/>
          </a:solidFill>
          <a:ln w="12700">
            <a:solidFill>
              <a:srgbClr val="2E7D7D"/>
            </a:solidFill>
            <a:prstDash val="solid"/>
          </a:ln>
        </p:spPr>
      </p:sp>
      <p:sp>
        <p:nvSpPr>
          <p:cNvPr id="16" name="Text"/>
          <p:cNvSpPr txBox="1"/>
          <p:nvPr/>
        </p:nvSpPr>
        <p:spPr>
          <a:xfrm>
            <a:off x="8359445"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p:cNvSpPr txBox="1"/>
          <p:nvPr/>
        </p:nvSpPr>
        <p:spPr>
          <a:xfrm>
            <a:off x="8359445" y="2798064"/>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Recupera lo más cercano</a:t>
            </a:r>
            <a:endParaRPr lang="en-US" sz="1600" dirty="0"/>
          </a:p>
        </p:txBody>
      </p:sp>
      <p:sp>
        <p:nvSpPr>
          <p:cNvPr id="18" name="Text"/>
          <p:cNvSpPr txBox="1"/>
          <p:nvPr/>
        </p:nvSpPr>
        <p:spPr>
          <a:xfrm>
            <a:off x="8359445" y="3455000"/>
            <a:ext cx="3027578" cy="1260000"/>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Tu pregunta también se vuelve coordenadas y la herramienta trae los fragmentos que caen más cerca. Solo con eso responde.</a:t>
            </a:r>
            <a:endParaRPr lang="en-US" sz="1300" dirty="0"/>
          </a:p>
        </p:txBody>
      </p:sp>
      <p:sp>
        <p:nvSpPr>
          <p:cNvPr id="19" name="Shape"/>
          <p:cNvSpPr/>
          <p:nvPr/>
        </p:nvSpPr>
        <p:spPr>
          <a:xfrm>
            <a:off x="566928" y="5700000"/>
            <a:ext cx="11057839" cy="594360"/>
          </a:xfrm>
          <a:prstGeom prst="roundRect">
            <a:avLst>
              <a:gd name="adj" fmla="val 8235"/>
            </a:avLst>
          </a:prstGeom>
          <a:solidFill>
            <a:srgbClr val="F7E4D8"/>
          </a:solidFill>
          <a:ln w="12700">
            <a:solidFill>
              <a:srgbClr val="F7E4D8"/>
            </a:solidFill>
            <a:prstDash val="solid"/>
          </a:ln>
        </p:spPr>
      </p:sp>
      <p:sp>
        <p:nvSpPr>
          <p:cNvPr id="20" name="Text"/>
          <p:cNvSpPr txBox="1"/>
          <p:nvPr/>
        </p:nvSpPr>
        <p:spPr>
          <a:xfrm>
            <a:off x="804672" y="5700000"/>
            <a:ext cx="10582351" cy="59436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Los equipos 4, 5 y 6 usaron RAG esta mañana: Perplexity, Elicit y Consensus buscan antes de escribir. El Copilot Chat del Instituto sí abre los archivos de tu OneDrive, pero no los elige por ti: en la práctica que sigue, quien decide cuáles lee eres tú.</a:t>
            </a:r>
            <a:endParaRPr lang="en-US" sz="1300" dirty="0"/>
          </a:p>
        </p:txBody>
      </p:sp>
      <p:sp>
        <p:nvSpPr>
          <p:cNvPr id="900" name="Fuente"/>
          <p:cNvSpPr txBox="1"/>
          <p:nvPr/>
        </p:nvSpPr>
        <p:spPr>
          <a:xfrm>
            <a:off x="566928" y="639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La idea es la misma del viernes, cuando agrupaste Registros_atencion_ciudadana_PARTICIPANTE.xlsx. Fuente: Lewis y otros (2020), arXiv:2005.11401.</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Adjuntar no es RAG">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Adjuntar no es lo mismo que RAG</a:t>
            </a:r>
            <a:endParaRPr lang="en-US" sz="3200" dirty="0"/>
          </a:p>
        </p:txBody>
      </p:sp>
      <p:sp>
        <p:nvSpPr>
          <p:cNvPr id="3" name="Text"/>
          <p:cNvSpPr txBox="1"/>
          <p:nvPr/>
        </p:nvSpPr>
        <p:spPr>
          <a:xfrm>
            <a:off x="566928" y="1230000"/>
            <a:ext cx="11057839" cy="42000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Hay dos maneras de que un modelo trabaje con tus documentos. Desde fuera se parecen, y fallan de forma distinta.</a:t>
            </a:r>
            <a:endParaRPr lang="en-US" sz="1500" dirty="0"/>
          </a:p>
        </p:txBody>
      </p:sp>
      <p:sp>
        <p:nvSpPr>
          <p:cNvPr id="4" name="Shape"/>
          <p:cNvSpPr/>
          <p:nvPr/>
        </p:nvSpPr>
        <p:spPr>
          <a:xfrm>
            <a:off x="566928" y="1850000"/>
            <a:ext cx="5378919" cy="3700000"/>
          </a:xfrm>
          <a:prstGeom prst="roundRect">
            <a:avLst>
              <a:gd name="adj" fmla="val 2933"/>
            </a:avLst>
          </a:prstGeom>
          <a:solidFill>
            <a:srgbClr val="F2F5F6"/>
          </a:solidFill>
          <a:ln w="12700">
            <a:solidFill>
              <a:srgbClr val="F2F5F6"/>
            </a:solidFill>
            <a:prstDash val="solid"/>
          </a:ln>
        </p:spPr>
      </p:sp>
      <p:sp>
        <p:nvSpPr>
          <p:cNvPr id="5" name="Text"/>
          <p:cNvSpPr txBox="1"/>
          <p:nvPr/>
        </p:nvSpPr>
        <p:spPr>
          <a:xfrm>
            <a:off x="804672" y="2040000"/>
            <a:ext cx="4903431" cy="22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EL ESCRITORIO</a:t>
            </a:r>
            <a:endParaRPr lang="en-US" sz="1100" dirty="0"/>
          </a:p>
        </p:txBody>
      </p:sp>
      <p:sp>
        <p:nvSpPr>
          <p:cNvPr id="6" name="Shape"/>
          <p:cNvSpPr/>
          <p:nvPr/>
        </p:nvSpPr>
        <p:spPr>
          <a:xfrm>
            <a:off x="804672" y="2430000"/>
            <a:ext cx="230000" cy="300000"/>
          </a:xfrm>
          <a:prstGeom prst="rect">
            <a:avLst/>
          </a:prstGeom>
          <a:solidFill>
            <a:srgbClr val="FFFFFF"/>
          </a:solidFill>
          <a:ln w="9525">
            <a:solidFill>
              <a:srgbClr val="16262E"/>
            </a:solidFill>
            <a:prstDash val="solid"/>
          </a:ln>
        </p:spPr>
      </p:sp>
      <p:sp>
        <p:nvSpPr>
          <p:cNvPr id="7" name="Shape"/>
          <p:cNvSpPr/>
          <p:nvPr/>
        </p:nvSpPr>
        <p:spPr>
          <a:xfrm>
            <a:off x="1094672" y="2430000"/>
            <a:ext cx="230000" cy="300000"/>
          </a:xfrm>
          <a:prstGeom prst="rect">
            <a:avLst/>
          </a:prstGeom>
          <a:solidFill>
            <a:srgbClr val="FFFFFF"/>
          </a:solidFill>
          <a:ln w="9525">
            <a:solidFill>
              <a:srgbClr val="16262E"/>
            </a:solidFill>
            <a:prstDash val="solid"/>
          </a:ln>
        </p:spPr>
      </p:sp>
      <p:sp>
        <p:nvSpPr>
          <p:cNvPr id="8" name="Shape"/>
          <p:cNvSpPr/>
          <p:nvPr/>
        </p:nvSpPr>
        <p:spPr>
          <a:xfrm>
            <a:off x="1384672" y="2430000"/>
            <a:ext cx="230000" cy="300000"/>
          </a:xfrm>
          <a:prstGeom prst="rect">
            <a:avLst/>
          </a:prstGeom>
          <a:solidFill>
            <a:srgbClr val="FFFFFF"/>
          </a:solidFill>
          <a:ln w="9525">
            <a:solidFill>
              <a:srgbClr val="16262E"/>
            </a:solidFill>
            <a:prstDash val="solid"/>
          </a:ln>
        </p:spPr>
      </p:sp>
      <p:sp>
        <p:nvSpPr>
          <p:cNvPr id="9" name="Shape"/>
          <p:cNvSpPr/>
          <p:nvPr/>
        </p:nvSpPr>
        <p:spPr>
          <a:xfrm>
            <a:off x="1714672" y="2460000"/>
            <a:ext cx="280000" cy="240000"/>
          </a:xfrm>
          <a:prstGeom prst="rightArrow">
            <a:avLst/>
          </a:prstGeom>
          <a:solidFill>
            <a:srgbClr val="2E7D7D"/>
          </a:solidFill>
          <a:ln w="12700">
            <a:solidFill>
              <a:srgbClr val="2E7D7D"/>
            </a:solidFill>
            <a:prstDash val="solid"/>
          </a:ln>
        </p:spPr>
      </p:sp>
      <p:sp>
        <p:nvSpPr>
          <p:cNvPr id="10" name="Shape"/>
          <p:cNvSpPr/>
          <p:nvPr/>
        </p:nvSpPr>
        <p:spPr>
          <a:xfrm>
            <a:off x="2074672" y="2370000"/>
            <a:ext cx="1900000" cy="420000"/>
          </a:xfrm>
          <a:prstGeom prst="roundRect">
            <a:avLst>
              <a:gd name="adj" fmla="val 30000"/>
            </a:avLst>
          </a:prstGeom>
          <a:solidFill>
            <a:srgbClr val="2E7D7D"/>
          </a:solidFill>
          <a:ln w="12700">
            <a:solidFill>
              <a:srgbClr val="2E7D7D"/>
            </a:solidFill>
            <a:prstDash val="solid"/>
          </a:ln>
        </p:spPr>
      </p:sp>
      <p:sp>
        <p:nvSpPr>
          <p:cNvPr id="11" name="Text"/>
          <p:cNvSpPr txBox="1"/>
          <p:nvPr/>
        </p:nvSpPr>
        <p:spPr>
          <a:xfrm>
            <a:off x="2074672" y="2370000"/>
            <a:ext cx="1900000" cy="4200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ventana de contexto</a:t>
            </a:r>
            <a:endParaRPr lang="en-US" sz="1050" dirty="0"/>
          </a:p>
        </p:txBody>
      </p:sp>
      <p:sp>
        <p:nvSpPr>
          <p:cNvPr id="12" name="Shape"/>
          <p:cNvSpPr/>
          <p:nvPr/>
        </p:nvSpPr>
        <p:spPr>
          <a:xfrm>
            <a:off x="4054672" y="2460000"/>
            <a:ext cx="280000" cy="240000"/>
          </a:xfrm>
          <a:prstGeom prst="rightArrow">
            <a:avLst/>
          </a:prstGeom>
          <a:solidFill>
            <a:srgbClr val="2E7D7D"/>
          </a:solidFill>
          <a:ln w="12700">
            <a:solidFill>
              <a:srgbClr val="2E7D7D"/>
            </a:solidFill>
            <a:prstDash val="solid"/>
          </a:ln>
        </p:spPr>
      </p:sp>
      <p:sp>
        <p:nvSpPr>
          <p:cNvPr id="13" name="Shape"/>
          <p:cNvSpPr/>
          <p:nvPr/>
        </p:nvSpPr>
        <p:spPr>
          <a:xfrm>
            <a:off x="4414672" y="2370000"/>
            <a:ext cx="1150000" cy="420000"/>
          </a:xfrm>
          <a:prstGeom prst="roundRect">
            <a:avLst>
              <a:gd name="adj" fmla="val 30000"/>
            </a:avLst>
          </a:prstGeom>
          <a:solidFill>
            <a:srgbClr val="16262E"/>
          </a:solidFill>
          <a:ln w="12700">
            <a:solidFill>
              <a:srgbClr val="16262E"/>
            </a:solidFill>
            <a:prstDash val="solid"/>
          </a:ln>
        </p:spPr>
      </p:sp>
      <p:sp>
        <p:nvSpPr>
          <p:cNvPr id="14" name="Text"/>
          <p:cNvSpPr txBox="1"/>
          <p:nvPr/>
        </p:nvSpPr>
        <p:spPr>
          <a:xfrm>
            <a:off x="4414672" y="2370000"/>
            <a:ext cx="1150000" cy="4200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respuesta</a:t>
            </a:r>
            <a:endParaRPr lang="en-US" sz="1050" dirty="0"/>
          </a:p>
        </p:txBody>
      </p:sp>
      <p:sp>
        <p:nvSpPr>
          <p:cNvPr id="15" name="Text"/>
          <p:cNvSpPr txBox="1"/>
          <p:nvPr/>
        </p:nvSpPr>
        <p:spPr>
          <a:xfrm>
            <a:off x="804672" y="2980000"/>
            <a:ext cx="4903431" cy="3300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Ventana de contexto: todo sobre la mesa</a:t>
            </a:r>
            <a:endParaRPr lang="en-US" sz="1600" dirty="0"/>
          </a:p>
        </p:txBody>
      </p:sp>
      <p:sp>
        <p:nvSpPr>
          <p:cNvPr id="16" name="Text"/>
          <p:cNvSpPr txBox="1"/>
          <p:nvPr/>
        </p:nvSpPr>
        <p:spPr>
          <a:xfrm>
            <a:off x="804672" y="3410000"/>
            <a:ext cx="4903431" cy="2000000"/>
          </a:xfrm>
          <a:prstGeom prst="rect">
            <a:avLst/>
          </a:prstGeom>
          <a:noFill/>
          <a:ln/>
        </p:spPr>
        <p:txBody>
          <a:bodyPr wrap="square" lIns="0" tIns="0" rIns="0" bIns="0" rtlCol="0" anchor="t"/>
          <a:lstStyle/>
          <a:p>
            <a:pPr indent="0" marL="0">
              <a:lnSpc>
                <a:spcPct val="108000"/>
              </a:lnSpc>
              <a:spcAft>
                <a:spcPts val="650"/>
              </a:spcAft>
              <a:buNone/>
            </a:pPr>
            <a:r>
              <a:rPr lang="en-US" sz="1300" dirty="0">
                <a:solidFill>
                  <a:srgbClr val="16262E"/>
                </a:solidFill>
                <a:latin typeface="Calibri" pitchFamily="34" charset="0"/>
                <a:ea typeface="Calibri" pitchFamily="34" charset="-122"/>
                <a:cs typeface="Calibri" pitchFamily="34" charset="-120"/>
              </a:rPr>
              <a:t>Tú eliges qué entra. El modelo lee lo que le pusiste enfrente y nada más.</a:t>
            </a:r>
            <a:endParaRPr lang="en-US" sz="1300" dirty="0"/>
          </a:p>
          <a:p>
            <a:pPr indent="0" marL="0">
              <a:lnSpc>
                <a:spcPct val="108000"/>
              </a:lnSpc>
              <a:spcAft>
                <a:spcPts val="650"/>
              </a:spcAft>
              <a:buNone/>
            </a:pPr>
            <a:r>
              <a:rPr lang="en-US" sz="1300" dirty="0">
                <a:solidFill>
                  <a:srgbClr val="16262E"/>
                </a:solidFill>
                <a:latin typeface="Calibri" pitchFamily="34" charset="0"/>
                <a:ea typeface="Calibri" pitchFamily="34" charset="-122"/>
                <a:cs typeface="Calibri" pitchFamily="34" charset="-120"/>
              </a:rPr>
              <a:t>Cada pregunta vuelve a procesar todo lo que está en la mesa: a más páginas, más costo y más espera.</a:t>
            </a:r>
            <a:endParaRPr lang="en-US" sz="1300" dirty="0"/>
          </a:p>
          <a:p>
            <a:pPr indent="0" marL="0">
              <a:lnSpc>
                <a:spcPct val="108000"/>
              </a:lnSpc>
              <a:spcAft>
                <a:spcPts val="650"/>
              </a:spcAft>
              <a:buNone/>
            </a:pPr>
            <a:r>
              <a:rPr lang="en-US" sz="1300" dirty="0">
                <a:solidFill>
                  <a:srgbClr val="16262E"/>
                </a:solidFill>
                <a:latin typeface="Calibri" pitchFamily="34" charset="0"/>
                <a:ea typeface="Calibri" pitchFamily="34" charset="-122"/>
                <a:cs typeface="Calibri" pitchFamily="34" charset="-120"/>
              </a:rPr>
              <a:t>Falla por saturación. Entre más texto hay en la mesa, peor aprovecha cada parte, sobre todo lo que queda en medio, y no te avisa.</a:t>
            </a:r>
            <a:endParaRPr lang="en-US" sz="1300" dirty="0"/>
          </a:p>
        </p:txBody>
      </p:sp>
      <p:sp>
        <p:nvSpPr>
          <p:cNvPr id="17" name="Shape"/>
          <p:cNvSpPr/>
          <p:nvPr/>
        </p:nvSpPr>
        <p:spPr>
          <a:xfrm>
            <a:off x="6245847" y="1850000"/>
            <a:ext cx="5378919" cy="3700000"/>
          </a:xfrm>
          <a:prstGeom prst="roundRect">
            <a:avLst>
              <a:gd name="adj" fmla="val 2933"/>
            </a:avLst>
          </a:prstGeom>
          <a:solidFill>
            <a:srgbClr val="F2F5F6"/>
          </a:solidFill>
          <a:ln w="12700">
            <a:solidFill>
              <a:srgbClr val="F2F5F6"/>
            </a:solidFill>
            <a:prstDash val="solid"/>
          </a:ln>
        </p:spPr>
      </p:sp>
      <p:sp>
        <p:nvSpPr>
          <p:cNvPr id="18" name="Text"/>
          <p:cNvSpPr txBox="1"/>
          <p:nvPr/>
        </p:nvSpPr>
        <p:spPr>
          <a:xfrm>
            <a:off x="6483591" y="2040000"/>
            <a:ext cx="4903431" cy="22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LA BIBLIOTECA CON BIBLIOTECARIO</a:t>
            </a:r>
            <a:endParaRPr lang="en-US" sz="1100" dirty="0"/>
          </a:p>
        </p:txBody>
      </p:sp>
      <p:sp>
        <p:nvSpPr>
          <p:cNvPr id="19" name="Shape"/>
          <p:cNvSpPr/>
          <p:nvPr/>
        </p:nvSpPr>
        <p:spPr>
          <a:xfrm>
            <a:off x="6483591" y="2370000"/>
            <a:ext cx="110000" cy="180000"/>
          </a:xfrm>
          <a:prstGeom prst="rect">
            <a:avLst/>
          </a:prstGeom>
          <a:solidFill>
            <a:srgbClr val="FFFFFF"/>
          </a:solidFill>
          <a:ln w="9525">
            <a:solidFill>
              <a:srgbClr val="16262E"/>
            </a:solidFill>
            <a:prstDash val="solid"/>
          </a:ln>
        </p:spPr>
      </p:sp>
      <p:sp>
        <p:nvSpPr>
          <p:cNvPr id="20" name="Shape"/>
          <p:cNvSpPr/>
          <p:nvPr/>
        </p:nvSpPr>
        <p:spPr>
          <a:xfrm>
            <a:off x="6633591" y="2370000"/>
            <a:ext cx="110000" cy="180000"/>
          </a:xfrm>
          <a:prstGeom prst="rect">
            <a:avLst/>
          </a:prstGeom>
          <a:solidFill>
            <a:srgbClr val="FFFFFF"/>
          </a:solidFill>
          <a:ln w="9525">
            <a:solidFill>
              <a:srgbClr val="16262E"/>
            </a:solidFill>
            <a:prstDash val="solid"/>
          </a:ln>
        </p:spPr>
      </p:sp>
      <p:sp>
        <p:nvSpPr>
          <p:cNvPr id="21" name="Shape"/>
          <p:cNvSpPr/>
          <p:nvPr/>
        </p:nvSpPr>
        <p:spPr>
          <a:xfrm>
            <a:off x="6783591" y="2370000"/>
            <a:ext cx="110000" cy="180000"/>
          </a:xfrm>
          <a:prstGeom prst="rect">
            <a:avLst/>
          </a:prstGeom>
          <a:solidFill>
            <a:srgbClr val="FFFFFF"/>
          </a:solidFill>
          <a:ln w="9525">
            <a:solidFill>
              <a:srgbClr val="16262E"/>
            </a:solidFill>
            <a:prstDash val="solid"/>
          </a:ln>
        </p:spPr>
      </p:sp>
      <p:sp>
        <p:nvSpPr>
          <p:cNvPr id="22" name="Shape"/>
          <p:cNvSpPr/>
          <p:nvPr/>
        </p:nvSpPr>
        <p:spPr>
          <a:xfrm>
            <a:off x="6933591" y="2370000"/>
            <a:ext cx="110000" cy="180000"/>
          </a:xfrm>
          <a:prstGeom prst="rect">
            <a:avLst/>
          </a:prstGeom>
          <a:solidFill>
            <a:srgbClr val="FFFFFF"/>
          </a:solidFill>
          <a:ln w="9525">
            <a:solidFill>
              <a:srgbClr val="16262E"/>
            </a:solidFill>
            <a:prstDash val="solid"/>
          </a:ln>
        </p:spPr>
      </p:sp>
      <p:sp>
        <p:nvSpPr>
          <p:cNvPr id="23" name="Shape"/>
          <p:cNvSpPr/>
          <p:nvPr/>
        </p:nvSpPr>
        <p:spPr>
          <a:xfrm>
            <a:off x="7083591" y="2370000"/>
            <a:ext cx="110000" cy="180000"/>
          </a:xfrm>
          <a:prstGeom prst="rect">
            <a:avLst/>
          </a:prstGeom>
          <a:solidFill>
            <a:srgbClr val="FFFFFF"/>
          </a:solidFill>
          <a:ln w="9525">
            <a:solidFill>
              <a:srgbClr val="16262E"/>
            </a:solidFill>
            <a:prstDash val="solid"/>
          </a:ln>
        </p:spPr>
      </p:sp>
      <p:sp>
        <p:nvSpPr>
          <p:cNvPr id="24" name="Shape"/>
          <p:cNvSpPr/>
          <p:nvPr/>
        </p:nvSpPr>
        <p:spPr>
          <a:xfrm>
            <a:off x="7233591" y="2370000"/>
            <a:ext cx="110000" cy="180000"/>
          </a:xfrm>
          <a:prstGeom prst="rect">
            <a:avLst/>
          </a:prstGeom>
          <a:solidFill>
            <a:srgbClr val="FFFFFF"/>
          </a:solidFill>
          <a:ln w="9525">
            <a:solidFill>
              <a:srgbClr val="16262E"/>
            </a:solidFill>
            <a:prstDash val="solid"/>
          </a:ln>
        </p:spPr>
      </p:sp>
      <p:sp>
        <p:nvSpPr>
          <p:cNvPr id="25" name="Shape"/>
          <p:cNvSpPr/>
          <p:nvPr/>
        </p:nvSpPr>
        <p:spPr>
          <a:xfrm>
            <a:off x="6483591" y="2585000"/>
            <a:ext cx="110000" cy="180000"/>
          </a:xfrm>
          <a:prstGeom prst="rect">
            <a:avLst/>
          </a:prstGeom>
          <a:solidFill>
            <a:srgbClr val="FFFFFF"/>
          </a:solidFill>
          <a:ln w="9525">
            <a:solidFill>
              <a:srgbClr val="16262E"/>
            </a:solidFill>
            <a:prstDash val="solid"/>
          </a:ln>
        </p:spPr>
      </p:sp>
      <p:sp>
        <p:nvSpPr>
          <p:cNvPr id="26" name="Shape"/>
          <p:cNvSpPr/>
          <p:nvPr/>
        </p:nvSpPr>
        <p:spPr>
          <a:xfrm>
            <a:off x="6633591" y="2585000"/>
            <a:ext cx="110000" cy="180000"/>
          </a:xfrm>
          <a:prstGeom prst="rect">
            <a:avLst/>
          </a:prstGeom>
          <a:solidFill>
            <a:srgbClr val="FFFFFF"/>
          </a:solidFill>
          <a:ln w="9525">
            <a:solidFill>
              <a:srgbClr val="16262E"/>
            </a:solidFill>
            <a:prstDash val="solid"/>
          </a:ln>
        </p:spPr>
      </p:sp>
      <p:sp>
        <p:nvSpPr>
          <p:cNvPr id="27" name="Shape"/>
          <p:cNvSpPr/>
          <p:nvPr/>
        </p:nvSpPr>
        <p:spPr>
          <a:xfrm>
            <a:off x="6783591" y="2585000"/>
            <a:ext cx="110000" cy="180000"/>
          </a:xfrm>
          <a:prstGeom prst="rect">
            <a:avLst/>
          </a:prstGeom>
          <a:solidFill>
            <a:srgbClr val="FFFFFF"/>
          </a:solidFill>
          <a:ln w="9525">
            <a:solidFill>
              <a:srgbClr val="16262E"/>
            </a:solidFill>
            <a:prstDash val="solid"/>
          </a:ln>
        </p:spPr>
      </p:sp>
      <p:sp>
        <p:nvSpPr>
          <p:cNvPr id="28" name="Shape"/>
          <p:cNvSpPr/>
          <p:nvPr/>
        </p:nvSpPr>
        <p:spPr>
          <a:xfrm>
            <a:off x="6933591" y="2585000"/>
            <a:ext cx="110000" cy="180000"/>
          </a:xfrm>
          <a:prstGeom prst="rect">
            <a:avLst/>
          </a:prstGeom>
          <a:solidFill>
            <a:srgbClr val="FFFFFF"/>
          </a:solidFill>
          <a:ln w="9525">
            <a:solidFill>
              <a:srgbClr val="16262E"/>
            </a:solidFill>
            <a:prstDash val="solid"/>
          </a:ln>
        </p:spPr>
      </p:sp>
      <p:sp>
        <p:nvSpPr>
          <p:cNvPr id="29" name="Shape"/>
          <p:cNvSpPr/>
          <p:nvPr/>
        </p:nvSpPr>
        <p:spPr>
          <a:xfrm>
            <a:off x="7083591" y="2585000"/>
            <a:ext cx="110000" cy="180000"/>
          </a:xfrm>
          <a:prstGeom prst="rect">
            <a:avLst/>
          </a:prstGeom>
          <a:solidFill>
            <a:srgbClr val="FFFFFF"/>
          </a:solidFill>
          <a:ln w="9525">
            <a:solidFill>
              <a:srgbClr val="16262E"/>
            </a:solidFill>
            <a:prstDash val="solid"/>
          </a:ln>
        </p:spPr>
      </p:sp>
      <p:sp>
        <p:nvSpPr>
          <p:cNvPr id="30" name="Shape"/>
          <p:cNvSpPr/>
          <p:nvPr/>
        </p:nvSpPr>
        <p:spPr>
          <a:xfrm>
            <a:off x="7233591" y="2585000"/>
            <a:ext cx="110000" cy="180000"/>
          </a:xfrm>
          <a:prstGeom prst="rect">
            <a:avLst/>
          </a:prstGeom>
          <a:solidFill>
            <a:srgbClr val="FFFFFF"/>
          </a:solidFill>
          <a:ln w="9525">
            <a:solidFill>
              <a:srgbClr val="16262E"/>
            </a:solidFill>
            <a:prstDash val="solid"/>
          </a:ln>
        </p:spPr>
      </p:sp>
      <p:sp>
        <p:nvSpPr>
          <p:cNvPr id="31" name="Shape"/>
          <p:cNvSpPr/>
          <p:nvPr/>
        </p:nvSpPr>
        <p:spPr>
          <a:xfrm>
            <a:off x="7403591" y="2460000"/>
            <a:ext cx="240000" cy="240000"/>
          </a:xfrm>
          <a:prstGeom prst="rightArrow">
            <a:avLst/>
          </a:prstGeom>
          <a:solidFill>
            <a:srgbClr val="2E7D7D"/>
          </a:solidFill>
          <a:ln w="12700">
            <a:solidFill>
              <a:srgbClr val="2E7D7D"/>
            </a:solidFill>
            <a:prstDash val="solid"/>
          </a:ln>
        </p:spPr>
      </p:sp>
      <p:sp>
        <p:nvSpPr>
          <p:cNvPr id="32" name="Shape"/>
          <p:cNvSpPr/>
          <p:nvPr/>
        </p:nvSpPr>
        <p:spPr>
          <a:xfrm>
            <a:off x="7703591" y="2370000"/>
            <a:ext cx="950000" cy="420000"/>
          </a:xfrm>
          <a:prstGeom prst="roundRect">
            <a:avLst>
              <a:gd name="adj" fmla="val 30000"/>
            </a:avLst>
          </a:prstGeom>
          <a:solidFill>
            <a:srgbClr val="2E7D7D"/>
          </a:solidFill>
          <a:ln w="12700">
            <a:solidFill>
              <a:srgbClr val="2E7D7D"/>
            </a:solidFill>
            <a:prstDash val="solid"/>
          </a:ln>
        </p:spPr>
      </p:sp>
      <p:sp>
        <p:nvSpPr>
          <p:cNvPr id="33" name="Text"/>
          <p:cNvSpPr txBox="1"/>
          <p:nvPr/>
        </p:nvSpPr>
        <p:spPr>
          <a:xfrm>
            <a:off x="7703591" y="2370000"/>
            <a:ext cx="950000" cy="4200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buscador</a:t>
            </a:r>
            <a:endParaRPr lang="en-US" sz="1050" dirty="0"/>
          </a:p>
        </p:txBody>
      </p:sp>
      <p:sp>
        <p:nvSpPr>
          <p:cNvPr id="34" name="Shape"/>
          <p:cNvSpPr/>
          <p:nvPr/>
        </p:nvSpPr>
        <p:spPr>
          <a:xfrm>
            <a:off x="8713591" y="2460000"/>
            <a:ext cx="240000" cy="240000"/>
          </a:xfrm>
          <a:prstGeom prst="rightArrow">
            <a:avLst/>
          </a:prstGeom>
          <a:solidFill>
            <a:srgbClr val="2E7D7D"/>
          </a:solidFill>
          <a:ln w="12700">
            <a:solidFill>
              <a:srgbClr val="2E7D7D"/>
            </a:solidFill>
            <a:prstDash val="solid"/>
          </a:ln>
        </p:spPr>
      </p:sp>
      <p:sp>
        <p:nvSpPr>
          <p:cNvPr id="35" name="Shape"/>
          <p:cNvSpPr/>
          <p:nvPr/>
        </p:nvSpPr>
        <p:spPr>
          <a:xfrm>
            <a:off x="9013591" y="2430000"/>
            <a:ext cx="230000" cy="300000"/>
          </a:xfrm>
          <a:prstGeom prst="rect">
            <a:avLst/>
          </a:prstGeom>
          <a:solidFill>
            <a:srgbClr val="F7E4D8"/>
          </a:solidFill>
          <a:ln w="9525">
            <a:solidFill>
              <a:srgbClr val="C85A28"/>
            </a:solidFill>
            <a:prstDash val="solid"/>
          </a:ln>
        </p:spPr>
      </p:sp>
      <p:sp>
        <p:nvSpPr>
          <p:cNvPr id="36" name="Shape"/>
          <p:cNvSpPr/>
          <p:nvPr/>
        </p:nvSpPr>
        <p:spPr>
          <a:xfrm>
            <a:off x="9293591" y="2430000"/>
            <a:ext cx="230000" cy="300000"/>
          </a:xfrm>
          <a:prstGeom prst="rect">
            <a:avLst/>
          </a:prstGeom>
          <a:solidFill>
            <a:srgbClr val="F7E4D8"/>
          </a:solidFill>
          <a:ln w="9525">
            <a:solidFill>
              <a:srgbClr val="C85A28"/>
            </a:solidFill>
            <a:prstDash val="solid"/>
          </a:ln>
        </p:spPr>
      </p:sp>
      <p:sp>
        <p:nvSpPr>
          <p:cNvPr id="37" name="Shape"/>
          <p:cNvSpPr/>
          <p:nvPr/>
        </p:nvSpPr>
        <p:spPr>
          <a:xfrm>
            <a:off x="9583591" y="2460000"/>
            <a:ext cx="240000" cy="240000"/>
          </a:xfrm>
          <a:prstGeom prst="rightArrow">
            <a:avLst/>
          </a:prstGeom>
          <a:solidFill>
            <a:srgbClr val="2E7D7D"/>
          </a:solidFill>
          <a:ln w="12700">
            <a:solidFill>
              <a:srgbClr val="2E7D7D"/>
            </a:solidFill>
            <a:prstDash val="solid"/>
          </a:ln>
        </p:spPr>
      </p:sp>
      <p:sp>
        <p:nvSpPr>
          <p:cNvPr id="38" name="Shape"/>
          <p:cNvSpPr/>
          <p:nvPr/>
        </p:nvSpPr>
        <p:spPr>
          <a:xfrm>
            <a:off x="9883591" y="2370000"/>
            <a:ext cx="1000000" cy="420000"/>
          </a:xfrm>
          <a:prstGeom prst="roundRect">
            <a:avLst>
              <a:gd name="adj" fmla="val 30000"/>
            </a:avLst>
          </a:prstGeom>
          <a:solidFill>
            <a:srgbClr val="16262E"/>
          </a:solidFill>
          <a:ln w="12700">
            <a:solidFill>
              <a:srgbClr val="16262E"/>
            </a:solidFill>
            <a:prstDash val="solid"/>
          </a:ln>
        </p:spPr>
      </p:sp>
      <p:sp>
        <p:nvSpPr>
          <p:cNvPr id="39" name="Text"/>
          <p:cNvSpPr txBox="1"/>
          <p:nvPr/>
        </p:nvSpPr>
        <p:spPr>
          <a:xfrm>
            <a:off x="9883591" y="2370000"/>
            <a:ext cx="1000000" cy="4200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respuesta</a:t>
            </a:r>
            <a:endParaRPr lang="en-US" sz="1050" dirty="0"/>
          </a:p>
        </p:txBody>
      </p:sp>
      <p:sp>
        <p:nvSpPr>
          <p:cNvPr id="40" name="Text"/>
          <p:cNvSpPr txBox="1"/>
          <p:nvPr/>
        </p:nvSpPr>
        <p:spPr>
          <a:xfrm>
            <a:off x="6483591" y="2980000"/>
            <a:ext cx="4903431" cy="3300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RAG: un buscador elige por ti</a:t>
            </a:r>
            <a:endParaRPr lang="en-US" sz="1600" dirty="0"/>
          </a:p>
        </p:txBody>
      </p:sp>
      <p:sp>
        <p:nvSpPr>
          <p:cNvPr id="41" name="Text"/>
          <p:cNvSpPr txBox="1"/>
          <p:nvPr/>
        </p:nvSpPr>
        <p:spPr>
          <a:xfrm>
            <a:off x="6483591" y="3410000"/>
            <a:ext cx="4903431" cy="2000000"/>
          </a:xfrm>
          <a:prstGeom prst="rect">
            <a:avLst/>
          </a:prstGeom>
          <a:noFill/>
          <a:ln/>
        </p:spPr>
        <p:txBody>
          <a:bodyPr wrap="square" lIns="0" tIns="0" rIns="0" bIns="0" rtlCol="0" anchor="t"/>
          <a:lstStyle/>
          <a:p>
            <a:pPr indent="0" marL="0">
              <a:lnSpc>
                <a:spcPct val="108000"/>
              </a:lnSpc>
              <a:spcAft>
                <a:spcPts val="650"/>
              </a:spcAft>
              <a:buNone/>
            </a:pPr>
            <a:r>
              <a:rPr lang="en-US" sz="1300" dirty="0">
                <a:solidFill>
                  <a:srgbClr val="16262E"/>
                </a:solidFill>
                <a:latin typeface="Calibri" pitchFamily="34" charset="0"/>
                <a:ea typeface="Calibri" pitchFamily="34" charset="-122"/>
                <a:cs typeface="Calibri" pitchFamily="34" charset="-120"/>
              </a:rPr>
              <a:t>Los documentos se indexan una vez. Al preguntar, un buscador trae los fragmentos más cercanos y el modelo responde solo con esos.</a:t>
            </a:r>
            <a:endParaRPr lang="en-US" sz="1300" dirty="0"/>
          </a:p>
          <a:p>
            <a:pPr indent="0" marL="0">
              <a:lnSpc>
                <a:spcPct val="108000"/>
              </a:lnSpc>
              <a:spcAft>
                <a:spcPts val="650"/>
              </a:spcAft>
              <a:buNone/>
            </a:pPr>
            <a:r>
              <a:rPr lang="en-US" sz="1300" dirty="0">
                <a:solidFill>
                  <a:srgbClr val="16262E"/>
                </a:solidFill>
                <a:latin typeface="Calibri" pitchFamily="34" charset="0"/>
                <a:ea typeface="Calibri" pitchFamily="34" charset="-122"/>
                <a:cs typeface="Calibri" pitchFamily="34" charset="-120"/>
              </a:rPr>
              <a:t>Armar y mantener el índice cuesta; después, cada consulta es barata aunque el acervo sea enorme.</a:t>
            </a:r>
            <a:endParaRPr lang="en-US" sz="1300" dirty="0"/>
          </a:p>
          <a:p>
            <a:pPr indent="0" marL="0">
              <a:lnSpc>
                <a:spcPct val="108000"/>
              </a:lnSpc>
              <a:spcAft>
                <a:spcPts val="650"/>
              </a:spcAft>
              <a:buNone/>
            </a:pPr>
            <a:r>
              <a:rPr lang="en-US" sz="1300" dirty="0">
                <a:solidFill>
                  <a:srgbClr val="16262E"/>
                </a:solidFill>
                <a:latin typeface="Calibri" pitchFamily="34" charset="0"/>
                <a:ea typeface="Calibri" pitchFamily="34" charset="-122"/>
                <a:cs typeface="Calibri" pitchFamily="34" charset="-120"/>
              </a:rPr>
              <a:t>Falla por omisión. Si el buscador no trae el fragmento correcto, el modelo responde sin él y con el mismo aplomo.</a:t>
            </a:r>
            <a:endParaRPr lang="en-US" sz="1300" dirty="0"/>
          </a:p>
        </p:txBody>
      </p:sp>
      <p:sp>
        <p:nvSpPr>
          <p:cNvPr id="42" name="Shape"/>
          <p:cNvSpPr/>
          <p:nvPr/>
        </p:nvSpPr>
        <p:spPr>
          <a:xfrm>
            <a:off x="566928" y="5700000"/>
            <a:ext cx="11057839" cy="594360"/>
          </a:xfrm>
          <a:prstGeom prst="roundRect">
            <a:avLst>
              <a:gd name="adj" fmla="val 8235"/>
            </a:avLst>
          </a:prstGeom>
          <a:solidFill>
            <a:srgbClr val="F7E4D8"/>
          </a:solidFill>
          <a:ln w="12700">
            <a:solidFill>
              <a:srgbClr val="F7E4D8"/>
            </a:solidFill>
            <a:prstDash val="solid"/>
          </a:ln>
        </p:spPr>
      </p:sp>
      <p:sp>
        <p:nvSpPr>
          <p:cNvPr id="43" name="Text"/>
          <p:cNvSpPr txBox="1"/>
          <p:nvPr/>
        </p:nvSpPr>
        <p:spPr>
          <a:xfrm>
            <a:off x="804672" y="5700000"/>
            <a:ext cx="10582351" cy="59436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Desde fuera no siempre sabes cuál te tocó: ChatGPT, con archivos largos, pasa del escritorio a la biblioteca sin avisarte. Como las dos fallan calladas, la regla es la misma: pide la cita y ve al párrafo.</a:t>
            </a:r>
            <a:endParaRPr lang="en-US" sz="1300" dirty="0"/>
          </a:p>
        </p:txBody>
      </p:sp>
      <p:sp>
        <p:nvSpPr>
          <p:cNvPr id="44" name="Text"/>
          <p:cNvSpPr txBox="1"/>
          <p:nvPr/>
        </p:nvSpPr>
        <p:spPr>
          <a:xfrm>
            <a:off x="566928" y="636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Fuentes: Lewis y otros (2020), arXiv:2005.11401 · Liu y otros (2024), arXiv:2307.03172 · OpenAI, «Optimizing File Uploads in ChatGPT Enterprise». Ligas en el anexo de la sesión.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Curso de Inteligencia Artificial Aplicada</dc:creator>
  <cp:lastModifiedBy>Curso de Inteligencia Artificial Aplicada</cp:lastModifiedBy>
  <cp:revision>1</cp:revision>
  <dcterms:created xsi:type="dcterms:W3CDTF">2026-09-14T00:37:05Z</dcterms:created>
  <dcterms:modified xsi:type="dcterms:W3CDTF">2026-09-14T00:37:05Z</dcterms:modified>
</cp:coreProperties>
</file>