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2011680"/>
            <a:ext cx="5852160" cy="5852160"/>
          </a:xfrm>
          <a:prstGeom prst="ellipse">
            <a:avLst/>
          </a:prstGeom>
          <a:solidFill>
            <a:srgbClr val="24404E"/>
          </a:solidFill>
          <a:ln w="12700">
            <a:solidFill>
              <a:srgbClr val="2440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4206240"/>
            <a:ext cx="4206240" cy="4206240"/>
          </a:xfrm>
          <a:prstGeom prst="ellipse">
            <a:avLst/>
          </a:prstGeom>
          <a:solidFill>
            <a:srgbClr val="24404E"/>
          </a:solidFill>
          <a:ln w="12700">
            <a:solidFill>
              <a:srgbClr val="24404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417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7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II. ANÁLISIS CUALITATIVO ASISTIDO POR IA Y PLN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8745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8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5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56032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Plataformas especializadas en análisis cualitativo con IA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66928" y="4480560"/>
            <a:ext cx="5120640" cy="54864"/>
          </a:xfrm>
          <a:prstGeom prst="roundRect">
            <a:avLst>
              <a:gd name="adj" fmla="val 50000"/>
            </a:avLst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47091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Lunes 21 de septiembre de 2026, 9:00 a 11:30 horas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1206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Inteligencia Artificial Aplicada. INEGI 2026. Sesión de ecosistema.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92290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vamos a usar los 150 minutos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485071" y="457200"/>
            <a:ext cx="2139696" cy="347472"/>
          </a:xfrm>
          <a:prstGeom prst="roundRect">
            <a:avLst>
              <a:gd name="adj" fmla="val 5000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485071" y="457200"/>
            <a:ext cx="21396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 a 11:30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1408176"/>
            <a:ext cx="5364328" cy="1081278"/>
          </a:xfrm>
          <a:prstGeom prst="roundRect">
            <a:avLst>
              <a:gd name="adj" fmla="val 592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1408176"/>
            <a:ext cx="1371600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9:00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1463040"/>
            <a:ext cx="351724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del ecosistema, organizado por tarea y no por marca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635758"/>
            <a:ext cx="5364328" cy="1081278"/>
          </a:xfrm>
          <a:prstGeom prst="roundRect">
            <a:avLst>
              <a:gd name="adj" fmla="val 592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2635758"/>
            <a:ext cx="1371600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9:15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2690622"/>
            <a:ext cx="351724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reparto por equipos y el protocolo de prueba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3863340"/>
            <a:ext cx="5364328" cy="1081278"/>
          </a:xfrm>
          <a:prstGeom prst="roundRect">
            <a:avLst>
              <a:gd name="adj" fmla="val 592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6384" y="3863340"/>
            <a:ext cx="1371600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9:25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3918204"/>
            <a:ext cx="351724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Práctica: la misma pregunta, la herramienta asignada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5090922"/>
            <a:ext cx="5364328" cy="1081278"/>
          </a:xfrm>
          <a:prstGeom prst="roundRect">
            <a:avLst>
              <a:gd name="adj" fmla="val 5920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6384" y="5090922"/>
            <a:ext cx="1371600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10:10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194560" y="5145786"/>
            <a:ext cx="351724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Receso de diez minutos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0440" y="1408176"/>
            <a:ext cx="5364328" cy="1081278"/>
          </a:xfrm>
          <a:prstGeom prst="roundRect">
            <a:avLst>
              <a:gd name="adj" fmla="val 592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79896" y="1408176"/>
            <a:ext cx="1371600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10:20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888072" y="1463040"/>
            <a:ext cx="351724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Puesta en común: cinco minutos por equipo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60440" y="2635758"/>
            <a:ext cx="5364328" cy="1081278"/>
          </a:xfrm>
          <a:prstGeom prst="roundRect">
            <a:avLst>
              <a:gd name="adj" fmla="val 592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79896" y="2635758"/>
            <a:ext cx="1371600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10:55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888072" y="2690622"/>
            <a:ext cx="351724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del software cualitativo especializado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260440" y="3863340"/>
            <a:ext cx="5364328" cy="1081278"/>
          </a:xfrm>
          <a:prstGeom prst="roundRect">
            <a:avLst>
              <a:gd name="adj" fmla="val 592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79896" y="3863340"/>
            <a:ext cx="1371600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11:10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888072" y="3918204"/>
            <a:ext cx="351724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armar un ambiente de trabajo con lo que ya tenemos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260440" y="5090922"/>
            <a:ext cx="5364328" cy="1081278"/>
          </a:xfrm>
          <a:prstGeom prst="roundRect">
            <a:avLst>
              <a:gd name="adj" fmla="val 592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79896" y="5090922"/>
            <a:ext cx="1371600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11:25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888072" y="5145786"/>
            <a:ext cx="351724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y consolidación del cuadro comparativo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63276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Instituto liberó acceso a ocho herramientas. Hoy las evaluamos entre todos y consolidamos un solo cuadro.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463040"/>
            <a:ext cx="4023360" cy="4023360"/>
          </a:xfrm>
          <a:prstGeom prst="ellipse">
            <a:avLst/>
          </a:prstGeom>
          <a:solidFill>
            <a:srgbClr val="24404E"/>
          </a:solidFill>
          <a:ln w="12700">
            <a:solidFill>
              <a:srgbClr val="2440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13716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85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ESTÁ ORGANIZADA ESTA SESIÓN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932688" y="1828800"/>
            <a:ext cx="10241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tarea, no por marca. Es la única forma de que el mapa siga siendo útil dentro de seis meses.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932688" y="43434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D7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marcas de hoy van a cambiar antes de que termine el año. Lo que no va a cambiar son las tareas. Si ustedes saben qué tarea tienen enfrente, van a poder evaluar cualquier herramienta que salga después de este curso, incluidas las que todavía no existen.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92290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herramientas liberadas, agrupadas por tarea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80160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Instituto habilitó el acceso de red a todas estas. Microsoft 365 Copilot sigue siendo la base institucional y la única con contrato.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2011680"/>
            <a:ext cx="2558720" cy="2074418"/>
          </a:xfrm>
          <a:prstGeom prst="roundRect">
            <a:avLst>
              <a:gd name="adj" fmla="val 3526"/>
            </a:avLst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2249424"/>
            <a:ext cx="208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institucional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724912"/>
            <a:ext cx="2083232" cy="1123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Copilot.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única cubierta por contrato del Instituto y la única donde se puede trabajar con información amarilla.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99968" y="2011680"/>
            <a:ext cx="2558720" cy="2074418"/>
          </a:xfrm>
          <a:prstGeom prst="roundRect">
            <a:avLst>
              <a:gd name="adj" fmla="val 3526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37712" y="2249424"/>
            <a:ext cx="208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Asistentes generales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637712" y="2724912"/>
            <a:ext cx="2083232" cy="1123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Claude y Gemini.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Sirven para verificación cruzada y para tareas donde el volumen de texto supera lo que Copilot maneja cómodamente.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33008" y="2011680"/>
            <a:ext cx="2558720" cy="2074418"/>
          </a:xfrm>
          <a:prstGeom prst="roundRect">
            <a:avLst>
              <a:gd name="adj" fmla="val 3526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70752" y="2249424"/>
            <a:ext cx="208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Búsqueda con fuentes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70752" y="2724912"/>
            <a:ext cx="2083232" cy="1123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y You.com.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Devuelven respuestas con las ligas de donde salió cada afirmación, que es lo que un chat general no hace.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66047" y="2011680"/>
            <a:ext cx="2558720" cy="2074418"/>
          </a:xfrm>
          <a:prstGeom prst="roundRect">
            <a:avLst>
              <a:gd name="adj" fmla="val 3526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03791" y="2249424"/>
            <a:ext cx="208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Literatura académica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303791" y="2724912"/>
            <a:ext cx="2083232" cy="1123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Elicit y Consensus.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Buscan sobre bases de artículos revisados por pares. Las referencias que devuelven existen y se pueden abrir.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63276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operan con plan gratuito, sin suscripción institucional. Eso las deja en nivel verde del semáforo: solo información pública.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31720"/>
            <a:ext cx="1371600" cy="1371600"/>
          </a:xfrm>
          <a:prstGeom prst="ellipse">
            <a:avLst/>
          </a:prstGeom>
          <a:solidFill>
            <a:srgbClr val="C85A28"/>
          </a:solidFill>
          <a:ln w="12700">
            <a:solidFill>
              <a:srgbClr val="C85A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3317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2487168" y="23317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7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VAMOS A TRABAJAR HOY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487168" y="2697480"/>
            <a:ext cx="8961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Ocho herramientas, seis equipos, una sola pregunta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9631375" y="457200"/>
            <a:ext cx="1993392" cy="347472"/>
          </a:xfrm>
          <a:prstGeom prst="roundRect">
            <a:avLst>
              <a:gd name="adj" fmla="val 50000"/>
            </a:avLst>
          </a:prstGeom>
          <a:solidFill>
            <a:srgbClr val="24404E"/>
          </a:solidFill>
          <a:ln w="12700">
            <a:solidFill>
              <a:srgbClr val="24404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31375" y="45720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9:15 a 9:25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92290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reparto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80160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prueba las ocho. Cada equipo prueba a fondo la suya y todos prueban Copilot como punto de comparación.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01952"/>
          <a:ext cx="11057839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926080"/>
                <a:gridCol w="66751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Equipo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Herramienta asignada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tiene que averiguar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Cómo maneja documentos largos y qué tan confiables son sus referencias.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Hasta qué tamaño de documento aguanta sin partirlo y cómo cita lo que lee.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tan bien se integra con documentos y qué hace distinto de los otros dos.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Perplexity y You.com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las fuentes que devuelven existen y si son las que uno hubiera elegido.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Elicit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tan útil es para literatura de evaluación y qué le pide al usuario a cambio.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Consensus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qué se diferencia de Elicit y cuándo convendría cada una.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63276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5: activen la prueba de Elicit hoy y no antes. Son siete días y se acaban el 28 de septiembre.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92290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protocolo de prueba, igual para todos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80160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cada equipo prueba con una pregunta distinta, el cuadro comparativo no compara nada.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2011680"/>
            <a:ext cx="2558720" cy="2296160"/>
          </a:xfrm>
          <a:prstGeom prst="roundRect">
            <a:avLst>
              <a:gd name="adj" fmla="val 3186"/>
            </a:avLst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231136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231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798064"/>
            <a:ext cx="208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sola pregunta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273552"/>
            <a:ext cx="2083232" cy="79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acordamos entre todos ahora y todos los equipos usan exactamente la misma, con Copilot y con su herramienta asignada.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99968" y="2011680"/>
            <a:ext cx="2558720" cy="2296160"/>
          </a:xfrm>
          <a:prstGeom prst="roundRect">
            <a:avLst>
              <a:gd name="adj" fmla="val 3186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37712" y="2231136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37712" y="2231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37712" y="2798064"/>
            <a:ext cx="208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primero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37712" y="3273552"/>
            <a:ext cx="2083232" cy="79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Quince minutos. Es el punto de comparación de todos. Anoten qué les devolvió y cuánto tardaron.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33008" y="2011680"/>
            <a:ext cx="2558720" cy="2296160"/>
          </a:xfrm>
          <a:prstGeom prst="roundRect">
            <a:avLst>
              <a:gd name="adj" fmla="val 3186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70752" y="2231136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70752" y="2231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70752" y="2798064"/>
            <a:ext cx="208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herramienta después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70752" y="3273552"/>
            <a:ext cx="2083232" cy="79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Treinta minutos. La misma pregunta, el mismo insumo. Busquen la diferencia, no la repetición.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66047" y="2011680"/>
            <a:ext cx="2558720" cy="2296160"/>
          </a:xfrm>
          <a:prstGeom prst="roundRect">
            <a:avLst>
              <a:gd name="adj" fmla="val 3186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03791" y="2231136"/>
            <a:ext cx="420624" cy="420624"/>
          </a:xfrm>
          <a:prstGeom prst="ellipse">
            <a:avLst/>
          </a:prstGeom>
          <a:solidFill>
            <a:srgbClr val="C85A28"/>
          </a:solidFill>
          <a:ln w="12700">
            <a:solidFill>
              <a:srgbClr val="C85A2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303791" y="2231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303791" y="2798064"/>
            <a:ext cx="208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Verifiquen una fuente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303791" y="3273552"/>
            <a:ext cx="2083232" cy="79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cada herramienta, tomen una referencia que les haya dado y búsquenla. Anoten si existía.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7E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 USTEDES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704527" y="45720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C85A28"/>
          </a:solidFill>
          <a:ln w="12700">
            <a:solidFill>
              <a:srgbClr val="C85A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04527" y="457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minutos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78992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misma pregunta, dos herramientas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566928" y="1920240"/>
            <a:ext cx="11057839" cy="628650"/>
          </a:xfrm>
          <a:prstGeom prst="roundRect">
            <a:avLst>
              <a:gd name="adj" fmla="val 10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2024253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202425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408176" y="2011680"/>
            <a:ext cx="9960559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Quince minutos con Copilot sobre documentos institucionales de SharePoint. Este es el punto de comparación de todos los equipos.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66928" y="2731770"/>
            <a:ext cx="11057839" cy="628650"/>
          </a:xfrm>
          <a:prstGeom prst="roundRect">
            <a:avLst>
              <a:gd name="adj" fmla="val 10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" y="2835783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6384" y="283578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408176" y="2823210"/>
            <a:ext cx="9960559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Treinta minutos con su herramienta asignada, con la misma pregunta y el mismo insumo. Recuerden que estas operan con plan gratuito: solo información pública.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66928" y="3543300"/>
            <a:ext cx="11057839" cy="628650"/>
          </a:xfrm>
          <a:prstGeom prst="roundRect">
            <a:avLst>
              <a:gd name="adj" fmla="val 10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" y="3647313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6384" y="364731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08176" y="3634740"/>
            <a:ext cx="9960559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Verifiquen al menos una referencia de cada herramienta. Ese dato solo suele ser el hallazgo más útil del ejercicio.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66928" y="4354830"/>
            <a:ext cx="11057839" cy="628650"/>
          </a:xfrm>
          <a:prstGeom prst="roundRect">
            <a:avLst>
              <a:gd name="adj" fmla="val 10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4458843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6384" y="445884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08176" y="4446270"/>
            <a:ext cx="9960559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Llenen su renglón del cuadro comparativo. Preparen cinco minutos de presentación, no más.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66928" y="5193792"/>
            <a:ext cx="11057839" cy="777240"/>
          </a:xfrm>
          <a:prstGeom prst="roundRect">
            <a:avLst>
              <a:gd name="adj" fmla="val 8235"/>
            </a:avLst>
          </a:prstGeom>
          <a:solidFill>
            <a:srgbClr val="16262E"/>
          </a:solidFill>
          <a:ln w="12700">
            <a:solidFill>
              <a:srgbClr val="1626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1248" y="5193792"/>
            <a:ext cx="105091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Cuadro comparativo: Plantillas_tabulares_curso_IA.xlsx, hoja Cuadro comparativo.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31720"/>
            <a:ext cx="1371600" cy="1371600"/>
          </a:xfrm>
          <a:prstGeom prst="ellipse">
            <a:avLst/>
          </a:prstGeom>
          <a:solidFill>
            <a:srgbClr val="C85A28"/>
          </a:solidFill>
          <a:ln w="12700">
            <a:solidFill>
              <a:srgbClr val="C85A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3317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2487168" y="23317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7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PUESTA EN COMÚN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487168" y="2697480"/>
            <a:ext cx="8961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minutos por equipo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9338767" y="45720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24404E"/>
          </a:solidFill>
          <a:ln w="12700">
            <a:solidFill>
              <a:srgbClr val="24404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38767" y="457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10:20 a 10:55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92290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cinco minutos tienen que responder tres cosas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80160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una demostración de la herramienta. Es un dictamen sobre ella.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2011680"/>
            <a:ext cx="3503066" cy="2078228"/>
          </a:xfrm>
          <a:prstGeom prst="roundRect">
            <a:avLst>
              <a:gd name="adj" fmla="val 352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231136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231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798064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hace mejor que Copilot?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273552"/>
            <a:ext cx="3027578" cy="578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si la respuesta es nada relevante para nuestro trabajo, esa también es una conclusión válida y útil. Dígalo así.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4314" y="2011680"/>
            <a:ext cx="3503066" cy="2078228"/>
          </a:xfrm>
          <a:prstGeom prst="roundRect">
            <a:avLst>
              <a:gd name="adj" fmla="val 3520"/>
            </a:avLst>
          </a:prstGeom>
          <a:solidFill>
            <a:srgbClr val="F2F5F6"/>
          </a:solidFill>
          <a:ln w="12700">
            <a:solidFill>
              <a:srgbClr val="F2F5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82058" y="2231136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82058" y="2231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82058" y="2798064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le pide al usuario?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82058" y="3273552"/>
            <a:ext cx="3027578" cy="578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Cuenta, costo si se quisiera usar en serio, tiempo de aprendizaje, y qué información habría que darle.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21701" y="2011680"/>
            <a:ext cx="3503066" cy="2078228"/>
          </a:xfrm>
          <a:prstGeom prst="roundRect">
            <a:avLst>
              <a:gd name="adj" fmla="val 3520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59445" y="2231136"/>
            <a:ext cx="420624" cy="420624"/>
          </a:xfrm>
          <a:prstGeom prst="ellipse">
            <a:avLst/>
          </a:prstGeom>
          <a:solidFill>
            <a:srgbClr val="C85A28"/>
          </a:solidFill>
          <a:ln w="12700">
            <a:solidFill>
              <a:srgbClr val="C85A2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59445" y="2231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59445" y="2798064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¿Para qué tarea la recomendarían?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59445" y="3273552"/>
            <a:ext cx="3027578" cy="578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tarea concreta del trabajo de esta área. Si no encuentran ninguna, eso es lo que hay que reportar.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632764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terminar las seis presentaciones, el cuadro comparativo queda lleno con las ocho herramientas evaluadas por uso propio.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922903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queda fuera del alcance de red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80160"/>
            <a:ext cx="99605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A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herramientas que no se resuelven con permisos, porque requieren licencia de paga. Las veo en demostración.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2011680"/>
            <a:ext cx="5391760" cy="2074418"/>
          </a:xfrm>
          <a:prstGeom prst="roundRect">
            <a:avLst>
              <a:gd name="adj" fmla="val 3526"/>
            </a:avLst>
          </a:prstGeom>
          <a:solidFill>
            <a:srgbClr val="D7E7E7"/>
          </a:solidFill>
          <a:ln w="12700">
            <a:solidFill>
              <a:srgbClr val="D7E7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2249424"/>
            <a:ext cx="491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Atlas.ti y MAXQDA con IA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724912"/>
            <a:ext cx="4916272" cy="1123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el estándar en investigación cualitativa formal. Muestro la codificación asistida y el reporte de codificación, que es lo que pide una revisión metodológica seria.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alguna vez tienen que defender un análisis cualitativo ante un comité, esta es la diferencia.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33008" y="2011680"/>
            <a:ext cx="5391760" cy="2074418"/>
          </a:xfrm>
          <a:prstGeom prst="roundRect">
            <a:avLst>
              <a:gd name="adj" fmla="val 3526"/>
            </a:avLst>
          </a:prstGeom>
          <a:solidFill>
            <a:srgbClr val="F7E4D8"/>
          </a:solidFill>
          <a:ln w="12700">
            <a:solidFill>
              <a:srgbClr val="F7E4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70752" y="2249424"/>
            <a:ext cx="4916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NotebookLM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70752" y="2724912"/>
            <a:ext cx="4916272" cy="1123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Todavía no está liberada y vale la pena pedirla. Responde citando el párrafo exacto de cada documento fuente, que es justo lo que ustedes van a construir a mano mañana en la matriz de evidencia.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del mismo proveedor que Gemini, así que probablemente sea el mismo trámite.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31720"/>
            <a:ext cx="1371600" cy="1371600"/>
          </a:xfrm>
          <a:prstGeom prst="ellipse">
            <a:avLst/>
          </a:prstGeom>
          <a:solidFill>
            <a:srgbClr val="C85A28"/>
          </a:solidFill>
          <a:ln w="12700">
            <a:solidFill>
              <a:srgbClr val="C85A2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3317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2487168" y="233172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7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RESPUESTA PRÁCTICA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487168" y="2697480"/>
            <a:ext cx="8961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Armar un ambiente con lo que ya tenemos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9338767" y="457200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24404E"/>
          </a:solidFill>
          <a:ln w="12700">
            <a:solidFill>
              <a:srgbClr val="24404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38767" y="457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11:10 a 11:25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7E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4572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 USTEDES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704527" y="45720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C85A28"/>
          </a:solidFill>
          <a:ln w="12700">
            <a:solidFill>
              <a:srgbClr val="C85A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04527" y="457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minutos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078992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SharePoint más Copilot anclado a una carpeta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566928" y="1920240"/>
            <a:ext cx="11057839" cy="628650"/>
          </a:xfrm>
          <a:prstGeom prst="roundRect">
            <a:avLst>
              <a:gd name="adj" fmla="val 10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2024253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202425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408176" y="2011680"/>
            <a:ext cx="9960559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Organicen una carpeta de SharePoint como base documental del tema que trabajan. Una carpeta por asunto, no una por año.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66928" y="2731770"/>
            <a:ext cx="11057839" cy="628650"/>
          </a:xfrm>
          <a:prstGeom prst="roundRect">
            <a:avLst>
              <a:gd name="adj" fmla="val 10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" y="2835783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6384" y="283578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408176" y="2823210"/>
            <a:ext cx="9960559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Nombren los archivos de manera que el nombre diga qué contiene. Copilot busca por nombre antes que por contenido.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66928" y="3543300"/>
            <a:ext cx="11057839" cy="628650"/>
          </a:xfrm>
          <a:prstGeom prst="roundRect">
            <a:avLst>
              <a:gd name="adj" fmla="val 10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" y="3647313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6384" y="364731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08176" y="3634740"/>
            <a:ext cx="9960559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Formulen la pregunta señalando la carpeta expresamente. Sin eso, Copilot busca en todo su espacio y devuelve ruido.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66928" y="4354830"/>
            <a:ext cx="11057839" cy="628650"/>
          </a:xfrm>
          <a:prstGeom prst="roundRect">
            <a:avLst>
              <a:gd name="adj" fmla="val 10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4458843"/>
            <a:ext cx="420624" cy="420624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6384" y="4458843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08176" y="4446270"/>
            <a:ext cx="9960559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6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Comparen contra lo que les dio la misma pregunta sin anclar. La diferencia suele ser grande.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66928" y="5193792"/>
            <a:ext cx="11057839" cy="777240"/>
          </a:xfrm>
          <a:prstGeom prst="roundRect">
            <a:avLst>
              <a:gd name="adj" fmla="val 8235"/>
            </a:avLst>
          </a:prstGeom>
          <a:solidFill>
            <a:srgbClr val="16262E"/>
          </a:solidFill>
          <a:ln w="12700">
            <a:solidFill>
              <a:srgbClr val="1626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1248" y="5193792"/>
            <a:ext cx="1050919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es lo único que funciona hoy con información amarilla. Todo lo demás que vieron hoy es solo para información pública.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37360" y="3931920"/>
            <a:ext cx="4754880" cy="4754880"/>
          </a:xfrm>
          <a:prstGeom prst="ellipse">
            <a:avLst/>
          </a:prstGeom>
          <a:solidFill>
            <a:srgbClr val="24404E"/>
          </a:solidFill>
          <a:ln w="12700">
            <a:solidFill>
              <a:srgbClr val="2440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6858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85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SALIR DE HOY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972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 de la sesión 5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11057839" cy="857250"/>
          </a:xfrm>
          <a:prstGeom prst="roundRect">
            <a:avLst>
              <a:gd name="adj" fmla="val 7467"/>
            </a:avLst>
          </a:prstGeom>
          <a:solidFill>
            <a:srgbClr val="24404E"/>
          </a:solidFill>
          <a:ln w="12700">
            <a:solidFill>
              <a:srgbClr val="24404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239137"/>
            <a:ext cx="402336" cy="402336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23913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26464" y="2084832"/>
            <a:ext cx="9960559" cy="710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cuadro comparativo consolidado, con las ocho herramientas y las columnas de juicio propio de todos los equipos.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3051810"/>
            <a:ext cx="11057839" cy="857250"/>
          </a:xfrm>
          <a:prstGeom prst="roundRect">
            <a:avLst>
              <a:gd name="adj" fmla="val 7467"/>
            </a:avLst>
          </a:prstGeom>
          <a:solidFill>
            <a:srgbClr val="24404E"/>
          </a:solidFill>
          <a:ln w="12700">
            <a:solidFill>
              <a:srgbClr val="24404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3279267"/>
            <a:ext cx="402336" cy="402336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327926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426464" y="3124962"/>
            <a:ext cx="9960559" cy="710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justificación escrita de una cuartilla por equipo sobre cuál herramienta valdría la pena contratar o solicitar, con costo estimado.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66928" y="4091940"/>
            <a:ext cx="11057839" cy="857250"/>
          </a:xfrm>
          <a:prstGeom prst="roundRect">
            <a:avLst>
              <a:gd name="adj" fmla="val 7467"/>
            </a:avLst>
          </a:prstGeom>
          <a:solidFill>
            <a:srgbClr val="24404E"/>
          </a:solidFill>
          <a:ln w="12700">
            <a:solidFill>
              <a:srgbClr val="24404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" y="4319397"/>
            <a:ext cx="402336" cy="402336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672" y="431939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426464" y="4165092"/>
            <a:ext cx="9960559" cy="710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cuartilla no es un ejercicio de curso. Es el borrador de una solicitud real que su área puede presentar.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66928" y="5132070"/>
            <a:ext cx="11057839" cy="857250"/>
          </a:xfrm>
          <a:prstGeom prst="roundRect">
            <a:avLst>
              <a:gd name="adj" fmla="val 7467"/>
            </a:avLst>
          </a:prstGeom>
          <a:solidFill>
            <a:srgbClr val="24404E"/>
          </a:solidFill>
          <a:ln w="12700">
            <a:solidFill>
              <a:srgbClr val="24404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5359527"/>
            <a:ext cx="402336" cy="402336"/>
          </a:xfrm>
          <a:prstGeom prst="ellipse">
            <a:avLst/>
          </a:prstGeom>
          <a:solidFill>
            <a:srgbClr val="2E7D7D"/>
          </a:solidFill>
          <a:ln w="12700">
            <a:solidFill>
              <a:srgbClr val="2E7D7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535952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426464" y="5205222"/>
            <a:ext cx="9960559" cy="710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mañana: revisen su bitácora completa y lean su expediente del Laboratorio 2 si todavía no lo han hecho.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6172200"/>
            <a:ext cx="1105783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7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6, martes 22 de septiembre: laboratorio cualitativo aplicado y cierre del bloque.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Curso de Inteligencia Artificial Aplicada</dc:creator>
  <cp:lastModifiedBy>Curso de Inteligencia Artificial Aplicada</cp:lastModifiedBy>
  <cp:revision>1</cp:revision>
  <dcterms:created xsi:type="dcterms:W3CDTF">2026-09-12T04:42:40Z</dcterms:created>
  <dcterms:modified xsi:type="dcterms:W3CDTF">2026-09-12T04:42:40Z</dcterms:modified>
</cp:coreProperties>
</file>