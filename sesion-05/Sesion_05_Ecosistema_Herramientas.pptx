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Override PartName="/ppt/notesSlides/notesSlide19.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5"/>
    <p:sldId id="273" r:id="rId24"/>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se usa el mismo corpus del viernes y el libro de códigos que cada equipo ratificó. Ten listo Atlas.ti o MAXQDA con un proyecto ya codificado: es lo único que hay que preparar con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se cubren por demostración conforme a lo indicado por la coordinación del Instituto: las herramientas no disponibles desde la infraestructura institucional pueden abordarse mediante sesiones expositivas de los instructores.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de reloj. Mecánica: cada quien trabaja en su OneDrive institucional, con documentos de nivel verde o amarillo de su tema.</a:t>
            </a:r>
          </a:p>
          <a:p>
            <a:r>
              <a:rPr lang="en-US" dirty="0"/>
              <a:t>Minutos 0 a 3: crear o elegir una carpeta por asunto y renombrar tres o cuatro archivos para que el nombre diga qué contienen.</a:t>
            </a:r>
          </a:p>
          <a:p>
            <a:r>
              <a:rPr lang="en-US" dirty="0"/>
              <a:t>Minutos 3 a 8: en Copilot Chat, adjuntar desde OneDrive los archivos que responden una pregunta real de su trabajo, preguntar y pedir la cita del párrafo. Luego repetir la misma pregunta en un chat nuevo sin adjuntar nada.</a:t>
            </a:r>
          </a:p>
          <a:p>
            <a:r>
              <a:rPr lang="en-US" dirty="0"/>
              <a:t>Minutos 8 a 10: dos o tres personas cuentan la diferencia. Lo que debe salir: sin adjuntos responde de memoria y de la web; con adjuntos responde con tus documentos, pero solo con los que tú elegiste.</a:t>
            </a:r>
          </a:p>
          <a:p>
            <a:r>
              <a:rPr lang="en-US" dirty="0"/>
              <a:t>Por qué cambió esta práctica: el Instituto tiene Copilot Chat (Basic). Sin la licencia de paga no hay índice semántico ni búsqueda sobre todo OneDrive; el menú de archivos busca por nombre y actividad reciente solo para que tú elijas. Por eso los nombres descriptivos siguen importando.</a:t>
            </a:r>
          </a:p>
          <a:p>
            <a:r>
              <a:rPr lang="en-US" dirty="0"/>
              <a:t>Cada quien puede confirmar su etiqueta en m365.cloud.microsoft, al pie de la página de inicio, bajo su nombre.</a:t>
            </a:r>
          </a:p>
          <a:p>
            <a:r>
              <a:rPr lang="en-US" dirty="0"/>
              <a:t>Advertencia útil: con un documento muy largo no des por hecho que lo leyó completo. Pregunta por una sección intermedia o pártelo. Microsoft no publica un límite de archivos por conversación para Copilot Chat de trabajo; no cites cifras.</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Es la lámina del viernes aplicada a documentos: partir, convertir en coordenadas, recuperar lo más cercano.</a:t>
            </a:r>
          </a:p>
          <a:p>
            <a:r>
              <a:rPr lang="en-US" dirty="0"/>
              <a:t>Cierra con el dato del banner: los equipos 4, 5 y 6 ya usaron RAG esta mañana sin llamarlo así. Perplexity, Elicit y Consensus buscan antes de escribir; por eso traen citas.</a:t>
            </a:r>
          </a:p>
          <a:p>
            <a:r>
              <a:rPr lang="en-US" dirty="0"/>
              <a:t>Precisión para el grupo técnico: los sistemas reales casi nunca buscan solo por cercanía de significado. Combinan cercanía con coincidencia de palabras (búsqueda híbrida) y reordenan los resultados antes de entregarlos al modelo.</a:t>
            </a:r>
          </a:p>
          <a:p>
            <a:r>
              <a:rPr lang="en-US" dirty="0"/>
              <a:t>El puente a la práctica: en el Copilot Chat del Instituto no hay buscador sobre tu OneDrive. Microsoft reserva el índice semántico a la licencia de paga Microsoft 365 Copilot. Adjuntar o referenciar un archivo equivale a subirlo a la conversación.</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Es la única lámina de teoría del bloque; la profundidad va en el anexo y en la charla del receso.</a:t>
            </a:r>
          </a:p>
          <a:p>
            <a:r>
              <a:rPr lang="en-US" dirty="0"/>
              <a:t>Metáfora: adjuntar es poner los documentos sobre el escritorio; el modelo lee lo que tú pusiste. RAG es una biblioteca con bibliotecario: alguien indexó el acervo y un buscador trae los fragmentos que parecen pertinentes.</a:t>
            </a:r>
          </a:p>
          <a:p>
            <a:r>
              <a:rPr lang="en-US" dirty="0"/>
              <a:t>Para economistas: el escritorio no tiene costo fijo y su costo marginal crece con cada página que se procesa en cada pregunta. La biblioteca tiene costo fijo (armar y mantener el índice) y consultas baratas. Ninguna de las dos garantiza la respuesta.</a:t>
            </a:r>
          </a:p>
          <a:p>
            <a:r>
              <a:rPr lang="en-US" dirty="0"/>
              <a:t>Cómo falla cada una. Escritorio: Liu y otros («Lost in the Middle», TACL 2024) mostraron con modelos de 2023 que lo que queda en medio del contexto se aprovecha peor. Los modelos actuales lo mitigaron en búsquedas sencillas, pero su exactitud sigue bajando conforme crece el contexto (RULER, NoLiMa). Biblioteca: si el buscador no recupera el fragmento correcto, el modelo contesta sin él. Por eso es falso que el RAG «asegure» la respuesta exacta.</a:t>
            </a:r>
          </a:p>
          <a:p>
            <a:r>
              <a:rPr lang="en-US" dirty="0"/>
              <a:t>Dato para quien pregunte: ChatGPT no carga siempre el archivo completo. OpenAI documenta que en Enterprise pega en el contexto hasta cierto número de tokens y manda todo el texto a un índice privado del que recupera fragmentos. Es decir, hace RAG por dentro. No cites la cifra como fija: la página avisa que puede cambiar.</a:t>
            </a:r>
          </a:p>
          <a:p>
            <a:r>
              <a:rPr lang="en-US" dirty="0"/>
              <a:t>Si alguien técnico pide más (embeddings, búsqueda híbrida, reordenamiento, caché de prompts), remítelo al Anexo_Ventana_de_contexto_y_RAG.pptx. No abras ese frente aquí.</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5</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Plataformas de análisis cualitativo: codificar, medir postura y comparar contra Copilot</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Lunes 21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CC BY-NC-SA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1081278"/>
          </a:xfrm>
          <a:prstGeom prst="roundRect">
            <a:avLst>
              <a:gd name="adj" fmla="val 5920"/>
            </a:avLst>
          </a:prstGeom>
          <a:solidFill>
            <a:srgbClr val="F2F5F6"/>
          </a:solidFill>
          <a:ln w="12700">
            <a:solidFill>
              <a:srgbClr val="F2F5F6"/>
            </a:solidFill>
            <a:prstDash val="solid"/>
          </a:ln>
        </p:spPr>
      </p:sp>
      <p:sp>
        <p:nvSpPr>
          <p:cNvPr id="6" name="Text 4"/>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mapa del ecosistema, con las categorías del Instituto</a:t>
            </a:r>
            <a:endParaRPr lang="en-US" sz="1350" dirty="0"/>
          </a:p>
        </p:txBody>
      </p:sp>
      <p:sp>
        <p:nvSpPr>
          <p:cNvPr id="8" name="Shape 6"/>
          <p:cNvSpPr/>
          <p:nvPr/>
        </p:nvSpPr>
        <p:spPr>
          <a:xfrm>
            <a:off x="566928" y="2635758"/>
            <a:ext cx="5364328" cy="1081278"/>
          </a:xfrm>
          <a:prstGeom prst="roundRect">
            <a:avLst>
              <a:gd name="adj" fmla="val 5920"/>
            </a:avLst>
          </a:prstGeom>
          <a:solidFill>
            <a:srgbClr val="F2F5F6"/>
          </a:solidFill>
          <a:ln w="12700">
            <a:solidFill>
              <a:srgbClr val="F2F5F6"/>
            </a:solidFill>
            <a:prstDash val="solid"/>
          </a:ln>
        </p:spPr>
      </p:sp>
      <p:sp>
        <p:nvSpPr>
          <p:cNvPr id="9" name="Text 7"/>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9:15</a:t>
            </a:r>
            <a:endParaRPr lang="en-US" sz="1300" dirty="0"/>
          </a:p>
        </p:txBody>
      </p:sp>
      <p:sp>
        <p:nvSpPr>
          <p:cNvPr id="10" name="Text 8"/>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reparto por equipos y la tarea de hoy</a:t>
            </a:r>
            <a:endParaRPr lang="en-US" sz="1350" dirty="0"/>
          </a:p>
        </p:txBody>
      </p:sp>
      <p:sp>
        <p:nvSpPr>
          <p:cNvPr id="11" name="Shape 9"/>
          <p:cNvSpPr/>
          <p:nvPr/>
        </p:nvSpPr>
        <p:spPr>
          <a:xfrm>
            <a:off x="566928" y="3863340"/>
            <a:ext cx="5364328" cy="1081278"/>
          </a:xfrm>
          <a:prstGeom prst="roundRect">
            <a:avLst>
              <a:gd name="adj" fmla="val 5920"/>
            </a:avLst>
          </a:prstGeom>
          <a:solidFill>
            <a:srgbClr val="F2F5F6"/>
          </a:solidFill>
          <a:ln w="12700">
            <a:solidFill>
              <a:srgbClr val="F2F5F6"/>
            </a:solidFill>
            <a:prstDash val="solid"/>
          </a:ln>
        </p:spPr>
      </p:sp>
      <p:sp>
        <p:nvSpPr>
          <p:cNvPr id="12" name="Text 10"/>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9:25</a:t>
            </a:r>
            <a:endParaRPr lang="en-US" sz="1300" dirty="0"/>
          </a:p>
        </p:txBody>
      </p:sp>
      <p:sp>
        <p:nvSpPr>
          <p:cNvPr id="13" name="Text 11"/>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codifica y sustenta con tu herramienta asignada</a:t>
            </a:r>
            <a:endParaRPr lang="en-US" sz="1350" dirty="0"/>
          </a:p>
        </p:txBody>
      </p:sp>
      <p:sp>
        <p:nvSpPr>
          <p:cNvPr id="14" name="Shape 12"/>
          <p:cNvSpPr/>
          <p:nvPr/>
        </p:nvSpPr>
        <p:spPr>
          <a:xfrm>
            <a:off x="566928" y="5090922"/>
            <a:ext cx="5364328" cy="1081278"/>
          </a:xfrm>
          <a:prstGeom prst="roundRect">
            <a:avLst>
              <a:gd name="adj" fmla="val 5920"/>
            </a:avLst>
          </a:prstGeom>
          <a:solidFill>
            <a:srgbClr val="F7E4D8"/>
          </a:solidFill>
          <a:ln w="12700">
            <a:solidFill>
              <a:srgbClr val="F7E4D8"/>
            </a:solidFill>
            <a:prstDash val="solid"/>
          </a:ln>
        </p:spPr>
      </p:sp>
      <p:sp>
        <p:nvSpPr>
          <p:cNvPr id="15" name="Text 13"/>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10:10</a:t>
            </a:r>
            <a:endParaRPr lang="en-US" sz="1300" dirty="0"/>
          </a:p>
        </p:txBody>
      </p:sp>
      <p:sp>
        <p:nvSpPr>
          <p:cNvPr id="16" name="Text 14"/>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 con charla opcional: ventana de contexto y RAG</a:t>
            </a:r>
            <a:endParaRPr lang="en-US" sz="1350" dirty="0"/>
          </a:p>
        </p:txBody>
      </p:sp>
      <p:sp>
        <p:nvSpPr>
          <p:cNvPr id="17" name="Shape 15"/>
          <p:cNvSpPr/>
          <p:nvPr/>
        </p:nvSpPr>
        <p:spPr>
          <a:xfrm>
            <a:off x="6260440" y="1408176"/>
            <a:ext cx="5364328" cy="1081278"/>
          </a:xfrm>
          <a:prstGeom prst="roundRect">
            <a:avLst>
              <a:gd name="adj" fmla="val 5920"/>
            </a:avLst>
          </a:prstGeom>
          <a:solidFill>
            <a:srgbClr val="F2F5F6"/>
          </a:solidFill>
          <a:ln w="12700">
            <a:solidFill>
              <a:srgbClr val="F2F5F6"/>
            </a:solidFill>
            <a:prstDash val="solid"/>
          </a:ln>
        </p:spPr>
      </p:sp>
      <p:sp>
        <p:nvSpPr>
          <p:cNvPr id="18" name="Text 16"/>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10:20</a:t>
            </a:r>
            <a:endParaRPr lang="en-US" sz="1300" dirty="0"/>
          </a:p>
        </p:txBody>
      </p:sp>
      <p:sp>
        <p:nvSpPr>
          <p:cNvPr id="19" name="Text 17"/>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Puesta en común: cinco minutos por equipo</a:t>
            </a:r>
            <a:endParaRPr lang="en-US" sz="1350" dirty="0"/>
          </a:p>
        </p:txBody>
      </p:sp>
      <p:sp>
        <p:nvSpPr>
          <p:cNvPr id="20" name="Shape 18"/>
          <p:cNvSpPr/>
          <p:nvPr/>
        </p:nvSpPr>
        <p:spPr>
          <a:xfrm>
            <a:off x="6260440" y="2635758"/>
            <a:ext cx="5364328" cy="1081278"/>
          </a:xfrm>
          <a:prstGeom prst="roundRect">
            <a:avLst>
              <a:gd name="adj" fmla="val 5920"/>
            </a:avLst>
          </a:prstGeom>
          <a:solidFill>
            <a:srgbClr val="F2F5F6"/>
          </a:solidFill>
          <a:ln w="12700">
            <a:solidFill>
              <a:srgbClr val="F2F5F6"/>
            </a:solidFill>
            <a:prstDash val="solid"/>
          </a:ln>
        </p:spPr>
      </p:sp>
      <p:sp>
        <p:nvSpPr>
          <p:cNvPr id="21" name="Text 19"/>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10:50</a:t>
            </a:r>
            <a:endParaRPr lang="en-US" sz="1300" dirty="0"/>
          </a:p>
        </p:txBody>
      </p:sp>
      <p:sp>
        <p:nvSpPr>
          <p:cNvPr id="22" name="Text 20"/>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Demostración del software cualitativo especializado</a:t>
            </a:r>
            <a:endParaRPr lang="en-US" sz="1350" dirty="0"/>
          </a:p>
        </p:txBody>
      </p:sp>
      <p:sp>
        <p:nvSpPr>
          <p:cNvPr id="23" name="Shape 21"/>
          <p:cNvSpPr/>
          <p:nvPr/>
        </p:nvSpPr>
        <p:spPr>
          <a:xfrm>
            <a:off x="6260440" y="3863340"/>
            <a:ext cx="5364328" cy="1081278"/>
          </a:xfrm>
          <a:prstGeom prst="roundRect">
            <a:avLst>
              <a:gd name="adj" fmla="val 5920"/>
            </a:avLst>
          </a:prstGeom>
          <a:solidFill>
            <a:srgbClr val="F2F5F6"/>
          </a:solidFill>
          <a:ln w="12700">
            <a:solidFill>
              <a:srgbClr val="F2F5F6"/>
            </a:solidFill>
            <a:prstDash val="solid"/>
          </a:ln>
        </p:spPr>
      </p:sp>
      <p:sp>
        <p:nvSpPr>
          <p:cNvPr id="24" name="Text 22"/>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11:07</a:t>
            </a:r>
            <a:endParaRPr lang="en-US" sz="1300" dirty="0"/>
          </a:p>
        </p:txBody>
      </p:sp>
      <p:sp>
        <p:nvSpPr>
          <p:cNvPr id="25" name="Text 23"/>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RAG que sí puedes operar hoy</a:t>
            </a:r>
            <a:endParaRPr lang="en-US" sz="1350" dirty="0"/>
          </a:p>
        </p:txBody>
      </p:sp>
      <p:sp>
        <p:nvSpPr>
          <p:cNvPr id="26" name="Shape 24"/>
          <p:cNvSpPr/>
          <p:nvPr/>
        </p:nvSpPr>
        <p:spPr>
          <a:xfrm>
            <a:off x="6260440" y="5090922"/>
            <a:ext cx="5364328" cy="1081278"/>
          </a:xfrm>
          <a:prstGeom prst="roundRect">
            <a:avLst>
              <a:gd name="adj" fmla="val 5920"/>
            </a:avLst>
          </a:prstGeom>
          <a:solidFill>
            <a:srgbClr val="F2F5F6"/>
          </a:solidFill>
          <a:ln w="12700">
            <a:solidFill>
              <a:srgbClr val="F2F5F6"/>
            </a:solidFill>
            <a:prstDash val="solid"/>
          </a:ln>
        </p:spPr>
      </p:sp>
      <p:sp>
        <p:nvSpPr>
          <p:cNvPr id="27" name="Text 25"/>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26"/>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y cuadro comparativo</a:t>
            </a:r>
            <a:endParaRPr lang="en-US" sz="1350" dirty="0"/>
          </a:p>
        </p:txBody>
      </p:sp>
      <p:sp>
        <p:nvSpPr>
          <p:cNvPr id="29" name="Text 27"/>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Hoy no empiezas de cero. Trabajas sobre el corpus y el libro de códigos que ratificaste el viernes.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hoy tenemos que contestar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Tres preguntas que vienen del contrato del curso. Al cerrar la sesión las tres quedan respondidas con tu propio trabajo.</a:t>
            </a:r>
            <a:endParaRPr lang="en-US" sz="1500" dirty="0"/>
          </a:p>
        </p:txBody>
      </p:sp>
      <p:sp>
        <p:nvSpPr>
          <p:cNvPr id="4" name="Shape 2"/>
          <p:cNvSpPr/>
          <p:nvPr/>
        </p:nvSpPr>
        <p:spPr>
          <a:xfrm>
            <a:off x="566928" y="2011680"/>
            <a:ext cx="3503066" cy="2757932"/>
          </a:xfrm>
          <a:prstGeom prst="roundRect">
            <a:avLst>
              <a:gd name="adj" fmla="val 2652"/>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tan bien codifica cada herramienta?</a:t>
            </a:r>
            <a:endParaRPr lang="en-US" sz="1600" dirty="0"/>
          </a:p>
        </p:txBody>
      </p:sp>
      <p:sp>
        <p:nvSpPr>
          <p:cNvPr id="8" name="Text 6"/>
          <p:cNvSpPr txBox="1"/>
          <p:nvPr/>
        </p:nvSpPr>
        <p:spPr>
          <a:xfrm>
            <a:off x="804672"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Aplicar tu libro de códigos ratificado sobre el mismo corpus, con una herramienta distinta a Copilot.</a:t>
            </a:r>
            <a:endParaRPr lang="en-US" sz="1300" dirty="0"/>
          </a:p>
        </p:txBody>
      </p:sp>
      <p:sp>
        <p:nvSpPr>
          <p:cNvPr id="9" name="Shape 7"/>
          <p:cNvSpPr/>
          <p:nvPr/>
        </p:nvSpPr>
        <p:spPr>
          <a:xfrm>
            <a:off x="4344314" y="2011680"/>
            <a:ext cx="3503066" cy="2757932"/>
          </a:xfrm>
          <a:prstGeom prst="roundRect">
            <a:avLst>
              <a:gd name="adj" fmla="val 2652"/>
            </a:avLst>
          </a:prstGeom>
          <a:solidFill>
            <a:srgbClr val="D7E7E7"/>
          </a:solidFill>
          <a:ln w="12700">
            <a:solidFill>
              <a:srgbClr val="D7E7E7"/>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¿Y qué tan bien mide postura?</a:t>
            </a:r>
            <a:endParaRPr lang="en-US" sz="1600" dirty="0"/>
          </a:p>
        </p:txBody>
      </p:sp>
      <p:sp>
        <p:nvSpPr>
          <p:cNvPr id="13" name="Text 11"/>
          <p:cNvSpPr txBox="1"/>
          <p:nvPr/>
        </p:nvSpPr>
        <p:spPr>
          <a:xfrm>
            <a:off x="4582058" y="3263392"/>
            <a:ext cx="3027578" cy="130505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Clasificar polaridad y causa raíz sobre las transcripciones de foro, otra vez con tu herramienta asignada.</a:t>
            </a:r>
            <a:endParaRPr lang="en-US" sz="1300" dirty="0"/>
          </a:p>
        </p:txBody>
      </p:sp>
      <p:sp>
        <p:nvSpPr>
          <p:cNvPr id="14" name="Shape 12"/>
          <p:cNvSpPr/>
          <p:nvPr/>
        </p:nvSpPr>
        <p:spPr>
          <a:xfrm>
            <a:off x="8121701" y="2011680"/>
            <a:ext cx="3503066" cy="2757932"/>
          </a:xfrm>
          <a:prstGeom prst="roundRect">
            <a:avLst>
              <a:gd name="adj" fmla="val 2652"/>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¿En qué es mejor o peor que Copilot?</a:t>
            </a:r>
            <a:endParaRPr lang="en-US" sz="1600" dirty="0"/>
          </a:p>
        </p:txBody>
      </p:sp>
      <p:sp>
        <p:nvSpPr>
          <p:cNvPr id="18" name="Text 16"/>
          <p:cNvSpPr txBox="1"/>
          <p:nvPr/>
        </p:nvSpPr>
        <p:spPr>
          <a:xfrm>
            <a:off x="8359445"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Esa comparación es el entregable de hoy y es lo que el curso se comprometió a producir.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PRIMER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mapa del ecosistema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9:00 a 9:15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categorías son las del Instituto, no las mías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Vienen de la lista de verificación de acceso que elaboró el propio INEGI. Así queda claro qué cubre el curso de esa lista.</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2743200"/>
                <a:gridCol w="3931920"/>
                <a:gridCol w="4389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Abre desde la red</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Dónde se usa en el curso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Copilot, ChatGPT, Claude, 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Todo el curso. Hoy, para codificar.</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para sustentar hallazgos con fuentes.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 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para buscar literatura de evaluación.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Productividad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NotebookLM (hoy Gemini Notebook), bloqueada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Hoy, en demostración.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Código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Colab, Replit, GitHub Copilot, v0, Bolt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Módulos III y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Imagen, presentaciones y video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Firefly y Luma abren. Gamma no.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Módulo IV.</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De las 31 herramientas de la lista del Instituto, el curso usa 15 en ejercicio y cubre 4 más por demostración.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CÓMO LEER ESTE MAPA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Por tarea, no por marca. Es la única forma de que te siga sirviendo dentro de seis meses.</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Las marcas van a cambiar antes de que termine el año. Lo que no va a cambiar son las tareas. Si sabes qué tarea tienes enfrente, vas a poder evaluar cualquier herramienta que salga después de este curso.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SEGUNDO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reparto y la tarea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9:15 a 9:25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Cada equipo evalúa una herramienta a fondo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Nadie prueba las ocho. Todos hacen la misma tarea con Copilot como punto de comparación común.</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1188720"/>
                <a:gridCol w="2743200"/>
                <a:gridCol w="2286000"/>
                <a:gridCol w="48463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Equipo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Categoría del Instituto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Herramienta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Tarea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ChatGPT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Codificar el corpus con tu libro de códigos y clasificar postura.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Claude</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Asistentes generales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Gemini</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Búsqueda e investigación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Perplexity y You.com</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Sustentar un hallazgo del corpus con fuentes verificables.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Buscar literatura que sostenga o contradiga ese hallazgo.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457200">
                <a:tc>
                  <a:txBody>
                    <a:bodyPr/>
                    <a:lstStyle/>
                    <a:p>
                      <a:pPr algn="ctr" indent="0" marL="0">
                        <a:buNone/>
                      </a:pPr>
                      <a:r>
                        <a:rPr lang="en-US" sz="1250" b="1" dirty="0">
                          <a:solidFill>
                            <a:srgbClr val="16262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Investigación académica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Consensus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Lo mismo, y explicar en qué se diferencia de Elicit.</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Equipo 5: activa la prueba de Elicit hoy y no antes; son siete días y se vencen el 28. Equipo 4: la cuenta gratuita de You.com es hoy una prueba de 25 consultas; trabaja en Perplexity y usa You.com solo para contrastar.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dos mitades del mismo trabajo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son tareas distintas. Son los dos pasos de cualquier análisis cualitativo serio.</a:t>
            </a:r>
            <a:endParaRPr lang="en-US" sz="1500" dirty="0"/>
          </a:p>
        </p:txBody>
      </p:sp>
      <p:sp>
        <p:nvSpPr>
          <p:cNvPr id="4" name="Shape 2"/>
          <p:cNvSpPr/>
          <p:nvPr/>
        </p:nvSpPr>
        <p:spPr>
          <a:xfrm>
            <a:off x="566928" y="1810512"/>
            <a:ext cx="5364328" cy="3152394"/>
          </a:xfrm>
          <a:prstGeom prst="roundRect">
            <a:avLst>
              <a:gd name="adj" fmla="val 2321"/>
            </a:avLst>
          </a:prstGeom>
          <a:solidFill>
            <a:srgbClr val="D7E7E7"/>
          </a:solidFill>
          <a:ln w="12700">
            <a:solidFill>
              <a:srgbClr val="D7E7E7"/>
            </a:solidFill>
            <a:prstDash val="solid"/>
          </a:ln>
        </p:spPr>
      </p:sp>
      <p:sp>
        <p:nvSpPr>
          <p:cNvPr id="5" name="Shape 3"/>
          <p:cNvSpPr/>
          <p:nvPr/>
        </p:nvSpPr>
        <p:spPr>
          <a:xfrm>
            <a:off x="566928" y="1810512"/>
            <a:ext cx="5364328" cy="658368"/>
          </a:xfrm>
          <a:prstGeom prst="roundRect">
            <a:avLst>
              <a:gd name="adj" fmla="val 11111"/>
            </a:avLst>
          </a:prstGeom>
          <a:solidFill>
            <a:srgbClr val="2E7D7D"/>
          </a:solidFill>
          <a:ln w="12700">
            <a:solidFill>
              <a:srgbClr val="2E7D7D"/>
            </a:solidFill>
            <a:prstDash val="solid"/>
          </a:ln>
        </p:spPr>
      </p:sp>
      <p:sp>
        <p:nvSpPr>
          <p:cNvPr id="6" name="Shape 4"/>
          <p:cNvSpPr/>
          <p:nvPr/>
        </p:nvSpPr>
        <p:spPr>
          <a:xfrm>
            <a:off x="566928" y="2176272"/>
            <a:ext cx="5364328" cy="292608"/>
          </a:xfrm>
          <a:prstGeom prst="rect">
            <a:avLst/>
          </a:prstGeom>
          <a:solidFill>
            <a:srgbClr val="2E7D7D"/>
          </a:solidFill>
          <a:ln w="12700">
            <a:solidFill>
              <a:srgbClr val="2E7D7D"/>
            </a:solidFill>
            <a:prstDash val="solid"/>
          </a:ln>
        </p:spPr>
      </p:sp>
      <p:sp>
        <p:nvSpPr>
          <p:cNvPr id="7" name="Text 5"/>
          <p:cNvSpPr txBox="1"/>
          <p:nvPr/>
        </p:nvSpPr>
        <p:spPr>
          <a:xfrm>
            <a:off x="822960"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1 a 3: codificar</a:t>
            </a:r>
            <a:endParaRPr lang="en-US" sz="1700" dirty="0"/>
          </a:p>
        </p:txBody>
      </p:sp>
      <p:sp>
        <p:nvSpPr>
          <p:cNvPr id="8" name="Text 6"/>
          <p:cNvSpPr txBox="1"/>
          <p:nvPr/>
        </p:nvSpPr>
        <p:spPr>
          <a:xfrm>
            <a:off x="822960"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el corpus de 118 registros del viernes y su libro de códigos ya ratificado.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Lo aplican con su herramienta asignada, no con Copilot.</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Después clasifican postura y causa raíz sobre las transcripciones de foro.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registro por registro, contra lo que les dio Copilot el viernes.</a:t>
            </a:r>
            <a:endParaRPr lang="en-US" sz="1400" dirty="0"/>
          </a:p>
        </p:txBody>
      </p:sp>
      <p:sp>
        <p:nvSpPr>
          <p:cNvPr id="9" name="Shape 7"/>
          <p:cNvSpPr/>
          <p:nvPr/>
        </p:nvSpPr>
        <p:spPr>
          <a:xfrm>
            <a:off x="6260440" y="1810512"/>
            <a:ext cx="5364328" cy="3152394"/>
          </a:xfrm>
          <a:prstGeom prst="roundRect">
            <a:avLst>
              <a:gd name="adj" fmla="val 2321"/>
            </a:avLst>
          </a:prstGeom>
          <a:solidFill>
            <a:srgbClr val="F7E4D8"/>
          </a:solidFill>
          <a:ln w="12700">
            <a:solidFill>
              <a:srgbClr val="F7E4D8"/>
            </a:solidFill>
            <a:prstDash val="solid"/>
          </a:ln>
        </p:spPr>
      </p:sp>
      <p:sp>
        <p:nvSpPr>
          <p:cNvPr id="10" name="Shape 8"/>
          <p:cNvSpPr/>
          <p:nvPr/>
        </p:nvSpPr>
        <p:spPr>
          <a:xfrm>
            <a:off x="6260440" y="1810512"/>
            <a:ext cx="5364328" cy="658368"/>
          </a:xfrm>
          <a:prstGeom prst="roundRect">
            <a:avLst>
              <a:gd name="adj" fmla="val 11111"/>
            </a:avLst>
          </a:prstGeom>
          <a:solidFill>
            <a:srgbClr val="C85A28"/>
          </a:solidFill>
          <a:ln w="12700">
            <a:solidFill>
              <a:srgbClr val="C85A28"/>
            </a:solidFill>
            <a:prstDash val="solid"/>
          </a:ln>
        </p:spPr>
      </p:sp>
      <p:sp>
        <p:nvSpPr>
          <p:cNvPr id="11" name="Shape 9"/>
          <p:cNvSpPr/>
          <p:nvPr/>
        </p:nvSpPr>
        <p:spPr>
          <a:xfrm>
            <a:off x="6260440" y="2176272"/>
            <a:ext cx="5364328" cy="292608"/>
          </a:xfrm>
          <a:prstGeom prst="rect">
            <a:avLst/>
          </a:prstGeom>
          <a:solidFill>
            <a:srgbClr val="C85A28"/>
          </a:solidFill>
          <a:ln w="12700">
            <a:solidFill>
              <a:srgbClr val="C85A28"/>
            </a:solidFill>
            <a:prstDash val="solid"/>
          </a:ln>
        </p:spPr>
      </p:sp>
      <p:sp>
        <p:nvSpPr>
          <p:cNvPr id="12" name="Text 10"/>
          <p:cNvSpPr txBox="1"/>
          <p:nvPr/>
        </p:nvSpPr>
        <p:spPr>
          <a:xfrm>
            <a:off x="6516472"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Equipos 4 a 6: sustentar</a:t>
            </a:r>
            <a:endParaRPr lang="en-US" sz="1700" dirty="0"/>
          </a:p>
        </p:txBody>
      </p:sp>
      <p:sp>
        <p:nvSpPr>
          <p:cNvPr id="13" name="Text 11"/>
          <p:cNvSpPr txBox="1"/>
          <p:nvPr/>
        </p:nvSpPr>
        <p:spPr>
          <a:xfrm>
            <a:off x="6516472" y="2679192"/>
            <a:ext cx="4852264" cy="205511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Toman un hallazgo que salió de la codificación del viernes.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Buscan si la evidencia lo sostiene o lo contradice, con su herramienta asignada.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Verifican que las referencias que les dio existan de verdad. Ese dato solo suele ser el hallazgo del día.</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Y comparan contra lo que da Copilot con la misma pregunta.</a:t>
            </a:r>
            <a:endParaRPr lang="en-US" sz="1400" dirty="0"/>
          </a:p>
        </p:txBody>
      </p:sp>
      <p:sp>
        <p:nvSpPr>
          <p:cNvPr id="14" name="Text 1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Codificar sin sustentar produce categorías bonitas que nadie puede defender. Sustentar sin codificar produce citas sueltas.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herramienta contra Copilot, sobre el mismo material</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Quince minutos con Copilot Chat. Es el punto de comparación de todos los equipos. Si ya lo hiciste el viernes, revisa y anota lo que te dio.</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Veinticinco minutos con tu herramienta asignada. Misma tarea, mismo corpus, mismo libro de códigos.</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Busca la diferencia, no la repetición. Si tu herramienta dio lo mismo que Copilot, eso también es un hallazgo y hay que reportarlo.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Cinco minutos para llenar tu renglón del cuadro comparativo y preparar cinco minutos de presentación.</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Corpus: Registros_atencion_ciudadana_PARTICIPANTE.xlsx y Transcripciones_foro_PARTICIPANTE.docx, en sesion-04. Cuadro: Plantillas_tabulares_curso_IA.xlsx, hoja Cuadro comparativo.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PUESTA EN COMÚN</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Cinco minutos por equipo</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10:20 a 10:50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Tu presentación responde cuatro cosas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No es una demostración de la herramienta. Es un dictamen sobre ella.</a:t>
            </a:r>
            <a:endParaRPr lang="en-US" sz="1500" dirty="0"/>
          </a:p>
        </p:txBody>
      </p:sp>
      <p:sp>
        <p:nvSpPr>
          <p:cNvPr id="4" name="Shape 2"/>
          <p:cNvSpPr/>
          <p:nvPr/>
        </p:nvSpPr>
        <p:spPr>
          <a:xfrm>
            <a:off x="566928" y="2011680"/>
            <a:ext cx="2558720" cy="2989072"/>
          </a:xfrm>
          <a:prstGeom prst="roundRect">
            <a:avLst>
              <a:gd name="adj" fmla="val 2859"/>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mejor que Copilot?</a:t>
            </a:r>
            <a:endParaRPr lang="en-US" sz="1600" dirty="0"/>
          </a:p>
        </p:txBody>
      </p:sp>
      <p:sp>
        <p:nvSpPr>
          <p:cNvPr id="8" name="Text 6"/>
          <p:cNvSpPr txBox="1"/>
          <p:nvPr/>
        </p:nvSpPr>
        <p:spPr>
          <a:xfrm>
            <a:off x="80467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Y si la respuesta es nada relevante para nuestro trabajo, esa también es una conclusión válida. Dilo así.</a:t>
            </a:r>
            <a:endParaRPr lang="en-US" sz="1300" dirty="0"/>
          </a:p>
        </p:txBody>
      </p:sp>
      <p:sp>
        <p:nvSpPr>
          <p:cNvPr id="9" name="Shape 7"/>
          <p:cNvSpPr/>
          <p:nvPr/>
        </p:nvSpPr>
        <p:spPr>
          <a:xfrm>
            <a:off x="3399968" y="2011680"/>
            <a:ext cx="2558720" cy="2989072"/>
          </a:xfrm>
          <a:prstGeom prst="roundRect">
            <a:avLst>
              <a:gd name="adj" fmla="val 2859"/>
            </a:avLst>
          </a:prstGeom>
          <a:solidFill>
            <a:srgbClr val="F2F5F6"/>
          </a:solidFill>
          <a:ln w="12700">
            <a:solidFill>
              <a:srgbClr val="F2F5F6"/>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63771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peor?</a:t>
            </a:r>
            <a:endParaRPr lang="en-US" sz="1600" dirty="0"/>
          </a:p>
        </p:txBody>
      </p:sp>
      <p:sp>
        <p:nvSpPr>
          <p:cNvPr id="13" name="Text 11"/>
          <p:cNvSpPr txBox="1"/>
          <p:nvPr/>
        </p:nvSpPr>
        <p:spPr>
          <a:xfrm>
            <a:off x="3637712" y="3263392"/>
            <a:ext cx="2083232" cy="15361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Categorías que fundió, minorías que perdió, referencias que inventó. Sé específico.</a:t>
            </a:r>
            <a:endParaRPr lang="en-US" sz="1300" dirty="0"/>
          </a:p>
        </p:txBody>
      </p:sp>
      <p:sp>
        <p:nvSpPr>
          <p:cNvPr id="14" name="Shape 12"/>
          <p:cNvSpPr/>
          <p:nvPr/>
        </p:nvSpPr>
        <p:spPr>
          <a:xfrm>
            <a:off x="6233008" y="2011680"/>
            <a:ext cx="2558720" cy="2989072"/>
          </a:xfrm>
          <a:prstGeom prst="roundRect">
            <a:avLst>
              <a:gd name="adj" fmla="val 2859"/>
            </a:avLst>
          </a:prstGeom>
          <a:solidFill>
            <a:srgbClr val="F2F5F6"/>
          </a:solidFill>
          <a:ln w="12700">
            <a:solidFill>
              <a:srgbClr val="F2F5F6"/>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70752"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te pidió a cambio?</a:t>
            </a:r>
            <a:endParaRPr lang="en-US" sz="1600" dirty="0"/>
          </a:p>
        </p:txBody>
      </p:sp>
      <p:sp>
        <p:nvSpPr>
          <p:cNvPr id="18" name="Text 16"/>
          <p:cNvSpPr txBox="1"/>
          <p:nvPr/>
        </p:nvSpPr>
        <p:spPr>
          <a:xfrm>
            <a:off x="6470752"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Cuenta, costo si se quisiera en serio, tiempo de aprendizaje, y qué información habría que darle.</a:t>
            </a:r>
            <a:endParaRPr lang="en-US" sz="1300" dirty="0"/>
          </a:p>
        </p:txBody>
      </p:sp>
      <p:sp>
        <p:nvSpPr>
          <p:cNvPr id="19" name="Shape 17"/>
          <p:cNvSpPr/>
          <p:nvPr/>
        </p:nvSpPr>
        <p:spPr>
          <a:xfrm>
            <a:off x="9066047" y="2011680"/>
            <a:ext cx="2558720" cy="2989072"/>
          </a:xfrm>
          <a:prstGeom prst="roundRect">
            <a:avLst>
              <a:gd name="adj" fmla="val 2859"/>
            </a:avLst>
          </a:prstGeom>
          <a:solidFill>
            <a:srgbClr val="F7E4D8"/>
          </a:solidFill>
          <a:ln w="12700">
            <a:solidFill>
              <a:srgbClr val="F7E4D8"/>
            </a:solidFill>
            <a:prstDash val="solid"/>
          </a:ln>
        </p:spPr>
      </p:sp>
      <p:sp>
        <p:nvSpPr>
          <p:cNvPr id="20" name="Shape 18"/>
          <p:cNvSpPr/>
          <p:nvPr/>
        </p:nvSpPr>
        <p:spPr>
          <a:xfrm>
            <a:off x="9303791" y="2231136"/>
            <a:ext cx="420624" cy="420624"/>
          </a:xfrm>
          <a:prstGeom prst="ellipse">
            <a:avLst/>
          </a:prstGeom>
          <a:solidFill>
            <a:srgbClr val="C85A28"/>
          </a:solidFill>
          <a:ln w="12700">
            <a:solidFill>
              <a:srgbClr val="C85A28"/>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303791" y="279806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¿Para qué tarea la recomendarías?</a:t>
            </a:r>
            <a:endParaRPr lang="en-US" sz="1600" dirty="0"/>
          </a:p>
        </p:txBody>
      </p:sp>
      <p:sp>
        <p:nvSpPr>
          <p:cNvPr id="23" name="Text 21"/>
          <p:cNvSpPr txBox="1"/>
          <p:nvPr/>
        </p:nvSpPr>
        <p:spPr>
          <a:xfrm>
            <a:off x="9303791" y="352755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Una tarea concreta de esta área. Si no encuentras ninguna, eso es lo que hay que reportar.</a:t>
            </a:r>
            <a:endParaRPr lang="en-US" sz="1300" dirty="0"/>
          </a:p>
        </p:txBody>
      </p:sp>
      <p:sp>
        <p:nvSpPr>
          <p:cNvPr id="24" name="Text 2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Al terminar las seis presentaciones, el cuadro comparativo queda lleno con evaluación de uso propio, no de demostración.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4</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DEMOSTRACIÓN</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Lo que no se resuelve con permisos de red</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10:50 a 11:07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2600" b="1" dirty="0">
                <a:solidFill>
                  <a:srgbClr val="16262E"/>
                </a:solidFill>
                <a:latin typeface="Arial" pitchFamily="34" charset="0"/>
                <a:ea typeface="Arial" pitchFamily="34" charset="-122"/>
                <a:cs typeface="Arial" pitchFamily="34" charset="-120"/>
              </a:rPr>
              <a:t>Tres herramientas que no puedes usar hoy, y por qué importan</a:t>
            </a:r>
            <a:endParaRPr lang="en-US" sz="26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Dos requieren licencia de paga y una está bloqueada. Las veo en pantalla, con el mismo corpus que acabas de trabajar.</a:t>
            </a:r>
            <a:endParaRPr lang="en-US" sz="1500" dirty="0"/>
          </a:p>
        </p:txBody>
      </p:sp>
      <p:sp>
        <p:nvSpPr>
          <p:cNvPr id="4" name="Shape 2"/>
          <p:cNvSpPr/>
          <p:nvPr/>
        </p:nvSpPr>
        <p:spPr>
          <a:xfrm>
            <a:off x="566928" y="2011680"/>
            <a:ext cx="3503066" cy="3563112"/>
          </a:xfrm>
          <a:prstGeom prst="roundRect">
            <a:avLst>
              <a:gd name="adj" fmla="val 2088"/>
            </a:avLst>
          </a:prstGeom>
          <a:solidFill>
            <a:srgbClr val="D7E7E7"/>
          </a:solidFill>
          <a:ln w="12700">
            <a:solidFill>
              <a:srgbClr val="D7E7E7"/>
            </a:solidFill>
            <a:prstDash val="solid"/>
          </a:ln>
        </p:spPr>
      </p:sp>
      <p:sp>
        <p:nvSpPr>
          <p:cNvPr id="5" name="Text 3"/>
          <p:cNvSpPr txBox="1"/>
          <p:nvPr/>
        </p:nvSpPr>
        <p:spPr>
          <a:xfrm>
            <a:off x="804672"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Atlas.ti y MAXQDA</a:t>
            </a:r>
            <a:endParaRPr lang="en-US" sz="1600" dirty="0"/>
          </a:p>
        </p:txBody>
      </p:sp>
      <p:sp>
        <p:nvSpPr>
          <p:cNvPr id="6" name="Text 4"/>
          <p:cNvSpPr txBox="1"/>
          <p:nvPr/>
        </p:nvSpPr>
        <p:spPr>
          <a:xfrm>
            <a:off x="804672"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Son el estándar de la investigación cualitativa formal.</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que hacen distinto no es codificar mejor: es dejar constancia de cómo codificaron. Generan un reporte de codificación auditable.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algún día tienes que defender un análisis cualitativo ante un comité, esa es la diferencia.</a:t>
            </a:r>
            <a:endParaRPr lang="en-US" sz="1300" dirty="0"/>
          </a:p>
        </p:txBody>
      </p:sp>
      <p:sp>
        <p:nvSpPr>
          <p:cNvPr id="7" name="Shape 5"/>
          <p:cNvSpPr/>
          <p:nvPr/>
        </p:nvSpPr>
        <p:spPr>
          <a:xfrm>
            <a:off x="4344314" y="2011680"/>
            <a:ext cx="3503066" cy="3563112"/>
          </a:xfrm>
          <a:prstGeom prst="roundRect">
            <a:avLst>
              <a:gd name="adj" fmla="val 2088"/>
            </a:avLst>
          </a:prstGeom>
          <a:solidFill>
            <a:srgbClr val="F7E4D8"/>
          </a:solidFill>
          <a:ln w="12700">
            <a:solidFill>
              <a:srgbClr val="F7E4D8"/>
            </a:solidFill>
            <a:prstDash val="solid"/>
          </a:ln>
        </p:spPr>
      </p:sp>
      <p:sp>
        <p:nvSpPr>
          <p:cNvPr id="8" name="Text 6"/>
          <p:cNvSpPr txBox="1"/>
          <p:nvPr/>
        </p:nvSpPr>
        <p:spPr>
          <a:xfrm>
            <a:off x="4582058"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NotebookLM</a:t>
            </a:r>
            <a:endParaRPr lang="en-US" sz="1600" dirty="0"/>
          </a:p>
        </p:txBody>
      </p:sp>
      <p:sp>
        <p:nvSpPr>
          <p:cNvPr id="9" name="Text 7"/>
          <p:cNvSpPr txBox="1"/>
          <p:nvPr/>
        </p:nvSpPr>
        <p:spPr>
          <a:xfrm>
            <a:off x="4582058"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julio se llama Gemini Notebook. Responde citando el párrafo exacto de cada documento fuente.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justo lo que vas a construir a mano mañana en la matriz de evidencia.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Está bloqueada y vale la pena pedirla: es del mismo proveedor que Gemini, que sí liberaron.</a:t>
            </a:r>
            <a:endParaRPr lang="en-US" sz="1300" dirty="0"/>
          </a:p>
        </p:txBody>
      </p:sp>
      <p:sp>
        <p:nvSpPr>
          <p:cNvPr id="10" name="Shape 8"/>
          <p:cNvSpPr/>
          <p:nvPr/>
        </p:nvSpPr>
        <p:spPr>
          <a:xfrm>
            <a:off x="8121701" y="2011680"/>
            <a:ext cx="3503066" cy="3563112"/>
          </a:xfrm>
          <a:prstGeom prst="roundRect">
            <a:avLst>
              <a:gd name="adj" fmla="val 2088"/>
            </a:avLst>
          </a:prstGeom>
          <a:solidFill>
            <a:srgbClr val="F2F5F6"/>
          </a:solidFill>
          <a:ln w="12700">
            <a:solidFill>
              <a:srgbClr val="F2F5F6"/>
            </a:solidFill>
            <a:prstDash val="solid"/>
          </a:ln>
        </p:spPr>
      </p:sp>
      <p:sp>
        <p:nvSpPr>
          <p:cNvPr id="11" name="Text 9"/>
          <p:cNvSpPr txBox="1"/>
          <p:nvPr/>
        </p:nvSpPr>
        <p:spPr>
          <a:xfrm>
            <a:off x="8359445" y="224942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tienen en común</a:t>
            </a:r>
            <a:endParaRPr lang="en-US" sz="1600" dirty="0"/>
          </a:p>
        </p:txBody>
      </p:sp>
      <p:sp>
        <p:nvSpPr>
          <p:cNvPr id="12" name="Text 10"/>
          <p:cNvSpPr txBox="1"/>
          <p:nvPr/>
        </p:nvSpPr>
        <p:spPr>
          <a:xfrm>
            <a:off x="8359445" y="2714752"/>
            <a:ext cx="3027578" cy="26588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resuelven el mismo problema: dejar rastro de cómo se llegó al resultado.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Ese problema no desaparece porque no tengas la herramienta. Solo cambia quién lo resuelve: mañana lo vas a resolver tú, a mano.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5</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 RESPUESTA PRÁCTICA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RAG que sí puedes operar hoy</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11:07 a 11:25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Copilot Chat y OneDrive: el bibliotecario eres tú</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En un RAG, un buscador elige qué fragmentos lee el modelo. El Copilot Chat del Instituto no trae ese buscador: lee solo lo que tú le adjuntas. Hoy el paso de buscar lo haces tú.</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Organiza una carpeta de OneDrive como base documental de tu tema. Una carpeta por asunto, no una por año.</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Nombra los archivos de manera que el nombre diga qué contiene. Ese nombre es tu índice: con él decides qué adjuntar.</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Adjunta en Copilot Chat los archivos que responden tu pregunta y pide la cita del párrafo. Después haz la misma pregunta sin adjuntar nada y compara.</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Es lo único de hoy que funciona con información amarilla; lo demás es solo para información pública. Con la licencia de paga Microsoft 365 Copilot, un índice buscaría por ti: es la que pone a Copilot dentro de Word y Excel, donde ya vimos que no aparece.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Lo que entregas hoy</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cuadro comparativo consolidado, con las ocho herramientas evaluadas por uso propio de los seis equipos.</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Una cuartilla por equipo: cuál herramienta valdría la pena contratar o solicitar, con costo estimado y para qué tarea.</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Esa cuartilla no es un ejercicio de curso. Es el borrador de una solicitud real que tu área puede presentar.</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Para mañana: revisa tu bitácora completa y lee el expediente del Laboratorio 2 si todavía no lo haces.</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6, martes 22 de septiembre: laboratorio cualitativo aplicado y cierre del bloque.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RAG cercani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busca el bibliotecario: por cercanía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idea del viernes aplicada a documentos completos. Así trabajan por dentro las herramientas que buscan antes de escribir.</a:t>
            </a:r>
            <a:endParaRPr lang="en-US" sz="1500" dirty="0"/>
          </a:p>
        </p:txBody>
      </p:sp>
      <p:sp>
        <p:nvSpPr>
          <p:cNvPr id="4" name="Shape"/>
          <p:cNvSpPr/>
          <p:nvPr/>
        </p:nvSpPr>
        <p:spPr>
          <a:xfrm>
            <a:off x="566928" y="2011680"/>
            <a:ext cx="3503066" cy="27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231136"/>
            <a:ext cx="420624" cy="420624"/>
          </a:xfrm>
          <a:prstGeom prst="roundRect">
            <a:avLst>
              <a:gd name="adj" fmla="val 50000"/>
            </a:avLst>
          </a:prstGeom>
          <a:solidFill>
            <a:srgbClr val="2E7D7D"/>
          </a:solidFill>
          <a:ln w="12700">
            <a:solidFill>
              <a:srgbClr val="2E7D7D"/>
            </a:solidFill>
            <a:prstDash val="solid"/>
          </a:ln>
        </p:spPr>
      </p:sp>
      <p:sp>
        <p:nvSpPr>
          <p:cNvPr id="6" name="Text"/>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Parte los documentos</a:t>
            </a:r>
            <a:endParaRPr lang="en-US" sz="1600" dirty="0"/>
          </a:p>
        </p:txBody>
      </p:sp>
      <p:sp>
        <p:nvSpPr>
          <p:cNvPr id="8" name="Text"/>
          <p:cNvSpPr txBox="1"/>
          <p:nvPr/>
        </p:nvSpPr>
        <p:spPr>
          <a:xfrm>
            <a:off x="804672"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Corta cada archivo en fragmentos del tamaño de unos párrafos, porque un documento entero es demasiado grande para comparar de un golpe.</a:t>
            </a:r>
            <a:endParaRPr lang="en-US" sz="1300" dirty="0"/>
          </a:p>
        </p:txBody>
      </p:sp>
      <p:sp>
        <p:nvSpPr>
          <p:cNvPr id="9" name="Shape"/>
          <p:cNvSpPr/>
          <p:nvPr/>
        </p:nvSpPr>
        <p:spPr>
          <a:xfrm>
            <a:off x="4344314" y="2011680"/>
            <a:ext cx="3503066" cy="27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4582058" y="2231136"/>
            <a:ext cx="420624" cy="420624"/>
          </a:xfrm>
          <a:prstGeom prst="roundRect">
            <a:avLst>
              <a:gd name="adj" fmla="val 50000"/>
            </a:avLst>
          </a:prstGeom>
          <a:solidFill>
            <a:srgbClr val="2E7D7D"/>
          </a:solidFill>
          <a:ln w="12700">
            <a:solidFill>
              <a:srgbClr val="2E7D7D"/>
            </a:solidFill>
            <a:prstDash val="solid"/>
          </a:ln>
        </p:spPr>
      </p:sp>
      <p:sp>
        <p:nvSpPr>
          <p:cNvPr id="11" name="Text"/>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4582058"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Convierte cada fragmento</a:t>
            </a:r>
            <a:endParaRPr lang="en-US" sz="1600" dirty="0"/>
          </a:p>
        </p:txBody>
      </p:sp>
      <p:sp>
        <p:nvSpPr>
          <p:cNvPr id="13" name="Text"/>
          <p:cNvSpPr txBox="1"/>
          <p:nvPr/>
        </p:nvSpPr>
        <p:spPr>
          <a:xfrm>
            <a:off x="4582058"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fragmento se vuelve coordenadas, igual que los registros del viernes. Dos textos que significan lo mismo quedan cerca.</a:t>
            </a:r>
            <a:endParaRPr lang="en-US" sz="1300" dirty="0"/>
          </a:p>
        </p:txBody>
      </p:sp>
      <p:sp>
        <p:nvSpPr>
          <p:cNvPr id="14" name="Shape"/>
          <p:cNvSpPr/>
          <p:nvPr/>
        </p:nvSpPr>
        <p:spPr>
          <a:xfrm>
            <a:off x="8121701" y="2011680"/>
            <a:ext cx="3503066" cy="27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8359445" y="2231136"/>
            <a:ext cx="420624" cy="420624"/>
          </a:xfrm>
          <a:prstGeom prst="roundRect">
            <a:avLst>
              <a:gd name="adj" fmla="val 50000"/>
            </a:avLst>
          </a:prstGeom>
          <a:solidFill>
            <a:srgbClr val="2E7D7D"/>
          </a:solidFill>
          <a:ln w="12700">
            <a:solidFill>
              <a:srgbClr val="2E7D7D"/>
            </a:solidFill>
            <a:prstDash val="solid"/>
          </a:ln>
        </p:spPr>
      </p:sp>
      <p:sp>
        <p:nvSpPr>
          <p:cNvPr id="16" name="Text"/>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Recupera lo más cercano</a:t>
            </a:r>
            <a:endParaRPr lang="en-US" sz="1600" dirty="0"/>
          </a:p>
        </p:txBody>
      </p:sp>
      <p:sp>
        <p:nvSpPr>
          <p:cNvPr id="18" name="Text"/>
          <p:cNvSpPr txBox="1"/>
          <p:nvPr/>
        </p:nvSpPr>
        <p:spPr>
          <a:xfrm>
            <a:off x="8359445" y="3455000"/>
            <a:ext cx="3027578" cy="126000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Tu pregunta también se vuelve coordenadas y la herramienta trae los fragmentos que caen más cerca. Solo con eso responde.</a:t>
            </a:r>
            <a:endParaRPr lang="en-US" sz="1300" dirty="0"/>
          </a:p>
        </p:txBody>
      </p:sp>
      <p:sp>
        <p:nvSpPr>
          <p:cNvPr id="19"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20"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equipos 4, 5 y 6 usaron RAG esta mañana: Perplexity, Elicit y Consensus buscan antes de escribir. En el Copilot Chat del Instituto ese buscador no existe, así que en la práctica que sigue quien elige los documentos eres tú.</a:t>
            </a:r>
            <a:endParaRPr lang="en-US" sz="1300" dirty="0"/>
          </a:p>
        </p:txBody>
      </p:sp>
      <p:sp>
        <p:nvSpPr>
          <p:cNvPr id="900" name="Fuente"/>
          <p:cNvSpPr txBox="1"/>
          <p:nvPr/>
        </p:nvSpPr>
        <p:spPr>
          <a:xfrm>
            <a:off x="566928" y="63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idea es la misma del viernes, cuando agrupaste Registros_atencion_ciudadana_PARTICIPANTE.xlsx. Fuente: Lewis y otros (2020), arXiv:2005.11401.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Adjuntar no es RAG">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Adjuntar no es lo mismo que RAG</a:t>
            </a:r>
            <a:endParaRPr lang="en-US" sz="3200" dirty="0"/>
          </a:p>
        </p:txBody>
      </p:sp>
      <p:sp>
        <p:nvSpPr>
          <p:cNvPr id="3" name="Text"/>
          <p:cNvSpPr txBox="1"/>
          <p:nvPr/>
        </p:nvSpPr>
        <p:spPr>
          <a:xfrm>
            <a:off x="566928" y="1230000"/>
            <a:ext cx="11057839" cy="42000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Hay dos maneras de que un modelo trabaje con tus documentos. Desde fuera se parecen, y fallan de forma distinta.</a:t>
            </a:r>
            <a:endParaRPr lang="en-US" sz="1500" dirty="0"/>
          </a:p>
        </p:txBody>
      </p:sp>
      <p:sp>
        <p:nvSpPr>
          <p:cNvPr id="4" name="Shape"/>
          <p:cNvSpPr/>
          <p:nvPr/>
        </p:nvSpPr>
        <p:spPr>
          <a:xfrm>
            <a:off x="566928" y="1850000"/>
            <a:ext cx="5378919" cy="37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EL ESCRITORIO</a:t>
            </a:r>
            <a:endParaRPr lang="en-US" sz="1100" dirty="0"/>
          </a:p>
        </p:txBody>
      </p:sp>
      <p:sp>
        <p:nvSpPr>
          <p:cNvPr id="6" name="Shape"/>
          <p:cNvSpPr/>
          <p:nvPr/>
        </p:nvSpPr>
        <p:spPr>
          <a:xfrm>
            <a:off x="804672" y="2430000"/>
            <a:ext cx="230000" cy="300000"/>
          </a:xfrm>
          <a:prstGeom prst="rect">
            <a:avLst/>
          </a:prstGeom>
          <a:solidFill>
            <a:srgbClr val="FFFFFF"/>
          </a:solidFill>
          <a:ln w="9525">
            <a:solidFill>
              <a:srgbClr val="16262E"/>
            </a:solidFill>
            <a:prstDash val="solid"/>
          </a:ln>
        </p:spPr>
      </p:sp>
      <p:sp>
        <p:nvSpPr>
          <p:cNvPr id="7" name="Shape"/>
          <p:cNvSpPr/>
          <p:nvPr/>
        </p:nvSpPr>
        <p:spPr>
          <a:xfrm>
            <a:off x="1094672" y="2430000"/>
            <a:ext cx="230000" cy="300000"/>
          </a:xfrm>
          <a:prstGeom prst="rect">
            <a:avLst/>
          </a:prstGeom>
          <a:solidFill>
            <a:srgbClr val="FFFFFF"/>
          </a:solidFill>
          <a:ln w="9525">
            <a:solidFill>
              <a:srgbClr val="16262E"/>
            </a:solidFill>
            <a:prstDash val="solid"/>
          </a:ln>
        </p:spPr>
      </p:sp>
      <p:sp>
        <p:nvSpPr>
          <p:cNvPr id="8" name="Shape"/>
          <p:cNvSpPr/>
          <p:nvPr/>
        </p:nvSpPr>
        <p:spPr>
          <a:xfrm>
            <a:off x="1384672" y="2430000"/>
            <a:ext cx="230000" cy="300000"/>
          </a:xfrm>
          <a:prstGeom prst="rect">
            <a:avLst/>
          </a:prstGeom>
          <a:solidFill>
            <a:srgbClr val="FFFFFF"/>
          </a:solidFill>
          <a:ln w="9525">
            <a:solidFill>
              <a:srgbClr val="16262E"/>
            </a:solidFill>
            <a:prstDash val="solid"/>
          </a:ln>
        </p:spPr>
      </p:sp>
      <p:sp>
        <p:nvSpPr>
          <p:cNvPr id="9" name="Shape"/>
          <p:cNvSpPr/>
          <p:nvPr/>
        </p:nvSpPr>
        <p:spPr>
          <a:xfrm>
            <a:off x="1714672" y="2460000"/>
            <a:ext cx="280000" cy="240000"/>
          </a:xfrm>
          <a:prstGeom prst="rightArrow">
            <a:avLst/>
          </a:prstGeom>
          <a:solidFill>
            <a:srgbClr val="2E7D7D"/>
          </a:solidFill>
          <a:ln w="12700">
            <a:solidFill>
              <a:srgbClr val="2E7D7D"/>
            </a:solidFill>
            <a:prstDash val="solid"/>
          </a:ln>
        </p:spPr>
      </p:sp>
      <p:sp>
        <p:nvSpPr>
          <p:cNvPr id="10" name="Shape"/>
          <p:cNvSpPr/>
          <p:nvPr/>
        </p:nvSpPr>
        <p:spPr>
          <a:xfrm>
            <a:off x="2074672" y="2370000"/>
            <a:ext cx="1900000" cy="420000"/>
          </a:xfrm>
          <a:prstGeom prst="roundRect">
            <a:avLst>
              <a:gd name="adj" fmla="val 30000"/>
            </a:avLst>
          </a:prstGeom>
          <a:solidFill>
            <a:srgbClr val="2E7D7D"/>
          </a:solidFill>
          <a:ln w="12700">
            <a:solidFill>
              <a:srgbClr val="2E7D7D"/>
            </a:solidFill>
            <a:prstDash val="solid"/>
          </a:ln>
        </p:spPr>
      </p:sp>
      <p:sp>
        <p:nvSpPr>
          <p:cNvPr id="11" name="Text"/>
          <p:cNvSpPr txBox="1"/>
          <p:nvPr/>
        </p:nvSpPr>
        <p:spPr>
          <a:xfrm>
            <a:off x="2074672" y="2370000"/>
            <a:ext cx="19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ventana de contexto</a:t>
            </a:r>
            <a:endParaRPr lang="en-US" sz="1050" dirty="0"/>
          </a:p>
        </p:txBody>
      </p:sp>
      <p:sp>
        <p:nvSpPr>
          <p:cNvPr id="12" name="Shape"/>
          <p:cNvSpPr/>
          <p:nvPr/>
        </p:nvSpPr>
        <p:spPr>
          <a:xfrm>
            <a:off x="4054672" y="2460000"/>
            <a:ext cx="280000" cy="240000"/>
          </a:xfrm>
          <a:prstGeom prst="rightArrow">
            <a:avLst/>
          </a:prstGeom>
          <a:solidFill>
            <a:srgbClr val="2E7D7D"/>
          </a:solidFill>
          <a:ln w="12700">
            <a:solidFill>
              <a:srgbClr val="2E7D7D"/>
            </a:solidFill>
            <a:prstDash val="solid"/>
          </a:ln>
        </p:spPr>
      </p:sp>
      <p:sp>
        <p:nvSpPr>
          <p:cNvPr id="13" name="Shape"/>
          <p:cNvSpPr/>
          <p:nvPr/>
        </p:nvSpPr>
        <p:spPr>
          <a:xfrm>
            <a:off x="4414672" y="2370000"/>
            <a:ext cx="1150000" cy="420000"/>
          </a:xfrm>
          <a:prstGeom prst="roundRect">
            <a:avLst>
              <a:gd name="adj" fmla="val 30000"/>
            </a:avLst>
          </a:prstGeom>
          <a:solidFill>
            <a:srgbClr val="16262E"/>
          </a:solidFill>
          <a:ln w="12700">
            <a:solidFill>
              <a:srgbClr val="16262E"/>
            </a:solidFill>
            <a:prstDash val="solid"/>
          </a:ln>
        </p:spPr>
      </p:sp>
      <p:sp>
        <p:nvSpPr>
          <p:cNvPr id="14" name="Text"/>
          <p:cNvSpPr txBox="1"/>
          <p:nvPr/>
        </p:nvSpPr>
        <p:spPr>
          <a:xfrm>
            <a:off x="4414672" y="2370000"/>
            <a:ext cx="11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15" name="Text"/>
          <p:cNvSpPr txBox="1"/>
          <p:nvPr/>
        </p:nvSpPr>
        <p:spPr>
          <a:xfrm>
            <a:off x="804672"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Ventana de contexto: todo sobre la mesa</a:t>
            </a:r>
            <a:endParaRPr lang="en-US" sz="1600" dirty="0"/>
          </a:p>
        </p:txBody>
      </p:sp>
      <p:sp>
        <p:nvSpPr>
          <p:cNvPr id="16" name="Text"/>
          <p:cNvSpPr txBox="1"/>
          <p:nvPr/>
        </p:nvSpPr>
        <p:spPr>
          <a:xfrm>
            <a:off x="804672"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Tú eliges qué entra. El modelo lee lo que le pusiste enfrente y nada más.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Cada pregunta vuelve a procesar todo lo que está en la mesa: a más páginas, más costo y más espera.</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saturación. Entre más texto hay en la mesa, peor aprovecha cada parte, sobre todo lo que queda en medio, y no te avisa.</a:t>
            </a:r>
            <a:endParaRPr lang="en-US" sz="1300" dirty="0"/>
          </a:p>
        </p:txBody>
      </p:sp>
      <p:sp>
        <p:nvSpPr>
          <p:cNvPr id="17" name="Shape"/>
          <p:cNvSpPr/>
          <p:nvPr/>
        </p:nvSpPr>
        <p:spPr>
          <a:xfrm>
            <a:off x="6245847" y="1850000"/>
            <a:ext cx="5378919" cy="3700000"/>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83591" y="2040000"/>
            <a:ext cx="4903431" cy="22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LA BIBLIOTECA CON BIBLIOTECARIO</a:t>
            </a:r>
            <a:endParaRPr lang="en-US" sz="1100" dirty="0"/>
          </a:p>
        </p:txBody>
      </p:sp>
      <p:sp>
        <p:nvSpPr>
          <p:cNvPr id="19" name="Shape"/>
          <p:cNvSpPr/>
          <p:nvPr/>
        </p:nvSpPr>
        <p:spPr>
          <a:xfrm>
            <a:off x="6483591" y="2370000"/>
            <a:ext cx="110000" cy="180000"/>
          </a:xfrm>
          <a:prstGeom prst="rect">
            <a:avLst/>
          </a:prstGeom>
          <a:solidFill>
            <a:srgbClr val="FFFFFF"/>
          </a:solidFill>
          <a:ln w="9525">
            <a:solidFill>
              <a:srgbClr val="16262E"/>
            </a:solidFill>
            <a:prstDash val="solid"/>
          </a:ln>
        </p:spPr>
      </p:sp>
      <p:sp>
        <p:nvSpPr>
          <p:cNvPr id="20" name="Shape"/>
          <p:cNvSpPr/>
          <p:nvPr/>
        </p:nvSpPr>
        <p:spPr>
          <a:xfrm>
            <a:off x="6633591" y="2370000"/>
            <a:ext cx="110000" cy="180000"/>
          </a:xfrm>
          <a:prstGeom prst="rect">
            <a:avLst/>
          </a:prstGeom>
          <a:solidFill>
            <a:srgbClr val="FFFFFF"/>
          </a:solidFill>
          <a:ln w="9525">
            <a:solidFill>
              <a:srgbClr val="16262E"/>
            </a:solidFill>
            <a:prstDash val="solid"/>
          </a:ln>
        </p:spPr>
      </p:sp>
      <p:sp>
        <p:nvSpPr>
          <p:cNvPr id="21" name="Shape"/>
          <p:cNvSpPr/>
          <p:nvPr/>
        </p:nvSpPr>
        <p:spPr>
          <a:xfrm>
            <a:off x="6783591" y="2370000"/>
            <a:ext cx="110000" cy="180000"/>
          </a:xfrm>
          <a:prstGeom prst="rect">
            <a:avLst/>
          </a:prstGeom>
          <a:solidFill>
            <a:srgbClr val="FFFFFF"/>
          </a:solidFill>
          <a:ln w="9525">
            <a:solidFill>
              <a:srgbClr val="16262E"/>
            </a:solidFill>
            <a:prstDash val="solid"/>
          </a:ln>
        </p:spPr>
      </p:sp>
      <p:sp>
        <p:nvSpPr>
          <p:cNvPr id="22" name="Shape"/>
          <p:cNvSpPr/>
          <p:nvPr/>
        </p:nvSpPr>
        <p:spPr>
          <a:xfrm>
            <a:off x="6933591" y="2370000"/>
            <a:ext cx="110000" cy="180000"/>
          </a:xfrm>
          <a:prstGeom prst="rect">
            <a:avLst/>
          </a:prstGeom>
          <a:solidFill>
            <a:srgbClr val="FFFFFF"/>
          </a:solidFill>
          <a:ln w="9525">
            <a:solidFill>
              <a:srgbClr val="16262E"/>
            </a:solidFill>
            <a:prstDash val="solid"/>
          </a:ln>
        </p:spPr>
      </p:sp>
      <p:sp>
        <p:nvSpPr>
          <p:cNvPr id="23" name="Shape"/>
          <p:cNvSpPr/>
          <p:nvPr/>
        </p:nvSpPr>
        <p:spPr>
          <a:xfrm>
            <a:off x="7083591" y="2370000"/>
            <a:ext cx="110000" cy="180000"/>
          </a:xfrm>
          <a:prstGeom prst="rect">
            <a:avLst/>
          </a:prstGeom>
          <a:solidFill>
            <a:srgbClr val="FFFFFF"/>
          </a:solidFill>
          <a:ln w="9525">
            <a:solidFill>
              <a:srgbClr val="16262E"/>
            </a:solidFill>
            <a:prstDash val="solid"/>
          </a:ln>
        </p:spPr>
      </p:sp>
      <p:sp>
        <p:nvSpPr>
          <p:cNvPr id="24" name="Shape"/>
          <p:cNvSpPr/>
          <p:nvPr/>
        </p:nvSpPr>
        <p:spPr>
          <a:xfrm>
            <a:off x="7233591" y="2370000"/>
            <a:ext cx="110000" cy="180000"/>
          </a:xfrm>
          <a:prstGeom prst="rect">
            <a:avLst/>
          </a:prstGeom>
          <a:solidFill>
            <a:srgbClr val="FFFFFF"/>
          </a:solidFill>
          <a:ln w="9525">
            <a:solidFill>
              <a:srgbClr val="16262E"/>
            </a:solidFill>
            <a:prstDash val="solid"/>
          </a:ln>
        </p:spPr>
      </p:sp>
      <p:sp>
        <p:nvSpPr>
          <p:cNvPr id="25" name="Shape"/>
          <p:cNvSpPr/>
          <p:nvPr/>
        </p:nvSpPr>
        <p:spPr>
          <a:xfrm>
            <a:off x="6483591" y="2585000"/>
            <a:ext cx="110000" cy="180000"/>
          </a:xfrm>
          <a:prstGeom prst="rect">
            <a:avLst/>
          </a:prstGeom>
          <a:solidFill>
            <a:srgbClr val="FFFFFF"/>
          </a:solidFill>
          <a:ln w="9525">
            <a:solidFill>
              <a:srgbClr val="16262E"/>
            </a:solidFill>
            <a:prstDash val="solid"/>
          </a:ln>
        </p:spPr>
      </p:sp>
      <p:sp>
        <p:nvSpPr>
          <p:cNvPr id="26" name="Shape"/>
          <p:cNvSpPr/>
          <p:nvPr/>
        </p:nvSpPr>
        <p:spPr>
          <a:xfrm>
            <a:off x="6633591" y="2585000"/>
            <a:ext cx="110000" cy="180000"/>
          </a:xfrm>
          <a:prstGeom prst="rect">
            <a:avLst/>
          </a:prstGeom>
          <a:solidFill>
            <a:srgbClr val="FFFFFF"/>
          </a:solidFill>
          <a:ln w="9525">
            <a:solidFill>
              <a:srgbClr val="16262E"/>
            </a:solidFill>
            <a:prstDash val="solid"/>
          </a:ln>
        </p:spPr>
      </p:sp>
      <p:sp>
        <p:nvSpPr>
          <p:cNvPr id="27" name="Shape"/>
          <p:cNvSpPr/>
          <p:nvPr/>
        </p:nvSpPr>
        <p:spPr>
          <a:xfrm>
            <a:off x="6783591" y="2585000"/>
            <a:ext cx="110000" cy="180000"/>
          </a:xfrm>
          <a:prstGeom prst="rect">
            <a:avLst/>
          </a:prstGeom>
          <a:solidFill>
            <a:srgbClr val="FFFFFF"/>
          </a:solidFill>
          <a:ln w="9525">
            <a:solidFill>
              <a:srgbClr val="16262E"/>
            </a:solidFill>
            <a:prstDash val="solid"/>
          </a:ln>
        </p:spPr>
      </p:sp>
      <p:sp>
        <p:nvSpPr>
          <p:cNvPr id="28" name="Shape"/>
          <p:cNvSpPr/>
          <p:nvPr/>
        </p:nvSpPr>
        <p:spPr>
          <a:xfrm>
            <a:off x="6933591" y="2585000"/>
            <a:ext cx="110000" cy="180000"/>
          </a:xfrm>
          <a:prstGeom prst="rect">
            <a:avLst/>
          </a:prstGeom>
          <a:solidFill>
            <a:srgbClr val="FFFFFF"/>
          </a:solidFill>
          <a:ln w="9525">
            <a:solidFill>
              <a:srgbClr val="16262E"/>
            </a:solidFill>
            <a:prstDash val="solid"/>
          </a:ln>
        </p:spPr>
      </p:sp>
      <p:sp>
        <p:nvSpPr>
          <p:cNvPr id="29" name="Shape"/>
          <p:cNvSpPr/>
          <p:nvPr/>
        </p:nvSpPr>
        <p:spPr>
          <a:xfrm>
            <a:off x="7083591" y="2585000"/>
            <a:ext cx="110000" cy="180000"/>
          </a:xfrm>
          <a:prstGeom prst="rect">
            <a:avLst/>
          </a:prstGeom>
          <a:solidFill>
            <a:srgbClr val="FFFFFF"/>
          </a:solidFill>
          <a:ln w="9525">
            <a:solidFill>
              <a:srgbClr val="16262E"/>
            </a:solidFill>
            <a:prstDash val="solid"/>
          </a:ln>
        </p:spPr>
      </p:sp>
      <p:sp>
        <p:nvSpPr>
          <p:cNvPr id="30" name="Shape"/>
          <p:cNvSpPr/>
          <p:nvPr/>
        </p:nvSpPr>
        <p:spPr>
          <a:xfrm>
            <a:off x="7233591" y="2585000"/>
            <a:ext cx="110000" cy="180000"/>
          </a:xfrm>
          <a:prstGeom prst="rect">
            <a:avLst/>
          </a:prstGeom>
          <a:solidFill>
            <a:srgbClr val="FFFFFF"/>
          </a:solidFill>
          <a:ln w="9525">
            <a:solidFill>
              <a:srgbClr val="16262E"/>
            </a:solidFill>
            <a:prstDash val="solid"/>
          </a:ln>
        </p:spPr>
      </p:sp>
      <p:sp>
        <p:nvSpPr>
          <p:cNvPr id="31" name="Shape"/>
          <p:cNvSpPr/>
          <p:nvPr/>
        </p:nvSpPr>
        <p:spPr>
          <a:xfrm>
            <a:off x="7403591" y="2460000"/>
            <a:ext cx="240000" cy="240000"/>
          </a:xfrm>
          <a:prstGeom prst="rightArrow">
            <a:avLst/>
          </a:prstGeom>
          <a:solidFill>
            <a:srgbClr val="2E7D7D"/>
          </a:solidFill>
          <a:ln w="12700">
            <a:solidFill>
              <a:srgbClr val="2E7D7D"/>
            </a:solidFill>
            <a:prstDash val="solid"/>
          </a:ln>
        </p:spPr>
      </p:sp>
      <p:sp>
        <p:nvSpPr>
          <p:cNvPr id="32" name="Shape"/>
          <p:cNvSpPr/>
          <p:nvPr/>
        </p:nvSpPr>
        <p:spPr>
          <a:xfrm>
            <a:off x="7703591" y="2370000"/>
            <a:ext cx="950000" cy="420000"/>
          </a:xfrm>
          <a:prstGeom prst="roundRect">
            <a:avLst>
              <a:gd name="adj" fmla="val 30000"/>
            </a:avLst>
          </a:prstGeom>
          <a:solidFill>
            <a:srgbClr val="2E7D7D"/>
          </a:solidFill>
          <a:ln w="12700">
            <a:solidFill>
              <a:srgbClr val="2E7D7D"/>
            </a:solidFill>
            <a:prstDash val="solid"/>
          </a:ln>
        </p:spPr>
      </p:sp>
      <p:sp>
        <p:nvSpPr>
          <p:cNvPr id="33" name="Text"/>
          <p:cNvSpPr txBox="1"/>
          <p:nvPr/>
        </p:nvSpPr>
        <p:spPr>
          <a:xfrm>
            <a:off x="7703591" y="2370000"/>
            <a:ext cx="95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buscador</a:t>
            </a:r>
            <a:endParaRPr lang="en-US" sz="1050" dirty="0"/>
          </a:p>
        </p:txBody>
      </p:sp>
      <p:sp>
        <p:nvSpPr>
          <p:cNvPr id="34" name="Shape"/>
          <p:cNvSpPr/>
          <p:nvPr/>
        </p:nvSpPr>
        <p:spPr>
          <a:xfrm>
            <a:off x="8713591" y="2460000"/>
            <a:ext cx="240000" cy="240000"/>
          </a:xfrm>
          <a:prstGeom prst="rightArrow">
            <a:avLst/>
          </a:prstGeom>
          <a:solidFill>
            <a:srgbClr val="2E7D7D"/>
          </a:solidFill>
          <a:ln w="12700">
            <a:solidFill>
              <a:srgbClr val="2E7D7D"/>
            </a:solidFill>
            <a:prstDash val="solid"/>
          </a:ln>
        </p:spPr>
      </p:sp>
      <p:sp>
        <p:nvSpPr>
          <p:cNvPr id="35" name="Shape"/>
          <p:cNvSpPr/>
          <p:nvPr/>
        </p:nvSpPr>
        <p:spPr>
          <a:xfrm>
            <a:off x="9013591" y="2430000"/>
            <a:ext cx="230000" cy="300000"/>
          </a:xfrm>
          <a:prstGeom prst="rect">
            <a:avLst/>
          </a:prstGeom>
          <a:solidFill>
            <a:srgbClr val="F7E4D8"/>
          </a:solidFill>
          <a:ln w="9525">
            <a:solidFill>
              <a:srgbClr val="C85A28"/>
            </a:solidFill>
            <a:prstDash val="solid"/>
          </a:ln>
        </p:spPr>
      </p:sp>
      <p:sp>
        <p:nvSpPr>
          <p:cNvPr id="36" name="Shape"/>
          <p:cNvSpPr/>
          <p:nvPr/>
        </p:nvSpPr>
        <p:spPr>
          <a:xfrm>
            <a:off x="9293591" y="2430000"/>
            <a:ext cx="230000" cy="300000"/>
          </a:xfrm>
          <a:prstGeom prst="rect">
            <a:avLst/>
          </a:prstGeom>
          <a:solidFill>
            <a:srgbClr val="F7E4D8"/>
          </a:solidFill>
          <a:ln w="9525">
            <a:solidFill>
              <a:srgbClr val="C85A28"/>
            </a:solidFill>
            <a:prstDash val="solid"/>
          </a:ln>
        </p:spPr>
      </p:sp>
      <p:sp>
        <p:nvSpPr>
          <p:cNvPr id="37" name="Shape"/>
          <p:cNvSpPr/>
          <p:nvPr/>
        </p:nvSpPr>
        <p:spPr>
          <a:xfrm>
            <a:off x="9583591" y="2460000"/>
            <a:ext cx="240000" cy="240000"/>
          </a:xfrm>
          <a:prstGeom prst="rightArrow">
            <a:avLst/>
          </a:prstGeom>
          <a:solidFill>
            <a:srgbClr val="2E7D7D"/>
          </a:solidFill>
          <a:ln w="12700">
            <a:solidFill>
              <a:srgbClr val="2E7D7D"/>
            </a:solidFill>
            <a:prstDash val="solid"/>
          </a:ln>
        </p:spPr>
      </p:sp>
      <p:sp>
        <p:nvSpPr>
          <p:cNvPr id="38" name="Shape"/>
          <p:cNvSpPr/>
          <p:nvPr/>
        </p:nvSpPr>
        <p:spPr>
          <a:xfrm>
            <a:off x="9883591" y="2370000"/>
            <a:ext cx="1000000" cy="420000"/>
          </a:xfrm>
          <a:prstGeom prst="roundRect">
            <a:avLst>
              <a:gd name="adj" fmla="val 30000"/>
            </a:avLst>
          </a:prstGeom>
          <a:solidFill>
            <a:srgbClr val="16262E"/>
          </a:solidFill>
          <a:ln w="12700">
            <a:solidFill>
              <a:srgbClr val="16262E"/>
            </a:solidFill>
            <a:prstDash val="solid"/>
          </a:ln>
        </p:spPr>
      </p:sp>
      <p:sp>
        <p:nvSpPr>
          <p:cNvPr id="39" name="Text"/>
          <p:cNvSpPr txBox="1"/>
          <p:nvPr/>
        </p:nvSpPr>
        <p:spPr>
          <a:xfrm>
            <a:off x="9883591" y="2370000"/>
            <a:ext cx="1000000" cy="4200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respuesta</a:t>
            </a:r>
            <a:endParaRPr lang="en-US" sz="1050" dirty="0"/>
          </a:p>
        </p:txBody>
      </p:sp>
      <p:sp>
        <p:nvSpPr>
          <p:cNvPr id="40" name="Text"/>
          <p:cNvSpPr txBox="1"/>
          <p:nvPr/>
        </p:nvSpPr>
        <p:spPr>
          <a:xfrm>
            <a:off x="6483591" y="2980000"/>
            <a:ext cx="4903431" cy="33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RAG: un buscador elige por ti</a:t>
            </a:r>
            <a:endParaRPr lang="en-US" sz="1600" dirty="0"/>
          </a:p>
        </p:txBody>
      </p:sp>
      <p:sp>
        <p:nvSpPr>
          <p:cNvPr id="41" name="Text"/>
          <p:cNvSpPr txBox="1"/>
          <p:nvPr/>
        </p:nvSpPr>
        <p:spPr>
          <a:xfrm>
            <a:off x="6483591" y="3410000"/>
            <a:ext cx="4903431" cy="2000000"/>
          </a:xfrm>
          <a:prstGeom prst="rect">
            <a:avLst/>
          </a:prstGeom>
          <a:noFill/>
          <a:ln/>
        </p:spPr>
        <p:txBody>
          <a:bodyPr wrap="square" lIns="0" tIns="0" rIns="0" bIns="0" rtlCol="0" anchor="t"/>
          <a:lstStyle/>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Los documentos se indexan una vez. Al preguntar, un buscador trae los fragmentos más cercanos y el modelo responde solo con esos.</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Armar y mantener el índice cuesta; después, cada consulta es barata aunque el acervo sea enorme.</a:t>
            </a:r>
            <a:endParaRPr lang="en-US" sz="1300" dirty="0"/>
          </a:p>
          <a:p>
            <a:pPr indent="0" marL="0">
              <a:lnSpc>
                <a:spcPct val="108000"/>
              </a:lnSpc>
              <a:spcAft>
                <a:spcPts val="650"/>
              </a:spcAft>
              <a:buNone/>
            </a:pPr>
            <a:r>
              <a:rPr lang="en-US" sz="1300" dirty="0">
                <a:solidFill>
                  <a:srgbClr val="16262E"/>
                </a:solidFill>
                <a:latin typeface="Calibri" pitchFamily="34" charset="0"/>
                <a:ea typeface="Calibri" pitchFamily="34" charset="-122"/>
                <a:cs typeface="Calibri" pitchFamily="34" charset="-120"/>
              </a:rPr>
              <a:t>Falla por omisión. Si el buscador no trae el fragmento correcto, el modelo responde sin él y con el mismo aplomo.</a:t>
            </a:r>
            <a:endParaRPr lang="en-US" sz="1300" dirty="0"/>
          </a:p>
        </p:txBody>
      </p:sp>
      <p:sp>
        <p:nvSpPr>
          <p:cNvPr id="42" name="Shape"/>
          <p:cNvSpPr/>
          <p:nvPr/>
        </p:nvSpPr>
        <p:spPr>
          <a:xfrm>
            <a:off x="566928" y="5700000"/>
            <a:ext cx="11057839" cy="594360"/>
          </a:xfrm>
          <a:prstGeom prst="roundRect">
            <a:avLst>
              <a:gd name="adj" fmla="val 8235"/>
            </a:avLst>
          </a:prstGeom>
          <a:solidFill>
            <a:srgbClr val="F7E4D8"/>
          </a:solidFill>
          <a:ln w="12700">
            <a:solidFill>
              <a:srgbClr val="F7E4D8"/>
            </a:solidFill>
            <a:prstDash val="solid"/>
          </a:ln>
        </p:spPr>
      </p:sp>
      <p:sp>
        <p:nvSpPr>
          <p:cNvPr id="43" name="Text"/>
          <p:cNvSpPr txBox="1"/>
          <p:nvPr/>
        </p:nvSpPr>
        <p:spPr>
          <a:xfrm>
            <a:off x="804672" y="5700000"/>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Desde fuera no siempre sabes cuál te tocó: ChatGPT, con archivos largos, pasa del escritorio a la biblioteca sin avisarte. Como las dos fallan calladas, la regla es la misma: pide la cita y ve al párrafo.</a:t>
            </a:r>
            <a:endParaRPr lang="en-US" sz="1300" dirty="0"/>
          </a:p>
        </p:txBody>
      </p:sp>
      <p:sp>
        <p:nvSpPr>
          <p:cNvPr id="44" name="Text"/>
          <p:cNvSpPr txBox="1"/>
          <p:nvPr/>
        </p:nvSpPr>
        <p:spPr>
          <a:xfrm>
            <a:off x="566928" y="63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Lewis y otros (2020), arXiv:2005.11401 · Liu y otros (2024), arXiv:2307.03172 · OpenAI, «Optimizing File Uploads in ChatGPT Enterprise». Ligas en el anexo de la sesión.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