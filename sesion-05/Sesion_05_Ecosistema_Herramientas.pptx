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18.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6.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3"/>
    <p:sldId id="267" r:id="rId16"/>
    <p:sldId id="268" r:id="rId25"/>
    <p:sldId id="269" r:id="rId50"/>
    <p:sldId id="270" r:id="rId24"/>
    <p:sldId id="271" r:id="rId51"/>
    <p:sldId id="272" r:id="rId52"/>
    <p:sldId id="273" r:id="rId53"/>
    <p:sldId id="274" r:id="rId54"/>
    <p:sldId id="275" r:id="rId12"/>
    <p:sldId id="276" r:id="rId55"/>
    <p:sldId id="277" r:id="rId17"/>
    <p:sldId id="278" r:id="rId57"/>
    <p:sldId id="279" r:id="rId56"/>
    <p:sldId id="280" r:id="rId14"/>
    <p:sldId id="281" r:id="rId15"/>
    <p:sldId id="28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  <Relationship Id="rId24" Type="http://schemas.openxmlformats.org/officeDocument/2006/relationships/slide" Target="slides/slide18.xml"/>
  <Relationship Id="rId25" Type="http://schemas.openxmlformats.org/officeDocument/2006/relationships/slide" Target="slides/slide19.xml"/>
<Relationship Id="rId50" Type="http://schemas.openxmlformats.org/officeDocument/2006/relationships/slide" Target="slides/slide20.xml"/><Relationship Id="rId51" Type="http://schemas.openxmlformats.org/officeDocument/2006/relationships/slide" Target="slides/slide21.xml"/><Relationship Id="rId52" Type="http://schemas.openxmlformats.org/officeDocument/2006/relationships/slide" Target="slides/slide22.xml"/><Relationship Id="rId53" Type="http://schemas.openxmlformats.org/officeDocument/2006/relationships/slide" Target="slides/slide23.xml"/><Relationship Id="rId54" Type="http://schemas.openxmlformats.org/officeDocument/2006/relationships/slide" Target="slides/slide24.xml"/><Relationship Id="rId55" Type="http://schemas.openxmlformats.org/officeDocument/2006/relationships/slide" Target="slides/slide25.xml"/><Relationship Id="rId56" Type="http://schemas.openxmlformats.org/officeDocument/2006/relationships/slide" Target="slides/slide26.xml"/><Relationship Id="rId57" Type="http://schemas.openxmlformats.org/officeDocument/2006/relationships/slide" Target="slides/slide27.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se usa el mismo corpus del viernes y el libro de códigos que cada equipo ratificó. Ten listo Atlas.ti o MAXQDA con un proyecto ya codificado: es lo único que hay que preparar con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lámina era la práctica de 45 minutos; ahora es la tarea en equipo. Déjala dos minutos: que cada equipo ubique su herramienta en la lámina anterior y acuerde cuándo se conecta hoy.</a:t>
            </a:r>
          </a:p>
          <a:p>
            <a:r>
              <a:rPr lang="en-US" dirty="0"/>
              <a:t>Entrega: mañana martes 22 antes de las 9:00. Dos cosas por equipo: su renglón del cuadro comparativo (Plantillas_tabulares_curso_IA.xlsx, hoja Cuadro comparativo) y la cuartilla S05_Equipo##_Justificacion.docx.</a:t>
            </a:r>
          </a:p>
          <a:p>
            <a:r>
              <a:rPr lang="en-US" dirty="0"/>
              <a:t>Recuérdales el semáforo: las herramientas de la tarea son de plan gratuito, así que solo información verde. El corpus es sintético y por eso se puede.</a:t>
            </a:r>
          </a:p>
          <a:p>
            <a:r>
              <a:rPr lang="en-US" dirty="0"/>
              <a:t>Equipo 4: la cuenta gratuita de You.com es una prueba de 25 consultas. Equipo 5: activar Elicit hoy, no antes.</a:t>
            </a:r>
          </a:p>
        </p:txBody>
      </p:sp>
      <p:sp>
        <p:nvSpPr>
          <p:cNvPr id="4" name="Slide Number Placeholder 3"/>
          <p:cNvSpPr>
            <a:spLocks noGrp="1"/>
          </p:cNvSpPr>
          <p:nvPr>
            <p:ph type="sldNum" sz="quarter" idx="10"/>
          </p:nvPr>
        </p:nvSpPr>
        <p:spPr/>
        <p:txBody>
          <a:bodyPr/>
          <a:lstStyle/>
          <a:p>
            <a:fld id="{B3C21451-1387-4CA6-816F-3879F97B5CB9}"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tres se cubren por demostración conforme a lo indicado por la coordinación del Instituto: las herramientas no disponibles desde la infraestructura institucional pueden abordarse mediante sesiones expositivas de los instructores.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Quince minutos de reloj. Todo se hace con información verde; la prueba usa un dato inventado.</a:t>
            </a:r>
          </a:p>
          <a:p>
            <a:r>
              <a:rPr lang="en-US" dirty="0"/>
              <a:t>Los participantes confirmaron el 21 de septiembre que desde Copilot Chat llegan a sus documentos del OneDrive institucional; ya se había comprobado en vivo el 15. Eso es acceso por selección, no búsqueda para contestar: según la documentación de Microsoft, sin la licencia de paga no hay índice semántico ni anclaje amplio a datos de trabajo, y elegir un archivo de OneDrive equivale a subirlo a la conversación. El menú sí sugiere archivos, por actividad reciente y por nombre, tipo o autor; quien elige eres tú.</a:t>
            </a:r>
          </a:p>
          <a:p>
            <a:r>
              <a:rPr lang="en-US" dirty="0"/>
              <a:t>Minutos 0 a 3, paso 2: el dato señuelo. Un Word de nombre neutro con un dato que no exista en la web. Guardar y cerrar.</a:t>
            </a:r>
          </a:p>
          <a:p>
            <a:r>
              <a:rPr lang="en-US" dirty="0"/>
              <a:t>Minutos 3 a 8, paso 3: Copilot Chat en página completa del navegador, no en el panel de Edge ni en Outlook, sin agente y en un chat nuevo. Sin escribir «/» ni tocar las sugerencias bajo el cuadro, teclean: «Sin que yo adjunte nada: ¿cuál es la clave del equipo Ajolote? Dime en qué archivo de mi OneDrive está y dame la liga». Solo cuenta como hallazgo si contesta magnolia-7391 y la liga abre su archivo. Lo esperado con Copilot Chat es que no lo encuentre.</a:t>
            </a:r>
          </a:p>
          <a:p>
            <a:r>
              <a:rPr lang="en-US" dirty="0"/>
              <a:t>Minutos 8 a 12, paso 4: en ese mismo chat agregan el archivo desde OneDrive y repiten la pregunta pidiendo la cita. Debe contestar la clave. Es el control: si con el archivo agregado tampoco contesta, la prueba no es concluyente; el acceso estándar puede restringirse en horas de alta demanda.</a:t>
            </a:r>
          </a:p>
          <a:p>
            <a:r>
              <a:rPr lang="en-US" dirty="0"/>
              <a:t>Minutos 12 a 15: mano alzada. ¿A quién se lo encontró solo? ¿A quién no? Lo que debe salir: sin archivo contesta de memoria y de la web; con archivo contesta con tus documentos, pero solo con los que tú elegiste.</a:t>
            </a:r>
          </a:p>
          <a:p>
            <a:r>
              <a:rPr lang="en-US" dirty="0"/>
              <a:t>Si a alguien Copilot le cita el archivo sin señalárselo, no concluyas que tiene la licencia de paga. Descarta primero una sugerencia con archivo, el panel de Edge, un agente o cuaderno, la memoria de otro chat y la web; después revisa la etiqueta bajo su nombre. El resultado describe esa cuenta ese día, no al Instituto completo.</a:t>
            </a:r>
          </a:p>
        </p:txBody>
      </p:sp>
      <p:sp>
        <p:nvSpPr>
          <p:cNvPr id="4" name="Slide Number Placeholder 3"/>
          <p:cNvSpPr>
            <a:spLocks noGrp="1"/>
          </p:cNvSpPr>
          <p:nvPr>
            <p:ph type="sldNum" sz="quarter" idx="10"/>
          </p:nvPr>
        </p:nvSpPr>
        <p:spPr/>
        <p:txBody>
          <a:bodyPr/>
          <a:lstStyle/>
          <a:p>
            <a:fld id="{B3C21451-1387-4CA6-816F-3879F97B5CB9}"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la lámina del viernes aplicada a documentos: partir, convertir en coordenadas, recuperar lo más cercano.</a:t>
            </a:r>
          </a:p>
          <a:p>
            <a:r>
              <a:rPr lang="en-US" dirty="0"/>
              <a:t>Tres equipos se llevan de tarea herramientas que trabajan así: Perplexity, Elicit y Consensus buscan antes de escribir; por eso traen citas.</a:t>
            </a:r>
          </a:p>
          <a:p>
            <a:r>
              <a:rPr lang="en-US" dirty="0"/>
              <a:t>Precisión para el grupo técnico: los sistemas reales casi nunca buscan solo por cercanía de significado. Combinan cercanía con coincidencia de palabras (búsqueda híbrida) y reordenan los resultados antes de entregarlos al modelo. La lámina siguiente lo muestra.</a:t>
            </a:r>
          </a:p>
          <a:p>
            <a:r>
              <a:rPr lang="en-US" dirty="0"/>
              <a:t>El puente a las prácticas: desde el Copilot Chat del Instituto sí se llega a los archivos de OneDrive, pero no hay un buscador que elija por ti. El menú sugiere archivos por nombre y por actividad reciente para que tú escojas; Microsoft reserva el índice semántico a la licencia de paga Microsoft 365 Copilot. Elegir un archivo equivale a subirlo a la conversación.</a:t>
            </a:r>
          </a:p>
        </p:txBody>
      </p:sp>
      <p:sp>
        <p:nvSpPr>
          <p:cNvPr id="4" name="Slide Number Placeholder 3"/>
          <p:cNvSpPr>
            <a:spLocks noGrp="1"/>
          </p:cNvSpPr>
          <p:nvPr>
            <p:ph type="sldNum" sz="quarter" idx="10"/>
          </p:nvPr>
        </p:nvSpPr>
        <p:spPr/>
        <p:txBody>
          <a:bodyPr/>
          <a:lstStyle/>
          <a:p>
            <a:fld id="{B3C21451-1387-4CA6-816F-3879F97B5CB9}"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Abre el bloque de explicación. Metáfora: adjuntar es poner los documentos sobre el escritorio; el modelo trabaja con lo que tú pusiste. RAG es una biblioteca con bibliotecario: alguien indexó el acervo y un buscador trae los fragmentos que parecen pertinentes.</a:t>
            </a:r>
          </a:p>
          <a:p>
            <a:r>
              <a:rPr lang="en-US" dirty="0"/>
              <a:t>Para economistas: el escritorio no tiene costo fijo y su costo marginal crece con cada página que se procesa en cada pregunta. La biblioteca tiene costo fijo (armar y mantener el índice) y consultas baratas. Ninguna de las dos garantiza la respuesta.</a:t>
            </a:r>
          </a:p>
          <a:p>
            <a:r>
              <a:rPr lang="en-US" dirty="0"/>
              <a:t>Cómo falla cada una. Escritorio: Liu y otros («Lost in the Middle», TACL 2024) mostraron con modelos de 2023 que lo que queda en medio del contexto se aprovecha peor. Los modelos actuales lo mitigaron en búsquedas sencillas, pero su exactitud sigue bajando conforme crece el contexto (RULER, NoLiMa). Biblioteca: si el buscador no recupera el fragmento correcto, el modelo contesta sin él. Por eso es falso que el RAG «asegure» la respuesta exacta.</a:t>
            </a:r>
          </a:p>
          <a:p>
            <a:r>
              <a:rPr lang="en-US" dirty="0"/>
              <a:t>Dato para quien pregunte: ChatGPT no carga siempre el archivo completo. OpenAI documenta que en Enterprise pega en el contexto hasta cierto número de tokens y manda todo el texto a un índice privado del que recupera fragmentos. No cites la cifra como fija: la página avisa que puede cambiar.</a:t>
            </a:r>
          </a:p>
        </p:txBody>
      </p:sp>
      <p:sp>
        <p:nvSpPr>
          <p:cNvPr id="4" name="Slide Number Placeholder 3"/>
          <p:cNvSpPr>
            <a:spLocks noGrp="1"/>
          </p:cNvSpPr>
          <p:nvPr>
            <p:ph type="sldNum" sz="quarter" idx="10"/>
          </p:nvPr>
        </p:nvSpPr>
        <p:spPr/>
        <p:txBody>
          <a:bodyPr/>
          <a:lstStyle/>
          <a:p>
            <a:fld id="{B3C21451-1387-4CA6-816F-3879F97B5CB9}" type="slidenum">
              <a:rPr lang="en-US"/>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Es la misma idea de la lámina anterior, dibujada. Arriba, todo el texto entra a la ventana. Abajo hay dos momentos: indexar una vez y, en cada pregunta, buscar, recuperar y responder.</a:t>
            </a:r>
          </a:p>
          <a:p>
            <a:r>
              <a:rPr lang="en-US" dirty="0"/>
              <a:t>El banner es lo importante: los productos mezclan los dos caminos y no te avisan. Por eso, desde fuera, no siempre sabes cuál te tocó.</a:t>
            </a:r>
          </a:p>
        </p:txBody>
      </p:sp>
      <p:sp>
        <p:nvSpPr>
          <p:cNvPr id="4" name="Slide Number Placeholder 3"/>
          <p:cNvSpPr>
            <a:spLocks noGrp="1"/>
          </p:cNvSpPr>
          <p:nvPr>
            <p:ph type="sldNum" sz="quarter" idx="10"/>
          </p:nvPr>
        </p:nvSpPr>
        <p:spPr/>
        <p:txBody>
          <a:bodyPr/>
          <a:lstStyle/>
          <a:p>
            <a:fld id="{B3C21451-1387-4CA6-816F-3879F97B5CB9}"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Es la lámina para el grupo técnico; con los economistas basta la idea: cuatro piezas hacen una demostración, y un RAG serio agrega búsqueda híbrida, reordenamiento y evaluación.</a:t>
            </a:r>
          </a:p>
          <a:p>
            <a:r>
              <a:rPr lang="en-US" dirty="0"/>
              <a:t>No se reentrena el modelo: el conocimiento nuevo le llega por el prompt. Si alguien pregunta por productos: Pinecone es servicio administrado, Chroma es código abierto, pgvector es una extensión de PostgreSQL. Flowise, que aparece en muchos resúmenes, anunció su cierre en 2026.</a:t>
            </a:r>
          </a:p>
          <a:p>
            <a:r>
              <a:rPr lang="en-US" dirty="0"/>
              <a:t>El ejemplo de la búsqueda híbrida es de su trabajo: una clave de programa o un número de oficio se encuentran por palabra, no por significado.</a:t>
            </a:r>
          </a:p>
        </p:txBody>
      </p:sp>
      <p:sp>
        <p:nvSpPr>
          <p:cNvPr id="4" name="Slide Number Placeholder 3"/>
          <p:cNvSpPr>
            <a:spLocks noGrp="1"/>
          </p:cNvSpPr>
          <p:nvPr>
            <p:ph type="sldNum" sz="quarter" idx="10"/>
          </p:nvPr>
        </p:nvSpPr>
        <p:spPr/>
        <p:txBody>
          <a:bodyPr/>
          <a:lstStyle/>
          <a:p>
            <a:fld id="{B3C21451-1387-4CA6-816F-3879F97B5CB9}" type="slidenum">
              <a:rPr lang="en-US"/>
              <a:t>21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la estructura de costos de una biblioteca: catalogar es el costo fijo; consultar es el costo marginal.</a:t>
            </a:r>
          </a:p>
          <a:p>
            <a:r>
              <a:rPr lang="en-US" dirty="0"/>
              <a:t>El banner explica por qué fragmentar mal arruina un RAG: al partir, cada fragmento pierde su contexto. Hay técnicas que se lo devuelven antes de indexar (Anthropic, «Introducing Contextual Retrieval», 2024).</a:t>
            </a:r>
          </a:p>
        </p:txBody>
      </p:sp>
      <p:sp>
        <p:nvSpPr>
          <p:cNvPr id="4" name="Slide Number Placeholder 3"/>
          <p:cNvSpPr>
            <a:spLocks noGrp="1"/>
          </p:cNvSpPr>
          <p:nvPr>
            <p:ph type="sldNum" sz="quarter" idx="10"/>
          </p:nvPr>
        </p:nvSpPr>
        <p:spPr/>
        <p:txBody>
          <a:bodyPr/>
          <a:lstStyle/>
          <a:p>
            <a:fld id="{B3C21451-1387-4CA6-816F-3879F97B5CB9}"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Es la lámina de los economistas: léela por renglones. Costo fijo contra costo marginal, espera, escala y modo de falla.</a:t>
            </a:r>
          </a:p>
          <a:p>
            <a:r>
              <a:rPr lang="en-US" dirty="0"/>
              <a:t>La única cifra de espera con fuente es la de Anthropic: 11.5 segundos para 100 mil tokens sin caché y 2.4 con caché. Las cifras de «30 a 45 segundos contra 1 o 2» circulan sin fuente; no las repitas.</a:t>
            </a:r>
          </a:p>
          <a:p>
            <a:r>
              <a:rPr lang="en-US" dirty="0"/>
              <a:t>Lo común en los modelos principales es una ventana de alrededor de un millón de tokens. Diez millones solo los anunció Llama 4 Scout (Meta, 2025).</a:t>
            </a:r>
          </a:p>
        </p:txBody>
      </p:sp>
      <p:sp>
        <p:nvSpPr>
          <p:cNvPr id="4" name="Slide Number Placeholder 3"/>
          <p:cNvSpPr>
            <a:spLocks noGrp="1"/>
          </p:cNvSpPr>
          <p:nvPr>
            <p:ph type="sldNum" sz="quarter" idx="10"/>
          </p:nvPr>
        </p:nvSpPr>
        <p:spPr/>
        <p:txBody>
          <a:bodyPr/>
          <a:lstStyle/>
          <a:p>
            <a:fld id="{B3C21451-1387-4CA6-816F-3879F97B5CB9}"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Cierra la explicación. La gráfica de la izquierda es un esquema de la forma en U, no los datos del artículo; dilo en voz alta.</a:t>
            </a:r>
          </a:p>
          <a:p>
            <a:r>
              <a:rPr lang="en-US" dirty="0"/>
              <a:t>A la derecha: el fragmento que sí respondía se quedó en el estante. Magesh y otros (2024) midieron herramientas jurídicas con RAG que se anunciaban sin alucinaciones: alucinaron entre 17% y 33% de las veces.</a:t>
            </a:r>
          </a:p>
          <a:p>
            <a:r>
              <a:rPr lang="en-US" dirty="0"/>
              <a:t>La defensa es la del protocolo del curso, paso uno: trazar. Con esto se van al receso.</a:t>
            </a:r>
          </a:p>
        </p:txBody>
      </p:sp>
      <p:sp>
        <p:nvSpPr>
          <p:cNvPr id="4" name="Slide Number Placeholder 3"/>
          <p:cNvSpPr>
            <a:spLocks noGrp="1"/>
          </p:cNvSpPr>
          <p:nvPr>
            <p:ph type="sldNum" sz="quarter" idx="10"/>
          </p:nvPr>
        </p:nvSpPr>
        <p:spPr/>
        <p:txBody>
          <a:bodyPr/>
          <a:lstStyle/>
          <a:p>
            <a:fld id="{B3C21451-1387-4CA6-816F-3879F97B5CB9}" type="slidenum">
              <a:rPr lang="en-US"/>
              <a:t>24</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Abre el bloque de prácticas: ubica cada herramienta del curso en uno de los dos caminos.</a:t>
            </a:r>
          </a:p>
          <a:p>
            <a:r>
              <a:rPr lang="en-US" dirty="0"/>
              <a:t>Primer renglón: desde Copilot Chat sí se llega a OneDrive; es acceso por selección, no búsqueda para contestar. Segundo renglón: la licencia de paga sí trae buscador, y ojo con Excel, que se encuentra solo por palabras clave.</a:t>
            </a:r>
          </a:p>
          <a:p>
            <a:r>
              <a:rPr lang="en-US" dirty="0"/>
              <a:t>Lo de «solo información verde» no es de adorno: es la regla del semáforo para todo lo que no sea Copilot Chat con cuenta institucional.</a:t>
            </a:r>
          </a:p>
        </p:txBody>
      </p:sp>
      <p:sp>
        <p:nvSpPr>
          <p:cNvPr id="4" name="Slide Number Placeholder 3"/>
          <p:cNvSpPr>
            <a:spLocks noGrp="1"/>
          </p:cNvSpPr>
          <p:nvPr>
            <p:ph type="sldNum" sz="quarter" idx="10"/>
          </p:nvPr>
        </p:nvSpPr>
        <p:spPr/>
        <p:txBody>
          <a:bodyPr/>
          <a:lstStyle/>
          <a:p>
            <a:fld id="{B3C21451-1387-4CA6-816F-3879F97B5CB9}" type="slidenum">
              <a:rPr lang="en-US"/>
              <a:t>25</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Cierre del bloque de RAG. Son frases que salen de resúmenes bien ordenados, de los que produce cualquier asistente; suenan correctas y no lo son.</a:t>
            </a:r>
          </a:p>
          <a:p>
            <a:r>
              <a:rPr lang="en-US" dirty="0"/>
              <a:t>Úsala como ejercicio del protocolo: ¿cómo verificarías cada una? Las fuentes están en el anexo de la sesión (Anexo_Ventana_de_contexto_y_RAG.pptx).</a:t>
            </a:r>
          </a:p>
        </p:txBody>
      </p:sp>
      <p:sp>
        <p:nvSpPr>
          <p:cNvPr id="4" name="Slide Number Placeholder 3"/>
          <p:cNvSpPr>
            <a:spLocks noGrp="1"/>
          </p:cNvSpPr>
          <p:nvPr>
            <p:ph type="sldNum" sz="quarter" idx="10"/>
          </p:nvPr>
        </p:nvSpPr>
        <p:spPr/>
        <p:txBody>
          <a:bodyPr/>
          <a:lstStyle/>
          <a:p>
            <a:fld id="{B3C21451-1387-4CA6-816F-3879F97B5CB9}" type="slidenum">
              <a:rPr lang="en-US"/>
              <a:t>26</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Veinte minutos de reloj. Es la práctica con su material real. Información verde o amarilla; roja, nunca. Es apta aquí porque Copilot Chat con cuenta institucional es la única herramienta con contrato, no porque el archivo se quede en OneDrive.</a:t>
            </a:r>
          </a:p>
          <a:p>
            <a:r>
              <a:rPr lang="en-US" dirty="0"/>
              <a:t>Minutos 0 a 6, pasos 1 y 2: elegir el asunto, crear la carpeta y renombrar tres o cuatro archivos. Un archivo recién renombrado puede tardar un par de minutos en aparecer en el menú de Copilot Chat.</a:t>
            </a:r>
          </a:p>
          <a:p>
            <a:r>
              <a:rPr lang="en-US" dirty="0"/>
              <a:t>Minutos 6 a 14, paso 3: una pregunta que de verdad necesiten contestar, escrita con las seis casillas (rol, objetivo, contexto, insumos, restricciones, formato de salida). Agregan solo los archivos pertinentes, uno o dos para empezar, y piden la cita del párrafo. No prometas que se puede agregar una carpeta completa de un golpe; para Copilot Chat sin licencia no está documentado. Microsoft no publica un tope de archivos por conversación; no cites cifras.</a:t>
            </a:r>
          </a:p>
          <a:p>
            <a:r>
              <a:rPr lang="en-US" dirty="0"/>
              <a:t>Minutos 14 a 18, paso 4: trazar una cita. Abrir el archivo, ir al párrafo y confirmar. Registrar el prompt y el resultado en la bitácora.</a:t>
            </a:r>
          </a:p>
          <a:p>
            <a:r>
              <a:rPr lang="en-US" dirty="0"/>
              <a:t>Minutos 18 a 20: dos personas cuentan qué encontraron al trazar. Si el documento era muy largo, pregunta si probaron con una sección intermedia.</a:t>
            </a:r>
          </a:p>
        </p:txBody>
      </p:sp>
      <p:sp>
        <p:nvSpPr>
          <p:cNvPr id="4" name="Slide Number Placeholder 3"/>
          <p:cNvSpPr>
            <a:spLocks noGrp="1"/>
          </p:cNvSpPr>
          <p:nvPr>
            <p:ph type="sldNum" sz="quarter" idx="10"/>
          </p:nvPr>
        </p:nvSpPr>
        <p:spPr/>
        <p:txBody>
          <a:bodyPr/>
          <a:lstStyle/>
          <a:p>
            <a:fld id="{B3C21451-1387-4CA6-816F-3879F97B5CB9}" type="slidenum">
              <a:rPr lang="en-US"/>
              <a:t>27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371600" y="-2011680"/>
            <a:ext cx="5852160" cy="5852160"/>
          </a:xfrm>
          <a:prstGeom prst="ellipse">
            <a:avLst/>
          </a:prstGeom>
          <a:solidFill>
            <a:srgbClr val="24404E"/>
          </a:solidFill>
          <a:ln w="12700">
            <a:solidFill>
              <a:srgbClr val="24404E"/>
            </a:solidFill>
            <a:prstDash val="solid"/>
          </a:ln>
        </p:spPr>
      </p:sp>
      <p:sp>
        <p:nvSpPr>
          <p:cNvPr id="3" name="Shape 1"/>
          <p:cNvSpPr/>
          <p:nvPr/>
        </p:nvSpPr>
        <p:spPr>
          <a:xfrm>
            <a:off x="9692640" y="4206240"/>
            <a:ext cx="4206240" cy="4206240"/>
          </a:xfrm>
          <a:prstGeom prst="ellipse">
            <a:avLst/>
          </a:prstGeom>
          <a:solidFill>
            <a:srgbClr val="24404E"/>
          </a:solidFill>
          <a:ln w="12700">
            <a:solidFill>
              <a:srgbClr val="24404E"/>
            </a:solidFill>
            <a:prstDash val="solid"/>
          </a:ln>
        </p:spPr>
      </p:sp>
      <p:sp>
        <p:nvSpPr>
          <p:cNvPr id="4" name="Text 2"/>
          <p:cNvSpPr txBox="1"/>
          <p:nvPr/>
        </p:nvSpPr>
        <p:spPr>
          <a:xfrm>
            <a:off x="566928" y="1417320"/>
            <a:ext cx="10424160" cy="365760"/>
          </a:xfrm>
          <a:prstGeom prst="rect">
            <a:avLst/>
          </a:prstGeom>
          <a:noFill/>
          <a:ln/>
        </p:spPr>
        <p:txBody>
          <a:bodyPr wrap="square" lIns="0" tIns="0" rIns="0" bIns="0" rtlCol="0" anchor="ctr"/>
          <a:lstStyle/>
          <a:p>
            <a:pPr indent="0" marL="0">
              <a:buNone/>
            </a:pPr>
            <a:r>
              <a:rPr lang="en-US" sz="1500" b="1" spc="200" kern="0" dirty="0">
                <a:solidFill>
                  <a:srgbClr val="D7E7E7"/>
                </a:solidFill>
                <a:latin typeface="Calibri" pitchFamily="34" charset="0"/>
                <a:ea typeface="Calibri" pitchFamily="34" charset="-122"/>
                <a:cs typeface="Calibri" pitchFamily="34" charset="-120"/>
              </a:rPr>
              <a:t>MÓDULO II. ANÁLISIS CUALITATIVO ASISTIDO POR IA</a:t>
            </a:r>
            <a:endParaRPr lang="en-US" sz="1500" dirty="0"/>
          </a:p>
        </p:txBody>
      </p:sp>
      <p:sp>
        <p:nvSpPr>
          <p:cNvPr id="5" name="Text 3"/>
          <p:cNvSpPr txBox="1"/>
          <p:nvPr/>
        </p:nvSpPr>
        <p:spPr>
          <a:xfrm>
            <a:off x="566928" y="1874520"/>
            <a:ext cx="10424160" cy="640080"/>
          </a:xfrm>
          <a:prstGeom prst="rect">
            <a:avLst/>
          </a:prstGeom>
          <a:noFill/>
          <a:ln/>
        </p:spPr>
        <p:txBody>
          <a:bodyPr wrap="square" lIns="0" tIns="0" rIns="0" bIns="0" rtlCol="0" anchor="ctr"/>
          <a:lstStyle/>
          <a:p>
            <a:pPr indent="0" marL="0">
              <a:buNone/>
            </a:pPr>
            <a:r>
              <a:rPr lang="en-US" sz="4400" b="1" dirty="0">
                <a:solidFill>
                  <a:srgbClr val="C85A28"/>
                </a:solidFill>
                <a:latin typeface="Arial" pitchFamily="34" charset="0"/>
                <a:ea typeface="Arial" pitchFamily="34" charset="-122"/>
                <a:cs typeface="Arial" pitchFamily="34" charset="-120"/>
              </a:rPr>
              <a:t>Sesión 5</a:t>
            </a:r>
            <a:endParaRPr lang="en-US" sz="4400" dirty="0"/>
          </a:p>
        </p:txBody>
      </p:sp>
      <p:sp>
        <p:nvSpPr>
          <p:cNvPr id="6" name="Text 4"/>
          <p:cNvSpPr txBox="1"/>
          <p:nvPr/>
        </p:nvSpPr>
        <p:spPr>
          <a:xfrm>
            <a:off x="566928" y="2560320"/>
            <a:ext cx="10607040" cy="155448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Plataformas de análisis cualitativo: codificar, medir postura y comparar contra Copilot</a:t>
            </a:r>
            <a:endParaRPr lang="en-US" sz="3400" dirty="0"/>
          </a:p>
        </p:txBody>
      </p:sp>
      <p:sp>
        <p:nvSpPr>
          <p:cNvPr id="7" name="Shape 5"/>
          <p:cNvSpPr/>
          <p:nvPr/>
        </p:nvSpPr>
        <p:spPr>
          <a:xfrm>
            <a:off x="566928" y="4480560"/>
            <a:ext cx="5120640" cy="54864"/>
          </a:xfrm>
          <a:prstGeom prst="roundRect">
            <a:avLst>
              <a:gd name="adj" fmla="val 50000"/>
            </a:avLst>
          </a:prstGeom>
          <a:solidFill>
            <a:srgbClr val="2E7D7D"/>
          </a:solidFill>
          <a:ln w="12700">
            <a:solidFill>
              <a:srgbClr val="2E7D7D"/>
            </a:solidFill>
            <a:prstDash val="solid"/>
          </a:ln>
        </p:spPr>
      </p:sp>
      <p:sp>
        <p:nvSpPr>
          <p:cNvPr id="8" name="Text 6"/>
          <p:cNvSpPr txBox="1"/>
          <p:nvPr/>
        </p:nvSpPr>
        <p:spPr>
          <a:xfrm>
            <a:off x="566928" y="4709160"/>
            <a:ext cx="10424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Lunes 21 de septiembre de 2026, 9:00 a 11:30 horas</a:t>
            </a:r>
            <a:endParaRPr lang="en-US" sz="1600" dirty="0"/>
          </a:p>
        </p:txBody>
      </p:sp>
      <p:sp>
        <p:nvSpPr>
          <p:cNvPr id="9" name="Text 7"/>
          <p:cNvSpPr txBox="1"/>
          <p:nvPr/>
        </p:nvSpPr>
        <p:spPr>
          <a:xfrm>
            <a:off x="566928" y="5120640"/>
            <a:ext cx="10424160" cy="365760"/>
          </a:xfrm>
          <a:prstGeom prst="rect">
            <a:avLst/>
          </a:prstGeom>
          <a:noFill/>
          <a:ln/>
        </p:spPr>
        <p:txBody>
          <a:bodyPr wrap="square" lIns="0" tIns="0" rIns="0" bIns="0" rtlCol="0" anchor="ctr"/>
          <a:lstStyle/>
          <a:p>
            <a:pPr indent="0" marL="0">
              <a:buNone/>
            </a:pPr>
            <a:r>
              <a:rPr lang="en-US" sz="1300" dirty="0">
                <a:solidFill>
                  <a:srgbClr val="D7E7E7"/>
                </a:solidFill>
                <a:latin typeface="Calibri" pitchFamily="34" charset="0"/>
                <a:ea typeface="Calibri" pitchFamily="34" charset="-122"/>
                <a:cs typeface="Calibri" pitchFamily="34" charset="-120"/>
              </a:rPr>
              <a:t>Curso de Inteligencia Artificial Aplicada. INEGI 2026. CC BY-NC-SA 4.0.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vamos a usar los 150 minutos</a:t>
            </a:r>
            <a:endParaRPr lang="en-US" sz="3200" dirty="0"/>
          </a:p>
        </p:txBody>
      </p:sp>
      <p:sp>
        <p:nvSpPr>
          <p:cNvPr id="3" name="Shape 1"/>
          <p:cNvSpPr/>
          <p:nvPr/>
        </p:nvSpPr>
        <p:spPr>
          <a:xfrm>
            <a:off x="9485071" y="457200"/>
            <a:ext cx="2139696" cy="347472"/>
          </a:xfrm>
          <a:prstGeom prst="roundRect">
            <a:avLst>
              <a:gd name="adj" fmla="val 50000"/>
            </a:avLst>
          </a:prstGeom>
          <a:solidFill>
            <a:srgbClr val="F2F5F6"/>
          </a:solidFill>
          <a:ln w="12700">
            <a:solidFill>
              <a:srgbClr val="F2F5F6"/>
            </a:solidFill>
            <a:prstDash val="solid"/>
          </a:ln>
        </p:spPr>
      </p:sp>
      <p:sp>
        <p:nvSpPr>
          <p:cNvPr id="4" name="Text 2"/>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5A6B73"/>
                </a:solidFill>
                <a:latin typeface="Calibri" pitchFamily="34" charset="0"/>
                <a:ea typeface="Calibri" pitchFamily="34" charset="-122"/>
                <a:cs typeface="Calibri" pitchFamily="34" charset="-120"/>
              </a:rPr>
              <a:t>9:00 a 11:30</a:t>
            </a:r>
            <a:endParaRPr lang="en-US" sz="1200" dirty="0"/>
          </a:p>
        </p:txBody>
      </p:sp>
      <p:sp>
        <p:nvSpPr>
          <p:cNvPr id="5" name="Shape 3"/>
          <p:cNvSpPr/>
          <p:nvPr/>
        </p:nvSpPr>
        <p:spPr>
          <a:xfrm>
            <a:off x="566928" y="1408176"/>
            <a:ext cx="5364328" cy="1081278"/>
          </a:xfrm>
          <a:prstGeom prst="roundRect">
            <a:avLst>
              <a:gd name="adj" fmla="val 5920"/>
            </a:avLst>
          </a:prstGeom>
          <a:solidFill>
            <a:srgbClr val="F2F5F6"/>
          </a:solidFill>
          <a:ln w="12700">
            <a:solidFill>
              <a:srgbClr val="F2F5F6"/>
            </a:solidFill>
            <a:prstDash val="solid"/>
          </a:ln>
        </p:spPr>
      </p:sp>
      <p:sp>
        <p:nvSpPr>
          <p:cNvPr id="6" name="Text 4"/>
          <p:cNvSpPr txBox="1"/>
          <p:nvPr/>
        </p:nvSpPr>
        <p:spPr>
          <a:xfrm>
            <a:off x="786384"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9:00</a:t>
            </a:r>
            <a:endParaRPr lang="en-US" sz="1300" dirty="0"/>
          </a:p>
        </p:txBody>
      </p:sp>
      <p:sp>
        <p:nvSpPr>
          <p:cNvPr id="7" name="Text 5"/>
          <p:cNvSpPr txBox="1"/>
          <p:nvPr/>
        </p:nvSpPr>
        <p:spPr>
          <a:xfrm>
            <a:off x="2194560"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El mapa del ecosistema, con las categorías del Instituto</a:t>
            </a:r>
            <a:endParaRPr lang="en-US" sz="1350" dirty="0"/>
          </a:p>
        </p:txBody>
      </p:sp>
      <p:sp>
        <p:nvSpPr>
          <p:cNvPr id="8" name="Shape 6"/>
          <p:cNvSpPr/>
          <p:nvPr/>
        </p:nvSpPr>
        <p:spPr>
          <a:xfrm>
            <a:off x="566928" y="2635758"/>
            <a:ext cx="5364328" cy="1081278"/>
          </a:xfrm>
          <a:prstGeom prst="roundRect">
            <a:avLst>
              <a:gd name="adj" fmla="val 5920"/>
            </a:avLst>
          </a:prstGeom>
          <a:solidFill>
            <a:srgbClr val="F2F5F6"/>
          </a:solidFill>
          <a:ln w="12700">
            <a:solidFill>
              <a:srgbClr val="F2F5F6"/>
            </a:solidFill>
            <a:prstDash val="solid"/>
          </a:ln>
        </p:spPr>
      </p:sp>
      <p:sp>
        <p:nvSpPr>
          <p:cNvPr id="9" name="Text 7"/>
          <p:cNvSpPr txBox="1"/>
          <p:nvPr/>
        </p:nvSpPr>
        <p:spPr>
          <a:xfrm>
            <a:off x="786384"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9:15</a:t>
            </a:r>
            <a:endParaRPr lang="en-US" sz="1300" dirty="0"/>
          </a:p>
        </p:txBody>
      </p:sp>
      <p:sp>
        <p:nvSpPr>
          <p:cNvPr id="10" name="Text 8"/>
          <p:cNvSpPr txBox="1"/>
          <p:nvPr/>
        </p:nvSpPr>
        <p:spPr>
          <a:xfrm>
            <a:off x="2194560"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La tarea: cada equipo evalúa su herramienta en casa</a:t>
            </a:r>
            <a:endParaRPr lang="en-US" sz="1350" dirty="0"/>
          </a:p>
        </p:txBody>
      </p:sp>
      <p:sp>
        <p:nvSpPr>
          <p:cNvPr id="11" name="Shape 9"/>
          <p:cNvSpPr/>
          <p:nvPr/>
        </p:nvSpPr>
        <p:spPr>
          <a:xfrm>
            <a:off x="566928" y="3863340"/>
            <a:ext cx="5364328" cy="1081278"/>
          </a:xfrm>
          <a:prstGeom prst="roundRect">
            <a:avLst>
              <a:gd name="adj" fmla="val 5920"/>
            </a:avLst>
          </a:prstGeom>
          <a:solidFill>
            <a:srgbClr val="F2F5F6"/>
          </a:solidFill>
          <a:ln w="12700">
            <a:solidFill>
              <a:srgbClr val="F2F5F6"/>
            </a:solidFill>
            <a:prstDash val="solid"/>
          </a:ln>
        </p:spPr>
      </p:sp>
      <p:sp>
        <p:nvSpPr>
          <p:cNvPr id="12" name="Text 10"/>
          <p:cNvSpPr txBox="1"/>
          <p:nvPr/>
        </p:nvSpPr>
        <p:spPr>
          <a:xfrm>
            <a:off x="786384"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9:30</a:t>
            </a:r>
            <a:endParaRPr lang="en-US" sz="1300" dirty="0"/>
          </a:p>
        </p:txBody>
      </p:sp>
      <p:sp>
        <p:nvSpPr>
          <p:cNvPr id="13" name="Text 11"/>
          <p:cNvSpPr txBox="1"/>
          <p:nvPr/>
        </p:nvSpPr>
        <p:spPr>
          <a:xfrm>
            <a:off x="2194560"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RAG, la explicación: cuando la herramienta busca por ti</a:t>
            </a:r>
            <a:endParaRPr lang="en-US" sz="1350" dirty="0"/>
          </a:p>
        </p:txBody>
      </p:sp>
      <p:sp>
        <p:nvSpPr>
          <p:cNvPr id="14" name="Shape 12"/>
          <p:cNvSpPr/>
          <p:nvPr/>
        </p:nvSpPr>
        <p:spPr>
          <a:xfrm>
            <a:off x="566928" y="5090922"/>
            <a:ext cx="5364328" cy="1081278"/>
          </a:xfrm>
          <a:prstGeom prst="roundRect">
            <a:avLst>
              <a:gd name="adj" fmla="val 5920"/>
            </a:avLst>
          </a:prstGeom>
          <a:solidFill>
            <a:srgbClr val="F7E4D8"/>
          </a:solidFill>
          <a:ln w="12700">
            <a:solidFill>
              <a:srgbClr val="F7E4D8"/>
            </a:solidFill>
            <a:prstDash val="solid"/>
          </a:ln>
        </p:spPr>
      </p:sp>
      <p:sp>
        <p:nvSpPr>
          <p:cNvPr id="15" name="Text 13"/>
          <p:cNvSpPr txBox="1"/>
          <p:nvPr/>
        </p:nvSpPr>
        <p:spPr>
          <a:xfrm>
            <a:off x="786384" y="5090922"/>
            <a:ext cx="1371600" cy="1081278"/>
          </a:xfrm>
          <a:prstGeom prst="rect">
            <a:avLst/>
          </a:prstGeom>
          <a:noFill/>
          <a:ln/>
        </p:spPr>
        <p:txBody>
          <a:bodyPr wrap="square" lIns="0" tIns="0" rIns="0" bIns="0" rtlCol="0" anchor="ctr"/>
          <a:lstStyle/>
          <a:p>
            <a:pPr indent="0" marL="0">
              <a:buNone/>
            </a:pPr>
            <a:r>
              <a:rPr lang="en-US" sz="1300" b="1" dirty="0">
                <a:solidFill>
                  <a:srgbClr val="C85A28"/>
                </a:solidFill>
                <a:latin typeface="Arial" pitchFamily="34" charset="0"/>
                <a:ea typeface="Arial" pitchFamily="34" charset="-122"/>
                <a:cs typeface="Arial" pitchFamily="34" charset="-120"/>
              </a:rPr>
              <a:t>10:10</a:t>
            </a:r>
            <a:endParaRPr lang="en-US" sz="1300" dirty="0"/>
          </a:p>
        </p:txBody>
      </p:sp>
      <p:sp>
        <p:nvSpPr>
          <p:cNvPr id="16" name="Text 14"/>
          <p:cNvSpPr txBox="1"/>
          <p:nvPr/>
        </p:nvSpPr>
        <p:spPr>
          <a:xfrm>
            <a:off x="2194560"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Receso de diez minutos</a:t>
            </a:r>
            <a:endParaRPr lang="en-US" sz="1350" dirty="0"/>
          </a:p>
        </p:txBody>
      </p:sp>
      <p:sp>
        <p:nvSpPr>
          <p:cNvPr id="17" name="Shape 15"/>
          <p:cNvSpPr/>
          <p:nvPr/>
        </p:nvSpPr>
        <p:spPr>
          <a:xfrm>
            <a:off x="6260440" y="1408176"/>
            <a:ext cx="5364328" cy="1081278"/>
          </a:xfrm>
          <a:prstGeom prst="roundRect">
            <a:avLst>
              <a:gd name="adj" fmla="val 5920"/>
            </a:avLst>
          </a:prstGeom>
          <a:solidFill>
            <a:srgbClr val="F2F5F6"/>
          </a:solidFill>
          <a:ln w="12700">
            <a:solidFill>
              <a:srgbClr val="F2F5F6"/>
            </a:solidFill>
            <a:prstDash val="solid"/>
          </a:ln>
        </p:spPr>
      </p:sp>
      <p:sp>
        <p:nvSpPr>
          <p:cNvPr id="18" name="Text 16"/>
          <p:cNvSpPr txBox="1"/>
          <p:nvPr/>
        </p:nvSpPr>
        <p:spPr>
          <a:xfrm>
            <a:off x="6479896"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10:20</a:t>
            </a:r>
            <a:endParaRPr lang="en-US" sz="1300" dirty="0"/>
          </a:p>
        </p:txBody>
      </p:sp>
      <p:sp>
        <p:nvSpPr>
          <p:cNvPr id="19" name="Text 17"/>
          <p:cNvSpPr txBox="1"/>
          <p:nvPr/>
        </p:nvSpPr>
        <p:spPr>
          <a:xfrm>
            <a:off x="7888072"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Práctica 1: ¿Copilot Chat encuentra solo tus archivos?</a:t>
            </a:r>
            <a:endParaRPr lang="en-US" sz="1350" dirty="0"/>
          </a:p>
        </p:txBody>
      </p:sp>
      <p:sp>
        <p:nvSpPr>
          <p:cNvPr id="20" name="Shape 18"/>
          <p:cNvSpPr/>
          <p:nvPr/>
        </p:nvSpPr>
        <p:spPr>
          <a:xfrm>
            <a:off x="6260440" y="2635758"/>
            <a:ext cx="5364328" cy="1081278"/>
          </a:xfrm>
          <a:prstGeom prst="roundRect">
            <a:avLst>
              <a:gd name="adj" fmla="val 5920"/>
            </a:avLst>
          </a:prstGeom>
          <a:solidFill>
            <a:srgbClr val="F2F5F6"/>
          </a:solidFill>
          <a:ln w="12700">
            <a:solidFill>
              <a:srgbClr val="F2F5F6"/>
            </a:solidFill>
            <a:prstDash val="solid"/>
          </a:ln>
        </p:spPr>
      </p:sp>
      <p:sp>
        <p:nvSpPr>
          <p:cNvPr id="21" name="Text 19"/>
          <p:cNvSpPr txBox="1"/>
          <p:nvPr/>
        </p:nvSpPr>
        <p:spPr>
          <a:xfrm>
            <a:off x="6479896"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10:40</a:t>
            </a:r>
            <a:endParaRPr lang="en-US" sz="1300" dirty="0"/>
          </a:p>
        </p:txBody>
      </p:sp>
      <p:sp>
        <p:nvSpPr>
          <p:cNvPr id="22" name="Text 20"/>
          <p:cNvSpPr txBox="1"/>
          <p:nvPr/>
        </p:nvSpPr>
        <p:spPr>
          <a:xfrm>
            <a:off x="7888072"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Práctica 2: tu base documental y una pregunta real</a:t>
            </a:r>
            <a:endParaRPr lang="en-US" sz="1350" dirty="0"/>
          </a:p>
        </p:txBody>
      </p:sp>
      <p:sp>
        <p:nvSpPr>
          <p:cNvPr id="23" name="Shape 21"/>
          <p:cNvSpPr/>
          <p:nvPr/>
        </p:nvSpPr>
        <p:spPr>
          <a:xfrm>
            <a:off x="6260440" y="3863340"/>
            <a:ext cx="5364328" cy="1081278"/>
          </a:xfrm>
          <a:prstGeom prst="roundRect">
            <a:avLst>
              <a:gd name="adj" fmla="val 5920"/>
            </a:avLst>
          </a:prstGeom>
          <a:solidFill>
            <a:srgbClr val="F2F5F6"/>
          </a:solidFill>
          <a:ln w="12700">
            <a:solidFill>
              <a:srgbClr val="F2F5F6"/>
            </a:solidFill>
            <a:prstDash val="solid"/>
          </a:ln>
        </p:spPr>
      </p:sp>
      <p:sp>
        <p:nvSpPr>
          <p:cNvPr id="24" name="Text 22"/>
          <p:cNvSpPr txBox="1"/>
          <p:nvPr/>
        </p:nvSpPr>
        <p:spPr>
          <a:xfrm>
            <a:off x="6479896"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11:05</a:t>
            </a:r>
            <a:endParaRPr lang="en-US" sz="1300" dirty="0"/>
          </a:p>
        </p:txBody>
      </p:sp>
      <p:sp>
        <p:nvSpPr>
          <p:cNvPr id="25" name="Text 23"/>
          <p:cNvSpPr txBox="1"/>
          <p:nvPr/>
        </p:nvSpPr>
        <p:spPr>
          <a:xfrm>
            <a:off x="7888072"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Demostración del software cualitativo especializado</a:t>
            </a:r>
            <a:endParaRPr lang="en-US" sz="1350" dirty="0"/>
          </a:p>
        </p:txBody>
      </p:sp>
      <p:sp>
        <p:nvSpPr>
          <p:cNvPr id="26" name="Shape 24"/>
          <p:cNvSpPr/>
          <p:nvPr/>
        </p:nvSpPr>
        <p:spPr>
          <a:xfrm>
            <a:off x="6260440" y="5090922"/>
            <a:ext cx="5364328" cy="1081278"/>
          </a:xfrm>
          <a:prstGeom prst="roundRect">
            <a:avLst>
              <a:gd name="adj" fmla="val 5920"/>
            </a:avLst>
          </a:prstGeom>
          <a:solidFill>
            <a:srgbClr val="F2F5F6"/>
          </a:solidFill>
          <a:ln w="12700">
            <a:solidFill>
              <a:srgbClr val="F2F5F6"/>
            </a:solidFill>
            <a:prstDash val="solid"/>
          </a:ln>
        </p:spPr>
      </p:sp>
      <p:sp>
        <p:nvSpPr>
          <p:cNvPr id="27" name="Text 25"/>
          <p:cNvSpPr txBox="1"/>
          <p:nvPr/>
        </p:nvSpPr>
        <p:spPr>
          <a:xfrm>
            <a:off x="6479896"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11:20</a:t>
            </a:r>
            <a:endParaRPr lang="en-US" sz="1300" dirty="0"/>
          </a:p>
        </p:txBody>
      </p:sp>
      <p:sp>
        <p:nvSpPr>
          <p:cNvPr id="28" name="Text 26"/>
          <p:cNvSpPr txBox="1"/>
          <p:nvPr/>
        </p:nvSpPr>
        <p:spPr>
          <a:xfrm>
            <a:off x="7888072"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Cierre: lo que te llevas de tarea</a:t>
            </a:r>
            <a:endParaRPr lang="en-US" sz="1350" dirty="0"/>
          </a:p>
        </p:txBody>
      </p:sp>
      <p:sp>
        <p:nvSpPr>
          <p:cNvPr id="29" name="Text 27"/>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La evaluación de herramientas se va de tarea, sobre el corpus y el libro de códigos que ratificaste el viernes. El tiempo de clase de hoy es para RAG.</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Lo que la tarea tiene que contestar</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Tres preguntas que vienen del contrato del curso. Las respondes en equipo, de tarea, con tu propio trabajo, y se entregan mañana.</a:t>
            </a:r>
            <a:endParaRPr lang="en-US" sz="1500" dirty="0"/>
          </a:p>
        </p:txBody>
      </p:sp>
      <p:sp>
        <p:nvSpPr>
          <p:cNvPr id="4" name="Shape 2"/>
          <p:cNvSpPr/>
          <p:nvPr/>
        </p:nvSpPr>
        <p:spPr>
          <a:xfrm>
            <a:off x="566928" y="2011680"/>
            <a:ext cx="3503066" cy="2757932"/>
          </a:xfrm>
          <a:prstGeom prst="roundRect">
            <a:avLst>
              <a:gd name="adj" fmla="val 2652"/>
            </a:avLst>
          </a:prstGeom>
          <a:solidFill>
            <a:srgbClr val="D7E7E7"/>
          </a:solidFill>
          <a:ln w="12700">
            <a:solidFill>
              <a:srgbClr val="D7E7E7"/>
            </a:solidFill>
            <a:prstDash val="solid"/>
          </a:ln>
        </p:spPr>
      </p:sp>
      <p:sp>
        <p:nvSpPr>
          <p:cNvPr id="5" name="Shape 3"/>
          <p:cNvSpPr/>
          <p:nvPr/>
        </p:nvSpPr>
        <p:spPr>
          <a:xfrm>
            <a:off x="804672" y="2231136"/>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tan bien codifica cada herramienta?</a:t>
            </a:r>
            <a:endParaRPr lang="en-US" sz="1600" dirty="0"/>
          </a:p>
        </p:txBody>
      </p:sp>
      <p:sp>
        <p:nvSpPr>
          <p:cNvPr id="8" name="Text 6"/>
          <p:cNvSpPr txBox="1"/>
          <p:nvPr/>
        </p:nvSpPr>
        <p:spPr>
          <a:xfrm>
            <a:off x="804672" y="3527552"/>
            <a:ext cx="3027578" cy="104089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Aplicar tu libro de códigos ratificado sobre el mismo corpus, con una herramienta distinta a Copilot.</a:t>
            </a:r>
            <a:endParaRPr lang="en-US" sz="1300" dirty="0"/>
          </a:p>
        </p:txBody>
      </p:sp>
      <p:sp>
        <p:nvSpPr>
          <p:cNvPr id="9" name="Shape 7"/>
          <p:cNvSpPr/>
          <p:nvPr/>
        </p:nvSpPr>
        <p:spPr>
          <a:xfrm>
            <a:off x="4344314" y="2011680"/>
            <a:ext cx="3503066" cy="2757932"/>
          </a:xfrm>
          <a:prstGeom prst="roundRect">
            <a:avLst>
              <a:gd name="adj" fmla="val 2652"/>
            </a:avLst>
          </a:prstGeom>
          <a:solidFill>
            <a:srgbClr val="D7E7E7"/>
          </a:solidFill>
          <a:ln w="12700">
            <a:solidFill>
              <a:srgbClr val="D7E7E7"/>
            </a:solidFill>
            <a:prstDash val="solid"/>
          </a:ln>
        </p:spPr>
      </p:sp>
      <p:sp>
        <p:nvSpPr>
          <p:cNvPr id="10" name="Shape 8"/>
          <p:cNvSpPr/>
          <p:nvPr/>
        </p:nvSpPr>
        <p:spPr>
          <a:xfrm>
            <a:off x="4582058" y="2231136"/>
            <a:ext cx="420624" cy="420624"/>
          </a:xfrm>
          <a:prstGeom prst="ellipse">
            <a:avLst/>
          </a:prstGeom>
          <a:solidFill>
            <a:srgbClr val="2E7D7D"/>
          </a:solidFill>
          <a:ln w="12700">
            <a:solidFill>
              <a:srgbClr val="2E7D7D"/>
            </a:solidFill>
            <a:prstDash val="solid"/>
          </a:ln>
        </p:spPr>
      </p:sp>
      <p:sp>
        <p:nvSpPr>
          <p:cNvPr id="11" name="Text 9"/>
          <p:cNvSpPr txBox="1"/>
          <p:nvPr/>
        </p:nvSpPr>
        <p:spPr>
          <a:xfrm>
            <a:off x="4582058"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¿Y qué tan bien mide postura?</a:t>
            </a:r>
            <a:endParaRPr lang="en-US" sz="1600" dirty="0"/>
          </a:p>
        </p:txBody>
      </p:sp>
      <p:sp>
        <p:nvSpPr>
          <p:cNvPr id="13" name="Text 11"/>
          <p:cNvSpPr txBox="1"/>
          <p:nvPr/>
        </p:nvSpPr>
        <p:spPr>
          <a:xfrm>
            <a:off x="4582058" y="3263392"/>
            <a:ext cx="3027578" cy="130505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Clasificar polaridad y causa raíz sobre las transcripciones de foro, otra vez con tu herramienta asignada.</a:t>
            </a:r>
            <a:endParaRPr lang="en-US" sz="1300" dirty="0"/>
          </a:p>
        </p:txBody>
      </p:sp>
      <p:sp>
        <p:nvSpPr>
          <p:cNvPr id="14" name="Shape 12"/>
          <p:cNvSpPr/>
          <p:nvPr/>
        </p:nvSpPr>
        <p:spPr>
          <a:xfrm>
            <a:off x="8121701" y="2011680"/>
            <a:ext cx="3503066" cy="2757932"/>
          </a:xfrm>
          <a:prstGeom prst="roundRect">
            <a:avLst>
              <a:gd name="adj" fmla="val 2652"/>
            </a:avLst>
          </a:prstGeom>
          <a:solidFill>
            <a:srgbClr val="F7E4D8"/>
          </a:solidFill>
          <a:ln w="12700">
            <a:solidFill>
              <a:srgbClr val="F7E4D8"/>
            </a:solidFill>
            <a:prstDash val="solid"/>
          </a:ln>
        </p:spPr>
      </p:sp>
      <p:sp>
        <p:nvSpPr>
          <p:cNvPr id="15" name="Shape 13"/>
          <p:cNvSpPr/>
          <p:nvPr/>
        </p:nvSpPr>
        <p:spPr>
          <a:xfrm>
            <a:off x="8359445" y="2231136"/>
            <a:ext cx="420624" cy="420624"/>
          </a:xfrm>
          <a:prstGeom prst="ellipse">
            <a:avLst/>
          </a:prstGeom>
          <a:solidFill>
            <a:srgbClr val="C85A28"/>
          </a:solidFill>
          <a:ln w="12700">
            <a:solidFill>
              <a:srgbClr val="C85A28"/>
            </a:solidFill>
            <a:prstDash val="solid"/>
          </a:ln>
        </p:spPr>
      </p:sp>
      <p:sp>
        <p:nvSpPr>
          <p:cNvPr id="16" name="Text 14"/>
          <p:cNvSpPr txBox="1"/>
          <p:nvPr/>
        </p:nvSpPr>
        <p:spPr>
          <a:xfrm>
            <a:off x="8359445"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¿En qué es mejor o peor que Copilot?</a:t>
            </a:r>
            <a:endParaRPr lang="en-US" sz="1600" dirty="0"/>
          </a:p>
        </p:txBody>
      </p:sp>
      <p:sp>
        <p:nvSpPr>
          <p:cNvPr id="18" name="Text 16"/>
          <p:cNvSpPr txBox="1"/>
          <p:nvPr/>
        </p:nvSpPr>
        <p:spPr>
          <a:xfrm>
            <a:off x="8359445" y="3527552"/>
            <a:ext cx="3027578" cy="104089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Esa comparación es el entregable de la tarea y es lo que el curso se comprometió a producir.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PRIMER BLOQUE</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El mapa del ecosistema</a:t>
            </a:r>
            <a:endParaRPr lang="en-US" sz="3400" dirty="0"/>
          </a:p>
        </p:txBody>
      </p:sp>
      <p:sp>
        <p:nvSpPr>
          <p:cNvPr id="6" name="Shape 4"/>
          <p:cNvSpPr/>
          <p:nvPr/>
        </p:nvSpPr>
        <p:spPr>
          <a:xfrm>
            <a:off x="9631375" y="457200"/>
            <a:ext cx="1993392"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631375" y="457200"/>
            <a:ext cx="199339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9:00 a 9:15</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Las categorías son las del Instituto, no las mías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Vienen de la lista de verificación de acceso que elaboró el propio INEGI. Así queda claro qué cubre el curso de esa lista.</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901952"/>
          <a:ext cx="11057839" cy="914400"/>
        </p:xfrm>
        <a:graphic>
          <a:graphicData uri="http://schemas.openxmlformats.org/drawingml/2006/table">
            <a:tbl>
              <a:tblPr/>
              <a:tblGrid>
                <a:gridCol w="2743200"/>
                <a:gridCol w="3931920"/>
                <a:gridCol w="4389120"/>
              </a:tblGrid>
              <a:tr h="45720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Categoría</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Abre desde la red</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Dónde se usa en el curso</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Asistentes generales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Copilot, ChatGPT, Claude, Gemini</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Todo el curso. En la tarea, para codificar.</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Búsqueda e investigación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Perplexity, You.com</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En la tarea, para sustentar hallazgos con fuentes.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Investigación académica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Elicit, Consensus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En la tarea, para buscar literatura de evaluación.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Productividad e investigación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NotebookLM (hoy Gemini Notebook), bloqueada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Hoy, en demostración.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Código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Colab, Replit, GitHub Copilot, v0, Bolt</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Módulos III y IV.</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Imagen, presentaciones y video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Firefly y Luma abren. Gamma no.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Módulo IV.</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De las 31 herramientas de la lista del Instituto, el curso usa 15 en ejercicio y cubre 4 más por demostración.</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0058400" y="-1463040"/>
            <a:ext cx="4023360" cy="4023360"/>
          </a:xfrm>
          <a:prstGeom prst="ellipse">
            <a:avLst/>
          </a:prstGeom>
          <a:solidFill>
            <a:srgbClr val="24404E"/>
          </a:solidFill>
          <a:ln w="12700">
            <a:solidFill>
              <a:srgbClr val="24404E"/>
            </a:solidFill>
            <a:prstDash val="solid"/>
          </a:ln>
        </p:spPr>
      </p:sp>
      <p:sp>
        <p:nvSpPr>
          <p:cNvPr id="3" name="Text 1"/>
          <p:cNvSpPr txBox="1"/>
          <p:nvPr/>
        </p:nvSpPr>
        <p:spPr>
          <a:xfrm>
            <a:off x="932688" y="13716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CÓMO LEER ESTE MAPA</a:t>
            </a:r>
            <a:endParaRPr lang="en-US" sz="1400" dirty="0"/>
          </a:p>
        </p:txBody>
      </p:sp>
      <p:sp>
        <p:nvSpPr>
          <p:cNvPr id="4" name="Text 2"/>
          <p:cNvSpPr txBox="1"/>
          <p:nvPr/>
        </p:nvSpPr>
        <p:spPr>
          <a:xfrm>
            <a:off x="932688" y="1828800"/>
            <a:ext cx="10241280" cy="237744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Por tarea, no por marca. Es la única forma de que te siga sirviendo dentro de seis meses.</a:t>
            </a:r>
            <a:endParaRPr lang="en-US" sz="3000" dirty="0"/>
          </a:p>
        </p:txBody>
      </p:sp>
      <p:sp>
        <p:nvSpPr>
          <p:cNvPr id="5" name="Text 3"/>
          <p:cNvSpPr txBox="1"/>
          <p:nvPr/>
        </p:nvSpPr>
        <p:spPr>
          <a:xfrm>
            <a:off x="932688" y="4343400"/>
            <a:ext cx="10058400" cy="1371600"/>
          </a:xfrm>
          <a:prstGeom prst="rect">
            <a:avLst/>
          </a:prstGeom>
          <a:noFill/>
          <a:ln/>
        </p:spPr>
        <p:txBody>
          <a:bodyPr wrap="square" lIns="0" tIns="0" rIns="0" bIns="0" rtlCol="0" anchor="t"/>
          <a:lstStyle/>
          <a:p>
            <a:pPr indent="0" marL="0">
              <a:lnSpc>
                <a:spcPct val="115000"/>
              </a:lnSpc>
              <a:buNone/>
            </a:pPr>
            <a:r>
              <a:rPr lang="en-US" sz="1600" dirty="0">
                <a:solidFill>
                  <a:srgbClr val="D7E7E7"/>
                </a:solidFill>
                <a:latin typeface="Calibri" pitchFamily="34" charset="0"/>
                <a:ea typeface="Calibri" pitchFamily="34" charset="-122"/>
                <a:cs typeface="Calibri" pitchFamily="34" charset="-120"/>
              </a:rPr>
              <a:t>Las marcas van a cambiar antes de que termine el año. Lo que no va a cambiar son las tareas. Si sabes qué tarea tienes enfrente, vas a poder evaluar cualquier herramienta que salga después de este curso.</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2</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SEGUNDO BLOQUE</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El reparto y la tarea</a:t>
            </a:r>
            <a:endParaRPr lang="en-US" sz="3400" dirty="0"/>
          </a:p>
        </p:txBody>
      </p:sp>
      <p:sp>
        <p:nvSpPr>
          <p:cNvPr id="6" name="Shape 4"/>
          <p:cNvSpPr/>
          <p:nvPr/>
        </p:nvSpPr>
        <p:spPr>
          <a:xfrm>
            <a:off x="9631375" y="457200"/>
            <a:ext cx="1993392"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631375" y="457200"/>
            <a:ext cx="199339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9:15 a 9:30</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Cada equipo evalúa una herramienta a fondo</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Nadie prueba las ocho. Todos hacen la misma tarea con Copilot como punto de comparación común.</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901952"/>
          <a:ext cx="11057839" cy="914400"/>
        </p:xfrm>
        <a:graphic>
          <a:graphicData uri="http://schemas.openxmlformats.org/drawingml/2006/table">
            <a:tbl>
              <a:tblPr/>
              <a:tblGrid>
                <a:gridCol w="1188720"/>
                <a:gridCol w="2743200"/>
                <a:gridCol w="2286000"/>
                <a:gridCol w="4846320"/>
              </a:tblGrid>
              <a:tr h="45720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Equipo</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Categoría del Instituto</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Herramienta</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Tarea</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Asistentes generales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ChatGPT</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Codificar el corpus con tu libro de códigos y clasificar postura.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Asistentes generales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Claude</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Lo mismo.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Asistentes generales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Gemini</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Lo mismo.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Búsqueda e investigación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Perplexity y You.com</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Sustentar un hallazgo del corpus con fuentes verificables.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Investigación académica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Elicit</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Buscar literatura que sostenga o contradiga ese hallazgo.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Investigación académica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Consensus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Lo mismo, y explicar en qué se diferencia de Elicit.</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Equipo 5: activa la prueba de Elicit hoy y no antes; son siete días y se vencen el 28. Equipo 4: la cuenta gratuita de You.com es hoy una prueba de 25 consultas; trabaja en Perplexity y usa You.com solo para contrastar.</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Las dos mitades del mismo trabajo</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No son tareas distintas. Son los dos pasos de cualquier análisis cualitativo serio.</a:t>
            </a:r>
            <a:endParaRPr lang="en-US" sz="1500" dirty="0"/>
          </a:p>
        </p:txBody>
      </p:sp>
      <p:sp>
        <p:nvSpPr>
          <p:cNvPr id="4" name="Shape 2"/>
          <p:cNvSpPr/>
          <p:nvPr/>
        </p:nvSpPr>
        <p:spPr>
          <a:xfrm>
            <a:off x="566928" y="1810512"/>
            <a:ext cx="5364328" cy="3152394"/>
          </a:xfrm>
          <a:prstGeom prst="roundRect">
            <a:avLst>
              <a:gd name="adj" fmla="val 2321"/>
            </a:avLst>
          </a:prstGeom>
          <a:solidFill>
            <a:srgbClr val="D7E7E7"/>
          </a:solidFill>
          <a:ln w="12700">
            <a:solidFill>
              <a:srgbClr val="D7E7E7"/>
            </a:solidFill>
            <a:prstDash val="solid"/>
          </a:ln>
        </p:spPr>
      </p:sp>
      <p:sp>
        <p:nvSpPr>
          <p:cNvPr id="5" name="Shape 3"/>
          <p:cNvSpPr/>
          <p:nvPr/>
        </p:nvSpPr>
        <p:spPr>
          <a:xfrm>
            <a:off x="566928" y="1810512"/>
            <a:ext cx="5364328" cy="658368"/>
          </a:xfrm>
          <a:prstGeom prst="roundRect">
            <a:avLst>
              <a:gd name="adj" fmla="val 11111"/>
            </a:avLst>
          </a:prstGeom>
          <a:solidFill>
            <a:srgbClr val="2E7D7D"/>
          </a:solidFill>
          <a:ln w="12700">
            <a:solidFill>
              <a:srgbClr val="2E7D7D"/>
            </a:solidFill>
            <a:prstDash val="solid"/>
          </a:ln>
        </p:spPr>
      </p:sp>
      <p:sp>
        <p:nvSpPr>
          <p:cNvPr id="6" name="Shape 4"/>
          <p:cNvSpPr/>
          <p:nvPr/>
        </p:nvSpPr>
        <p:spPr>
          <a:xfrm>
            <a:off x="566928" y="2176272"/>
            <a:ext cx="5364328" cy="292608"/>
          </a:xfrm>
          <a:prstGeom prst="rect">
            <a:avLst/>
          </a:prstGeom>
          <a:solidFill>
            <a:srgbClr val="2E7D7D"/>
          </a:solidFill>
          <a:ln w="12700">
            <a:solidFill>
              <a:srgbClr val="2E7D7D"/>
            </a:solidFill>
            <a:prstDash val="solid"/>
          </a:ln>
        </p:spPr>
      </p:sp>
      <p:sp>
        <p:nvSpPr>
          <p:cNvPr id="7" name="Text 5"/>
          <p:cNvSpPr txBox="1"/>
          <p:nvPr/>
        </p:nvSpPr>
        <p:spPr>
          <a:xfrm>
            <a:off x="822960" y="1810512"/>
            <a:ext cx="4852264" cy="65836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Equipos 1 a 3: codificar</a:t>
            </a:r>
            <a:endParaRPr lang="en-US" sz="1700" dirty="0"/>
          </a:p>
        </p:txBody>
      </p:sp>
      <p:sp>
        <p:nvSpPr>
          <p:cNvPr id="8" name="Text 6"/>
          <p:cNvSpPr txBox="1"/>
          <p:nvPr/>
        </p:nvSpPr>
        <p:spPr>
          <a:xfrm>
            <a:off x="822960" y="2679192"/>
            <a:ext cx="4852264" cy="2055114"/>
          </a:xfrm>
          <a:prstGeom prst="rect">
            <a:avLst/>
          </a:prstGeom>
          <a:noFill/>
          <a:ln/>
        </p:spPr>
        <p:txBody>
          <a:bodyPr wrap="square" lIns="0" tIns="0" rIns="0" bIns="0" rtlCol="0" anchor="t"/>
          <a:lstStyle/>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Toman el corpus de 118 registros del viernes y su libro de códigos ya ratificado.</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Lo aplican con su herramienta asignada, no con Copilot.</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Después clasifican postura y causa raíz sobre las transcripciones de foro.</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Y comparan, registro por registro, contra lo que les dio Copilot el viernes.</a:t>
            </a:r>
            <a:endParaRPr lang="en-US" sz="1400" dirty="0"/>
          </a:p>
        </p:txBody>
      </p:sp>
      <p:sp>
        <p:nvSpPr>
          <p:cNvPr id="9" name="Shape 7"/>
          <p:cNvSpPr/>
          <p:nvPr/>
        </p:nvSpPr>
        <p:spPr>
          <a:xfrm>
            <a:off x="6260440" y="1810512"/>
            <a:ext cx="5364328" cy="3152394"/>
          </a:xfrm>
          <a:prstGeom prst="roundRect">
            <a:avLst>
              <a:gd name="adj" fmla="val 2321"/>
            </a:avLst>
          </a:prstGeom>
          <a:solidFill>
            <a:srgbClr val="F7E4D8"/>
          </a:solidFill>
          <a:ln w="12700">
            <a:solidFill>
              <a:srgbClr val="F7E4D8"/>
            </a:solidFill>
            <a:prstDash val="solid"/>
          </a:ln>
        </p:spPr>
      </p:sp>
      <p:sp>
        <p:nvSpPr>
          <p:cNvPr id="10" name="Shape 8"/>
          <p:cNvSpPr/>
          <p:nvPr/>
        </p:nvSpPr>
        <p:spPr>
          <a:xfrm>
            <a:off x="6260440" y="1810512"/>
            <a:ext cx="5364328" cy="658368"/>
          </a:xfrm>
          <a:prstGeom prst="roundRect">
            <a:avLst>
              <a:gd name="adj" fmla="val 11111"/>
            </a:avLst>
          </a:prstGeom>
          <a:solidFill>
            <a:srgbClr val="C85A28"/>
          </a:solidFill>
          <a:ln w="12700">
            <a:solidFill>
              <a:srgbClr val="C85A28"/>
            </a:solidFill>
            <a:prstDash val="solid"/>
          </a:ln>
        </p:spPr>
      </p:sp>
      <p:sp>
        <p:nvSpPr>
          <p:cNvPr id="11" name="Shape 9"/>
          <p:cNvSpPr/>
          <p:nvPr/>
        </p:nvSpPr>
        <p:spPr>
          <a:xfrm>
            <a:off x="6260440" y="2176272"/>
            <a:ext cx="5364328" cy="292608"/>
          </a:xfrm>
          <a:prstGeom prst="rect">
            <a:avLst/>
          </a:prstGeom>
          <a:solidFill>
            <a:srgbClr val="C85A28"/>
          </a:solidFill>
          <a:ln w="12700">
            <a:solidFill>
              <a:srgbClr val="C85A28"/>
            </a:solidFill>
            <a:prstDash val="solid"/>
          </a:ln>
        </p:spPr>
      </p:sp>
      <p:sp>
        <p:nvSpPr>
          <p:cNvPr id="12" name="Text 10"/>
          <p:cNvSpPr txBox="1"/>
          <p:nvPr/>
        </p:nvSpPr>
        <p:spPr>
          <a:xfrm>
            <a:off x="6516472" y="1810512"/>
            <a:ext cx="4852264" cy="65836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Equipos 4 a 6: sustentar</a:t>
            </a:r>
            <a:endParaRPr lang="en-US" sz="1700" dirty="0"/>
          </a:p>
        </p:txBody>
      </p:sp>
      <p:sp>
        <p:nvSpPr>
          <p:cNvPr id="13" name="Text 11"/>
          <p:cNvSpPr txBox="1"/>
          <p:nvPr/>
        </p:nvSpPr>
        <p:spPr>
          <a:xfrm>
            <a:off x="6516472" y="2679192"/>
            <a:ext cx="4852264" cy="2055114"/>
          </a:xfrm>
          <a:prstGeom prst="rect">
            <a:avLst/>
          </a:prstGeom>
          <a:noFill/>
          <a:ln/>
        </p:spPr>
        <p:txBody>
          <a:bodyPr wrap="square" lIns="0" tIns="0" rIns="0" bIns="0" rtlCol="0" anchor="t"/>
          <a:lstStyle/>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Toman un hallazgo que salió de la codificación del viernes.</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Buscan si la evidencia lo sostiene o lo contradice, con su herramienta asignada.</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Verifican que las referencias que les dio existan de verdad. Ese dato solo suele ser el hallazgo del día.</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Y comparan contra lo que da Copilot con la misma pregunta.</a:t>
            </a:r>
            <a:endParaRPr lang="en-US" sz="1400" dirty="0"/>
          </a:p>
        </p:txBody>
      </p:sp>
      <p:sp>
        <p:nvSpPr>
          <p:cNvPr id="14" name="Text 12"/>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Codificar sin sustentar produce categorías bonitas que nadie puede defender. Sustentar sin codificar produce citas sueltas.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7E7E7"/>
        </a:solidFill>
      </p:bgPr>
    </p:bg>
    <p:spTree>
      <p:nvGrpSpPr>
        <p:cNvPr id="1" name=""/>
        <p:cNvGrpSpPr/>
        <p:nvPr/>
      </p:nvGrpSpPr>
      <p:grpSpPr>
        <a:xfrm>
          <a:off x="0" y="0"/>
          <a:ext cx="0" cy="0"/>
          <a:chOff x="0" y="0"/>
          <a:chExt cx="0" cy="0"/>
        </a:xfrm>
      </p:grpSpPr>
      <p:sp>
        <p:nvSpPr>
          <p:cNvPr id="2" name="Shape 0"/>
          <p:cNvSpPr/>
          <p:nvPr/>
        </p:nvSpPr>
        <p:spPr>
          <a:xfrm>
            <a:off x="566928" y="457200"/>
            <a:ext cx="2788920" cy="457200"/>
          </a:xfrm>
          <a:prstGeom prst="roundRect">
            <a:avLst>
              <a:gd name="adj" fmla="val 50000"/>
            </a:avLst>
          </a:prstGeom>
          <a:solidFill>
            <a:srgbClr val="2E7D7D"/>
          </a:solidFill>
          <a:ln w="12700">
            <a:solidFill>
              <a:srgbClr val="2E7D7D"/>
            </a:solidFill>
            <a:prstDash val="solid"/>
          </a:ln>
        </p:spPr>
      </p:sp>
      <p:sp>
        <p:nvSpPr>
          <p:cNvPr id="3" name="Text 1"/>
          <p:cNvSpPr txBox="1"/>
          <p:nvPr/>
        </p:nvSpPr>
        <p:spPr>
          <a:xfrm>
            <a:off x="566928" y="457200"/>
            <a:ext cx="278892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DE TAREA</a:t>
            </a:r>
            <a:endParaRPr lang="en-US" sz="1300" dirty="0"/>
          </a:p>
        </p:txBody>
      </p:sp>
      <p:sp>
        <p:nvSpPr>
          <p:cNvPr id="4" name="Shape 2"/>
          <p:cNvSpPr/>
          <p:nvPr/>
        </p:nvSpPr>
        <p:spPr>
          <a:xfrm>
            <a:off x="9704527" y="457200"/>
            <a:ext cx="1920240" cy="457200"/>
          </a:xfrm>
          <a:prstGeom prst="roundRect">
            <a:avLst>
              <a:gd name="adj" fmla="val 50000"/>
            </a:avLst>
          </a:prstGeom>
          <a:solidFill>
            <a:srgbClr val="C85A28"/>
          </a:solidFill>
          <a:ln w="12700">
            <a:solidFill>
              <a:srgbClr val="C85A28"/>
            </a:solidFill>
            <a:prstDash val="solid"/>
          </a:ln>
        </p:spPr>
      </p:sp>
      <p:sp>
        <p:nvSpPr>
          <p:cNvPr id="5" name="Text 3"/>
          <p:cNvSpPr txBox="1"/>
          <p:nvPr/>
        </p:nvSpPr>
        <p:spPr>
          <a:xfrm>
            <a:off x="9704527" y="457200"/>
            <a:ext cx="19202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En equipo</a:t>
            </a:r>
            <a:endParaRPr lang="en-US" sz="1300" dirty="0"/>
          </a:p>
        </p:txBody>
      </p:sp>
      <p:sp>
        <p:nvSpPr>
          <p:cNvPr id="6" name="Text 4"/>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Tu herramienta contra Copilot, sobre el mismo material</a:t>
            </a:r>
            <a:endParaRPr lang="en-US" sz="2900" dirty="0"/>
          </a:p>
        </p:txBody>
      </p:sp>
      <p:sp>
        <p:nvSpPr>
          <p:cNvPr id="7" name="Shape 5"/>
          <p:cNvSpPr/>
          <p:nvPr/>
        </p:nvSpPr>
        <p:spPr>
          <a:xfrm>
            <a:off x="566928" y="1920240"/>
            <a:ext cx="11057839" cy="628650"/>
          </a:xfrm>
          <a:prstGeom prst="roundRect">
            <a:avLst>
              <a:gd name="adj" fmla="val 10182"/>
            </a:avLst>
          </a:prstGeom>
          <a:solidFill>
            <a:srgbClr val="FFFFFF"/>
          </a:solidFill>
          <a:ln w="12700">
            <a:solidFill>
              <a:srgbClr val="FFFFFF"/>
            </a:solidFill>
            <a:prstDash val="solid"/>
          </a:ln>
        </p:spPr>
      </p:sp>
      <p:sp>
        <p:nvSpPr>
          <p:cNvPr id="8" name="Shape 6"/>
          <p:cNvSpPr/>
          <p:nvPr/>
        </p:nvSpPr>
        <p:spPr>
          <a:xfrm>
            <a:off x="786384" y="2024253"/>
            <a:ext cx="420624" cy="420624"/>
          </a:xfrm>
          <a:prstGeom prst="ellipse">
            <a:avLst/>
          </a:prstGeom>
          <a:solidFill>
            <a:srgbClr val="2E7D7D"/>
          </a:solidFill>
          <a:ln w="12700">
            <a:solidFill>
              <a:srgbClr val="2E7D7D"/>
            </a:solidFill>
            <a:prstDash val="solid"/>
          </a:ln>
        </p:spPr>
      </p:sp>
      <p:sp>
        <p:nvSpPr>
          <p:cNvPr id="9" name="Text 7"/>
          <p:cNvSpPr txBox="1"/>
          <p:nvPr/>
        </p:nvSpPr>
        <p:spPr>
          <a:xfrm>
            <a:off x="786384" y="202425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408176" y="201168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Primero con Copilot Chat. Es el punto de comparación de todos los equipos. Si ya lo hiciste el viernes, revisa y anota lo que te dio.</a:t>
            </a:r>
            <a:endParaRPr lang="en-US" sz="1450" dirty="0"/>
          </a:p>
        </p:txBody>
      </p:sp>
      <p:sp>
        <p:nvSpPr>
          <p:cNvPr id="11" name="Shape 9"/>
          <p:cNvSpPr/>
          <p:nvPr/>
        </p:nvSpPr>
        <p:spPr>
          <a:xfrm>
            <a:off x="566928" y="2731770"/>
            <a:ext cx="11057839" cy="628650"/>
          </a:xfrm>
          <a:prstGeom prst="roundRect">
            <a:avLst>
              <a:gd name="adj" fmla="val 10182"/>
            </a:avLst>
          </a:prstGeom>
          <a:solidFill>
            <a:srgbClr val="FFFFFF"/>
          </a:solidFill>
          <a:ln w="12700">
            <a:solidFill>
              <a:srgbClr val="FFFFFF"/>
            </a:solidFill>
            <a:prstDash val="solid"/>
          </a:ln>
        </p:spPr>
      </p:sp>
      <p:sp>
        <p:nvSpPr>
          <p:cNvPr id="12" name="Shape 10"/>
          <p:cNvSpPr/>
          <p:nvPr/>
        </p:nvSpPr>
        <p:spPr>
          <a:xfrm>
            <a:off x="786384" y="2835783"/>
            <a:ext cx="420624" cy="420624"/>
          </a:xfrm>
          <a:prstGeom prst="ellipse">
            <a:avLst/>
          </a:prstGeom>
          <a:solidFill>
            <a:srgbClr val="2E7D7D"/>
          </a:solidFill>
          <a:ln w="12700">
            <a:solidFill>
              <a:srgbClr val="2E7D7D"/>
            </a:solidFill>
            <a:prstDash val="solid"/>
          </a:ln>
        </p:spPr>
      </p:sp>
      <p:sp>
        <p:nvSpPr>
          <p:cNvPr id="13" name="Text 11"/>
          <p:cNvSpPr txBox="1"/>
          <p:nvPr/>
        </p:nvSpPr>
        <p:spPr>
          <a:xfrm>
            <a:off x="786384" y="283578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408176" y="282321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Después con tu herramienta asignada. Misma tarea, mismo corpus, mismo libro de códigos. El corpus es sintético, o sea información verde: por eso puede salir del Instituto.</a:t>
            </a:r>
            <a:endParaRPr lang="en-US" sz="1450" dirty="0"/>
          </a:p>
        </p:txBody>
      </p:sp>
      <p:sp>
        <p:nvSpPr>
          <p:cNvPr id="15" name="Shape 13"/>
          <p:cNvSpPr/>
          <p:nvPr/>
        </p:nvSpPr>
        <p:spPr>
          <a:xfrm>
            <a:off x="566928" y="3543300"/>
            <a:ext cx="11057839" cy="628650"/>
          </a:xfrm>
          <a:prstGeom prst="roundRect">
            <a:avLst>
              <a:gd name="adj" fmla="val 10182"/>
            </a:avLst>
          </a:prstGeom>
          <a:solidFill>
            <a:srgbClr val="FFFFFF"/>
          </a:solidFill>
          <a:ln w="12700">
            <a:solidFill>
              <a:srgbClr val="FFFFFF"/>
            </a:solidFill>
            <a:prstDash val="solid"/>
          </a:ln>
        </p:spPr>
      </p:sp>
      <p:sp>
        <p:nvSpPr>
          <p:cNvPr id="16" name="Shape 14"/>
          <p:cNvSpPr/>
          <p:nvPr/>
        </p:nvSpPr>
        <p:spPr>
          <a:xfrm>
            <a:off x="786384" y="3647313"/>
            <a:ext cx="420624" cy="420624"/>
          </a:xfrm>
          <a:prstGeom prst="ellipse">
            <a:avLst/>
          </a:prstGeom>
          <a:solidFill>
            <a:srgbClr val="2E7D7D"/>
          </a:solidFill>
          <a:ln w="12700">
            <a:solidFill>
              <a:srgbClr val="2E7D7D"/>
            </a:solidFill>
            <a:prstDash val="solid"/>
          </a:ln>
        </p:spPr>
      </p:sp>
      <p:sp>
        <p:nvSpPr>
          <p:cNvPr id="17" name="Text 15"/>
          <p:cNvSpPr txBox="1"/>
          <p:nvPr/>
        </p:nvSpPr>
        <p:spPr>
          <a:xfrm>
            <a:off x="786384" y="364731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08176" y="363474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Busca la diferencia, no la repetición. Si tu herramienta dio lo mismo que Copilot, eso también es un hallazgo y hay que reportarlo.</a:t>
            </a:r>
            <a:endParaRPr lang="en-US" sz="1450" dirty="0"/>
          </a:p>
        </p:txBody>
      </p:sp>
      <p:sp>
        <p:nvSpPr>
          <p:cNvPr id="19" name="Shape 17"/>
          <p:cNvSpPr/>
          <p:nvPr/>
        </p:nvSpPr>
        <p:spPr>
          <a:xfrm>
            <a:off x="566928" y="4354830"/>
            <a:ext cx="11057839" cy="628650"/>
          </a:xfrm>
          <a:prstGeom prst="roundRect">
            <a:avLst>
              <a:gd name="adj" fmla="val 10182"/>
            </a:avLst>
          </a:prstGeom>
          <a:solidFill>
            <a:srgbClr val="FFFFFF"/>
          </a:solidFill>
          <a:ln w="12700">
            <a:solidFill>
              <a:srgbClr val="FFFFFF"/>
            </a:solidFill>
            <a:prstDash val="solid"/>
          </a:ln>
        </p:spPr>
      </p:sp>
      <p:sp>
        <p:nvSpPr>
          <p:cNvPr id="20" name="Shape 18"/>
          <p:cNvSpPr/>
          <p:nvPr/>
        </p:nvSpPr>
        <p:spPr>
          <a:xfrm>
            <a:off x="786384" y="4458843"/>
            <a:ext cx="420624" cy="420624"/>
          </a:xfrm>
          <a:prstGeom prst="ellipse">
            <a:avLst/>
          </a:prstGeom>
          <a:solidFill>
            <a:srgbClr val="2E7D7D"/>
          </a:solidFill>
          <a:ln w="12700">
            <a:solidFill>
              <a:srgbClr val="2E7D7D"/>
            </a:solidFill>
            <a:prstDash val="solid"/>
          </a:ln>
        </p:spPr>
      </p:sp>
      <p:sp>
        <p:nvSpPr>
          <p:cNvPr id="21" name="Text 19"/>
          <p:cNvSpPr txBox="1"/>
          <p:nvPr/>
        </p:nvSpPr>
        <p:spPr>
          <a:xfrm>
            <a:off x="786384" y="445884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408176" y="444627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Llena tu renglón del cuadro comparativo y escribe la cuartilla del equipo. Las dos cosas se entregan mañana martes antes de las 9:00.</a:t>
            </a:r>
            <a:endParaRPr lang="en-US" sz="1450" dirty="0"/>
          </a:p>
        </p:txBody>
      </p:sp>
      <p:sp>
        <p:nvSpPr>
          <p:cNvPr id="23" name="Shape 21"/>
          <p:cNvSpPr/>
          <p:nvPr/>
        </p:nvSpPr>
        <p:spPr>
          <a:xfrm>
            <a:off x="566928" y="5193792"/>
            <a:ext cx="11057839" cy="777240"/>
          </a:xfrm>
          <a:prstGeom prst="roundRect">
            <a:avLst>
              <a:gd name="adj" fmla="val 8235"/>
            </a:avLst>
          </a:prstGeom>
          <a:solidFill>
            <a:srgbClr val="16262E"/>
          </a:solidFill>
          <a:ln w="12700">
            <a:solidFill>
              <a:srgbClr val="16262E"/>
            </a:solidFill>
            <a:prstDash val="solid"/>
          </a:ln>
        </p:spPr>
      </p:sp>
      <p:sp>
        <p:nvSpPr>
          <p:cNvPr id="24" name="Text 22"/>
          <p:cNvSpPr txBox="1"/>
          <p:nvPr/>
        </p:nvSpPr>
        <p:spPr>
          <a:xfrm>
            <a:off x="841248" y="5193792"/>
            <a:ext cx="10509199"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Corpus: Registros_atencion_ciudadana_PARTICIPANTE.xlsx y Transcripciones_foro_PARTICIPANTE.docx, en sesion-04. Cuadro: Plantillas_tabulares_curso_IA.xlsx, hoja Cuadro comparativo.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4</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MANOS A LA OBRA</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RAG con lo que ya tienes: dos prácticas</a:t>
            </a:r>
            <a:endParaRPr lang="en-US" sz="3400" dirty="0"/>
          </a:p>
        </p:txBody>
      </p:sp>
      <p:sp>
        <p:nvSpPr>
          <p:cNvPr id="6" name="Shape 4"/>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10:20 a 11:05</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Tu cuartilla responde cuatro cosas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No es una demostración de la herramienta. Es un dictamen sobre ella.</a:t>
            </a:r>
            <a:endParaRPr lang="en-US" sz="1500" dirty="0"/>
          </a:p>
        </p:txBody>
      </p:sp>
      <p:sp>
        <p:nvSpPr>
          <p:cNvPr id="4" name="Shape 2"/>
          <p:cNvSpPr/>
          <p:nvPr/>
        </p:nvSpPr>
        <p:spPr>
          <a:xfrm>
            <a:off x="566928" y="2011680"/>
            <a:ext cx="2558720" cy="2989072"/>
          </a:xfrm>
          <a:prstGeom prst="roundRect">
            <a:avLst>
              <a:gd name="adj" fmla="val 2859"/>
            </a:avLst>
          </a:prstGeom>
          <a:solidFill>
            <a:srgbClr val="F2F5F6"/>
          </a:solidFill>
          <a:ln w="12700">
            <a:solidFill>
              <a:srgbClr val="F2F5F6"/>
            </a:solidFill>
            <a:prstDash val="solid"/>
          </a:ln>
        </p:spPr>
      </p:sp>
      <p:sp>
        <p:nvSpPr>
          <p:cNvPr id="5" name="Shape 3"/>
          <p:cNvSpPr/>
          <p:nvPr/>
        </p:nvSpPr>
        <p:spPr>
          <a:xfrm>
            <a:off x="804672" y="2231136"/>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798064"/>
            <a:ext cx="2083232"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hizo mejor que Copilot?</a:t>
            </a:r>
            <a:endParaRPr lang="en-US" sz="1600" dirty="0"/>
          </a:p>
        </p:txBody>
      </p:sp>
      <p:sp>
        <p:nvSpPr>
          <p:cNvPr id="8" name="Text 6"/>
          <p:cNvSpPr txBox="1"/>
          <p:nvPr/>
        </p:nvSpPr>
        <p:spPr>
          <a:xfrm>
            <a:off x="804672" y="3527552"/>
            <a:ext cx="2083232"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Y si la respuesta es nada relevante para nuestro trabajo, esa también es una conclusión válida. Dilo así.</a:t>
            </a:r>
            <a:endParaRPr lang="en-US" sz="1300" dirty="0"/>
          </a:p>
        </p:txBody>
      </p:sp>
      <p:sp>
        <p:nvSpPr>
          <p:cNvPr id="9" name="Shape 7"/>
          <p:cNvSpPr/>
          <p:nvPr/>
        </p:nvSpPr>
        <p:spPr>
          <a:xfrm>
            <a:off x="3399968" y="2011680"/>
            <a:ext cx="2558720" cy="2989072"/>
          </a:xfrm>
          <a:prstGeom prst="roundRect">
            <a:avLst>
              <a:gd name="adj" fmla="val 2859"/>
            </a:avLst>
          </a:prstGeom>
          <a:solidFill>
            <a:srgbClr val="F2F5F6"/>
          </a:solidFill>
          <a:ln w="12700">
            <a:solidFill>
              <a:srgbClr val="F2F5F6"/>
            </a:solidFill>
            <a:prstDash val="solid"/>
          </a:ln>
        </p:spPr>
      </p:sp>
      <p:sp>
        <p:nvSpPr>
          <p:cNvPr id="10" name="Shape 8"/>
          <p:cNvSpPr/>
          <p:nvPr/>
        </p:nvSpPr>
        <p:spPr>
          <a:xfrm>
            <a:off x="3637712" y="2231136"/>
            <a:ext cx="420624" cy="420624"/>
          </a:xfrm>
          <a:prstGeom prst="ellipse">
            <a:avLst/>
          </a:prstGeom>
          <a:solidFill>
            <a:srgbClr val="2E7D7D"/>
          </a:solidFill>
          <a:ln w="12700">
            <a:solidFill>
              <a:srgbClr val="2E7D7D"/>
            </a:solidFill>
            <a:prstDash val="solid"/>
          </a:ln>
        </p:spPr>
      </p:sp>
      <p:sp>
        <p:nvSpPr>
          <p:cNvPr id="11" name="Text 9"/>
          <p:cNvSpPr txBox="1"/>
          <p:nvPr/>
        </p:nvSpPr>
        <p:spPr>
          <a:xfrm>
            <a:off x="363771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3637712" y="2798064"/>
            <a:ext cx="2083232"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hizo peor?</a:t>
            </a:r>
            <a:endParaRPr lang="en-US" sz="1600" dirty="0"/>
          </a:p>
        </p:txBody>
      </p:sp>
      <p:sp>
        <p:nvSpPr>
          <p:cNvPr id="13" name="Text 11"/>
          <p:cNvSpPr txBox="1"/>
          <p:nvPr/>
        </p:nvSpPr>
        <p:spPr>
          <a:xfrm>
            <a:off x="3637712" y="3263392"/>
            <a:ext cx="2083232" cy="153619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Categorías que fundió, minorías que perdió, referencias que inventó. Sé específico.</a:t>
            </a:r>
            <a:endParaRPr lang="en-US" sz="1300" dirty="0"/>
          </a:p>
        </p:txBody>
      </p:sp>
      <p:sp>
        <p:nvSpPr>
          <p:cNvPr id="14" name="Shape 12"/>
          <p:cNvSpPr/>
          <p:nvPr/>
        </p:nvSpPr>
        <p:spPr>
          <a:xfrm>
            <a:off x="6233008" y="2011680"/>
            <a:ext cx="2558720" cy="2989072"/>
          </a:xfrm>
          <a:prstGeom prst="roundRect">
            <a:avLst>
              <a:gd name="adj" fmla="val 2859"/>
            </a:avLst>
          </a:prstGeom>
          <a:solidFill>
            <a:srgbClr val="F2F5F6"/>
          </a:solidFill>
          <a:ln w="12700">
            <a:solidFill>
              <a:srgbClr val="F2F5F6"/>
            </a:solidFill>
            <a:prstDash val="solid"/>
          </a:ln>
        </p:spPr>
      </p:sp>
      <p:sp>
        <p:nvSpPr>
          <p:cNvPr id="15" name="Shape 13"/>
          <p:cNvSpPr/>
          <p:nvPr/>
        </p:nvSpPr>
        <p:spPr>
          <a:xfrm>
            <a:off x="6470752" y="2231136"/>
            <a:ext cx="420624" cy="420624"/>
          </a:xfrm>
          <a:prstGeom prst="ellipse">
            <a:avLst/>
          </a:prstGeom>
          <a:solidFill>
            <a:srgbClr val="2E7D7D"/>
          </a:solidFill>
          <a:ln w="12700">
            <a:solidFill>
              <a:srgbClr val="2E7D7D"/>
            </a:solidFill>
            <a:prstDash val="solid"/>
          </a:ln>
        </p:spPr>
      </p:sp>
      <p:sp>
        <p:nvSpPr>
          <p:cNvPr id="16" name="Text 14"/>
          <p:cNvSpPr txBox="1"/>
          <p:nvPr/>
        </p:nvSpPr>
        <p:spPr>
          <a:xfrm>
            <a:off x="647075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6470752" y="2798064"/>
            <a:ext cx="2083232"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te pidió a cambio?</a:t>
            </a:r>
            <a:endParaRPr lang="en-US" sz="1600" dirty="0"/>
          </a:p>
        </p:txBody>
      </p:sp>
      <p:sp>
        <p:nvSpPr>
          <p:cNvPr id="18" name="Text 16"/>
          <p:cNvSpPr txBox="1"/>
          <p:nvPr/>
        </p:nvSpPr>
        <p:spPr>
          <a:xfrm>
            <a:off x="6470752" y="3527552"/>
            <a:ext cx="2083232"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Cuenta, costo si se quisiera en serio, tiempo de aprendizaje, y qué información habría que darle.</a:t>
            </a:r>
            <a:endParaRPr lang="en-US" sz="1300" dirty="0"/>
          </a:p>
        </p:txBody>
      </p:sp>
      <p:sp>
        <p:nvSpPr>
          <p:cNvPr id="19" name="Shape 17"/>
          <p:cNvSpPr/>
          <p:nvPr/>
        </p:nvSpPr>
        <p:spPr>
          <a:xfrm>
            <a:off x="9066047" y="2011680"/>
            <a:ext cx="2558720" cy="2989072"/>
          </a:xfrm>
          <a:prstGeom prst="roundRect">
            <a:avLst>
              <a:gd name="adj" fmla="val 2859"/>
            </a:avLst>
          </a:prstGeom>
          <a:solidFill>
            <a:srgbClr val="F7E4D8"/>
          </a:solidFill>
          <a:ln w="12700">
            <a:solidFill>
              <a:srgbClr val="F7E4D8"/>
            </a:solidFill>
            <a:prstDash val="solid"/>
          </a:ln>
        </p:spPr>
      </p:sp>
      <p:sp>
        <p:nvSpPr>
          <p:cNvPr id="20" name="Shape 18"/>
          <p:cNvSpPr/>
          <p:nvPr/>
        </p:nvSpPr>
        <p:spPr>
          <a:xfrm>
            <a:off x="9303791" y="2231136"/>
            <a:ext cx="420624" cy="420624"/>
          </a:xfrm>
          <a:prstGeom prst="ellipse">
            <a:avLst/>
          </a:prstGeom>
          <a:solidFill>
            <a:srgbClr val="C85A28"/>
          </a:solidFill>
          <a:ln w="12700">
            <a:solidFill>
              <a:srgbClr val="C85A28"/>
            </a:solidFill>
            <a:prstDash val="solid"/>
          </a:ln>
        </p:spPr>
      </p:sp>
      <p:sp>
        <p:nvSpPr>
          <p:cNvPr id="21" name="Text 19"/>
          <p:cNvSpPr txBox="1"/>
          <p:nvPr/>
        </p:nvSpPr>
        <p:spPr>
          <a:xfrm>
            <a:off x="9303791"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9303791" y="2798064"/>
            <a:ext cx="2083232"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¿Para qué tarea la recomendarías?</a:t>
            </a:r>
            <a:endParaRPr lang="en-US" sz="1600" dirty="0"/>
          </a:p>
        </p:txBody>
      </p:sp>
      <p:sp>
        <p:nvSpPr>
          <p:cNvPr id="23" name="Text 21"/>
          <p:cNvSpPr txBox="1"/>
          <p:nvPr/>
        </p:nvSpPr>
        <p:spPr>
          <a:xfrm>
            <a:off x="9303791" y="3527552"/>
            <a:ext cx="2083232"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Una tarea concreta de esta área. Si no encuentras ninguna, eso es lo que hay que reportar.</a:t>
            </a:r>
            <a:endParaRPr lang="en-US" sz="1300" dirty="0"/>
          </a:p>
        </p:txBody>
      </p:sp>
      <p:sp>
        <p:nvSpPr>
          <p:cNvPr id="24" name="Text 22"/>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Con los seis renglones, el cuadro comparativo queda lleno con evaluación de uso propio, no de demostración.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5</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DEMOSTRACIÓN</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Lo que no se resuelve con permisos de red</a:t>
            </a:r>
            <a:endParaRPr lang="en-US" sz="3400" dirty="0"/>
          </a:p>
        </p:txBody>
      </p:sp>
      <p:sp>
        <p:nvSpPr>
          <p:cNvPr id="6" name="Shape 4"/>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11:05 a 11:20</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2600" b="1" dirty="0">
                <a:solidFill>
                  <a:srgbClr val="16262E"/>
                </a:solidFill>
                <a:latin typeface="Arial" pitchFamily="34" charset="0"/>
                <a:ea typeface="Arial" pitchFamily="34" charset="-122"/>
                <a:cs typeface="Arial" pitchFamily="34" charset="-120"/>
              </a:rPr>
              <a:t>Tres herramientas que no puedes usar hoy, y por qué importan</a:t>
            </a:r>
            <a:endParaRPr lang="en-US" sz="26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Dos requieren licencia de paga y una está bloqueada. Las veo en pantalla, con el mismo corpus que trabajaste el viernes.</a:t>
            </a:r>
            <a:endParaRPr lang="en-US" sz="1500" dirty="0"/>
          </a:p>
        </p:txBody>
      </p:sp>
      <p:sp>
        <p:nvSpPr>
          <p:cNvPr id="4" name="Shape 2"/>
          <p:cNvSpPr/>
          <p:nvPr/>
        </p:nvSpPr>
        <p:spPr>
          <a:xfrm>
            <a:off x="566928" y="2011680"/>
            <a:ext cx="3503066" cy="3563112"/>
          </a:xfrm>
          <a:prstGeom prst="roundRect">
            <a:avLst>
              <a:gd name="adj" fmla="val 2088"/>
            </a:avLst>
          </a:prstGeom>
          <a:solidFill>
            <a:srgbClr val="D7E7E7"/>
          </a:solidFill>
          <a:ln w="12700">
            <a:solidFill>
              <a:srgbClr val="D7E7E7"/>
            </a:solidFill>
            <a:prstDash val="solid"/>
          </a:ln>
        </p:spPr>
      </p:sp>
      <p:sp>
        <p:nvSpPr>
          <p:cNvPr id="5" name="Text 3"/>
          <p:cNvSpPr txBox="1"/>
          <p:nvPr/>
        </p:nvSpPr>
        <p:spPr>
          <a:xfrm>
            <a:off x="804672" y="224942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Atlas.ti y MAXQDA</a:t>
            </a:r>
            <a:endParaRPr lang="en-US" sz="1600" dirty="0"/>
          </a:p>
        </p:txBody>
      </p:sp>
      <p:sp>
        <p:nvSpPr>
          <p:cNvPr id="6" name="Text 4"/>
          <p:cNvSpPr txBox="1"/>
          <p:nvPr/>
        </p:nvSpPr>
        <p:spPr>
          <a:xfrm>
            <a:off x="804672" y="2714752"/>
            <a:ext cx="3027578" cy="265887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Son el estándar de la investigación cualitativa formal.</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 que hacen distinto no es codificar mejor: es dejar constancia de cómo codificaron. Generan un reporte de codificación auditable.</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algún día tienes que defender un análisis cualitativo ante un comité, esa es la diferencia.</a:t>
            </a:r>
            <a:endParaRPr lang="en-US" sz="1300" dirty="0"/>
          </a:p>
        </p:txBody>
      </p:sp>
      <p:sp>
        <p:nvSpPr>
          <p:cNvPr id="7" name="Shape 5"/>
          <p:cNvSpPr/>
          <p:nvPr/>
        </p:nvSpPr>
        <p:spPr>
          <a:xfrm>
            <a:off x="4344314" y="2011680"/>
            <a:ext cx="3503066" cy="3563112"/>
          </a:xfrm>
          <a:prstGeom prst="roundRect">
            <a:avLst>
              <a:gd name="adj" fmla="val 2088"/>
            </a:avLst>
          </a:prstGeom>
          <a:solidFill>
            <a:srgbClr val="F7E4D8"/>
          </a:solidFill>
          <a:ln w="12700">
            <a:solidFill>
              <a:srgbClr val="F7E4D8"/>
            </a:solidFill>
            <a:prstDash val="solid"/>
          </a:ln>
        </p:spPr>
      </p:sp>
      <p:sp>
        <p:nvSpPr>
          <p:cNvPr id="8" name="Text 6"/>
          <p:cNvSpPr txBox="1"/>
          <p:nvPr/>
        </p:nvSpPr>
        <p:spPr>
          <a:xfrm>
            <a:off x="4582058" y="224942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NotebookLM</a:t>
            </a:r>
            <a:endParaRPr lang="en-US" sz="1600" dirty="0"/>
          </a:p>
        </p:txBody>
      </p:sp>
      <p:sp>
        <p:nvSpPr>
          <p:cNvPr id="9" name="Text 7"/>
          <p:cNvSpPr txBox="1"/>
          <p:nvPr/>
        </p:nvSpPr>
        <p:spPr>
          <a:xfrm>
            <a:off x="4582058" y="2714752"/>
            <a:ext cx="3027578" cy="265887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Desde julio se llama Gemini Notebook. Responde citando el párrafo exacto de cada documento fuente.</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 justo lo que vas a construir a mano mañana en la matriz de evidencia.</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Está bloqueada y vale la pena pedirla: es del mismo proveedor que Gemini, que sí liberaron.</a:t>
            </a:r>
            <a:endParaRPr lang="en-US" sz="1300" dirty="0"/>
          </a:p>
        </p:txBody>
      </p:sp>
      <p:sp>
        <p:nvSpPr>
          <p:cNvPr id="10" name="Shape 8"/>
          <p:cNvSpPr/>
          <p:nvPr/>
        </p:nvSpPr>
        <p:spPr>
          <a:xfrm>
            <a:off x="8121701" y="2011680"/>
            <a:ext cx="3503066" cy="3563112"/>
          </a:xfrm>
          <a:prstGeom prst="roundRect">
            <a:avLst>
              <a:gd name="adj" fmla="val 2088"/>
            </a:avLst>
          </a:prstGeom>
          <a:solidFill>
            <a:srgbClr val="F2F5F6"/>
          </a:solidFill>
          <a:ln w="12700">
            <a:solidFill>
              <a:srgbClr val="F2F5F6"/>
            </a:solidFill>
            <a:prstDash val="solid"/>
          </a:ln>
        </p:spPr>
      </p:sp>
      <p:sp>
        <p:nvSpPr>
          <p:cNvPr id="11" name="Text 9"/>
          <p:cNvSpPr txBox="1"/>
          <p:nvPr/>
        </p:nvSpPr>
        <p:spPr>
          <a:xfrm>
            <a:off x="8359445" y="224942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tienen en común</a:t>
            </a:r>
            <a:endParaRPr lang="en-US" sz="1600" dirty="0"/>
          </a:p>
        </p:txBody>
      </p:sp>
      <p:sp>
        <p:nvSpPr>
          <p:cNvPr id="12" name="Text 10"/>
          <p:cNvSpPr txBox="1"/>
          <p:nvPr/>
        </p:nvSpPr>
        <p:spPr>
          <a:xfrm>
            <a:off x="8359445" y="2714752"/>
            <a:ext cx="3027578" cy="265887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tres resuelven el mismo problema: dejar rastro de cómo se llegó al resultado.</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Ese problema no desaparece porque no tengas la herramienta. Solo cambia quién lo resuelve: mañana lo vas a resolver tú, a mano.</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3</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TERCER BLOQUE</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RAG: cuando la herramienta busca por ti</a:t>
            </a:r>
            <a:endParaRPr lang="en-US" sz="3400" dirty="0"/>
          </a:p>
        </p:txBody>
      </p:sp>
      <p:sp>
        <p:nvSpPr>
          <p:cNvPr id="6" name="Shape 4"/>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9:30 a 10:10</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7E7E7"/>
        </a:solidFill>
      </p:bgPr>
    </p:bg>
    <p:spTree>
      <p:nvGrpSpPr>
        <p:cNvPr id="1" name=""/>
        <p:cNvGrpSpPr/>
        <p:nvPr/>
      </p:nvGrpSpPr>
      <p:grpSpPr>
        <a:xfrm>
          <a:off x="0" y="0"/>
          <a:ext cx="0" cy="0"/>
          <a:chOff x="0" y="0"/>
          <a:chExt cx="0" cy="0"/>
        </a:xfrm>
      </p:grpSpPr>
      <p:sp>
        <p:nvSpPr>
          <p:cNvPr id="2" name="Shape 0"/>
          <p:cNvSpPr/>
          <p:nvPr/>
        </p:nvSpPr>
        <p:spPr>
          <a:xfrm>
            <a:off x="566928" y="457200"/>
            <a:ext cx="2788920" cy="457200"/>
          </a:xfrm>
          <a:prstGeom prst="roundRect">
            <a:avLst>
              <a:gd name="adj" fmla="val 50000"/>
            </a:avLst>
          </a:prstGeom>
          <a:solidFill>
            <a:srgbClr val="2E7D7D"/>
          </a:solidFill>
          <a:ln w="12700">
            <a:solidFill>
              <a:srgbClr val="2E7D7D"/>
            </a:solidFill>
            <a:prstDash val="solid"/>
          </a:ln>
        </p:spPr>
      </p:sp>
      <p:sp>
        <p:nvSpPr>
          <p:cNvPr id="3" name="Text 1"/>
          <p:cNvSpPr txBox="1"/>
          <p:nvPr/>
        </p:nvSpPr>
        <p:spPr>
          <a:xfrm>
            <a:off x="566928" y="457200"/>
            <a:ext cx="278892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2"/>
          <p:cNvSpPr/>
          <p:nvPr/>
        </p:nvSpPr>
        <p:spPr>
          <a:xfrm>
            <a:off x="9704527" y="457200"/>
            <a:ext cx="1920240" cy="457200"/>
          </a:xfrm>
          <a:prstGeom prst="roundRect">
            <a:avLst>
              <a:gd name="adj" fmla="val 50000"/>
            </a:avLst>
          </a:prstGeom>
          <a:solidFill>
            <a:srgbClr val="C85A28"/>
          </a:solidFill>
          <a:ln w="12700">
            <a:solidFill>
              <a:srgbClr val="C85A28"/>
            </a:solidFill>
            <a:prstDash val="solid"/>
          </a:ln>
        </p:spPr>
      </p:sp>
      <p:sp>
        <p:nvSpPr>
          <p:cNvPr id="5" name="Text 3"/>
          <p:cNvSpPr txBox="1"/>
          <p:nvPr/>
        </p:nvSpPr>
        <p:spPr>
          <a:xfrm>
            <a:off x="9704527" y="457200"/>
            <a:ext cx="19202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15 minutos</a:t>
            </a:r>
            <a:endParaRPr lang="en-US" sz="1300" dirty="0"/>
          </a:p>
        </p:txBody>
      </p:sp>
      <p:sp>
        <p:nvSpPr>
          <p:cNvPr id="6" name="Text 4"/>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La prueba: ¿Copilot Chat encuentra solo tus archivos?</a:t>
            </a:r>
            <a:endParaRPr lang="en-US" sz="2900" dirty="0"/>
          </a:p>
        </p:txBody>
      </p:sp>
      <p:sp>
        <p:nvSpPr>
          <p:cNvPr id="7" name="Shape 5"/>
          <p:cNvSpPr/>
          <p:nvPr/>
        </p:nvSpPr>
        <p:spPr>
          <a:xfrm>
            <a:off x="566928" y="1920240"/>
            <a:ext cx="11057839" cy="628650"/>
          </a:xfrm>
          <a:prstGeom prst="roundRect">
            <a:avLst>
              <a:gd name="adj" fmla="val 10182"/>
            </a:avLst>
          </a:prstGeom>
          <a:solidFill>
            <a:srgbClr val="FFFFFF"/>
          </a:solidFill>
          <a:ln w="12700">
            <a:solidFill>
              <a:srgbClr val="FFFFFF"/>
            </a:solidFill>
            <a:prstDash val="solid"/>
          </a:ln>
        </p:spPr>
      </p:sp>
      <p:sp>
        <p:nvSpPr>
          <p:cNvPr id="8" name="Shape 6"/>
          <p:cNvSpPr/>
          <p:nvPr/>
        </p:nvSpPr>
        <p:spPr>
          <a:xfrm>
            <a:off x="786384" y="2024253"/>
            <a:ext cx="420624" cy="420624"/>
          </a:xfrm>
          <a:prstGeom prst="ellipse">
            <a:avLst/>
          </a:prstGeom>
          <a:solidFill>
            <a:srgbClr val="2E7D7D"/>
          </a:solidFill>
          <a:ln w="12700">
            <a:solidFill>
              <a:srgbClr val="2E7D7D"/>
            </a:solidFill>
            <a:prstDash val="solid"/>
          </a:ln>
        </p:spPr>
      </p:sp>
      <p:sp>
        <p:nvSpPr>
          <p:cNvPr id="9" name="Text 7"/>
          <p:cNvSpPr txBox="1"/>
          <p:nvPr/>
        </p:nvSpPr>
        <p:spPr>
          <a:xfrm>
            <a:off x="786384" y="202425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408176" y="201168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Desde Copilot Chat sí llegas a tu OneDrive institucional y eliges tus archivos ahí mismo. Puede sugerirte archivos, pero no escoge por ti como haría un RAG. Vamos a comprobarlo con tu cuenta.</a:t>
            </a:r>
            <a:endParaRPr lang="en-US" sz="1450" dirty="0"/>
          </a:p>
        </p:txBody>
      </p:sp>
      <p:sp>
        <p:nvSpPr>
          <p:cNvPr id="11" name="Shape 9"/>
          <p:cNvSpPr/>
          <p:nvPr/>
        </p:nvSpPr>
        <p:spPr>
          <a:xfrm>
            <a:off x="566928" y="2731770"/>
            <a:ext cx="11057839" cy="628650"/>
          </a:xfrm>
          <a:prstGeom prst="roundRect">
            <a:avLst>
              <a:gd name="adj" fmla="val 10182"/>
            </a:avLst>
          </a:prstGeom>
          <a:solidFill>
            <a:srgbClr val="FFFFFF"/>
          </a:solidFill>
          <a:ln w="12700">
            <a:solidFill>
              <a:srgbClr val="FFFFFF"/>
            </a:solidFill>
            <a:prstDash val="solid"/>
          </a:ln>
        </p:spPr>
      </p:sp>
      <p:sp>
        <p:nvSpPr>
          <p:cNvPr id="12" name="Shape 10"/>
          <p:cNvSpPr/>
          <p:nvPr/>
        </p:nvSpPr>
        <p:spPr>
          <a:xfrm>
            <a:off x="786384" y="2835783"/>
            <a:ext cx="420624" cy="420624"/>
          </a:xfrm>
          <a:prstGeom prst="ellipse">
            <a:avLst/>
          </a:prstGeom>
          <a:solidFill>
            <a:srgbClr val="2E7D7D"/>
          </a:solidFill>
          <a:ln w="12700">
            <a:solidFill>
              <a:srgbClr val="2E7D7D"/>
            </a:solidFill>
            <a:prstDash val="solid"/>
          </a:ln>
        </p:spPr>
      </p:sp>
      <p:sp>
        <p:nvSpPr>
          <p:cNvPr id="13" name="Text 11"/>
          <p:cNvSpPr txBox="1"/>
          <p:nvPr/>
        </p:nvSpPr>
        <p:spPr>
          <a:xfrm>
            <a:off x="786384" y="283578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408176" y="282321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Crea en tu OneDrive un Word llamado «Notas sueltas» con un dato inventado que no exista en la web: «La clave del equipo Ajolote es magnolia-7391». Guárdalo y ciérralo.</a:t>
            </a:r>
            <a:endParaRPr lang="en-US" sz="1450" dirty="0"/>
          </a:p>
        </p:txBody>
      </p:sp>
      <p:sp>
        <p:nvSpPr>
          <p:cNvPr id="15" name="Shape 13"/>
          <p:cNvSpPr/>
          <p:nvPr/>
        </p:nvSpPr>
        <p:spPr>
          <a:xfrm>
            <a:off x="566928" y="3543300"/>
            <a:ext cx="11057839" cy="628650"/>
          </a:xfrm>
          <a:prstGeom prst="roundRect">
            <a:avLst>
              <a:gd name="adj" fmla="val 10182"/>
            </a:avLst>
          </a:prstGeom>
          <a:solidFill>
            <a:srgbClr val="FFFFFF"/>
          </a:solidFill>
          <a:ln w="12700">
            <a:solidFill>
              <a:srgbClr val="FFFFFF"/>
            </a:solidFill>
            <a:prstDash val="solid"/>
          </a:ln>
        </p:spPr>
      </p:sp>
      <p:sp>
        <p:nvSpPr>
          <p:cNvPr id="16" name="Shape 14"/>
          <p:cNvSpPr/>
          <p:nvPr/>
        </p:nvSpPr>
        <p:spPr>
          <a:xfrm>
            <a:off x="786384" y="3647313"/>
            <a:ext cx="420624" cy="420624"/>
          </a:xfrm>
          <a:prstGeom prst="ellipse">
            <a:avLst/>
          </a:prstGeom>
          <a:solidFill>
            <a:srgbClr val="2E7D7D"/>
          </a:solidFill>
          <a:ln w="12700">
            <a:solidFill>
              <a:srgbClr val="2E7D7D"/>
            </a:solidFill>
            <a:prstDash val="solid"/>
          </a:ln>
        </p:spPr>
      </p:sp>
      <p:sp>
        <p:nvSpPr>
          <p:cNvPr id="17" name="Text 15"/>
          <p:cNvSpPr txBox="1"/>
          <p:nvPr/>
        </p:nvSpPr>
        <p:spPr>
          <a:xfrm>
            <a:off x="786384" y="364731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08176" y="363474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En un chat nuevo, sin agregar archivos ni tocar sugerencias, pregunta cuál es la clave del equipo Ajolote y pide el archivo de donde sale, con su liga. Anota qué contestó.</a:t>
            </a:r>
            <a:endParaRPr lang="en-US" sz="1450" dirty="0"/>
          </a:p>
        </p:txBody>
      </p:sp>
      <p:sp>
        <p:nvSpPr>
          <p:cNvPr id="19" name="Shape 17"/>
          <p:cNvSpPr/>
          <p:nvPr/>
        </p:nvSpPr>
        <p:spPr>
          <a:xfrm>
            <a:off x="566928" y="4354830"/>
            <a:ext cx="11057839" cy="628650"/>
          </a:xfrm>
          <a:prstGeom prst="roundRect">
            <a:avLst>
              <a:gd name="adj" fmla="val 10182"/>
            </a:avLst>
          </a:prstGeom>
          <a:solidFill>
            <a:srgbClr val="FFFFFF"/>
          </a:solidFill>
          <a:ln w="12700">
            <a:solidFill>
              <a:srgbClr val="FFFFFF"/>
            </a:solidFill>
            <a:prstDash val="solid"/>
          </a:ln>
        </p:spPr>
      </p:sp>
      <p:sp>
        <p:nvSpPr>
          <p:cNvPr id="20" name="Shape 18"/>
          <p:cNvSpPr/>
          <p:nvPr/>
        </p:nvSpPr>
        <p:spPr>
          <a:xfrm>
            <a:off x="786384" y="4458843"/>
            <a:ext cx="420624" cy="420624"/>
          </a:xfrm>
          <a:prstGeom prst="ellipse">
            <a:avLst/>
          </a:prstGeom>
          <a:solidFill>
            <a:srgbClr val="2E7D7D"/>
          </a:solidFill>
          <a:ln w="12700">
            <a:solidFill>
              <a:srgbClr val="2E7D7D"/>
            </a:solidFill>
            <a:prstDash val="solid"/>
          </a:ln>
        </p:spPr>
      </p:sp>
      <p:sp>
        <p:nvSpPr>
          <p:cNvPr id="21" name="Text 19"/>
          <p:cNvSpPr txBox="1"/>
          <p:nvPr/>
        </p:nvSpPr>
        <p:spPr>
          <a:xfrm>
            <a:off x="786384" y="445884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408176" y="444627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Ahora agrega ese archivo desde OneDrive, repite la pregunta y pide la cita. Compara las dos respuestas: esa diferencia es la que separa adjuntar de un RAG.</a:t>
            </a:r>
            <a:endParaRPr lang="en-US" sz="1450" dirty="0"/>
          </a:p>
        </p:txBody>
      </p:sp>
      <p:sp>
        <p:nvSpPr>
          <p:cNvPr id="23" name="Shape 21"/>
          <p:cNvSpPr/>
          <p:nvPr/>
        </p:nvSpPr>
        <p:spPr>
          <a:xfrm>
            <a:off x="566928" y="5193792"/>
            <a:ext cx="11057839" cy="777240"/>
          </a:xfrm>
          <a:prstGeom prst="roundRect">
            <a:avLst>
              <a:gd name="adj" fmla="val 8235"/>
            </a:avLst>
          </a:prstGeom>
          <a:solidFill>
            <a:srgbClr val="16262E"/>
          </a:solidFill>
          <a:ln w="12700">
            <a:solidFill>
              <a:srgbClr val="16262E"/>
            </a:solidFill>
            <a:prstDash val="solid"/>
          </a:ln>
        </p:spPr>
      </p:sp>
      <p:sp>
        <p:nvSpPr>
          <p:cNvPr id="24" name="Text 22"/>
          <p:cNvSpPr txBox="1"/>
          <p:nvPr/>
        </p:nvSpPr>
        <p:spPr>
          <a:xfrm>
            <a:off x="841248" y="5193792"/>
            <a:ext cx="10509199"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Si en el paso 3 Copilot citó tu archivo sin que se lo señalaras, avísame: puede ser la licencia de paga, una sugerencia con archivo, otro chat o la web. Lo aclara la etiqueta bajo tu nombre en m365.cloud.microsoft, al pie de la página de inicio.</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737360" y="3931920"/>
            <a:ext cx="4754880" cy="4754880"/>
          </a:xfrm>
          <a:prstGeom prst="ellipse">
            <a:avLst/>
          </a:prstGeom>
          <a:solidFill>
            <a:srgbClr val="24404E"/>
          </a:solidFill>
          <a:ln w="12700">
            <a:solidFill>
              <a:srgbClr val="24404E"/>
            </a:solidFill>
            <a:prstDash val="solid"/>
          </a:ln>
        </p:spPr>
      </p:sp>
      <p:sp>
        <p:nvSpPr>
          <p:cNvPr id="3" name="Text 1"/>
          <p:cNvSpPr txBox="1"/>
          <p:nvPr/>
        </p:nvSpPr>
        <p:spPr>
          <a:xfrm>
            <a:off x="566928" y="6858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AL SALIR DE HOY</a:t>
            </a:r>
            <a:endParaRPr lang="en-US" sz="1400" dirty="0"/>
          </a:p>
        </p:txBody>
      </p:sp>
      <p:sp>
        <p:nvSpPr>
          <p:cNvPr id="4" name="Text 2"/>
          <p:cNvSpPr txBox="1"/>
          <p:nvPr/>
        </p:nvSpPr>
        <p:spPr>
          <a:xfrm>
            <a:off x="566928" y="1097280"/>
            <a:ext cx="1060704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Lo que te llevas de tarea</a:t>
            </a:r>
            <a:endParaRPr lang="en-US" sz="3000" dirty="0"/>
          </a:p>
        </p:txBody>
      </p:sp>
      <p:sp>
        <p:nvSpPr>
          <p:cNvPr id="5" name="Shape 3"/>
          <p:cNvSpPr/>
          <p:nvPr/>
        </p:nvSpPr>
        <p:spPr>
          <a:xfrm>
            <a:off x="566928" y="2011680"/>
            <a:ext cx="11057839" cy="857250"/>
          </a:xfrm>
          <a:prstGeom prst="roundRect">
            <a:avLst>
              <a:gd name="adj" fmla="val 7467"/>
            </a:avLst>
          </a:prstGeom>
          <a:solidFill>
            <a:srgbClr val="24404E"/>
          </a:solidFill>
          <a:ln w="12700">
            <a:solidFill>
              <a:srgbClr val="24404E"/>
            </a:solidFill>
            <a:prstDash val="solid"/>
          </a:ln>
        </p:spPr>
      </p:sp>
      <p:sp>
        <p:nvSpPr>
          <p:cNvPr id="6" name="Shape 4"/>
          <p:cNvSpPr/>
          <p:nvPr/>
        </p:nvSpPr>
        <p:spPr>
          <a:xfrm>
            <a:off x="804672" y="2239137"/>
            <a:ext cx="402336" cy="402336"/>
          </a:xfrm>
          <a:prstGeom prst="ellipse">
            <a:avLst/>
          </a:prstGeom>
          <a:solidFill>
            <a:srgbClr val="2E7D7D"/>
          </a:solidFill>
          <a:ln w="12700">
            <a:solidFill>
              <a:srgbClr val="2E7D7D"/>
            </a:solidFill>
            <a:prstDash val="solid"/>
          </a:ln>
        </p:spPr>
      </p:sp>
      <p:sp>
        <p:nvSpPr>
          <p:cNvPr id="7" name="Text 5"/>
          <p:cNvSpPr txBox="1"/>
          <p:nvPr/>
        </p:nvSpPr>
        <p:spPr>
          <a:xfrm>
            <a:off x="804672" y="2239137"/>
            <a:ext cx="402336" cy="402336"/>
          </a:xfrm>
          <a:prstGeom prst="rect">
            <a:avLst/>
          </a:prstGeom>
          <a:noFill/>
          <a:ln/>
        </p:spPr>
        <p:txBody>
          <a:bodyPr wrap="square" lIns="0" tIns="0" rIns="0" bIns="0" rtlCol="0" anchor="ctr"/>
          <a:lstStyle/>
          <a:p>
            <a:pPr algn="ctr" indent="0" marL="0">
              <a:buNone/>
            </a:pPr>
            <a:endParaRPr lang="en-US" sz="1200" dirty="0"/>
          </a:p>
        </p:txBody>
      </p:sp>
      <p:sp>
        <p:nvSpPr>
          <p:cNvPr id="8" name="Text 6"/>
          <p:cNvSpPr txBox="1"/>
          <p:nvPr/>
        </p:nvSpPr>
        <p:spPr>
          <a:xfrm>
            <a:off x="1426464" y="208483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El renglón de tu equipo en el cuadro comparativo: tu herramienta evaluada por uso propio, contra Copilot.</a:t>
            </a:r>
            <a:endParaRPr lang="en-US" sz="1450" dirty="0"/>
          </a:p>
        </p:txBody>
      </p:sp>
      <p:sp>
        <p:nvSpPr>
          <p:cNvPr id="9" name="Shape 7"/>
          <p:cNvSpPr/>
          <p:nvPr/>
        </p:nvSpPr>
        <p:spPr>
          <a:xfrm>
            <a:off x="566928" y="3051810"/>
            <a:ext cx="11057839" cy="857250"/>
          </a:xfrm>
          <a:prstGeom prst="roundRect">
            <a:avLst>
              <a:gd name="adj" fmla="val 7467"/>
            </a:avLst>
          </a:prstGeom>
          <a:solidFill>
            <a:srgbClr val="24404E"/>
          </a:solidFill>
          <a:ln w="12700">
            <a:solidFill>
              <a:srgbClr val="24404E"/>
            </a:solidFill>
            <a:prstDash val="solid"/>
          </a:ln>
        </p:spPr>
      </p:sp>
      <p:sp>
        <p:nvSpPr>
          <p:cNvPr id="10" name="Shape 8"/>
          <p:cNvSpPr/>
          <p:nvPr/>
        </p:nvSpPr>
        <p:spPr>
          <a:xfrm>
            <a:off x="804672" y="3279267"/>
            <a:ext cx="402336" cy="402336"/>
          </a:xfrm>
          <a:prstGeom prst="ellipse">
            <a:avLst/>
          </a:prstGeom>
          <a:solidFill>
            <a:srgbClr val="2E7D7D"/>
          </a:solidFill>
          <a:ln w="12700">
            <a:solidFill>
              <a:srgbClr val="2E7D7D"/>
            </a:solidFill>
            <a:prstDash val="solid"/>
          </a:ln>
        </p:spPr>
      </p:sp>
      <p:sp>
        <p:nvSpPr>
          <p:cNvPr id="11" name="Text 9"/>
          <p:cNvSpPr txBox="1"/>
          <p:nvPr/>
        </p:nvSpPr>
        <p:spPr>
          <a:xfrm>
            <a:off x="804672" y="3279267"/>
            <a:ext cx="402336" cy="402336"/>
          </a:xfrm>
          <a:prstGeom prst="rect">
            <a:avLst/>
          </a:prstGeom>
          <a:noFill/>
          <a:ln/>
        </p:spPr>
        <p:txBody>
          <a:bodyPr wrap="square" lIns="0" tIns="0" rIns="0" bIns="0" rtlCol="0" anchor="ctr"/>
          <a:lstStyle/>
          <a:p>
            <a:pPr algn="ctr" indent="0" marL="0">
              <a:buNone/>
            </a:pPr>
            <a:endParaRPr lang="en-US" sz="1200" dirty="0"/>
          </a:p>
        </p:txBody>
      </p:sp>
      <p:sp>
        <p:nvSpPr>
          <p:cNvPr id="12" name="Text 10"/>
          <p:cNvSpPr txBox="1"/>
          <p:nvPr/>
        </p:nvSpPr>
        <p:spPr>
          <a:xfrm>
            <a:off x="1426464" y="312496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Una cuartilla por equipo: cuál herramienta valdría la pena contratar o solicitar, con costo estimado y para qué tarea.</a:t>
            </a:r>
            <a:endParaRPr lang="en-US" sz="1450" dirty="0"/>
          </a:p>
        </p:txBody>
      </p:sp>
      <p:sp>
        <p:nvSpPr>
          <p:cNvPr id="13" name="Shape 11"/>
          <p:cNvSpPr/>
          <p:nvPr/>
        </p:nvSpPr>
        <p:spPr>
          <a:xfrm>
            <a:off x="566928" y="4091940"/>
            <a:ext cx="11057839" cy="857250"/>
          </a:xfrm>
          <a:prstGeom prst="roundRect">
            <a:avLst>
              <a:gd name="adj" fmla="val 7467"/>
            </a:avLst>
          </a:prstGeom>
          <a:solidFill>
            <a:srgbClr val="24404E"/>
          </a:solidFill>
          <a:ln w="12700">
            <a:solidFill>
              <a:srgbClr val="24404E"/>
            </a:solidFill>
            <a:prstDash val="solid"/>
          </a:ln>
        </p:spPr>
      </p:sp>
      <p:sp>
        <p:nvSpPr>
          <p:cNvPr id="14" name="Shape 12"/>
          <p:cNvSpPr/>
          <p:nvPr/>
        </p:nvSpPr>
        <p:spPr>
          <a:xfrm>
            <a:off x="804672" y="4319397"/>
            <a:ext cx="402336" cy="402336"/>
          </a:xfrm>
          <a:prstGeom prst="ellipse">
            <a:avLst/>
          </a:prstGeom>
          <a:solidFill>
            <a:srgbClr val="2E7D7D"/>
          </a:solidFill>
          <a:ln w="12700">
            <a:solidFill>
              <a:srgbClr val="2E7D7D"/>
            </a:solidFill>
            <a:prstDash val="solid"/>
          </a:ln>
        </p:spPr>
      </p:sp>
      <p:sp>
        <p:nvSpPr>
          <p:cNvPr id="15" name="Text 13"/>
          <p:cNvSpPr txBox="1"/>
          <p:nvPr/>
        </p:nvSpPr>
        <p:spPr>
          <a:xfrm>
            <a:off x="804672" y="4319397"/>
            <a:ext cx="402336" cy="402336"/>
          </a:xfrm>
          <a:prstGeom prst="rect">
            <a:avLst/>
          </a:prstGeom>
          <a:noFill/>
          <a:ln/>
        </p:spPr>
        <p:txBody>
          <a:bodyPr wrap="square" lIns="0" tIns="0" rIns="0" bIns="0" rtlCol="0" anchor="ctr"/>
          <a:lstStyle/>
          <a:p>
            <a:pPr algn="ctr" indent="0" marL="0">
              <a:buNone/>
            </a:pPr>
            <a:endParaRPr lang="en-US" sz="1200" dirty="0"/>
          </a:p>
        </p:txBody>
      </p:sp>
      <p:sp>
        <p:nvSpPr>
          <p:cNvPr id="16" name="Text 14"/>
          <p:cNvSpPr txBox="1"/>
          <p:nvPr/>
        </p:nvSpPr>
        <p:spPr>
          <a:xfrm>
            <a:off x="1426464" y="416509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Esa cuartilla no es un ejercicio de curso. Es el borrador de una solicitud real que tu área puede presentar.</a:t>
            </a:r>
            <a:endParaRPr lang="en-US" sz="1450" dirty="0"/>
          </a:p>
        </p:txBody>
      </p:sp>
      <p:sp>
        <p:nvSpPr>
          <p:cNvPr id="17" name="Shape 15"/>
          <p:cNvSpPr/>
          <p:nvPr/>
        </p:nvSpPr>
        <p:spPr>
          <a:xfrm>
            <a:off x="566928" y="5132070"/>
            <a:ext cx="11057839" cy="857250"/>
          </a:xfrm>
          <a:prstGeom prst="roundRect">
            <a:avLst>
              <a:gd name="adj" fmla="val 7467"/>
            </a:avLst>
          </a:prstGeom>
          <a:solidFill>
            <a:srgbClr val="24404E"/>
          </a:solidFill>
          <a:ln w="12700">
            <a:solidFill>
              <a:srgbClr val="24404E"/>
            </a:solidFill>
            <a:prstDash val="solid"/>
          </a:ln>
        </p:spPr>
      </p:sp>
      <p:sp>
        <p:nvSpPr>
          <p:cNvPr id="18" name="Shape 16"/>
          <p:cNvSpPr/>
          <p:nvPr/>
        </p:nvSpPr>
        <p:spPr>
          <a:xfrm>
            <a:off x="804672" y="5359527"/>
            <a:ext cx="402336" cy="402336"/>
          </a:xfrm>
          <a:prstGeom prst="ellipse">
            <a:avLst/>
          </a:prstGeom>
          <a:solidFill>
            <a:srgbClr val="2E7D7D"/>
          </a:solidFill>
          <a:ln w="12700">
            <a:solidFill>
              <a:srgbClr val="2E7D7D"/>
            </a:solidFill>
            <a:prstDash val="solid"/>
          </a:ln>
        </p:spPr>
      </p:sp>
      <p:sp>
        <p:nvSpPr>
          <p:cNvPr id="19" name="Text 17"/>
          <p:cNvSpPr txBox="1"/>
          <p:nvPr/>
        </p:nvSpPr>
        <p:spPr>
          <a:xfrm>
            <a:off x="804672" y="5359527"/>
            <a:ext cx="402336" cy="402336"/>
          </a:xfrm>
          <a:prstGeom prst="rect">
            <a:avLst/>
          </a:prstGeom>
          <a:noFill/>
          <a:ln/>
        </p:spPr>
        <p:txBody>
          <a:bodyPr wrap="square" lIns="0" tIns="0" rIns="0" bIns="0" rtlCol="0" anchor="ctr"/>
          <a:lstStyle/>
          <a:p>
            <a:pPr algn="ctr" indent="0" marL="0">
              <a:buNone/>
            </a:pPr>
            <a:endParaRPr lang="en-US" sz="1200" dirty="0"/>
          </a:p>
        </p:txBody>
      </p:sp>
      <p:sp>
        <p:nvSpPr>
          <p:cNvPr id="20" name="Text 18"/>
          <p:cNvSpPr txBox="1"/>
          <p:nvPr/>
        </p:nvSpPr>
        <p:spPr>
          <a:xfrm>
            <a:off x="1426464" y="520522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Para mañana: entrega las dos cosas antes de las 9:00, revisa tu bitácora completa y lee el expediente del Laboratorio 2.</a:t>
            </a:r>
            <a:endParaRPr lang="en-US" sz="1450" dirty="0"/>
          </a:p>
        </p:txBody>
      </p:sp>
      <p:sp>
        <p:nvSpPr>
          <p:cNvPr id="21" name="Text 19"/>
          <p:cNvSpPr txBox="1"/>
          <p:nvPr/>
        </p:nvSpPr>
        <p:spPr>
          <a:xfrm>
            <a:off x="566928" y="6172200"/>
            <a:ext cx="11057839" cy="411480"/>
          </a:xfrm>
          <a:prstGeom prst="rect">
            <a:avLst/>
          </a:prstGeom>
          <a:noFill/>
          <a:ln/>
        </p:spPr>
        <p:txBody>
          <a:bodyPr wrap="square" lIns="0" tIns="0" rIns="0" bIns="0" rtlCol="0" anchor="ctr"/>
          <a:lstStyle/>
          <a:p>
            <a:pPr indent="0" marL="0">
              <a:buNone/>
            </a:pPr>
            <a:r>
              <a:rPr lang="en-US" sz="1300" i="1" dirty="0">
                <a:solidFill>
                  <a:srgbClr val="D7E7E7"/>
                </a:solidFill>
                <a:latin typeface="Calibri" pitchFamily="34" charset="0"/>
                <a:ea typeface="Calibri" pitchFamily="34" charset="-122"/>
                <a:cs typeface="Calibri" pitchFamily="34" charset="-120"/>
              </a:rPr>
              <a:t>Sesión 6, martes 22 de septiembre: laboratorio cualitativo aplicado y cierre del bloque.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RAG cercani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busca el bibliotecario: por cercanía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Es la idea del viernes aplicada a documentos completos. Así trabajan por dentro las herramientas que buscan antes de escribir.</a:t>
            </a:r>
            <a:endParaRPr lang="en-US" sz="1500" dirty="0"/>
          </a:p>
        </p:txBody>
      </p:sp>
      <p:sp>
        <p:nvSpPr>
          <p:cNvPr id="4" name="Shape"/>
          <p:cNvSpPr/>
          <p:nvPr/>
        </p:nvSpPr>
        <p:spPr>
          <a:xfrm>
            <a:off x="566928" y="2011680"/>
            <a:ext cx="3503066" cy="2750000"/>
          </a:xfrm>
          <a:prstGeom prst="roundRect">
            <a:avLst>
              <a:gd name="adj" fmla="val 2933"/>
            </a:avLst>
          </a:prstGeom>
          <a:solidFill>
            <a:srgbClr val="F2F5F6"/>
          </a:solidFill>
          <a:ln w="12700">
            <a:solidFill>
              <a:srgbClr val="F2F5F6"/>
            </a:solidFill>
            <a:prstDash val="solid"/>
          </a:ln>
        </p:spPr>
      </p:sp>
      <p:sp>
        <p:nvSpPr>
          <p:cNvPr id="5" name="Shape"/>
          <p:cNvSpPr/>
          <p:nvPr/>
        </p:nvSpPr>
        <p:spPr>
          <a:xfrm>
            <a:off x="804672" y="2231136"/>
            <a:ext cx="420624" cy="420624"/>
          </a:xfrm>
          <a:prstGeom prst="roundRect">
            <a:avLst>
              <a:gd name="adj" fmla="val 50000"/>
            </a:avLst>
          </a:prstGeom>
          <a:solidFill>
            <a:srgbClr val="2E7D7D"/>
          </a:solidFill>
          <a:ln w="12700">
            <a:solidFill>
              <a:srgbClr val="2E7D7D"/>
            </a:solidFill>
            <a:prstDash val="solid"/>
          </a:ln>
        </p:spPr>
      </p:sp>
      <p:sp>
        <p:nvSpPr>
          <p:cNvPr id="6" name="Text"/>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p:cNvSpPr txBox="1"/>
          <p:nvPr/>
        </p:nvSpPr>
        <p:spPr>
          <a:xfrm>
            <a:off x="804672"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Parte los documentos</a:t>
            </a:r>
            <a:endParaRPr lang="en-US" sz="1600" dirty="0"/>
          </a:p>
        </p:txBody>
      </p:sp>
      <p:sp>
        <p:nvSpPr>
          <p:cNvPr id="8" name="Text"/>
          <p:cNvSpPr txBox="1"/>
          <p:nvPr/>
        </p:nvSpPr>
        <p:spPr>
          <a:xfrm>
            <a:off x="804672" y="3455000"/>
            <a:ext cx="3027578" cy="1260000"/>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Corta cada archivo en fragmentos del tamaño de unos párrafos, porque un documento entero es demasiado grande para comparar de un golpe.</a:t>
            </a:r>
            <a:endParaRPr lang="en-US" sz="1300" dirty="0"/>
          </a:p>
        </p:txBody>
      </p:sp>
      <p:sp>
        <p:nvSpPr>
          <p:cNvPr id="9" name="Shape"/>
          <p:cNvSpPr/>
          <p:nvPr/>
        </p:nvSpPr>
        <p:spPr>
          <a:xfrm>
            <a:off x="4344314" y="2011680"/>
            <a:ext cx="3503066" cy="2750000"/>
          </a:xfrm>
          <a:prstGeom prst="roundRect">
            <a:avLst>
              <a:gd name="adj" fmla="val 2933"/>
            </a:avLst>
          </a:prstGeom>
          <a:solidFill>
            <a:srgbClr val="F2F5F6"/>
          </a:solidFill>
          <a:ln w="12700">
            <a:solidFill>
              <a:srgbClr val="F2F5F6"/>
            </a:solidFill>
            <a:prstDash val="solid"/>
          </a:ln>
        </p:spPr>
      </p:sp>
      <p:sp>
        <p:nvSpPr>
          <p:cNvPr id="10" name="Shape"/>
          <p:cNvSpPr/>
          <p:nvPr/>
        </p:nvSpPr>
        <p:spPr>
          <a:xfrm>
            <a:off x="4582058" y="2231136"/>
            <a:ext cx="420624" cy="420624"/>
          </a:xfrm>
          <a:prstGeom prst="roundRect">
            <a:avLst>
              <a:gd name="adj" fmla="val 50000"/>
            </a:avLst>
          </a:prstGeom>
          <a:solidFill>
            <a:srgbClr val="2E7D7D"/>
          </a:solidFill>
          <a:ln w="12700">
            <a:solidFill>
              <a:srgbClr val="2E7D7D"/>
            </a:solidFill>
            <a:prstDash val="solid"/>
          </a:ln>
        </p:spPr>
      </p:sp>
      <p:sp>
        <p:nvSpPr>
          <p:cNvPr id="11" name="Text"/>
          <p:cNvSpPr txBox="1"/>
          <p:nvPr/>
        </p:nvSpPr>
        <p:spPr>
          <a:xfrm>
            <a:off x="4582058"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p:cNvSpPr txBox="1"/>
          <p:nvPr/>
        </p:nvSpPr>
        <p:spPr>
          <a:xfrm>
            <a:off x="4582058"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Convierte cada fragmento</a:t>
            </a:r>
            <a:endParaRPr lang="en-US" sz="1600" dirty="0"/>
          </a:p>
        </p:txBody>
      </p:sp>
      <p:sp>
        <p:nvSpPr>
          <p:cNvPr id="13" name="Text"/>
          <p:cNvSpPr txBox="1"/>
          <p:nvPr/>
        </p:nvSpPr>
        <p:spPr>
          <a:xfrm>
            <a:off x="4582058" y="3455000"/>
            <a:ext cx="3027578" cy="1260000"/>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Cada fragmento se vuelve coordenadas, igual que los registros del viernes. Dos textos que significan lo mismo quedan cerca.</a:t>
            </a:r>
            <a:endParaRPr lang="en-US" sz="1300" dirty="0"/>
          </a:p>
        </p:txBody>
      </p:sp>
      <p:sp>
        <p:nvSpPr>
          <p:cNvPr id="14" name="Shape"/>
          <p:cNvSpPr/>
          <p:nvPr/>
        </p:nvSpPr>
        <p:spPr>
          <a:xfrm>
            <a:off x="8121701" y="2011680"/>
            <a:ext cx="3503066" cy="2750000"/>
          </a:xfrm>
          <a:prstGeom prst="roundRect">
            <a:avLst>
              <a:gd name="adj" fmla="val 2933"/>
            </a:avLst>
          </a:prstGeom>
          <a:solidFill>
            <a:srgbClr val="F2F5F6"/>
          </a:solidFill>
          <a:ln w="12700">
            <a:solidFill>
              <a:srgbClr val="F2F5F6"/>
            </a:solidFill>
            <a:prstDash val="solid"/>
          </a:ln>
        </p:spPr>
      </p:sp>
      <p:sp>
        <p:nvSpPr>
          <p:cNvPr id="15" name="Shape"/>
          <p:cNvSpPr/>
          <p:nvPr/>
        </p:nvSpPr>
        <p:spPr>
          <a:xfrm>
            <a:off x="8359445" y="2231136"/>
            <a:ext cx="420624" cy="420624"/>
          </a:xfrm>
          <a:prstGeom prst="roundRect">
            <a:avLst>
              <a:gd name="adj" fmla="val 50000"/>
            </a:avLst>
          </a:prstGeom>
          <a:solidFill>
            <a:srgbClr val="2E7D7D"/>
          </a:solidFill>
          <a:ln w="12700">
            <a:solidFill>
              <a:srgbClr val="2E7D7D"/>
            </a:solidFill>
            <a:prstDash val="solid"/>
          </a:ln>
        </p:spPr>
      </p:sp>
      <p:sp>
        <p:nvSpPr>
          <p:cNvPr id="16" name="Text"/>
          <p:cNvSpPr txBox="1"/>
          <p:nvPr/>
        </p:nvSpPr>
        <p:spPr>
          <a:xfrm>
            <a:off x="8359445"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p:cNvSpPr txBox="1"/>
          <p:nvPr/>
        </p:nvSpPr>
        <p:spPr>
          <a:xfrm>
            <a:off x="8359445"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Recupera lo más cercano</a:t>
            </a:r>
            <a:endParaRPr lang="en-US" sz="1600" dirty="0"/>
          </a:p>
        </p:txBody>
      </p:sp>
      <p:sp>
        <p:nvSpPr>
          <p:cNvPr id="18" name="Text"/>
          <p:cNvSpPr txBox="1"/>
          <p:nvPr/>
        </p:nvSpPr>
        <p:spPr>
          <a:xfrm>
            <a:off x="8359445" y="3455000"/>
            <a:ext cx="3027578" cy="1260000"/>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Tu pregunta también se vuelve coordenadas y la herramienta trae los fragmentos que caen más cerca. Solo con eso responde.</a:t>
            </a:r>
            <a:endParaRPr lang="en-US" sz="1300" dirty="0"/>
          </a:p>
        </p:txBody>
      </p:sp>
      <p:sp>
        <p:nvSpPr>
          <p:cNvPr id="19" name="Shape"/>
          <p:cNvSpPr/>
          <p:nvPr/>
        </p:nvSpPr>
        <p:spPr>
          <a:xfrm>
            <a:off x="566928" y="5700000"/>
            <a:ext cx="11057839" cy="594360"/>
          </a:xfrm>
          <a:prstGeom prst="roundRect">
            <a:avLst>
              <a:gd name="adj" fmla="val 8235"/>
            </a:avLst>
          </a:prstGeom>
          <a:solidFill>
            <a:srgbClr val="F7E4D8"/>
          </a:solidFill>
          <a:ln w="12700">
            <a:solidFill>
              <a:srgbClr val="F7E4D8"/>
            </a:solidFill>
            <a:prstDash val="solid"/>
          </a:ln>
        </p:spPr>
      </p:sp>
      <p:sp>
        <p:nvSpPr>
          <p:cNvPr id="20" name="Text"/>
          <p:cNvSpPr txBox="1"/>
          <p:nvPr/>
        </p:nvSpPr>
        <p:spPr>
          <a:xfrm>
            <a:off x="804672" y="5700000"/>
            <a:ext cx="10582351" cy="59436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Así trabajan Perplexity, Elicit y Consensus, que tres equipos se llevan de tarea: buscan antes de escribir. El Copilot Chat del Instituto sí abre los archivos de tu OneDrive, pero no los elige por ti: en las prácticas de hoy, quien decide cuáles lee eres tú.</a:t>
            </a:r>
            <a:endParaRPr lang="en-US" sz="1300" dirty="0"/>
          </a:p>
        </p:txBody>
      </p:sp>
      <p:sp>
        <p:nvSpPr>
          <p:cNvPr id="900" name="Fuente"/>
          <p:cNvSpPr txBox="1"/>
          <p:nvPr/>
        </p:nvSpPr>
        <p:spPr>
          <a:xfrm>
            <a:off x="566928" y="639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La idea es la misma del viernes, cuando agrupaste Registros_atencion_ciudadana_PARTICIPANTE.xlsx. Fuente: Lewis y otros (2020), arXiv:2005.11401.</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Adjuntar no es RAG">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Adjuntar no es lo mismo que RAG</a:t>
            </a:r>
            <a:endParaRPr lang="en-US" sz="3200" dirty="0"/>
          </a:p>
        </p:txBody>
      </p:sp>
      <p:sp>
        <p:nvSpPr>
          <p:cNvPr id="3" name="Text"/>
          <p:cNvSpPr txBox="1"/>
          <p:nvPr/>
        </p:nvSpPr>
        <p:spPr>
          <a:xfrm>
            <a:off x="566928" y="1230000"/>
            <a:ext cx="11057839" cy="42000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Hay dos maneras de que un modelo trabaje con tus documentos. Desde fuera se parecen, y fallan de forma distinta.</a:t>
            </a:r>
            <a:endParaRPr lang="en-US" sz="1500" dirty="0"/>
          </a:p>
        </p:txBody>
      </p:sp>
      <p:sp>
        <p:nvSpPr>
          <p:cNvPr id="4" name="Shape"/>
          <p:cNvSpPr/>
          <p:nvPr/>
        </p:nvSpPr>
        <p:spPr>
          <a:xfrm>
            <a:off x="566928" y="1850000"/>
            <a:ext cx="5378919" cy="3700000"/>
          </a:xfrm>
          <a:prstGeom prst="roundRect">
            <a:avLst>
              <a:gd name="adj" fmla="val 2933"/>
            </a:avLst>
          </a:prstGeom>
          <a:solidFill>
            <a:srgbClr val="F2F5F6"/>
          </a:solidFill>
          <a:ln w="12700">
            <a:solidFill>
              <a:srgbClr val="F2F5F6"/>
            </a:solidFill>
            <a:prstDash val="solid"/>
          </a:ln>
        </p:spPr>
      </p:sp>
      <p:sp>
        <p:nvSpPr>
          <p:cNvPr id="5" name="Text"/>
          <p:cNvSpPr txBox="1"/>
          <p:nvPr/>
        </p:nvSpPr>
        <p:spPr>
          <a:xfrm>
            <a:off x="804672" y="2040000"/>
            <a:ext cx="4903431" cy="22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EL ESCRITORIO</a:t>
            </a:r>
            <a:endParaRPr lang="en-US" sz="1100" dirty="0"/>
          </a:p>
        </p:txBody>
      </p:sp>
      <p:sp>
        <p:nvSpPr>
          <p:cNvPr id="6" name="Shape"/>
          <p:cNvSpPr/>
          <p:nvPr/>
        </p:nvSpPr>
        <p:spPr>
          <a:xfrm>
            <a:off x="804672" y="2430000"/>
            <a:ext cx="230000" cy="300000"/>
          </a:xfrm>
          <a:prstGeom prst="rect">
            <a:avLst/>
          </a:prstGeom>
          <a:solidFill>
            <a:srgbClr val="FFFFFF"/>
          </a:solidFill>
          <a:ln w="9525">
            <a:solidFill>
              <a:srgbClr val="16262E"/>
            </a:solidFill>
            <a:prstDash val="solid"/>
          </a:ln>
        </p:spPr>
      </p:sp>
      <p:sp>
        <p:nvSpPr>
          <p:cNvPr id="7" name="Shape"/>
          <p:cNvSpPr/>
          <p:nvPr/>
        </p:nvSpPr>
        <p:spPr>
          <a:xfrm>
            <a:off x="1094672" y="2430000"/>
            <a:ext cx="230000" cy="300000"/>
          </a:xfrm>
          <a:prstGeom prst="rect">
            <a:avLst/>
          </a:prstGeom>
          <a:solidFill>
            <a:srgbClr val="FFFFFF"/>
          </a:solidFill>
          <a:ln w="9525">
            <a:solidFill>
              <a:srgbClr val="16262E"/>
            </a:solidFill>
            <a:prstDash val="solid"/>
          </a:ln>
        </p:spPr>
      </p:sp>
      <p:sp>
        <p:nvSpPr>
          <p:cNvPr id="8" name="Shape"/>
          <p:cNvSpPr/>
          <p:nvPr/>
        </p:nvSpPr>
        <p:spPr>
          <a:xfrm>
            <a:off x="1384672" y="2430000"/>
            <a:ext cx="230000" cy="300000"/>
          </a:xfrm>
          <a:prstGeom prst="rect">
            <a:avLst/>
          </a:prstGeom>
          <a:solidFill>
            <a:srgbClr val="FFFFFF"/>
          </a:solidFill>
          <a:ln w="9525">
            <a:solidFill>
              <a:srgbClr val="16262E"/>
            </a:solidFill>
            <a:prstDash val="solid"/>
          </a:ln>
        </p:spPr>
      </p:sp>
      <p:sp>
        <p:nvSpPr>
          <p:cNvPr id="9" name="Shape"/>
          <p:cNvSpPr/>
          <p:nvPr/>
        </p:nvSpPr>
        <p:spPr>
          <a:xfrm>
            <a:off x="1714672" y="2460000"/>
            <a:ext cx="280000" cy="240000"/>
          </a:xfrm>
          <a:prstGeom prst="rightArrow">
            <a:avLst/>
          </a:prstGeom>
          <a:solidFill>
            <a:srgbClr val="2E7D7D"/>
          </a:solidFill>
          <a:ln w="12700">
            <a:solidFill>
              <a:srgbClr val="2E7D7D"/>
            </a:solidFill>
            <a:prstDash val="solid"/>
          </a:ln>
        </p:spPr>
      </p:sp>
      <p:sp>
        <p:nvSpPr>
          <p:cNvPr id="10" name="Shape"/>
          <p:cNvSpPr/>
          <p:nvPr/>
        </p:nvSpPr>
        <p:spPr>
          <a:xfrm>
            <a:off x="2074672" y="2370000"/>
            <a:ext cx="1900000" cy="420000"/>
          </a:xfrm>
          <a:prstGeom prst="roundRect">
            <a:avLst>
              <a:gd name="adj" fmla="val 30000"/>
            </a:avLst>
          </a:prstGeom>
          <a:solidFill>
            <a:srgbClr val="2E7D7D"/>
          </a:solidFill>
          <a:ln w="12700">
            <a:solidFill>
              <a:srgbClr val="2E7D7D"/>
            </a:solidFill>
            <a:prstDash val="solid"/>
          </a:ln>
        </p:spPr>
      </p:sp>
      <p:sp>
        <p:nvSpPr>
          <p:cNvPr id="11" name="Text"/>
          <p:cNvSpPr txBox="1"/>
          <p:nvPr/>
        </p:nvSpPr>
        <p:spPr>
          <a:xfrm>
            <a:off x="2074672" y="2370000"/>
            <a:ext cx="1900000" cy="4200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ventana de contexto</a:t>
            </a:r>
            <a:endParaRPr lang="en-US" sz="1050" dirty="0"/>
          </a:p>
        </p:txBody>
      </p:sp>
      <p:sp>
        <p:nvSpPr>
          <p:cNvPr id="12" name="Shape"/>
          <p:cNvSpPr/>
          <p:nvPr/>
        </p:nvSpPr>
        <p:spPr>
          <a:xfrm>
            <a:off x="4054672" y="2460000"/>
            <a:ext cx="280000" cy="240000"/>
          </a:xfrm>
          <a:prstGeom prst="rightArrow">
            <a:avLst/>
          </a:prstGeom>
          <a:solidFill>
            <a:srgbClr val="2E7D7D"/>
          </a:solidFill>
          <a:ln w="12700">
            <a:solidFill>
              <a:srgbClr val="2E7D7D"/>
            </a:solidFill>
            <a:prstDash val="solid"/>
          </a:ln>
        </p:spPr>
      </p:sp>
      <p:sp>
        <p:nvSpPr>
          <p:cNvPr id="13" name="Shape"/>
          <p:cNvSpPr/>
          <p:nvPr/>
        </p:nvSpPr>
        <p:spPr>
          <a:xfrm>
            <a:off x="4414672" y="2370000"/>
            <a:ext cx="1150000" cy="420000"/>
          </a:xfrm>
          <a:prstGeom prst="roundRect">
            <a:avLst>
              <a:gd name="adj" fmla="val 30000"/>
            </a:avLst>
          </a:prstGeom>
          <a:solidFill>
            <a:srgbClr val="16262E"/>
          </a:solidFill>
          <a:ln w="12700">
            <a:solidFill>
              <a:srgbClr val="16262E"/>
            </a:solidFill>
            <a:prstDash val="solid"/>
          </a:ln>
        </p:spPr>
      </p:sp>
      <p:sp>
        <p:nvSpPr>
          <p:cNvPr id="14" name="Text"/>
          <p:cNvSpPr txBox="1"/>
          <p:nvPr/>
        </p:nvSpPr>
        <p:spPr>
          <a:xfrm>
            <a:off x="4414672" y="2370000"/>
            <a:ext cx="1150000" cy="4200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respuesta</a:t>
            </a:r>
            <a:endParaRPr lang="en-US" sz="1050" dirty="0"/>
          </a:p>
        </p:txBody>
      </p:sp>
      <p:sp>
        <p:nvSpPr>
          <p:cNvPr id="15" name="Text"/>
          <p:cNvSpPr txBox="1"/>
          <p:nvPr/>
        </p:nvSpPr>
        <p:spPr>
          <a:xfrm>
            <a:off x="804672" y="2980000"/>
            <a:ext cx="4903431" cy="3300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Ventana de contexto: todo sobre la mesa</a:t>
            </a:r>
            <a:endParaRPr lang="en-US" sz="1600" dirty="0"/>
          </a:p>
        </p:txBody>
      </p:sp>
      <p:sp>
        <p:nvSpPr>
          <p:cNvPr id="16" name="Text"/>
          <p:cNvSpPr txBox="1"/>
          <p:nvPr/>
        </p:nvSpPr>
        <p:spPr>
          <a:xfrm>
            <a:off x="804672" y="3410000"/>
            <a:ext cx="4903431" cy="2000000"/>
          </a:xfrm>
          <a:prstGeom prst="rect">
            <a:avLst/>
          </a:prstGeom>
          <a:noFill/>
          <a:ln/>
        </p:spPr>
        <p:txBody>
          <a:bodyPr wrap="square" lIns="0" tIns="0" rIns="0" bIns="0" rtlCol="0" anchor="t"/>
          <a:lstStyle/>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Tú eliges qué entra. El modelo lee lo que le pusiste enfrente y nada más.</a:t>
            </a:r>
            <a:endParaRPr lang="en-US" sz="1300" dirty="0"/>
          </a:p>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Cada pregunta vuelve a procesar todo lo que está en la mesa: a más páginas, más costo y más espera.</a:t>
            </a:r>
            <a:endParaRPr lang="en-US" sz="1300" dirty="0"/>
          </a:p>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Falla por saturación. Entre más texto hay en la mesa, peor aprovecha cada parte, sobre todo lo que queda en medio, y no te avisa.</a:t>
            </a:r>
            <a:endParaRPr lang="en-US" sz="1300" dirty="0"/>
          </a:p>
        </p:txBody>
      </p:sp>
      <p:sp>
        <p:nvSpPr>
          <p:cNvPr id="17" name="Shape"/>
          <p:cNvSpPr/>
          <p:nvPr/>
        </p:nvSpPr>
        <p:spPr>
          <a:xfrm>
            <a:off x="6245847" y="1850000"/>
            <a:ext cx="5378919" cy="3700000"/>
          </a:xfrm>
          <a:prstGeom prst="roundRect">
            <a:avLst>
              <a:gd name="adj" fmla="val 2933"/>
            </a:avLst>
          </a:prstGeom>
          <a:solidFill>
            <a:srgbClr val="F2F5F6"/>
          </a:solidFill>
          <a:ln w="12700">
            <a:solidFill>
              <a:srgbClr val="F2F5F6"/>
            </a:solidFill>
            <a:prstDash val="solid"/>
          </a:ln>
        </p:spPr>
      </p:sp>
      <p:sp>
        <p:nvSpPr>
          <p:cNvPr id="18" name="Text"/>
          <p:cNvSpPr txBox="1"/>
          <p:nvPr/>
        </p:nvSpPr>
        <p:spPr>
          <a:xfrm>
            <a:off x="6483591" y="2040000"/>
            <a:ext cx="4903431" cy="22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LA BIBLIOTECA CON BIBLIOTECARIO</a:t>
            </a:r>
            <a:endParaRPr lang="en-US" sz="1100" dirty="0"/>
          </a:p>
        </p:txBody>
      </p:sp>
      <p:sp>
        <p:nvSpPr>
          <p:cNvPr id="19" name="Shape"/>
          <p:cNvSpPr/>
          <p:nvPr/>
        </p:nvSpPr>
        <p:spPr>
          <a:xfrm>
            <a:off x="6483591" y="2370000"/>
            <a:ext cx="110000" cy="180000"/>
          </a:xfrm>
          <a:prstGeom prst="rect">
            <a:avLst/>
          </a:prstGeom>
          <a:solidFill>
            <a:srgbClr val="FFFFFF"/>
          </a:solidFill>
          <a:ln w="9525">
            <a:solidFill>
              <a:srgbClr val="16262E"/>
            </a:solidFill>
            <a:prstDash val="solid"/>
          </a:ln>
        </p:spPr>
      </p:sp>
      <p:sp>
        <p:nvSpPr>
          <p:cNvPr id="20" name="Shape"/>
          <p:cNvSpPr/>
          <p:nvPr/>
        </p:nvSpPr>
        <p:spPr>
          <a:xfrm>
            <a:off x="6633591" y="2370000"/>
            <a:ext cx="110000" cy="180000"/>
          </a:xfrm>
          <a:prstGeom prst="rect">
            <a:avLst/>
          </a:prstGeom>
          <a:solidFill>
            <a:srgbClr val="FFFFFF"/>
          </a:solidFill>
          <a:ln w="9525">
            <a:solidFill>
              <a:srgbClr val="16262E"/>
            </a:solidFill>
            <a:prstDash val="solid"/>
          </a:ln>
        </p:spPr>
      </p:sp>
      <p:sp>
        <p:nvSpPr>
          <p:cNvPr id="21" name="Shape"/>
          <p:cNvSpPr/>
          <p:nvPr/>
        </p:nvSpPr>
        <p:spPr>
          <a:xfrm>
            <a:off x="6783591" y="2370000"/>
            <a:ext cx="110000" cy="180000"/>
          </a:xfrm>
          <a:prstGeom prst="rect">
            <a:avLst/>
          </a:prstGeom>
          <a:solidFill>
            <a:srgbClr val="FFFFFF"/>
          </a:solidFill>
          <a:ln w="9525">
            <a:solidFill>
              <a:srgbClr val="16262E"/>
            </a:solidFill>
            <a:prstDash val="solid"/>
          </a:ln>
        </p:spPr>
      </p:sp>
      <p:sp>
        <p:nvSpPr>
          <p:cNvPr id="22" name="Shape"/>
          <p:cNvSpPr/>
          <p:nvPr/>
        </p:nvSpPr>
        <p:spPr>
          <a:xfrm>
            <a:off x="6933591" y="2370000"/>
            <a:ext cx="110000" cy="180000"/>
          </a:xfrm>
          <a:prstGeom prst="rect">
            <a:avLst/>
          </a:prstGeom>
          <a:solidFill>
            <a:srgbClr val="FFFFFF"/>
          </a:solidFill>
          <a:ln w="9525">
            <a:solidFill>
              <a:srgbClr val="16262E"/>
            </a:solidFill>
            <a:prstDash val="solid"/>
          </a:ln>
        </p:spPr>
      </p:sp>
      <p:sp>
        <p:nvSpPr>
          <p:cNvPr id="23" name="Shape"/>
          <p:cNvSpPr/>
          <p:nvPr/>
        </p:nvSpPr>
        <p:spPr>
          <a:xfrm>
            <a:off x="7083591" y="2370000"/>
            <a:ext cx="110000" cy="180000"/>
          </a:xfrm>
          <a:prstGeom prst="rect">
            <a:avLst/>
          </a:prstGeom>
          <a:solidFill>
            <a:srgbClr val="FFFFFF"/>
          </a:solidFill>
          <a:ln w="9525">
            <a:solidFill>
              <a:srgbClr val="16262E"/>
            </a:solidFill>
            <a:prstDash val="solid"/>
          </a:ln>
        </p:spPr>
      </p:sp>
      <p:sp>
        <p:nvSpPr>
          <p:cNvPr id="24" name="Shape"/>
          <p:cNvSpPr/>
          <p:nvPr/>
        </p:nvSpPr>
        <p:spPr>
          <a:xfrm>
            <a:off x="7233591" y="2370000"/>
            <a:ext cx="110000" cy="180000"/>
          </a:xfrm>
          <a:prstGeom prst="rect">
            <a:avLst/>
          </a:prstGeom>
          <a:solidFill>
            <a:srgbClr val="FFFFFF"/>
          </a:solidFill>
          <a:ln w="9525">
            <a:solidFill>
              <a:srgbClr val="16262E"/>
            </a:solidFill>
            <a:prstDash val="solid"/>
          </a:ln>
        </p:spPr>
      </p:sp>
      <p:sp>
        <p:nvSpPr>
          <p:cNvPr id="25" name="Shape"/>
          <p:cNvSpPr/>
          <p:nvPr/>
        </p:nvSpPr>
        <p:spPr>
          <a:xfrm>
            <a:off x="6483591" y="2585000"/>
            <a:ext cx="110000" cy="180000"/>
          </a:xfrm>
          <a:prstGeom prst="rect">
            <a:avLst/>
          </a:prstGeom>
          <a:solidFill>
            <a:srgbClr val="FFFFFF"/>
          </a:solidFill>
          <a:ln w="9525">
            <a:solidFill>
              <a:srgbClr val="16262E"/>
            </a:solidFill>
            <a:prstDash val="solid"/>
          </a:ln>
        </p:spPr>
      </p:sp>
      <p:sp>
        <p:nvSpPr>
          <p:cNvPr id="26" name="Shape"/>
          <p:cNvSpPr/>
          <p:nvPr/>
        </p:nvSpPr>
        <p:spPr>
          <a:xfrm>
            <a:off x="6633591" y="2585000"/>
            <a:ext cx="110000" cy="180000"/>
          </a:xfrm>
          <a:prstGeom prst="rect">
            <a:avLst/>
          </a:prstGeom>
          <a:solidFill>
            <a:srgbClr val="FFFFFF"/>
          </a:solidFill>
          <a:ln w="9525">
            <a:solidFill>
              <a:srgbClr val="16262E"/>
            </a:solidFill>
            <a:prstDash val="solid"/>
          </a:ln>
        </p:spPr>
      </p:sp>
      <p:sp>
        <p:nvSpPr>
          <p:cNvPr id="27" name="Shape"/>
          <p:cNvSpPr/>
          <p:nvPr/>
        </p:nvSpPr>
        <p:spPr>
          <a:xfrm>
            <a:off x="6783591" y="2585000"/>
            <a:ext cx="110000" cy="180000"/>
          </a:xfrm>
          <a:prstGeom prst="rect">
            <a:avLst/>
          </a:prstGeom>
          <a:solidFill>
            <a:srgbClr val="FFFFFF"/>
          </a:solidFill>
          <a:ln w="9525">
            <a:solidFill>
              <a:srgbClr val="16262E"/>
            </a:solidFill>
            <a:prstDash val="solid"/>
          </a:ln>
        </p:spPr>
      </p:sp>
      <p:sp>
        <p:nvSpPr>
          <p:cNvPr id="28" name="Shape"/>
          <p:cNvSpPr/>
          <p:nvPr/>
        </p:nvSpPr>
        <p:spPr>
          <a:xfrm>
            <a:off x="6933591" y="2585000"/>
            <a:ext cx="110000" cy="180000"/>
          </a:xfrm>
          <a:prstGeom prst="rect">
            <a:avLst/>
          </a:prstGeom>
          <a:solidFill>
            <a:srgbClr val="FFFFFF"/>
          </a:solidFill>
          <a:ln w="9525">
            <a:solidFill>
              <a:srgbClr val="16262E"/>
            </a:solidFill>
            <a:prstDash val="solid"/>
          </a:ln>
        </p:spPr>
      </p:sp>
      <p:sp>
        <p:nvSpPr>
          <p:cNvPr id="29" name="Shape"/>
          <p:cNvSpPr/>
          <p:nvPr/>
        </p:nvSpPr>
        <p:spPr>
          <a:xfrm>
            <a:off x="7083591" y="2585000"/>
            <a:ext cx="110000" cy="180000"/>
          </a:xfrm>
          <a:prstGeom prst="rect">
            <a:avLst/>
          </a:prstGeom>
          <a:solidFill>
            <a:srgbClr val="FFFFFF"/>
          </a:solidFill>
          <a:ln w="9525">
            <a:solidFill>
              <a:srgbClr val="16262E"/>
            </a:solidFill>
            <a:prstDash val="solid"/>
          </a:ln>
        </p:spPr>
      </p:sp>
      <p:sp>
        <p:nvSpPr>
          <p:cNvPr id="30" name="Shape"/>
          <p:cNvSpPr/>
          <p:nvPr/>
        </p:nvSpPr>
        <p:spPr>
          <a:xfrm>
            <a:off x="7233591" y="2585000"/>
            <a:ext cx="110000" cy="180000"/>
          </a:xfrm>
          <a:prstGeom prst="rect">
            <a:avLst/>
          </a:prstGeom>
          <a:solidFill>
            <a:srgbClr val="FFFFFF"/>
          </a:solidFill>
          <a:ln w="9525">
            <a:solidFill>
              <a:srgbClr val="16262E"/>
            </a:solidFill>
            <a:prstDash val="solid"/>
          </a:ln>
        </p:spPr>
      </p:sp>
      <p:sp>
        <p:nvSpPr>
          <p:cNvPr id="31" name="Shape"/>
          <p:cNvSpPr/>
          <p:nvPr/>
        </p:nvSpPr>
        <p:spPr>
          <a:xfrm>
            <a:off x="7403591" y="2460000"/>
            <a:ext cx="240000" cy="240000"/>
          </a:xfrm>
          <a:prstGeom prst="rightArrow">
            <a:avLst/>
          </a:prstGeom>
          <a:solidFill>
            <a:srgbClr val="2E7D7D"/>
          </a:solidFill>
          <a:ln w="12700">
            <a:solidFill>
              <a:srgbClr val="2E7D7D"/>
            </a:solidFill>
            <a:prstDash val="solid"/>
          </a:ln>
        </p:spPr>
      </p:sp>
      <p:sp>
        <p:nvSpPr>
          <p:cNvPr id="32" name="Shape"/>
          <p:cNvSpPr/>
          <p:nvPr/>
        </p:nvSpPr>
        <p:spPr>
          <a:xfrm>
            <a:off x="7703591" y="2370000"/>
            <a:ext cx="950000" cy="420000"/>
          </a:xfrm>
          <a:prstGeom prst="roundRect">
            <a:avLst>
              <a:gd name="adj" fmla="val 30000"/>
            </a:avLst>
          </a:prstGeom>
          <a:solidFill>
            <a:srgbClr val="2E7D7D"/>
          </a:solidFill>
          <a:ln w="12700">
            <a:solidFill>
              <a:srgbClr val="2E7D7D"/>
            </a:solidFill>
            <a:prstDash val="solid"/>
          </a:ln>
        </p:spPr>
      </p:sp>
      <p:sp>
        <p:nvSpPr>
          <p:cNvPr id="33" name="Text"/>
          <p:cNvSpPr txBox="1"/>
          <p:nvPr/>
        </p:nvSpPr>
        <p:spPr>
          <a:xfrm>
            <a:off x="7703591" y="2370000"/>
            <a:ext cx="950000" cy="4200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buscador</a:t>
            </a:r>
            <a:endParaRPr lang="en-US" sz="1050" dirty="0"/>
          </a:p>
        </p:txBody>
      </p:sp>
      <p:sp>
        <p:nvSpPr>
          <p:cNvPr id="34" name="Shape"/>
          <p:cNvSpPr/>
          <p:nvPr/>
        </p:nvSpPr>
        <p:spPr>
          <a:xfrm>
            <a:off x="8713591" y="2460000"/>
            <a:ext cx="240000" cy="240000"/>
          </a:xfrm>
          <a:prstGeom prst="rightArrow">
            <a:avLst/>
          </a:prstGeom>
          <a:solidFill>
            <a:srgbClr val="2E7D7D"/>
          </a:solidFill>
          <a:ln w="12700">
            <a:solidFill>
              <a:srgbClr val="2E7D7D"/>
            </a:solidFill>
            <a:prstDash val="solid"/>
          </a:ln>
        </p:spPr>
      </p:sp>
      <p:sp>
        <p:nvSpPr>
          <p:cNvPr id="35" name="Shape"/>
          <p:cNvSpPr/>
          <p:nvPr/>
        </p:nvSpPr>
        <p:spPr>
          <a:xfrm>
            <a:off x="9013591" y="2430000"/>
            <a:ext cx="230000" cy="300000"/>
          </a:xfrm>
          <a:prstGeom prst="rect">
            <a:avLst/>
          </a:prstGeom>
          <a:solidFill>
            <a:srgbClr val="F7E4D8"/>
          </a:solidFill>
          <a:ln w="9525">
            <a:solidFill>
              <a:srgbClr val="C85A28"/>
            </a:solidFill>
            <a:prstDash val="solid"/>
          </a:ln>
        </p:spPr>
      </p:sp>
      <p:sp>
        <p:nvSpPr>
          <p:cNvPr id="36" name="Shape"/>
          <p:cNvSpPr/>
          <p:nvPr/>
        </p:nvSpPr>
        <p:spPr>
          <a:xfrm>
            <a:off x="9293591" y="2430000"/>
            <a:ext cx="230000" cy="300000"/>
          </a:xfrm>
          <a:prstGeom prst="rect">
            <a:avLst/>
          </a:prstGeom>
          <a:solidFill>
            <a:srgbClr val="F7E4D8"/>
          </a:solidFill>
          <a:ln w="9525">
            <a:solidFill>
              <a:srgbClr val="C85A28"/>
            </a:solidFill>
            <a:prstDash val="solid"/>
          </a:ln>
        </p:spPr>
      </p:sp>
      <p:sp>
        <p:nvSpPr>
          <p:cNvPr id="37" name="Shape"/>
          <p:cNvSpPr/>
          <p:nvPr/>
        </p:nvSpPr>
        <p:spPr>
          <a:xfrm>
            <a:off x="9583591" y="2460000"/>
            <a:ext cx="240000" cy="240000"/>
          </a:xfrm>
          <a:prstGeom prst="rightArrow">
            <a:avLst/>
          </a:prstGeom>
          <a:solidFill>
            <a:srgbClr val="2E7D7D"/>
          </a:solidFill>
          <a:ln w="12700">
            <a:solidFill>
              <a:srgbClr val="2E7D7D"/>
            </a:solidFill>
            <a:prstDash val="solid"/>
          </a:ln>
        </p:spPr>
      </p:sp>
      <p:sp>
        <p:nvSpPr>
          <p:cNvPr id="38" name="Shape"/>
          <p:cNvSpPr/>
          <p:nvPr/>
        </p:nvSpPr>
        <p:spPr>
          <a:xfrm>
            <a:off x="9883591" y="2370000"/>
            <a:ext cx="1000000" cy="420000"/>
          </a:xfrm>
          <a:prstGeom prst="roundRect">
            <a:avLst>
              <a:gd name="adj" fmla="val 30000"/>
            </a:avLst>
          </a:prstGeom>
          <a:solidFill>
            <a:srgbClr val="16262E"/>
          </a:solidFill>
          <a:ln w="12700">
            <a:solidFill>
              <a:srgbClr val="16262E"/>
            </a:solidFill>
            <a:prstDash val="solid"/>
          </a:ln>
        </p:spPr>
      </p:sp>
      <p:sp>
        <p:nvSpPr>
          <p:cNvPr id="39" name="Text"/>
          <p:cNvSpPr txBox="1"/>
          <p:nvPr/>
        </p:nvSpPr>
        <p:spPr>
          <a:xfrm>
            <a:off x="9883591" y="2370000"/>
            <a:ext cx="1000000" cy="4200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respuesta</a:t>
            </a:r>
            <a:endParaRPr lang="en-US" sz="1050" dirty="0"/>
          </a:p>
        </p:txBody>
      </p:sp>
      <p:sp>
        <p:nvSpPr>
          <p:cNvPr id="40" name="Text"/>
          <p:cNvSpPr txBox="1"/>
          <p:nvPr/>
        </p:nvSpPr>
        <p:spPr>
          <a:xfrm>
            <a:off x="6483591" y="2980000"/>
            <a:ext cx="4903431" cy="3300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RAG: un buscador elige por ti</a:t>
            </a:r>
            <a:endParaRPr lang="en-US" sz="1600" dirty="0"/>
          </a:p>
        </p:txBody>
      </p:sp>
      <p:sp>
        <p:nvSpPr>
          <p:cNvPr id="41" name="Text"/>
          <p:cNvSpPr txBox="1"/>
          <p:nvPr/>
        </p:nvSpPr>
        <p:spPr>
          <a:xfrm>
            <a:off x="6483591" y="3410000"/>
            <a:ext cx="4903431" cy="2000000"/>
          </a:xfrm>
          <a:prstGeom prst="rect">
            <a:avLst/>
          </a:prstGeom>
          <a:noFill/>
          <a:ln/>
        </p:spPr>
        <p:txBody>
          <a:bodyPr wrap="square" lIns="0" tIns="0" rIns="0" bIns="0" rtlCol="0" anchor="t"/>
          <a:lstStyle/>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Los documentos se indexan una vez. Al preguntar, un buscador trae los fragmentos más cercanos y el modelo responde solo con esos.</a:t>
            </a:r>
            <a:endParaRPr lang="en-US" sz="1300" dirty="0"/>
          </a:p>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Armar y mantener el índice cuesta; después, cada consulta es barata aunque el acervo sea enorme.</a:t>
            </a:r>
            <a:endParaRPr lang="en-US" sz="1300" dirty="0"/>
          </a:p>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Falla por omisión. Si el buscador no trae el fragmento correcto, el modelo responde sin él y con el mismo aplomo.</a:t>
            </a:r>
            <a:endParaRPr lang="en-US" sz="1300" dirty="0"/>
          </a:p>
        </p:txBody>
      </p:sp>
      <p:sp>
        <p:nvSpPr>
          <p:cNvPr id="42" name="Shape"/>
          <p:cNvSpPr/>
          <p:nvPr/>
        </p:nvSpPr>
        <p:spPr>
          <a:xfrm>
            <a:off x="566928" y="5700000"/>
            <a:ext cx="11057839" cy="594360"/>
          </a:xfrm>
          <a:prstGeom prst="roundRect">
            <a:avLst>
              <a:gd name="adj" fmla="val 8235"/>
            </a:avLst>
          </a:prstGeom>
          <a:solidFill>
            <a:srgbClr val="F7E4D8"/>
          </a:solidFill>
          <a:ln w="12700">
            <a:solidFill>
              <a:srgbClr val="F7E4D8"/>
            </a:solidFill>
            <a:prstDash val="solid"/>
          </a:ln>
        </p:spPr>
      </p:sp>
      <p:sp>
        <p:nvSpPr>
          <p:cNvPr id="43" name="Text"/>
          <p:cNvSpPr txBox="1"/>
          <p:nvPr/>
        </p:nvSpPr>
        <p:spPr>
          <a:xfrm>
            <a:off x="804672" y="5700000"/>
            <a:ext cx="10582351" cy="59436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Desde fuera no siempre sabes cuál te tocó: ChatGPT, con archivos largos, pasa del escritorio a la biblioteca sin avisarte. Como las dos fallan calladas, la regla es la misma: pide la cita y ve al párrafo.</a:t>
            </a:r>
            <a:endParaRPr lang="en-US" sz="1300" dirty="0"/>
          </a:p>
        </p:txBody>
      </p:sp>
      <p:sp>
        <p:nvSpPr>
          <p:cNvPr id="44" name="Text"/>
          <p:cNvSpPr txBox="1"/>
          <p:nvPr/>
        </p:nvSpPr>
        <p:spPr>
          <a:xfrm>
            <a:off x="566928" y="636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Fuentes: Lewis y otros (2020), arXiv:2005.11401 · Liu y otros (2024), arXiv:2307.03172 · OpenAI, «Optimizing File Uploads in ChatGPT Enterprise». Ligas en el anexo de la sesión.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Dos camin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Dos caminos para que un modelo lea tus documentos</a:t>
            </a:r>
            <a:endParaRPr lang="en-US" sz="3200" dirty="0"/>
          </a:p>
        </p:txBody>
      </p:sp>
      <p:sp>
        <p:nvSpPr>
          <p:cNvPr id="3" name="Text"/>
          <p:cNvSpPr txBox="1"/>
          <p:nvPr/>
        </p:nvSpPr>
        <p:spPr>
          <a:xfrm>
            <a:off x="566928" y="1230000"/>
            <a:ext cx="11057839" cy="42000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En uno, tú pones todo sobre la mesa. En el otro, un buscador elige qué fragmentos del acervo llegan al modelo.</a:t>
            </a:r>
            <a:endParaRPr lang="en-US" sz="1500" dirty="0"/>
          </a:p>
        </p:txBody>
      </p:sp>
      <p:sp>
        <p:nvSpPr>
          <p:cNvPr id="4" name="Shape"/>
          <p:cNvSpPr/>
          <p:nvPr/>
        </p:nvSpPr>
        <p:spPr>
          <a:xfrm>
            <a:off x="566928" y="1800000"/>
            <a:ext cx="11057839" cy="1250000"/>
          </a:xfrm>
          <a:prstGeom prst="roundRect">
            <a:avLst>
              <a:gd name="adj" fmla="val 2933"/>
            </a:avLst>
          </a:prstGeom>
          <a:solidFill>
            <a:srgbClr val="F2F5F6"/>
          </a:solidFill>
          <a:ln w="12700">
            <a:solidFill>
              <a:srgbClr val="F2F5F6"/>
            </a:solidFill>
            <a:prstDash val="solid"/>
          </a:ln>
        </p:spPr>
      </p:sp>
      <p:sp>
        <p:nvSpPr>
          <p:cNvPr id="5" name="Text"/>
          <p:cNvSpPr txBox="1"/>
          <p:nvPr/>
        </p:nvSpPr>
        <p:spPr>
          <a:xfrm>
            <a:off x="804672" y="2000000"/>
            <a:ext cx="2000000" cy="24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EL ESCRITORIO</a:t>
            </a:r>
            <a:endParaRPr lang="en-US" sz="1100" dirty="0"/>
          </a:p>
        </p:txBody>
      </p:sp>
      <p:sp>
        <p:nvSpPr>
          <p:cNvPr id="6" name="Text"/>
          <p:cNvSpPr txBox="1"/>
          <p:nvPr/>
        </p:nvSpPr>
        <p:spPr>
          <a:xfrm>
            <a:off x="804672" y="2280000"/>
            <a:ext cx="1900000" cy="690000"/>
          </a:xfrm>
          <a:prstGeom prst="rect">
            <a:avLst/>
          </a:prstGeom>
          <a:noFill/>
          <a:ln/>
        </p:spPr>
        <p:txBody>
          <a:bodyPr wrap="square" lIns="0" tIns="0" rIns="0" bIns="0" rtlCol="0" anchor="t"/>
          <a:lstStyle/>
          <a:p>
            <a:pPr indent="0" marL="0">
              <a:lnSpc>
                <a:spcPct val="105000"/>
              </a:lnSpc>
              <a:buNone/>
            </a:pPr>
            <a:r>
              <a:rPr lang="en-US" sz="1200" dirty="0">
                <a:solidFill>
                  <a:srgbClr val="5A6B73"/>
                </a:solidFill>
                <a:latin typeface="Calibri" pitchFamily="34" charset="0"/>
                <a:ea typeface="Calibri" pitchFamily="34" charset="-122"/>
                <a:cs typeface="Calibri" pitchFamily="34" charset="-120"/>
              </a:rPr>
              <a:t>Todo el texto entra a la ventana de contexto.</a:t>
            </a:r>
            <a:endParaRPr lang="en-US" sz="1200" dirty="0"/>
          </a:p>
        </p:txBody>
      </p:sp>
      <p:sp>
        <p:nvSpPr>
          <p:cNvPr id="7" name="Shape"/>
          <p:cNvSpPr/>
          <p:nvPr/>
        </p:nvSpPr>
        <p:spPr>
          <a:xfrm>
            <a:off x="2866928" y="2255000"/>
            <a:ext cx="210000" cy="340000"/>
          </a:xfrm>
          <a:prstGeom prst="rect">
            <a:avLst/>
          </a:prstGeom>
          <a:solidFill>
            <a:srgbClr val="FFFFFF"/>
          </a:solidFill>
          <a:ln w="9525">
            <a:solidFill>
              <a:srgbClr val="16262E"/>
            </a:solidFill>
            <a:prstDash val="solid"/>
          </a:ln>
        </p:spPr>
      </p:sp>
      <p:sp>
        <p:nvSpPr>
          <p:cNvPr id="8" name="Shape"/>
          <p:cNvSpPr/>
          <p:nvPr/>
        </p:nvSpPr>
        <p:spPr>
          <a:xfrm>
            <a:off x="3126928" y="2255000"/>
            <a:ext cx="210000" cy="340000"/>
          </a:xfrm>
          <a:prstGeom prst="rect">
            <a:avLst/>
          </a:prstGeom>
          <a:solidFill>
            <a:srgbClr val="FFFFFF"/>
          </a:solidFill>
          <a:ln w="9525">
            <a:solidFill>
              <a:srgbClr val="16262E"/>
            </a:solidFill>
            <a:prstDash val="solid"/>
          </a:ln>
        </p:spPr>
      </p:sp>
      <p:sp>
        <p:nvSpPr>
          <p:cNvPr id="9" name="Shape"/>
          <p:cNvSpPr/>
          <p:nvPr/>
        </p:nvSpPr>
        <p:spPr>
          <a:xfrm>
            <a:off x="3386928" y="2255000"/>
            <a:ext cx="210000" cy="340000"/>
          </a:xfrm>
          <a:prstGeom prst="rect">
            <a:avLst/>
          </a:prstGeom>
          <a:solidFill>
            <a:srgbClr val="FFFFFF"/>
          </a:solidFill>
          <a:ln w="9525">
            <a:solidFill>
              <a:srgbClr val="16262E"/>
            </a:solidFill>
            <a:prstDash val="solid"/>
          </a:ln>
        </p:spPr>
      </p:sp>
      <p:sp>
        <p:nvSpPr>
          <p:cNvPr id="10" name="Shape"/>
          <p:cNvSpPr/>
          <p:nvPr/>
        </p:nvSpPr>
        <p:spPr>
          <a:xfrm>
            <a:off x="3666928" y="2315000"/>
            <a:ext cx="230000" cy="220000"/>
          </a:xfrm>
          <a:prstGeom prst="rightArrow">
            <a:avLst/>
          </a:prstGeom>
          <a:solidFill>
            <a:srgbClr val="2E7D7D"/>
          </a:solidFill>
          <a:ln w="12700">
            <a:solidFill>
              <a:srgbClr val="2E7D7D"/>
            </a:solidFill>
            <a:prstDash val="solid"/>
          </a:ln>
        </p:spPr>
      </p:sp>
      <p:sp>
        <p:nvSpPr>
          <p:cNvPr id="11" name="Shape"/>
          <p:cNvSpPr/>
          <p:nvPr/>
        </p:nvSpPr>
        <p:spPr>
          <a:xfrm>
            <a:off x="3966928" y="2195000"/>
            <a:ext cx="1500000" cy="460000"/>
          </a:xfrm>
          <a:prstGeom prst="roundRect">
            <a:avLst>
              <a:gd name="adj" fmla="val 30000"/>
            </a:avLst>
          </a:prstGeom>
          <a:solidFill>
            <a:srgbClr val="D7E7E7"/>
          </a:solidFill>
          <a:ln w="12700">
            <a:solidFill>
              <a:srgbClr val="D7E7E7"/>
            </a:solidFill>
            <a:prstDash val="solid"/>
          </a:ln>
        </p:spPr>
      </p:sp>
      <p:sp>
        <p:nvSpPr>
          <p:cNvPr id="12" name="Text"/>
          <p:cNvSpPr txBox="1"/>
          <p:nvPr/>
        </p:nvSpPr>
        <p:spPr>
          <a:xfrm>
            <a:off x="4006928" y="2195000"/>
            <a:ext cx="1420000" cy="460000"/>
          </a:xfrm>
          <a:prstGeom prst="rect">
            <a:avLst/>
          </a:prstGeom>
          <a:noFill/>
          <a:ln/>
        </p:spPr>
        <p:txBody>
          <a:bodyPr wrap="square" lIns="0" tIns="0" rIns="0" bIns="0" rtlCol="0" anchor="ctr"/>
          <a:lstStyle/>
          <a:p>
            <a:pPr algn="ctr" indent="0" marL="0">
              <a:buNone/>
            </a:pPr>
            <a:r>
              <a:rPr lang="en-US" sz="1100" b="1" dirty="0">
                <a:solidFill>
                  <a:srgbClr val="16262E"/>
                </a:solidFill>
                <a:latin typeface="Arial" pitchFamily="34" charset="0"/>
                <a:ea typeface="Arial" pitchFamily="34" charset="-122"/>
                <a:cs typeface="Arial" pitchFamily="34" charset="-120"/>
              </a:rPr>
              <a:t>todo el texto</a:t>
            </a:r>
            <a:endParaRPr lang="en-US" sz="1100" dirty="0"/>
          </a:p>
        </p:txBody>
      </p:sp>
      <p:sp>
        <p:nvSpPr>
          <p:cNvPr id="13" name="Shape"/>
          <p:cNvSpPr/>
          <p:nvPr/>
        </p:nvSpPr>
        <p:spPr>
          <a:xfrm>
            <a:off x="5536928" y="2315000"/>
            <a:ext cx="230000" cy="220000"/>
          </a:xfrm>
          <a:prstGeom prst="rightArrow">
            <a:avLst/>
          </a:prstGeom>
          <a:solidFill>
            <a:srgbClr val="2E7D7D"/>
          </a:solidFill>
          <a:ln w="12700">
            <a:solidFill>
              <a:srgbClr val="2E7D7D"/>
            </a:solidFill>
            <a:prstDash val="solid"/>
          </a:ln>
        </p:spPr>
      </p:sp>
      <p:sp>
        <p:nvSpPr>
          <p:cNvPr id="14" name="Shape"/>
          <p:cNvSpPr/>
          <p:nvPr/>
        </p:nvSpPr>
        <p:spPr>
          <a:xfrm>
            <a:off x="5836928" y="2195000"/>
            <a:ext cx="2300000" cy="460000"/>
          </a:xfrm>
          <a:prstGeom prst="roundRect">
            <a:avLst>
              <a:gd name="adj" fmla="val 30000"/>
            </a:avLst>
          </a:prstGeom>
          <a:solidFill>
            <a:srgbClr val="2E7D7D"/>
          </a:solidFill>
          <a:ln w="12700">
            <a:solidFill>
              <a:srgbClr val="2E7D7D"/>
            </a:solidFill>
            <a:prstDash val="solid"/>
          </a:ln>
        </p:spPr>
      </p:sp>
      <p:sp>
        <p:nvSpPr>
          <p:cNvPr id="15" name="Text"/>
          <p:cNvSpPr txBox="1"/>
          <p:nvPr/>
        </p:nvSpPr>
        <p:spPr>
          <a:xfrm>
            <a:off x="5876928" y="2195000"/>
            <a:ext cx="2220000" cy="46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ventana de contexto</a:t>
            </a:r>
            <a:endParaRPr lang="en-US" sz="1100" dirty="0"/>
          </a:p>
        </p:txBody>
      </p:sp>
      <p:sp>
        <p:nvSpPr>
          <p:cNvPr id="16" name="Shape"/>
          <p:cNvSpPr/>
          <p:nvPr/>
        </p:nvSpPr>
        <p:spPr>
          <a:xfrm>
            <a:off x="8206928" y="2315000"/>
            <a:ext cx="230000" cy="220000"/>
          </a:xfrm>
          <a:prstGeom prst="rightArrow">
            <a:avLst/>
          </a:prstGeom>
          <a:solidFill>
            <a:srgbClr val="2E7D7D"/>
          </a:solidFill>
          <a:ln w="12700">
            <a:solidFill>
              <a:srgbClr val="2E7D7D"/>
            </a:solidFill>
            <a:prstDash val="solid"/>
          </a:ln>
        </p:spPr>
      </p:sp>
      <p:sp>
        <p:nvSpPr>
          <p:cNvPr id="17" name="Shape"/>
          <p:cNvSpPr/>
          <p:nvPr/>
        </p:nvSpPr>
        <p:spPr>
          <a:xfrm>
            <a:off x="8506928" y="2195000"/>
            <a:ext cx="1200000" cy="460000"/>
          </a:xfrm>
          <a:prstGeom prst="roundRect">
            <a:avLst>
              <a:gd name="adj" fmla="val 30000"/>
            </a:avLst>
          </a:prstGeom>
          <a:solidFill>
            <a:srgbClr val="16262E"/>
          </a:solidFill>
          <a:ln w="12700">
            <a:solidFill>
              <a:srgbClr val="16262E"/>
            </a:solidFill>
            <a:prstDash val="solid"/>
          </a:ln>
        </p:spPr>
      </p:sp>
      <p:sp>
        <p:nvSpPr>
          <p:cNvPr id="18" name="Text"/>
          <p:cNvSpPr txBox="1"/>
          <p:nvPr/>
        </p:nvSpPr>
        <p:spPr>
          <a:xfrm>
            <a:off x="8546928" y="2195000"/>
            <a:ext cx="1120000" cy="46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modelo</a:t>
            </a:r>
            <a:endParaRPr lang="en-US" sz="1100" dirty="0"/>
          </a:p>
        </p:txBody>
      </p:sp>
      <p:sp>
        <p:nvSpPr>
          <p:cNvPr id="19" name="Shape"/>
          <p:cNvSpPr/>
          <p:nvPr/>
        </p:nvSpPr>
        <p:spPr>
          <a:xfrm>
            <a:off x="9776928" y="2315000"/>
            <a:ext cx="230000" cy="220000"/>
          </a:xfrm>
          <a:prstGeom prst="rightArrow">
            <a:avLst/>
          </a:prstGeom>
          <a:solidFill>
            <a:srgbClr val="2E7D7D"/>
          </a:solidFill>
          <a:ln w="12700">
            <a:solidFill>
              <a:srgbClr val="2E7D7D"/>
            </a:solidFill>
            <a:prstDash val="solid"/>
          </a:ln>
        </p:spPr>
      </p:sp>
      <p:sp>
        <p:nvSpPr>
          <p:cNvPr id="20" name="Shape"/>
          <p:cNvSpPr/>
          <p:nvPr/>
        </p:nvSpPr>
        <p:spPr>
          <a:xfrm>
            <a:off x="10076928" y="2195000"/>
            <a:ext cx="1300000" cy="460000"/>
          </a:xfrm>
          <a:prstGeom prst="roundRect">
            <a:avLst>
              <a:gd name="adj" fmla="val 30000"/>
            </a:avLst>
          </a:prstGeom>
          <a:solidFill>
            <a:srgbClr val="D7E7E7"/>
          </a:solidFill>
          <a:ln w="12700">
            <a:solidFill>
              <a:srgbClr val="D7E7E7"/>
            </a:solidFill>
            <a:prstDash val="solid"/>
          </a:ln>
        </p:spPr>
      </p:sp>
      <p:sp>
        <p:nvSpPr>
          <p:cNvPr id="21" name="Text"/>
          <p:cNvSpPr txBox="1"/>
          <p:nvPr/>
        </p:nvSpPr>
        <p:spPr>
          <a:xfrm>
            <a:off x="10116928" y="2195000"/>
            <a:ext cx="1220000" cy="460000"/>
          </a:xfrm>
          <a:prstGeom prst="rect">
            <a:avLst/>
          </a:prstGeom>
          <a:noFill/>
          <a:ln/>
        </p:spPr>
        <p:txBody>
          <a:bodyPr wrap="square" lIns="0" tIns="0" rIns="0" bIns="0" rtlCol="0" anchor="ctr"/>
          <a:lstStyle/>
          <a:p>
            <a:pPr algn="ctr" indent="0" marL="0">
              <a:buNone/>
            </a:pPr>
            <a:r>
              <a:rPr lang="en-US" sz="1100" b="1" dirty="0">
                <a:solidFill>
                  <a:srgbClr val="16262E"/>
                </a:solidFill>
                <a:latin typeface="Arial" pitchFamily="34" charset="0"/>
                <a:ea typeface="Arial" pitchFamily="34" charset="-122"/>
                <a:cs typeface="Arial" pitchFamily="34" charset="-120"/>
              </a:rPr>
              <a:t>respuesta</a:t>
            </a:r>
            <a:endParaRPr lang="en-US" sz="1100" dirty="0"/>
          </a:p>
        </p:txBody>
      </p:sp>
      <p:sp>
        <p:nvSpPr>
          <p:cNvPr id="22" name="Shape"/>
          <p:cNvSpPr/>
          <p:nvPr/>
        </p:nvSpPr>
        <p:spPr>
          <a:xfrm>
            <a:off x="566928" y="3200000"/>
            <a:ext cx="11057839" cy="2300000"/>
          </a:xfrm>
          <a:prstGeom prst="roundRect">
            <a:avLst>
              <a:gd name="adj" fmla="val 2933"/>
            </a:avLst>
          </a:prstGeom>
          <a:solidFill>
            <a:srgbClr val="F2F5F6"/>
          </a:solidFill>
          <a:ln w="12700">
            <a:solidFill>
              <a:srgbClr val="F2F5F6"/>
            </a:solidFill>
            <a:prstDash val="solid"/>
          </a:ln>
        </p:spPr>
      </p:sp>
      <p:sp>
        <p:nvSpPr>
          <p:cNvPr id="23" name="Text"/>
          <p:cNvSpPr txBox="1"/>
          <p:nvPr/>
        </p:nvSpPr>
        <p:spPr>
          <a:xfrm>
            <a:off x="804672" y="3400000"/>
            <a:ext cx="2000000" cy="24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LA BIBLIOTECA</a:t>
            </a:r>
            <a:endParaRPr lang="en-US" sz="1100" dirty="0"/>
          </a:p>
        </p:txBody>
      </p:sp>
      <p:sp>
        <p:nvSpPr>
          <p:cNvPr id="24" name="Text"/>
          <p:cNvSpPr txBox="1"/>
          <p:nvPr/>
        </p:nvSpPr>
        <p:spPr>
          <a:xfrm>
            <a:off x="804672" y="3680000"/>
            <a:ext cx="1900000" cy="1740000"/>
          </a:xfrm>
          <a:prstGeom prst="rect">
            <a:avLst/>
          </a:prstGeom>
          <a:noFill/>
          <a:ln/>
        </p:spPr>
        <p:txBody>
          <a:bodyPr wrap="square" lIns="0" tIns="0" rIns="0" bIns="0" rtlCol="0" anchor="t"/>
          <a:lstStyle/>
          <a:p>
            <a:pPr indent="0" marL="0">
              <a:lnSpc>
                <a:spcPct val="105000"/>
              </a:lnSpc>
              <a:buNone/>
            </a:pPr>
            <a:r>
              <a:rPr lang="en-US" sz="1200" dirty="0">
                <a:solidFill>
                  <a:srgbClr val="5A6B73"/>
                </a:solidFill>
                <a:latin typeface="Calibri" pitchFamily="34" charset="0"/>
                <a:ea typeface="Calibri" pitchFamily="34" charset="-122"/>
                <a:cs typeface="Calibri" pitchFamily="34" charset="-120"/>
              </a:rPr>
              <a:t>RAG: generación aumentada por recuperación.</a:t>
            </a:r>
            <a:endParaRPr lang="en-US" sz="1200" dirty="0"/>
          </a:p>
        </p:txBody>
      </p:sp>
      <p:sp>
        <p:nvSpPr>
          <p:cNvPr id="25" name="Text"/>
          <p:cNvSpPr txBox="1"/>
          <p:nvPr/>
        </p:nvSpPr>
        <p:spPr>
          <a:xfrm>
            <a:off x="2866928" y="3330000"/>
            <a:ext cx="6000000" cy="220000"/>
          </a:xfrm>
          <a:prstGeom prst="rect">
            <a:avLst/>
          </a:prstGeom>
          <a:noFill/>
          <a:ln/>
        </p:spPr>
        <p:txBody>
          <a:bodyPr wrap="square" lIns="0" tIns="0" rIns="0" bIns="0" rtlCol="0" anchor="t"/>
          <a:lstStyle/>
          <a:p>
            <a:pPr indent="0" marL="0">
              <a:buNone/>
            </a:pPr>
            <a:r>
              <a:rPr lang="en-US" sz="1100" i="1" dirty="0">
                <a:solidFill>
                  <a:srgbClr val="5A6B73"/>
                </a:solidFill>
                <a:latin typeface="Calibri" pitchFamily="34" charset="0"/>
                <a:ea typeface="Calibri" pitchFamily="34" charset="-122"/>
                <a:cs typeface="Calibri" pitchFamily="34" charset="-120"/>
              </a:rPr>
              <a:t>Una vez, y cada que cambia el acervo</a:t>
            </a:r>
            <a:endParaRPr lang="en-US" sz="1100" dirty="0"/>
          </a:p>
        </p:txBody>
      </p:sp>
      <p:sp>
        <p:nvSpPr>
          <p:cNvPr id="26" name="Shape"/>
          <p:cNvSpPr/>
          <p:nvPr/>
        </p:nvSpPr>
        <p:spPr>
          <a:xfrm>
            <a:off x="2866928" y="3660000"/>
            <a:ext cx="210000" cy="340000"/>
          </a:xfrm>
          <a:prstGeom prst="rect">
            <a:avLst/>
          </a:prstGeom>
          <a:solidFill>
            <a:srgbClr val="FFFFFF"/>
          </a:solidFill>
          <a:ln w="9525">
            <a:solidFill>
              <a:srgbClr val="16262E"/>
            </a:solidFill>
            <a:prstDash val="solid"/>
          </a:ln>
        </p:spPr>
      </p:sp>
      <p:sp>
        <p:nvSpPr>
          <p:cNvPr id="27" name="Shape"/>
          <p:cNvSpPr/>
          <p:nvPr/>
        </p:nvSpPr>
        <p:spPr>
          <a:xfrm>
            <a:off x="3126928" y="3660000"/>
            <a:ext cx="210000" cy="340000"/>
          </a:xfrm>
          <a:prstGeom prst="rect">
            <a:avLst/>
          </a:prstGeom>
          <a:solidFill>
            <a:srgbClr val="FFFFFF"/>
          </a:solidFill>
          <a:ln w="9525">
            <a:solidFill>
              <a:srgbClr val="16262E"/>
            </a:solidFill>
            <a:prstDash val="solid"/>
          </a:ln>
        </p:spPr>
      </p:sp>
      <p:sp>
        <p:nvSpPr>
          <p:cNvPr id="28" name="Shape"/>
          <p:cNvSpPr/>
          <p:nvPr/>
        </p:nvSpPr>
        <p:spPr>
          <a:xfrm>
            <a:off x="3386928" y="3660000"/>
            <a:ext cx="210000" cy="340000"/>
          </a:xfrm>
          <a:prstGeom prst="rect">
            <a:avLst/>
          </a:prstGeom>
          <a:solidFill>
            <a:srgbClr val="FFFFFF"/>
          </a:solidFill>
          <a:ln w="9525">
            <a:solidFill>
              <a:srgbClr val="16262E"/>
            </a:solidFill>
            <a:prstDash val="solid"/>
          </a:ln>
        </p:spPr>
      </p:sp>
      <p:sp>
        <p:nvSpPr>
          <p:cNvPr id="29" name="Shape"/>
          <p:cNvSpPr/>
          <p:nvPr/>
        </p:nvSpPr>
        <p:spPr>
          <a:xfrm>
            <a:off x="3646928" y="3660000"/>
            <a:ext cx="210000" cy="340000"/>
          </a:xfrm>
          <a:prstGeom prst="rect">
            <a:avLst/>
          </a:prstGeom>
          <a:solidFill>
            <a:srgbClr val="FFFFFF"/>
          </a:solidFill>
          <a:ln w="9525">
            <a:solidFill>
              <a:srgbClr val="16262E"/>
            </a:solidFill>
            <a:prstDash val="solid"/>
          </a:ln>
        </p:spPr>
      </p:sp>
      <p:sp>
        <p:nvSpPr>
          <p:cNvPr id="30" name="Shape"/>
          <p:cNvSpPr/>
          <p:nvPr/>
        </p:nvSpPr>
        <p:spPr>
          <a:xfrm>
            <a:off x="3906928" y="3660000"/>
            <a:ext cx="210000" cy="340000"/>
          </a:xfrm>
          <a:prstGeom prst="rect">
            <a:avLst/>
          </a:prstGeom>
          <a:solidFill>
            <a:srgbClr val="FFFFFF"/>
          </a:solidFill>
          <a:ln w="9525">
            <a:solidFill>
              <a:srgbClr val="16262E"/>
            </a:solidFill>
            <a:prstDash val="solid"/>
          </a:ln>
        </p:spPr>
      </p:sp>
      <p:sp>
        <p:nvSpPr>
          <p:cNvPr id="31" name="Shape"/>
          <p:cNvSpPr/>
          <p:nvPr/>
        </p:nvSpPr>
        <p:spPr>
          <a:xfrm>
            <a:off x="4166928" y="3660000"/>
            <a:ext cx="210000" cy="340000"/>
          </a:xfrm>
          <a:prstGeom prst="rect">
            <a:avLst/>
          </a:prstGeom>
          <a:solidFill>
            <a:srgbClr val="FFFFFF"/>
          </a:solidFill>
          <a:ln w="9525">
            <a:solidFill>
              <a:srgbClr val="16262E"/>
            </a:solidFill>
            <a:prstDash val="solid"/>
          </a:ln>
        </p:spPr>
      </p:sp>
      <p:sp>
        <p:nvSpPr>
          <p:cNvPr id="32" name="Shape"/>
          <p:cNvSpPr/>
          <p:nvPr/>
        </p:nvSpPr>
        <p:spPr>
          <a:xfrm>
            <a:off x="4426928" y="3660000"/>
            <a:ext cx="210000" cy="340000"/>
          </a:xfrm>
          <a:prstGeom prst="rect">
            <a:avLst/>
          </a:prstGeom>
          <a:solidFill>
            <a:srgbClr val="FFFFFF"/>
          </a:solidFill>
          <a:ln w="9525">
            <a:solidFill>
              <a:srgbClr val="16262E"/>
            </a:solidFill>
            <a:prstDash val="solid"/>
          </a:ln>
        </p:spPr>
      </p:sp>
      <p:sp>
        <p:nvSpPr>
          <p:cNvPr id="33" name="Shape"/>
          <p:cNvSpPr/>
          <p:nvPr/>
        </p:nvSpPr>
        <p:spPr>
          <a:xfrm>
            <a:off x="4706928" y="3720000"/>
            <a:ext cx="230000" cy="220000"/>
          </a:xfrm>
          <a:prstGeom prst="rightArrow">
            <a:avLst/>
          </a:prstGeom>
          <a:solidFill>
            <a:srgbClr val="2E7D7D"/>
          </a:solidFill>
          <a:ln w="12700">
            <a:solidFill>
              <a:srgbClr val="2E7D7D"/>
            </a:solidFill>
            <a:prstDash val="solid"/>
          </a:ln>
        </p:spPr>
      </p:sp>
      <p:sp>
        <p:nvSpPr>
          <p:cNvPr id="34" name="Shape"/>
          <p:cNvSpPr/>
          <p:nvPr/>
        </p:nvSpPr>
        <p:spPr>
          <a:xfrm>
            <a:off x="5006928" y="3600000"/>
            <a:ext cx="2100000" cy="460000"/>
          </a:xfrm>
          <a:prstGeom prst="roundRect">
            <a:avLst>
              <a:gd name="adj" fmla="val 30000"/>
            </a:avLst>
          </a:prstGeom>
          <a:solidFill>
            <a:srgbClr val="D7E7E7"/>
          </a:solidFill>
          <a:ln w="12700">
            <a:solidFill>
              <a:srgbClr val="D7E7E7"/>
            </a:solidFill>
            <a:prstDash val="solid"/>
          </a:ln>
        </p:spPr>
      </p:sp>
      <p:sp>
        <p:nvSpPr>
          <p:cNvPr id="35" name="Text"/>
          <p:cNvSpPr txBox="1"/>
          <p:nvPr/>
        </p:nvSpPr>
        <p:spPr>
          <a:xfrm>
            <a:off x="5046928" y="3600000"/>
            <a:ext cx="2020000" cy="460000"/>
          </a:xfrm>
          <a:prstGeom prst="rect">
            <a:avLst/>
          </a:prstGeom>
          <a:noFill/>
          <a:ln/>
        </p:spPr>
        <p:txBody>
          <a:bodyPr wrap="square" lIns="0" tIns="0" rIns="0" bIns="0" rtlCol="0" anchor="ctr"/>
          <a:lstStyle/>
          <a:p>
            <a:pPr algn="ctr" indent="0" marL="0">
              <a:buNone/>
            </a:pPr>
            <a:r>
              <a:rPr lang="en-US" sz="1100" b="1" dirty="0">
                <a:solidFill>
                  <a:srgbClr val="16262E"/>
                </a:solidFill>
                <a:latin typeface="Arial" pitchFamily="34" charset="0"/>
                <a:ea typeface="Arial" pitchFamily="34" charset="-122"/>
                <a:cs typeface="Arial" pitchFamily="34" charset="-120"/>
              </a:rPr>
              <a:t>partir y vectorizar</a:t>
            </a:r>
            <a:endParaRPr lang="en-US" sz="1100" dirty="0"/>
          </a:p>
        </p:txBody>
      </p:sp>
      <p:sp>
        <p:nvSpPr>
          <p:cNvPr id="36" name="Shape"/>
          <p:cNvSpPr/>
          <p:nvPr/>
        </p:nvSpPr>
        <p:spPr>
          <a:xfrm>
            <a:off x="7176928" y="3720000"/>
            <a:ext cx="230000" cy="220000"/>
          </a:xfrm>
          <a:prstGeom prst="rightArrow">
            <a:avLst/>
          </a:prstGeom>
          <a:solidFill>
            <a:srgbClr val="2E7D7D"/>
          </a:solidFill>
          <a:ln w="12700">
            <a:solidFill>
              <a:srgbClr val="2E7D7D"/>
            </a:solidFill>
            <a:prstDash val="solid"/>
          </a:ln>
        </p:spPr>
      </p:sp>
      <p:sp>
        <p:nvSpPr>
          <p:cNvPr id="37" name="Shape"/>
          <p:cNvSpPr/>
          <p:nvPr/>
        </p:nvSpPr>
        <p:spPr>
          <a:xfrm>
            <a:off x="7476928" y="3600000"/>
            <a:ext cx="1200000" cy="460000"/>
          </a:xfrm>
          <a:prstGeom prst="roundRect">
            <a:avLst>
              <a:gd name="adj" fmla="val 30000"/>
            </a:avLst>
          </a:prstGeom>
          <a:solidFill>
            <a:srgbClr val="2E7D7D"/>
          </a:solidFill>
          <a:ln w="12700">
            <a:solidFill>
              <a:srgbClr val="2E7D7D"/>
            </a:solidFill>
            <a:prstDash val="solid"/>
          </a:ln>
        </p:spPr>
      </p:sp>
      <p:sp>
        <p:nvSpPr>
          <p:cNvPr id="38" name="Text"/>
          <p:cNvSpPr txBox="1"/>
          <p:nvPr/>
        </p:nvSpPr>
        <p:spPr>
          <a:xfrm>
            <a:off x="7516928" y="3600000"/>
            <a:ext cx="1120000" cy="46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índice</a:t>
            </a:r>
            <a:endParaRPr lang="en-US" sz="1100" dirty="0"/>
          </a:p>
        </p:txBody>
      </p:sp>
      <p:sp>
        <p:nvSpPr>
          <p:cNvPr id="39" name="Text"/>
          <p:cNvSpPr txBox="1"/>
          <p:nvPr/>
        </p:nvSpPr>
        <p:spPr>
          <a:xfrm>
            <a:off x="2866928" y="4330000"/>
            <a:ext cx="6000000" cy="220000"/>
          </a:xfrm>
          <a:prstGeom prst="rect">
            <a:avLst/>
          </a:prstGeom>
          <a:noFill/>
          <a:ln/>
        </p:spPr>
        <p:txBody>
          <a:bodyPr wrap="square" lIns="0" tIns="0" rIns="0" bIns="0" rtlCol="0" anchor="t"/>
          <a:lstStyle/>
          <a:p>
            <a:pPr indent="0" marL="0">
              <a:buNone/>
            </a:pPr>
            <a:r>
              <a:rPr lang="en-US" sz="1100" i="1" dirty="0">
                <a:solidFill>
                  <a:srgbClr val="5A6B73"/>
                </a:solidFill>
                <a:latin typeface="Calibri" pitchFamily="34" charset="0"/>
                <a:ea typeface="Calibri" pitchFamily="34" charset="-122"/>
                <a:cs typeface="Calibri" pitchFamily="34" charset="-120"/>
              </a:rPr>
              <a:t>En cada pregunta</a:t>
            </a:r>
            <a:endParaRPr lang="en-US" sz="1100" dirty="0"/>
          </a:p>
        </p:txBody>
      </p:sp>
      <p:sp>
        <p:nvSpPr>
          <p:cNvPr id="40" name="Shape"/>
          <p:cNvSpPr/>
          <p:nvPr/>
        </p:nvSpPr>
        <p:spPr>
          <a:xfrm>
            <a:off x="2866928" y="4600000"/>
            <a:ext cx="1350000" cy="460000"/>
          </a:xfrm>
          <a:prstGeom prst="roundRect">
            <a:avLst>
              <a:gd name="adj" fmla="val 30000"/>
            </a:avLst>
          </a:prstGeom>
          <a:solidFill>
            <a:srgbClr val="D7E7E7"/>
          </a:solidFill>
          <a:ln w="12700">
            <a:solidFill>
              <a:srgbClr val="D7E7E7"/>
            </a:solidFill>
            <a:prstDash val="solid"/>
          </a:ln>
        </p:spPr>
      </p:sp>
      <p:sp>
        <p:nvSpPr>
          <p:cNvPr id="41" name="Text"/>
          <p:cNvSpPr txBox="1"/>
          <p:nvPr/>
        </p:nvSpPr>
        <p:spPr>
          <a:xfrm>
            <a:off x="2906928" y="4600000"/>
            <a:ext cx="1270000" cy="460000"/>
          </a:xfrm>
          <a:prstGeom prst="rect">
            <a:avLst/>
          </a:prstGeom>
          <a:noFill/>
          <a:ln/>
        </p:spPr>
        <p:txBody>
          <a:bodyPr wrap="square" lIns="0" tIns="0" rIns="0" bIns="0" rtlCol="0" anchor="ctr"/>
          <a:lstStyle/>
          <a:p>
            <a:pPr algn="ctr" indent="0" marL="0">
              <a:buNone/>
            </a:pPr>
            <a:r>
              <a:rPr lang="en-US" sz="1100" b="1" dirty="0">
                <a:solidFill>
                  <a:srgbClr val="16262E"/>
                </a:solidFill>
                <a:latin typeface="Arial" pitchFamily="34" charset="0"/>
                <a:ea typeface="Arial" pitchFamily="34" charset="-122"/>
                <a:cs typeface="Arial" pitchFamily="34" charset="-120"/>
              </a:rPr>
              <a:t>tu pregunta</a:t>
            </a:r>
            <a:endParaRPr lang="en-US" sz="1100" dirty="0"/>
          </a:p>
        </p:txBody>
      </p:sp>
      <p:sp>
        <p:nvSpPr>
          <p:cNvPr id="42" name="Shape"/>
          <p:cNvSpPr/>
          <p:nvPr/>
        </p:nvSpPr>
        <p:spPr>
          <a:xfrm>
            <a:off x="4286928" y="4720000"/>
            <a:ext cx="230000" cy="220000"/>
          </a:xfrm>
          <a:prstGeom prst="rightArrow">
            <a:avLst/>
          </a:prstGeom>
          <a:solidFill>
            <a:srgbClr val="2E7D7D"/>
          </a:solidFill>
          <a:ln w="12700">
            <a:solidFill>
              <a:srgbClr val="2E7D7D"/>
            </a:solidFill>
            <a:prstDash val="solid"/>
          </a:ln>
        </p:spPr>
      </p:sp>
      <p:sp>
        <p:nvSpPr>
          <p:cNvPr id="43" name="Shape"/>
          <p:cNvSpPr/>
          <p:nvPr/>
        </p:nvSpPr>
        <p:spPr>
          <a:xfrm>
            <a:off x="4586928" y="4600000"/>
            <a:ext cx="1250000" cy="460000"/>
          </a:xfrm>
          <a:prstGeom prst="roundRect">
            <a:avLst>
              <a:gd name="adj" fmla="val 30000"/>
            </a:avLst>
          </a:prstGeom>
          <a:solidFill>
            <a:srgbClr val="2E7D7D"/>
          </a:solidFill>
          <a:ln w="12700">
            <a:solidFill>
              <a:srgbClr val="2E7D7D"/>
            </a:solidFill>
            <a:prstDash val="solid"/>
          </a:ln>
        </p:spPr>
      </p:sp>
      <p:sp>
        <p:nvSpPr>
          <p:cNvPr id="44" name="Text"/>
          <p:cNvSpPr txBox="1"/>
          <p:nvPr/>
        </p:nvSpPr>
        <p:spPr>
          <a:xfrm>
            <a:off x="4626928" y="4600000"/>
            <a:ext cx="1170000" cy="46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buscador</a:t>
            </a:r>
            <a:endParaRPr lang="en-US" sz="1100" dirty="0"/>
          </a:p>
        </p:txBody>
      </p:sp>
      <p:sp>
        <p:nvSpPr>
          <p:cNvPr id="45" name="Shape"/>
          <p:cNvSpPr/>
          <p:nvPr/>
        </p:nvSpPr>
        <p:spPr>
          <a:xfrm>
            <a:off x="5906928" y="4720000"/>
            <a:ext cx="230000" cy="220000"/>
          </a:xfrm>
          <a:prstGeom prst="rightArrow">
            <a:avLst/>
          </a:prstGeom>
          <a:solidFill>
            <a:srgbClr val="2E7D7D"/>
          </a:solidFill>
          <a:ln w="12700">
            <a:solidFill>
              <a:srgbClr val="2E7D7D"/>
            </a:solidFill>
            <a:prstDash val="solid"/>
          </a:ln>
        </p:spPr>
      </p:sp>
      <p:sp>
        <p:nvSpPr>
          <p:cNvPr id="46" name="Shape"/>
          <p:cNvSpPr/>
          <p:nvPr/>
        </p:nvSpPr>
        <p:spPr>
          <a:xfrm>
            <a:off x="6206928" y="4660000"/>
            <a:ext cx="210000" cy="340000"/>
          </a:xfrm>
          <a:prstGeom prst="rect">
            <a:avLst/>
          </a:prstGeom>
          <a:solidFill>
            <a:srgbClr val="F7E4D8"/>
          </a:solidFill>
          <a:ln w="9525">
            <a:solidFill>
              <a:srgbClr val="C85A28"/>
            </a:solidFill>
            <a:prstDash val="solid"/>
          </a:ln>
        </p:spPr>
      </p:sp>
      <p:sp>
        <p:nvSpPr>
          <p:cNvPr id="47" name="Shape"/>
          <p:cNvSpPr/>
          <p:nvPr/>
        </p:nvSpPr>
        <p:spPr>
          <a:xfrm>
            <a:off x="6466928" y="4660000"/>
            <a:ext cx="210000" cy="340000"/>
          </a:xfrm>
          <a:prstGeom prst="rect">
            <a:avLst/>
          </a:prstGeom>
          <a:solidFill>
            <a:srgbClr val="F7E4D8"/>
          </a:solidFill>
          <a:ln w="9525">
            <a:solidFill>
              <a:srgbClr val="C85A28"/>
            </a:solidFill>
            <a:prstDash val="solid"/>
          </a:ln>
        </p:spPr>
      </p:sp>
      <p:sp>
        <p:nvSpPr>
          <p:cNvPr id="48" name="Shape"/>
          <p:cNvSpPr/>
          <p:nvPr/>
        </p:nvSpPr>
        <p:spPr>
          <a:xfrm>
            <a:off x="6746928" y="4720000"/>
            <a:ext cx="230000" cy="220000"/>
          </a:xfrm>
          <a:prstGeom prst="rightArrow">
            <a:avLst/>
          </a:prstGeom>
          <a:solidFill>
            <a:srgbClr val="2E7D7D"/>
          </a:solidFill>
          <a:ln w="12700">
            <a:solidFill>
              <a:srgbClr val="2E7D7D"/>
            </a:solidFill>
            <a:prstDash val="solid"/>
          </a:ln>
        </p:spPr>
      </p:sp>
      <p:sp>
        <p:nvSpPr>
          <p:cNvPr id="49" name="Shape"/>
          <p:cNvSpPr/>
          <p:nvPr/>
        </p:nvSpPr>
        <p:spPr>
          <a:xfrm>
            <a:off x="7046928" y="4600000"/>
            <a:ext cx="1100000" cy="460000"/>
          </a:xfrm>
          <a:prstGeom prst="roundRect">
            <a:avLst>
              <a:gd name="adj" fmla="val 30000"/>
            </a:avLst>
          </a:prstGeom>
          <a:solidFill>
            <a:srgbClr val="16262E"/>
          </a:solidFill>
          <a:ln w="12700">
            <a:solidFill>
              <a:srgbClr val="16262E"/>
            </a:solidFill>
            <a:prstDash val="solid"/>
          </a:ln>
        </p:spPr>
      </p:sp>
      <p:sp>
        <p:nvSpPr>
          <p:cNvPr id="50" name="Text"/>
          <p:cNvSpPr txBox="1"/>
          <p:nvPr/>
        </p:nvSpPr>
        <p:spPr>
          <a:xfrm>
            <a:off x="7086928" y="4600000"/>
            <a:ext cx="1020000" cy="46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modelo</a:t>
            </a:r>
            <a:endParaRPr lang="en-US" sz="1100" dirty="0"/>
          </a:p>
        </p:txBody>
      </p:sp>
      <p:sp>
        <p:nvSpPr>
          <p:cNvPr id="51" name="Shape"/>
          <p:cNvSpPr/>
          <p:nvPr/>
        </p:nvSpPr>
        <p:spPr>
          <a:xfrm>
            <a:off x="8216928" y="4720000"/>
            <a:ext cx="230000" cy="220000"/>
          </a:xfrm>
          <a:prstGeom prst="rightArrow">
            <a:avLst/>
          </a:prstGeom>
          <a:solidFill>
            <a:srgbClr val="2E7D7D"/>
          </a:solidFill>
          <a:ln w="12700">
            <a:solidFill>
              <a:srgbClr val="2E7D7D"/>
            </a:solidFill>
            <a:prstDash val="solid"/>
          </a:ln>
        </p:spPr>
      </p:sp>
      <p:sp>
        <p:nvSpPr>
          <p:cNvPr id="52" name="Shape"/>
          <p:cNvSpPr/>
          <p:nvPr/>
        </p:nvSpPr>
        <p:spPr>
          <a:xfrm>
            <a:off x="8516928" y="4600000"/>
            <a:ext cx="2000000" cy="460000"/>
          </a:xfrm>
          <a:prstGeom prst="roundRect">
            <a:avLst>
              <a:gd name="adj" fmla="val 30000"/>
            </a:avLst>
          </a:prstGeom>
          <a:solidFill>
            <a:srgbClr val="D7E7E7"/>
          </a:solidFill>
          <a:ln w="12700">
            <a:solidFill>
              <a:srgbClr val="D7E7E7"/>
            </a:solidFill>
            <a:prstDash val="solid"/>
          </a:ln>
        </p:spPr>
      </p:sp>
      <p:sp>
        <p:nvSpPr>
          <p:cNvPr id="53" name="Text"/>
          <p:cNvSpPr txBox="1"/>
          <p:nvPr/>
        </p:nvSpPr>
        <p:spPr>
          <a:xfrm>
            <a:off x="8556928" y="4600000"/>
            <a:ext cx="1920000" cy="460000"/>
          </a:xfrm>
          <a:prstGeom prst="rect">
            <a:avLst/>
          </a:prstGeom>
          <a:noFill/>
          <a:ln/>
        </p:spPr>
        <p:txBody>
          <a:bodyPr wrap="square" lIns="0" tIns="0" rIns="0" bIns="0" rtlCol="0" anchor="ctr"/>
          <a:lstStyle/>
          <a:p>
            <a:pPr algn="ctr" indent="0" marL="0">
              <a:buNone/>
            </a:pPr>
            <a:r>
              <a:rPr lang="en-US" sz="1100" b="1" dirty="0">
                <a:solidFill>
                  <a:srgbClr val="16262E"/>
                </a:solidFill>
                <a:latin typeface="Arial" pitchFamily="34" charset="0"/>
                <a:ea typeface="Arial" pitchFamily="34" charset="-122"/>
                <a:cs typeface="Arial" pitchFamily="34" charset="-120"/>
              </a:rPr>
              <a:t>respuesta con citas</a:t>
            </a:r>
            <a:endParaRPr lang="en-US" sz="1100" dirty="0"/>
          </a:p>
        </p:txBody>
      </p:sp>
      <p:sp>
        <p:nvSpPr>
          <p:cNvPr id="54" name="Shape"/>
          <p:cNvSpPr/>
          <p:nvPr/>
        </p:nvSpPr>
        <p:spPr>
          <a:xfrm>
            <a:off x="566928" y="5700000"/>
            <a:ext cx="11057839" cy="594360"/>
          </a:xfrm>
          <a:prstGeom prst="roundRect">
            <a:avLst>
              <a:gd name="adj" fmla="val 8235"/>
            </a:avLst>
          </a:prstGeom>
          <a:solidFill>
            <a:srgbClr val="F7E4D8"/>
          </a:solidFill>
          <a:ln w="12700">
            <a:solidFill>
              <a:srgbClr val="F7E4D8"/>
            </a:solidFill>
            <a:prstDash val="solid"/>
          </a:ln>
        </p:spPr>
      </p:sp>
      <p:sp>
        <p:nvSpPr>
          <p:cNvPr id="55" name="Text"/>
          <p:cNvSpPr txBox="1"/>
          <p:nvPr/>
        </p:nvSpPr>
        <p:spPr>
          <a:xfrm>
            <a:off x="804672" y="5700000"/>
            <a:ext cx="10582351" cy="59436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En los productos reales los dos caminos se mezclan. ChatGPT pega en el contexto lo que cabe y manda el resto a un índice privado; los Proyectos de Claude cambian solos a RAG cuando el material se acerca al límite de la ventana.</a:t>
            </a:r>
            <a:endParaRPr lang="en-US" sz="1300" dirty="0"/>
          </a:p>
        </p:txBody>
      </p:sp>
      <p:sp>
        <p:nvSpPr>
          <p:cNvPr id="56" name="Text"/>
          <p:cNvSpPr txBox="1"/>
          <p:nvPr/>
        </p:nvSpPr>
        <p:spPr>
          <a:xfrm>
            <a:off x="566928" y="636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Fuentes: Lewis y otros (2020), arXiv:2005.11401 · OpenAI, «Optimizing File Uploads in ChatGPT Enterprise» · Anthropic, «Retrieval augmented generation (RAG) for projects».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Las pieza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Las cuatro piezas de un RAG, y las tres que suelen faltar</a:t>
            </a:r>
            <a:endParaRPr lang="en-US" sz="3200" dirty="0"/>
          </a:p>
        </p:txBody>
      </p:sp>
      <p:sp>
        <p:nvSpPr>
          <p:cNvPr id="3" name="Text"/>
          <p:cNvSpPr txBox="1"/>
          <p:nvPr/>
        </p:nvSpPr>
        <p:spPr>
          <a:xfrm>
            <a:off x="566928" y="1230000"/>
            <a:ext cx="11057839" cy="42000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La receta de cuatro piezas es el RAG de 2023. Funciona en una demostración; en serio, se le agregan tres cosas más.</a:t>
            </a:r>
            <a:endParaRPr lang="en-US" sz="1500" dirty="0"/>
          </a:p>
        </p:txBody>
      </p:sp>
      <p:sp>
        <p:nvSpPr>
          <p:cNvPr id="4" name="Shape"/>
          <p:cNvSpPr/>
          <p:nvPr/>
        </p:nvSpPr>
        <p:spPr>
          <a:xfrm>
            <a:off x="566928" y="1750000"/>
            <a:ext cx="2599459" cy="2850000"/>
          </a:xfrm>
          <a:prstGeom prst="roundRect">
            <a:avLst>
              <a:gd name="adj" fmla="val 2933"/>
            </a:avLst>
          </a:prstGeom>
          <a:solidFill>
            <a:srgbClr val="F2F5F6"/>
          </a:solidFill>
          <a:ln w="12700">
            <a:solidFill>
              <a:srgbClr val="F2F5F6"/>
            </a:solidFill>
            <a:prstDash val="solid"/>
          </a:ln>
        </p:spPr>
      </p:sp>
      <p:sp>
        <p:nvSpPr>
          <p:cNvPr id="5" name="Shape"/>
          <p:cNvSpPr/>
          <p:nvPr/>
        </p:nvSpPr>
        <p:spPr>
          <a:xfrm>
            <a:off x="804672" y="1969456"/>
            <a:ext cx="420624" cy="420624"/>
          </a:xfrm>
          <a:prstGeom prst="ellipse">
            <a:avLst/>
          </a:prstGeom>
          <a:solidFill>
            <a:srgbClr val="2E7D7D"/>
          </a:solidFill>
          <a:ln w="12700">
            <a:solidFill>
              <a:srgbClr val="2E7D7D"/>
            </a:solidFill>
            <a:prstDash val="solid"/>
          </a:ln>
        </p:spPr>
      </p:sp>
      <p:sp>
        <p:nvSpPr>
          <p:cNvPr id="6" name="Text"/>
          <p:cNvSpPr txBox="1"/>
          <p:nvPr/>
        </p:nvSpPr>
        <p:spPr>
          <a:xfrm>
            <a:off x="804672" y="196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p:cNvSpPr txBox="1"/>
          <p:nvPr/>
        </p:nvSpPr>
        <p:spPr>
          <a:xfrm>
            <a:off x="804672" y="2529456"/>
            <a:ext cx="212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Modelo de embeddings</a:t>
            </a:r>
            <a:endParaRPr lang="en-US" sz="1500" dirty="0"/>
          </a:p>
        </p:txBody>
      </p:sp>
      <p:sp>
        <p:nvSpPr>
          <p:cNvPr id="8" name="Text"/>
          <p:cNvSpPr txBox="1"/>
          <p:nvPr/>
        </p:nvSpPr>
        <p:spPr>
          <a:xfrm>
            <a:off x="804672" y="3169456"/>
            <a:ext cx="2123971" cy="13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Convierte cada fragmento en coordenadas, como el viernes: los textos que significan lo mismo quedan cerca.</a:t>
            </a:r>
            <a:endParaRPr lang="en-US" sz="1250" dirty="0"/>
          </a:p>
        </p:txBody>
      </p:sp>
      <p:sp>
        <p:nvSpPr>
          <p:cNvPr id="9" name="Shape"/>
          <p:cNvSpPr/>
          <p:nvPr/>
        </p:nvSpPr>
        <p:spPr>
          <a:xfrm>
            <a:off x="3386387" y="1750000"/>
            <a:ext cx="2599459" cy="2850000"/>
          </a:xfrm>
          <a:prstGeom prst="roundRect">
            <a:avLst>
              <a:gd name="adj" fmla="val 2933"/>
            </a:avLst>
          </a:prstGeom>
          <a:solidFill>
            <a:srgbClr val="F2F5F6"/>
          </a:solidFill>
          <a:ln w="12700">
            <a:solidFill>
              <a:srgbClr val="F2F5F6"/>
            </a:solidFill>
            <a:prstDash val="solid"/>
          </a:ln>
        </p:spPr>
      </p:sp>
      <p:sp>
        <p:nvSpPr>
          <p:cNvPr id="10" name="Shape"/>
          <p:cNvSpPr/>
          <p:nvPr/>
        </p:nvSpPr>
        <p:spPr>
          <a:xfrm>
            <a:off x="3624131" y="1969456"/>
            <a:ext cx="420624" cy="420624"/>
          </a:xfrm>
          <a:prstGeom prst="ellipse">
            <a:avLst/>
          </a:prstGeom>
          <a:solidFill>
            <a:srgbClr val="2E7D7D"/>
          </a:solidFill>
          <a:ln w="12700">
            <a:solidFill>
              <a:srgbClr val="2E7D7D"/>
            </a:solidFill>
            <a:prstDash val="solid"/>
          </a:ln>
        </p:spPr>
      </p:sp>
      <p:sp>
        <p:nvSpPr>
          <p:cNvPr id="11" name="Text"/>
          <p:cNvSpPr txBox="1"/>
          <p:nvPr/>
        </p:nvSpPr>
        <p:spPr>
          <a:xfrm>
            <a:off x="3624131" y="196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p:cNvSpPr txBox="1"/>
          <p:nvPr/>
        </p:nvSpPr>
        <p:spPr>
          <a:xfrm>
            <a:off x="3624131" y="2529456"/>
            <a:ext cx="212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Almacén vectorial</a:t>
            </a:r>
            <a:endParaRPr lang="en-US" sz="1500" dirty="0"/>
          </a:p>
        </p:txBody>
      </p:sp>
      <p:sp>
        <p:nvSpPr>
          <p:cNvPr id="13" name="Text"/>
          <p:cNvSpPr txBox="1"/>
          <p:nvPr/>
        </p:nvSpPr>
        <p:spPr>
          <a:xfrm>
            <a:off x="3624131" y="3169456"/>
            <a:ext cx="2123971" cy="13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Guarda las coordenadas y halla las más cercanas. Pinecone es un servicio; Chroma, código abierto; pgvector, una extensión de PostgreSQL.</a:t>
            </a:r>
            <a:endParaRPr lang="en-US" sz="1250" dirty="0"/>
          </a:p>
        </p:txBody>
      </p:sp>
      <p:sp>
        <p:nvSpPr>
          <p:cNvPr id="14" name="Shape"/>
          <p:cNvSpPr/>
          <p:nvPr/>
        </p:nvSpPr>
        <p:spPr>
          <a:xfrm>
            <a:off x="6205846" y="1750000"/>
            <a:ext cx="2599459" cy="2850000"/>
          </a:xfrm>
          <a:prstGeom prst="roundRect">
            <a:avLst>
              <a:gd name="adj" fmla="val 2933"/>
            </a:avLst>
          </a:prstGeom>
          <a:solidFill>
            <a:srgbClr val="F2F5F6"/>
          </a:solidFill>
          <a:ln w="12700">
            <a:solidFill>
              <a:srgbClr val="F2F5F6"/>
            </a:solidFill>
            <a:prstDash val="solid"/>
          </a:ln>
        </p:spPr>
      </p:sp>
      <p:sp>
        <p:nvSpPr>
          <p:cNvPr id="15" name="Shape"/>
          <p:cNvSpPr/>
          <p:nvPr/>
        </p:nvSpPr>
        <p:spPr>
          <a:xfrm>
            <a:off x="6443590" y="1969456"/>
            <a:ext cx="420624" cy="420624"/>
          </a:xfrm>
          <a:prstGeom prst="ellipse">
            <a:avLst/>
          </a:prstGeom>
          <a:solidFill>
            <a:srgbClr val="2E7D7D"/>
          </a:solidFill>
          <a:ln w="12700">
            <a:solidFill>
              <a:srgbClr val="2E7D7D"/>
            </a:solidFill>
            <a:prstDash val="solid"/>
          </a:ln>
        </p:spPr>
      </p:sp>
      <p:sp>
        <p:nvSpPr>
          <p:cNvPr id="16" name="Text"/>
          <p:cNvSpPr txBox="1"/>
          <p:nvPr/>
        </p:nvSpPr>
        <p:spPr>
          <a:xfrm>
            <a:off x="6443590" y="196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p:cNvSpPr txBox="1"/>
          <p:nvPr/>
        </p:nvSpPr>
        <p:spPr>
          <a:xfrm>
            <a:off x="6443590" y="2529456"/>
            <a:ext cx="212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Orquestador</a:t>
            </a:r>
            <a:endParaRPr lang="en-US" sz="1500" dirty="0"/>
          </a:p>
        </p:txBody>
      </p:sp>
      <p:sp>
        <p:nvSpPr>
          <p:cNvPr id="18" name="Text"/>
          <p:cNvSpPr txBox="1"/>
          <p:nvPr/>
        </p:nvSpPr>
        <p:spPr>
          <a:xfrm>
            <a:off x="6443590" y="3169456"/>
            <a:ext cx="2123971" cy="13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El código que une las piezas: LangChain, LlamaIndex o un script propio. También hay servicios donde el proveedor hace todo.</a:t>
            </a:r>
            <a:endParaRPr lang="en-US" sz="1250" dirty="0"/>
          </a:p>
        </p:txBody>
      </p:sp>
      <p:sp>
        <p:nvSpPr>
          <p:cNvPr id="19" name="Shape"/>
          <p:cNvSpPr/>
          <p:nvPr/>
        </p:nvSpPr>
        <p:spPr>
          <a:xfrm>
            <a:off x="9025305" y="1750000"/>
            <a:ext cx="2599459" cy="2850000"/>
          </a:xfrm>
          <a:prstGeom prst="roundRect">
            <a:avLst>
              <a:gd name="adj" fmla="val 2933"/>
            </a:avLst>
          </a:prstGeom>
          <a:solidFill>
            <a:srgbClr val="F2F5F6"/>
          </a:solidFill>
          <a:ln w="12700">
            <a:solidFill>
              <a:srgbClr val="F2F5F6"/>
            </a:solidFill>
            <a:prstDash val="solid"/>
          </a:ln>
        </p:spPr>
      </p:sp>
      <p:sp>
        <p:nvSpPr>
          <p:cNvPr id="20" name="Shape"/>
          <p:cNvSpPr/>
          <p:nvPr/>
        </p:nvSpPr>
        <p:spPr>
          <a:xfrm>
            <a:off x="9263049" y="1969456"/>
            <a:ext cx="420624" cy="420624"/>
          </a:xfrm>
          <a:prstGeom prst="ellipse">
            <a:avLst/>
          </a:prstGeom>
          <a:solidFill>
            <a:srgbClr val="2E7D7D"/>
          </a:solidFill>
          <a:ln w="12700">
            <a:solidFill>
              <a:srgbClr val="2E7D7D"/>
            </a:solidFill>
            <a:prstDash val="solid"/>
          </a:ln>
        </p:spPr>
      </p:sp>
      <p:sp>
        <p:nvSpPr>
          <p:cNvPr id="21" name="Text"/>
          <p:cNvSpPr txBox="1"/>
          <p:nvPr/>
        </p:nvSpPr>
        <p:spPr>
          <a:xfrm>
            <a:off x="9263049" y="196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p:cNvSpPr txBox="1"/>
          <p:nvPr/>
        </p:nvSpPr>
        <p:spPr>
          <a:xfrm>
            <a:off x="9263049" y="2529456"/>
            <a:ext cx="212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Modelo de lenguaje</a:t>
            </a:r>
            <a:endParaRPr lang="en-US" sz="1500" dirty="0"/>
          </a:p>
        </p:txBody>
      </p:sp>
      <p:sp>
        <p:nvSpPr>
          <p:cNvPr id="23" name="Text"/>
          <p:cNvSpPr txBox="1"/>
          <p:nvPr/>
        </p:nvSpPr>
        <p:spPr>
          <a:xfrm>
            <a:off x="9263049" y="3169456"/>
            <a:ext cx="2123971" cy="13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Redacta con los fragmentos que le llegan en el prompt. No se reentrena: sus parámetros quedan intactos.</a:t>
            </a:r>
            <a:endParaRPr lang="en-US" sz="1250" dirty="0"/>
          </a:p>
        </p:txBody>
      </p:sp>
      <p:sp>
        <p:nvSpPr>
          <p:cNvPr id="24" name="Shape"/>
          <p:cNvSpPr/>
          <p:nvPr/>
        </p:nvSpPr>
        <p:spPr>
          <a:xfrm>
            <a:off x="566928" y="4700000"/>
            <a:ext cx="11057839" cy="1620000"/>
          </a:xfrm>
          <a:prstGeom prst="roundRect">
            <a:avLst>
              <a:gd name="adj" fmla="val 2933"/>
            </a:avLst>
          </a:prstGeom>
          <a:solidFill>
            <a:srgbClr val="F7E4D8"/>
          </a:solidFill>
          <a:ln w="12700">
            <a:solidFill>
              <a:srgbClr val="F7E4D8"/>
            </a:solidFill>
            <a:prstDash val="solid"/>
          </a:ln>
        </p:spPr>
      </p:sp>
      <p:sp>
        <p:nvSpPr>
          <p:cNvPr id="25" name="Text"/>
          <p:cNvSpPr txBox="1"/>
          <p:nvPr/>
        </p:nvSpPr>
        <p:spPr>
          <a:xfrm>
            <a:off x="804672" y="4840000"/>
            <a:ext cx="11057839" cy="240000"/>
          </a:xfrm>
          <a:prstGeom prst="rect">
            <a:avLst/>
          </a:prstGeom>
          <a:noFill/>
          <a:ln/>
        </p:spPr>
        <p:txBody>
          <a:bodyPr wrap="square" lIns="0" tIns="0" rIns="0" bIns="0" rtlCol="0" anchor="t"/>
          <a:lstStyle/>
          <a:p>
            <a:pPr indent="0" marL="0">
              <a:buNone/>
            </a:pPr>
            <a:r>
              <a:rPr lang="en-US" sz="1100" b="1" spc="100" kern="0" dirty="0">
                <a:solidFill>
                  <a:srgbClr val="C85A28"/>
                </a:solidFill>
                <a:latin typeface="Arial" pitchFamily="34" charset="0"/>
                <a:ea typeface="Arial" pitchFamily="34" charset="-122"/>
                <a:cs typeface="Arial" pitchFamily="34" charset="-120"/>
              </a:rPr>
              <a:t>LO QUE AGREGA UN RAG SERIO</a:t>
            </a:r>
            <a:endParaRPr lang="en-US" sz="1100" dirty="0"/>
          </a:p>
        </p:txBody>
      </p:sp>
      <p:sp>
        <p:nvSpPr>
          <p:cNvPr id="26" name="Text"/>
          <p:cNvSpPr txBox="1"/>
          <p:nvPr/>
        </p:nvSpPr>
        <p:spPr>
          <a:xfrm>
            <a:off x="804672" y="5120000"/>
            <a:ext cx="3380783" cy="280000"/>
          </a:xfrm>
          <a:prstGeom prst="rect">
            <a:avLst/>
          </a:prstGeom>
          <a:noFill/>
          <a:ln/>
        </p:spPr>
        <p:txBody>
          <a:bodyPr wrap="square" lIns="0" tIns="0" rIns="0" bIns="0" rtlCol="0" anchor="t"/>
          <a:lstStyle/>
          <a:p>
            <a:pPr indent="0" marL="0">
              <a:buNone/>
            </a:pPr>
            <a:r>
              <a:rPr lang="en-US" sz="1400" b="1" dirty="0">
                <a:solidFill>
                  <a:srgbClr val="16262E"/>
                </a:solidFill>
                <a:latin typeface="Arial" pitchFamily="34" charset="0"/>
                <a:ea typeface="Arial" pitchFamily="34" charset="-122"/>
                <a:cs typeface="Arial" pitchFamily="34" charset="-120"/>
              </a:rPr>
              <a:t>Búsqueda híbrida</a:t>
            </a:r>
            <a:endParaRPr lang="en-US" sz="1400" dirty="0"/>
          </a:p>
        </p:txBody>
      </p:sp>
      <p:sp>
        <p:nvSpPr>
          <p:cNvPr id="27" name="Text"/>
          <p:cNvSpPr txBox="1"/>
          <p:nvPr/>
        </p:nvSpPr>
        <p:spPr>
          <a:xfrm>
            <a:off x="804672" y="5430000"/>
            <a:ext cx="3380783" cy="740000"/>
          </a:xfrm>
          <a:prstGeom prst="rect">
            <a:avLst/>
          </a:prstGeom>
          <a:noFill/>
          <a:ln/>
        </p:spPr>
        <p:txBody>
          <a:bodyPr wrap="square" lIns="0" tIns="0" rIns="0" bIns="0" rtlCol="0" anchor="t"/>
          <a:lstStyle/>
          <a:p>
            <a:pPr indent="0" marL="0">
              <a:lnSpc>
                <a:spcPct val="105000"/>
              </a:lnSpc>
              <a:buNone/>
            </a:pPr>
            <a:r>
              <a:rPr lang="en-US" sz="1200" dirty="0">
                <a:solidFill>
                  <a:srgbClr val="16262E"/>
                </a:solidFill>
                <a:latin typeface="Calibri" pitchFamily="34" charset="0"/>
                <a:ea typeface="Calibri" pitchFamily="34" charset="-122"/>
                <a:cs typeface="Calibri" pitchFamily="34" charset="-120"/>
              </a:rPr>
              <a:t>Combina cercanía de significado con coincidencia de palabras: una clave de programa o un número de oficio se encuentran por palabra.</a:t>
            </a:r>
            <a:endParaRPr lang="en-US" sz="1200" dirty="0"/>
          </a:p>
        </p:txBody>
      </p:sp>
      <p:sp>
        <p:nvSpPr>
          <p:cNvPr id="28" name="Text"/>
          <p:cNvSpPr txBox="1"/>
          <p:nvPr/>
        </p:nvSpPr>
        <p:spPr>
          <a:xfrm>
            <a:off x="4405455" y="5120000"/>
            <a:ext cx="3380783" cy="280000"/>
          </a:xfrm>
          <a:prstGeom prst="rect">
            <a:avLst/>
          </a:prstGeom>
          <a:noFill/>
          <a:ln/>
        </p:spPr>
        <p:txBody>
          <a:bodyPr wrap="square" lIns="0" tIns="0" rIns="0" bIns="0" rtlCol="0" anchor="t"/>
          <a:lstStyle/>
          <a:p>
            <a:pPr indent="0" marL="0">
              <a:buNone/>
            </a:pPr>
            <a:r>
              <a:rPr lang="en-US" sz="1400" b="1" dirty="0">
                <a:solidFill>
                  <a:srgbClr val="16262E"/>
                </a:solidFill>
                <a:latin typeface="Arial" pitchFamily="34" charset="0"/>
                <a:ea typeface="Arial" pitchFamily="34" charset="-122"/>
                <a:cs typeface="Arial" pitchFamily="34" charset="-120"/>
              </a:rPr>
              <a:t>Reordenamiento</a:t>
            </a:r>
            <a:endParaRPr lang="en-US" sz="1400" dirty="0"/>
          </a:p>
        </p:txBody>
      </p:sp>
      <p:sp>
        <p:nvSpPr>
          <p:cNvPr id="29" name="Text"/>
          <p:cNvSpPr txBox="1"/>
          <p:nvPr/>
        </p:nvSpPr>
        <p:spPr>
          <a:xfrm>
            <a:off x="4405455" y="5430000"/>
            <a:ext cx="3380783" cy="740000"/>
          </a:xfrm>
          <a:prstGeom prst="rect">
            <a:avLst/>
          </a:prstGeom>
          <a:noFill/>
          <a:ln/>
        </p:spPr>
        <p:txBody>
          <a:bodyPr wrap="square" lIns="0" tIns="0" rIns="0" bIns="0" rtlCol="0" anchor="t"/>
          <a:lstStyle/>
          <a:p>
            <a:pPr indent="0" marL="0">
              <a:lnSpc>
                <a:spcPct val="105000"/>
              </a:lnSpc>
              <a:buNone/>
            </a:pPr>
            <a:r>
              <a:rPr lang="en-US" sz="1200" dirty="0">
                <a:solidFill>
                  <a:srgbClr val="16262E"/>
                </a:solidFill>
                <a:latin typeface="Calibri" pitchFamily="34" charset="0"/>
                <a:ea typeface="Calibri" pitchFamily="34" charset="-122"/>
                <a:cs typeface="Calibri" pitchFamily="34" charset="-120"/>
              </a:rPr>
              <a:t>Un segundo modelo vuelve a calificar lo recuperado y deja pasar solo lo mejor antes de entregarlo al modelo que redacta.</a:t>
            </a:r>
            <a:endParaRPr lang="en-US" sz="1200" dirty="0"/>
          </a:p>
        </p:txBody>
      </p:sp>
      <p:sp>
        <p:nvSpPr>
          <p:cNvPr id="30" name="Text"/>
          <p:cNvSpPr txBox="1"/>
          <p:nvPr/>
        </p:nvSpPr>
        <p:spPr>
          <a:xfrm>
            <a:off x="8006238" y="5120000"/>
            <a:ext cx="3380783" cy="280000"/>
          </a:xfrm>
          <a:prstGeom prst="rect">
            <a:avLst/>
          </a:prstGeom>
          <a:noFill/>
          <a:ln/>
        </p:spPr>
        <p:txBody>
          <a:bodyPr wrap="square" lIns="0" tIns="0" rIns="0" bIns="0" rtlCol="0" anchor="t"/>
          <a:lstStyle/>
          <a:p>
            <a:pPr indent="0" marL="0">
              <a:buNone/>
            </a:pPr>
            <a:r>
              <a:rPr lang="en-US" sz="1400" b="1" dirty="0">
                <a:solidFill>
                  <a:srgbClr val="16262E"/>
                </a:solidFill>
                <a:latin typeface="Arial" pitchFamily="34" charset="0"/>
                <a:ea typeface="Arial" pitchFamily="34" charset="-122"/>
                <a:cs typeface="Arial" pitchFamily="34" charset="-120"/>
              </a:rPr>
              <a:t>Evaluación</a:t>
            </a:r>
            <a:endParaRPr lang="en-US" sz="1400" dirty="0"/>
          </a:p>
        </p:txBody>
      </p:sp>
      <p:sp>
        <p:nvSpPr>
          <p:cNvPr id="31" name="Text"/>
          <p:cNvSpPr txBox="1"/>
          <p:nvPr/>
        </p:nvSpPr>
        <p:spPr>
          <a:xfrm>
            <a:off x="8006238" y="5430000"/>
            <a:ext cx="3380783" cy="740000"/>
          </a:xfrm>
          <a:prstGeom prst="rect">
            <a:avLst/>
          </a:prstGeom>
          <a:noFill/>
          <a:ln/>
        </p:spPr>
        <p:txBody>
          <a:bodyPr wrap="square" lIns="0" tIns="0" rIns="0" bIns="0" rtlCol="0" anchor="t"/>
          <a:lstStyle/>
          <a:p>
            <a:pPr indent="0" marL="0">
              <a:lnSpc>
                <a:spcPct val="105000"/>
              </a:lnSpc>
              <a:buNone/>
            </a:pPr>
            <a:r>
              <a:rPr lang="en-US" sz="1200" dirty="0">
                <a:solidFill>
                  <a:srgbClr val="16262E"/>
                </a:solidFill>
                <a:latin typeface="Calibri" pitchFamily="34" charset="0"/>
                <a:ea typeface="Calibri" pitchFamily="34" charset="-122"/>
                <a:cs typeface="Calibri" pitchFamily="34" charset="-120"/>
              </a:rPr>
              <a:t>Se mide si el buscador recupera lo correcto y si la respuesta se apega a lo recuperado. Sin medirlo, no se sabe si funciona.</a:t>
            </a:r>
            <a:endParaRPr lang="en-US" sz="1200" dirty="0"/>
          </a:p>
        </p:txBody>
      </p:sp>
      <p:sp>
        <p:nvSpPr>
          <p:cNvPr id="32" name="Text"/>
          <p:cNvSpPr txBox="1"/>
          <p:nvPr/>
        </p:nvSpPr>
        <p:spPr>
          <a:xfrm>
            <a:off x="566928" y="64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Fuentes: Gao y otros (2023), arXiv:2312.10997 · Microsoft Learn, «Design and Develop a RAG Solution on Azure» · Es y otros (2023), Ragas, arXiv:2309.15217.</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Dos moment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Dos momentos: indexar una vez, consultar muchas</a:t>
            </a:r>
            <a:endParaRPr lang="en-US" sz="3200" dirty="0"/>
          </a:p>
        </p:txBody>
      </p:sp>
      <p:sp>
        <p:nvSpPr>
          <p:cNvPr id="3" name="Text"/>
          <p:cNvSpPr txBox="1"/>
          <p:nvPr/>
        </p:nvSpPr>
        <p:spPr>
          <a:xfrm>
            <a:off x="566928" y="1230000"/>
            <a:ext cx="11057839" cy="42000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Es la estructura de costos de una biblioteca: catalogar cuesta y se hace una vez; consultar el catálogo es barato.</a:t>
            </a:r>
            <a:endParaRPr lang="en-US" sz="1500" dirty="0"/>
          </a:p>
        </p:txBody>
      </p:sp>
      <p:sp>
        <p:nvSpPr>
          <p:cNvPr id="4" name="Shape"/>
          <p:cNvSpPr/>
          <p:nvPr/>
        </p:nvSpPr>
        <p:spPr>
          <a:xfrm>
            <a:off x="566928" y="1800000"/>
            <a:ext cx="11057839" cy="1650000"/>
          </a:xfrm>
          <a:prstGeom prst="roundRect">
            <a:avLst>
              <a:gd name="adj" fmla="val 2933"/>
            </a:avLst>
          </a:prstGeom>
          <a:solidFill>
            <a:srgbClr val="F2F5F6"/>
          </a:solidFill>
          <a:ln w="12700">
            <a:solidFill>
              <a:srgbClr val="F2F5F6"/>
            </a:solidFill>
            <a:prstDash val="solid"/>
          </a:ln>
        </p:spPr>
      </p:sp>
      <p:sp>
        <p:nvSpPr>
          <p:cNvPr id="5" name="Text"/>
          <p:cNvSpPr txBox="1"/>
          <p:nvPr/>
        </p:nvSpPr>
        <p:spPr>
          <a:xfrm>
            <a:off x="804672" y="2000000"/>
            <a:ext cx="2000000" cy="24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INDEXAR</a:t>
            </a:r>
            <a:endParaRPr lang="en-US" sz="1100" dirty="0"/>
          </a:p>
        </p:txBody>
      </p:sp>
      <p:sp>
        <p:nvSpPr>
          <p:cNvPr id="6" name="Text"/>
          <p:cNvSpPr txBox="1"/>
          <p:nvPr/>
        </p:nvSpPr>
        <p:spPr>
          <a:xfrm>
            <a:off x="804672" y="2280000"/>
            <a:ext cx="1900000" cy="1090000"/>
          </a:xfrm>
          <a:prstGeom prst="rect">
            <a:avLst/>
          </a:prstGeom>
          <a:noFill/>
          <a:ln/>
        </p:spPr>
        <p:txBody>
          <a:bodyPr wrap="square" lIns="0" tIns="0" rIns="0" bIns="0" rtlCol="0" anchor="t"/>
          <a:lstStyle/>
          <a:p>
            <a:pPr indent="0" marL="0">
              <a:lnSpc>
                <a:spcPct val="105000"/>
              </a:lnSpc>
              <a:buNone/>
            </a:pPr>
            <a:r>
              <a:rPr lang="en-US" sz="1200" dirty="0">
                <a:solidFill>
                  <a:srgbClr val="5A6B73"/>
                </a:solidFill>
                <a:latin typeface="Calibri" pitchFamily="34" charset="0"/>
                <a:ea typeface="Calibri" pitchFamily="34" charset="-122"/>
                <a:cs typeface="Calibri" pitchFamily="34" charset="-120"/>
              </a:rPr>
              <a:t>Una vez, y cada que cambia el acervo. Es el costo fijo.</a:t>
            </a:r>
            <a:endParaRPr lang="en-US" sz="1200" dirty="0"/>
          </a:p>
        </p:txBody>
      </p:sp>
      <p:sp>
        <p:nvSpPr>
          <p:cNvPr id="7" name="Shape"/>
          <p:cNvSpPr/>
          <p:nvPr/>
        </p:nvSpPr>
        <p:spPr>
          <a:xfrm>
            <a:off x="2866928" y="2380000"/>
            <a:ext cx="1150000" cy="460000"/>
          </a:xfrm>
          <a:prstGeom prst="roundRect">
            <a:avLst>
              <a:gd name="adj" fmla="val 30000"/>
            </a:avLst>
          </a:prstGeom>
          <a:solidFill>
            <a:srgbClr val="D7E7E7"/>
          </a:solidFill>
          <a:ln w="12700">
            <a:solidFill>
              <a:srgbClr val="D7E7E7"/>
            </a:solidFill>
            <a:prstDash val="solid"/>
          </a:ln>
        </p:spPr>
      </p:sp>
      <p:sp>
        <p:nvSpPr>
          <p:cNvPr id="8" name="Text"/>
          <p:cNvSpPr txBox="1"/>
          <p:nvPr/>
        </p:nvSpPr>
        <p:spPr>
          <a:xfrm>
            <a:off x="2906928" y="2380000"/>
            <a:ext cx="1070000" cy="460000"/>
          </a:xfrm>
          <a:prstGeom prst="rect">
            <a:avLst/>
          </a:prstGeom>
          <a:noFill/>
          <a:ln/>
        </p:spPr>
        <p:txBody>
          <a:bodyPr wrap="square" lIns="0" tIns="0" rIns="0" bIns="0" rtlCol="0" anchor="ctr"/>
          <a:lstStyle/>
          <a:p>
            <a:pPr algn="ctr" indent="0" marL="0">
              <a:buNone/>
            </a:pPr>
            <a:r>
              <a:rPr lang="en-US" sz="1100" b="1" dirty="0">
                <a:solidFill>
                  <a:srgbClr val="16262E"/>
                </a:solidFill>
                <a:latin typeface="Arial" pitchFamily="34" charset="0"/>
                <a:ea typeface="Arial" pitchFamily="34" charset="-122"/>
                <a:cs typeface="Arial" pitchFamily="34" charset="-120"/>
              </a:rPr>
              <a:t>archivos</a:t>
            </a:r>
            <a:endParaRPr lang="en-US" sz="1100" dirty="0"/>
          </a:p>
        </p:txBody>
      </p:sp>
      <p:sp>
        <p:nvSpPr>
          <p:cNvPr id="9" name="Shape"/>
          <p:cNvSpPr/>
          <p:nvPr/>
        </p:nvSpPr>
        <p:spPr>
          <a:xfrm>
            <a:off x="4076928" y="2500000"/>
            <a:ext cx="200000" cy="220000"/>
          </a:xfrm>
          <a:prstGeom prst="rightArrow">
            <a:avLst/>
          </a:prstGeom>
          <a:solidFill>
            <a:srgbClr val="2E7D7D"/>
          </a:solidFill>
          <a:ln w="12700">
            <a:solidFill>
              <a:srgbClr val="2E7D7D"/>
            </a:solidFill>
            <a:prstDash val="solid"/>
          </a:ln>
        </p:spPr>
      </p:sp>
      <p:sp>
        <p:nvSpPr>
          <p:cNvPr id="10" name="Shape"/>
          <p:cNvSpPr/>
          <p:nvPr/>
        </p:nvSpPr>
        <p:spPr>
          <a:xfrm>
            <a:off x="4336928" y="2380000"/>
            <a:ext cx="1500000" cy="460000"/>
          </a:xfrm>
          <a:prstGeom prst="roundRect">
            <a:avLst>
              <a:gd name="adj" fmla="val 30000"/>
            </a:avLst>
          </a:prstGeom>
          <a:solidFill>
            <a:srgbClr val="D7E7E7"/>
          </a:solidFill>
          <a:ln w="12700">
            <a:solidFill>
              <a:srgbClr val="D7E7E7"/>
            </a:solidFill>
            <a:prstDash val="solid"/>
          </a:ln>
        </p:spPr>
      </p:sp>
      <p:sp>
        <p:nvSpPr>
          <p:cNvPr id="11" name="Text"/>
          <p:cNvSpPr txBox="1"/>
          <p:nvPr/>
        </p:nvSpPr>
        <p:spPr>
          <a:xfrm>
            <a:off x="4376928" y="2380000"/>
            <a:ext cx="1420000" cy="460000"/>
          </a:xfrm>
          <a:prstGeom prst="rect">
            <a:avLst/>
          </a:prstGeom>
          <a:noFill/>
          <a:ln/>
        </p:spPr>
        <p:txBody>
          <a:bodyPr wrap="square" lIns="0" tIns="0" rIns="0" bIns="0" rtlCol="0" anchor="ctr"/>
          <a:lstStyle/>
          <a:p>
            <a:pPr algn="ctr" indent="0" marL="0">
              <a:buNone/>
            </a:pPr>
            <a:r>
              <a:rPr lang="en-US" sz="1100" b="1" dirty="0">
                <a:solidFill>
                  <a:srgbClr val="16262E"/>
                </a:solidFill>
                <a:latin typeface="Arial" pitchFamily="34" charset="0"/>
                <a:ea typeface="Arial" pitchFamily="34" charset="-122"/>
                <a:cs typeface="Arial" pitchFamily="34" charset="-120"/>
              </a:rPr>
              <a:t>extraer texto</a:t>
            </a:r>
            <a:endParaRPr lang="en-US" sz="1100" dirty="0"/>
          </a:p>
        </p:txBody>
      </p:sp>
      <p:sp>
        <p:nvSpPr>
          <p:cNvPr id="12" name="Shape"/>
          <p:cNvSpPr/>
          <p:nvPr/>
        </p:nvSpPr>
        <p:spPr>
          <a:xfrm>
            <a:off x="5896928" y="2500000"/>
            <a:ext cx="200000" cy="220000"/>
          </a:xfrm>
          <a:prstGeom prst="rightArrow">
            <a:avLst/>
          </a:prstGeom>
          <a:solidFill>
            <a:srgbClr val="2E7D7D"/>
          </a:solidFill>
          <a:ln w="12700">
            <a:solidFill>
              <a:srgbClr val="2E7D7D"/>
            </a:solidFill>
            <a:prstDash val="solid"/>
          </a:ln>
        </p:spPr>
      </p:sp>
      <p:sp>
        <p:nvSpPr>
          <p:cNvPr id="13" name="Shape"/>
          <p:cNvSpPr/>
          <p:nvPr/>
        </p:nvSpPr>
        <p:spPr>
          <a:xfrm>
            <a:off x="6156928" y="2380000"/>
            <a:ext cx="2050000" cy="460000"/>
          </a:xfrm>
          <a:prstGeom prst="roundRect">
            <a:avLst>
              <a:gd name="adj" fmla="val 30000"/>
            </a:avLst>
          </a:prstGeom>
          <a:solidFill>
            <a:srgbClr val="D7E7E7"/>
          </a:solidFill>
          <a:ln w="12700">
            <a:solidFill>
              <a:srgbClr val="D7E7E7"/>
            </a:solidFill>
            <a:prstDash val="solid"/>
          </a:ln>
        </p:spPr>
      </p:sp>
      <p:sp>
        <p:nvSpPr>
          <p:cNvPr id="14" name="Text"/>
          <p:cNvSpPr txBox="1"/>
          <p:nvPr/>
        </p:nvSpPr>
        <p:spPr>
          <a:xfrm>
            <a:off x="6196928" y="2380000"/>
            <a:ext cx="1970000" cy="460000"/>
          </a:xfrm>
          <a:prstGeom prst="rect">
            <a:avLst/>
          </a:prstGeom>
          <a:noFill/>
          <a:ln/>
        </p:spPr>
        <p:txBody>
          <a:bodyPr wrap="square" lIns="0" tIns="0" rIns="0" bIns="0" rtlCol="0" anchor="ctr"/>
          <a:lstStyle/>
          <a:p>
            <a:pPr algn="ctr" indent="0" marL="0">
              <a:buNone/>
            </a:pPr>
            <a:r>
              <a:rPr lang="en-US" sz="1100" b="1" dirty="0">
                <a:solidFill>
                  <a:srgbClr val="16262E"/>
                </a:solidFill>
                <a:latin typeface="Arial" pitchFamily="34" charset="0"/>
                <a:ea typeface="Arial" pitchFamily="34" charset="-122"/>
                <a:cs typeface="Arial" pitchFamily="34" charset="-120"/>
              </a:rPr>
              <a:t>partir en fragmentos</a:t>
            </a:r>
            <a:endParaRPr lang="en-US" sz="1100" dirty="0"/>
          </a:p>
        </p:txBody>
      </p:sp>
      <p:sp>
        <p:nvSpPr>
          <p:cNvPr id="15" name="Shape"/>
          <p:cNvSpPr/>
          <p:nvPr/>
        </p:nvSpPr>
        <p:spPr>
          <a:xfrm>
            <a:off x="8266928" y="2500000"/>
            <a:ext cx="200000" cy="220000"/>
          </a:xfrm>
          <a:prstGeom prst="rightArrow">
            <a:avLst/>
          </a:prstGeom>
          <a:solidFill>
            <a:srgbClr val="2E7D7D"/>
          </a:solidFill>
          <a:ln w="12700">
            <a:solidFill>
              <a:srgbClr val="2E7D7D"/>
            </a:solidFill>
            <a:prstDash val="solid"/>
          </a:ln>
        </p:spPr>
      </p:sp>
      <p:sp>
        <p:nvSpPr>
          <p:cNvPr id="16" name="Shape"/>
          <p:cNvSpPr/>
          <p:nvPr/>
        </p:nvSpPr>
        <p:spPr>
          <a:xfrm>
            <a:off x="8526928" y="2380000"/>
            <a:ext cx="1300000" cy="460000"/>
          </a:xfrm>
          <a:prstGeom prst="roundRect">
            <a:avLst>
              <a:gd name="adj" fmla="val 30000"/>
            </a:avLst>
          </a:prstGeom>
          <a:solidFill>
            <a:srgbClr val="D7E7E7"/>
          </a:solidFill>
          <a:ln w="12700">
            <a:solidFill>
              <a:srgbClr val="D7E7E7"/>
            </a:solidFill>
            <a:prstDash val="solid"/>
          </a:ln>
        </p:spPr>
      </p:sp>
      <p:sp>
        <p:nvSpPr>
          <p:cNvPr id="17" name="Text"/>
          <p:cNvSpPr txBox="1"/>
          <p:nvPr/>
        </p:nvSpPr>
        <p:spPr>
          <a:xfrm>
            <a:off x="8566928" y="2380000"/>
            <a:ext cx="1220000" cy="460000"/>
          </a:xfrm>
          <a:prstGeom prst="rect">
            <a:avLst/>
          </a:prstGeom>
          <a:noFill/>
          <a:ln/>
        </p:spPr>
        <p:txBody>
          <a:bodyPr wrap="square" lIns="0" tIns="0" rIns="0" bIns="0" rtlCol="0" anchor="ctr"/>
          <a:lstStyle/>
          <a:p>
            <a:pPr algn="ctr" indent="0" marL="0">
              <a:buNone/>
            </a:pPr>
            <a:r>
              <a:rPr lang="en-US" sz="1100" b="1" dirty="0">
                <a:solidFill>
                  <a:srgbClr val="16262E"/>
                </a:solidFill>
                <a:latin typeface="Arial" pitchFamily="34" charset="0"/>
                <a:ea typeface="Arial" pitchFamily="34" charset="-122"/>
                <a:cs typeface="Arial" pitchFamily="34" charset="-120"/>
              </a:rPr>
              <a:t>vectorizar</a:t>
            </a:r>
            <a:endParaRPr lang="en-US" sz="1100" dirty="0"/>
          </a:p>
        </p:txBody>
      </p:sp>
      <p:sp>
        <p:nvSpPr>
          <p:cNvPr id="18" name="Shape"/>
          <p:cNvSpPr/>
          <p:nvPr/>
        </p:nvSpPr>
        <p:spPr>
          <a:xfrm>
            <a:off x="9886928" y="2500000"/>
            <a:ext cx="200000" cy="220000"/>
          </a:xfrm>
          <a:prstGeom prst="rightArrow">
            <a:avLst/>
          </a:prstGeom>
          <a:solidFill>
            <a:srgbClr val="2E7D7D"/>
          </a:solidFill>
          <a:ln w="12700">
            <a:solidFill>
              <a:srgbClr val="2E7D7D"/>
            </a:solidFill>
            <a:prstDash val="solid"/>
          </a:ln>
        </p:spPr>
      </p:sp>
      <p:sp>
        <p:nvSpPr>
          <p:cNvPr id="19" name="Shape"/>
          <p:cNvSpPr/>
          <p:nvPr/>
        </p:nvSpPr>
        <p:spPr>
          <a:xfrm>
            <a:off x="10146928" y="2380000"/>
            <a:ext cx="1000000" cy="460000"/>
          </a:xfrm>
          <a:prstGeom prst="roundRect">
            <a:avLst>
              <a:gd name="adj" fmla="val 30000"/>
            </a:avLst>
          </a:prstGeom>
          <a:solidFill>
            <a:srgbClr val="2E7D7D"/>
          </a:solidFill>
          <a:ln w="12700">
            <a:solidFill>
              <a:srgbClr val="2E7D7D"/>
            </a:solidFill>
            <a:prstDash val="solid"/>
          </a:ln>
        </p:spPr>
      </p:sp>
      <p:sp>
        <p:nvSpPr>
          <p:cNvPr id="20" name="Text"/>
          <p:cNvSpPr txBox="1"/>
          <p:nvPr/>
        </p:nvSpPr>
        <p:spPr>
          <a:xfrm>
            <a:off x="10186928" y="2380000"/>
            <a:ext cx="920000" cy="46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índice</a:t>
            </a:r>
            <a:endParaRPr lang="en-US" sz="1100" dirty="0"/>
          </a:p>
        </p:txBody>
      </p:sp>
      <p:sp>
        <p:nvSpPr>
          <p:cNvPr id="21" name="Shape"/>
          <p:cNvSpPr/>
          <p:nvPr/>
        </p:nvSpPr>
        <p:spPr>
          <a:xfrm>
            <a:off x="566928" y="3600000"/>
            <a:ext cx="11057839" cy="1900000"/>
          </a:xfrm>
          <a:prstGeom prst="roundRect">
            <a:avLst>
              <a:gd name="adj" fmla="val 2933"/>
            </a:avLst>
          </a:prstGeom>
          <a:solidFill>
            <a:srgbClr val="F2F5F6"/>
          </a:solidFill>
          <a:ln w="12700">
            <a:solidFill>
              <a:srgbClr val="F2F5F6"/>
            </a:solidFill>
            <a:prstDash val="solid"/>
          </a:ln>
        </p:spPr>
      </p:sp>
      <p:sp>
        <p:nvSpPr>
          <p:cNvPr id="22" name="Text"/>
          <p:cNvSpPr txBox="1"/>
          <p:nvPr/>
        </p:nvSpPr>
        <p:spPr>
          <a:xfrm>
            <a:off x="804672" y="3800000"/>
            <a:ext cx="2000000" cy="24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CONSULTAR</a:t>
            </a:r>
            <a:endParaRPr lang="en-US" sz="1100" dirty="0"/>
          </a:p>
        </p:txBody>
      </p:sp>
      <p:sp>
        <p:nvSpPr>
          <p:cNvPr id="23" name="Text"/>
          <p:cNvSpPr txBox="1"/>
          <p:nvPr/>
        </p:nvSpPr>
        <p:spPr>
          <a:xfrm>
            <a:off x="804672" y="4080000"/>
            <a:ext cx="1900000" cy="1340000"/>
          </a:xfrm>
          <a:prstGeom prst="rect">
            <a:avLst/>
          </a:prstGeom>
          <a:noFill/>
          <a:ln/>
        </p:spPr>
        <p:txBody>
          <a:bodyPr wrap="square" lIns="0" tIns="0" rIns="0" bIns="0" rtlCol="0" anchor="t"/>
          <a:lstStyle/>
          <a:p>
            <a:pPr indent="0" marL="0">
              <a:lnSpc>
                <a:spcPct val="105000"/>
              </a:lnSpc>
              <a:buNone/>
            </a:pPr>
            <a:r>
              <a:rPr lang="en-US" sz="1200" dirty="0">
                <a:solidFill>
                  <a:srgbClr val="5A6B73"/>
                </a:solidFill>
                <a:latin typeface="Calibri" pitchFamily="34" charset="0"/>
                <a:ea typeface="Calibri" pitchFamily="34" charset="-122"/>
                <a:cs typeface="Calibri" pitchFamily="34" charset="-120"/>
              </a:rPr>
              <a:t>En cada pregunta. Es el costo marginal.</a:t>
            </a:r>
            <a:endParaRPr lang="en-US" sz="1200" dirty="0"/>
          </a:p>
        </p:txBody>
      </p:sp>
      <p:sp>
        <p:nvSpPr>
          <p:cNvPr id="24" name="Shape"/>
          <p:cNvSpPr/>
          <p:nvPr/>
        </p:nvSpPr>
        <p:spPr>
          <a:xfrm>
            <a:off x="2866928" y="3850000"/>
            <a:ext cx="1100000" cy="460000"/>
          </a:xfrm>
          <a:prstGeom prst="roundRect">
            <a:avLst>
              <a:gd name="adj" fmla="val 30000"/>
            </a:avLst>
          </a:prstGeom>
          <a:solidFill>
            <a:srgbClr val="D7E7E7"/>
          </a:solidFill>
          <a:ln w="12700">
            <a:solidFill>
              <a:srgbClr val="D7E7E7"/>
            </a:solidFill>
            <a:prstDash val="solid"/>
          </a:ln>
        </p:spPr>
      </p:sp>
      <p:sp>
        <p:nvSpPr>
          <p:cNvPr id="25" name="Text"/>
          <p:cNvSpPr txBox="1"/>
          <p:nvPr/>
        </p:nvSpPr>
        <p:spPr>
          <a:xfrm>
            <a:off x="2906928" y="3850000"/>
            <a:ext cx="1020000" cy="460000"/>
          </a:xfrm>
          <a:prstGeom prst="rect">
            <a:avLst/>
          </a:prstGeom>
          <a:noFill/>
          <a:ln/>
        </p:spPr>
        <p:txBody>
          <a:bodyPr wrap="square" lIns="0" tIns="0" rIns="0" bIns="0" rtlCol="0" anchor="ctr"/>
          <a:lstStyle/>
          <a:p>
            <a:pPr algn="ctr" indent="0" marL="0">
              <a:buNone/>
            </a:pPr>
            <a:r>
              <a:rPr lang="en-US" sz="1100" b="1" dirty="0">
                <a:solidFill>
                  <a:srgbClr val="16262E"/>
                </a:solidFill>
                <a:latin typeface="Arial" pitchFamily="34" charset="0"/>
                <a:ea typeface="Arial" pitchFamily="34" charset="-122"/>
                <a:cs typeface="Arial" pitchFamily="34" charset="-120"/>
              </a:rPr>
              <a:t>pregunta</a:t>
            </a:r>
            <a:endParaRPr lang="en-US" sz="1100" dirty="0"/>
          </a:p>
        </p:txBody>
      </p:sp>
      <p:sp>
        <p:nvSpPr>
          <p:cNvPr id="26" name="Shape"/>
          <p:cNvSpPr/>
          <p:nvPr/>
        </p:nvSpPr>
        <p:spPr>
          <a:xfrm>
            <a:off x="4026928" y="3970000"/>
            <a:ext cx="200000" cy="220000"/>
          </a:xfrm>
          <a:prstGeom prst="rightArrow">
            <a:avLst/>
          </a:prstGeom>
          <a:solidFill>
            <a:srgbClr val="2E7D7D"/>
          </a:solidFill>
          <a:ln w="12700">
            <a:solidFill>
              <a:srgbClr val="2E7D7D"/>
            </a:solidFill>
            <a:prstDash val="solid"/>
          </a:ln>
        </p:spPr>
      </p:sp>
      <p:sp>
        <p:nvSpPr>
          <p:cNvPr id="27" name="Shape"/>
          <p:cNvSpPr/>
          <p:nvPr/>
        </p:nvSpPr>
        <p:spPr>
          <a:xfrm>
            <a:off x="4286928" y="3850000"/>
            <a:ext cx="1250000" cy="460000"/>
          </a:xfrm>
          <a:prstGeom prst="roundRect">
            <a:avLst>
              <a:gd name="adj" fmla="val 30000"/>
            </a:avLst>
          </a:prstGeom>
          <a:solidFill>
            <a:srgbClr val="D7E7E7"/>
          </a:solidFill>
          <a:ln w="12700">
            <a:solidFill>
              <a:srgbClr val="D7E7E7"/>
            </a:solidFill>
            <a:prstDash val="solid"/>
          </a:ln>
        </p:spPr>
      </p:sp>
      <p:sp>
        <p:nvSpPr>
          <p:cNvPr id="28" name="Text"/>
          <p:cNvSpPr txBox="1"/>
          <p:nvPr/>
        </p:nvSpPr>
        <p:spPr>
          <a:xfrm>
            <a:off x="4326928" y="3850000"/>
            <a:ext cx="1170000" cy="460000"/>
          </a:xfrm>
          <a:prstGeom prst="rect">
            <a:avLst/>
          </a:prstGeom>
          <a:noFill/>
          <a:ln/>
        </p:spPr>
        <p:txBody>
          <a:bodyPr wrap="square" lIns="0" tIns="0" rIns="0" bIns="0" rtlCol="0" anchor="ctr"/>
          <a:lstStyle/>
          <a:p>
            <a:pPr algn="ctr" indent="0" marL="0">
              <a:buNone/>
            </a:pPr>
            <a:r>
              <a:rPr lang="en-US" sz="1100" b="1" dirty="0">
                <a:solidFill>
                  <a:srgbClr val="16262E"/>
                </a:solidFill>
                <a:latin typeface="Arial" pitchFamily="34" charset="0"/>
                <a:ea typeface="Arial" pitchFamily="34" charset="-122"/>
                <a:cs typeface="Arial" pitchFamily="34" charset="-120"/>
              </a:rPr>
              <a:t>vectorizar</a:t>
            </a:r>
            <a:endParaRPr lang="en-US" sz="1100" dirty="0"/>
          </a:p>
        </p:txBody>
      </p:sp>
      <p:sp>
        <p:nvSpPr>
          <p:cNvPr id="29" name="Shape"/>
          <p:cNvSpPr/>
          <p:nvPr/>
        </p:nvSpPr>
        <p:spPr>
          <a:xfrm>
            <a:off x="5596928" y="3970000"/>
            <a:ext cx="200000" cy="220000"/>
          </a:xfrm>
          <a:prstGeom prst="rightArrow">
            <a:avLst/>
          </a:prstGeom>
          <a:solidFill>
            <a:srgbClr val="2E7D7D"/>
          </a:solidFill>
          <a:ln w="12700">
            <a:solidFill>
              <a:srgbClr val="2E7D7D"/>
            </a:solidFill>
            <a:prstDash val="solid"/>
          </a:ln>
        </p:spPr>
      </p:sp>
      <p:sp>
        <p:nvSpPr>
          <p:cNvPr id="30" name="Shape"/>
          <p:cNvSpPr/>
          <p:nvPr/>
        </p:nvSpPr>
        <p:spPr>
          <a:xfrm>
            <a:off x="5856928" y="3850000"/>
            <a:ext cx="1850000" cy="460000"/>
          </a:xfrm>
          <a:prstGeom prst="roundRect">
            <a:avLst>
              <a:gd name="adj" fmla="val 30000"/>
            </a:avLst>
          </a:prstGeom>
          <a:solidFill>
            <a:srgbClr val="2E7D7D"/>
          </a:solidFill>
          <a:ln w="12700">
            <a:solidFill>
              <a:srgbClr val="2E7D7D"/>
            </a:solidFill>
            <a:prstDash val="solid"/>
          </a:ln>
        </p:spPr>
      </p:sp>
      <p:sp>
        <p:nvSpPr>
          <p:cNvPr id="31" name="Text"/>
          <p:cNvSpPr txBox="1"/>
          <p:nvPr/>
        </p:nvSpPr>
        <p:spPr>
          <a:xfrm>
            <a:off x="5896928" y="3850000"/>
            <a:ext cx="1770000" cy="46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búsqueda híbrida</a:t>
            </a:r>
            <a:endParaRPr lang="en-US" sz="1100" dirty="0"/>
          </a:p>
        </p:txBody>
      </p:sp>
      <p:sp>
        <p:nvSpPr>
          <p:cNvPr id="32" name="Shape"/>
          <p:cNvSpPr/>
          <p:nvPr/>
        </p:nvSpPr>
        <p:spPr>
          <a:xfrm>
            <a:off x="7766928" y="3970000"/>
            <a:ext cx="200000" cy="220000"/>
          </a:xfrm>
          <a:prstGeom prst="rightArrow">
            <a:avLst/>
          </a:prstGeom>
          <a:solidFill>
            <a:srgbClr val="2E7D7D"/>
          </a:solidFill>
          <a:ln w="12700">
            <a:solidFill>
              <a:srgbClr val="2E7D7D"/>
            </a:solidFill>
            <a:prstDash val="solid"/>
          </a:ln>
        </p:spPr>
      </p:sp>
      <p:sp>
        <p:nvSpPr>
          <p:cNvPr id="33" name="Shape"/>
          <p:cNvSpPr/>
          <p:nvPr/>
        </p:nvSpPr>
        <p:spPr>
          <a:xfrm>
            <a:off x="8026928" y="3850000"/>
            <a:ext cx="1250000" cy="460000"/>
          </a:xfrm>
          <a:prstGeom prst="roundRect">
            <a:avLst>
              <a:gd name="adj" fmla="val 30000"/>
            </a:avLst>
          </a:prstGeom>
          <a:solidFill>
            <a:srgbClr val="2E7D7D"/>
          </a:solidFill>
          <a:ln w="12700">
            <a:solidFill>
              <a:srgbClr val="2E7D7D"/>
            </a:solidFill>
            <a:prstDash val="solid"/>
          </a:ln>
        </p:spPr>
      </p:sp>
      <p:sp>
        <p:nvSpPr>
          <p:cNvPr id="34" name="Text"/>
          <p:cNvSpPr txBox="1"/>
          <p:nvPr/>
        </p:nvSpPr>
        <p:spPr>
          <a:xfrm>
            <a:off x="8066928" y="3850000"/>
            <a:ext cx="1170000" cy="46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reordenar</a:t>
            </a:r>
            <a:endParaRPr lang="en-US" sz="1100" dirty="0"/>
          </a:p>
        </p:txBody>
      </p:sp>
      <p:sp>
        <p:nvSpPr>
          <p:cNvPr id="35" name="Shape"/>
          <p:cNvSpPr/>
          <p:nvPr/>
        </p:nvSpPr>
        <p:spPr>
          <a:xfrm>
            <a:off x="2866928" y="4650000"/>
            <a:ext cx="2350000" cy="460000"/>
          </a:xfrm>
          <a:prstGeom prst="roundRect">
            <a:avLst>
              <a:gd name="adj" fmla="val 30000"/>
            </a:avLst>
          </a:prstGeom>
          <a:solidFill>
            <a:srgbClr val="F7E4D8"/>
          </a:solidFill>
          <a:ln w="12700">
            <a:solidFill>
              <a:srgbClr val="F7E4D8"/>
            </a:solidFill>
            <a:prstDash val="solid"/>
          </a:ln>
        </p:spPr>
      </p:sp>
      <p:sp>
        <p:nvSpPr>
          <p:cNvPr id="36" name="Text"/>
          <p:cNvSpPr txBox="1"/>
          <p:nvPr/>
        </p:nvSpPr>
        <p:spPr>
          <a:xfrm>
            <a:off x="2906928" y="4650000"/>
            <a:ext cx="2270000" cy="460000"/>
          </a:xfrm>
          <a:prstGeom prst="rect">
            <a:avLst/>
          </a:prstGeom>
          <a:noFill/>
          <a:ln/>
        </p:spPr>
        <p:txBody>
          <a:bodyPr wrap="square" lIns="0" tIns="0" rIns="0" bIns="0" rtlCol="0" anchor="ctr"/>
          <a:lstStyle/>
          <a:p>
            <a:pPr algn="ctr" indent="0" marL="0">
              <a:buNone/>
            </a:pPr>
            <a:r>
              <a:rPr lang="en-US" sz="1100" b="1" dirty="0">
                <a:solidFill>
                  <a:srgbClr val="16262E"/>
                </a:solidFill>
                <a:latin typeface="Arial" pitchFamily="34" charset="0"/>
                <a:ea typeface="Arial" pitchFamily="34" charset="-122"/>
                <a:cs typeface="Arial" pitchFamily="34" charset="-120"/>
              </a:rPr>
              <a:t>fragmentos + pregunta</a:t>
            </a:r>
            <a:endParaRPr lang="en-US" sz="1100" dirty="0"/>
          </a:p>
        </p:txBody>
      </p:sp>
      <p:sp>
        <p:nvSpPr>
          <p:cNvPr id="37" name="Shape"/>
          <p:cNvSpPr/>
          <p:nvPr/>
        </p:nvSpPr>
        <p:spPr>
          <a:xfrm>
            <a:off x="5276928" y="4770000"/>
            <a:ext cx="200000" cy="220000"/>
          </a:xfrm>
          <a:prstGeom prst="rightArrow">
            <a:avLst/>
          </a:prstGeom>
          <a:solidFill>
            <a:srgbClr val="2E7D7D"/>
          </a:solidFill>
          <a:ln w="12700">
            <a:solidFill>
              <a:srgbClr val="2E7D7D"/>
            </a:solidFill>
            <a:prstDash val="solid"/>
          </a:ln>
        </p:spPr>
      </p:sp>
      <p:sp>
        <p:nvSpPr>
          <p:cNvPr id="38" name="Shape"/>
          <p:cNvSpPr/>
          <p:nvPr/>
        </p:nvSpPr>
        <p:spPr>
          <a:xfrm>
            <a:off x="5536928" y="4650000"/>
            <a:ext cx="1100000" cy="460000"/>
          </a:xfrm>
          <a:prstGeom prst="roundRect">
            <a:avLst>
              <a:gd name="adj" fmla="val 30000"/>
            </a:avLst>
          </a:prstGeom>
          <a:solidFill>
            <a:srgbClr val="16262E"/>
          </a:solidFill>
          <a:ln w="12700">
            <a:solidFill>
              <a:srgbClr val="16262E"/>
            </a:solidFill>
            <a:prstDash val="solid"/>
          </a:ln>
        </p:spPr>
      </p:sp>
      <p:sp>
        <p:nvSpPr>
          <p:cNvPr id="39" name="Text"/>
          <p:cNvSpPr txBox="1"/>
          <p:nvPr/>
        </p:nvSpPr>
        <p:spPr>
          <a:xfrm>
            <a:off x="5576928" y="4650000"/>
            <a:ext cx="1020000" cy="46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modelo</a:t>
            </a:r>
            <a:endParaRPr lang="en-US" sz="1100" dirty="0"/>
          </a:p>
        </p:txBody>
      </p:sp>
      <p:sp>
        <p:nvSpPr>
          <p:cNvPr id="40" name="Shape"/>
          <p:cNvSpPr/>
          <p:nvPr/>
        </p:nvSpPr>
        <p:spPr>
          <a:xfrm>
            <a:off x="6696928" y="4770000"/>
            <a:ext cx="200000" cy="220000"/>
          </a:xfrm>
          <a:prstGeom prst="rightArrow">
            <a:avLst/>
          </a:prstGeom>
          <a:solidFill>
            <a:srgbClr val="2E7D7D"/>
          </a:solidFill>
          <a:ln w="12700">
            <a:solidFill>
              <a:srgbClr val="2E7D7D"/>
            </a:solidFill>
            <a:prstDash val="solid"/>
          </a:ln>
        </p:spPr>
      </p:sp>
      <p:sp>
        <p:nvSpPr>
          <p:cNvPr id="41" name="Shape"/>
          <p:cNvSpPr/>
          <p:nvPr/>
        </p:nvSpPr>
        <p:spPr>
          <a:xfrm>
            <a:off x="6956928" y="4650000"/>
            <a:ext cx="2100000" cy="460000"/>
          </a:xfrm>
          <a:prstGeom prst="roundRect">
            <a:avLst>
              <a:gd name="adj" fmla="val 30000"/>
            </a:avLst>
          </a:prstGeom>
          <a:solidFill>
            <a:srgbClr val="D7E7E7"/>
          </a:solidFill>
          <a:ln w="12700">
            <a:solidFill>
              <a:srgbClr val="D7E7E7"/>
            </a:solidFill>
            <a:prstDash val="solid"/>
          </a:ln>
        </p:spPr>
      </p:sp>
      <p:sp>
        <p:nvSpPr>
          <p:cNvPr id="42" name="Text"/>
          <p:cNvSpPr txBox="1"/>
          <p:nvPr/>
        </p:nvSpPr>
        <p:spPr>
          <a:xfrm>
            <a:off x="6996928" y="4650000"/>
            <a:ext cx="2020000" cy="460000"/>
          </a:xfrm>
          <a:prstGeom prst="rect">
            <a:avLst/>
          </a:prstGeom>
          <a:noFill/>
          <a:ln/>
        </p:spPr>
        <p:txBody>
          <a:bodyPr wrap="square" lIns="0" tIns="0" rIns="0" bIns="0" rtlCol="0" anchor="ctr"/>
          <a:lstStyle/>
          <a:p>
            <a:pPr algn="ctr" indent="0" marL="0">
              <a:buNone/>
            </a:pPr>
            <a:r>
              <a:rPr lang="en-US" sz="1100" b="1" dirty="0">
                <a:solidFill>
                  <a:srgbClr val="16262E"/>
                </a:solidFill>
                <a:latin typeface="Arial" pitchFamily="34" charset="0"/>
                <a:ea typeface="Arial" pitchFamily="34" charset="-122"/>
                <a:cs typeface="Arial" pitchFamily="34" charset="-120"/>
              </a:rPr>
              <a:t>respuesta con citas</a:t>
            </a:r>
            <a:endParaRPr lang="en-US" sz="1100" dirty="0"/>
          </a:p>
        </p:txBody>
      </p:sp>
      <p:sp>
        <p:nvSpPr>
          <p:cNvPr id="43" name="Shape"/>
          <p:cNvSpPr/>
          <p:nvPr/>
        </p:nvSpPr>
        <p:spPr>
          <a:xfrm>
            <a:off x="566928" y="5700000"/>
            <a:ext cx="11057839" cy="594360"/>
          </a:xfrm>
          <a:prstGeom prst="roundRect">
            <a:avLst>
              <a:gd name="adj" fmla="val 8235"/>
            </a:avLst>
          </a:prstGeom>
          <a:solidFill>
            <a:srgbClr val="F7E4D8"/>
          </a:solidFill>
          <a:ln w="12700">
            <a:solidFill>
              <a:srgbClr val="F7E4D8"/>
            </a:solidFill>
            <a:prstDash val="solid"/>
          </a:ln>
        </p:spPr>
      </p:sp>
      <p:sp>
        <p:nvSpPr>
          <p:cNvPr id="44" name="Text"/>
          <p:cNvSpPr txBox="1"/>
          <p:nvPr/>
        </p:nvSpPr>
        <p:spPr>
          <a:xfrm>
            <a:off x="804672" y="5700000"/>
            <a:ext cx="10582351" cy="59436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Al partir, cada fragmento pierde su contexto: «el programa amplió su cobertura», ¿cuál programa? Por eso hay técnicas que le devuelven contexto a cada fragmento antes de indexarlo, y por eso un RAG mal fragmentado no se arregla con un modelo mejor.</a:t>
            </a:r>
            <a:endParaRPr lang="en-US" sz="1300" dirty="0"/>
          </a:p>
        </p:txBody>
      </p:sp>
      <p:sp>
        <p:nvSpPr>
          <p:cNvPr id="45" name="Text"/>
          <p:cNvSpPr txBox="1"/>
          <p:nvPr/>
        </p:nvSpPr>
        <p:spPr>
          <a:xfrm>
            <a:off x="566928" y="636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Fuentes: Anthropic (2024), «Introducing Contextual Retrieval» · OpenAI, guía «Retrieval» de la API (fragmentos de 800 tokens con 400 de traslape, por omisión).</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Cost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Ventana larga o RAG: es una decisión de costos</a:t>
            </a:r>
            <a:endParaRPr lang="en-US" sz="3200" dirty="0"/>
          </a:p>
        </p:txBody>
      </p:sp>
      <p:sp>
        <p:nvSpPr>
          <p:cNvPr id="3" name="Shape"/>
          <p:cNvSpPr/>
          <p:nvPr/>
        </p:nvSpPr>
        <p:spPr>
          <a:xfrm>
            <a:off x="566928" y="1330000"/>
            <a:ext cx="1900000" cy="400000"/>
          </a:xfrm>
          <a:prstGeom prst="rect">
            <a:avLst/>
          </a:prstGeom>
          <a:solidFill>
            <a:srgbClr val="16262E"/>
          </a:solidFill>
          <a:ln w="9525">
            <a:solidFill>
              <a:srgbClr val="FFFFFF"/>
            </a:solidFill>
            <a:prstDash val="solid"/>
          </a:ln>
        </p:spPr>
      </p:sp>
      <p:sp>
        <p:nvSpPr>
          <p:cNvPr id="4" name="Text"/>
          <p:cNvSpPr txBox="1"/>
          <p:nvPr/>
        </p:nvSpPr>
        <p:spPr>
          <a:xfrm>
            <a:off x="686928" y="1330000"/>
            <a:ext cx="1660000" cy="40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
            </a:r>
            <a:endParaRPr lang="en-US" sz="1200" dirty="0"/>
          </a:p>
        </p:txBody>
      </p:sp>
      <p:sp>
        <p:nvSpPr>
          <p:cNvPr id="5" name="Shape"/>
          <p:cNvSpPr/>
          <p:nvPr/>
        </p:nvSpPr>
        <p:spPr>
          <a:xfrm>
            <a:off x="2466928" y="1330000"/>
            <a:ext cx="4578919" cy="400000"/>
          </a:xfrm>
          <a:prstGeom prst="rect">
            <a:avLst/>
          </a:prstGeom>
          <a:solidFill>
            <a:srgbClr val="16262E"/>
          </a:solidFill>
          <a:ln w="9525">
            <a:solidFill>
              <a:srgbClr val="FFFFFF"/>
            </a:solidFill>
            <a:prstDash val="solid"/>
          </a:ln>
        </p:spPr>
      </p:sp>
      <p:sp>
        <p:nvSpPr>
          <p:cNvPr id="6" name="Text"/>
          <p:cNvSpPr txBox="1"/>
          <p:nvPr/>
        </p:nvSpPr>
        <p:spPr>
          <a:xfrm>
            <a:off x="2586928" y="1330000"/>
            <a:ext cx="4338919" cy="40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Todo en la ventana de contexto</a:t>
            </a:r>
            <a:endParaRPr lang="en-US" sz="1200" dirty="0"/>
          </a:p>
        </p:txBody>
      </p:sp>
      <p:sp>
        <p:nvSpPr>
          <p:cNvPr id="7" name="Shape"/>
          <p:cNvSpPr/>
          <p:nvPr/>
        </p:nvSpPr>
        <p:spPr>
          <a:xfrm>
            <a:off x="7045847" y="1330000"/>
            <a:ext cx="4578920" cy="400000"/>
          </a:xfrm>
          <a:prstGeom prst="rect">
            <a:avLst/>
          </a:prstGeom>
          <a:solidFill>
            <a:srgbClr val="16262E"/>
          </a:solidFill>
          <a:ln w="9525">
            <a:solidFill>
              <a:srgbClr val="FFFFFF"/>
            </a:solidFill>
            <a:prstDash val="solid"/>
          </a:ln>
        </p:spPr>
      </p:sp>
      <p:sp>
        <p:nvSpPr>
          <p:cNvPr id="8" name="Text"/>
          <p:cNvSpPr txBox="1"/>
          <p:nvPr/>
        </p:nvSpPr>
        <p:spPr>
          <a:xfrm>
            <a:off x="7165847" y="1330000"/>
            <a:ext cx="4338920" cy="40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RAG</a:t>
            </a:r>
            <a:endParaRPr lang="en-US" sz="1200" dirty="0"/>
          </a:p>
        </p:txBody>
      </p:sp>
      <p:sp>
        <p:nvSpPr>
          <p:cNvPr id="9" name="Shape"/>
          <p:cNvSpPr/>
          <p:nvPr/>
        </p:nvSpPr>
        <p:spPr>
          <a:xfrm>
            <a:off x="566928" y="1730000"/>
            <a:ext cx="1900000" cy="760000"/>
          </a:xfrm>
          <a:prstGeom prst="rect">
            <a:avLst/>
          </a:prstGeom>
          <a:solidFill>
            <a:srgbClr val="F2F5F6"/>
          </a:solidFill>
          <a:ln w="9525">
            <a:solidFill>
              <a:srgbClr val="D9E0E3"/>
            </a:solidFill>
            <a:prstDash val="solid"/>
          </a:ln>
        </p:spPr>
      </p:sp>
      <p:sp>
        <p:nvSpPr>
          <p:cNvPr id="10" name="Text"/>
          <p:cNvSpPr txBox="1"/>
          <p:nvPr/>
        </p:nvSpPr>
        <p:spPr>
          <a:xfrm>
            <a:off x="686928" y="1730000"/>
            <a:ext cx="1660000" cy="76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Costo fijo</a:t>
            </a:r>
            <a:endParaRPr lang="en-US" sz="1250" dirty="0"/>
          </a:p>
        </p:txBody>
      </p:sp>
      <p:sp>
        <p:nvSpPr>
          <p:cNvPr id="11" name="Shape"/>
          <p:cNvSpPr/>
          <p:nvPr/>
        </p:nvSpPr>
        <p:spPr>
          <a:xfrm>
            <a:off x="2466928" y="1730000"/>
            <a:ext cx="4578919" cy="760000"/>
          </a:xfrm>
          <a:prstGeom prst="rect">
            <a:avLst/>
          </a:prstGeom>
          <a:solidFill>
            <a:srgbClr val="F2F5F6"/>
          </a:solidFill>
          <a:ln w="9525">
            <a:solidFill>
              <a:srgbClr val="D9E0E3"/>
            </a:solidFill>
            <a:prstDash val="solid"/>
          </a:ln>
        </p:spPr>
      </p:sp>
      <p:sp>
        <p:nvSpPr>
          <p:cNvPr id="12" name="Text"/>
          <p:cNvSpPr txBox="1"/>
          <p:nvPr/>
        </p:nvSpPr>
        <p:spPr>
          <a:xfrm>
            <a:off x="2586928" y="1730000"/>
            <a:ext cx="4338919" cy="76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Ninguno: adjuntas y preguntas.</a:t>
            </a:r>
            <a:endParaRPr lang="en-US" sz="1250" dirty="0"/>
          </a:p>
        </p:txBody>
      </p:sp>
      <p:sp>
        <p:nvSpPr>
          <p:cNvPr id="13" name="Shape"/>
          <p:cNvSpPr/>
          <p:nvPr/>
        </p:nvSpPr>
        <p:spPr>
          <a:xfrm>
            <a:off x="7045847" y="1730000"/>
            <a:ext cx="4578920" cy="760000"/>
          </a:xfrm>
          <a:prstGeom prst="rect">
            <a:avLst/>
          </a:prstGeom>
          <a:solidFill>
            <a:srgbClr val="F2F5F6"/>
          </a:solidFill>
          <a:ln w="9525">
            <a:solidFill>
              <a:srgbClr val="D9E0E3"/>
            </a:solidFill>
            <a:prstDash val="solid"/>
          </a:ln>
        </p:spPr>
      </p:sp>
      <p:sp>
        <p:nvSpPr>
          <p:cNvPr id="14" name="Text"/>
          <p:cNvSpPr txBox="1"/>
          <p:nvPr/>
        </p:nvSpPr>
        <p:spPr>
          <a:xfrm>
            <a:off x="7165847" y="1730000"/>
            <a:ext cx="4338920" cy="76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Construir y mantener el índice: fragmentar, vectorizar, almacenar y actualizar.</a:t>
            </a:r>
            <a:endParaRPr lang="en-US" sz="1250" dirty="0"/>
          </a:p>
        </p:txBody>
      </p:sp>
      <p:sp>
        <p:nvSpPr>
          <p:cNvPr id="15" name="Shape"/>
          <p:cNvSpPr/>
          <p:nvPr/>
        </p:nvSpPr>
        <p:spPr>
          <a:xfrm>
            <a:off x="566928" y="2490000"/>
            <a:ext cx="1900000" cy="760000"/>
          </a:xfrm>
          <a:prstGeom prst="rect">
            <a:avLst/>
          </a:prstGeom>
          <a:solidFill>
            <a:srgbClr val="FFFFFF"/>
          </a:solidFill>
          <a:ln w="9525">
            <a:solidFill>
              <a:srgbClr val="D9E0E3"/>
            </a:solidFill>
            <a:prstDash val="solid"/>
          </a:ln>
        </p:spPr>
      </p:sp>
      <p:sp>
        <p:nvSpPr>
          <p:cNvPr id="16" name="Text"/>
          <p:cNvSpPr txBox="1"/>
          <p:nvPr/>
        </p:nvSpPr>
        <p:spPr>
          <a:xfrm>
            <a:off x="686928" y="2490000"/>
            <a:ext cx="1660000" cy="76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Costo por consulta</a:t>
            </a:r>
            <a:endParaRPr lang="en-US" sz="1250" dirty="0"/>
          </a:p>
        </p:txBody>
      </p:sp>
      <p:sp>
        <p:nvSpPr>
          <p:cNvPr id="17" name="Shape"/>
          <p:cNvSpPr/>
          <p:nvPr/>
        </p:nvSpPr>
        <p:spPr>
          <a:xfrm>
            <a:off x="2466928" y="2490000"/>
            <a:ext cx="4578919" cy="760000"/>
          </a:xfrm>
          <a:prstGeom prst="rect">
            <a:avLst/>
          </a:prstGeom>
          <a:solidFill>
            <a:srgbClr val="FFFFFF"/>
          </a:solidFill>
          <a:ln w="9525">
            <a:solidFill>
              <a:srgbClr val="D9E0E3"/>
            </a:solidFill>
            <a:prstDash val="solid"/>
          </a:ln>
        </p:spPr>
      </p:sp>
      <p:sp>
        <p:nvSpPr>
          <p:cNvPr id="18" name="Text"/>
          <p:cNvSpPr txBox="1"/>
          <p:nvPr/>
        </p:nvSpPr>
        <p:spPr>
          <a:xfrm>
            <a:off x="2586928" y="2490000"/>
            <a:ext cx="4338919" cy="76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Pagas todas las páginas en cada pregunta.</a:t>
            </a:r>
            <a:endParaRPr lang="en-US" sz="1250" dirty="0"/>
          </a:p>
        </p:txBody>
      </p:sp>
      <p:sp>
        <p:nvSpPr>
          <p:cNvPr id="19" name="Shape"/>
          <p:cNvSpPr/>
          <p:nvPr/>
        </p:nvSpPr>
        <p:spPr>
          <a:xfrm>
            <a:off x="7045847" y="2490000"/>
            <a:ext cx="4578920" cy="760000"/>
          </a:xfrm>
          <a:prstGeom prst="rect">
            <a:avLst/>
          </a:prstGeom>
          <a:solidFill>
            <a:srgbClr val="FFFFFF"/>
          </a:solidFill>
          <a:ln w="9525">
            <a:solidFill>
              <a:srgbClr val="D9E0E3"/>
            </a:solidFill>
            <a:prstDash val="solid"/>
          </a:ln>
        </p:spPr>
      </p:sp>
      <p:sp>
        <p:nvSpPr>
          <p:cNvPr id="20" name="Text"/>
          <p:cNvSpPr txBox="1"/>
          <p:nvPr/>
        </p:nvSpPr>
        <p:spPr>
          <a:xfrm>
            <a:off x="7165847" y="2490000"/>
            <a:ext cx="4338920" cy="76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Pagas solo los fragmentos recuperados, que son los mejor calificados, no necesariamente los correctos.</a:t>
            </a:r>
            <a:endParaRPr lang="en-US" sz="1250" dirty="0"/>
          </a:p>
        </p:txBody>
      </p:sp>
      <p:sp>
        <p:nvSpPr>
          <p:cNvPr id="21" name="Shape"/>
          <p:cNvSpPr/>
          <p:nvPr/>
        </p:nvSpPr>
        <p:spPr>
          <a:xfrm>
            <a:off x="566928" y="3250000"/>
            <a:ext cx="1900000" cy="760000"/>
          </a:xfrm>
          <a:prstGeom prst="rect">
            <a:avLst/>
          </a:prstGeom>
          <a:solidFill>
            <a:srgbClr val="F2F5F6"/>
          </a:solidFill>
          <a:ln w="9525">
            <a:solidFill>
              <a:srgbClr val="D9E0E3"/>
            </a:solidFill>
            <a:prstDash val="solid"/>
          </a:ln>
        </p:spPr>
      </p:sp>
      <p:sp>
        <p:nvSpPr>
          <p:cNvPr id="22" name="Text"/>
          <p:cNvSpPr txBox="1"/>
          <p:nvPr/>
        </p:nvSpPr>
        <p:spPr>
          <a:xfrm>
            <a:off x="686928" y="3250000"/>
            <a:ext cx="1660000" cy="76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Espera</a:t>
            </a:r>
            <a:endParaRPr lang="en-US" sz="1250" dirty="0"/>
          </a:p>
        </p:txBody>
      </p:sp>
      <p:sp>
        <p:nvSpPr>
          <p:cNvPr id="23" name="Shape"/>
          <p:cNvSpPr/>
          <p:nvPr/>
        </p:nvSpPr>
        <p:spPr>
          <a:xfrm>
            <a:off x="2466928" y="3250000"/>
            <a:ext cx="4578919" cy="760000"/>
          </a:xfrm>
          <a:prstGeom prst="rect">
            <a:avLst/>
          </a:prstGeom>
          <a:solidFill>
            <a:srgbClr val="F2F5F6"/>
          </a:solidFill>
          <a:ln w="9525">
            <a:solidFill>
              <a:srgbClr val="D9E0E3"/>
            </a:solidFill>
            <a:prstDash val="solid"/>
          </a:ln>
        </p:spPr>
      </p:sp>
      <p:sp>
        <p:nvSpPr>
          <p:cNvPr id="24" name="Text"/>
          <p:cNvSpPr txBox="1"/>
          <p:nvPr/>
        </p:nvSpPr>
        <p:spPr>
          <a:xfrm>
            <a:off x="2586928" y="3250000"/>
            <a:ext cx="4338919" cy="76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Crece con lo que cargas. Anthropic reportó 11.5 segundos para 100 mil tokens sin caché y 2.4 con caché.</a:t>
            </a:r>
            <a:endParaRPr lang="en-US" sz="1250" dirty="0"/>
          </a:p>
        </p:txBody>
      </p:sp>
      <p:sp>
        <p:nvSpPr>
          <p:cNvPr id="25" name="Shape"/>
          <p:cNvSpPr/>
          <p:nvPr/>
        </p:nvSpPr>
        <p:spPr>
          <a:xfrm>
            <a:off x="7045847" y="3250000"/>
            <a:ext cx="4578920" cy="760000"/>
          </a:xfrm>
          <a:prstGeom prst="rect">
            <a:avLst/>
          </a:prstGeom>
          <a:solidFill>
            <a:srgbClr val="F2F5F6"/>
          </a:solidFill>
          <a:ln w="9525">
            <a:solidFill>
              <a:srgbClr val="D9E0E3"/>
            </a:solidFill>
            <a:prstDash val="solid"/>
          </a:ln>
        </p:spPr>
      </p:sp>
      <p:sp>
        <p:nvSpPr>
          <p:cNvPr id="26" name="Text"/>
          <p:cNvSpPr txBox="1"/>
          <p:nvPr/>
        </p:nvSpPr>
        <p:spPr>
          <a:xfrm>
            <a:off x="7165847" y="3250000"/>
            <a:ext cx="4338920" cy="76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Casi no depende del tamaño del acervo, porque al modelo le llegan pocos miles de tokens.</a:t>
            </a:r>
            <a:endParaRPr lang="en-US" sz="1250" dirty="0"/>
          </a:p>
        </p:txBody>
      </p:sp>
      <p:sp>
        <p:nvSpPr>
          <p:cNvPr id="27" name="Shape"/>
          <p:cNvSpPr/>
          <p:nvPr/>
        </p:nvSpPr>
        <p:spPr>
          <a:xfrm>
            <a:off x="566928" y="4010000"/>
            <a:ext cx="1900000" cy="760000"/>
          </a:xfrm>
          <a:prstGeom prst="rect">
            <a:avLst/>
          </a:prstGeom>
          <a:solidFill>
            <a:srgbClr val="FFFFFF"/>
          </a:solidFill>
          <a:ln w="9525">
            <a:solidFill>
              <a:srgbClr val="D9E0E3"/>
            </a:solidFill>
            <a:prstDash val="solid"/>
          </a:ln>
        </p:spPr>
      </p:sp>
      <p:sp>
        <p:nvSpPr>
          <p:cNvPr id="28" name="Text"/>
          <p:cNvSpPr txBox="1"/>
          <p:nvPr/>
        </p:nvSpPr>
        <p:spPr>
          <a:xfrm>
            <a:off x="686928" y="4010000"/>
            <a:ext cx="1660000" cy="76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Escala</a:t>
            </a:r>
            <a:endParaRPr lang="en-US" sz="1250" dirty="0"/>
          </a:p>
        </p:txBody>
      </p:sp>
      <p:sp>
        <p:nvSpPr>
          <p:cNvPr id="29" name="Shape"/>
          <p:cNvSpPr/>
          <p:nvPr/>
        </p:nvSpPr>
        <p:spPr>
          <a:xfrm>
            <a:off x="2466928" y="4010000"/>
            <a:ext cx="4578919" cy="760000"/>
          </a:xfrm>
          <a:prstGeom prst="rect">
            <a:avLst/>
          </a:prstGeom>
          <a:solidFill>
            <a:srgbClr val="FFFFFF"/>
          </a:solidFill>
          <a:ln w="9525">
            <a:solidFill>
              <a:srgbClr val="D9E0E3"/>
            </a:solidFill>
            <a:prstDash val="solid"/>
          </a:ln>
        </p:spPr>
      </p:sp>
      <p:sp>
        <p:nvSpPr>
          <p:cNvPr id="30" name="Text"/>
          <p:cNvSpPr txBox="1"/>
          <p:nvPr/>
        </p:nvSpPr>
        <p:spPr>
          <a:xfrm>
            <a:off x="2586928" y="4010000"/>
            <a:ext cx="4338919" cy="76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Hasta el tope de la ventana: alrededor de un millón de tokens en los modelos principales.</a:t>
            </a:r>
            <a:endParaRPr lang="en-US" sz="1250" dirty="0"/>
          </a:p>
        </p:txBody>
      </p:sp>
      <p:sp>
        <p:nvSpPr>
          <p:cNvPr id="31" name="Shape"/>
          <p:cNvSpPr/>
          <p:nvPr/>
        </p:nvSpPr>
        <p:spPr>
          <a:xfrm>
            <a:off x="7045847" y="4010000"/>
            <a:ext cx="4578920" cy="760000"/>
          </a:xfrm>
          <a:prstGeom prst="rect">
            <a:avLst/>
          </a:prstGeom>
          <a:solidFill>
            <a:srgbClr val="FFFFFF"/>
          </a:solidFill>
          <a:ln w="9525">
            <a:solidFill>
              <a:srgbClr val="D9E0E3"/>
            </a:solidFill>
            <a:prstDash val="solid"/>
          </a:ln>
        </p:spPr>
      </p:sp>
      <p:sp>
        <p:nvSpPr>
          <p:cNvPr id="32" name="Text"/>
          <p:cNvSpPr txBox="1"/>
          <p:nvPr/>
        </p:nvSpPr>
        <p:spPr>
          <a:xfrm>
            <a:off x="7165847" y="4010000"/>
            <a:ext cx="4338920" cy="76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Acervos mucho mayores que cualquier ventana. Grande, no infinita: los índices también tienen topes.</a:t>
            </a:r>
            <a:endParaRPr lang="en-US" sz="1250" dirty="0"/>
          </a:p>
        </p:txBody>
      </p:sp>
      <p:sp>
        <p:nvSpPr>
          <p:cNvPr id="33" name="Shape"/>
          <p:cNvSpPr/>
          <p:nvPr/>
        </p:nvSpPr>
        <p:spPr>
          <a:xfrm>
            <a:off x="566928" y="4770000"/>
            <a:ext cx="1900000" cy="760000"/>
          </a:xfrm>
          <a:prstGeom prst="rect">
            <a:avLst/>
          </a:prstGeom>
          <a:solidFill>
            <a:srgbClr val="F2F5F6"/>
          </a:solidFill>
          <a:ln w="9525">
            <a:solidFill>
              <a:srgbClr val="D9E0E3"/>
            </a:solidFill>
            <a:prstDash val="solid"/>
          </a:ln>
        </p:spPr>
      </p:sp>
      <p:sp>
        <p:nvSpPr>
          <p:cNvPr id="34" name="Text"/>
          <p:cNvSpPr txBox="1"/>
          <p:nvPr/>
        </p:nvSpPr>
        <p:spPr>
          <a:xfrm>
            <a:off x="686928" y="4770000"/>
            <a:ext cx="1660000" cy="76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Cómo falla</a:t>
            </a:r>
            <a:endParaRPr lang="en-US" sz="1250" dirty="0"/>
          </a:p>
        </p:txBody>
      </p:sp>
      <p:sp>
        <p:nvSpPr>
          <p:cNvPr id="35" name="Shape"/>
          <p:cNvSpPr/>
          <p:nvPr/>
        </p:nvSpPr>
        <p:spPr>
          <a:xfrm>
            <a:off x="2466928" y="4770000"/>
            <a:ext cx="4578919" cy="760000"/>
          </a:xfrm>
          <a:prstGeom prst="rect">
            <a:avLst/>
          </a:prstGeom>
          <a:solidFill>
            <a:srgbClr val="F2F5F6"/>
          </a:solidFill>
          <a:ln w="9525">
            <a:solidFill>
              <a:srgbClr val="D9E0E3"/>
            </a:solidFill>
            <a:prstDash val="solid"/>
          </a:ln>
        </p:spPr>
      </p:sp>
      <p:sp>
        <p:nvSpPr>
          <p:cNvPr id="36" name="Text"/>
          <p:cNvSpPr txBox="1"/>
          <p:nvPr/>
        </p:nvSpPr>
        <p:spPr>
          <a:xfrm>
            <a:off x="2586928" y="4770000"/>
            <a:ext cx="4338919" cy="76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Entre más texto, peor aprovecha cada parte. La ventana útil es menor que la anunciada.</a:t>
            </a:r>
            <a:endParaRPr lang="en-US" sz="1250" dirty="0"/>
          </a:p>
        </p:txBody>
      </p:sp>
      <p:sp>
        <p:nvSpPr>
          <p:cNvPr id="37" name="Shape"/>
          <p:cNvSpPr/>
          <p:nvPr/>
        </p:nvSpPr>
        <p:spPr>
          <a:xfrm>
            <a:off x="7045847" y="4770000"/>
            <a:ext cx="4578920" cy="760000"/>
          </a:xfrm>
          <a:prstGeom prst="rect">
            <a:avLst/>
          </a:prstGeom>
          <a:solidFill>
            <a:srgbClr val="F2F5F6"/>
          </a:solidFill>
          <a:ln w="9525">
            <a:solidFill>
              <a:srgbClr val="D9E0E3"/>
            </a:solidFill>
            <a:prstDash val="solid"/>
          </a:ln>
        </p:spPr>
      </p:sp>
      <p:sp>
        <p:nvSpPr>
          <p:cNvPr id="38" name="Text"/>
          <p:cNvSpPr txBox="1"/>
          <p:nvPr/>
        </p:nvSpPr>
        <p:spPr>
          <a:xfrm>
            <a:off x="7165847" y="4770000"/>
            <a:ext cx="4338920" cy="76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Si el buscador no trae el fragmento correcto, el modelo responde sin él.</a:t>
            </a:r>
            <a:endParaRPr lang="en-US" sz="1250" dirty="0"/>
          </a:p>
        </p:txBody>
      </p:sp>
      <p:sp>
        <p:nvSpPr>
          <p:cNvPr id="39" name="Shape"/>
          <p:cNvSpPr/>
          <p:nvPr/>
        </p:nvSpPr>
        <p:spPr>
          <a:xfrm>
            <a:off x="566928" y="5640000"/>
            <a:ext cx="11057839" cy="640000"/>
          </a:xfrm>
          <a:prstGeom prst="roundRect">
            <a:avLst>
              <a:gd name="adj" fmla="val 8235"/>
            </a:avLst>
          </a:prstGeom>
          <a:solidFill>
            <a:srgbClr val="F7E4D8"/>
          </a:solidFill>
          <a:ln w="12700">
            <a:solidFill>
              <a:srgbClr val="F7E4D8"/>
            </a:solidFill>
            <a:prstDash val="solid"/>
          </a:ln>
        </p:spPr>
      </p:sp>
      <p:sp>
        <p:nvSpPr>
          <p:cNvPr id="40" name="Text"/>
          <p:cNvSpPr txBox="1"/>
          <p:nvPr/>
        </p:nvSpPr>
        <p:spPr>
          <a:xfrm>
            <a:off x="804672" y="5640000"/>
            <a:ext cx="10582351" cy="64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 caché de prompts acorta la brecha: releer el mismo acervo cuesta alrededor de la décima parte mientras la caché siga viva. No la elimina, y no ayuda si las consultas son esporádicas. Cifras de espera como «30 a 45 segundos contra 1 o 2» circulan sin fuente.</a:t>
            </a:r>
            <a:endParaRPr lang="en-US" sz="1300" dirty="0"/>
          </a:p>
        </p:txBody>
      </p:sp>
      <p:sp>
        <p:nvSpPr>
          <p:cNvPr id="41" name="Text"/>
          <p:cNvSpPr txBox="1"/>
          <p:nvPr/>
        </p:nvSpPr>
        <p:spPr>
          <a:xfrm>
            <a:off x="566928" y="638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Fuentes: Anthropic, «Prompt caching with Claude» · Li y otros (2024), arXiv:2407.16833 · Hsieh y otros (2024), RULER, arXiv:2404.06654.</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Cómo falla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Cada una falla a su manera, y ninguna avisa</a:t>
            </a:r>
            <a:endParaRPr lang="en-US" sz="3200" dirty="0"/>
          </a:p>
        </p:txBody>
      </p:sp>
      <p:sp>
        <p:nvSpPr>
          <p:cNvPr id="3" name="Shape"/>
          <p:cNvSpPr/>
          <p:nvPr/>
        </p:nvSpPr>
        <p:spPr>
          <a:xfrm>
            <a:off x="566928" y="1330000"/>
            <a:ext cx="5378919" cy="4150000"/>
          </a:xfrm>
          <a:prstGeom prst="roundRect">
            <a:avLst>
              <a:gd name="adj" fmla="val 2933"/>
            </a:avLst>
          </a:prstGeom>
          <a:solidFill>
            <a:srgbClr val="F2F5F6"/>
          </a:solidFill>
          <a:ln w="12700">
            <a:solidFill>
              <a:srgbClr val="F2F5F6"/>
            </a:solidFill>
            <a:prstDash val="solid"/>
          </a:ln>
        </p:spPr>
      </p:sp>
      <p:sp>
        <p:nvSpPr>
          <p:cNvPr id="4" name="Text"/>
          <p:cNvSpPr txBox="1"/>
          <p:nvPr/>
        </p:nvSpPr>
        <p:spPr>
          <a:xfrm>
            <a:off x="804672" y="1510000"/>
            <a:ext cx="4903431" cy="22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TODO EN LA VENTANA</a:t>
            </a:r>
            <a:endParaRPr lang="en-US" sz="1100" dirty="0"/>
          </a:p>
        </p:txBody>
      </p:sp>
      <p:sp>
        <p:nvSpPr>
          <p:cNvPr id="5" name="Text"/>
          <p:cNvSpPr txBox="1"/>
          <p:nvPr/>
        </p:nvSpPr>
        <p:spPr>
          <a:xfrm>
            <a:off x="804672" y="1800000"/>
            <a:ext cx="4903431" cy="3300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Se pierde lo que queda en medio</a:t>
            </a:r>
            <a:endParaRPr lang="en-US" sz="1600" dirty="0"/>
          </a:p>
        </p:txBody>
      </p:sp>
      <p:sp>
        <p:nvSpPr>
          <p:cNvPr id="6" name="Shape"/>
          <p:cNvSpPr/>
          <p:nvPr/>
        </p:nvSpPr>
        <p:spPr>
          <a:xfrm>
            <a:off x="1054672" y="2342500"/>
            <a:ext cx="480000" cy="1187500"/>
          </a:xfrm>
          <a:prstGeom prst="rect">
            <a:avLst/>
          </a:prstGeom>
          <a:solidFill>
            <a:srgbClr val="2E7D7D"/>
          </a:solidFill>
          <a:ln>
            <a:noFill/>
          </a:ln>
        </p:spPr>
      </p:sp>
      <p:sp>
        <p:nvSpPr>
          <p:cNvPr id="7" name="Shape"/>
          <p:cNvSpPr/>
          <p:nvPr/>
        </p:nvSpPr>
        <p:spPr>
          <a:xfrm>
            <a:off x="1644672" y="2655000"/>
            <a:ext cx="480000" cy="875000"/>
          </a:xfrm>
          <a:prstGeom prst="rect">
            <a:avLst/>
          </a:prstGeom>
          <a:solidFill>
            <a:srgbClr val="9DC5C5"/>
          </a:solidFill>
          <a:ln>
            <a:noFill/>
          </a:ln>
        </p:spPr>
      </p:sp>
      <p:sp>
        <p:nvSpPr>
          <p:cNvPr id="8" name="Shape"/>
          <p:cNvSpPr/>
          <p:nvPr/>
        </p:nvSpPr>
        <p:spPr>
          <a:xfrm>
            <a:off x="2234672" y="2880000"/>
            <a:ext cx="480000" cy="650000"/>
          </a:xfrm>
          <a:prstGeom prst="rect">
            <a:avLst/>
          </a:prstGeom>
          <a:solidFill>
            <a:srgbClr val="9DC5C5"/>
          </a:solidFill>
          <a:ln>
            <a:noFill/>
          </a:ln>
        </p:spPr>
      </p:sp>
      <p:sp>
        <p:nvSpPr>
          <p:cNvPr id="9" name="Shape"/>
          <p:cNvSpPr/>
          <p:nvPr/>
        </p:nvSpPr>
        <p:spPr>
          <a:xfrm>
            <a:off x="2824672" y="2967500"/>
            <a:ext cx="480000" cy="562500"/>
          </a:xfrm>
          <a:prstGeom prst="rect">
            <a:avLst/>
          </a:prstGeom>
          <a:solidFill>
            <a:srgbClr val="9DC5C5"/>
          </a:solidFill>
          <a:ln>
            <a:noFill/>
          </a:ln>
        </p:spPr>
      </p:sp>
      <p:sp>
        <p:nvSpPr>
          <p:cNvPr id="10" name="Shape"/>
          <p:cNvSpPr/>
          <p:nvPr/>
        </p:nvSpPr>
        <p:spPr>
          <a:xfrm>
            <a:off x="3414672" y="2880000"/>
            <a:ext cx="480000" cy="650000"/>
          </a:xfrm>
          <a:prstGeom prst="rect">
            <a:avLst/>
          </a:prstGeom>
          <a:solidFill>
            <a:srgbClr val="9DC5C5"/>
          </a:solidFill>
          <a:ln>
            <a:noFill/>
          </a:ln>
        </p:spPr>
      </p:sp>
      <p:sp>
        <p:nvSpPr>
          <p:cNvPr id="11" name="Shape"/>
          <p:cNvSpPr/>
          <p:nvPr/>
        </p:nvSpPr>
        <p:spPr>
          <a:xfrm>
            <a:off x="4004672" y="2680000"/>
            <a:ext cx="480000" cy="850000"/>
          </a:xfrm>
          <a:prstGeom prst="rect">
            <a:avLst/>
          </a:prstGeom>
          <a:solidFill>
            <a:srgbClr val="9DC5C5"/>
          </a:solidFill>
          <a:ln>
            <a:noFill/>
          </a:ln>
        </p:spPr>
      </p:sp>
      <p:sp>
        <p:nvSpPr>
          <p:cNvPr id="12" name="Shape"/>
          <p:cNvSpPr/>
          <p:nvPr/>
        </p:nvSpPr>
        <p:spPr>
          <a:xfrm>
            <a:off x="4594672" y="2430000"/>
            <a:ext cx="480000" cy="1100000"/>
          </a:xfrm>
          <a:prstGeom prst="rect">
            <a:avLst/>
          </a:prstGeom>
          <a:solidFill>
            <a:srgbClr val="2E7D7D"/>
          </a:solidFill>
          <a:ln>
            <a:noFill/>
          </a:ln>
        </p:spPr>
      </p:sp>
      <p:sp>
        <p:nvSpPr>
          <p:cNvPr id="13" name="Shape"/>
          <p:cNvSpPr/>
          <p:nvPr/>
        </p:nvSpPr>
        <p:spPr>
          <a:xfrm>
            <a:off x="954672" y="3530000"/>
            <a:ext cx="4350000" cy="12700"/>
          </a:xfrm>
          <a:prstGeom prst="rect">
            <a:avLst/>
          </a:prstGeom>
          <a:solidFill>
            <a:srgbClr val="16262E"/>
          </a:solidFill>
          <a:ln>
            <a:noFill/>
          </a:ln>
        </p:spPr>
      </p:sp>
      <p:sp>
        <p:nvSpPr>
          <p:cNvPr id="14" name="Text"/>
          <p:cNvSpPr txBox="1"/>
          <p:nvPr/>
        </p:nvSpPr>
        <p:spPr>
          <a:xfrm>
            <a:off x="954672" y="3590000"/>
            <a:ext cx="4350000" cy="220000"/>
          </a:xfrm>
          <a:prstGeom prst="rect">
            <a:avLst/>
          </a:prstGeom>
          <a:noFill/>
          <a:ln/>
        </p:spPr>
        <p:txBody>
          <a:bodyPr wrap="square" lIns="0" tIns="0" rIns="0" bIns="0" rtlCol="0" anchor="t"/>
          <a:lstStyle/>
          <a:p>
            <a:pPr algn="ctr" indent="0" marL="0">
              <a:buNone/>
            </a:pPr>
            <a:r>
              <a:rPr lang="en-US" sz="1050" dirty="0">
                <a:solidFill>
                  <a:srgbClr val="5A6B73"/>
                </a:solidFill>
                <a:latin typeface="Calibri" pitchFamily="34" charset="0"/>
                <a:ea typeface="Calibri" pitchFamily="34" charset="-122"/>
                <a:cs typeface="Calibri" pitchFamily="34" charset="-120"/>
              </a:rPr>
              <a:t>principio  ←  dónde quedó el dato dentro del contexto  →  final</a:t>
            </a:r>
            <a:endParaRPr lang="en-US" sz="1050" dirty="0"/>
          </a:p>
        </p:txBody>
      </p:sp>
      <p:sp>
        <p:nvSpPr>
          <p:cNvPr id="15" name="Text"/>
          <p:cNvSpPr txBox="1"/>
          <p:nvPr/>
        </p:nvSpPr>
        <p:spPr>
          <a:xfrm>
            <a:off x="954672" y="3830000"/>
            <a:ext cx="4350000" cy="220000"/>
          </a:xfrm>
          <a:prstGeom prst="rect">
            <a:avLst/>
          </a:prstGeom>
          <a:noFill/>
          <a:ln/>
        </p:spPr>
        <p:txBody>
          <a:bodyPr wrap="square" lIns="0" tIns="0" rIns="0" bIns="0" rtlCol="0" anchor="t"/>
          <a:lstStyle/>
          <a:p>
            <a:pPr algn="ctr" indent="0" marL="0">
              <a:buNone/>
            </a:pPr>
            <a:r>
              <a:rPr lang="en-US" sz="1000" i="1" dirty="0">
                <a:solidFill>
                  <a:srgbClr val="5A6B73"/>
                </a:solidFill>
                <a:latin typeface="Calibri" pitchFamily="34" charset="0"/>
                <a:ea typeface="Calibri" pitchFamily="34" charset="-122"/>
                <a:cs typeface="Calibri" pitchFamily="34" charset="-120"/>
              </a:rPr>
              <a:t>Esquema ilustrativo de la forma en U. No son los datos del artículo.</a:t>
            </a:r>
            <a:endParaRPr lang="en-US" sz="1000" dirty="0"/>
          </a:p>
        </p:txBody>
      </p:sp>
      <p:sp>
        <p:nvSpPr>
          <p:cNvPr id="16" name="Text"/>
          <p:cNvSpPr txBox="1"/>
          <p:nvPr/>
        </p:nvSpPr>
        <p:spPr>
          <a:xfrm>
            <a:off x="804672" y="4080000"/>
            <a:ext cx="4903431" cy="1350000"/>
          </a:xfrm>
          <a:prstGeom prst="rect">
            <a:avLst/>
          </a:prstGeom>
          <a:noFill/>
          <a:ln/>
        </p:spPr>
        <p:txBody>
          <a:bodyPr wrap="square" lIns="0" tIns="0" rIns="0" bIns="0" rtlCol="0" anchor="t"/>
          <a:lstStyle/>
          <a:p>
            <a:pPr indent="0" marL="0">
              <a:lnSpc>
                <a:spcPct val="106000"/>
              </a:lnSpc>
              <a:spcAft>
                <a:spcPts val="500"/>
              </a:spcAft>
              <a:buNone/>
            </a:pPr>
            <a:r>
              <a:rPr lang="en-US" sz="1250" dirty="0">
                <a:solidFill>
                  <a:srgbClr val="16262E"/>
                </a:solidFill>
                <a:latin typeface="Calibri" pitchFamily="34" charset="0"/>
                <a:ea typeface="Calibri" pitchFamily="34" charset="-122"/>
                <a:cs typeface="Calibri" pitchFamily="34" charset="-120"/>
              </a:rPr>
              <a:t>Liu y otros movieron de lugar el dato clave dentro del contexto. Al principio o al final, el modelo lo usaba; en medio, mucho menos.</a:t>
            </a:r>
            <a:endParaRPr lang="en-US" sz="1250" dirty="0"/>
          </a:p>
          <a:p>
            <a:pPr indent="0" marL="0">
              <a:lnSpc>
                <a:spcPct val="106000"/>
              </a:lnSpc>
              <a:spcAft>
                <a:spcPts val="500"/>
              </a:spcAft>
              <a:buNone/>
            </a:pPr>
            <a:r>
              <a:rPr lang="en-US" sz="1250" dirty="0">
                <a:solidFill>
                  <a:srgbClr val="16262E"/>
                </a:solidFill>
                <a:latin typeface="Calibri" pitchFamily="34" charset="0"/>
                <a:ea typeface="Calibri" pitchFamily="34" charset="-122"/>
                <a:cs typeface="Calibri" pitchFamily="34" charset="-120"/>
              </a:rPr>
              <a:t>Eran modelos de 2023. Los actuales lo mitigaron en búsquedas sencillas, pero su exactitud sigue cayendo conforme crece el contexto.</a:t>
            </a:r>
            <a:endParaRPr lang="en-US" sz="1250" dirty="0"/>
          </a:p>
        </p:txBody>
      </p:sp>
      <p:sp>
        <p:nvSpPr>
          <p:cNvPr id="17" name="Shape"/>
          <p:cNvSpPr/>
          <p:nvPr/>
        </p:nvSpPr>
        <p:spPr>
          <a:xfrm>
            <a:off x="6245847" y="1330000"/>
            <a:ext cx="5378919" cy="4150000"/>
          </a:xfrm>
          <a:prstGeom prst="roundRect">
            <a:avLst>
              <a:gd name="adj" fmla="val 2933"/>
            </a:avLst>
          </a:prstGeom>
          <a:solidFill>
            <a:srgbClr val="F2F5F6"/>
          </a:solidFill>
          <a:ln w="12700">
            <a:solidFill>
              <a:srgbClr val="F2F5F6"/>
            </a:solidFill>
            <a:prstDash val="solid"/>
          </a:ln>
        </p:spPr>
      </p:sp>
      <p:sp>
        <p:nvSpPr>
          <p:cNvPr id="18" name="Text"/>
          <p:cNvSpPr txBox="1"/>
          <p:nvPr/>
        </p:nvSpPr>
        <p:spPr>
          <a:xfrm>
            <a:off x="6483591" y="1510000"/>
            <a:ext cx="4903431" cy="22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RAG</a:t>
            </a:r>
            <a:endParaRPr lang="en-US" sz="1100" dirty="0"/>
          </a:p>
        </p:txBody>
      </p:sp>
      <p:sp>
        <p:nvSpPr>
          <p:cNvPr id="19" name="Text"/>
          <p:cNvSpPr txBox="1"/>
          <p:nvPr/>
        </p:nvSpPr>
        <p:spPr>
          <a:xfrm>
            <a:off x="6483591" y="1800000"/>
            <a:ext cx="4903431" cy="3300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El libro correcto se queda en el estante</a:t>
            </a:r>
            <a:endParaRPr lang="en-US" sz="1600" dirty="0"/>
          </a:p>
        </p:txBody>
      </p:sp>
      <p:sp>
        <p:nvSpPr>
          <p:cNvPr id="20" name="Shape"/>
          <p:cNvSpPr/>
          <p:nvPr/>
        </p:nvSpPr>
        <p:spPr>
          <a:xfrm>
            <a:off x="6583591" y="2280000"/>
            <a:ext cx="250000" cy="600000"/>
          </a:xfrm>
          <a:prstGeom prst="rect">
            <a:avLst/>
          </a:prstGeom>
          <a:solidFill>
            <a:srgbClr val="FFFFFF"/>
          </a:solidFill>
          <a:ln w="15875">
            <a:solidFill>
              <a:srgbClr val="16262E"/>
            </a:solidFill>
            <a:prstDash val="solid"/>
          </a:ln>
        </p:spPr>
      </p:sp>
      <p:sp>
        <p:nvSpPr>
          <p:cNvPr id="21" name="Shape"/>
          <p:cNvSpPr/>
          <p:nvPr/>
        </p:nvSpPr>
        <p:spPr>
          <a:xfrm>
            <a:off x="6913591" y="2280000"/>
            <a:ext cx="250000" cy="600000"/>
          </a:xfrm>
          <a:prstGeom prst="rect">
            <a:avLst/>
          </a:prstGeom>
          <a:solidFill>
            <a:srgbClr val="D7E7E7"/>
          </a:solidFill>
          <a:ln w="15875">
            <a:solidFill>
              <a:srgbClr val="2E7D7D"/>
            </a:solidFill>
            <a:prstDash val="solid"/>
          </a:ln>
        </p:spPr>
      </p:sp>
      <p:sp>
        <p:nvSpPr>
          <p:cNvPr id="22" name="Shape"/>
          <p:cNvSpPr/>
          <p:nvPr/>
        </p:nvSpPr>
        <p:spPr>
          <a:xfrm>
            <a:off x="7243591" y="2280000"/>
            <a:ext cx="250000" cy="600000"/>
          </a:xfrm>
          <a:prstGeom prst="rect">
            <a:avLst/>
          </a:prstGeom>
          <a:solidFill>
            <a:srgbClr val="FFFFFF"/>
          </a:solidFill>
          <a:ln w="15875">
            <a:solidFill>
              <a:srgbClr val="16262E"/>
            </a:solidFill>
            <a:prstDash val="solid"/>
          </a:ln>
        </p:spPr>
      </p:sp>
      <p:sp>
        <p:nvSpPr>
          <p:cNvPr id="23" name="Shape"/>
          <p:cNvSpPr/>
          <p:nvPr/>
        </p:nvSpPr>
        <p:spPr>
          <a:xfrm>
            <a:off x="7573591" y="2280000"/>
            <a:ext cx="250000" cy="600000"/>
          </a:xfrm>
          <a:prstGeom prst="rect">
            <a:avLst/>
          </a:prstGeom>
          <a:solidFill>
            <a:srgbClr val="FFFFFF"/>
          </a:solidFill>
          <a:ln w="15875">
            <a:solidFill>
              <a:srgbClr val="16262E"/>
            </a:solidFill>
            <a:prstDash val="solid"/>
          </a:ln>
        </p:spPr>
      </p:sp>
      <p:sp>
        <p:nvSpPr>
          <p:cNvPr id="24" name="Shape"/>
          <p:cNvSpPr/>
          <p:nvPr/>
        </p:nvSpPr>
        <p:spPr>
          <a:xfrm>
            <a:off x="7903591" y="2280000"/>
            <a:ext cx="250000" cy="600000"/>
          </a:xfrm>
          <a:prstGeom prst="rect">
            <a:avLst/>
          </a:prstGeom>
          <a:solidFill>
            <a:srgbClr val="D7E7E7"/>
          </a:solidFill>
          <a:ln w="15875">
            <a:solidFill>
              <a:srgbClr val="2E7D7D"/>
            </a:solidFill>
            <a:prstDash val="solid"/>
          </a:ln>
        </p:spPr>
      </p:sp>
      <p:sp>
        <p:nvSpPr>
          <p:cNvPr id="25" name="Shape"/>
          <p:cNvSpPr/>
          <p:nvPr/>
        </p:nvSpPr>
        <p:spPr>
          <a:xfrm>
            <a:off x="8233591" y="2280000"/>
            <a:ext cx="250000" cy="600000"/>
          </a:xfrm>
          <a:prstGeom prst="rect">
            <a:avLst/>
          </a:prstGeom>
          <a:solidFill>
            <a:srgbClr val="FFFFFF"/>
          </a:solidFill>
          <a:ln w="15875">
            <a:solidFill>
              <a:srgbClr val="16262E"/>
            </a:solidFill>
            <a:prstDash val="solid"/>
          </a:ln>
        </p:spPr>
      </p:sp>
      <p:sp>
        <p:nvSpPr>
          <p:cNvPr id="26" name="Shape"/>
          <p:cNvSpPr/>
          <p:nvPr/>
        </p:nvSpPr>
        <p:spPr>
          <a:xfrm>
            <a:off x="8563591" y="2280000"/>
            <a:ext cx="250000" cy="600000"/>
          </a:xfrm>
          <a:prstGeom prst="rect">
            <a:avLst/>
          </a:prstGeom>
          <a:solidFill>
            <a:srgbClr val="F7E4D8"/>
          </a:solidFill>
          <a:ln w="15875">
            <a:solidFill>
              <a:srgbClr val="C85A28"/>
            </a:solidFill>
            <a:prstDash val="solid"/>
          </a:ln>
        </p:spPr>
      </p:sp>
      <p:sp>
        <p:nvSpPr>
          <p:cNvPr id="27" name="Shape"/>
          <p:cNvSpPr/>
          <p:nvPr/>
        </p:nvSpPr>
        <p:spPr>
          <a:xfrm>
            <a:off x="8893591" y="2280000"/>
            <a:ext cx="250000" cy="600000"/>
          </a:xfrm>
          <a:prstGeom prst="rect">
            <a:avLst/>
          </a:prstGeom>
          <a:solidFill>
            <a:srgbClr val="FFFFFF"/>
          </a:solidFill>
          <a:ln w="15875">
            <a:solidFill>
              <a:srgbClr val="16262E"/>
            </a:solidFill>
            <a:prstDash val="solid"/>
          </a:ln>
        </p:spPr>
      </p:sp>
      <p:sp>
        <p:nvSpPr>
          <p:cNvPr id="28" name="Shape"/>
          <p:cNvSpPr/>
          <p:nvPr/>
        </p:nvSpPr>
        <p:spPr>
          <a:xfrm>
            <a:off x="9223591" y="2280000"/>
            <a:ext cx="250000" cy="600000"/>
          </a:xfrm>
          <a:prstGeom prst="rect">
            <a:avLst/>
          </a:prstGeom>
          <a:solidFill>
            <a:srgbClr val="D7E7E7"/>
          </a:solidFill>
          <a:ln w="15875">
            <a:solidFill>
              <a:srgbClr val="2E7D7D"/>
            </a:solidFill>
            <a:prstDash val="solid"/>
          </a:ln>
        </p:spPr>
      </p:sp>
      <p:sp>
        <p:nvSpPr>
          <p:cNvPr id="29" name="Shape"/>
          <p:cNvSpPr/>
          <p:nvPr/>
        </p:nvSpPr>
        <p:spPr>
          <a:xfrm>
            <a:off x="9553591" y="2280000"/>
            <a:ext cx="250000" cy="600000"/>
          </a:xfrm>
          <a:prstGeom prst="rect">
            <a:avLst/>
          </a:prstGeom>
          <a:solidFill>
            <a:srgbClr val="FFFFFF"/>
          </a:solidFill>
          <a:ln w="15875">
            <a:solidFill>
              <a:srgbClr val="16262E"/>
            </a:solidFill>
            <a:prstDash val="solid"/>
          </a:ln>
        </p:spPr>
      </p:sp>
      <p:sp>
        <p:nvSpPr>
          <p:cNvPr id="30" name="Shape"/>
          <p:cNvSpPr/>
          <p:nvPr/>
        </p:nvSpPr>
        <p:spPr>
          <a:xfrm>
            <a:off x="6533591" y="2880000"/>
            <a:ext cx="3400000" cy="25400"/>
          </a:xfrm>
          <a:prstGeom prst="rect">
            <a:avLst/>
          </a:prstGeom>
          <a:solidFill>
            <a:srgbClr val="16262E"/>
          </a:solidFill>
          <a:ln>
            <a:noFill/>
          </a:ln>
        </p:spPr>
      </p:sp>
      <p:sp>
        <p:nvSpPr>
          <p:cNvPr id="31" name="Text"/>
          <p:cNvSpPr txBox="1"/>
          <p:nvPr/>
        </p:nvSpPr>
        <p:spPr>
          <a:xfrm>
            <a:off x="6533591" y="2960000"/>
            <a:ext cx="3400000" cy="220000"/>
          </a:xfrm>
          <a:prstGeom prst="rect">
            <a:avLst/>
          </a:prstGeom>
          <a:noFill/>
          <a:ln/>
        </p:spPr>
        <p:txBody>
          <a:bodyPr wrap="square" lIns="0" tIns="0" rIns="0" bIns="0" rtlCol="0" anchor="t"/>
          <a:lstStyle/>
          <a:p>
            <a:pPr indent="0" marL="0">
              <a:buNone/>
            </a:pPr>
            <a:r>
              <a:rPr lang="en-US" sz="1050" dirty="0">
                <a:solidFill>
                  <a:srgbClr val="5A6B73"/>
                </a:solidFill>
                <a:latin typeface="Calibri" pitchFamily="34" charset="0"/>
                <a:ea typeface="Calibri" pitchFamily="34" charset="-122"/>
                <a:cs typeface="Calibri" pitchFamily="34" charset="-120"/>
              </a:rPr>
              <a:t>el acervo: en naranja, el fragmento que sí respondía</a:t>
            </a:r>
            <a:endParaRPr lang="en-US" sz="1050" dirty="0"/>
          </a:p>
        </p:txBody>
      </p:sp>
      <p:sp>
        <p:nvSpPr>
          <p:cNvPr id="32" name="Shape"/>
          <p:cNvSpPr/>
          <p:nvPr/>
        </p:nvSpPr>
        <p:spPr>
          <a:xfrm>
            <a:off x="7983591" y="3240000"/>
            <a:ext cx="240000" cy="260000"/>
          </a:xfrm>
          <a:prstGeom prst="downArrow">
            <a:avLst/>
          </a:prstGeom>
          <a:solidFill>
            <a:srgbClr val="2E7D7D"/>
          </a:solidFill>
          <a:ln w="12700">
            <a:solidFill>
              <a:srgbClr val="2E7D7D"/>
            </a:solidFill>
            <a:prstDash val="solid"/>
          </a:ln>
        </p:spPr>
      </p:sp>
      <p:sp>
        <p:nvSpPr>
          <p:cNvPr id="33" name="Shape"/>
          <p:cNvSpPr/>
          <p:nvPr/>
        </p:nvSpPr>
        <p:spPr>
          <a:xfrm>
            <a:off x="6583591" y="3590000"/>
            <a:ext cx="250000" cy="330000"/>
          </a:xfrm>
          <a:prstGeom prst="rect">
            <a:avLst/>
          </a:prstGeom>
          <a:solidFill>
            <a:srgbClr val="D7E7E7"/>
          </a:solidFill>
          <a:ln w="15875">
            <a:solidFill>
              <a:srgbClr val="2E7D7D"/>
            </a:solidFill>
            <a:prstDash val="solid"/>
          </a:ln>
        </p:spPr>
      </p:sp>
      <p:sp>
        <p:nvSpPr>
          <p:cNvPr id="34" name="Shape"/>
          <p:cNvSpPr/>
          <p:nvPr/>
        </p:nvSpPr>
        <p:spPr>
          <a:xfrm>
            <a:off x="6913591" y="3590000"/>
            <a:ext cx="250000" cy="330000"/>
          </a:xfrm>
          <a:prstGeom prst="rect">
            <a:avLst/>
          </a:prstGeom>
          <a:solidFill>
            <a:srgbClr val="D7E7E7"/>
          </a:solidFill>
          <a:ln w="15875">
            <a:solidFill>
              <a:srgbClr val="2E7D7D"/>
            </a:solidFill>
            <a:prstDash val="solid"/>
          </a:ln>
        </p:spPr>
      </p:sp>
      <p:sp>
        <p:nvSpPr>
          <p:cNvPr id="35" name="Shape"/>
          <p:cNvSpPr/>
          <p:nvPr/>
        </p:nvSpPr>
        <p:spPr>
          <a:xfrm>
            <a:off x="7243591" y="3590000"/>
            <a:ext cx="250000" cy="330000"/>
          </a:xfrm>
          <a:prstGeom prst="rect">
            <a:avLst/>
          </a:prstGeom>
          <a:solidFill>
            <a:srgbClr val="D7E7E7"/>
          </a:solidFill>
          <a:ln w="15875">
            <a:solidFill>
              <a:srgbClr val="2E7D7D"/>
            </a:solidFill>
            <a:prstDash val="solid"/>
          </a:ln>
        </p:spPr>
      </p:sp>
      <p:sp>
        <p:nvSpPr>
          <p:cNvPr id="36" name="Shape"/>
          <p:cNvSpPr/>
          <p:nvPr/>
        </p:nvSpPr>
        <p:spPr>
          <a:xfrm>
            <a:off x="7683591" y="3650000"/>
            <a:ext cx="230000" cy="220000"/>
          </a:xfrm>
          <a:prstGeom prst="rightArrow">
            <a:avLst/>
          </a:prstGeom>
          <a:solidFill>
            <a:srgbClr val="2E7D7D"/>
          </a:solidFill>
          <a:ln w="12700">
            <a:solidFill>
              <a:srgbClr val="2E7D7D"/>
            </a:solidFill>
            <a:prstDash val="solid"/>
          </a:ln>
        </p:spPr>
      </p:sp>
      <p:sp>
        <p:nvSpPr>
          <p:cNvPr id="37" name="Shape"/>
          <p:cNvSpPr/>
          <p:nvPr/>
        </p:nvSpPr>
        <p:spPr>
          <a:xfrm>
            <a:off x="8003591" y="3550000"/>
            <a:ext cx="1000000" cy="420000"/>
          </a:xfrm>
          <a:prstGeom prst="roundRect">
            <a:avLst>
              <a:gd name="adj" fmla="val 30000"/>
            </a:avLst>
          </a:prstGeom>
          <a:solidFill>
            <a:srgbClr val="16262E"/>
          </a:solidFill>
          <a:ln w="12700">
            <a:solidFill>
              <a:srgbClr val="16262E"/>
            </a:solidFill>
            <a:prstDash val="solid"/>
          </a:ln>
        </p:spPr>
      </p:sp>
      <p:sp>
        <p:nvSpPr>
          <p:cNvPr id="38" name="Text"/>
          <p:cNvSpPr txBox="1"/>
          <p:nvPr/>
        </p:nvSpPr>
        <p:spPr>
          <a:xfrm>
            <a:off x="8043591" y="3550000"/>
            <a:ext cx="920000" cy="42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modelo</a:t>
            </a:r>
            <a:endParaRPr lang="en-US" sz="1100" dirty="0"/>
          </a:p>
        </p:txBody>
      </p:sp>
      <p:sp>
        <p:nvSpPr>
          <p:cNvPr id="39" name="Shape"/>
          <p:cNvSpPr/>
          <p:nvPr/>
        </p:nvSpPr>
        <p:spPr>
          <a:xfrm>
            <a:off x="9083591" y="3650000"/>
            <a:ext cx="230000" cy="220000"/>
          </a:xfrm>
          <a:prstGeom prst="rightArrow">
            <a:avLst/>
          </a:prstGeom>
          <a:solidFill>
            <a:srgbClr val="2E7D7D"/>
          </a:solidFill>
          <a:ln w="12700">
            <a:solidFill>
              <a:srgbClr val="2E7D7D"/>
            </a:solidFill>
            <a:prstDash val="solid"/>
          </a:ln>
        </p:spPr>
      </p:sp>
      <p:sp>
        <p:nvSpPr>
          <p:cNvPr id="40" name="Shape"/>
          <p:cNvSpPr/>
          <p:nvPr/>
        </p:nvSpPr>
        <p:spPr>
          <a:xfrm>
            <a:off x="9403591" y="3550000"/>
            <a:ext cx="1750000" cy="420000"/>
          </a:xfrm>
          <a:prstGeom prst="roundRect">
            <a:avLst>
              <a:gd name="adj" fmla="val 30000"/>
            </a:avLst>
          </a:prstGeom>
          <a:solidFill>
            <a:srgbClr val="C85A28"/>
          </a:solidFill>
          <a:ln w="12700">
            <a:solidFill>
              <a:srgbClr val="C85A28"/>
            </a:solidFill>
            <a:prstDash val="solid"/>
          </a:ln>
        </p:spPr>
      </p:sp>
      <p:sp>
        <p:nvSpPr>
          <p:cNvPr id="41" name="Text"/>
          <p:cNvSpPr txBox="1"/>
          <p:nvPr/>
        </p:nvSpPr>
        <p:spPr>
          <a:xfrm>
            <a:off x="9443591" y="3550000"/>
            <a:ext cx="1670000" cy="42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responde sin el dato</a:t>
            </a:r>
            <a:endParaRPr lang="en-US" sz="1100" dirty="0"/>
          </a:p>
        </p:txBody>
      </p:sp>
      <p:sp>
        <p:nvSpPr>
          <p:cNvPr id="42" name="Text"/>
          <p:cNvSpPr txBox="1"/>
          <p:nvPr/>
        </p:nvSpPr>
        <p:spPr>
          <a:xfrm>
            <a:off x="6483591" y="4080000"/>
            <a:ext cx="4903431" cy="1350000"/>
          </a:xfrm>
          <a:prstGeom prst="rect">
            <a:avLst/>
          </a:prstGeom>
          <a:noFill/>
          <a:ln/>
        </p:spPr>
        <p:txBody>
          <a:bodyPr wrap="square" lIns="0" tIns="0" rIns="0" bIns="0" rtlCol="0" anchor="t"/>
          <a:lstStyle/>
          <a:p>
            <a:pPr indent="0" marL="0">
              <a:lnSpc>
                <a:spcPct val="106000"/>
              </a:lnSpc>
              <a:spcAft>
                <a:spcPts val="500"/>
              </a:spcAft>
              <a:buNone/>
            </a:pPr>
            <a:r>
              <a:rPr lang="en-US" sz="1250" dirty="0">
                <a:solidFill>
                  <a:srgbClr val="16262E"/>
                </a:solidFill>
                <a:latin typeface="Calibri" pitchFamily="34" charset="0"/>
                <a:ea typeface="Calibri" pitchFamily="34" charset="-122"/>
                <a:cs typeface="Calibri" pitchFamily="34" charset="-120"/>
              </a:rPr>
              <a:t>Si el fragmento que responde no queda entre los recuperados, el modelo contesta con lo que sí llegó.</a:t>
            </a:r>
            <a:endParaRPr lang="en-US" sz="1250" dirty="0"/>
          </a:p>
          <a:p>
            <a:pPr indent="0" marL="0">
              <a:lnSpc>
                <a:spcPct val="106000"/>
              </a:lnSpc>
              <a:spcAft>
                <a:spcPts val="500"/>
              </a:spcAft>
              <a:buNone/>
            </a:pPr>
            <a:r>
              <a:rPr lang="en-US" sz="1250" dirty="0">
                <a:solidFill>
                  <a:srgbClr val="16262E"/>
                </a:solidFill>
                <a:latin typeface="Calibri" pitchFamily="34" charset="0"/>
                <a:ea typeface="Calibri" pitchFamily="34" charset="-122"/>
                <a:cs typeface="Calibri" pitchFamily="34" charset="-120"/>
              </a:rPr>
              <a:t>Magesh y otros midieron herramientas jurídicas con RAG que se anunciaban sin alucinaciones: alucinaron entre 17% y 33% de las veces.</a:t>
            </a:r>
            <a:endParaRPr lang="en-US" sz="1250" dirty="0"/>
          </a:p>
        </p:txBody>
      </p:sp>
      <p:sp>
        <p:nvSpPr>
          <p:cNvPr id="43" name="Shape"/>
          <p:cNvSpPr/>
          <p:nvPr/>
        </p:nvSpPr>
        <p:spPr>
          <a:xfrm>
            <a:off x="566928" y="5640000"/>
            <a:ext cx="11057839" cy="560000"/>
          </a:xfrm>
          <a:prstGeom prst="roundRect">
            <a:avLst>
              <a:gd name="adj" fmla="val 8235"/>
            </a:avLst>
          </a:prstGeom>
          <a:solidFill>
            <a:srgbClr val="F7E4D8"/>
          </a:solidFill>
          <a:ln w="12700">
            <a:solidFill>
              <a:srgbClr val="F7E4D8"/>
            </a:solidFill>
            <a:prstDash val="solid"/>
          </a:ln>
        </p:spPr>
      </p:sp>
      <p:sp>
        <p:nvSpPr>
          <p:cNvPr id="44" name="Text"/>
          <p:cNvSpPr txBox="1"/>
          <p:nvPr/>
        </p:nvSpPr>
        <p:spPr>
          <a:xfrm>
            <a:off x="804672" y="5640000"/>
            <a:ext cx="10582351" cy="5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 defensa es el primer paso del protocolo del curso: trazar. Pide la cita, ve al párrafo y confirma que dice lo que el modelo dice que dice.</a:t>
            </a:r>
            <a:endParaRPr lang="en-US" sz="1300" dirty="0"/>
          </a:p>
        </p:txBody>
      </p:sp>
      <p:sp>
        <p:nvSpPr>
          <p:cNvPr id="45" name="Text"/>
          <p:cNvSpPr txBox="1"/>
          <p:nvPr/>
        </p:nvSpPr>
        <p:spPr>
          <a:xfrm>
            <a:off x="566928" y="633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Fuentes: Liu y otros (2024), TACL, arXiv:2307.03172 · Modarressi y otros (2025), NoLiMa, arXiv:2502.05167 · Magesh y otros (2024), arXiv:2405.20362.</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Dónde está el RAG">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Dónde está el RAG en lo que ya usas</a:t>
            </a:r>
            <a:endParaRPr lang="en-US" sz="3200" dirty="0"/>
          </a:p>
        </p:txBody>
      </p:sp>
      <p:sp>
        <p:nvSpPr>
          <p:cNvPr id="3" name="Shape"/>
          <p:cNvSpPr/>
          <p:nvPr/>
        </p:nvSpPr>
        <p:spPr>
          <a:xfrm>
            <a:off x="566928" y="1300000"/>
            <a:ext cx="2700000" cy="400000"/>
          </a:xfrm>
          <a:prstGeom prst="rect">
            <a:avLst/>
          </a:prstGeom>
          <a:solidFill>
            <a:srgbClr val="16262E"/>
          </a:solidFill>
          <a:ln w="9525">
            <a:solidFill>
              <a:srgbClr val="FFFFFF"/>
            </a:solidFill>
            <a:prstDash val="solid"/>
          </a:ln>
        </p:spPr>
      </p:sp>
      <p:sp>
        <p:nvSpPr>
          <p:cNvPr id="4" name="Text"/>
          <p:cNvSpPr txBox="1"/>
          <p:nvPr/>
        </p:nvSpPr>
        <p:spPr>
          <a:xfrm>
            <a:off x="686928" y="1300000"/>
            <a:ext cx="2460000" cy="40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Herramienta</a:t>
            </a:r>
            <a:endParaRPr lang="en-US" sz="1200" dirty="0"/>
          </a:p>
        </p:txBody>
      </p:sp>
      <p:sp>
        <p:nvSpPr>
          <p:cNvPr id="5" name="Shape"/>
          <p:cNvSpPr/>
          <p:nvPr/>
        </p:nvSpPr>
        <p:spPr>
          <a:xfrm>
            <a:off x="3266928" y="1300000"/>
            <a:ext cx="4300000" cy="400000"/>
          </a:xfrm>
          <a:prstGeom prst="rect">
            <a:avLst/>
          </a:prstGeom>
          <a:solidFill>
            <a:srgbClr val="16262E"/>
          </a:solidFill>
          <a:ln w="9525">
            <a:solidFill>
              <a:srgbClr val="FFFFFF"/>
            </a:solidFill>
            <a:prstDash val="solid"/>
          </a:ln>
        </p:spPr>
      </p:sp>
      <p:sp>
        <p:nvSpPr>
          <p:cNvPr id="6" name="Text"/>
          <p:cNvSpPr txBox="1"/>
          <p:nvPr/>
        </p:nvSpPr>
        <p:spPr>
          <a:xfrm>
            <a:off x="3386928" y="1300000"/>
            <a:ext cx="4060000" cy="40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Qué camino usa</a:t>
            </a:r>
            <a:endParaRPr lang="en-US" sz="1200" dirty="0"/>
          </a:p>
        </p:txBody>
      </p:sp>
      <p:sp>
        <p:nvSpPr>
          <p:cNvPr id="7" name="Shape"/>
          <p:cNvSpPr/>
          <p:nvPr/>
        </p:nvSpPr>
        <p:spPr>
          <a:xfrm>
            <a:off x="7566928" y="1300000"/>
            <a:ext cx="4057839" cy="400000"/>
          </a:xfrm>
          <a:prstGeom prst="rect">
            <a:avLst/>
          </a:prstGeom>
          <a:solidFill>
            <a:srgbClr val="16262E"/>
          </a:solidFill>
          <a:ln w="9525">
            <a:solidFill>
              <a:srgbClr val="FFFFFF"/>
            </a:solidFill>
            <a:prstDash val="solid"/>
          </a:ln>
        </p:spPr>
      </p:sp>
      <p:sp>
        <p:nvSpPr>
          <p:cNvPr id="8" name="Text"/>
          <p:cNvSpPr txBox="1"/>
          <p:nvPr/>
        </p:nvSpPr>
        <p:spPr>
          <a:xfrm>
            <a:off x="7686928" y="1300000"/>
            <a:ext cx="3817839" cy="40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Qué significa para ti</a:t>
            </a:r>
            <a:endParaRPr lang="en-US" sz="1200" dirty="0"/>
          </a:p>
        </p:txBody>
      </p:sp>
      <p:sp>
        <p:nvSpPr>
          <p:cNvPr id="9" name="Shape"/>
          <p:cNvSpPr/>
          <p:nvPr/>
        </p:nvSpPr>
        <p:spPr>
          <a:xfrm>
            <a:off x="566928" y="1700000"/>
            <a:ext cx="2700000" cy="715000"/>
          </a:xfrm>
          <a:prstGeom prst="rect">
            <a:avLst/>
          </a:prstGeom>
          <a:solidFill>
            <a:srgbClr val="F2F5F6"/>
          </a:solidFill>
          <a:ln w="9525">
            <a:solidFill>
              <a:srgbClr val="D9E0E3"/>
            </a:solidFill>
            <a:prstDash val="solid"/>
          </a:ln>
        </p:spPr>
      </p:sp>
      <p:sp>
        <p:nvSpPr>
          <p:cNvPr id="10" name="Text"/>
          <p:cNvSpPr txBox="1"/>
          <p:nvPr/>
        </p:nvSpPr>
        <p:spPr>
          <a:xfrm>
            <a:off x="686928" y="1700000"/>
            <a:ext cx="2460000" cy="715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Copilot Chat del Instituto</a:t>
            </a:r>
            <a:endParaRPr lang="en-US" sz="1200" dirty="0"/>
          </a:p>
        </p:txBody>
      </p:sp>
      <p:sp>
        <p:nvSpPr>
          <p:cNvPr id="11" name="Shape"/>
          <p:cNvSpPr/>
          <p:nvPr/>
        </p:nvSpPr>
        <p:spPr>
          <a:xfrm>
            <a:off x="3266928" y="1700000"/>
            <a:ext cx="4300000" cy="715000"/>
          </a:xfrm>
          <a:prstGeom prst="rect">
            <a:avLst/>
          </a:prstGeom>
          <a:solidFill>
            <a:srgbClr val="F2F5F6"/>
          </a:solidFill>
          <a:ln w="9525">
            <a:solidFill>
              <a:srgbClr val="D9E0E3"/>
            </a:solidFill>
            <a:prstDash val="solid"/>
          </a:ln>
        </p:spPr>
      </p:sp>
      <p:sp>
        <p:nvSpPr>
          <p:cNvPr id="12" name="Text"/>
          <p:cNvSpPr txBox="1"/>
          <p:nvPr/>
        </p:nvSpPr>
        <p:spPr>
          <a:xfrm>
            <a:off x="3386928" y="1700000"/>
            <a:ext cx="4060000" cy="715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Escritorio, con acceso a tu OneDrive. Eliges tus archivos desde el chat, pero trabaja solo con los que tú agregas; para contestar no recorre los demás.</a:t>
            </a:r>
            <a:endParaRPr lang="en-US" sz="1200" dirty="0"/>
          </a:p>
        </p:txBody>
      </p:sp>
      <p:sp>
        <p:nvSpPr>
          <p:cNvPr id="13" name="Shape"/>
          <p:cNvSpPr/>
          <p:nvPr/>
        </p:nvSpPr>
        <p:spPr>
          <a:xfrm>
            <a:off x="7566928" y="1700000"/>
            <a:ext cx="4057839" cy="715000"/>
          </a:xfrm>
          <a:prstGeom prst="rect">
            <a:avLst/>
          </a:prstGeom>
          <a:solidFill>
            <a:srgbClr val="F2F5F6"/>
          </a:solidFill>
          <a:ln w="9525">
            <a:solidFill>
              <a:srgbClr val="D9E0E3"/>
            </a:solidFill>
            <a:prstDash val="solid"/>
          </a:ln>
        </p:spPr>
      </p:sp>
      <p:sp>
        <p:nvSpPr>
          <p:cNvPr id="14" name="Text"/>
          <p:cNvSpPr txBox="1"/>
          <p:nvPr/>
        </p:nvSpPr>
        <p:spPr>
          <a:xfrm>
            <a:off x="7686928" y="1700000"/>
            <a:ext cx="3817839" cy="715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El bibliotecario eres tú. Es lo único apto para información amarilla.</a:t>
            </a:r>
            <a:endParaRPr lang="en-US" sz="1200" dirty="0"/>
          </a:p>
        </p:txBody>
      </p:sp>
      <p:sp>
        <p:nvSpPr>
          <p:cNvPr id="15" name="Shape"/>
          <p:cNvSpPr/>
          <p:nvPr/>
        </p:nvSpPr>
        <p:spPr>
          <a:xfrm>
            <a:off x="566928" y="2415000"/>
            <a:ext cx="2700000" cy="715000"/>
          </a:xfrm>
          <a:prstGeom prst="rect">
            <a:avLst/>
          </a:prstGeom>
          <a:solidFill>
            <a:srgbClr val="FFFFFF"/>
          </a:solidFill>
          <a:ln w="9525">
            <a:solidFill>
              <a:srgbClr val="D9E0E3"/>
            </a:solidFill>
            <a:prstDash val="solid"/>
          </a:ln>
        </p:spPr>
      </p:sp>
      <p:sp>
        <p:nvSpPr>
          <p:cNvPr id="16" name="Text"/>
          <p:cNvSpPr txBox="1"/>
          <p:nvPr/>
        </p:nvSpPr>
        <p:spPr>
          <a:xfrm>
            <a:off x="686928" y="2415000"/>
            <a:ext cx="2460000" cy="715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Microsoft 365 Copilot, licencia de paga</a:t>
            </a:r>
            <a:endParaRPr lang="en-US" sz="1200" dirty="0"/>
          </a:p>
        </p:txBody>
      </p:sp>
      <p:sp>
        <p:nvSpPr>
          <p:cNvPr id="17" name="Shape"/>
          <p:cNvSpPr/>
          <p:nvPr/>
        </p:nvSpPr>
        <p:spPr>
          <a:xfrm>
            <a:off x="3266928" y="2415000"/>
            <a:ext cx="4300000" cy="715000"/>
          </a:xfrm>
          <a:prstGeom prst="rect">
            <a:avLst/>
          </a:prstGeom>
          <a:solidFill>
            <a:srgbClr val="FFFFFF"/>
          </a:solidFill>
          <a:ln w="9525">
            <a:solidFill>
              <a:srgbClr val="D9E0E3"/>
            </a:solidFill>
            <a:prstDash val="solid"/>
          </a:ln>
        </p:spPr>
      </p:sp>
      <p:sp>
        <p:nvSpPr>
          <p:cNvPr id="18" name="Text"/>
          <p:cNvSpPr txBox="1"/>
          <p:nvPr/>
        </p:nvSpPr>
        <p:spPr>
          <a:xfrm>
            <a:off x="3386928" y="2415000"/>
            <a:ext cx="4060000" cy="715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Biblioteca. Índice semántico sobre correo, OneDrive y SharePoint.</a:t>
            </a:r>
            <a:endParaRPr lang="en-US" sz="1200" dirty="0"/>
          </a:p>
        </p:txBody>
      </p:sp>
      <p:sp>
        <p:nvSpPr>
          <p:cNvPr id="19" name="Shape"/>
          <p:cNvSpPr/>
          <p:nvPr/>
        </p:nvSpPr>
        <p:spPr>
          <a:xfrm>
            <a:off x="7566928" y="2415000"/>
            <a:ext cx="4057839" cy="715000"/>
          </a:xfrm>
          <a:prstGeom prst="rect">
            <a:avLst/>
          </a:prstGeom>
          <a:solidFill>
            <a:srgbClr val="FFFFFF"/>
          </a:solidFill>
          <a:ln w="9525">
            <a:solidFill>
              <a:srgbClr val="D9E0E3"/>
            </a:solidFill>
            <a:prstDash val="solid"/>
          </a:ln>
        </p:spPr>
      </p:sp>
      <p:sp>
        <p:nvSpPr>
          <p:cNvPr id="20" name="Text"/>
          <p:cNvSpPr txBox="1"/>
          <p:nvPr/>
        </p:nvSpPr>
        <p:spPr>
          <a:xfrm>
            <a:off x="7686928" y="2415000"/>
            <a:ext cx="3817839" cy="715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Incluye a Copilot dentro de Word y Excel. Ojo: a Excel lo encuentra solo por palabras clave, no por significado.</a:t>
            </a:r>
            <a:endParaRPr lang="en-US" sz="1200" dirty="0"/>
          </a:p>
        </p:txBody>
      </p:sp>
      <p:sp>
        <p:nvSpPr>
          <p:cNvPr id="21" name="Shape"/>
          <p:cNvSpPr/>
          <p:nvPr/>
        </p:nvSpPr>
        <p:spPr>
          <a:xfrm>
            <a:off x="566928" y="3130000"/>
            <a:ext cx="2700000" cy="715000"/>
          </a:xfrm>
          <a:prstGeom prst="rect">
            <a:avLst/>
          </a:prstGeom>
          <a:solidFill>
            <a:srgbClr val="F2F5F6"/>
          </a:solidFill>
          <a:ln w="9525">
            <a:solidFill>
              <a:srgbClr val="D9E0E3"/>
            </a:solidFill>
            <a:prstDash val="solid"/>
          </a:ln>
        </p:spPr>
      </p:sp>
      <p:sp>
        <p:nvSpPr>
          <p:cNvPr id="22" name="Text"/>
          <p:cNvSpPr txBox="1"/>
          <p:nvPr/>
        </p:nvSpPr>
        <p:spPr>
          <a:xfrm>
            <a:off x="686928" y="3130000"/>
            <a:ext cx="2460000" cy="715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Perplexity y You.com</a:t>
            </a:r>
            <a:endParaRPr lang="en-US" sz="1200" dirty="0"/>
          </a:p>
        </p:txBody>
      </p:sp>
      <p:sp>
        <p:nvSpPr>
          <p:cNvPr id="23" name="Shape"/>
          <p:cNvSpPr/>
          <p:nvPr/>
        </p:nvSpPr>
        <p:spPr>
          <a:xfrm>
            <a:off x="3266928" y="3130000"/>
            <a:ext cx="4300000" cy="715000"/>
          </a:xfrm>
          <a:prstGeom prst="rect">
            <a:avLst/>
          </a:prstGeom>
          <a:solidFill>
            <a:srgbClr val="F2F5F6"/>
          </a:solidFill>
          <a:ln w="9525">
            <a:solidFill>
              <a:srgbClr val="D9E0E3"/>
            </a:solidFill>
            <a:prstDash val="solid"/>
          </a:ln>
        </p:spPr>
      </p:sp>
      <p:sp>
        <p:nvSpPr>
          <p:cNvPr id="24" name="Text"/>
          <p:cNvSpPr txBox="1"/>
          <p:nvPr/>
        </p:nvSpPr>
        <p:spPr>
          <a:xfrm>
            <a:off x="3386928" y="3130000"/>
            <a:ext cx="4060000" cy="715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RAG sobre la web: buscan, leen y citan.</a:t>
            </a:r>
            <a:endParaRPr lang="en-US" sz="1200" dirty="0"/>
          </a:p>
        </p:txBody>
      </p:sp>
      <p:sp>
        <p:nvSpPr>
          <p:cNvPr id="25" name="Shape"/>
          <p:cNvSpPr/>
          <p:nvPr/>
        </p:nvSpPr>
        <p:spPr>
          <a:xfrm>
            <a:off x="7566928" y="3130000"/>
            <a:ext cx="4057839" cy="715000"/>
          </a:xfrm>
          <a:prstGeom prst="rect">
            <a:avLst/>
          </a:prstGeom>
          <a:solidFill>
            <a:srgbClr val="F2F5F6"/>
          </a:solidFill>
          <a:ln w="9525">
            <a:solidFill>
              <a:srgbClr val="D9E0E3"/>
            </a:solidFill>
            <a:prstDash val="solid"/>
          </a:ln>
        </p:spPr>
      </p:sp>
      <p:sp>
        <p:nvSpPr>
          <p:cNvPr id="26" name="Text"/>
          <p:cNvSpPr txBox="1"/>
          <p:nvPr/>
        </p:nvSpPr>
        <p:spPr>
          <a:xfrm>
            <a:off x="7686928" y="3130000"/>
            <a:ext cx="3817839" cy="715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La cita se abre y se lee. Solo información verde.</a:t>
            </a:r>
            <a:endParaRPr lang="en-US" sz="1200" dirty="0"/>
          </a:p>
        </p:txBody>
      </p:sp>
      <p:sp>
        <p:nvSpPr>
          <p:cNvPr id="27" name="Shape"/>
          <p:cNvSpPr/>
          <p:nvPr/>
        </p:nvSpPr>
        <p:spPr>
          <a:xfrm>
            <a:off x="566928" y="3845000"/>
            <a:ext cx="2700000" cy="715000"/>
          </a:xfrm>
          <a:prstGeom prst="rect">
            <a:avLst/>
          </a:prstGeom>
          <a:solidFill>
            <a:srgbClr val="FFFFFF"/>
          </a:solidFill>
          <a:ln w="9525">
            <a:solidFill>
              <a:srgbClr val="D9E0E3"/>
            </a:solidFill>
            <a:prstDash val="solid"/>
          </a:ln>
        </p:spPr>
      </p:sp>
      <p:sp>
        <p:nvSpPr>
          <p:cNvPr id="28" name="Text"/>
          <p:cNvSpPr txBox="1"/>
          <p:nvPr/>
        </p:nvSpPr>
        <p:spPr>
          <a:xfrm>
            <a:off x="686928" y="3845000"/>
            <a:ext cx="2460000" cy="715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Elicit y Consensus</a:t>
            </a:r>
            <a:endParaRPr lang="en-US" sz="1200" dirty="0"/>
          </a:p>
        </p:txBody>
      </p:sp>
      <p:sp>
        <p:nvSpPr>
          <p:cNvPr id="29" name="Shape"/>
          <p:cNvSpPr/>
          <p:nvPr/>
        </p:nvSpPr>
        <p:spPr>
          <a:xfrm>
            <a:off x="3266928" y="3845000"/>
            <a:ext cx="4300000" cy="715000"/>
          </a:xfrm>
          <a:prstGeom prst="rect">
            <a:avLst/>
          </a:prstGeom>
          <a:solidFill>
            <a:srgbClr val="FFFFFF"/>
          </a:solidFill>
          <a:ln w="9525">
            <a:solidFill>
              <a:srgbClr val="D9E0E3"/>
            </a:solidFill>
            <a:prstDash val="solid"/>
          </a:ln>
        </p:spPr>
      </p:sp>
      <p:sp>
        <p:nvSpPr>
          <p:cNvPr id="30" name="Text"/>
          <p:cNvSpPr txBox="1"/>
          <p:nvPr/>
        </p:nvSpPr>
        <p:spPr>
          <a:xfrm>
            <a:off x="3386928" y="3845000"/>
            <a:ext cx="4060000" cy="715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RAG sobre literatura académica.</a:t>
            </a:r>
            <a:endParaRPr lang="en-US" sz="1200" dirty="0"/>
          </a:p>
        </p:txBody>
      </p:sp>
      <p:sp>
        <p:nvSpPr>
          <p:cNvPr id="31" name="Shape"/>
          <p:cNvSpPr/>
          <p:nvPr/>
        </p:nvSpPr>
        <p:spPr>
          <a:xfrm>
            <a:off x="7566928" y="3845000"/>
            <a:ext cx="4057839" cy="715000"/>
          </a:xfrm>
          <a:prstGeom prst="rect">
            <a:avLst/>
          </a:prstGeom>
          <a:solidFill>
            <a:srgbClr val="FFFFFF"/>
          </a:solidFill>
          <a:ln w="9525">
            <a:solidFill>
              <a:srgbClr val="D9E0E3"/>
            </a:solidFill>
            <a:prstDash val="solid"/>
          </a:ln>
        </p:spPr>
      </p:sp>
      <p:sp>
        <p:nvSpPr>
          <p:cNvPr id="32" name="Text"/>
          <p:cNvSpPr txBox="1"/>
          <p:nvPr/>
        </p:nvSpPr>
        <p:spPr>
          <a:xfrm>
            <a:off x="7686928" y="3845000"/>
            <a:ext cx="3817839" cy="715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Verifica que el artículo exista y diga lo que dicen que dice. Solo información verde.</a:t>
            </a:r>
            <a:endParaRPr lang="en-US" sz="1200" dirty="0"/>
          </a:p>
        </p:txBody>
      </p:sp>
      <p:sp>
        <p:nvSpPr>
          <p:cNvPr id="33" name="Shape"/>
          <p:cNvSpPr/>
          <p:nvPr/>
        </p:nvSpPr>
        <p:spPr>
          <a:xfrm>
            <a:off x="566928" y="4560000"/>
            <a:ext cx="2700000" cy="715000"/>
          </a:xfrm>
          <a:prstGeom prst="rect">
            <a:avLst/>
          </a:prstGeom>
          <a:solidFill>
            <a:srgbClr val="F2F5F6"/>
          </a:solidFill>
          <a:ln w="9525">
            <a:solidFill>
              <a:srgbClr val="D9E0E3"/>
            </a:solidFill>
            <a:prstDash val="solid"/>
          </a:ln>
        </p:spPr>
      </p:sp>
      <p:sp>
        <p:nvSpPr>
          <p:cNvPr id="34" name="Text"/>
          <p:cNvSpPr txBox="1"/>
          <p:nvPr/>
        </p:nvSpPr>
        <p:spPr>
          <a:xfrm>
            <a:off x="686928" y="4560000"/>
            <a:ext cx="2460000" cy="715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NotebookLM, hoy Gemini Notebook</a:t>
            </a:r>
            <a:endParaRPr lang="en-US" sz="1200" dirty="0"/>
          </a:p>
        </p:txBody>
      </p:sp>
      <p:sp>
        <p:nvSpPr>
          <p:cNvPr id="35" name="Shape"/>
          <p:cNvSpPr/>
          <p:nvPr/>
        </p:nvSpPr>
        <p:spPr>
          <a:xfrm>
            <a:off x="3266928" y="4560000"/>
            <a:ext cx="4300000" cy="715000"/>
          </a:xfrm>
          <a:prstGeom prst="rect">
            <a:avLst/>
          </a:prstGeom>
          <a:solidFill>
            <a:srgbClr val="F2F5F6"/>
          </a:solidFill>
          <a:ln w="9525">
            <a:solidFill>
              <a:srgbClr val="D9E0E3"/>
            </a:solidFill>
            <a:prstDash val="solid"/>
          </a:ln>
        </p:spPr>
      </p:sp>
      <p:sp>
        <p:nvSpPr>
          <p:cNvPr id="36" name="Text"/>
          <p:cNvSpPr txBox="1"/>
          <p:nvPr/>
        </p:nvSpPr>
        <p:spPr>
          <a:xfrm>
            <a:off x="3386928" y="4560000"/>
            <a:ext cx="4060000" cy="715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RAG sobre las fuentes que tú subes, con cita al pasaje.</a:t>
            </a:r>
            <a:endParaRPr lang="en-US" sz="1200" dirty="0"/>
          </a:p>
        </p:txBody>
      </p:sp>
      <p:sp>
        <p:nvSpPr>
          <p:cNvPr id="37" name="Shape"/>
          <p:cNvSpPr/>
          <p:nvPr/>
        </p:nvSpPr>
        <p:spPr>
          <a:xfrm>
            <a:off x="7566928" y="4560000"/>
            <a:ext cx="4057839" cy="715000"/>
          </a:xfrm>
          <a:prstGeom prst="rect">
            <a:avLst/>
          </a:prstGeom>
          <a:solidFill>
            <a:srgbClr val="F2F5F6"/>
          </a:solidFill>
          <a:ln w="9525">
            <a:solidFill>
              <a:srgbClr val="D9E0E3"/>
            </a:solidFill>
            <a:prstDash val="solid"/>
          </a:ln>
        </p:spPr>
      </p:sp>
      <p:sp>
        <p:nvSpPr>
          <p:cNvPr id="38" name="Text"/>
          <p:cNvSpPr txBox="1"/>
          <p:nvPr/>
        </p:nvSpPr>
        <p:spPr>
          <a:xfrm>
            <a:off x="7686928" y="4560000"/>
            <a:ext cx="3817839" cy="715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Bloqueada en la red del Instituto. Vale la pena solicitarla.</a:t>
            </a:r>
            <a:endParaRPr lang="en-US" sz="1200" dirty="0"/>
          </a:p>
        </p:txBody>
      </p:sp>
      <p:sp>
        <p:nvSpPr>
          <p:cNvPr id="39" name="Shape"/>
          <p:cNvSpPr/>
          <p:nvPr/>
        </p:nvSpPr>
        <p:spPr>
          <a:xfrm>
            <a:off x="566928" y="5275000"/>
            <a:ext cx="2700000" cy="715000"/>
          </a:xfrm>
          <a:prstGeom prst="rect">
            <a:avLst/>
          </a:prstGeom>
          <a:solidFill>
            <a:srgbClr val="FFFFFF"/>
          </a:solidFill>
          <a:ln w="9525">
            <a:solidFill>
              <a:srgbClr val="D9E0E3"/>
            </a:solidFill>
            <a:prstDash val="solid"/>
          </a:ln>
        </p:spPr>
      </p:sp>
      <p:sp>
        <p:nvSpPr>
          <p:cNvPr id="40" name="Text"/>
          <p:cNvSpPr txBox="1"/>
          <p:nvPr/>
        </p:nvSpPr>
        <p:spPr>
          <a:xfrm>
            <a:off x="686928" y="5275000"/>
            <a:ext cx="2460000" cy="715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ChatGPT, Claude y Gemini</a:t>
            </a:r>
            <a:endParaRPr lang="en-US" sz="1200" dirty="0"/>
          </a:p>
        </p:txBody>
      </p:sp>
      <p:sp>
        <p:nvSpPr>
          <p:cNvPr id="41" name="Shape"/>
          <p:cNvSpPr/>
          <p:nvPr/>
        </p:nvSpPr>
        <p:spPr>
          <a:xfrm>
            <a:off x="3266928" y="5275000"/>
            <a:ext cx="4300000" cy="715000"/>
          </a:xfrm>
          <a:prstGeom prst="rect">
            <a:avLst/>
          </a:prstGeom>
          <a:solidFill>
            <a:srgbClr val="FFFFFF"/>
          </a:solidFill>
          <a:ln w="9525">
            <a:solidFill>
              <a:srgbClr val="D9E0E3"/>
            </a:solidFill>
            <a:prstDash val="solid"/>
          </a:ln>
        </p:spPr>
      </p:sp>
      <p:sp>
        <p:nvSpPr>
          <p:cNvPr id="42" name="Text"/>
          <p:cNvSpPr txBox="1"/>
          <p:nvPr/>
        </p:nvSpPr>
        <p:spPr>
          <a:xfrm>
            <a:off x="3386928" y="5275000"/>
            <a:ext cx="4060000" cy="715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Mixto. Lo que cabe va al contexto; con archivos largos o proyectos grandes, recuperan fragmentos. También buscan en la web.</a:t>
            </a:r>
            <a:endParaRPr lang="en-US" sz="1200" dirty="0"/>
          </a:p>
        </p:txBody>
      </p:sp>
      <p:sp>
        <p:nvSpPr>
          <p:cNvPr id="43" name="Shape"/>
          <p:cNvSpPr/>
          <p:nvPr/>
        </p:nvSpPr>
        <p:spPr>
          <a:xfrm>
            <a:off x="7566928" y="5275000"/>
            <a:ext cx="4057839" cy="715000"/>
          </a:xfrm>
          <a:prstGeom prst="rect">
            <a:avLst/>
          </a:prstGeom>
          <a:solidFill>
            <a:srgbClr val="FFFFFF"/>
          </a:solidFill>
          <a:ln w="9525">
            <a:solidFill>
              <a:srgbClr val="D9E0E3"/>
            </a:solidFill>
            <a:prstDash val="solid"/>
          </a:ln>
        </p:spPr>
      </p:sp>
      <p:sp>
        <p:nvSpPr>
          <p:cNvPr id="44" name="Text"/>
          <p:cNvSpPr txBox="1"/>
          <p:nvPr/>
        </p:nvSpPr>
        <p:spPr>
          <a:xfrm>
            <a:off x="7686928" y="5275000"/>
            <a:ext cx="3817839" cy="715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No des por hecho que leyó todo. Solo información verde.</a:t>
            </a:r>
            <a:endParaRPr lang="en-US" sz="1200" dirty="0"/>
          </a:p>
        </p:txBody>
      </p:sp>
      <p:sp>
        <p:nvSpPr>
          <p:cNvPr id="45" name="Text"/>
          <p:cNvSpPr txBox="1"/>
          <p:nvPr/>
        </p:nvSpPr>
        <p:spPr>
          <a:xfrm>
            <a:off x="566928" y="613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Fuentes: Microsoft, «How Copilot Chat works with and without a Microsoft 365 Copilot license» · Microsoft Learn, «Semantic indexing for Microsoft Copilot» · Google (2026), «NotebookLM is now Gemini Notebook».</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Cuatro frase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Cuatro frases que vas a oír y que no se sostienen</a:t>
            </a:r>
            <a:endParaRPr lang="en-US" sz="3200" dirty="0"/>
          </a:p>
        </p:txBody>
      </p:sp>
      <p:sp>
        <p:nvSpPr>
          <p:cNvPr id="3" name="Text"/>
          <p:cNvSpPr txBox="1"/>
          <p:nvPr/>
        </p:nvSpPr>
        <p:spPr>
          <a:xfrm>
            <a:off x="566928" y="1230000"/>
            <a:ext cx="11057839" cy="42000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Salen de resúmenes bien ordenados, de los que produce cualquier asistente. Suenan correctas y no lo son.</a:t>
            </a:r>
            <a:endParaRPr lang="en-US" sz="1500" dirty="0"/>
          </a:p>
        </p:txBody>
      </p:sp>
      <p:sp>
        <p:nvSpPr>
          <p:cNvPr id="4" name="Shape"/>
          <p:cNvSpPr/>
          <p:nvPr/>
        </p:nvSpPr>
        <p:spPr>
          <a:xfrm>
            <a:off x="566928" y="1750000"/>
            <a:ext cx="5378919" cy="2080000"/>
          </a:xfrm>
          <a:prstGeom prst="roundRect">
            <a:avLst>
              <a:gd name="adj" fmla="val 2933"/>
            </a:avLst>
          </a:prstGeom>
          <a:solidFill>
            <a:srgbClr val="F2F5F6"/>
          </a:solidFill>
          <a:ln w="12700">
            <a:solidFill>
              <a:srgbClr val="F2F5F6"/>
            </a:solidFill>
            <a:prstDash val="solid"/>
          </a:ln>
        </p:spPr>
      </p:sp>
      <p:sp>
        <p:nvSpPr>
          <p:cNvPr id="5" name="Text"/>
          <p:cNvSpPr txBox="1"/>
          <p:nvPr/>
        </p:nvSpPr>
        <p:spPr>
          <a:xfrm>
            <a:off x="804672" y="1950000"/>
            <a:ext cx="4903431" cy="620000"/>
          </a:xfrm>
          <a:prstGeom prst="rect">
            <a:avLst/>
          </a:prstGeom>
          <a:noFill/>
          <a:ln/>
        </p:spPr>
        <p:txBody>
          <a:bodyPr wrap="square" lIns="0" tIns="0" rIns="0" bIns="0" rtlCol="0" anchor="t"/>
          <a:lstStyle/>
          <a:p>
            <a:pPr indent="0" marL="0">
              <a:lnSpc>
                <a:spcPct val="100000"/>
              </a:lnSpc>
              <a:buNone/>
            </a:pPr>
            <a:r>
              <a:rPr lang="en-US" sz="1500" b="1" dirty="0">
                <a:solidFill>
                  <a:srgbClr val="C85A28"/>
                </a:solidFill>
                <a:latin typeface="Arial" pitchFamily="34" charset="0"/>
                <a:ea typeface="Arial" pitchFamily="34" charset="-122"/>
                <a:cs typeface="Arial" pitchFamily="34" charset="-120"/>
              </a:rPr>
              <a:t>«Las ventanas de diez millones de tokens ya son comunes.»</a:t>
            </a:r>
            <a:endParaRPr lang="en-US" sz="1500" dirty="0"/>
          </a:p>
        </p:txBody>
      </p:sp>
      <p:sp>
        <p:nvSpPr>
          <p:cNvPr id="6" name="Text"/>
          <p:cNvSpPr txBox="1"/>
          <p:nvPr/>
        </p:nvSpPr>
        <p:spPr>
          <a:xfrm>
            <a:off x="804672" y="2650000"/>
            <a:ext cx="4903431" cy="108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Lo común en los modelos principales es alrededor de un millón. Diez millones solo los anunció Llama 4 Scout (Meta, 2025), y la ventana útil suele ser menor que la anunciada.</a:t>
            </a:r>
            <a:endParaRPr lang="en-US" sz="1250" dirty="0"/>
          </a:p>
        </p:txBody>
      </p:sp>
      <p:sp>
        <p:nvSpPr>
          <p:cNvPr id="7" name="Shape"/>
          <p:cNvSpPr/>
          <p:nvPr/>
        </p:nvSpPr>
        <p:spPr>
          <a:xfrm>
            <a:off x="6245847" y="1750000"/>
            <a:ext cx="5378919" cy="2080000"/>
          </a:xfrm>
          <a:prstGeom prst="roundRect">
            <a:avLst>
              <a:gd name="adj" fmla="val 2933"/>
            </a:avLst>
          </a:prstGeom>
          <a:solidFill>
            <a:srgbClr val="F2F5F6"/>
          </a:solidFill>
          <a:ln w="12700">
            <a:solidFill>
              <a:srgbClr val="F2F5F6"/>
            </a:solidFill>
            <a:prstDash val="solid"/>
          </a:ln>
        </p:spPr>
      </p:sp>
      <p:sp>
        <p:nvSpPr>
          <p:cNvPr id="8" name="Text"/>
          <p:cNvSpPr txBox="1"/>
          <p:nvPr/>
        </p:nvSpPr>
        <p:spPr>
          <a:xfrm>
            <a:off x="6483591" y="1950000"/>
            <a:ext cx="4903431" cy="620000"/>
          </a:xfrm>
          <a:prstGeom prst="rect">
            <a:avLst/>
          </a:prstGeom>
          <a:noFill/>
          <a:ln/>
        </p:spPr>
        <p:txBody>
          <a:bodyPr wrap="square" lIns="0" tIns="0" rIns="0" bIns="0" rtlCol="0" anchor="t"/>
          <a:lstStyle/>
          <a:p>
            <a:pPr indent="0" marL="0">
              <a:lnSpc>
                <a:spcPct val="100000"/>
              </a:lnSpc>
              <a:buNone/>
            </a:pPr>
            <a:r>
              <a:rPr lang="en-US" sz="1500" b="1" dirty="0">
                <a:solidFill>
                  <a:srgbClr val="C85A28"/>
                </a:solidFill>
                <a:latin typeface="Arial" pitchFamily="34" charset="0"/>
                <a:ea typeface="Arial" pitchFamily="34" charset="-122"/>
                <a:cs typeface="Arial" pitchFamily="34" charset="-120"/>
              </a:rPr>
              <a:t>«El RAG asegura la respuesta exacta.»</a:t>
            </a:r>
            <a:endParaRPr lang="en-US" sz="1500" dirty="0"/>
          </a:p>
        </p:txBody>
      </p:sp>
      <p:sp>
        <p:nvSpPr>
          <p:cNvPr id="9" name="Text"/>
          <p:cNvSpPr txBox="1"/>
          <p:nvPr/>
        </p:nvSpPr>
        <p:spPr>
          <a:xfrm>
            <a:off x="6483591" y="2650000"/>
            <a:ext cx="4903431" cy="108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Baja costo y ruido, pero la calidad queda limitada por el buscador. Si no recupera el fragmento correcto, el modelo responde sin él. Por eso la recuperación se mide; no se da por garantizada.</a:t>
            </a:r>
            <a:endParaRPr lang="en-US" sz="1250" dirty="0"/>
          </a:p>
        </p:txBody>
      </p:sp>
      <p:sp>
        <p:nvSpPr>
          <p:cNvPr id="10" name="Shape"/>
          <p:cNvSpPr/>
          <p:nvPr/>
        </p:nvSpPr>
        <p:spPr>
          <a:xfrm>
            <a:off x="566928" y="4000000"/>
            <a:ext cx="5378919" cy="2080000"/>
          </a:xfrm>
          <a:prstGeom prst="roundRect">
            <a:avLst>
              <a:gd name="adj" fmla="val 2933"/>
            </a:avLst>
          </a:prstGeom>
          <a:solidFill>
            <a:srgbClr val="F2F5F6"/>
          </a:solidFill>
          <a:ln w="12700">
            <a:solidFill>
              <a:srgbClr val="F2F5F6"/>
            </a:solidFill>
            <a:prstDash val="solid"/>
          </a:ln>
        </p:spPr>
      </p:sp>
      <p:sp>
        <p:nvSpPr>
          <p:cNvPr id="11" name="Text"/>
          <p:cNvSpPr txBox="1"/>
          <p:nvPr/>
        </p:nvSpPr>
        <p:spPr>
          <a:xfrm>
            <a:off x="804672" y="4200000"/>
            <a:ext cx="4903431" cy="620000"/>
          </a:xfrm>
          <a:prstGeom prst="rect">
            <a:avLst/>
          </a:prstGeom>
          <a:noFill/>
          <a:ln/>
        </p:spPr>
        <p:txBody>
          <a:bodyPr wrap="square" lIns="0" tIns="0" rIns="0" bIns="0" rtlCol="0" anchor="t"/>
          <a:lstStyle/>
          <a:p>
            <a:pPr indent="0" marL="0">
              <a:lnSpc>
                <a:spcPct val="100000"/>
              </a:lnSpc>
              <a:buNone/>
            </a:pPr>
            <a:r>
              <a:rPr lang="en-US" sz="1500" b="1" dirty="0">
                <a:solidFill>
                  <a:srgbClr val="C85A28"/>
                </a:solidFill>
                <a:latin typeface="Arial" pitchFamily="34" charset="0"/>
                <a:ea typeface="Arial" pitchFamily="34" charset="-122"/>
                <a:cs typeface="Arial" pitchFamily="34" charset="-120"/>
              </a:rPr>
              <a:t>«Cuando subes un archivo, el modelo lo lee completo.»</a:t>
            </a:r>
            <a:endParaRPr lang="en-US" sz="1500" dirty="0"/>
          </a:p>
        </p:txBody>
      </p:sp>
      <p:sp>
        <p:nvSpPr>
          <p:cNvPr id="12" name="Text"/>
          <p:cNvSpPr txBox="1"/>
          <p:nvPr/>
        </p:nvSpPr>
        <p:spPr>
          <a:xfrm>
            <a:off x="804672" y="4900000"/>
            <a:ext cx="4903431" cy="108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No siempre. ChatGPT manda los archivos largos a un índice y recupera fragmentos, y Microsoft recomienda partir los documentos muy largos. Pregunta por una sección intermedia para comprobarlo.</a:t>
            </a:r>
            <a:endParaRPr lang="en-US" sz="1250" dirty="0"/>
          </a:p>
        </p:txBody>
      </p:sp>
      <p:sp>
        <p:nvSpPr>
          <p:cNvPr id="13" name="Shape"/>
          <p:cNvSpPr/>
          <p:nvPr/>
        </p:nvSpPr>
        <p:spPr>
          <a:xfrm>
            <a:off x="6245847" y="4000000"/>
            <a:ext cx="5378919" cy="2080000"/>
          </a:xfrm>
          <a:prstGeom prst="roundRect">
            <a:avLst>
              <a:gd name="adj" fmla="val 2933"/>
            </a:avLst>
          </a:prstGeom>
          <a:solidFill>
            <a:srgbClr val="F2F5F6"/>
          </a:solidFill>
          <a:ln w="12700">
            <a:solidFill>
              <a:srgbClr val="F2F5F6"/>
            </a:solidFill>
            <a:prstDash val="solid"/>
          </a:ln>
        </p:spPr>
      </p:sp>
      <p:sp>
        <p:nvSpPr>
          <p:cNvPr id="14" name="Text"/>
          <p:cNvSpPr txBox="1"/>
          <p:nvPr/>
        </p:nvSpPr>
        <p:spPr>
          <a:xfrm>
            <a:off x="6483591" y="4200000"/>
            <a:ext cx="4903431" cy="620000"/>
          </a:xfrm>
          <a:prstGeom prst="rect">
            <a:avLst/>
          </a:prstGeom>
          <a:noFill/>
          <a:ln/>
        </p:spPr>
        <p:txBody>
          <a:bodyPr wrap="square" lIns="0" tIns="0" rIns="0" bIns="0" rtlCol="0" anchor="t"/>
          <a:lstStyle/>
          <a:p>
            <a:pPr indent="0" marL="0">
              <a:lnSpc>
                <a:spcPct val="100000"/>
              </a:lnSpc>
              <a:buNone/>
            </a:pPr>
            <a:r>
              <a:rPr lang="en-US" sz="1500" b="1" dirty="0">
                <a:solidFill>
                  <a:srgbClr val="C85A28"/>
                </a:solidFill>
                <a:latin typeface="Arial" pitchFamily="34" charset="0"/>
                <a:ea typeface="Arial" pitchFamily="34" charset="-122"/>
                <a:cs typeface="Arial" pitchFamily="34" charset="-120"/>
              </a:rPr>
              <a:t>«Las versiones gratuitas no hacen RAG, y todo se borra al cerrar.»</a:t>
            </a:r>
            <a:endParaRPr lang="en-US" sz="1500" dirty="0"/>
          </a:p>
        </p:txBody>
      </p:sp>
      <p:sp>
        <p:nvSpPr>
          <p:cNvPr id="15" name="Text"/>
          <p:cNvSpPr txBox="1"/>
          <p:nvPr/>
        </p:nvSpPr>
        <p:spPr>
          <a:xfrm>
            <a:off x="6483591" y="4900000"/>
            <a:ext cx="4903431" cy="108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ChatGPT, Claude y Gemini gratuitos buscan en la web y citan. Y nada se borra al cerrar el chat: conversaciones y archivos quedan en la cuenta. Por eso ahí va solo información verde.</a:t>
            </a:r>
            <a:endParaRPr lang="en-US" sz="1250" dirty="0"/>
          </a:p>
        </p:txBody>
      </p:sp>
      <p:sp>
        <p:nvSpPr>
          <p:cNvPr id="16" name="Text"/>
          <p:cNvSpPr txBox="1"/>
          <p:nvPr/>
        </p:nvSpPr>
        <p:spPr>
          <a:xfrm>
            <a:off x="566928" y="63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Fuentes: Meta AI (2025), «The Llama 4 herd» · Hsieh y otros (2024), RULER · OpenAI Help Center, «File Uploads FAQ» · Microsoft, «File formats supported by Microsoft Copilot».</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bg>
      <p:bgPr>
        <a:solidFill>
          <a:srgbClr val="D7E7E7"/>
        </a:solidFill>
      </p:bgPr>
    </p:bg>
    <p:spTree>
      <p:nvGrpSpPr>
        <p:cNvPr id="1" name=""/>
        <p:cNvGrpSpPr/>
        <p:nvPr/>
      </p:nvGrpSpPr>
      <p:grpSpPr>
        <a:xfrm>
          <a:off x="0" y="0"/>
          <a:ext cx="0" cy="0"/>
          <a:chOff x="0" y="0"/>
          <a:chExt cx="0" cy="0"/>
        </a:xfrm>
      </p:grpSpPr>
      <p:sp>
        <p:nvSpPr>
          <p:cNvPr id="2" name="Shape 0"/>
          <p:cNvSpPr/>
          <p:nvPr/>
        </p:nvSpPr>
        <p:spPr>
          <a:xfrm>
            <a:off x="566928" y="457200"/>
            <a:ext cx="2788920" cy="457200"/>
          </a:xfrm>
          <a:prstGeom prst="roundRect">
            <a:avLst>
              <a:gd name="adj" fmla="val 50000"/>
            </a:avLst>
          </a:prstGeom>
          <a:solidFill>
            <a:srgbClr val="2E7D7D"/>
          </a:solidFill>
          <a:ln w="12700">
            <a:solidFill>
              <a:srgbClr val="2E7D7D"/>
            </a:solidFill>
            <a:prstDash val="solid"/>
          </a:ln>
        </p:spPr>
      </p:sp>
      <p:sp>
        <p:nvSpPr>
          <p:cNvPr id="3" name="Text 1"/>
          <p:cNvSpPr txBox="1"/>
          <p:nvPr/>
        </p:nvSpPr>
        <p:spPr>
          <a:xfrm>
            <a:off x="566928" y="457200"/>
            <a:ext cx="278892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2"/>
          <p:cNvSpPr/>
          <p:nvPr/>
        </p:nvSpPr>
        <p:spPr>
          <a:xfrm>
            <a:off x="9704527" y="457200"/>
            <a:ext cx="1920240" cy="457200"/>
          </a:xfrm>
          <a:prstGeom prst="roundRect">
            <a:avLst>
              <a:gd name="adj" fmla="val 50000"/>
            </a:avLst>
          </a:prstGeom>
          <a:solidFill>
            <a:srgbClr val="C85A28"/>
          </a:solidFill>
          <a:ln w="12700">
            <a:solidFill>
              <a:srgbClr val="C85A28"/>
            </a:solidFill>
            <a:prstDash val="solid"/>
          </a:ln>
        </p:spPr>
      </p:sp>
      <p:sp>
        <p:nvSpPr>
          <p:cNvPr id="5" name="Text 3"/>
          <p:cNvSpPr txBox="1"/>
          <p:nvPr/>
        </p:nvSpPr>
        <p:spPr>
          <a:xfrm>
            <a:off x="9704527" y="457200"/>
            <a:ext cx="19202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 minutos</a:t>
            </a:r>
            <a:endParaRPr lang="en-US" sz="1300" dirty="0"/>
          </a:p>
        </p:txBody>
      </p:sp>
      <p:sp>
        <p:nvSpPr>
          <p:cNvPr id="6" name="Text 4"/>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Tu base documental y una pregunta real</a:t>
            </a:r>
            <a:endParaRPr lang="en-US" sz="2900" dirty="0"/>
          </a:p>
        </p:txBody>
      </p:sp>
      <p:sp>
        <p:nvSpPr>
          <p:cNvPr id="7" name="Shape 5"/>
          <p:cNvSpPr/>
          <p:nvPr/>
        </p:nvSpPr>
        <p:spPr>
          <a:xfrm>
            <a:off x="566928" y="1920240"/>
            <a:ext cx="11057839" cy="628650"/>
          </a:xfrm>
          <a:prstGeom prst="roundRect">
            <a:avLst>
              <a:gd name="adj" fmla="val 10182"/>
            </a:avLst>
          </a:prstGeom>
          <a:solidFill>
            <a:srgbClr val="FFFFFF"/>
          </a:solidFill>
          <a:ln w="12700">
            <a:solidFill>
              <a:srgbClr val="FFFFFF"/>
            </a:solidFill>
            <a:prstDash val="solid"/>
          </a:ln>
        </p:spPr>
      </p:sp>
      <p:sp>
        <p:nvSpPr>
          <p:cNvPr id="8" name="Shape 6"/>
          <p:cNvSpPr/>
          <p:nvPr/>
        </p:nvSpPr>
        <p:spPr>
          <a:xfrm>
            <a:off x="786384" y="2024253"/>
            <a:ext cx="420624" cy="420624"/>
          </a:xfrm>
          <a:prstGeom prst="ellipse">
            <a:avLst/>
          </a:prstGeom>
          <a:solidFill>
            <a:srgbClr val="2E7D7D"/>
          </a:solidFill>
          <a:ln w="12700">
            <a:solidFill>
              <a:srgbClr val="2E7D7D"/>
            </a:solidFill>
            <a:prstDash val="solid"/>
          </a:ln>
        </p:spPr>
      </p:sp>
      <p:sp>
        <p:nvSpPr>
          <p:cNvPr id="9" name="Text 7"/>
          <p:cNvSpPr txBox="1"/>
          <p:nvPr/>
        </p:nvSpPr>
        <p:spPr>
          <a:xfrm>
            <a:off x="786384" y="202425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408176" y="201168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Elige un asunto real de tu trabajo y arma su carpeta en OneDrive: una carpeta por asunto, no una por año. Información verde o amarilla; roja, nunca.</a:t>
            </a:r>
            <a:endParaRPr lang="en-US" sz="1450" dirty="0"/>
          </a:p>
        </p:txBody>
      </p:sp>
      <p:sp>
        <p:nvSpPr>
          <p:cNvPr id="11" name="Shape 9"/>
          <p:cNvSpPr/>
          <p:nvPr/>
        </p:nvSpPr>
        <p:spPr>
          <a:xfrm>
            <a:off x="566928" y="2731770"/>
            <a:ext cx="11057839" cy="628650"/>
          </a:xfrm>
          <a:prstGeom prst="roundRect">
            <a:avLst>
              <a:gd name="adj" fmla="val 10182"/>
            </a:avLst>
          </a:prstGeom>
          <a:solidFill>
            <a:srgbClr val="FFFFFF"/>
          </a:solidFill>
          <a:ln w="12700">
            <a:solidFill>
              <a:srgbClr val="FFFFFF"/>
            </a:solidFill>
            <a:prstDash val="solid"/>
          </a:ln>
        </p:spPr>
      </p:sp>
      <p:sp>
        <p:nvSpPr>
          <p:cNvPr id="12" name="Shape 10"/>
          <p:cNvSpPr/>
          <p:nvPr/>
        </p:nvSpPr>
        <p:spPr>
          <a:xfrm>
            <a:off x="786384" y="2835783"/>
            <a:ext cx="420624" cy="420624"/>
          </a:xfrm>
          <a:prstGeom prst="ellipse">
            <a:avLst/>
          </a:prstGeom>
          <a:solidFill>
            <a:srgbClr val="2E7D7D"/>
          </a:solidFill>
          <a:ln w="12700">
            <a:solidFill>
              <a:srgbClr val="2E7D7D"/>
            </a:solidFill>
            <a:prstDash val="solid"/>
          </a:ln>
        </p:spPr>
      </p:sp>
      <p:sp>
        <p:nvSpPr>
          <p:cNvPr id="13" name="Text 11"/>
          <p:cNvSpPr txBox="1"/>
          <p:nvPr/>
        </p:nvSpPr>
        <p:spPr>
          <a:xfrm>
            <a:off x="786384" y="283578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408176" y="282321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Renombra tres o cuatro archivos para que el nombre diga qué contiene. Ese nombre es tu índice: con él decides cuáles agregas al chat.</a:t>
            </a:r>
            <a:endParaRPr lang="en-US" sz="1450" dirty="0"/>
          </a:p>
        </p:txBody>
      </p:sp>
      <p:sp>
        <p:nvSpPr>
          <p:cNvPr id="15" name="Shape 13"/>
          <p:cNvSpPr/>
          <p:nvPr/>
        </p:nvSpPr>
        <p:spPr>
          <a:xfrm>
            <a:off x="566928" y="3543300"/>
            <a:ext cx="11057839" cy="628650"/>
          </a:xfrm>
          <a:prstGeom prst="roundRect">
            <a:avLst>
              <a:gd name="adj" fmla="val 10182"/>
            </a:avLst>
          </a:prstGeom>
          <a:solidFill>
            <a:srgbClr val="FFFFFF"/>
          </a:solidFill>
          <a:ln w="12700">
            <a:solidFill>
              <a:srgbClr val="FFFFFF"/>
            </a:solidFill>
            <a:prstDash val="solid"/>
          </a:ln>
        </p:spPr>
      </p:sp>
      <p:sp>
        <p:nvSpPr>
          <p:cNvPr id="16" name="Shape 14"/>
          <p:cNvSpPr/>
          <p:nvPr/>
        </p:nvSpPr>
        <p:spPr>
          <a:xfrm>
            <a:off x="786384" y="3647313"/>
            <a:ext cx="420624" cy="420624"/>
          </a:xfrm>
          <a:prstGeom prst="ellipse">
            <a:avLst/>
          </a:prstGeom>
          <a:solidFill>
            <a:srgbClr val="2E7D7D"/>
          </a:solidFill>
          <a:ln w="12700">
            <a:solidFill>
              <a:srgbClr val="2E7D7D"/>
            </a:solidFill>
            <a:prstDash val="solid"/>
          </a:ln>
        </p:spPr>
      </p:sp>
      <p:sp>
        <p:nvSpPr>
          <p:cNvPr id="17" name="Text 15"/>
          <p:cNvSpPr txBox="1"/>
          <p:nvPr/>
        </p:nvSpPr>
        <p:spPr>
          <a:xfrm>
            <a:off x="786384" y="364731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08176" y="363474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Haz una pregunta que de verdad necesites contestar, con las seis casillas. Agrega solo los archivos pertinentes y pide la cita del párrafo.</a:t>
            </a:r>
            <a:endParaRPr lang="en-US" sz="1450" dirty="0"/>
          </a:p>
        </p:txBody>
      </p:sp>
      <p:sp>
        <p:nvSpPr>
          <p:cNvPr id="19" name="Shape 17"/>
          <p:cNvSpPr/>
          <p:nvPr/>
        </p:nvSpPr>
        <p:spPr>
          <a:xfrm>
            <a:off x="566928" y="4354830"/>
            <a:ext cx="11057839" cy="628650"/>
          </a:xfrm>
          <a:prstGeom prst="roundRect">
            <a:avLst>
              <a:gd name="adj" fmla="val 10182"/>
            </a:avLst>
          </a:prstGeom>
          <a:solidFill>
            <a:srgbClr val="FFFFFF"/>
          </a:solidFill>
          <a:ln w="12700">
            <a:solidFill>
              <a:srgbClr val="FFFFFF"/>
            </a:solidFill>
            <a:prstDash val="solid"/>
          </a:ln>
        </p:spPr>
      </p:sp>
      <p:sp>
        <p:nvSpPr>
          <p:cNvPr id="20" name="Shape 18"/>
          <p:cNvSpPr/>
          <p:nvPr/>
        </p:nvSpPr>
        <p:spPr>
          <a:xfrm>
            <a:off x="786384" y="4458843"/>
            <a:ext cx="420624" cy="420624"/>
          </a:xfrm>
          <a:prstGeom prst="ellipse">
            <a:avLst/>
          </a:prstGeom>
          <a:solidFill>
            <a:srgbClr val="2E7D7D"/>
          </a:solidFill>
          <a:ln w="12700">
            <a:solidFill>
              <a:srgbClr val="2E7D7D"/>
            </a:solidFill>
            <a:prstDash val="solid"/>
          </a:ln>
        </p:spPr>
      </p:sp>
      <p:sp>
        <p:nvSpPr>
          <p:cNvPr id="21" name="Text 19"/>
          <p:cNvSpPr txBox="1"/>
          <p:nvPr/>
        </p:nvSpPr>
        <p:spPr>
          <a:xfrm>
            <a:off x="786384" y="445884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408176" y="444627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Traza una cita: abre el archivo, ve al párrafo y confirma que dice lo que Copilot dice que dice. Regístralo en tu bitácora de prompts.</a:t>
            </a:r>
            <a:endParaRPr lang="en-US" sz="1450" dirty="0"/>
          </a:p>
        </p:txBody>
      </p:sp>
      <p:sp>
        <p:nvSpPr>
          <p:cNvPr id="23" name="Shape 21"/>
          <p:cNvSpPr/>
          <p:nvPr/>
        </p:nvSpPr>
        <p:spPr>
          <a:xfrm>
            <a:off x="566928" y="5193792"/>
            <a:ext cx="11057839" cy="777240"/>
          </a:xfrm>
          <a:prstGeom prst="roundRect">
            <a:avLst>
              <a:gd name="adj" fmla="val 8235"/>
            </a:avLst>
          </a:prstGeom>
          <a:solidFill>
            <a:srgbClr val="16262E"/>
          </a:solidFill>
          <a:ln w="12700">
            <a:solidFill>
              <a:srgbClr val="16262E"/>
            </a:solidFill>
            <a:prstDash val="solid"/>
          </a:ln>
        </p:spPr>
      </p:sp>
      <p:sp>
        <p:nvSpPr>
          <p:cNvPr id="24" name="Text 22"/>
          <p:cNvSpPr txBox="1"/>
          <p:nvPr/>
        </p:nvSpPr>
        <p:spPr>
          <a:xfrm>
            <a:off x="841248" y="5193792"/>
            <a:ext cx="10509199"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Es lo único del curso apto para información amarilla, porque Copilot Chat con la cuenta del Instituto es la única herramienta con contrato. Si un documento es muy largo, pregunta por una sección intermedia para comprobar que lo leyó completo.</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Curso de Inteligencia Artificial Aplicada</dc:creator>
  <cp:lastModifiedBy>Curso de Inteligencia Artificial Aplicada</cp:lastModifiedBy>
  <cp:revision>1</cp:revision>
  <dcterms:created xsi:type="dcterms:W3CDTF">2026-09-14T00:37:05Z</dcterms:created>
  <dcterms:modified xsi:type="dcterms:W3CDTF">2026-09-14T00:37:05Z</dcterms:modified>
</cp:coreProperties>
</file>