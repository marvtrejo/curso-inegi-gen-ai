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o y esfuerzo: la misma 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y esfuerzo: la misma perilla, cuatro nombres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180000"/>
            <a:ext cx="1105783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modelo contesta y cuánto piensa: lo que ve una cuenta gratuita, y tu cuenta del Instituto en Copilot.</a:t>
            </a:r>
            <a:endParaRPr lang="en-US" sz="1450" dirty="0"/>
          </a:p>
        </p:txBody>
      </p:sp>
      <p:sp>
        <p:nvSpPr>
          <p:cNvPr id="4" name="Shape"/>
          <p:cNvSpPr/>
          <p:nvPr/>
        </p:nvSpPr>
        <p:spPr>
          <a:xfrm>
            <a:off x="566928" y="1620000"/>
            <a:ext cx="1697839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676928" y="1620000"/>
            <a:ext cx="1477839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</a:t>
            </a:r>
            <a:endParaRPr lang="en-US" sz="1250" dirty="0"/>
          </a:p>
        </p:txBody>
      </p:sp>
      <p:sp>
        <p:nvSpPr>
          <p:cNvPr id="6" name="Shape"/>
          <p:cNvSpPr/>
          <p:nvPr/>
        </p:nvSpPr>
        <p:spPr>
          <a:xfrm>
            <a:off x="2264767" y="1620000"/>
            <a:ext cx="234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2374767" y="1620000"/>
            <a:ext cx="212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gratuito</a:t>
            </a:r>
            <a:endParaRPr lang="en-US" sz="1250" dirty="0"/>
          </a:p>
        </p:txBody>
      </p:sp>
      <p:sp>
        <p:nvSpPr>
          <p:cNvPr id="8" name="Shape"/>
          <p:cNvSpPr/>
          <p:nvPr/>
        </p:nvSpPr>
        <p:spPr>
          <a:xfrm>
            <a:off x="4604767" y="1620000"/>
            <a:ext cx="234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4714767" y="1620000"/>
            <a:ext cx="212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gratuito</a:t>
            </a:r>
            <a:endParaRPr lang="en-US" sz="1250" dirty="0"/>
          </a:p>
        </p:txBody>
      </p:sp>
      <p:sp>
        <p:nvSpPr>
          <p:cNvPr id="10" name="Shape"/>
          <p:cNvSpPr/>
          <p:nvPr/>
        </p:nvSpPr>
        <p:spPr>
          <a:xfrm>
            <a:off x="6944767" y="1620000"/>
            <a:ext cx="234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7054767" y="1620000"/>
            <a:ext cx="212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Gemini, gratuito</a:t>
            </a:r>
            <a:endParaRPr lang="en-US" sz="1250" dirty="0"/>
          </a:p>
        </p:txBody>
      </p:sp>
      <p:sp>
        <p:nvSpPr>
          <p:cNvPr id="12" name="Shape"/>
          <p:cNvSpPr/>
          <p:nvPr/>
        </p:nvSpPr>
        <p:spPr>
          <a:xfrm>
            <a:off x="9284767" y="1620000"/>
            <a:ext cx="234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9394767" y="1620000"/>
            <a:ext cx="212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 del Instituto</a:t>
            </a:r>
            <a:endParaRPr lang="en-US" sz="1250" dirty="0"/>
          </a:p>
        </p:txBody>
      </p:sp>
      <p:sp>
        <p:nvSpPr>
          <p:cNvPr id="14" name="Shape"/>
          <p:cNvSpPr/>
          <p:nvPr/>
        </p:nvSpPr>
        <p:spPr>
          <a:xfrm>
            <a:off x="566928" y="2020000"/>
            <a:ext cx="1697839" cy="880000"/>
          </a:xfrm>
          <a:prstGeom prst="rect">
            <a:avLst/>
          </a:prstGeom>
          <a:solidFill>
            <a:srgbClr val="D7E7E7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676928" y="2080000"/>
            <a:ext cx="147783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125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 sin deliberar.</a:t>
            </a:r>
            <a:endParaRPr lang="en-US" sz="1050" dirty="0"/>
          </a:p>
        </p:txBody>
      </p:sp>
      <p:sp>
        <p:nvSpPr>
          <p:cNvPr id="16" name="Shape"/>
          <p:cNvSpPr/>
          <p:nvPr/>
        </p:nvSpPr>
        <p:spPr>
          <a:xfrm>
            <a:off x="2264767" y="2020000"/>
            <a:ext cx="2340000" cy="88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2374767" y="208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Instant, la respuesta por omisión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Luna. Texto sin tope; la entrada ronda las 12 páginas.</a:t>
            </a:r>
            <a:endParaRPr lang="en-US" sz="1000" dirty="0"/>
          </a:p>
        </p:txBody>
      </p:sp>
      <p:sp>
        <p:nvSpPr>
          <p:cNvPr id="18" name="Shape"/>
          <p:cNvSpPr/>
          <p:nvPr/>
        </p:nvSpPr>
        <p:spPr>
          <a:xfrm>
            <a:off x="4604767" y="2020000"/>
            <a:ext cx="2340000" cy="88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4714767" y="208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Haiku, o Sonnet 5 con Effort en Low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 es el predeterminado. Haiku no tiene selector de esfuerzo.</a:t>
            </a:r>
            <a:endParaRPr lang="en-US" sz="1000" dirty="0"/>
          </a:p>
        </p:txBody>
      </p:sp>
      <p:sp>
        <p:nvSpPr>
          <p:cNvPr id="20" name="Shape"/>
          <p:cNvSpPr/>
          <p:nvPr/>
        </p:nvSpPr>
        <p:spPr>
          <a:xfrm>
            <a:off x="6944767" y="2020000"/>
            <a:ext cx="2340000" cy="88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7054767" y="208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o Flash-Lite, con Standard thinking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3.6 Flash. Contexto de 32 mil tokens.</a:t>
            </a:r>
            <a:endParaRPr lang="en-US" sz="1000" dirty="0"/>
          </a:p>
        </p:txBody>
      </p:sp>
      <p:sp>
        <p:nvSpPr>
          <p:cNvPr id="22" name="Shape"/>
          <p:cNvSpPr/>
          <p:nvPr/>
        </p:nvSpPr>
        <p:spPr>
          <a:xfrm>
            <a:off x="9284767" y="2020000"/>
            <a:ext cx="2340000" cy="88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9394767" y="208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response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no dice qué modelo hay detrás.</a:t>
            </a:r>
            <a:endParaRPr lang="en-US" sz="1000" dirty="0"/>
          </a:p>
        </p:txBody>
      </p:sp>
      <p:sp>
        <p:nvSpPr>
          <p:cNvPr id="24" name="Shape"/>
          <p:cNvSpPr/>
          <p:nvPr/>
        </p:nvSpPr>
        <p:spPr>
          <a:xfrm>
            <a:off x="566928" y="2900000"/>
            <a:ext cx="1697839" cy="880000"/>
          </a:xfrm>
          <a:prstGeom prst="rect">
            <a:avLst/>
          </a:prstGeom>
          <a:solidFill>
            <a:srgbClr val="D7E7E7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676928" y="2960000"/>
            <a:ext cx="147783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 más</a:t>
            </a:r>
            <a:endParaRPr lang="en-US" sz="125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 antes de contestar. Tarda más y gasta cuota.</a:t>
            </a:r>
            <a:endParaRPr lang="en-US" sz="1050" dirty="0"/>
          </a:p>
        </p:txBody>
      </p:sp>
      <p:sp>
        <p:nvSpPr>
          <p:cNvPr id="26" name="Shape"/>
          <p:cNvSpPr/>
          <p:nvPr/>
        </p:nvSpPr>
        <p:spPr>
          <a:xfrm>
            <a:off x="2264767" y="2900000"/>
            <a:ext cx="2340000" cy="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2374767" y="296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GPT-5.6 Luna. Es el único nivel de razonamiento gratuito.</a:t>
            </a:r>
            <a:endParaRPr lang="en-US" sz="1000" dirty="0"/>
          </a:p>
        </p:txBody>
      </p:sp>
      <p:sp>
        <p:nvSpPr>
          <p:cNvPr id="28" name="Shape"/>
          <p:cNvSpPr/>
          <p:nvPr/>
        </p:nvSpPr>
        <p:spPr>
          <a:xfrm>
            <a:off x="4604767" y="2900000"/>
            <a:ext cx="2340000" cy="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4714767" y="296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5 con Thinking encendido y Effort en High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Agota antes el límite, que se renueva cada cinco horas.</a:t>
            </a:r>
            <a:endParaRPr lang="en-US" sz="1000" dirty="0"/>
          </a:p>
        </p:txBody>
      </p:sp>
      <p:sp>
        <p:nvSpPr>
          <p:cNvPr id="30" name="Shape"/>
          <p:cNvSpPr/>
          <p:nvPr/>
        </p:nvSpPr>
        <p:spPr>
          <a:xfrm>
            <a:off x="6944767" y="2900000"/>
            <a:ext cx="2340000" cy="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7054767" y="296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Pro, o Extended thinking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 con cupo variable. Extended no está confirmado en gratuito.</a:t>
            </a:r>
            <a:endParaRPr lang="en-US" sz="1000" dirty="0"/>
          </a:p>
        </p:txBody>
      </p:sp>
      <p:sp>
        <p:nvSpPr>
          <p:cNvPr id="32" name="Shape"/>
          <p:cNvSpPr/>
          <p:nvPr/>
        </p:nvSpPr>
        <p:spPr>
          <a:xfrm>
            <a:off x="9284767" y="2900000"/>
            <a:ext cx="2340000" cy="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3" name="Text"/>
          <p:cNvSpPr txBox="1"/>
          <p:nvPr/>
        </p:nvSpPr>
        <p:spPr>
          <a:xfrm>
            <a:off x="9394767" y="296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deeper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acceso estándar puede tardar o restringirse en horas pico.</a:t>
            </a:r>
            <a:endParaRPr lang="en-US" sz="1000" dirty="0"/>
          </a:p>
        </p:txBody>
      </p:sp>
      <p:sp>
        <p:nvSpPr>
          <p:cNvPr id="34" name="Shape"/>
          <p:cNvSpPr/>
          <p:nvPr/>
        </p:nvSpPr>
        <p:spPr>
          <a:xfrm>
            <a:off x="566928" y="3780000"/>
            <a:ext cx="1697839" cy="880000"/>
          </a:xfrm>
          <a:prstGeom prst="rect">
            <a:avLst/>
          </a:prstGeom>
          <a:solidFill>
            <a:srgbClr val="D7E7E7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5" name="Text"/>
          <p:cNvSpPr txBox="1"/>
          <p:nvPr/>
        </p:nvSpPr>
        <p:spPr>
          <a:xfrm>
            <a:off x="676928" y="3840000"/>
            <a:ext cx="147783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</a:t>
            </a:r>
            <a:endParaRPr lang="en-US" sz="125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paga. No hace falta para la tarea.</a:t>
            </a:r>
            <a:endParaRPr lang="en-US" sz="1050" dirty="0"/>
          </a:p>
        </p:txBody>
      </p:sp>
      <p:sp>
        <p:nvSpPr>
          <p:cNvPr id="36" name="Shape"/>
          <p:cNvSpPr/>
          <p:nvPr/>
        </p:nvSpPr>
        <p:spPr>
          <a:xfrm>
            <a:off x="2264767" y="3780000"/>
            <a:ext cx="2340000" cy="88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7" name="Text"/>
          <p:cNvSpPr txBox="1"/>
          <p:nvPr/>
        </p:nvSpPr>
        <p:spPr>
          <a:xfrm>
            <a:off x="2374767" y="384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Medium, High, Extra High y Pro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Sol desde Plus; Extra High y GPT-6 Pro, desde el plan Pro.</a:t>
            </a:r>
            <a:endParaRPr lang="en-US" sz="1000" dirty="0"/>
          </a:p>
        </p:txBody>
      </p:sp>
      <p:sp>
        <p:nvSpPr>
          <p:cNvPr id="38" name="Shape"/>
          <p:cNvSpPr/>
          <p:nvPr/>
        </p:nvSpPr>
        <p:spPr>
          <a:xfrm>
            <a:off x="4604767" y="3780000"/>
            <a:ext cx="2340000" cy="88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9" name="Text"/>
          <p:cNvSpPr txBox="1"/>
          <p:nvPr/>
        </p:nvSpPr>
        <p:spPr>
          <a:xfrm>
            <a:off x="4714767" y="384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5 y Fable 5.1, con Effort hasta Max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desde el plan Pro; Fable, con créditos o plan Max.</a:t>
            </a:r>
            <a:endParaRPr lang="en-US" sz="1000" dirty="0"/>
          </a:p>
        </p:txBody>
      </p:sp>
      <p:sp>
        <p:nvSpPr>
          <p:cNvPr id="40" name="Shape"/>
          <p:cNvSpPr/>
          <p:nvPr/>
        </p:nvSpPr>
        <p:spPr>
          <a:xfrm>
            <a:off x="6944767" y="3780000"/>
            <a:ext cx="2340000" cy="88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1" name="Text"/>
          <p:cNvSpPr txBox="1"/>
          <p:nvPr/>
        </p:nvSpPr>
        <p:spPr>
          <a:xfrm>
            <a:off x="7054767" y="384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Think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Google AI Ultra. Tarda minutos.</a:t>
            </a:r>
            <a:endParaRPr lang="en-US" sz="1000" dirty="0"/>
          </a:p>
        </p:txBody>
      </p:sp>
      <p:sp>
        <p:nvSpPr>
          <p:cNvPr id="42" name="Shape"/>
          <p:cNvSpPr/>
          <p:nvPr/>
        </p:nvSpPr>
        <p:spPr>
          <a:xfrm>
            <a:off x="9284767" y="3780000"/>
            <a:ext cx="2340000" cy="88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3" name="Text"/>
          <p:cNvSpPr txBox="1"/>
          <p:nvPr/>
        </p:nvSpPr>
        <p:spPr>
          <a:xfrm>
            <a:off x="9394767" y="384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mismas tres opciones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licencia de paga da acceso prioritario, no otro botón.</a:t>
            </a:r>
            <a:endParaRPr lang="en-US" sz="1000" dirty="0"/>
          </a:p>
        </p:txBody>
      </p:sp>
      <p:sp>
        <p:nvSpPr>
          <p:cNvPr id="44" name="Shape"/>
          <p:cNvSpPr/>
          <p:nvPr/>
        </p:nvSpPr>
        <p:spPr>
          <a:xfrm>
            <a:off x="566928" y="4660000"/>
            <a:ext cx="1697839" cy="880000"/>
          </a:xfrm>
          <a:prstGeom prst="rect">
            <a:avLst/>
          </a:prstGeom>
          <a:solidFill>
            <a:srgbClr val="D7E7E7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5" name="Text"/>
          <p:cNvSpPr txBox="1"/>
          <p:nvPr/>
        </p:nvSpPr>
        <p:spPr>
          <a:xfrm>
            <a:off x="676928" y="4720000"/>
            <a:ext cx="147783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125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decide por ti.</a:t>
            </a:r>
            <a:endParaRPr lang="en-US" sz="1050" dirty="0"/>
          </a:p>
        </p:txBody>
      </p:sp>
      <p:sp>
        <p:nvSpPr>
          <p:cNvPr id="46" name="Shape"/>
          <p:cNvSpPr/>
          <p:nvPr/>
        </p:nvSpPr>
        <p:spPr>
          <a:xfrm>
            <a:off x="2264767" y="4660000"/>
            <a:ext cx="2340000" cy="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7" name="Text"/>
          <p:cNvSpPr txBox="1"/>
          <p:nvPr/>
        </p:nvSpPr>
        <p:spPr>
          <a:xfrm>
            <a:off x="2374767" y="472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documentado en gratuito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planes de pago se retiró el 14 de septiembre.</a:t>
            </a:r>
            <a:endParaRPr lang="en-US" sz="1000" dirty="0"/>
          </a:p>
        </p:txBody>
      </p:sp>
      <p:sp>
        <p:nvSpPr>
          <p:cNvPr id="48" name="Shape"/>
          <p:cNvSpPr/>
          <p:nvPr/>
        </p:nvSpPr>
        <p:spPr>
          <a:xfrm>
            <a:off x="4604767" y="4660000"/>
            <a:ext cx="2340000" cy="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9" name="Text"/>
          <p:cNvSpPr txBox="1"/>
          <p:nvPr/>
        </p:nvSpPr>
        <p:spPr>
          <a:xfrm>
            <a:off x="4714767" y="472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eliges modelo, Effort y Thinking.</a:t>
            </a:r>
            <a:endParaRPr lang="en-US" sz="1000" dirty="0"/>
          </a:p>
        </p:txBody>
      </p:sp>
      <p:sp>
        <p:nvSpPr>
          <p:cNvPr id="50" name="Shape"/>
          <p:cNvSpPr/>
          <p:nvPr/>
        </p:nvSpPr>
        <p:spPr>
          <a:xfrm>
            <a:off x="6944767" y="4660000"/>
            <a:ext cx="2340000" cy="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51" name="Text"/>
          <p:cNvSpPr txBox="1"/>
          <p:nvPr/>
        </p:nvSpPr>
        <p:spPr>
          <a:xfrm>
            <a:off x="7054767" y="472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eliges modelo y Thinking level.</a:t>
            </a:r>
            <a:endParaRPr lang="en-US" sz="1000" dirty="0"/>
          </a:p>
        </p:txBody>
      </p:sp>
      <p:sp>
        <p:nvSpPr>
          <p:cNvPr id="52" name="Shape"/>
          <p:cNvSpPr/>
          <p:nvPr/>
        </p:nvSpPr>
        <p:spPr>
          <a:xfrm>
            <a:off x="9284767" y="4660000"/>
            <a:ext cx="2340000" cy="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53" name="Text"/>
          <p:cNvSpPr txBox="1"/>
          <p:nvPr/>
        </p:nvSpPr>
        <p:spPr>
          <a:xfrm>
            <a:off x="9394767" y="4720000"/>
            <a:ext cx="21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Auto, el modo por omisión</a:t>
            </a:r>
            <a:endParaRPr lang="en-US" sz="1100" dirty="0"/>
          </a:p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enrutador elige el modelo en cada mensaje.</a:t>
            </a:r>
            <a:endParaRPr lang="en-US" sz="1000" dirty="0"/>
          </a:p>
        </p:txBody>
      </p:sp>
      <p:sp>
        <p:nvSpPr>
          <p:cNvPr id="54" name="Shape"/>
          <p:cNvSpPr/>
          <p:nvPr/>
        </p:nvSpPr>
        <p:spPr>
          <a:xfrm>
            <a:off x="566928" y="5660000"/>
            <a:ext cx="11057839" cy="60000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55" name="Text"/>
          <p:cNvSpPr txBox="1"/>
          <p:nvPr/>
        </p:nvSpPr>
        <p:spPr>
          <a:xfrm>
            <a:off x="804672" y="5660000"/>
            <a:ext cx="10582351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tarea: clasifica los 118 registros en la posición rápida y deja «pensar más» para la pregunta que pide razonar. En Copilot fija Quick response, no Auto. Anota en la bitácora modelo, esfuerzo y fecha.</a:t>
            </a:r>
            <a:endParaRPr lang="en-US" sz="1300" dirty="0"/>
          </a:p>
        </p:txBody>
      </p:sp>
      <p:sp>
        <p:nvSpPr>
          <p:cNvPr id="56" name="Text"/>
          <p:cNvSpPr txBox="1"/>
          <p:nvPr/>
        </p:nvSpPr>
        <p:spPr>
          <a:xfrm>
            <a:off x="566928" y="635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centros de ayuda y notas de versión de OpenAI, Anthropic, Google y Microsoft, consultados el 21 de septiembre de 2026. Los nombres cambian cada pocos meses y nadie los vio con sesión iniciada: confirma en tu pantalla.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 misma perilla en la API, 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perilla en la API, para quien programa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180000"/>
            <a:ext cx="1105783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aplicación es un botón; en la API es un parámetro. Los valores que acepta y el valor por omisión dependen del modelo.</a:t>
            </a:r>
            <a:endParaRPr lang="en-US" sz="1450" dirty="0"/>
          </a:p>
        </p:txBody>
      </p:sp>
      <p:sp>
        <p:nvSpPr>
          <p:cNvPr id="4" name="Shape"/>
          <p:cNvSpPr/>
          <p:nvPr/>
        </p:nvSpPr>
        <p:spPr>
          <a:xfrm>
            <a:off x="566928" y="1640000"/>
            <a:ext cx="1697839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676928" y="1640000"/>
            <a:ext cx="1477839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</a:t>
            </a:r>
            <a:endParaRPr lang="en-US" sz="1250" dirty="0"/>
          </a:p>
        </p:txBody>
      </p:sp>
      <p:sp>
        <p:nvSpPr>
          <p:cNvPr id="6" name="Shape"/>
          <p:cNvSpPr/>
          <p:nvPr/>
        </p:nvSpPr>
        <p:spPr>
          <a:xfrm>
            <a:off x="2264767" y="1640000"/>
            <a:ext cx="312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2374767" y="1640000"/>
            <a:ext cx="2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</a:t>
            </a:r>
            <a:endParaRPr lang="en-US" sz="1250" dirty="0"/>
          </a:p>
        </p:txBody>
      </p:sp>
      <p:sp>
        <p:nvSpPr>
          <p:cNvPr id="8" name="Shape"/>
          <p:cNvSpPr/>
          <p:nvPr/>
        </p:nvSpPr>
        <p:spPr>
          <a:xfrm>
            <a:off x="5384767" y="1640000"/>
            <a:ext cx="312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5494767" y="1640000"/>
            <a:ext cx="2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</a:t>
            </a:r>
            <a:endParaRPr lang="en-US" sz="1250" dirty="0"/>
          </a:p>
        </p:txBody>
      </p:sp>
      <p:sp>
        <p:nvSpPr>
          <p:cNvPr id="10" name="Shape"/>
          <p:cNvSpPr/>
          <p:nvPr/>
        </p:nvSpPr>
        <p:spPr>
          <a:xfrm>
            <a:off x="8504767" y="1640000"/>
            <a:ext cx="312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8614767" y="1640000"/>
            <a:ext cx="2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omisión y límites</a:t>
            </a:r>
            <a:endParaRPr lang="en-US" sz="1250" dirty="0"/>
          </a:p>
        </p:txBody>
      </p:sp>
      <p:sp>
        <p:nvSpPr>
          <p:cNvPr id="12" name="Shape"/>
          <p:cNvSpPr/>
          <p:nvPr/>
        </p:nvSpPr>
        <p:spPr>
          <a:xfrm>
            <a:off x="566928" y="2040000"/>
            <a:ext cx="1697839" cy="820000"/>
          </a:xfrm>
          <a:prstGeom prst="rect">
            <a:avLst/>
          </a:prstGeom>
          <a:solidFill>
            <a:srgbClr val="D7E7E7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676928" y="2100000"/>
            <a:ext cx="1477839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50" dirty="0"/>
          </a:p>
        </p:txBody>
      </p:sp>
      <p:sp>
        <p:nvSpPr>
          <p:cNvPr id="14" name="Shape"/>
          <p:cNvSpPr/>
          <p:nvPr/>
        </p:nvSpPr>
        <p:spPr>
          <a:xfrm>
            <a:off x="2264767" y="2040000"/>
            <a:ext cx="3120000" cy="82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2374767" y="210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reasoning.effort en la Responses API; reasoning_effort en Chat Completions.</a:t>
            </a:r>
            <a:endParaRPr lang="en-US" sz="1150" dirty="0"/>
          </a:p>
        </p:txBody>
      </p:sp>
      <p:sp>
        <p:nvSpPr>
          <p:cNvPr id="16" name="Shape"/>
          <p:cNvSpPr/>
          <p:nvPr/>
        </p:nvSpPr>
        <p:spPr>
          <a:xfrm>
            <a:off x="5384767" y="2040000"/>
            <a:ext cx="3120000" cy="82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5494767" y="210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minimal, low, medium, high, xhigh y max, según el modelo.</a:t>
            </a:r>
            <a:endParaRPr lang="en-US" sz="1150" dirty="0"/>
          </a:p>
        </p:txBody>
      </p:sp>
      <p:sp>
        <p:nvSpPr>
          <p:cNvPr id="18" name="Shape"/>
          <p:cNvSpPr/>
          <p:nvPr/>
        </p:nvSpPr>
        <p:spPr>
          <a:xfrm>
            <a:off x="8504767" y="2040000"/>
            <a:ext cx="3120000" cy="82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8614767" y="210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usa medium. GPT-6 Astra no acepta none.</a:t>
            </a:r>
            <a:endParaRPr lang="en-US" sz="1150" dirty="0"/>
          </a:p>
        </p:txBody>
      </p:sp>
      <p:sp>
        <p:nvSpPr>
          <p:cNvPr id="20" name="Shape"/>
          <p:cNvSpPr/>
          <p:nvPr/>
        </p:nvSpPr>
        <p:spPr>
          <a:xfrm>
            <a:off x="566928" y="2860000"/>
            <a:ext cx="1697839" cy="820000"/>
          </a:xfrm>
          <a:prstGeom prst="rect">
            <a:avLst/>
          </a:prstGeom>
          <a:solidFill>
            <a:srgbClr val="D7E7E7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676928" y="2920000"/>
            <a:ext cx="1477839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250" dirty="0"/>
          </a:p>
        </p:txBody>
      </p:sp>
      <p:sp>
        <p:nvSpPr>
          <p:cNvPr id="22" name="Shape"/>
          <p:cNvSpPr/>
          <p:nvPr/>
        </p:nvSpPr>
        <p:spPr>
          <a:xfrm>
            <a:off x="2264767" y="2860000"/>
            <a:ext cx="312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2374767" y="292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output_config.effort, junto con thinking: adaptive, enabled o disabled.</a:t>
            </a:r>
            <a:endParaRPr lang="en-US" sz="1150" dirty="0"/>
          </a:p>
        </p:txBody>
      </p:sp>
      <p:sp>
        <p:nvSpPr>
          <p:cNvPr id="24" name="Shape"/>
          <p:cNvSpPr/>
          <p:nvPr/>
        </p:nvSpPr>
        <p:spPr>
          <a:xfrm>
            <a:off x="5384767" y="2860000"/>
            <a:ext cx="312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5494767" y="292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medium, high, xhigh y max.</a:t>
            </a:r>
            <a:endParaRPr lang="en-US" sz="1150" dirty="0"/>
          </a:p>
        </p:txBody>
      </p:sp>
      <p:sp>
        <p:nvSpPr>
          <p:cNvPr id="26" name="Shape"/>
          <p:cNvSpPr/>
          <p:nvPr/>
        </p:nvSpPr>
        <p:spPr>
          <a:xfrm>
            <a:off x="8504767" y="2860000"/>
            <a:ext cx="312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8614767" y="292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high. Haiku 4.5 no lo soporta; xhigh, solo desde Opus 4.7 y Sonnet 5.</a:t>
            </a:r>
            <a:endParaRPr lang="en-US" sz="1150" dirty="0"/>
          </a:p>
        </p:txBody>
      </p:sp>
      <p:sp>
        <p:nvSpPr>
          <p:cNvPr id="28" name="Shape"/>
          <p:cNvSpPr/>
          <p:nvPr/>
        </p:nvSpPr>
        <p:spPr>
          <a:xfrm>
            <a:off x="566928" y="3680000"/>
            <a:ext cx="1697839" cy="820000"/>
          </a:xfrm>
          <a:prstGeom prst="rect">
            <a:avLst/>
          </a:prstGeom>
          <a:solidFill>
            <a:srgbClr val="D7E7E7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676928" y="3740000"/>
            <a:ext cx="1477839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250" dirty="0"/>
          </a:p>
        </p:txBody>
      </p:sp>
      <p:sp>
        <p:nvSpPr>
          <p:cNvPr id="30" name="Shape"/>
          <p:cNvSpPr/>
          <p:nvPr/>
        </p:nvSpPr>
        <p:spPr>
          <a:xfrm>
            <a:off x="2264767" y="3680000"/>
            <a:ext cx="3120000" cy="82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2374767" y="374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thinking_level; en la serie 2.5 se usa thinkingBudget.</a:t>
            </a:r>
            <a:endParaRPr lang="en-US" sz="1150" dirty="0"/>
          </a:p>
        </p:txBody>
      </p:sp>
      <p:sp>
        <p:nvSpPr>
          <p:cNvPr id="32" name="Shape"/>
          <p:cNvSpPr/>
          <p:nvPr/>
        </p:nvSpPr>
        <p:spPr>
          <a:xfrm>
            <a:off x="5384767" y="3680000"/>
            <a:ext cx="3120000" cy="82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3" name="Text"/>
          <p:cNvSpPr txBox="1"/>
          <p:nvPr/>
        </p:nvSpPr>
        <p:spPr>
          <a:xfrm>
            <a:off x="5494767" y="374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low, medium y high, según el modelo.</a:t>
            </a:r>
            <a:endParaRPr lang="en-US" sz="1150" dirty="0"/>
          </a:p>
        </p:txBody>
      </p:sp>
      <p:sp>
        <p:nvSpPr>
          <p:cNvPr id="34" name="Shape"/>
          <p:cNvSpPr/>
          <p:nvPr/>
        </p:nvSpPr>
        <p:spPr>
          <a:xfrm>
            <a:off x="8504767" y="3680000"/>
            <a:ext cx="3120000" cy="82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5" name="Text"/>
          <p:cNvSpPr txBox="1"/>
          <p:nvPr/>
        </p:nvSpPr>
        <p:spPr>
          <a:xfrm>
            <a:off x="8614767" y="374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Flash usa medium. En 3.1 Pro es high y el razonamiento no se puede apagar.</a:t>
            </a:r>
            <a:endParaRPr lang="en-US" sz="1150" dirty="0"/>
          </a:p>
        </p:txBody>
      </p:sp>
      <p:sp>
        <p:nvSpPr>
          <p:cNvPr id="36" name="Shape"/>
          <p:cNvSpPr/>
          <p:nvPr/>
        </p:nvSpPr>
        <p:spPr>
          <a:xfrm>
            <a:off x="566928" y="4500000"/>
            <a:ext cx="1697839" cy="820000"/>
          </a:xfrm>
          <a:prstGeom prst="rect">
            <a:avLst/>
          </a:prstGeom>
          <a:solidFill>
            <a:srgbClr val="D7E7E7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7" name="Text"/>
          <p:cNvSpPr txBox="1"/>
          <p:nvPr/>
        </p:nvSpPr>
        <p:spPr>
          <a:xfrm>
            <a:off x="676928" y="4560000"/>
            <a:ext cx="1477839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250" dirty="0"/>
          </a:p>
        </p:txBody>
      </p:sp>
      <p:sp>
        <p:nvSpPr>
          <p:cNvPr id="38" name="Shape"/>
          <p:cNvSpPr/>
          <p:nvPr/>
        </p:nvSpPr>
        <p:spPr>
          <a:xfrm>
            <a:off x="2264767" y="4500000"/>
            <a:ext cx="312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9" name="Text"/>
          <p:cNvSpPr txBox="1"/>
          <p:nvPr/>
        </p:nvSpPr>
        <p:spPr>
          <a:xfrm>
            <a:off x="2374767" y="456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no expone ningún parámetro. En Azure OpenAI es reasoning_effort.</a:t>
            </a:r>
            <a:endParaRPr lang="en-US" sz="1150" dirty="0"/>
          </a:p>
        </p:txBody>
      </p:sp>
      <p:sp>
        <p:nvSpPr>
          <p:cNvPr id="40" name="Shape"/>
          <p:cNvSpPr/>
          <p:nvPr/>
        </p:nvSpPr>
        <p:spPr>
          <a:xfrm>
            <a:off x="5384767" y="4500000"/>
            <a:ext cx="312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1" name="Text"/>
          <p:cNvSpPr txBox="1"/>
          <p:nvPr/>
        </p:nvSpPr>
        <p:spPr>
          <a:xfrm>
            <a:off x="5494767" y="456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de OpenAI, según el modelo desplegado.</a:t>
            </a:r>
            <a:endParaRPr lang="en-US" sz="1150" dirty="0"/>
          </a:p>
        </p:txBody>
      </p:sp>
      <p:sp>
        <p:nvSpPr>
          <p:cNvPr id="42" name="Shape"/>
          <p:cNvSpPr/>
          <p:nvPr/>
        </p:nvSpPr>
        <p:spPr>
          <a:xfrm>
            <a:off x="8504767" y="4500000"/>
            <a:ext cx="312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3" name="Text"/>
          <p:cNvSpPr txBox="1"/>
          <p:nvPr/>
        </p:nvSpPr>
        <p:spPr>
          <a:xfrm>
            <a:off x="8614767" y="4560000"/>
            <a:ext cx="29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recomienda none para clasificar con baja latencia y medium como punto de partida.</a:t>
            </a:r>
            <a:endParaRPr lang="en-US" sz="1150" dirty="0"/>
          </a:p>
        </p:txBody>
      </p:sp>
      <p:sp>
        <p:nvSpPr>
          <p:cNvPr id="44" name="Shape"/>
          <p:cNvSpPr/>
          <p:nvPr/>
        </p:nvSpPr>
        <p:spPr>
          <a:xfrm>
            <a:off x="566928" y="5500000"/>
            <a:ext cx="11057839" cy="62000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45" name="Text"/>
          <p:cNvSpPr txBox="1"/>
          <p:nvPr/>
        </p:nvSpPr>
        <p:spPr>
          <a:xfrm>
            <a:off x="804672" y="5500000"/>
            <a:ext cx="10582351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clasificar, la documentación de Google y la de Microsoft recomiendan esfuerzo mínimo o nulo, y la de Anthropic sugiere niveles bajos para tareas rutinarias. Súbelo solo cuando la tarea pida razonar, y regístralo junto con el modelo y la fecha.</a:t>
            </a:r>
            <a:endParaRPr lang="en-US" sz="1300" dirty="0"/>
          </a:p>
        </p:txBody>
      </p:sp>
      <p:sp>
        <p:nvSpPr>
          <p:cNvPr id="46" name="Text"/>
          <p:cNvSpPr txBox="1"/>
          <p:nvPr/>
        </p:nvSpPr>
        <p:spPr>
          <a:xfrm>
            <a:off x="566928" y="628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developers.openai.com/api/docs/guides/reasoning · platform.claude.com/docs/en/build-with-claude/effort · ai.google.dev/gemini-api/docs/thinking · learn.microsoft.com/en-us/azure/foundry/openai/how-to/reasoning. Consultadas el 21 de septiembre de 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de Inteligencia Artificial Aplicada</dc:creator>
  <cp:lastModifiedBy>Curso de Inteligencia Artificial Aplicada</cp:lastModifiedBy>
  <cp:revision>1</cp:revision>
  <dcterms:created xsi:type="dcterms:W3CDTF">2026-09-14T00:37:05Z</dcterms:created>
  <dcterms:modified xsi:type="dcterms:W3CDTF">2026-09-14T00:37:05Z</dcterms:modified>
</cp:coreProperties>
</file>