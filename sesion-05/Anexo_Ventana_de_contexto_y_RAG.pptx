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rxiv.org/abs/2005.11401" TargetMode="External"/><Relationship Id="rId3" Type="http://schemas.openxmlformats.org/officeDocument/2006/relationships/hyperlink" Target="https://arxiv.org/abs/2307.03172" TargetMode="External"/><Relationship Id="rId4" Type="http://schemas.openxmlformats.org/officeDocument/2006/relationships/hyperlink" Target="https://arxiv.org/abs/2407.16833" TargetMode="External"/><Relationship Id="rId5" Type="http://schemas.openxmlformats.org/officeDocument/2006/relationships/hyperlink" Target="https://arxiv.org/abs/2404.06654" TargetMode="External"/><Relationship Id="rId6" Type="http://schemas.openxmlformats.org/officeDocument/2006/relationships/hyperlink" Target="https://arxiv.org/abs/2502.05167" TargetMode="External"/><Relationship Id="rId7" Type="http://schemas.openxmlformats.org/officeDocument/2006/relationships/hyperlink" Target="https://arxiv.org/abs/2312.10997" TargetMode="External"/><Relationship Id="rId8" Type="http://schemas.openxmlformats.org/officeDocument/2006/relationships/hyperlink" Target="https://arxiv.org/abs/2405.20362" TargetMode="External"/><Relationship Id="rId9" Type="http://schemas.openxmlformats.org/officeDocument/2006/relationships/hyperlink" Target="https://arxiv.org/abs/2309.15217" TargetMode="External"/><Relationship Id="rId10" Type="http://schemas.openxmlformats.org/officeDocument/2006/relationships/hyperlink" Target="https://support.microsoft.com/en-us/topic/how-copilot-chat-works-with-and-without-a-microsoft-365-copilot-license-5810b659-fbe0-48ee-9fe6-d731fe86cdeb" TargetMode="External"/><Relationship Id="rId11" Type="http://schemas.openxmlformats.org/officeDocument/2006/relationships/hyperlink" Target="https://learn.microsoft.com/en-us/copilot/privacy-and-protections" TargetMode="External"/><Relationship Id="rId12" Type="http://schemas.openxmlformats.org/officeDocument/2006/relationships/hyperlink" Target="https://learn.microsoft.com/en-us/microsoftsearch/semantic-index-for-copilot" TargetMode="External"/><Relationship Id="rId13" Type="http://schemas.openxmlformats.org/officeDocument/2006/relationships/hyperlink" Target="https://support.microsoft.com/en-us/microsoft-365-copilot/file-formats-supported-by-microsoft-365-copilot" TargetMode="External"/><Relationship Id="rId14" Type="http://schemas.openxmlformats.org/officeDocument/2006/relationships/hyperlink" Target="https://help.openai.com/en/articles/10029836-optimizing-file-uploads-in-chatgpt-enterprise" TargetMode="External"/><Relationship Id="rId15" Type="http://schemas.openxmlformats.org/officeDocument/2006/relationships/hyperlink" Target="https://help.openai.com/en/articles/8555545-file-uploads-faq" TargetMode="External"/><Relationship Id="rId16" Type="http://schemas.openxmlformats.org/officeDocument/2006/relationships/hyperlink" Target="https://support.claude.com/en/articles/11473015-retrieval-augmented-generation-rag-for-projects" TargetMode="External"/><Relationship Id="rId17" Type="http://schemas.openxmlformats.org/officeDocument/2006/relationships/hyperlink" Target="https://www.anthropic.com/engineering/contextual-retrieval" TargetMode="External"/><Relationship Id="rId18" Type="http://schemas.openxmlformats.org/officeDocument/2006/relationships/hyperlink" Target="https://claude.com/blog/prompt-caching" TargetMode="External"/><Relationship Id="rId19" Type="http://schemas.openxmlformats.org/officeDocument/2006/relationships/hyperlink" Target="https://ai.meta.com/blog/llama-4-multimodal-intelligence/" TargetMode="External"/><Relationship Id="rId20" Type="http://schemas.openxmlformats.org/officeDocument/2006/relationships/hyperlink" Target="https://blog.google/innovation-and-ai/products/gemini-notebook/notebooklm-gemini-note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6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2050000"/>
            <a:ext cx="11057839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DE LA SESIÓN 5</a:t>
            </a:r>
            <a:endParaRPr lang="en-US" sz="14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2450000"/>
            <a:ext cx="11057839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contexto y RAG</a:t>
            </a:r>
            <a:endParaRPr lang="en-US" sz="4400" dirty="0"/>
          </a:p>
        </p:txBody>
      </p:sp>
      <p:sp>
        <p:nvSpPr>
          <p:cNvPr id="4" name="Text"/>
          <p:cNvSpPr txBox="1"/>
          <p:nvPr/>
        </p:nvSpPr>
        <p:spPr>
          <a:xfrm>
            <a:off x="566928" y="3450000"/>
            <a:ext cx="86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maneras de que un modelo trabaje con tus documentos: qué cuesta cada una, cómo falla y cuál tienes enfrente.</a:t>
            </a:r>
            <a:endParaRPr lang="en-US" sz="1800" dirty="0"/>
          </a:p>
        </p:txBody>
      </p:sp>
      <p:sp>
        <p:nvSpPr>
          <p:cNvPr id="5" name="Shape"/>
          <p:cNvSpPr/>
          <p:nvPr/>
        </p:nvSpPr>
        <p:spPr>
          <a:xfrm>
            <a:off x="9038767" y="457200"/>
            <a:ext cx="2586000" cy="347472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9038767" y="457200"/>
            <a:ext cx="25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Charla opcional · 10 minutos</a:t>
            </a:r>
            <a:endParaRPr lang="en-US" sz="1200" dirty="0"/>
          </a:p>
        </p:txBody>
      </p:sp>
      <p:sp>
        <p:nvSpPr>
          <p:cNvPr id="7" name="Text"/>
          <p:cNvSpPr txBox="1"/>
          <p:nvPr/>
        </p:nvSpPr>
        <p:spPr>
          <a:xfrm>
            <a:off x="566928" y="6150000"/>
            <a:ext cx="1105783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 · INEGI · 21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s cami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caminos para que un modelo lea tus documentos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3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uno, tú pones todo sobre la mesa. En el otro, un buscador elige qué fragmentos del acervo llegan al modelo.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800000"/>
            <a:ext cx="11057839" cy="12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20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ESCRITORIO</a:t>
            </a:r>
            <a:endParaRPr lang="en-US" sz="11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280000"/>
            <a:ext cx="190000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texto entra a la ventana de contexto.</a:t>
            </a:r>
            <a:endParaRPr lang="en-US" sz="1200" dirty="0"/>
          </a:p>
        </p:txBody>
      </p:sp>
      <p:sp>
        <p:nvSpPr>
          <p:cNvPr id="7" name="Shape"/>
          <p:cNvSpPr/>
          <p:nvPr/>
        </p:nvSpPr>
        <p:spPr>
          <a:xfrm>
            <a:off x="2866928" y="2255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8" name="Shape"/>
          <p:cNvSpPr/>
          <p:nvPr/>
        </p:nvSpPr>
        <p:spPr>
          <a:xfrm>
            <a:off x="3126928" y="2255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9" name="Shape"/>
          <p:cNvSpPr/>
          <p:nvPr/>
        </p:nvSpPr>
        <p:spPr>
          <a:xfrm>
            <a:off x="3386928" y="2255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3666928" y="2315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Shape"/>
          <p:cNvSpPr/>
          <p:nvPr/>
        </p:nvSpPr>
        <p:spPr>
          <a:xfrm>
            <a:off x="3966928" y="2195000"/>
            <a:ext cx="15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4006928" y="2195000"/>
            <a:ext cx="14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texto</a:t>
            </a:r>
            <a:endParaRPr lang="en-US" sz="1100" dirty="0"/>
          </a:p>
        </p:txBody>
      </p:sp>
      <p:sp>
        <p:nvSpPr>
          <p:cNvPr id="13" name="Shape"/>
          <p:cNvSpPr/>
          <p:nvPr/>
        </p:nvSpPr>
        <p:spPr>
          <a:xfrm>
            <a:off x="5536928" y="2315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4" name="Shape"/>
          <p:cNvSpPr/>
          <p:nvPr/>
        </p:nvSpPr>
        <p:spPr>
          <a:xfrm>
            <a:off x="5836928" y="2195000"/>
            <a:ext cx="230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5876928" y="2195000"/>
            <a:ext cx="22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contexto</a:t>
            </a:r>
            <a:endParaRPr lang="en-US" sz="1100" dirty="0"/>
          </a:p>
        </p:txBody>
      </p:sp>
      <p:sp>
        <p:nvSpPr>
          <p:cNvPr id="16" name="Shape"/>
          <p:cNvSpPr/>
          <p:nvPr/>
        </p:nvSpPr>
        <p:spPr>
          <a:xfrm>
            <a:off x="8206928" y="2315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Shape"/>
          <p:cNvSpPr/>
          <p:nvPr/>
        </p:nvSpPr>
        <p:spPr>
          <a:xfrm>
            <a:off x="8506928" y="2195000"/>
            <a:ext cx="1200000" cy="460000"/>
          </a:xfrm>
          <a:prstGeom prst="roundRect">
            <a:avLst>
              <a:gd name="adj" fmla="val 3000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8546928" y="2195000"/>
            <a:ext cx="1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100" dirty="0"/>
          </a:p>
        </p:txBody>
      </p:sp>
      <p:sp>
        <p:nvSpPr>
          <p:cNvPr id="19" name="Shape"/>
          <p:cNvSpPr/>
          <p:nvPr/>
        </p:nvSpPr>
        <p:spPr>
          <a:xfrm>
            <a:off x="9776928" y="2315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0" name="Shape"/>
          <p:cNvSpPr/>
          <p:nvPr/>
        </p:nvSpPr>
        <p:spPr>
          <a:xfrm>
            <a:off x="10076928" y="2195000"/>
            <a:ext cx="13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10116928" y="2195000"/>
            <a:ext cx="12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22" name="Shape"/>
          <p:cNvSpPr/>
          <p:nvPr/>
        </p:nvSpPr>
        <p:spPr>
          <a:xfrm>
            <a:off x="566928" y="3200000"/>
            <a:ext cx="11057839" cy="23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04672" y="34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BIBLIOTECA</a:t>
            </a:r>
            <a:endParaRPr lang="en-US" sz="1100" dirty="0"/>
          </a:p>
        </p:txBody>
      </p:sp>
      <p:sp>
        <p:nvSpPr>
          <p:cNvPr id="24" name="Text"/>
          <p:cNvSpPr txBox="1"/>
          <p:nvPr/>
        </p:nvSpPr>
        <p:spPr>
          <a:xfrm>
            <a:off x="804672" y="3680000"/>
            <a:ext cx="1900000" cy="1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aumentada por recuperación.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2866928" y="3330000"/>
            <a:ext cx="6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vez, y cada que cambia el acervo</a:t>
            </a:r>
            <a:endParaRPr lang="en-US" sz="1100" dirty="0"/>
          </a:p>
        </p:txBody>
      </p:sp>
      <p:sp>
        <p:nvSpPr>
          <p:cNvPr id="26" name="Shape"/>
          <p:cNvSpPr/>
          <p:nvPr/>
        </p:nvSpPr>
        <p:spPr>
          <a:xfrm>
            <a:off x="286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27" name="Shape"/>
          <p:cNvSpPr/>
          <p:nvPr/>
        </p:nvSpPr>
        <p:spPr>
          <a:xfrm>
            <a:off x="312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28" name="Shape"/>
          <p:cNvSpPr/>
          <p:nvPr/>
        </p:nvSpPr>
        <p:spPr>
          <a:xfrm>
            <a:off x="338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29" name="Shape"/>
          <p:cNvSpPr/>
          <p:nvPr/>
        </p:nvSpPr>
        <p:spPr>
          <a:xfrm>
            <a:off x="364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390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31" name="Shape"/>
          <p:cNvSpPr/>
          <p:nvPr/>
        </p:nvSpPr>
        <p:spPr>
          <a:xfrm>
            <a:off x="416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32" name="Shape"/>
          <p:cNvSpPr/>
          <p:nvPr/>
        </p:nvSpPr>
        <p:spPr>
          <a:xfrm>
            <a:off x="4426928" y="3660000"/>
            <a:ext cx="210000" cy="3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6262E"/>
            </a:solidFill>
            <a:prstDash val="solid"/>
          </a:ln>
        </p:spPr>
      </p:sp>
      <p:sp>
        <p:nvSpPr>
          <p:cNvPr id="33" name="Shape"/>
          <p:cNvSpPr/>
          <p:nvPr/>
        </p:nvSpPr>
        <p:spPr>
          <a:xfrm>
            <a:off x="4706928" y="3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4" name="Shape"/>
          <p:cNvSpPr/>
          <p:nvPr/>
        </p:nvSpPr>
        <p:spPr>
          <a:xfrm>
            <a:off x="5006928" y="3600000"/>
            <a:ext cx="21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5046928" y="3600000"/>
            <a:ext cx="20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y vectorizar</a:t>
            </a:r>
            <a:endParaRPr lang="en-US" sz="1100" dirty="0"/>
          </a:p>
        </p:txBody>
      </p:sp>
      <p:sp>
        <p:nvSpPr>
          <p:cNvPr id="36" name="Shape"/>
          <p:cNvSpPr/>
          <p:nvPr/>
        </p:nvSpPr>
        <p:spPr>
          <a:xfrm>
            <a:off x="7176928" y="3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7" name="Shape"/>
          <p:cNvSpPr/>
          <p:nvPr/>
        </p:nvSpPr>
        <p:spPr>
          <a:xfrm>
            <a:off x="7476928" y="3600000"/>
            <a:ext cx="120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7516928" y="3600000"/>
            <a:ext cx="1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100" dirty="0"/>
          </a:p>
        </p:txBody>
      </p:sp>
      <p:sp>
        <p:nvSpPr>
          <p:cNvPr id="39" name="Text"/>
          <p:cNvSpPr txBox="1"/>
          <p:nvPr/>
        </p:nvSpPr>
        <p:spPr>
          <a:xfrm>
            <a:off x="2866928" y="4330000"/>
            <a:ext cx="6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pregunta</a:t>
            </a:r>
            <a:endParaRPr lang="en-US" sz="1100" dirty="0"/>
          </a:p>
        </p:txBody>
      </p:sp>
      <p:sp>
        <p:nvSpPr>
          <p:cNvPr id="40" name="Shape"/>
          <p:cNvSpPr/>
          <p:nvPr/>
        </p:nvSpPr>
        <p:spPr>
          <a:xfrm>
            <a:off x="2866928" y="4600000"/>
            <a:ext cx="135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2906928" y="4600000"/>
            <a:ext cx="12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pregunta</a:t>
            </a:r>
            <a:endParaRPr lang="en-US" sz="1100" dirty="0"/>
          </a:p>
        </p:txBody>
      </p:sp>
      <p:sp>
        <p:nvSpPr>
          <p:cNvPr id="42" name="Shape"/>
          <p:cNvSpPr/>
          <p:nvPr/>
        </p:nvSpPr>
        <p:spPr>
          <a:xfrm>
            <a:off x="4286928" y="4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3" name="Shape"/>
          <p:cNvSpPr/>
          <p:nvPr/>
        </p:nvSpPr>
        <p:spPr>
          <a:xfrm>
            <a:off x="4586928" y="4600000"/>
            <a:ext cx="125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4626928" y="4600000"/>
            <a:ext cx="11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</a:t>
            </a:r>
            <a:endParaRPr lang="en-US" sz="1100" dirty="0"/>
          </a:p>
        </p:txBody>
      </p:sp>
      <p:sp>
        <p:nvSpPr>
          <p:cNvPr id="45" name="Shape"/>
          <p:cNvSpPr/>
          <p:nvPr/>
        </p:nvSpPr>
        <p:spPr>
          <a:xfrm>
            <a:off x="5906928" y="4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6" name="Shape"/>
          <p:cNvSpPr/>
          <p:nvPr/>
        </p:nvSpPr>
        <p:spPr>
          <a:xfrm>
            <a:off x="6206928" y="4660000"/>
            <a:ext cx="210000" cy="340000"/>
          </a:xfrm>
          <a:prstGeom prst="rect">
            <a:avLst/>
          </a:prstGeom>
          <a:solidFill>
            <a:srgbClr val="F7E4D8"/>
          </a:solidFill>
          <a:ln w="9525">
            <a:solidFill>
              <a:srgbClr val="C85A28"/>
            </a:solidFill>
            <a:prstDash val="solid"/>
          </a:ln>
        </p:spPr>
      </p:sp>
      <p:sp>
        <p:nvSpPr>
          <p:cNvPr id="47" name="Shape"/>
          <p:cNvSpPr/>
          <p:nvPr/>
        </p:nvSpPr>
        <p:spPr>
          <a:xfrm>
            <a:off x="6466928" y="4660000"/>
            <a:ext cx="210000" cy="340000"/>
          </a:xfrm>
          <a:prstGeom prst="rect">
            <a:avLst/>
          </a:prstGeom>
          <a:solidFill>
            <a:srgbClr val="F7E4D8"/>
          </a:solidFill>
          <a:ln w="9525">
            <a:solidFill>
              <a:srgbClr val="C85A28"/>
            </a:solidFill>
            <a:prstDash val="solid"/>
          </a:ln>
        </p:spPr>
      </p:sp>
      <p:sp>
        <p:nvSpPr>
          <p:cNvPr id="48" name="Shape"/>
          <p:cNvSpPr/>
          <p:nvPr/>
        </p:nvSpPr>
        <p:spPr>
          <a:xfrm>
            <a:off x="6746928" y="4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9" name="Shape"/>
          <p:cNvSpPr/>
          <p:nvPr/>
        </p:nvSpPr>
        <p:spPr>
          <a:xfrm>
            <a:off x="7046928" y="4600000"/>
            <a:ext cx="1100000" cy="460000"/>
          </a:xfrm>
          <a:prstGeom prst="roundRect">
            <a:avLst>
              <a:gd name="adj" fmla="val 3000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50" name="Text"/>
          <p:cNvSpPr txBox="1"/>
          <p:nvPr/>
        </p:nvSpPr>
        <p:spPr>
          <a:xfrm>
            <a:off x="7086928" y="4600000"/>
            <a:ext cx="10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100" dirty="0"/>
          </a:p>
        </p:txBody>
      </p:sp>
      <p:sp>
        <p:nvSpPr>
          <p:cNvPr id="51" name="Shape"/>
          <p:cNvSpPr/>
          <p:nvPr/>
        </p:nvSpPr>
        <p:spPr>
          <a:xfrm>
            <a:off x="8216928" y="472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52" name="Shape"/>
          <p:cNvSpPr/>
          <p:nvPr/>
        </p:nvSpPr>
        <p:spPr>
          <a:xfrm>
            <a:off x="8516928" y="4600000"/>
            <a:ext cx="20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3" name="Text"/>
          <p:cNvSpPr txBox="1"/>
          <p:nvPr/>
        </p:nvSpPr>
        <p:spPr>
          <a:xfrm>
            <a:off x="8556928" y="4600000"/>
            <a:ext cx="19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con citas</a:t>
            </a:r>
            <a:endParaRPr lang="en-US" sz="1100" dirty="0"/>
          </a:p>
        </p:txBody>
      </p:sp>
      <p:sp>
        <p:nvSpPr>
          <p:cNvPr id="54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5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productos reales los dos caminos se mezclan. ChatGPT pega en el contexto lo que cabe y manda el resto a un índice privado; los Proyectos de Claude cambian solos a RAG cuando el material se acerca al límite de la ventana.</a:t>
            </a:r>
            <a:endParaRPr lang="en-US" sz="1300" dirty="0"/>
          </a:p>
        </p:txBody>
      </p:sp>
      <p:sp>
        <p:nvSpPr>
          <p:cNvPr id="56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Lewis y otros (2020), arXiv:2005.11401 · OpenAI, «Optimizing File Uploads in ChatGPT Enterprise» · Anthropic, «Retrieval augmented generation (RAG) for projects».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s piez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piezas de un RAG, y las tres que suelen faltar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3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 de cuatro piezas es el RAG de 2023. Funciona en una demostración; en serio, se le agregan tres cosas más.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750000"/>
            <a:ext cx="2599459" cy="28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804672" y="196945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804672" y="196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804672" y="2529456"/>
            <a:ext cx="2123971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embeddings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804672" y="3169456"/>
            <a:ext cx="2123971" cy="13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cada fragmento en coordenadas, como el viernes: los textos que significan lo mismo quedan cerca.</a:t>
            </a:r>
            <a:endParaRPr lang="en-US" sz="1250" dirty="0"/>
          </a:p>
        </p:txBody>
      </p:sp>
      <p:sp>
        <p:nvSpPr>
          <p:cNvPr id="9" name="Shape"/>
          <p:cNvSpPr/>
          <p:nvPr/>
        </p:nvSpPr>
        <p:spPr>
          <a:xfrm>
            <a:off x="3386387" y="1750000"/>
            <a:ext cx="2599459" cy="28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3624131" y="196945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3624131" y="196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3624131" y="2529456"/>
            <a:ext cx="2123971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Almacén vectorial</a:t>
            </a:r>
            <a:endParaRPr lang="en-US" sz="1500" dirty="0"/>
          </a:p>
        </p:txBody>
      </p:sp>
      <p:sp>
        <p:nvSpPr>
          <p:cNvPr id="13" name="Text"/>
          <p:cNvSpPr txBox="1"/>
          <p:nvPr/>
        </p:nvSpPr>
        <p:spPr>
          <a:xfrm>
            <a:off x="3624131" y="3169456"/>
            <a:ext cx="2123971" cy="13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las coordenadas y halla las más cercanas. Pinecone es un servicio; Chroma, código abierto; pgvector, una extensión de PostgreSQL.</a:t>
            </a:r>
            <a:endParaRPr lang="en-US" sz="1250" dirty="0"/>
          </a:p>
        </p:txBody>
      </p:sp>
      <p:sp>
        <p:nvSpPr>
          <p:cNvPr id="14" name="Shape"/>
          <p:cNvSpPr/>
          <p:nvPr/>
        </p:nvSpPr>
        <p:spPr>
          <a:xfrm>
            <a:off x="6205846" y="1750000"/>
            <a:ext cx="2599459" cy="28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6443590" y="196945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443590" y="196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6443590" y="2529456"/>
            <a:ext cx="2123971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Orquestador</a:t>
            </a:r>
            <a:endParaRPr lang="en-US" sz="1500" dirty="0"/>
          </a:p>
        </p:txBody>
      </p:sp>
      <p:sp>
        <p:nvSpPr>
          <p:cNvPr id="18" name="Text"/>
          <p:cNvSpPr txBox="1"/>
          <p:nvPr/>
        </p:nvSpPr>
        <p:spPr>
          <a:xfrm>
            <a:off x="6443590" y="3169456"/>
            <a:ext cx="2123971" cy="13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une las piezas: LangChain, LlamaIndex o un script propio. También hay servicios donde el proveedor hace todo.</a:t>
            </a:r>
            <a:endParaRPr lang="en-US" sz="1250" dirty="0"/>
          </a:p>
        </p:txBody>
      </p:sp>
      <p:sp>
        <p:nvSpPr>
          <p:cNvPr id="19" name="Shape"/>
          <p:cNvSpPr/>
          <p:nvPr/>
        </p:nvSpPr>
        <p:spPr>
          <a:xfrm>
            <a:off x="9025305" y="1750000"/>
            <a:ext cx="2599459" cy="28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Shape"/>
          <p:cNvSpPr/>
          <p:nvPr/>
        </p:nvSpPr>
        <p:spPr>
          <a:xfrm>
            <a:off x="9263049" y="196945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9263049" y="196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9263049" y="2529456"/>
            <a:ext cx="2123971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lenguaje</a:t>
            </a:r>
            <a:endParaRPr lang="en-US" sz="1500" dirty="0"/>
          </a:p>
        </p:txBody>
      </p:sp>
      <p:sp>
        <p:nvSpPr>
          <p:cNvPr id="23" name="Text"/>
          <p:cNvSpPr txBox="1"/>
          <p:nvPr/>
        </p:nvSpPr>
        <p:spPr>
          <a:xfrm>
            <a:off x="9263049" y="3169456"/>
            <a:ext cx="2123971" cy="131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con los fragmentos que le llegan en el prompt. No se reentrena: sus parámetros quedan intactos.</a:t>
            </a:r>
            <a:endParaRPr lang="en-US" sz="1250" dirty="0"/>
          </a:p>
        </p:txBody>
      </p:sp>
      <p:sp>
        <p:nvSpPr>
          <p:cNvPr id="24" name="Shape"/>
          <p:cNvSpPr/>
          <p:nvPr/>
        </p:nvSpPr>
        <p:spPr>
          <a:xfrm>
            <a:off x="566928" y="4700000"/>
            <a:ext cx="11057839" cy="1620000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04672" y="484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AGREGA UN RAG SERIO</a:t>
            </a:r>
            <a:endParaRPr lang="en-US" sz="1100" dirty="0"/>
          </a:p>
        </p:txBody>
      </p:sp>
      <p:sp>
        <p:nvSpPr>
          <p:cNvPr id="26" name="Text"/>
          <p:cNvSpPr txBox="1"/>
          <p:nvPr/>
        </p:nvSpPr>
        <p:spPr>
          <a:xfrm>
            <a:off x="804672" y="5120000"/>
            <a:ext cx="338078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híbrida</a:t>
            </a:r>
            <a:endParaRPr lang="en-US" sz="1400" dirty="0"/>
          </a:p>
        </p:txBody>
      </p:sp>
      <p:sp>
        <p:nvSpPr>
          <p:cNvPr id="27" name="Text"/>
          <p:cNvSpPr txBox="1"/>
          <p:nvPr/>
        </p:nvSpPr>
        <p:spPr>
          <a:xfrm>
            <a:off x="804672" y="5430000"/>
            <a:ext cx="3380783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cercanía de significado con coincidencia de palabras: una clave de programa o un número de oficio se encuentran por palabra.</a:t>
            </a:r>
            <a:endParaRPr lang="en-US" sz="1200" dirty="0"/>
          </a:p>
        </p:txBody>
      </p:sp>
      <p:sp>
        <p:nvSpPr>
          <p:cNvPr id="28" name="Text"/>
          <p:cNvSpPr txBox="1"/>
          <p:nvPr/>
        </p:nvSpPr>
        <p:spPr>
          <a:xfrm>
            <a:off x="4405455" y="5120000"/>
            <a:ext cx="338078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Reordenamiento</a:t>
            </a:r>
            <a:endParaRPr lang="en-US" sz="1400" dirty="0"/>
          </a:p>
        </p:txBody>
      </p:sp>
      <p:sp>
        <p:nvSpPr>
          <p:cNvPr id="29" name="Text"/>
          <p:cNvSpPr txBox="1"/>
          <p:nvPr/>
        </p:nvSpPr>
        <p:spPr>
          <a:xfrm>
            <a:off x="4405455" y="5430000"/>
            <a:ext cx="3380783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segundo modelo vuelve a calificar lo recuperado y deja pasar solo lo mejor antes de entregarlo al modelo que redacta.</a:t>
            </a:r>
            <a:endParaRPr lang="en-US" sz="1200" dirty="0"/>
          </a:p>
        </p:txBody>
      </p:sp>
      <p:sp>
        <p:nvSpPr>
          <p:cNvPr id="30" name="Text"/>
          <p:cNvSpPr txBox="1"/>
          <p:nvPr/>
        </p:nvSpPr>
        <p:spPr>
          <a:xfrm>
            <a:off x="8006238" y="5120000"/>
            <a:ext cx="3380783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31" name="Text"/>
          <p:cNvSpPr txBox="1"/>
          <p:nvPr/>
        </p:nvSpPr>
        <p:spPr>
          <a:xfrm>
            <a:off x="8006238" y="5430000"/>
            <a:ext cx="3380783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si el buscador recupera lo correcto y si la respuesta se apega a lo recuperado. Sin medirlo, no se sabe si funciona.</a:t>
            </a:r>
            <a:endParaRPr lang="en-US" sz="1200" dirty="0"/>
          </a:p>
        </p:txBody>
      </p:sp>
      <p:sp>
        <p:nvSpPr>
          <p:cNvPr id="32" name="Text"/>
          <p:cNvSpPr txBox="1"/>
          <p:nvPr/>
        </p:nvSpPr>
        <p:spPr>
          <a:xfrm>
            <a:off x="566928" y="640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Gao y otros (2023), arXiv:2312.10997 · Microsoft Learn, «Design and Develop a RAG Solution on Azure» · Es y otros (2023), Ragas, arXiv:2309.15217.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s mo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momentos: indexar una vez, consultar muchas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3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estructura de costos de una biblioteca: catalogar cuesta y se hace una vez; consultar el catálogo es barato.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800000"/>
            <a:ext cx="11057839" cy="16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20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INDEXAR</a:t>
            </a:r>
            <a:endParaRPr lang="en-US" sz="11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280000"/>
            <a:ext cx="190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vez, y cada que cambia el acervo. Es el costo fijo.</a:t>
            </a:r>
            <a:endParaRPr lang="en-US" sz="1200" dirty="0"/>
          </a:p>
        </p:txBody>
      </p:sp>
      <p:sp>
        <p:nvSpPr>
          <p:cNvPr id="7" name="Shape"/>
          <p:cNvSpPr/>
          <p:nvPr/>
        </p:nvSpPr>
        <p:spPr>
          <a:xfrm>
            <a:off x="2866928" y="2380000"/>
            <a:ext cx="115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2906928" y="2380000"/>
            <a:ext cx="10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</a:t>
            </a:r>
            <a:endParaRPr lang="en-US" sz="1100" dirty="0"/>
          </a:p>
        </p:txBody>
      </p:sp>
      <p:sp>
        <p:nvSpPr>
          <p:cNvPr id="9" name="Shape"/>
          <p:cNvSpPr/>
          <p:nvPr/>
        </p:nvSpPr>
        <p:spPr>
          <a:xfrm>
            <a:off x="4076928" y="250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4336928" y="2380000"/>
            <a:ext cx="15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376928" y="2380000"/>
            <a:ext cx="14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texto</a:t>
            </a:r>
            <a:endParaRPr lang="en-US" sz="1100" dirty="0"/>
          </a:p>
        </p:txBody>
      </p:sp>
      <p:sp>
        <p:nvSpPr>
          <p:cNvPr id="12" name="Shape"/>
          <p:cNvSpPr/>
          <p:nvPr/>
        </p:nvSpPr>
        <p:spPr>
          <a:xfrm>
            <a:off x="5896928" y="250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Shape"/>
          <p:cNvSpPr/>
          <p:nvPr/>
        </p:nvSpPr>
        <p:spPr>
          <a:xfrm>
            <a:off x="6156928" y="2380000"/>
            <a:ext cx="205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6196928" y="2380000"/>
            <a:ext cx="19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en fragmentos</a:t>
            </a:r>
            <a:endParaRPr lang="en-US" sz="1100" dirty="0"/>
          </a:p>
        </p:txBody>
      </p:sp>
      <p:sp>
        <p:nvSpPr>
          <p:cNvPr id="15" name="Shape"/>
          <p:cNvSpPr/>
          <p:nvPr/>
        </p:nvSpPr>
        <p:spPr>
          <a:xfrm>
            <a:off x="8266928" y="250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Shape"/>
          <p:cNvSpPr/>
          <p:nvPr/>
        </p:nvSpPr>
        <p:spPr>
          <a:xfrm>
            <a:off x="8526928" y="2380000"/>
            <a:ext cx="13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566928" y="2380000"/>
            <a:ext cx="12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vectorizar</a:t>
            </a:r>
            <a:endParaRPr lang="en-US" sz="1100" dirty="0"/>
          </a:p>
        </p:txBody>
      </p:sp>
      <p:sp>
        <p:nvSpPr>
          <p:cNvPr id="18" name="Shape"/>
          <p:cNvSpPr/>
          <p:nvPr/>
        </p:nvSpPr>
        <p:spPr>
          <a:xfrm>
            <a:off x="9886928" y="250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Shape"/>
          <p:cNvSpPr/>
          <p:nvPr/>
        </p:nvSpPr>
        <p:spPr>
          <a:xfrm>
            <a:off x="10146928" y="2380000"/>
            <a:ext cx="100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10186928" y="2380000"/>
            <a:ext cx="9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100" dirty="0"/>
          </a:p>
        </p:txBody>
      </p:sp>
      <p:sp>
        <p:nvSpPr>
          <p:cNvPr id="21" name="Shape"/>
          <p:cNvSpPr/>
          <p:nvPr/>
        </p:nvSpPr>
        <p:spPr>
          <a:xfrm>
            <a:off x="566928" y="3600000"/>
            <a:ext cx="11057839" cy="190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804672" y="38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</a:t>
            </a:r>
            <a:endParaRPr lang="en-US" sz="1100" dirty="0"/>
          </a:p>
        </p:txBody>
      </p:sp>
      <p:sp>
        <p:nvSpPr>
          <p:cNvPr id="23" name="Text"/>
          <p:cNvSpPr txBox="1"/>
          <p:nvPr/>
        </p:nvSpPr>
        <p:spPr>
          <a:xfrm>
            <a:off x="804672" y="4080000"/>
            <a:ext cx="1900000" cy="1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pregunta. Es el costo marginal.</a:t>
            </a:r>
            <a:endParaRPr lang="en-US" sz="1200" dirty="0"/>
          </a:p>
        </p:txBody>
      </p:sp>
      <p:sp>
        <p:nvSpPr>
          <p:cNvPr id="24" name="Shape"/>
          <p:cNvSpPr/>
          <p:nvPr/>
        </p:nvSpPr>
        <p:spPr>
          <a:xfrm>
            <a:off x="2866928" y="3850000"/>
            <a:ext cx="11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2906928" y="3850000"/>
            <a:ext cx="10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100" dirty="0"/>
          </a:p>
        </p:txBody>
      </p:sp>
      <p:sp>
        <p:nvSpPr>
          <p:cNvPr id="26" name="Shape"/>
          <p:cNvSpPr/>
          <p:nvPr/>
        </p:nvSpPr>
        <p:spPr>
          <a:xfrm>
            <a:off x="4026928" y="397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7" name="Shape"/>
          <p:cNvSpPr/>
          <p:nvPr/>
        </p:nvSpPr>
        <p:spPr>
          <a:xfrm>
            <a:off x="4286928" y="3850000"/>
            <a:ext cx="125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4326928" y="3850000"/>
            <a:ext cx="11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vectorizar</a:t>
            </a:r>
            <a:endParaRPr lang="en-US" sz="1100" dirty="0"/>
          </a:p>
        </p:txBody>
      </p:sp>
      <p:sp>
        <p:nvSpPr>
          <p:cNvPr id="29" name="Shape"/>
          <p:cNvSpPr/>
          <p:nvPr/>
        </p:nvSpPr>
        <p:spPr>
          <a:xfrm>
            <a:off x="5596928" y="397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5856928" y="3850000"/>
            <a:ext cx="185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5896928" y="3850000"/>
            <a:ext cx="17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híbrida</a:t>
            </a:r>
            <a:endParaRPr lang="en-US" sz="1100" dirty="0"/>
          </a:p>
        </p:txBody>
      </p:sp>
      <p:sp>
        <p:nvSpPr>
          <p:cNvPr id="32" name="Shape"/>
          <p:cNvSpPr/>
          <p:nvPr/>
        </p:nvSpPr>
        <p:spPr>
          <a:xfrm>
            <a:off x="7766928" y="397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3" name="Shape"/>
          <p:cNvSpPr/>
          <p:nvPr/>
        </p:nvSpPr>
        <p:spPr>
          <a:xfrm>
            <a:off x="8026928" y="3850000"/>
            <a:ext cx="1250000" cy="460000"/>
          </a:xfrm>
          <a:prstGeom prst="roundRect">
            <a:avLst>
              <a:gd name="adj" fmla="val 3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8066928" y="3850000"/>
            <a:ext cx="11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reordenar</a:t>
            </a:r>
            <a:endParaRPr lang="en-US" sz="1100" dirty="0"/>
          </a:p>
        </p:txBody>
      </p:sp>
      <p:sp>
        <p:nvSpPr>
          <p:cNvPr id="35" name="Shape"/>
          <p:cNvSpPr/>
          <p:nvPr/>
        </p:nvSpPr>
        <p:spPr>
          <a:xfrm>
            <a:off x="2866928" y="4650000"/>
            <a:ext cx="2350000" cy="460000"/>
          </a:xfrm>
          <a:prstGeom prst="roundRect">
            <a:avLst>
              <a:gd name="adj" fmla="val 3000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36" name="Text"/>
          <p:cNvSpPr txBox="1"/>
          <p:nvPr/>
        </p:nvSpPr>
        <p:spPr>
          <a:xfrm>
            <a:off x="2906928" y="4650000"/>
            <a:ext cx="227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fragmentos + pregunta</a:t>
            </a:r>
            <a:endParaRPr lang="en-US" sz="1100" dirty="0"/>
          </a:p>
        </p:txBody>
      </p:sp>
      <p:sp>
        <p:nvSpPr>
          <p:cNvPr id="37" name="Shape"/>
          <p:cNvSpPr/>
          <p:nvPr/>
        </p:nvSpPr>
        <p:spPr>
          <a:xfrm>
            <a:off x="5276928" y="477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8" name="Shape"/>
          <p:cNvSpPr/>
          <p:nvPr/>
        </p:nvSpPr>
        <p:spPr>
          <a:xfrm>
            <a:off x="5536928" y="4650000"/>
            <a:ext cx="1100000" cy="460000"/>
          </a:xfrm>
          <a:prstGeom prst="roundRect">
            <a:avLst>
              <a:gd name="adj" fmla="val 3000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5576928" y="4650000"/>
            <a:ext cx="10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100" dirty="0"/>
          </a:p>
        </p:txBody>
      </p:sp>
      <p:sp>
        <p:nvSpPr>
          <p:cNvPr id="40" name="Shape"/>
          <p:cNvSpPr/>
          <p:nvPr/>
        </p:nvSpPr>
        <p:spPr>
          <a:xfrm>
            <a:off x="6696928" y="4770000"/>
            <a:ext cx="20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1" name="Shape"/>
          <p:cNvSpPr/>
          <p:nvPr/>
        </p:nvSpPr>
        <p:spPr>
          <a:xfrm>
            <a:off x="6956928" y="4650000"/>
            <a:ext cx="2100000" cy="460000"/>
          </a:xfrm>
          <a:prstGeom prst="roundRect">
            <a:avLst>
              <a:gd name="adj" fmla="val 300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42" name="Text"/>
          <p:cNvSpPr txBox="1"/>
          <p:nvPr/>
        </p:nvSpPr>
        <p:spPr>
          <a:xfrm>
            <a:off x="6996928" y="4650000"/>
            <a:ext cx="20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con citas</a:t>
            </a:r>
            <a:endParaRPr lang="en-US" sz="1100" dirty="0"/>
          </a:p>
        </p:txBody>
      </p:sp>
      <p:sp>
        <p:nvSpPr>
          <p:cNvPr id="43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partir, cada fragmento pierde su contexto: «el programa amplió su cobertura», ¿cuál programa? Por eso hay técnicas que le devuelven contexto a cada fragmento antes de indexarlo, y por eso un RAG mal fragmentado no se arregla con un modelo mejor.</a:t>
            </a:r>
            <a:endParaRPr lang="en-US" sz="1300" dirty="0"/>
          </a:p>
        </p:txBody>
      </p:sp>
      <p:sp>
        <p:nvSpPr>
          <p:cNvPr id="45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Anthropic (2024), «Introducing Contextual Retrieval» · OpenAI, guía «Retrieval» de la API (fragmentos de 800 tokens con 400 de traslape, por omisión).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s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larga o RAG: es una decisión de costos</a:t>
            </a:r>
            <a:endParaRPr lang="en-US" sz="3200" dirty="0"/>
          </a:p>
        </p:txBody>
      </p:sp>
      <p:sp>
        <p:nvSpPr>
          <p:cNvPr id="3" name="Shape"/>
          <p:cNvSpPr/>
          <p:nvPr/>
        </p:nvSpPr>
        <p:spPr>
          <a:xfrm>
            <a:off x="566928" y="1330000"/>
            <a:ext cx="190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86928" y="1330000"/>
            <a:ext cx="166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  <p:sp>
        <p:nvSpPr>
          <p:cNvPr id="5" name="Shape"/>
          <p:cNvSpPr/>
          <p:nvPr/>
        </p:nvSpPr>
        <p:spPr>
          <a:xfrm>
            <a:off x="2466928" y="1330000"/>
            <a:ext cx="4578919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2586928" y="1330000"/>
            <a:ext cx="4338919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la ventana de contexto</a:t>
            </a:r>
            <a:endParaRPr lang="en-US" sz="1200" dirty="0"/>
          </a:p>
        </p:txBody>
      </p:sp>
      <p:sp>
        <p:nvSpPr>
          <p:cNvPr id="7" name="Shape"/>
          <p:cNvSpPr/>
          <p:nvPr/>
        </p:nvSpPr>
        <p:spPr>
          <a:xfrm>
            <a:off x="7045847" y="1330000"/>
            <a:ext cx="457892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7165847" y="1330000"/>
            <a:ext cx="43389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9" name="Shape"/>
          <p:cNvSpPr/>
          <p:nvPr/>
        </p:nvSpPr>
        <p:spPr>
          <a:xfrm>
            <a:off x="566928" y="1730000"/>
            <a:ext cx="190000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86928" y="1730000"/>
            <a:ext cx="16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fijo</a:t>
            </a:r>
            <a:endParaRPr lang="en-US" sz="1250" dirty="0"/>
          </a:p>
        </p:txBody>
      </p:sp>
      <p:sp>
        <p:nvSpPr>
          <p:cNvPr id="11" name="Shape"/>
          <p:cNvSpPr/>
          <p:nvPr/>
        </p:nvSpPr>
        <p:spPr>
          <a:xfrm>
            <a:off x="2466928" y="1730000"/>
            <a:ext cx="4578919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2586928" y="1730000"/>
            <a:ext cx="433891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Ninguno: adjuntas y preguntas.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7045847" y="1730000"/>
            <a:ext cx="457892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7165847" y="1730000"/>
            <a:ext cx="43389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mantener el índice: fragmentar, vectorizar, almacenar y actualizar.</a:t>
            </a:r>
            <a:endParaRPr lang="en-US" sz="1250" dirty="0"/>
          </a:p>
        </p:txBody>
      </p:sp>
      <p:sp>
        <p:nvSpPr>
          <p:cNvPr id="15" name="Shape"/>
          <p:cNvSpPr/>
          <p:nvPr/>
        </p:nvSpPr>
        <p:spPr>
          <a:xfrm>
            <a:off x="566928" y="2490000"/>
            <a:ext cx="19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86928" y="2490000"/>
            <a:ext cx="16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por consulta</a:t>
            </a:r>
            <a:endParaRPr lang="en-US" sz="1250" dirty="0"/>
          </a:p>
        </p:txBody>
      </p:sp>
      <p:sp>
        <p:nvSpPr>
          <p:cNvPr id="17" name="Shape"/>
          <p:cNvSpPr/>
          <p:nvPr/>
        </p:nvSpPr>
        <p:spPr>
          <a:xfrm>
            <a:off x="2466928" y="2490000"/>
            <a:ext cx="4578919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2586928" y="2490000"/>
            <a:ext cx="433891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todas las páginas en cada pregunta.</a:t>
            </a:r>
            <a:endParaRPr lang="en-US" sz="1250" dirty="0"/>
          </a:p>
        </p:txBody>
      </p:sp>
      <p:sp>
        <p:nvSpPr>
          <p:cNvPr id="19" name="Shape"/>
          <p:cNvSpPr/>
          <p:nvPr/>
        </p:nvSpPr>
        <p:spPr>
          <a:xfrm>
            <a:off x="7045847" y="2490000"/>
            <a:ext cx="457892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165847" y="2490000"/>
            <a:ext cx="43389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solo los fragmentos recuperados, que son los mejor calificados, no necesariamente los correctos.</a:t>
            </a:r>
            <a:endParaRPr lang="en-US" sz="1250" dirty="0"/>
          </a:p>
        </p:txBody>
      </p:sp>
      <p:sp>
        <p:nvSpPr>
          <p:cNvPr id="21" name="Shape"/>
          <p:cNvSpPr/>
          <p:nvPr/>
        </p:nvSpPr>
        <p:spPr>
          <a:xfrm>
            <a:off x="566928" y="3250000"/>
            <a:ext cx="190000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86928" y="3250000"/>
            <a:ext cx="16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</a:t>
            </a:r>
            <a:endParaRPr lang="en-US" sz="1250" dirty="0"/>
          </a:p>
        </p:txBody>
      </p:sp>
      <p:sp>
        <p:nvSpPr>
          <p:cNvPr id="23" name="Shape"/>
          <p:cNvSpPr/>
          <p:nvPr/>
        </p:nvSpPr>
        <p:spPr>
          <a:xfrm>
            <a:off x="2466928" y="3250000"/>
            <a:ext cx="4578919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2586928" y="3250000"/>
            <a:ext cx="433891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con lo que cargas. Anthropic reportó 11.5 segundos para 100 mil tokens sin caché y 2.4 con caché.</a:t>
            </a:r>
            <a:endParaRPr lang="en-US" sz="1250" dirty="0"/>
          </a:p>
        </p:txBody>
      </p:sp>
      <p:sp>
        <p:nvSpPr>
          <p:cNvPr id="25" name="Shape"/>
          <p:cNvSpPr/>
          <p:nvPr/>
        </p:nvSpPr>
        <p:spPr>
          <a:xfrm>
            <a:off x="7045847" y="3250000"/>
            <a:ext cx="457892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7165847" y="3250000"/>
            <a:ext cx="43389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no depende del tamaño del acervo, porque al modelo le llegan pocos miles de tokens.</a:t>
            </a:r>
            <a:endParaRPr lang="en-US" sz="1250" dirty="0"/>
          </a:p>
        </p:txBody>
      </p:sp>
      <p:sp>
        <p:nvSpPr>
          <p:cNvPr id="27" name="Shape"/>
          <p:cNvSpPr/>
          <p:nvPr/>
        </p:nvSpPr>
        <p:spPr>
          <a:xfrm>
            <a:off x="566928" y="4010000"/>
            <a:ext cx="19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686928" y="4010000"/>
            <a:ext cx="16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250" dirty="0"/>
          </a:p>
        </p:txBody>
      </p:sp>
      <p:sp>
        <p:nvSpPr>
          <p:cNvPr id="29" name="Shape"/>
          <p:cNvSpPr/>
          <p:nvPr/>
        </p:nvSpPr>
        <p:spPr>
          <a:xfrm>
            <a:off x="2466928" y="4010000"/>
            <a:ext cx="4578919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2586928" y="4010000"/>
            <a:ext cx="433891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el tope de la ventana: alrededor de un millón de tokens en los modelos principales.</a:t>
            </a:r>
            <a:endParaRPr lang="en-US" sz="1250" dirty="0"/>
          </a:p>
        </p:txBody>
      </p:sp>
      <p:sp>
        <p:nvSpPr>
          <p:cNvPr id="31" name="Shape"/>
          <p:cNvSpPr/>
          <p:nvPr/>
        </p:nvSpPr>
        <p:spPr>
          <a:xfrm>
            <a:off x="7045847" y="4010000"/>
            <a:ext cx="457892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7165847" y="4010000"/>
            <a:ext cx="43389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Acervos mucho mayores que cualquier ventana. Grande, no infinita: los índices también tienen topes.</a:t>
            </a:r>
            <a:endParaRPr lang="en-US" sz="1250" dirty="0"/>
          </a:p>
        </p:txBody>
      </p:sp>
      <p:sp>
        <p:nvSpPr>
          <p:cNvPr id="33" name="Shape"/>
          <p:cNvSpPr/>
          <p:nvPr/>
        </p:nvSpPr>
        <p:spPr>
          <a:xfrm>
            <a:off x="566928" y="4770000"/>
            <a:ext cx="190000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86928" y="4770000"/>
            <a:ext cx="16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falla</a:t>
            </a:r>
            <a:endParaRPr lang="en-US" sz="1250" dirty="0"/>
          </a:p>
        </p:txBody>
      </p:sp>
      <p:sp>
        <p:nvSpPr>
          <p:cNvPr id="35" name="Shape"/>
          <p:cNvSpPr/>
          <p:nvPr/>
        </p:nvSpPr>
        <p:spPr>
          <a:xfrm>
            <a:off x="2466928" y="4770000"/>
            <a:ext cx="4578919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6" name="Text"/>
          <p:cNvSpPr txBox="1"/>
          <p:nvPr/>
        </p:nvSpPr>
        <p:spPr>
          <a:xfrm>
            <a:off x="2586928" y="4770000"/>
            <a:ext cx="4338919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más texto, peor aprovecha cada parte. La ventana útil es menor que la anunciada.</a:t>
            </a:r>
            <a:endParaRPr lang="en-US" sz="1250" dirty="0"/>
          </a:p>
        </p:txBody>
      </p:sp>
      <p:sp>
        <p:nvSpPr>
          <p:cNvPr id="37" name="Shape"/>
          <p:cNvSpPr/>
          <p:nvPr/>
        </p:nvSpPr>
        <p:spPr>
          <a:xfrm>
            <a:off x="7045847" y="4770000"/>
            <a:ext cx="4578920" cy="760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7165847" y="4770000"/>
            <a:ext cx="433892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buscador no trae el fragmento correcto, el modelo responde sin él.</a:t>
            </a:r>
            <a:endParaRPr lang="en-US" sz="1250" dirty="0"/>
          </a:p>
        </p:txBody>
      </p:sp>
      <p:sp>
        <p:nvSpPr>
          <p:cNvPr id="39" name="Shape"/>
          <p:cNvSpPr/>
          <p:nvPr/>
        </p:nvSpPr>
        <p:spPr>
          <a:xfrm>
            <a:off x="566928" y="5640000"/>
            <a:ext cx="11057839" cy="64000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0" name="Text"/>
          <p:cNvSpPr txBox="1"/>
          <p:nvPr/>
        </p:nvSpPr>
        <p:spPr>
          <a:xfrm>
            <a:off x="804672" y="5640000"/>
            <a:ext cx="10582351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caché de prompts acorta la brecha: releer el mismo acervo cuesta alrededor de la décima parte mientras la caché siga viva. No la elimina, y no ayuda si las consultas son esporádicas. Cifras de espera como «30 a 45 segundos contra 1 o 2» circulan sin fuente.</a:t>
            </a:r>
            <a:endParaRPr lang="en-US" sz="1300" dirty="0"/>
          </a:p>
        </p:txBody>
      </p:sp>
      <p:sp>
        <p:nvSpPr>
          <p:cNvPr id="41" name="Text"/>
          <p:cNvSpPr txBox="1"/>
          <p:nvPr/>
        </p:nvSpPr>
        <p:spPr>
          <a:xfrm>
            <a:off x="566928" y="638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Anthropic, «Prompt caching with Claude» · Li y otros (2024), arXiv:2407.16833 · Hsieh y otros (2024), RULER, arXiv:2404.06654.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ómo fal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falla a su manera, y ninguna avisa</a:t>
            </a:r>
            <a:endParaRPr lang="en-US" sz="3200" dirty="0"/>
          </a:p>
        </p:txBody>
      </p:sp>
      <p:sp>
        <p:nvSpPr>
          <p:cNvPr id="3" name="Shape"/>
          <p:cNvSpPr/>
          <p:nvPr/>
        </p:nvSpPr>
        <p:spPr>
          <a:xfrm>
            <a:off x="566928" y="1330000"/>
            <a:ext cx="5378919" cy="41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804672" y="1510000"/>
            <a:ext cx="4903431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LA VENTANA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804672" y="1800000"/>
            <a:ext cx="4903431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 lo que queda en medio</a:t>
            </a:r>
            <a:endParaRPr lang="en-US" sz="1600" dirty="0"/>
          </a:p>
        </p:txBody>
      </p:sp>
      <p:sp>
        <p:nvSpPr>
          <p:cNvPr id="6" name="Shape"/>
          <p:cNvSpPr/>
          <p:nvPr/>
        </p:nvSpPr>
        <p:spPr>
          <a:xfrm>
            <a:off x="1054672" y="2342500"/>
            <a:ext cx="480000" cy="1187500"/>
          </a:xfrm>
          <a:prstGeom prst="rect">
            <a:avLst/>
          </a:prstGeom>
          <a:solidFill>
            <a:srgbClr val="2E7D7D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1644672" y="2655000"/>
            <a:ext cx="480000" cy="875000"/>
          </a:xfrm>
          <a:prstGeom prst="rect">
            <a:avLst/>
          </a:prstGeom>
          <a:solidFill>
            <a:srgbClr val="9DC5C5"/>
          </a:solidFill>
          <a:ln>
            <a:noFill/>
          </a:ln>
        </p:spPr>
      </p:sp>
      <p:sp>
        <p:nvSpPr>
          <p:cNvPr id="8" name="Shape"/>
          <p:cNvSpPr/>
          <p:nvPr/>
        </p:nvSpPr>
        <p:spPr>
          <a:xfrm>
            <a:off x="2234672" y="2880000"/>
            <a:ext cx="480000" cy="650000"/>
          </a:xfrm>
          <a:prstGeom prst="rect">
            <a:avLst/>
          </a:prstGeom>
          <a:solidFill>
            <a:srgbClr val="9DC5C5"/>
          </a:solidFill>
          <a:ln>
            <a:noFill/>
          </a:ln>
        </p:spPr>
      </p:sp>
      <p:sp>
        <p:nvSpPr>
          <p:cNvPr id="9" name="Shape"/>
          <p:cNvSpPr/>
          <p:nvPr/>
        </p:nvSpPr>
        <p:spPr>
          <a:xfrm>
            <a:off x="2824672" y="2967500"/>
            <a:ext cx="480000" cy="562500"/>
          </a:xfrm>
          <a:prstGeom prst="rect">
            <a:avLst/>
          </a:prstGeom>
          <a:solidFill>
            <a:srgbClr val="9DC5C5"/>
          </a:solidFill>
          <a:ln>
            <a:noFill/>
          </a:ln>
        </p:spPr>
      </p:sp>
      <p:sp>
        <p:nvSpPr>
          <p:cNvPr id="10" name="Shape"/>
          <p:cNvSpPr/>
          <p:nvPr/>
        </p:nvSpPr>
        <p:spPr>
          <a:xfrm>
            <a:off x="3414672" y="2880000"/>
            <a:ext cx="480000" cy="650000"/>
          </a:xfrm>
          <a:prstGeom prst="rect">
            <a:avLst/>
          </a:prstGeom>
          <a:solidFill>
            <a:srgbClr val="9DC5C5"/>
          </a:solidFill>
          <a:ln>
            <a:noFill/>
          </a:ln>
        </p:spPr>
      </p:sp>
      <p:sp>
        <p:nvSpPr>
          <p:cNvPr id="11" name="Shape"/>
          <p:cNvSpPr/>
          <p:nvPr/>
        </p:nvSpPr>
        <p:spPr>
          <a:xfrm>
            <a:off x="4004672" y="2680000"/>
            <a:ext cx="480000" cy="850000"/>
          </a:xfrm>
          <a:prstGeom prst="rect">
            <a:avLst/>
          </a:prstGeom>
          <a:solidFill>
            <a:srgbClr val="9DC5C5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4594672" y="2430000"/>
            <a:ext cx="480000" cy="1100000"/>
          </a:xfrm>
          <a:prstGeom prst="rect">
            <a:avLst/>
          </a:prstGeom>
          <a:solidFill>
            <a:srgbClr val="2E7D7D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954672" y="3530000"/>
            <a:ext cx="4350000" cy="12700"/>
          </a:xfrm>
          <a:prstGeom prst="rect">
            <a:avLst/>
          </a:prstGeom>
          <a:solidFill>
            <a:srgbClr val="16262E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954672" y="3590000"/>
            <a:ext cx="43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 ←  dónde quedó el dato dentro del contexto  →  final</a:t>
            </a:r>
            <a:endParaRPr lang="en-US" sz="1050" dirty="0"/>
          </a:p>
        </p:txBody>
      </p:sp>
      <p:sp>
        <p:nvSpPr>
          <p:cNvPr id="15" name="Text"/>
          <p:cNvSpPr txBox="1"/>
          <p:nvPr/>
        </p:nvSpPr>
        <p:spPr>
          <a:xfrm>
            <a:off x="954672" y="3830000"/>
            <a:ext cx="43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ilustrativo de la forma en U. No son los datos del artículo.</a:t>
            </a:r>
            <a:endParaRPr lang="en-US" sz="1000" dirty="0"/>
          </a:p>
        </p:txBody>
      </p:sp>
      <p:sp>
        <p:nvSpPr>
          <p:cNvPr id="16" name="Text"/>
          <p:cNvSpPr txBox="1"/>
          <p:nvPr/>
        </p:nvSpPr>
        <p:spPr>
          <a:xfrm>
            <a:off x="804672" y="4080000"/>
            <a:ext cx="4903431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y otros movieron de lugar el dato clave dentro del contexto. Al principio o al final, el modelo lo usaba; en medio, mucho menos.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 modelos de 2023. Los actuales lo mitigaron en búsquedas sencillas, pero su exactitud sigue cayendo conforme crece el contexto.</a:t>
            </a:r>
            <a:endParaRPr lang="en-US" sz="1250" dirty="0"/>
          </a:p>
        </p:txBody>
      </p:sp>
      <p:sp>
        <p:nvSpPr>
          <p:cNvPr id="17" name="Shape"/>
          <p:cNvSpPr/>
          <p:nvPr/>
        </p:nvSpPr>
        <p:spPr>
          <a:xfrm>
            <a:off x="6245847" y="1330000"/>
            <a:ext cx="5378919" cy="41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6483591" y="1510000"/>
            <a:ext cx="4903431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19" name="Text"/>
          <p:cNvSpPr txBox="1"/>
          <p:nvPr/>
        </p:nvSpPr>
        <p:spPr>
          <a:xfrm>
            <a:off x="6483591" y="1800000"/>
            <a:ext cx="4903431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libro correcto se queda en el estante</a:t>
            </a:r>
            <a:endParaRPr lang="en-US" sz="1600" dirty="0"/>
          </a:p>
        </p:txBody>
      </p:sp>
      <p:sp>
        <p:nvSpPr>
          <p:cNvPr id="20" name="Shape"/>
          <p:cNvSpPr/>
          <p:nvPr/>
        </p:nvSpPr>
        <p:spPr>
          <a:xfrm>
            <a:off x="658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21" name="Shape"/>
          <p:cNvSpPr/>
          <p:nvPr/>
        </p:nvSpPr>
        <p:spPr>
          <a:xfrm>
            <a:off x="6913591" y="2280000"/>
            <a:ext cx="250000" cy="60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22" name="Shape"/>
          <p:cNvSpPr/>
          <p:nvPr/>
        </p:nvSpPr>
        <p:spPr>
          <a:xfrm>
            <a:off x="724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23" name="Shape"/>
          <p:cNvSpPr/>
          <p:nvPr/>
        </p:nvSpPr>
        <p:spPr>
          <a:xfrm>
            <a:off x="757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24" name="Shape"/>
          <p:cNvSpPr/>
          <p:nvPr/>
        </p:nvSpPr>
        <p:spPr>
          <a:xfrm>
            <a:off x="7903591" y="2280000"/>
            <a:ext cx="250000" cy="60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823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26" name="Shape"/>
          <p:cNvSpPr/>
          <p:nvPr/>
        </p:nvSpPr>
        <p:spPr>
          <a:xfrm>
            <a:off x="8563591" y="2280000"/>
            <a:ext cx="250000" cy="600000"/>
          </a:xfrm>
          <a:prstGeom prst="rect">
            <a:avLst/>
          </a:prstGeom>
          <a:solidFill>
            <a:srgbClr val="F7E4D8"/>
          </a:solidFill>
          <a:ln w="15875">
            <a:solidFill>
              <a:srgbClr val="C85A28"/>
            </a:solidFill>
            <a:prstDash val="solid"/>
          </a:ln>
        </p:spPr>
      </p:sp>
      <p:sp>
        <p:nvSpPr>
          <p:cNvPr id="27" name="Shape"/>
          <p:cNvSpPr/>
          <p:nvPr/>
        </p:nvSpPr>
        <p:spPr>
          <a:xfrm>
            <a:off x="889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28" name="Shape"/>
          <p:cNvSpPr/>
          <p:nvPr/>
        </p:nvSpPr>
        <p:spPr>
          <a:xfrm>
            <a:off x="9223591" y="2280000"/>
            <a:ext cx="250000" cy="60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29" name="Shape"/>
          <p:cNvSpPr/>
          <p:nvPr/>
        </p:nvSpPr>
        <p:spPr>
          <a:xfrm>
            <a:off x="9553591" y="2280000"/>
            <a:ext cx="250000" cy="6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62E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6533591" y="2880000"/>
            <a:ext cx="3400000" cy="25400"/>
          </a:xfrm>
          <a:prstGeom prst="rect">
            <a:avLst/>
          </a:prstGeom>
          <a:solidFill>
            <a:srgbClr val="16262E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6533591" y="2960000"/>
            <a:ext cx="3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acervo: en naranja, el fragmento que sí respondía</a:t>
            </a:r>
            <a:endParaRPr lang="en-US" sz="1050" dirty="0"/>
          </a:p>
        </p:txBody>
      </p:sp>
      <p:sp>
        <p:nvSpPr>
          <p:cNvPr id="32" name="Shape"/>
          <p:cNvSpPr/>
          <p:nvPr/>
        </p:nvSpPr>
        <p:spPr>
          <a:xfrm>
            <a:off x="7983591" y="3240000"/>
            <a:ext cx="240000" cy="260000"/>
          </a:xfrm>
          <a:prstGeom prst="down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3" name="Shape"/>
          <p:cNvSpPr/>
          <p:nvPr/>
        </p:nvSpPr>
        <p:spPr>
          <a:xfrm>
            <a:off x="6583591" y="3590000"/>
            <a:ext cx="250000" cy="33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34" name="Shape"/>
          <p:cNvSpPr/>
          <p:nvPr/>
        </p:nvSpPr>
        <p:spPr>
          <a:xfrm>
            <a:off x="6913591" y="3590000"/>
            <a:ext cx="250000" cy="33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35" name="Shape"/>
          <p:cNvSpPr/>
          <p:nvPr/>
        </p:nvSpPr>
        <p:spPr>
          <a:xfrm>
            <a:off x="7243591" y="3590000"/>
            <a:ext cx="250000" cy="330000"/>
          </a:xfrm>
          <a:prstGeom prst="rect">
            <a:avLst/>
          </a:prstGeom>
          <a:solidFill>
            <a:srgbClr val="D7E7E7"/>
          </a:solidFill>
          <a:ln w="15875">
            <a:solidFill>
              <a:srgbClr val="2E7D7D"/>
            </a:solidFill>
            <a:prstDash val="solid"/>
          </a:ln>
        </p:spPr>
      </p:sp>
      <p:sp>
        <p:nvSpPr>
          <p:cNvPr id="36" name="Shape"/>
          <p:cNvSpPr/>
          <p:nvPr/>
        </p:nvSpPr>
        <p:spPr>
          <a:xfrm>
            <a:off x="7683591" y="365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7" name="Shape"/>
          <p:cNvSpPr/>
          <p:nvPr/>
        </p:nvSpPr>
        <p:spPr>
          <a:xfrm>
            <a:off x="8003591" y="3550000"/>
            <a:ext cx="1000000" cy="420000"/>
          </a:xfrm>
          <a:prstGeom prst="roundRect">
            <a:avLst>
              <a:gd name="adj" fmla="val 3000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8043591" y="3550000"/>
            <a:ext cx="9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100" dirty="0"/>
          </a:p>
        </p:txBody>
      </p:sp>
      <p:sp>
        <p:nvSpPr>
          <p:cNvPr id="39" name="Shape"/>
          <p:cNvSpPr/>
          <p:nvPr/>
        </p:nvSpPr>
        <p:spPr>
          <a:xfrm>
            <a:off x="9083591" y="3650000"/>
            <a:ext cx="230000" cy="22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0" name="Shape"/>
          <p:cNvSpPr/>
          <p:nvPr/>
        </p:nvSpPr>
        <p:spPr>
          <a:xfrm>
            <a:off x="9403591" y="3550000"/>
            <a:ext cx="1750000" cy="420000"/>
          </a:xfrm>
          <a:prstGeom prst="roundRect">
            <a:avLst>
              <a:gd name="adj" fmla="val 3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9443591" y="3550000"/>
            <a:ext cx="16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sin el dato</a:t>
            </a:r>
            <a:endParaRPr lang="en-US" sz="1100" dirty="0"/>
          </a:p>
        </p:txBody>
      </p:sp>
      <p:sp>
        <p:nvSpPr>
          <p:cNvPr id="42" name="Text"/>
          <p:cNvSpPr txBox="1"/>
          <p:nvPr/>
        </p:nvSpPr>
        <p:spPr>
          <a:xfrm>
            <a:off x="6483591" y="4080000"/>
            <a:ext cx="4903431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fragmento que responde no queda entre los recuperados, el modelo contesta con lo que sí llegó.</a:t>
            </a:r>
            <a:endParaRPr lang="en-US" sz="1250" dirty="0"/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Magesh y otros midieron herramientas jurídicas con RAG que se anunciaban sin alucinaciones: alucinaron entre 17% y 33% de las veces.</a:t>
            </a:r>
            <a:endParaRPr lang="en-US" sz="1250" dirty="0"/>
          </a:p>
        </p:txBody>
      </p:sp>
      <p:sp>
        <p:nvSpPr>
          <p:cNvPr id="43" name="Shape"/>
          <p:cNvSpPr/>
          <p:nvPr/>
        </p:nvSpPr>
        <p:spPr>
          <a:xfrm>
            <a:off x="566928" y="5640000"/>
            <a:ext cx="11057839" cy="56000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804672" y="5640000"/>
            <a:ext cx="10582351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defensa es el primer paso del protocolo del curso: trazar. Pide la cita, ve al párrafo y confirma que dice lo que el modelo dice que dice.</a:t>
            </a:r>
            <a:endParaRPr lang="en-US" sz="1300" dirty="0"/>
          </a:p>
        </p:txBody>
      </p:sp>
      <p:sp>
        <p:nvSpPr>
          <p:cNvPr id="45" name="Text"/>
          <p:cNvSpPr txBox="1"/>
          <p:nvPr/>
        </p:nvSpPr>
        <p:spPr>
          <a:xfrm>
            <a:off x="566928" y="633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Liu y otros (2024), TACL, arXiv:2307.03172 · Modarressi y otros (2025), NoLiMa, arXiv:2502.05167 · Magesh y otros (2024), arXiv:2405.20362.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ónde está el R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el RAG en lo que ya usas</a:t>
            </a:r>
            <a:endParaRPr lang="en-US" sz="3200" dirty="0"/>
          </a:p>
        </p:txBody>
      </p:sp>
      <p:sp>
        <p:nvSpPr>
          <p:cNvPr id="3" name="Shape"/>
          <p:cNvSpPr/>
          <p:nvPr/>
        </p:nvSpPr>
        <p:spPr>
          <a:xfrm>
            <a:off x="566928" y="1300000"/>
            <a:ext cx="270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86928" y="1300000"/>
            <a:ext cx="246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</a:t>
            </a:r>
            <a:endParaRPr lang="en-US" sz="1200" dirty="0"/>
          </a:p>
        </p:txBody>
      </p:sp>
      <p:sp>
        <p:nvSpPr>
          <p:cNvPr id="5" name="Shape"/>
          <p:cNvSpPr/>
          <p:nvPr/>
        </p:nvSpPr>
        <p:spPr>
          <a:xfrm>
            <a:off x="3266928" y="1300000"/>
            <a:ext cx="4300000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3386928" y="1300000"/>
            <a:ext cx="406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camino usa</a:t>
            </a:r>
            <a:endParaRPr lang="en-US" sz="1200" dirty="0"/>
          </a:p>
        </p:txBody>
      </p:sp>
      <p:sp>
        <p:nvSpPr>
          <p:cNvPr id="7" name="Shape"/>
          <p:cNvSpPr/>
          <p:nvPr/>
        </p:nvSpPr>
        <p:spPr>
          <a:xfrm>
            <a:off x="7566928" y="1300000"/>
            <a:ext cx="4057839" cy="400000"/>
          </a:xfrm>
          <a:prstGeom prst="rect">
            <a:avLst/>
          </a:prstGeom>
          <a:solidFill>
            <a:srgbClr val="1626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7686928" y="1300000"/>
            <a:ext cx="3817839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para ti</a:t>
            </a:r>
            <a:endParaRPr lang="en-US" sz="1200" dirty="0"/>
          </a:p>
        </p:txBody>
      </p:sp>
      <p:sp>
        <p:nvSpPr>
          <p:cNvPr id="9" name="Shape"/>
          <p:cNvSpPr/>
          <p:nvPr/>
        </p:nvSpPr>
        <p:spPr>
          <a:xfrm>
            <a:off x="566928" y="1700000"/>
            <a:ext cx="27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86928" y="1700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 del Instituto</a:t>
            </a:r>
            <a:endParaRPr lang="en-US" sz="1200" dirty="0"/>
          </a:p>
        </p:txBody>
      </p:sp>
      <p:sp>
        <p:nvSpPr>
          <p:cNvPr id="11" name="Shape"/>
          <p:cNvSpPr/>
          <p:nvPr/>
        </p:nvSpPr>
        <p:spPr>
          <a:xfrm>
            <a:off x="3266928" y="1700000"/>
            <a:ext cx="43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3386928" y="1700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con acceso a tu OneDrive. Eliges tus archivos desde el chat, pero trabaja solo con los que tú agregas; para contestar no recorre los demás.</a:t>
            </a:r>
            <a:endParaRPr lang="en-US" sz="1200" dirty="0"/>
          </a:p>
        </p:txBody>
      </p:sp>
      <p:sp>
        <p:nvSpPr>
          <p:cNvPr id="13" name="Shape"/>
          <p:cNvSpPr/>
          <p:nvPr/>
        </p:nvSpPr>
        <p:spPr>
          <a:xfrm>
            <a:off x="7566928" y="1700000"/>
            <a:ext cx="4057839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7686928" y="1700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bibliotecario eres tú. Es lo único apto para información amarilla.</a:t>
            </a:r>
            <a:endParaRPr lang="en-US" sz="1200" dirty="0"/>
          </a:p>
        </p:txBody>
      </p:sp>
      <p:sp>
        <p:nvSpPr>
          <p:cNvPr id="15" name="Shape"/>
          <p:cNvSpPr/>
          <p:nvPr/>
        </p:nvSpPr>
        <p:spPr>
          <a:xfrm>
            <a:off x="566928" y="2415000"/>
            <a:ext cx="27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86928" y="2415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Copilot, licencia de paga</a:t>
            </a:r>
            <a:endParaRPr lang="en-US" sz="1200" dirty="0"/>
          </a:p>
        </p:txBody>
      </p:sp>
      <p:sp>
        <p:nvSpPr>
          <p:cNvPr id="17" name="Shape"/>
          <p:cNvSpPr/>
          <p:nvPr/>
        </p:nvSpPr>
        <p:spPr>
          <a:xfrm>
            <a:off x="3266928" y="2415000"/>
            <a:ext cx="43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3386928" y="2415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Biblioteca. Índice semántico sobre correo, OneDrive y SharePoint.</a:t>
            </a:r>
            <a:endParaRPr lang="en-US" sz="1200" dirty="0"/>
          </a:p>
        </p:txBody>
      </p:sp>
      <p:sp>
        <p:nvSpPr>
          <p:cNvPr id="19" name="Shape"/>
          <p:cNvSpPr/>
          <p:nvPr/>
        </p:nvSpPr>
        <p:spPr>
          <a:xfrm>
            <a:off x="7566928" y="2415000"/>
            <a:ext cx="4057839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686928" y="2415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a Copilot dentro de Word y Excel. Ojo: a Excel lo encuentra solo por palabras clave, no por significado.</a:t>
            </a:r>
            <a:endParaRPr lang="en-US" sz="1200" dirty="0"/>
          </a:p>
        </p:txBody>
      </p:sp>
      <p:sp>
        <p:nvSpPr>
          <p:cNvPr id="21" name="Shape"/>
          <p:cNvSpPr/>
          <p:nvPr/>
        </p:nvSpPr>
        <p:spPr>
          <a:xfrm>
            <a:off x="566928" y="3130000"/>
            <a:ext cx="27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86928" y="3130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y You.com</a:t>
            </a:r>
            <a:endParaRPr lang="en-US" sz="1200" dirty="0"/>
          </a:p>
        </p:txBody>
      </p:sp>
      <p:sp>
        <p:nvSpPr>
          <p:cNvPr id="23" name="Shape"/>
          <p:cNvSpPr/>
          <p:nvPr/>
        </p:nvSpPr>
        <p:spPr>
          <a:xfrm>
            <a:off x="3266928" y="3130000"/>
            <a:ext cx="43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3386928" y="3130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la web: buscan, leen y citan.</a:t>
            </a:r>
            <a:endParaRPr lang="en-US" sz="1200" dirty="0"/>
          </a:p>
        </p:txBody>
      </p:sp>
      <p:sp>
        <p:nvSpPr>
          <p:cNvPr id="25" name="Shape"/>
          <p:cNvSpPr/>
          <p:nvPr/>
        </p:nvSpPr>
        <p:spPr>
          <a:xfrm>
            <a:off x="7566928" y="3130000"/>
            <a:ext cx="4057839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7686928" y="3130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cita se abre y se lee. Solo información verde.</a:t>
            </a:r>
            <a:endParaRPr lang="en-US" sz="1200" dirty="0"/>
          </a:p>
        </p:txBody>
      </p:sp>
      <p:sp>
        <p:nvSpPr>
          <p:cNvPr id="27" name="Shape"/>
          <p:cNvSpPr/>
          <p:nvPr/>
        </p:nvSpPr>
        <p:spPr>
          <a:xfrm>
            <a:off x="566928" y="3845000"/>
            <a:ext cx="27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686928" y="3845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 y Consensus</a:t>
            </a:r>
            <a:endParaRPr lang="en-US" sz="1200" dirty="0"/>
          </a:p>
        </p:txBody>
      </p:sp>
      <p:sp>
        <p:nvSpPr>
          <p:cNvPr id="29" name="Shape"/>
          <p:cNvSpPr/>
          <p:nvPr/>
        </p:nvSpPr>
        <p:spPr>
          <a:xfrm>
            <a:off x="3266928" y="3845000"/>
            <a:ext cx="43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3386928" y="3845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literatura académica.</a:t>
            </a:r>
            <a:endParaRPr lang="en-US" sz="1200" dirty="0"/>
          </a:p>
        </p:txBody>
      </p:sp>
      <p:sp>
        <p:nvSpPr>
          <p:cNvPr id="31" name="Shape"/>
          <p:cNvSpPr/>
          <p:nvPr/>
        </p:nvSpPr>
        <p:spPr>
          <a:xfrm>
            <a:off x="7566928" y="3845000"/>
            <a:ext cx="4057839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7686928" y="3845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artículo exista y diga lo que dicen que dice. Solo información verde.</a:t>
            </a:r>
            <a:endParaRPr lang="en-US" sz="1200" dirty="0"/>
          </a:p>
        </p:txBody>
      </p:sp>
      <p:sp>
        <p:nvSpPr>
          <p:cNvPr id="33" name="Shape"/>
          <p:cNvSpPr/>
          <p:nvPr/>
        </p:nvSpPr>
        <p:spPr>
          <a:xfrm>
            <a:off x="566928" y="4560000"/>
            <a:ext cx="27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86928" y="4560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NotebookLM, hoy Gemini Notebook</a:t>
            </a:r>
            <a:endParaRPr lang="en-US" sz="1200" dirty="0"/>
          </a:p>
        </p:txBody>
      </p:sp>
      <p:sp>
        <p:nvSpPr>
          <p:cNvPr id="35" name="Shape"/>
          <p:cNvSpPr/>
          <p:nvPr/>
        </p:nvSpPr>
        <p:spPr>
          <a:xfrm>
            <a:off x="3266928" y="4560000"/>
            <a:ext cx="4300000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6" name="Text"/>
          <p:cNvSpPr txBox="1"/>
          <p:nvPr/>
        </p:nvSpPr>
        <p:spPr>
          <a:xfrm>
            <a:off x="3386928" y="4560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las fuentes que tú subes, con cita al pasaje.</a:t>
            </a:r>
            <a:endParaRPr lang="en-US" sz="1200" dirty="0"/>
          </a:p>
        </p:txBody>
      </p:sp>
      <p:sp>
        <p:nvSpPr>
          <p:cNvPr id="37" name="Shape"/>
          <p:cNvSpPr/>
          <p:nvPr/>
        </p:nvSpPr>
        <p:spPr>
          <a:xfrm>
            <a:off x="7566928" y="4560000"/>
            <a:ext cx="4057839" cy="715000"/>
          </a:xfrm>
          <a:prstGeom prst="rect">
            <a:avLst/>
          </a:prstGeom>
          <a:solidFill>
            <a:srgbClr val="F2F5F6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7686928" y="4560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Bloqueada en la red del Instituto. Vale la pena solicitarla.</a:t>
            </a:r>
            <a:endParaRPr lang="en-US" sz="1200" dirty="0"/>
          </a:p>
        </p:txBody>
      </p:sp>
      <p:sp>
        <p:nvSpPr>
          <p:cNvPr id="39" name="Shape"/>
          <p:cNvSpPr/>
          <p:nvPr/>
        </p:nvSpPr>
        <p:spPr>
          <a:xfrm>
            <a:off x="566928" y="5275000"/>
            <a:ext cx="27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0" name="Text"/>
          <p:cNvSpPr txBox="1"/>
          <p:nvPr/>
        </p:nvSpPr>
        <p:spPr>
          <a:xfrm>
            <a:off x="686928" y="5275000"/>
            <a:ext cx="24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 y Gemini</a:t>
            </a:r>
            <a:endParaRPr lang="en-US" sz="1200" dirty="0"/>
          </a:p>
        </p:txBody>
      </p:sp>
      <p:sp>
        <p:nvSpPr>
          <p:cNvPr id="41" name="Shape"/>
          <p:cNvSpPr/>
          <p:nvPr/>
        </p:nvSpPr>
        <p:spPr>
          <a:xfrm>
            <a:off x="3266928" y="5275000"/>
            <a:ext cx="4300000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2" name="Text"/>
          <p:cNvSpPr txBox="1"/>
          <p:nvPr/>
        </p:nvSpPr>
        <p:spPr>
          <a:xfrm>
            <a:off x="3386928" y="5275000"/>
            <a:ext cx="4060000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Mixto. Lo que cabe va al contexto; con archivos largos o proyectos grandes, recuperan fragmentos. También buscan en la web.</a:t>
            </a:r>
            <a:endParaRPr lang="en-US" sz="1200" dirty="0"/>
          </a:p>
        </p:txBody>
      </p:sp>
      <p:sp>
        <p:nvSpPr>
          <p:cNvPr id="43" name="Shape"/>
          <p:cNvSpPr/>
          <p:nvPr/>
        </p:nvSpPr>
        <p:spPr>
          <a:xfrm>
            <a:off x="7566928" y="5275000"/>
            <a:ext cx="4057839" cy="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3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7686928" y="5275000"/>
            <a:ext cx="3817839" cy="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 por hecho que leyó todo. Solo información verde.</a:t>
            </a:r>
            <a:endParaRPr lang="en-US" sz="1200" dirty="0"/>
          </a:p>
        </p:txBody>
      </p:sp>
      <p:sp>
        <p:nvSpPr>
          <p:cNvPr id="45" name="Text"/>
          <p:cNvSpPr txBox="1"/>
          <p:nvPr/>
        </p:nvSpPr>
        <p:spPr>
          <a:xfrm>
            <a:off x="566928" y="613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Microsoft, «How Copilot Chat works with and without a Microsoft 365 Copilot license» · Microsoft Learn, «Semantic indexing for Microsoft Copilot» · Google (2026), «NotebookLM is now Gemini Notebook».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atro fr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frases que vas a oír y que no se sostienen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3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de resúmenes bien ordenados, de los que produce cualquier asistente. Suenan correctas y no lo son.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750000"/>
            <a:ext cx="5378919" cy="208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04672" y="1950000"/>
            <a:ext cx="4903431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«Las ventanas de diez millones de tokens ya son comunes.»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804672" y="2650000"/>
            <a:ext cx="4903431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común en los modelos principales es alrededor de un millón. Diez millones solo los anunció Llama 4 Scout (Meta, 2025), y la ventana útil suele ser menor que la anunciada.</a:t>
            </a:r>
            <a:endParaRPr lang="en-US" sz="1250" dirty="0"/>
          </a:p>
        </p:txBody>
      </p:sp>
      <p:sp>
        <p:nvSpPr>
          <p:cNvPr id="7" name="Shape"/>
          <p:cNvSpPr/>
          <p:nvPr/>
        </p:nvSpPr>
        <p:spPr>
          <a:xfrm>
            <a:off x="6245847" y="1750000"/>
            <a:ext cx="5378919" cy="208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6483591" y="1950000"/>
            <a:ext cx="4903431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 RAG asegura la respuesta exacta.»</a:t>
            </a:r>
            <a:endParaRPr lang="en-US" sz="1500" dirty="0"/>
          </a:p>
        </p:txBody>
      </p:sp>
      <p:sp>
        <p:nvSpPr>
          <p:cNvPr id="9" name="Text"/>
          <p:cNvSpPr txBox="1"/>
          <p:nvPr/>
        </p:nvSpPr>
        <p:spPr>
          <a:xfrm>
            <a:off x="6483591" y="2650000"/>
            <a:ext cx="4903431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costo y ruido, pero la calidad queda limitada por el buscador. Si no recupera el fragmento correcto, el modelo responde sin él. Por eso la recuperación se mide; no se da por garantizada.</a:t>
            </a:r>
            <a:endParaRPr lang="en-US" sz="1250" dirty="0"/>
          </a:p>
        </p:txBody>
      </p:sp>
      <p:sp>
        <p:nvSpPr>
          <p:cNvPr id="10" name="Shape"/>
          <p:cNvSpPr/>
          <p:nvPr/>
        </p:nvSpPr>
        <p:spPr>
          <a:xfrm>
            <a:off x="566928" y="4000000"/>
            <a:ext cx="5378919" cy="208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04672" y="4200000"/>
            <a:ext cx="4903431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«Cuando subes un archivo, el modelo lo lee completo.»</a:t>
            </a:r>
            <a:endParaRPr lang="en-US" sz="1500" dirty="0"/>
          </a:p>
        </p:txBody>
      </p:sp>
      <p:sp>
        <p:nvSpPr>
          <p:cNvPr id="12" name="Text"/>
          <p:cNvSpPr txBox="1"/>
          <p:nvPr/>
        </p:nvSpPr>
        <p:spPr>
          <a:xfrm>
            <a:off x="804672" y="4900000"/>
            <a:ext cx="4903431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siempre. ChatGPT manda los archivos largos a un índice y recupera fragmentos, y Microsoft recomienda partir los documentos muy largos. Pregunta por una sección intermedia para comprobarlo.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6245847" y="4000000"/>
            <a:ext cx="5378919" cy="208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6483591" y="4200000"/>
            <a:ext cx="4903431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«Las versiones gratuitas no hacen RAG, y todo se borra al cerrar.»</a:t>
            </a:r>
            <a:endParaRPr lang="en-US" sz="1500" dirty="0"/>
          </a:p>
        </p:txBody>
      </p:sp>
      <p:sp>
        <p:nvSpPr>
          <p:cNvPr id="15" name="Text"/>
          <p:cNvSpPr txBox="1"/>
          <p:nvPr/>
        </p:nvSpPr>
        <p:spPr>
          <a:xfrm>
            <a:off x="6483591" y="4900000"/>
            <a:ext cx="4903431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 y Gemini gratuitos buscan en la web y citan. Y nada se borra al cerrar el chat: conversaciones y archivos quedan en la cuenta. Por eso ahí va solo información verde.</a:t>
            </a:r>
            <a:endParaRPr lang="en-US" sz="1250" dirty="0"/>
          </a:p>
        </p:txBody>
      </p:sp>
      <p:sp>
        <p:nvSpPr>
          <p:cNvPr id="16" name="Text"/>
          <p:cNvSpPr txBox="1"/>
          <p:nvPr/>
        </p:nvSpPr>
        <p:spPr>
          <a:xfrm>
            <a:off x="566928" y="630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Meta AI (2025), «The Llama 4 herd» · Hsieh y otros (2024), RULER · OpenAI Help Center, «File Uploads FAQ» · Microsoft, «File formats supported by Microsoft Copilot».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e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300000"/>
            <a:ext cx="537891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ARTÍCULOS</a:t>
            </a:r>
            <a:endParaRPr lang="en-US" sz="1100" dirty="0"/>
          </a:p>
        </p:txBody>
      </p:sp>
      <p:sp>
        <p:nvSpPr>
          <p:cNvPr id="4" name="Text"/>
          <p:cNvSpPr txBox="1"/>
          <p:nvPr/>
        </p:nvSpPr>
        <p:spPr>
          <a:xfrm>
            <a:off x="566928" y="1620000"/>
            <a:ext cx="5378919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Lewis y otros (2020). Retrieval-Augmented Generation for Knowledge-Intensive NLP Tasks. NeurIPS.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2"/>
              </a:rPr>
              <a:t>arxiv.org/abs/2005.11401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Liu y otros (2024). Lost in the Middle: How Language Models Use Long Contexts. TACL.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3"/>
              </a:rPr>
              <a:t>arxiv.org/abs/2307.03172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Li y otros (2024). Retrieval Augmented Generation or Long-Context LLMs?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4"/>
              </a:rPr>
              <a:t>arxiv.org/abs/2407.16833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Hsieh y otros (2024). RULER: What’s the Real Context Size of Your Long-Context Language Models?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5"/>
              </a:rPr>
              <a:t>arxiv.org/abs/2404.06654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Modarressi y otros (2025). NoLiMa: Long-Context Evaluation Beyond Literal Matching. ICML.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6"/>
              </a:rPr>
              <a:t>arxiv.org/abs/2502.05167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Gao y otros (2023). Retrieval-Augmented Generation for Large Language Models: A Survey.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7"/>
              </a:rPr>
              <a:t>arxiv.org/abs/2312.10997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Magesh y otros (2024). Hallucination-Free? Assessing the Reliability of Leading AI Legal Research Tools.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8"/>
              </a:rPr>
              <a:t>arxiv.org/abs/2405.20362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Es y otros (2023). Ragas: Automated Evaluation of Retrieval Augmented Generation.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9"/>
              </a:rPr>
              <a:t>arxiv.org/abs/2309.15217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245847" y="1300000"/>
            <a:ext cx="5378919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LOS FABRICANTES</a:t>
            </a:r>
            <a:endParaRPr lang="en-US" sz="1100" dirty="0"/>
          </a:p>
        </p:txBody>
      </p:sp>
      <p:sp>
        <p:nvSpPr>
          <p:cNvPr id="6" name="Text"/>
          <p:cNvSpPr txBox="1"/>
          <p:nvPr/>
        </p:nvSpPr>
        <p:spPr>
          <a:xfrm>
            <a:off x="6245847" y="1620000"/>
            <a:ext cx="5378919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Microsoft. How Copilot Chat works with and without a Microsoft 365 Copilot license.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0"/>
              </a:rPr>
              <a:t>support.microsoft.com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Microsoft Learn. Microsoft Copilot Chat Privacy and Protections.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1"/>
              </a:rPr>
              <a:t>learn.microsoft.com/en-us/copilot/privacy-and-protections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Microsoft Learn. Semantic indexing for Microsoft Copilot.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2"/>
              </a:rPr>
              <a:t>learn.microsoft.com/en-us/microsoftsearch/semantic-index-for-copilot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Microsoft. File formats supported by Microsoft Copilot.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3"/>
              </a:rPr>
              <a:t>support.microsoft.com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OpenAI Help Center. Optimizing File Uploads in ChatGPT Enterprise.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4"/>
              </a:rPr>
              <a:t>help.openai.com/en/articles/10029836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OpenAI Help Center. File Uploads FAQ.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5"/>
              </a:rPr>
              <a:t>help.openai.com/en/articles/8555545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Anthropic. Retrieval augmented generation (RAG) for projects.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6"/>
              </a:rPr>
              <a:t>support.claude.com/en/articles/11473015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Anthropic (2024). Introducing Contextual Retrieval.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7"/>
              </a:rPr>
              <a:t>anthropic.com/engineering/contextual-retrieval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Anthropic. Prompt caching with Claude.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8"/>
              </a:rPr>
              <a:t>claude.com/blog/prompt-caching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Meta AI (2025). The Llama 4 herd.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19"/>
              </a:rPr>
              <a:t>ai.meta.com/blog/llama-4-multimodal-intelligence</a:t>
            </a:r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6262E"/>
                </a:solidFill>
                <a:latin typeface="Calibri" pitchFamily="34" charset="0"/>
              </a:rPr>
              <a:t>Google (2026). NotebookLM is now Gemini Notebook. </a:t>
            </a:r>
            <a:r>
              <a:rPr lang="en-US" sz="1050" dirty="0">
                <a:solidFill>
                  <a:srgbClr val="2E7D7D"/>
                </a:solidFill>
                <a:latin typeface="Calibri" pitchFamily="34" charset="0"/>
                <a:hlinkClick r:id="rId20"/>
              </a:rPr>
              <a:t>blog.google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66928" y="625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verificadas el 21 de septiembre de 2026. Las páginas de producto cambian sin aviso: antes de citar una cifra, abre la liga. Las obras citadas son de sus autores; no las cubre la licencia del curso.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2026-09-14T00:37:05Z</dcterms:created>
  <dcterms:modified xsi:type="dcterms:W3CDTF">2026-09-14T00:37:05Z</dcterms:modified>
</cp:coreProperties>
</file>