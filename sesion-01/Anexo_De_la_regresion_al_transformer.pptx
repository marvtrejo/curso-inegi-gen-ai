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  
  
  
  
  
  
  
  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6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66928" y="2100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ANEXO VISUAL</a:t>
            </a:r>
            <a:endParaRPr lang="en-US" sz="1400" dirty="0"/>
          </a:p>
        </p:txBody>
      </p:sp>
      <p:sp>
        <p:nvSpPr>
          <p:cNvPr id="3" name="Text"/>
          <p:cNvSpPr txBox="1"/>
          <p:nvPr/>
        </p:nvSpPr>
        <p:spPr>
          <a:xfrm>
            <a:off x="566928" y="2550000"/>
            <a:ext cx="11057839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regresión al transformer</a:t>
            </a:r>
            <a:endParaRPr lang="en-US" sz="4400" dirty="0"/>
          </a:p>
        </p:txBody>
      </p:sp>
      <p:sp>
        <p:nvSpPr>
          <p:cNvPr id="4" name="Text"/>
          <p:cNvSpPr txBox="1"/>
          <p:nvPr/>
        </p:nvSpPr>
        <p:spPr>
          <a:xfrm>
            <a:off x="566928" y="3650000"/>
            <a:ext cx="11057839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técnico que pidieron, en ocho láminas y cero fórmulas.</a:t>
            </a:r>
            <a:endParaRPr lang="en-US" sz="1800" dirty="0"/>
          </a:p>
        </p:txBody>
      </p:sp>
      <p:sp>
        <p:nvSpPr>
          <p:cNvPr id="5" name="Text"/>
          <p:cNvSpPr txBox="1"/>
          <p:nvPr/>
        </p:nvSpPr>
        <p:spPr>
          <a:xfrm>
            <a:off x="566928" y="4150000"/>
            <a:ext cx="11057839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opcional. Acompaña la charla del receso de la sesión 2.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566928" y="6300000"/>
            <a:ext cx="11057839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Aplicada. INEGI 2026. CC BY-NC-SA 4.0.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il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anillos, no sinónimos</a:t>
            </a:r>
            <a:endParaRPr lang="en-US" sz="3200" dirty="0"/>
          </a:p>
        </p:txBody>
      </p:sp>
      <p:sp>
        <p:nvSpPr>
          <p:cNvPr id="2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vive dentro de la anterior. La fecha es el año en que cada anillo se volvió práctico.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1720000"/>
            <a:ext cx="11058144" cy="4600000"/>
          </a:xfrm>
          <a:prstGeom prst="roundRect">
            <a:avLst>
              <a:gd name="adj" fmla="val 35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816928" y="1850000"/>
            <a:ext cx="6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 · 1956</a:t>
            </a:r>
            <a:endParaRPr lang="en-US" sz="1300" dirty="0"/>
          </a:p>
        </p:txBody>
      </p:sp>
      <p:sp>
        <p:nvSpPr>
          <p:cNvPr id="4" name="Text"/>
          <p:cNvSpPr txBox="1"/>
          <p:nvPr/>
        </p:nvSpPr>
        <p:spPr>
          <a:xfrm>
            <a:off x="6875072" y="1850000"/>
            <a:ext cx="4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búsqueda, sistemas expertos</a:t>
            </a:r>
            <a:endParaRPr lang="en-US" sz="1200" dirty="0"/>
          </a:p>
        </p:txBody>
      </p:sp>
      <p:sp>
        <p:nvSpPr>
          <p:cNvPr id="5" name="Shape"/>
          <p:cNvSpPr/>
          <p:nvPr/>
        </p:nvSpPr>
        <p:spPr>
          <a:xfrm>
            <a:off x="866928" y="2280000"/>
            <a:ext cx="10458144" cy="3900000"/>
          </a:xfrm>
          <a:prstGeom prst="roundRect">
            <a:avLst>
              <a:gd name="adj" fmla="val 3500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1116928" y="2410000"/>
            <a:ext cx="6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AUTOMÁTICO · AÑOS 80 Y 90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6575072" y="2410000"/>
            <a:ext cx="4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regresión, clasificación, árboles: lo que ya haces</a:t>
            </a:r>
            <a:endParaRPr lang="en-US" sz="1200" dirty="0"/>
          </a:p>
        </p:txBody>
      </p:sp>
      <p:sp>
        <p:nvSpPr>
          <p:cNvPr id="8" name="Shape"/>
          <p:cNvSpPr/>
          <p:nvPr/>
        </p:nvSpPr>
        <p:spPr>
          <a:xfrm>
            <a:off x="1166928" y="2840000"/>
            <a:ext cx="9858144" cy="32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1416928" y="2970000"/>
            <a:ext cx="6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PROFUNDO · 2012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6275072" y="2970000"/>
            <a:ext cx="45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muchas capas: imagen, audio, secuencias</a:t>
            </a:r>
            <a:endParaRPr lang="en-US" sz="1200" dirty="0"/>
          </a:p>
        </p:txBody>
      </p:sp>
      <p:sp>
        <p:nvSpPr>
          <p:cNvPr id="11" name="Shape"/>
          <p:cNvSpPr/>
          <p:nvPr/>
        </p:nvSpPr>
        <p:spPr>
          <a:xfrm>
            <a:off x="1466928" y="3400000"/>
            <a:ext cx="9258144" cy="2500000"/>
          </a:xfrm>
          <a:prstGeom prst="roundRect">
            <a:avLst>
              <a:gd name="adj" fmla="val 3500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1716928" y="3530000"/>
            <a:ext cx="6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 Y MODELOS DE LENGUAJE · 2017 A HOY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716928" y="3950000"/>
            <a:ext cx="8758144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transformer es su motor. Aquí vive este curso.</a:t>
            </a:r>
            <a:endParaRPr lang="en-US" sz="1600" dirty="0"/>
          </a:p>
        </p:txBody>
      </p:sp>
      <p:sp>
        <p:nvSpPr>
          <p:cNvPr id="14" name="Shape"/>
          <p:cNvSpPr/>
          <p:nvPr/>
        </p:nvSpPr>
        <p:spPr>
          <a:xfrm>
            <a:off x="2146000" y="4600000"/>
            <a:ext cx="1750000" cy="4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2146000" y="4600000"/>
            <a:ext cx="1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16" name="Shape"/>
          <p:cNvSpPr/>
          <p:nvPr/>
        </p:nvSpPr>
        <p:spPr>
          <a:xfrm>
            <a:off x="4196000" y="4600000"/>
            <a:ext cx="1750000" cy="4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4196000" y="4600000"/>
            <a:ext cx="1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18" name="Shape"/>
          <p:cNvSpPr/>
          <p:nvPr/>
        </p:nvSpPr>
        <p:spPr>
          <a:xfrm>
            <a:off x="6246000" y="4600000"/>
            <a:ext cx="1750000" cy="4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246000" y="4600000"/>
            <a:ext cx="1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</p:txBody>
      </p:sp>
      <p:sp>
        <p:nvSpPr>
          <p:cNvPr id="20" name="Shape"/>
          <p:cNvSpPr/>
          <p:nvPr/>
        </p:nvSpPr>
        <p:spPr>
          <a:xfrm>
            <a:off x="8296000" y="4600000"/>
            <a:ext cx="1750000" cy="4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8296000" y="4600000"/>
            <a:ext cx="1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Setenta años en una línea</a:t>
            </a:r>
            <a:endParaRPr lang="en-US" sz="3200" dirty="0"/>
          </a:p>
        </p:txBody>
      </p:sp>
      <p:sp>
        <p:nvSpPr>
          <p:cNvPr id="22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salto agregó una capacidad; no sustituyó a la anterior. Lo que ya usabas sigue siendo la herramienta correcta para lo suyo.</a:t>
            </a:r>
            <a:endParaRPr lang="en-US" sz="1500" dirty="0"/>
          </a:p>
        </p:txBody>
      </p:sp>
      <p:cxnSp>
        <p:nvCxnSpPr>
          <p:cNvPr id="2" name="Line"/>
          <p:cNvCxnSpPr/>
          <p:nvPr/>
        </p:nvCxnSpPr>
        <p:spPr>
          <a:xfrm>
            <a:off x="1000000" y="3720000"/>
            <a:ext cx="10400000" cy="1"/>
          </a:xfrm>
          <a:prstGeom prst="line">
            <a:avLst/>
          </a:prstGeom>
          <a:ln w="28575">
            <a:solidFill>
              <a:srgbClr val="16262E"/>
            </a:solidFill>
          </a:ln>
        </p:spPr>
      </p:cxnSp>
      <p:sp>
        <p:nvSpPr>
          <p:cNvPr id="3" name="Shape"/>
          <p:cNvSpPr/>
          <p:nvPr/>
        </p:nvSpPr>
        <p:spPr>
          <a:xfrm>
            <a:off x="1320000" y="3590000"/>
            <a:ext cx="260000" cy="26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525000" y="2140000"/>
            <a:ext cx="185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Nace la IA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escritas a mano y búsqueda. Después, los sistemas expertos.</a:t>
            </a:r>
            <a:endParaRPr lang="en-US" sz="1050" dirty="0"/>
          </a:p>
        </p:txBody>
      </p:sp>
      <p:cxnSp>
        <p:nvCxnSpPr>
          <p:cNvPr id="5" name="Line"/>
          <p:cNvCxnSpPr/>
          <p:nvPr/>
        </p:nvCxnSpPr>
        <p:spPr>
          <a:xfrm>
            <a:off x="1450000" y="3490000"/>
            <a:ext cx="1" cy="100000"/>
          </a:xfrm>
          <a:prstGeom prst="line">
            <a:avLst/>
          </a:prstGeom>
          <a:ln w="19050">
            <a:solidFill>
              <a:srgbClr val="2E7D7D"/>
            </a:solidFill>
          </a:ln>
        </p:spPr>
      </p:cxnSp>
      <p:sp>
        <p:nvSpPr>
          <p:cNvPr id="6" name="Shape"/>
          <p:cNvSpPr/>
          <p:nvPr/>
        </p:nvSpPr>
        <p:spPr>
          <a:xfrm>
            <a:off x="3180000" y="3590000"/>
            <a:ext cx="260000" cy="26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2385000" y="4120000"/>
            <a:ext cx="185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80-90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automático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programas aprenden de los datos: regresión, árboles, clasificadores.</a:t>
            </a:r>
            <a:endParaRPr lang="en-US" sz="1050" dirty="0"/>
          </a:p>
        </p:txBody>
      </p:sp>
      <p:cxnSp>
        <p:nvCxnSpPr>
          <p:cNvPr id="8" name="Line"/>
          <p:cNvCxnSpPr/>
          <p:nvPr/>
        </p:nvCxnSpPr>
        <p:spPr>
          <a:xfrm>
            <a:off x="3310000" y="3850000"/>
            <a:ext cx="1" cy="100000"/>
          </a:xfrm>
          <a:prstGeom prst="line">
            <a:avLst/>
          </a:prstGeom>
          <a:ln w="19050">
            <a:solidFill>
              <a:srgbClr val="2E7D7D"/>
            </a:solidFill>
          </a:ln>
        </p:spPr>
      </p:cxnSp>
      <p:sp>
        <p:nvSpPr>
          <p:cNvPr id="9" name="Shape"/>
          <p:cNvSpPr/>
          <p:nvPr/>
        </p:nvSpPr>
        <p:spPr>
          <a:xfrm>
            <a:off x="5040000" y="3590000"/>
            <a:ext cx="260000" cy="26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4245000" y="2140000"/>
            <a:ext cx="185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profundo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de muchas capas ganan en imagen y se vuelven el estándar.</a:t>
            </a:r>
            <a:endParaRPr lang="en-US" sz="1050" dirty="0"/>
          </a:p>
        </p:txBody>
      </p:sp>
      <p:cxnSp>
        <p:nvCxnSpPr>
          <p:cNvPr id="11" name="Line"/>
          <p:cNvCxnSpPr/>
          <p:nvPr/>
        </p:nvCxnSpPr>
        <p:spPr>
          <a:xfrm>
            <a:off x="5170000" y="3490000"/>
            <a:ext cx="1" cy="100000"/>
          </a:xfrm>
          <a:prstGeom prst="line">
            <a:avLst/>
          </a:prstGeom>
          <a:ln w="19050">
            <a:solidFill>
              <a:srgbClr val="2E7D7D"/>
            </a:solidFill>
          </a:ln>
        </p:spPr>
      </p:cxnSp>
      <p:sp>
        <p:nvSpPr>
          <p:cNvPr id="12" name="Shape"/>
          <p:cNvSpPr/>
          <p:nvPr/>
        </p:nvSpPr>
        <p:spPr>
          <a:xfrm>
            <a:off x="6900000" y="3590000"/>
            <a:ext cx="260000" cy="2600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6105000" y="4120000"/>
            <a:ext cx="185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transformer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atención reemplaza la lectura en orden y permite entrenar en paralelo.</a:t>
            </a:r>
            <a:endParaRPr lang="en-US" sz="1050" dirty="0"/>
          </a:p>
        </p:txBody>
      </p:sp>
      <p:cxnSp>
        <p:nvCxnSpPr>
          <p:cNvPr id="14" name="Line"/>
          <p:cNvCxnSpPr/>
          <p:nvPr/>
        </p:nvCxnSpPr>
        <p:spPr>
          <a:xfrm>
            <a:off x="7030000" y="3850000"/>
            <a:ext cx="1" cy="100000"/>
          </a:xfrm>
          <a:prstGeom prst="line">
            <a:avLst/>
          </a:prstGeom>
          <a:ln w="19050">
            <a:solidFill>
              <a:srgbClr val="C85A28"/>
            </a:solidFill>
          </a:ln>
        </p:spPr>
      </p:cxnSp>
      <p:sp>
        <p:nvSpPr>
          <p:cNvPr id="15" name="Shape"/>
          <p:cNvSpPr/>
          <p:nvPr/>
        </p:nvSpPr>
        <p:spPr>
          <a:xfrm>
            <a:off x="8760000" y="3590000"/>
            <a:ext cx="260000" cy="2600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7965000" y="2140000"/>
            <a:ext cx="185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escala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texto y más parámetros dan mejor resultado sin cambiar el diseño.</a:t>
            </a:r>
            <a:endParaRPr lang="en-US" sz="1050" dirty="0"/>
          </a:p>
        </p:txBody>
      </p:sp>
      <p:cxnSp>
        <p:nvCxnSpPr>
          <p:cNvPr id="17" name="Line"/>
          <p:cNvCxnSpPr/>
          <p:nvPr/>
        </p:nvCxnSpPr>
        <p:spPr>
          <a:xfrm>
            <a:off x="8890000" y="3490000"/>
            <a:ext cx="1" cy="100000"/>
          </a:xfrm>
          <a:prstGeom prst="line">
            <a:avLst/>
          </a:prstGeom>
          <a:ln w="19050">
            <a:solidFill>
              <a:srgbClr val="C85A28"/>
            </a:solidFill>
          </a:ln>
        </p:spPr>
      </p:cxnSp>
      <p:sp>
        <p:nvSpPr>
          <p:cNvPr id="18" name="Shape"/>
          <p:cNvSpPr/>
          <p:nvPr/>
        </p:nvSpPr>
        <p:spPr>
          <a:xfrm>
            <a:off x="10620000" y="3590000"/>
            <a:ext cx="260000" cy="2600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9825000" y="4120000"/>
            <a:ext cx="185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y refuerzo humano convierten al modelo en conversación.</a:t>
            </a:r>
            <a:endParaRPr lang="en-US" sz="1050" dirty="0"/>
          </a:p>
        </p:txBody>
      </p:sp>
      <p:cxnSp>
        <p:nvCxnSpPr>
          <p:cNvPr id="20" name="Line"/>
          <p:cNvCxnSpPr/>
          <p:nvPr/>
        </p:nvCxnSpPr>
        <p:spPr>
          <a:xfrm>
            <a:off x="10750000" y="3850000"/>
            <a:ext cx="1" cy="100000"/>
          </a:xfrm>
          <a:prstGeom prst="line">
            <a:avLst/>
          </a:prstGeom>
          <a:ln w="19050">
            <a:solidFill>
              <a:srgbClr val="C85A28"/>
            </a:solidFill>
          </a:ln>
        </p:spPr>
      </p:cxnSp>
      <p:sp>
        <p:nvSpPr>
          <p:cNvPr id="23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2017 todo pasa en el anillo de adentro: el transformer es la pieza que separa la IA que ya conocías de la que estás aprendiendo en este curso.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licar vs predec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matemática, otra pregunta</a:t>
            </a:r>
            <a:endParaRPr lang="en-US" sz="3200" dirty="0"/>
          </a:p>
        </p:txBody>
      </p:sp>
      <p:sp>
        <p:nvSpPr>
          <p:cNvPr id="35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automático tomó el aparato de la estadística —minimizar el error— y cambió la pregunta: de explicar la relación a acertar el caso que sigue.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841248" y="2000000"/>
            <a:ext cx="49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Explicar: la estadística que ya haces</a:t>
            </a:r>
            <a:endParaRPr lang="en-US" sz="1600" dirty="0"/>
          </a:p>
        </p:txBody>
      </p:sp>
      <p:cxnSp>
        <p:nvCxnSpPr>
          <p:cNvPr id="4" name="Line"/>
          <p:cNvCxnSpPr/>
          <p:nvPr/>
        </p:nvCxnSpPr>
        <p:spPr>
          <a:xfrm flipV="1">
            <a:off x="1016928" y="2715000"/>
            <a:ext cx="4550000" cy="1225000"/>
          </a:xfrm>
          <a:prstGeom prst="line">
            <a:avLst/>
          </a:prstGeom>
          <a:ln w="28575">
            <a:solidFill>
              <a:srgbClr val="16262E"/>
            </a:solidFill>
          </a:ln>
        </p:spPr>
      </p:cxnSp>
      <p:sp>
        <p:nvSpPr>
          <p:cNvPr id="5" name="Shape"/>
          <p:cNvSpPr/>
          <p:nvPr/>
        </p:nvSpPr>
        <p:spPr>
          <a:xfrm>
            <a:off x="1189428" y="37975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Shape"/>
          <p:cNvSpPr/>
          <p:nvPr/>
        </p:nvSpPr>
        <p:spPr>
          <a:xfrm>
            <a:off x="1644428" y="3570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Shape"/>
          <p:cNvSpPr/>
          <p:nvPr/>
        </p:nvSpPr>
        <p:spPr>
          <a:xfrm>
            <a:off x="2099428" y="3710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8" name="Shape"/>
          <p:cNvSpPr/>
          <p:nvPr/>
        </p:nvSpPr>
        <p:spPr>
          <a:xfrm>
            <a:off x="2554428" y="3395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Shape"/>
          <p:cNvSpPr/>
          <p:nvPr/>
        </p:nvSpPr>
        <p:spPr>
          <a:xfrm>
            <a:off x="3009428" y="3255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0" name="Shape"/>
          <p:cNvSpPr/>
          <p:nvPr/>
        </p:nvSpPr>
        <p:spPr>
          <a:xfrm>
            <a:off x="3464428" y="3360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Shape"/>
          <p:cNvSpPr/>
          <p:nvPr/>
        </p:nvSpPr>
        <p:spPr>
          <a:xfrm>
            <a:off x="4055928" y="30625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2" name="Shape"/>
          <p:cNvSpPr/>
          <p:nvPr/>
        </p:nvSpPr>
        <p:spPr>
          <a:xfrm>
            <a:off x="4601928" y="2905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Shape"/>
          <p:cNvSpPr/>
          <p:nvPr/>
        </p:nvSpPr>
        <p:spPr>
          <a:xfrm>
            <a:off x="5056928" y="27475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2927928" y="3625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0.42 (IC 95%)</a:t>
            </a:r>
            <a:endParaRPr lang="en-US" sz="1050" dirty="0"/>
          </a:p>
        </p:txBody>
      </p:sp>
      <p:sp>
        <p:nvSpPr>
          <p:cNvPr id="15" name="Text"/>
          <p:cNvSpPr txBox="1"/>
          <p:nvPr/>
        </p:nvSpPr>
        <p:spPr>
          <a:xfrm>
            <a:off x="841248" y="4620000"/>
            <a:ext cx="491201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importa el coeficiente: ¿X causa Y y con cuánta confianza? El modelo se audita parámetro por parámetro.</a:t>
            </a:r>
            <a:endParaRPr lang="en-US" sz="1250" dirty="0"/>
          </a:p>
        </p:txBody>
      </p:sp>
      <p:sp>
        <p:nvSpPr>
          <p:cNvPr id="16" name="Shape"/>
          <p:cNvSpPr/>
          <p:nvPr/>
        </p:nvSpPr>
        <p:spPr>
          <a:xfrm>
            <a:off x="6164511" y="1810512"/>
            <a:ext cx="5460655" cy="3843648"/>
          </a:xfrm>
          <a:prstGeom prst="roundRect">
            <a:avLst>
              <a:gd name="adj" fmla="val 293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6438831" y="2000000"/>
            <a:ext cx="491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Predecir: el aprendizaje automático</a:t>
            </a:r>
            <a:endParaRPr lang="en-US" sz="1600" dirty="0"/>
          </a:p>
        </p:txBody>
      </p:sp>
      <p:cxnSp>
        <p:nvCxnSpPr>
          <p:cNvPr id="18" name="Line"/>
          <p:cNvCxnSpPr/>
          <p:nvPr/>
        </p:nvCxnSpPr>
        <p:spPr>
          <a:xfrm flipV="1">
            <a:off x="6614511" y="3380000"/>
            <a:ext cx="1592500" cy="560000"/>
          </a:xfrm>
          <a:prstGeom prst="line">
            <a:avLst/>
          </a:prstGeom>
          <a:ln w="28575">
            <a:solidFill>
              <a:srgbClr val="16262E"/>
            </a:solidFill>
          </a:ln>
        </p:spPr>
      </p:cxnSp>
      <p:cxnSp>
        <p:nvCxnSpPr>
          <p:cNvPr id="19" name="Line"/>
          <p:cNvCxnSpPr/>
          <p:nvPr/>
        </p:nvCxnSpPr>
        <p:spPr>
          <a:xfrm flipV="1">
            <a:off x="8207011" y="3030000"/>
            <a:ext cx="1592500" cy="350000"/>
          </a:xfrm>
          <a:prstGeom prst="line">
            <a:avLst/>
          </a:prstGeom>
          <a:ln w="28575">
            <a:solidFill>
              <a:srgbClr val="16262E"/>
            </a:solidFill>
          </a:ln>
        </p:spPr>
      </p:cxnSp>
      <p:cxnSp>
        <p:nvCxnSpPr>
          <p:cNvPr id="20" name="Line"/>
          <p:cNvCxnSpPr/>
          <p:nvPr/>
        </p:nvCxnSpPr>
        <p:spPr>
          <a:xfrm flipV="1">
            <a:off x="9799511" y="2855000"/>
            <a:ext cx="1365000" cy="175000"/>
          </a:xfrm>
          <a:prstGeom prst="line">
            <a:avLst/>
          </a:prstGeom>
          <a:ln w="28575">
            <a:solidFill>
              <a:srgbClr val="16262E"/>
            </a:solidFill>
          </a:ln>
        </p:spPr>
      </p:cxnSp>
      <p:cxnSp>
        <p:nvCxnSpPr>
          <p:cNvPr id="21" name="Line"/>
          <p:cNvCxnSpPr/>
          <p:nvPr/>
        </p:nvCxnSpPr>
        <p:spPr>
          <a:xfrm>
            <a:off x="9799511" y="2440000"/>
            <a:ext cx="1" cy="1950000"/>
          </a:xfrm>
          <a:prstGeom prst="line">
            <a:avLst/>
          </a:prstGeom>
          <a:ln w="12700">
            <a:solidFill>
              <a:srgbClr val="5A6B73"/>
            </a:solidFill>
            <a:prstDash val="dash"/>
          </a:ln>
        </p:spPr>
      </p:cxnSp>
      <p:sp>
        <p:nvSpPr>
          <p:cNvPr id="22" name="Shape"/>
          <p:cNvSpPr/>
          <p:nvPr/>
        </p:nvSpPr>
        <p:spPr>
          <a:xfrm>
            <a:off x="6787011" y="37975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3" name="Shape"/>
          <p:cNvSpPr/>
          <p:nvPr/>
        </p:nvSpPr>
        <p:spPr>
          <a:xfrm>
            <a:off x="7242011" y="3570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4" name="Shape"/>
          <p:cNvSpPr/>
          <p:nvPr/>
        </p:nvSpPr>
        <p:spPr>
          <a:xfrm>
            <a:off x="7697011" y="3710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5" name="Shape"/>
          <p:cNvSpPr/>
          <p:nvPr/>
        </p:nvSpPr>
        <p:spPr>
          <a:xfrm>
            <a:off x="8152011" y="3395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6" name="Shape"/>
          <p:cNvSpPr/>
          <p:nvPr/>
        </p:nvSpPr>
        <p:spPr>
          <a:xfrm>
            <a:off x="8607011" y="3255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7" name="Shape"/>
          <p:cNvSpPr/>
          <p:nvPr/>
        </p:nvSpPr>
        <p:spPr>
          <a:xfrm>
            <a:off x="9062011" y="33600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8" name="Shape"/>
          <p:cNvSpPr/>
          <p:nvPr/>
        </p:nvSpPr>
        <p:spPr>
          <a:xfrm>
            <a:off x="9653511" y="3062500"/>
            <a:ext cx="110000" cy="11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9" name="Shape"/>
          <p:cNvSpPr/>
          <p:nvPr/>
        </p:nvSpPr>
        <p:spPr>
          <a:xfrm>
            <a:off x="10199511" y="2905000"/>
            <a:ext cx="110000" cy="1100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10654511" y="2747500"/>
            <a:ext cx="110000" cy="1100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7433511" y="4350000"/>
            <a:ext cx="22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000" dirty="0"/>
          </a:p>
        </p:txBody>
      </p:sp>
      <p:sp>
        <p:nvSpPr>
          <p:cNvPr id="32" name="Text"/>
          <p:cNvSpPr txBox="1"/>
          <p:nvPr/>
        </p:nvSpPr>
        <p:spPr>
          <a:xfrm>
            <a:off x="9981511" y="435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000" dirty="0"/>
          </a:p>
        </p:txBody>
      </p:sp>
      <p:sp>
        <p:nvSpPr>
          <p:cNvPr id="33" name="Text"/>
          <p:cNvSpPr txBox="1"/>
          <p:nvPr/>
        </p:nvSpPr>
        <p:spPr>
          <a:xfrm>
            <a:off x="6438831" y="4620000"/>
            <a:ext cx="491201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importa el error en datos que el modelo no vio. El riesgo es memorizar el pasado: se llama sobreajuste.</a:t>
            </a:r>
            <a:endParaRPr lang="en-US" sz="1250" dirty="0"/>
          </a:p>
        </p:txBody>
      </p:sp>
      <p:sp>
        <p:nvSpPr>
          <p:cNvPr id="36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si hay respuesta correcta: regresión y clasificación. No supervisado si no la hay: el agrupamiento del viernes. Por refuerzo si aprende de calificaciones: lámina 7.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milias 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familias, una por forma del dato</a:t>
            </a:r>
            <a:endParaRPr lang="en-US" sz="3200" dirty="0"/>
          </a:p>
        </p:txBody>
      </p:sp>
      <p:sp>
        <p:nvSpPr>
          <p:cNvPr id="66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profunda apila funciones simples en capas. Lo que cambia entre familias es cómo conectan esas capas con la forma del dato.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1900000"/>
            <a:ext cx="2558720" cy="335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cxnSp>
        <p:nvCxnSpPr>
          <p:cNvPr id="3" name="Line"/>
          <p:cNvCxnSpPr/>
          <p:nvPr/>
        </p:nvCxnSpPr>
        <p:spPr>
          <a:xfrm>
            <a:off x="1344672" y="2295000"/>
            <a:ext cx="910000" cy="1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4" name="Line"/>
          <p:cNvCxnSpPr/>
          <p:nvPr/>
        </p:nvCxnSpPr>
        <p:spPr>
          <a:xfrm>
            <a:off x="1344672" y="2295000"/>
            <a:ext cx="910000" cy="420000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5" name="Line"/>
          <p:cNvCxnSpPr/>
          <p:nvPr/>
        </p:nvCxnSpPr>
        <p:spPr>
          <a:xfrm>
            <a:off x="1344672" y="2295000"/>
            <a:ext cx="910000" cy="840000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6" name="Line"/>
          <p:cNvCxnSpPr/>
          <p:nvPr/>
        </p:nvCxnSpPr>
        <p:spPr>
          <a:xfrm flipV="1">
            <a:off x="1344672" y="2295000"/>
            <a:ext cx="910000" cy="420000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7" name="Line"/>
          <p:cNvCxnSpPr/>
          <p:nvPr/>
        </p:nvCxnSpPr>
        <p:spPr>
          <a:xfrm>
            <a:off x="1344672" y="2715000"/>
            <a:ext cx="910000" cy="1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8" name="Line"/>
          <p:cNvCxnSpPr/>
          <p:nvPr/>
        </p:nvCxnSpPr>
        <p:spPr>
          <a:xfrm>
            <a:off x="1344672" y="2715000"/>
            <a:ext cx="910000" cy="420000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9" name="Line"/>
          <p:cNvCxnSpPr/>
          <p:nvPr/>
        </p:nvCxnSpPr>
        <p:spPr>
          <a:xfrm flipV="1">
            <a:off x="1344672" y="2295000"/>
            <a:ext cx="910000" cy="840000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10" name="Line"/>
          <p:cNvCxnSpPr/>
          <p:nvPr/>
        </p:nvCxnSpPr>
        <p:spPr>
          <a:xfrm flipV="1">
            <a:off x="1344672" y="2715000"/>
            <a:ext cx="910000" cy="420000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cxnSp>
        <p:nvCxnSpPr>
          <p:cNvPr id="11" name="Line"/>
          <p:cNvCxnSpPr/>
          <p:nvPr/>
        </p:nvCxnSpPr>
        <p:spPr>
          <a:xfrm>
            <a:off x="1344672" y="3135000"/>
            <a:ext cx="910000" cy="1"/>
          </a:xfrm>
          <a:prstGeom prst="line">
            <a:avLst/>
          </a:prstGeom>
          <a:ln w="9525">
            <a:solidFill>
              <a:srgbClr val="5A6B73"/>
            </a:solidFill>
          </a:ln>
        </p:spPr>
      </p:cxnSp>
      <p:sp>
        <p:nvSpPr>
          <p:cNvPr id="12" name="Shape"/>
          <p:cNvSpPr/>
          <p:nvPr/>
        </p:nvSpPr>
        <p:spPr>
          <a:xfrm>
            <a:off x="1154672" y="2205000"/>
            <a:ext cx="190000" cy="19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Shape"/>
          <p:cNvSpPr/>
          <p:nvPr/>
        </p:nvSpPr>
        <p:spPr>
          <a:xfrm>
            <a:off x="1154672" y="2625000"/>
            <a:ext cx="190000" cy="19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4" name="Shape"/>
          <p:cNvSpPr/>
          <p:nvPr/>
        </p:nvSpPr>
        <p:spPr>
          <a:xfrm>
            <a:off x="1154672" y="3045000"/>
            <a:ext cx="190000" cy="19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Shape"/>
          <p:cNvSpPr/>
          <p:nvPr/>
        </p:nvSpPr>
        <p:spPr>
          <a:xfrm>
            <a:off x="2254672" y="2205000"/>
            <a:ext cx="190000" cy="19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Shape"/>
          <p:cNvSpPr/>
          <p:nvPr/>
        </p:nvSpPr>
        <p:spPr>
          <a:xfrm>
            <a:off x="2254672" y="2625000"/>
            <a:ext cx="190000" cy="19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Shape"/>
          <p:cNvSpPr/>
          <p:nvPr/>
        </p:nvSpPr>
        <p:spPr>
          <a:xfrm>
            <a:off x="2254672" y="3045000"/>
            <a:ext cx="190000" cy="19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804672" y="3450000"/>
            <a:ext cx="208323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· densas</a:t>
            </a:r>
            <a:endParaRPr lang="en-US" sz="1450" dirty="0"/>
          </a:p>
        </p:txBody>
      </p:sp>
      <p:sp>
        <p:nvSpPr>
          <p:cNvPr id="19" name="Text"/>
          <p:cNvSpPr txBox="1"/>
          <p:nvPr/>
        </p:nvSpPr>
        <p:spPr>
          <a:xfrm>
            <a:off x="804672" y="4110000"/>
            <a:ext cx="2083232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Compiten con los árboles y no siempre les ganan.</a:t>
            </a:r>
            <a:endParaRPr lang="en-US" sz="1200" dirty="0"/>
          </a:p>
        </p:txBody>
      </p:sp>
      <p:sp>
        <p:nvSpPr>
          <p:cNvPr id="20" name="Shape"/>
          <p:cNvSpPr/>
          <p:nvPr/>
        </p:nvSpPr>
        <p:spPr>
          <a:xfrm>
            <a:off x="3399968" y="1900000"/>
            <a:ext cx="2558720" cy="335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Shape"/>
          <p:cNvSpPr/>
          <p:nvPr/>
        </p:nvSpPr>
        <p:spPr>
          <a:xfrm>
            <a:off x="4177712" y="219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2" name="Shape"/>
          <p:cNvSpPr/>
          <p:nvPr/>
        </p:nvSpPr>
        <p:spPr>
          <a:xfrm>
            <a:off x="4437712" y="219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3" name="Shape"/>
          <p:cNvSpPr/>
          <p:nvPr/>
        </p:nvSpPr>
        <p:spPr>
          <a:xfrm>
            <a:off x="4697712" y="219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4" name="Shape"/>
          <p:cNvSpPr/>
          <p:nvPr/>
        </p:nvSpPr>
        <p:spPr>
          <a:xfrm>
            <a:off x="4957712" y="219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5" name="Shape"/>
          <p:cNvSpPr/>
          <p:nvPr/>
        </p:nvSpPr>
        <p:spPr>
          <a:xfrm>
            <a:off x="4177712" y="245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6" name="Shape"/>
          <p:cNvSpPr/>
          <p:nvPr/>
        </p:nvSpPr>
        <p:spPr>
          <a:xfrm>
            <a:off x="4437712" y="245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7" name="Shape"/>
          <p:cNvSpPr/>
          <p:nvPr/>
        </p:nvSpPr>
        <p:spPr>
          <a:xfrm>
            <a:off x="4697712" y="245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8" name="Shape"/>
          <p:cNvSpPr/>
          <p:nvPr/>
        </p:nvSpPr>
        <p:spPr>
          <a:xfrm>
            <a:off x="4957712" y="245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29" name="Shape"/>
          <p:cNvSpPr/>
          <p:nvPr/>
        </p:nvSpPr>
        <p:spPr>
          <a:xfrm>
            <a:off x="4177712" y="271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0" name="Shape"/>
          <p:cNvSpPr/>
          <p:nvPr/>
        </p:nvSpPr>
        <p:spPr>
          <a:xfrm>
            <a:off x="4437712" y="271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1" name="Shape"/>
          <p:cNvSpPr/>
          <p:nvPr/>
        </p:nvSpPr>
        <p:spPr>
          <a:xfrm>
            <a:off x="4697712" y="271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2" name="Shape"/>
          <p:cNvSpPr/>
          <p:nvPr/>
        </p:nvSpPr>
        <p:spPr>
          <a:xfrm>
            <a:off x="4957712" y="271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3" name="Shape"/>
          <p:cNvSpPr/>
          <p:nvPr/>
        </p:nvSpPr>
        <p:spPr>
          <a:xfrm>
            <a:off x="4177712" y="297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4" name="Shape"/>
          <p:cNvSpPr/>
          <p:nvPr/>
        </p:nvSpPr>
        <p:spPr>
          <a:xfrm>
            <a:off x="4437712" y="297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5" name="Shape"/>
          <p:cNvSpPr/>
          <p:nvPr/>
        </p:nvSpPr>
        <p:spPr>
          <a:xfrm>
            <a:off x="4697712" y="297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6" name="Shape"/>
          <p:cNvSpPr/>
          <p:nvPr/>
        </p:nvSpPr>
        <p:spPr>
          <a:xfrm>
            <a:off x="4957712" y="2970000"/>
            <a:ext cx="220000" cy="220000"/>
          </a:xfrm>
          <a:prstGeom prst="rect">
            <a:avLst/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7" name="Shape"/>
          <p:cNvSpPr/>
          <p:nvPr/>
        </p:nvSpPr>
        <p:spPr>
          <a:xfrm>
            <a:off x="4152712" y="2165000"/>
            <a:ext cx="530000" cy="53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C85A28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3637712" y="3450000"/>
            <a:ext cx="208323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· convolucionales</a:t>
            </a:r>
            <a:endParaRPr lang="en-US" sz="1450" dirty="0"/>
          </a:p>
        </p:txBody>
      </p:sp>
      <p:sp>
        <p:nvSpPr>
          <p:cNvPr id="39" name="Text"/>
          <p:cNvSpPr txBox="1"/>
          <p:nvPr/>
        </p:nvSpPr>
        <p:spPr>
          <a:xfrm>
            <a:off x="3637712" y="4110000"/>
            <a:ext cx="2083232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locales: bordes, texturas, techos, cultivos.</a:t>
            </a:r>
            <a:endParaRPr lang="en-US" sz="1200" dirty="0"/>
          </a:p>
        </p:txBody>
      </p:sp>
      <p:sp>
        <p:nvSpPr>
          <p:cNvPr id="40" name="Shape"/>
          <p:cNvSpPr/>
          <p:nvPr/>
        </p:nvSpPr>
        <p:spPr>
          <a:xfrm>
            <a:off x="6233008" y="1900000"/>
            <a:ext cx="2558720" cy="335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cxnSp>
        <p:nvCxnSpPr>
          <p:cNvPr id="41" name="Line"/>
          <p:cNvCxnSpPr/>
          <p:nvPr/>
        </p:nvCxnSpPr>
        <p:spPr>
          <a:xfrm>
            <a:off x="6820752" y="2560000"/>
            <a:ext cx="260000" cy="1"/>
          </a:xfrm>
          <a:prstGeom prst="line">
            <a:avLst/>
          </a:prstGeom>
          <a:ln w="15875">
            <a:solidFill>
              <a:srgbClr val="2E7D7D"/>
            </a:solidFill>
            <a:tailEnd type="triangle" w="med" len="med"/>
          </a:ln>
        </p:spPr>
      </p:cxnSp>
      <p:cxnSp>
        <p:nvCxnSpPr>
          <p:cNvPr id="42" name="Line"/>
          <p:cNvCxnSpPr/>
          <p:nvPr/>
        </p:nvCxnSpPr>
        <p:spPr>
          <a:xfrm>
            <a:off x="7300752" y="2560000"/>
            <a:ext cx="260000" cy="1"/>
          </a:xfrm>
          <a:prstGeom prst="line">
            <a:avLst/>
          </a:prstGeom>
          <a:ln w="15875">
            <a:solidFill>
              <a:srgbClr val="2E7D7D"/>
            </a:solidFill>
            <a:tailEnd type="triangle" w="med" len="med"/>
          </a:ln>
        </p:spPr>
      </p:cxnSp>
      <p:cxnSp>
        <p:nvCxnSpPr>
          <p:cNvPr id="43" name="Line"/>
          <p:cNvCxnSpPr/>
          <p:nvPr/>
        </p:nvCxnSpPr>
        <p:spPr>
          <a:xfrm>
            <a:off x="7780752" y="2560000"/>
            <a:ext cx="260000" cy="1"/>
          </a:xfrm>
          <a:prstGeom prst="line">
            <a:avLst/>
          </a:prstGeom>
          <a:ln w="15875">
            <a:solidFill>
              <a:srgbClr val="2E7D7D"/>
            </a:solidFill>
            <a:tailEnd type="triangle" w="med" len="med"/>
          </a:ln>
        </p:spPr>
      </p:cxnSp>
      <p:sp>
        <p:nvSpPr>
          <p:cNvPr id="44" name="Shape"/>
          <p:cNvSpPr/>
          <p:nvPr/>
        </p:nvSpPr>
        <p:spPr>
          <a:xfrm>
            <a:off x="6600752" y="2450000"/>
            <a:ext cx="220000" cy="22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5" name="Shape"/>
          <p:cNvSpPr/>
          <p:nvPr/>
        </p:nvSpPr>
        <p:spPr>
          <a:xfrm>
            <a:off x="7080752" y="2450000"/>
            <a:ext cx="220000" cy="22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6" name="Shape"/>
          <p:cNvSpPr/>
          <p:nvPr/>
        </p:nvSpPr>
        <p:spPr>
          <a:xfrm>
            <a:off x="7560752" y="2450000"/>
            <a:ext cx="220000" cy="22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47" name="Shape"/>
          <p:cNvSpPr/>
          <p:nvPr/>
        </p:nvSpPr>
        <p:spPr>
          <a:xfrm>
            <a:off x="8040752" y="2450000"/>
            <a:ext cx="220000" cy="22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cxnSp>
        <p:nvCxnSpPr>
          <p:cNvPr id="48" name="Line"/>
          <p:cNvCxnSpPr/>
          <p:nvPr/>
        </p:nvCxnSpPr>
        <p:spPr>
          <a:xfrm>
            <a:off x="8150752" y="2710000"/>
            <a:ext cx="1" cy="300000"/>
          </a:xfrm>
          <a:prstGeom prst="line">
            <a:avLst/>
          </a:prstGeom>
          <a:ln w="12700">
            <a:solidFill>
              <a:srgbClr val="5A6B73"/>
            </a:solidFill>
          </a:ln>
        </p:spPr>
      </p:cxnSp>
      <p:cxnSp>
        <p:nvCxnSpPr>
          <p:cNvPr id="49" name="Line"/>
          <p:cNvCxnSpPr/>
          <p:nvPr/>
        </p:nvCxnSpPr>
        <p:spPr>
          <a:xfrm>
            <a:off x="6710752" y="3010000"/>
            <a:ext cx="1440000" cy="1"/>
          </a:xfrm>
          <a:prstGeom prst="line">
            <a:avLst/>
          </a:prstGeom>
          <a:ln w="12700">
            <a:solidFill>
              <a:srgbClr val="5A6B73"/>
            </a:solidFill>
          </a:ln>
        </p:spPr>
      </p:cxnSp>
      <p:cxnSp>
        <p:nvCxnSpPr>
          <p:cNvPr id="50" name="Line"/>
          <p:cNvCxnSpPr/>
          <p:nvPr/>
        </p:nvCxnSpPr>
        <p:spPr>
          <a:xfrm>
            <a:off x="6710752" y="2750000"/>
            <a:ext cx="1" cy="260000"/>
          </a:xfrm>
          <a:prstGeom prst="line">
            <a:avLst/>
          </a:prstGeom>
          <a:ln w="12700">
            <a:solidFill>
              <a:srgbClr val="5A6B73"/>
            </a:solidFill>
            <a:tailEnd type="triangle" w="med" len="med"/>
          </a:ln>
        </p:spPr>
      </p:cxnSp>
      <p:sp>
        <p:nvSpPr>
          <p:cNvPr id="51" name="Text"/>
          <p:cNvSpPr txBox="1"/>
          <p:nvPr/>
        </p:nvSpPr>
        <p:spPr>
          <a:xfrm>
            <a:off x="6470752" y="3450000"/>
            <a:ext cx="208323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Secuencias · recurrentes</a:t>
            </a:r>
            <a:endParaRPr lang="en-US" sz="1450" dirty="0"/>
          </a:p>
        </p:txBody>
      </p:sp>
      <p:sp>
        <p:nvSpPr>
          <p:cNvPr id="52" name="Text"/>
          <p:cNvSpPr txBox="1"/>
          <p:nvPr/>
        </p:nvSpPr>
        <p:spPr>
          <a:xfrm>
            <a:off x="6470752" y="4110000"/>
            <a:ext cx="2083232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en orden y van recordando lo anterior.</a:t>
            </a:r>
            <a:endParaRPr lang="en-US" sz="1200" dirty="0"/>
          </a:p>
        </p:txBody>
      </p:sp>
      <p:sp>
        <p:nvSpPr>
          <p:cNvPr id="53" name="Shape"/>
          <p:cNvSpPr/>
          <p:nvPr/>
        </p:nvSpPr>
        <p:spPr>
          <a:xfrm>
            <a:off x="9066047" y="1900000"/>
            <a:ext cx="2558720" cy="3350000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54" name="Shape"/>
          <p:cNvSpPr/>
          <p:nvPr/>
        </p:nvSpPr>
        <p:spPr>
          <a:xfrm>
            <a:off x="10223791" y="2210000"/>
            <a:ext cx="200000" cy="2000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cxnSp>
        <p:nvCxnSpPr>
          <p:cNvPr id="55" name="Line"/>
          <p:cNvCxnSpPr/>
          <p:nvPr/>
        </p:nvCxnSpPr>
        <p:spPr>
          <a:xfrm flipV="1">
            <a:off x="9533791" y="2410000"/>
            <a:ext cx="790000" cy="560000"/>
          </a:xfrm>
          <a:prstGeom prst="line">
            <a:avLst/>
          </a:prstGeom>
          <a:ln w="15875">
            <a:solidFill>
              <a:srgbClr val="C85A28"/>
            </a:solidFill>
          </a:ln>
        </p:spPr>
      </p:cxnSp>
      <p:cxnSp>
        <p:nvCxnSpPr>
          <p:cNvPr id="56" name="Line"/>
          <p:cNvCxnSpPr/>
          <p:nvPr/>
        </p:nvCxnSpPr>
        <p:spPr>
          <a:xfrm flipV="1">
            <a:off x="10053791" y="2410000"/>
            <a:ext cx="270000" cy="560000"/>
          </a:xfrm>
          <a:prstGeom prst="line">
            <a:avLst/>
          </a:prstGeom>
          <a:ln w="47625">
            <a:solidFill>
              <a:srgbClr val="C85A28"/>
            </a:solidFill>
          </a:ln>
        </p:spPr>
      </p:cxnSp>
      <p:cxnSp>
        <p:nvCxnSpPr>
          <p:cNvPr id="57" name="Line"/>
          <p:cNvCxnSpPr/>
          <p:nvPr/>
        </p:nvCxnSpPr>
        <p:spPr>
          <a:xfrm>
            <a:off x="10323791" y="2410000"/>
            <a:ext cx="250000" cy="560000"/>
          </a:xfrm>
          <a:prstGeom prst="line">
            <a:avLst/>
          </a:prstGeom>
          <a:ln w="22225">
            <a:solidFill>
              <a:srgbClr val="C85A28"/>
            </a:solidFill>
          </a:ln>
        </p:spPr>
      </p:cxnSp>
      <p:cxnSp>
        <p:nvCxnSpPr>
          <p:cNvPr id="58" name="Line"/>
          <p:cNvCxnSpPr/>
          <p:nvPr/>
        </p:nvCxnSpPr>
        <p:spPr>
          <a:xfrm>
            <a:off x="10323791" y="2410000"/>
            <a:ext cx="770000" cy="560000"/>
          </a:xfrm>
          <a:prstGeom prst="line">
            <a:avLst/>
          </a:prstGeom>
          <a:ln w="34925">
            <a:solidFill>
              <a:srgbClr val="C85A28"/>
            </a:solidFill>
          </a:ln>
        </p:spPr>
      </p:cxnSp>
      <p:sp>
        <p:nvSpPr>
          <p:cNvPr id="59" name="Shape"/>
          <p:cNvSpPr/>
          <p:nvPr/>
        </p:nvSpPr>
        <p:spPr>
          <a:xfrm>
            <a:off x="9443791" y="2970000"/>
            <a:ext cx="180000" cy="18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0" name="Shape"/>
          <p:cNvSpPr/>
          <p:nvPr/>
        </p:nvSpPr>
        <p:spPr>
          <a:xfrm>
            <a:off x="9963791" y="2970000"/>
            <a:ext cx="180000" cy="18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1" name="Shape"/>
          <p:cNvSpPr/>
          <p:nvPr/>
        </p:nvSpPr>
        <p:spPr>
          <a:xfrm>
            <a:off x="10483791" y="2970000"/>
            <a:ext cx="180000" cy="18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2" name="Shape"/>
          <p:cNvSpPr/>
          <p:nvPr/>
        </p:nvSpPr>
        <p:spPr>
          <a:xfrm>
            <a:off x="11003791" y="2970000"/>
            <a:ext cx="180000" cy="180000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3" name="Text"/>
          <p:cNvSpPr txBox="1"/>
          <p:nvPr/>
        </p:nvSpPr>
        <p:spPr>
          <a:xfrm>
            <a:off x="9303791" y="3450000"/>
            <a:ext cx="2083232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· transformers</a:t>
            </a:r>
            <a:endParaRPr lang="en-US" sz="1450" dirty="0"/>
          </a:p>
        </p:txBody>
      </p:sp>
      <p:sp>
        <p:nvSpPr>
          <p:cNvPr id="64" name="Text"/>
          <p:cNvSpPr txBox="1"/>
          <p:nvPr/>
        </p:nvSpPr>
        <p:spPr>
          <a:xfrm>
            <a:off x="9303791" y="4110000"/>
            <a:ext cx="2083232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palabra atiende a todas las demás, a la vez.</a:t>
            </a:r>
            <a:endParaRPr lang="en-US" sz="1200" dirty="0"/>
          </a:p>
        </p:txBody>
      </p:sp>
      <p:sp>
        <p:nvSpPr>
          <p:cNvPr id="67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68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generativo es el uso, no la arquitectura: difusión para imagen, transformers para texto. Y la naranja es la única familia que lee documentos completos.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en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atención, dibujada</a:t>
            </a:r>
            <a:endParaRPr lang="en-US" sz="3200" dirty="0"/>
          </a:p>
        </p:txBody>
      </p:sp>
      <p:sp>
        <p:nvSpPr>
          <p:cNvPr id="39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idea de 2017 en una frase de tu trabajo: cada palabra decide a qué otras palabras mirar para entenderse.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1110000" y="3560000"/>
            <a:ext cx="386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1110000" y="3560000"/>
            <a:ext cx="38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1566000" y="3560000"/>
            <a:ext cx="1094000" cy="430000"/>
          </a:xfrm>
          <a:prstGeom prst="roundRect">
            <a:avLst>
              <a:gd name="adj" fmla="val 12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1566000" y="3560000"/>
            <a:ext cx="1094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300" dirty="0"/>
          </a:p>
        </p:txBody>
      </p:sp>
      <p:sp>
        <p:nvSpPr>
          <p:cNvPr id="6" name="Shape"/>
          <p:cNvSpPr/>
          <p:nvPr/>
        </p:nvSpPr>
        <p:spPr>
          <a:xfrm>
            <a:off x="2730000" y="3560000"/>
            <a:ext cx="386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2730000" y="3560000"/>
            <a:ext cx="38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8" name="Shape"/>
          <p:cNvSpPr/>
          <p:nvPr/>
        </p:nvSpPr>
        <p:spPr>
          <a:xfrm>
            <a:off x="3186000" y="3560000"/>
            <a:ext cx="976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3186000" y="3560000"/>
            <a:ext cx="97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alcanzó</a:t>
            </a:r>
            <a:endParaRPr lang="en-US" sz="1300" dirty="0"/>
          </a:p>
        </p:txBody>
      </p:sp>
      <p:sp>
        <p:nvSpPr>
          <p:cNvPr id="10" name="Shape"/>
          <p:cNvSpPr/>
          <p:nvPr/>
        </p:nvSpPr>
        <p:spPr>
          <a:xfrm>
            <a:off x="4232000" y="3560000"/>
            <a:ext cx="386000" cy="430000"/>
          </a:xfrm>
          <a:prstGeom prst="roundRect">
            <a:avLst>
              <a:gd name="adj" fmla="val 12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232000" y="3560000"/>
            <a:ext cx="38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1300" dirty="0"/>
          </a:p>
        </p:txBody>
      </p:sp>
      <p:sp>
        <p:nvSpPr>
          <p:cNvPr id="12" name="Shape"/>
          <p:cNvSpPr/>
          <p:nvPr/>
        </p:nvSpPr>
        <p:spPr>
          <a:xfrm>
            <a:off x="4688000" y="3560000"/>
            <a:ext cx="622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4688000" y="3560000"/>
            <a:ext cx="622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14" name="Shape"/>
          <p:cNvSpPr/>
          <p:nvPr/>
        </p:nvSpPr>
        <p:spPr>
          <a:xfrm>
            <a:off x="5380000" y="3560000"/>
            <a:ext cx="858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5380000" y="3560000"/>
            <a:ext cx="858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endParaRPr lang="en-US" sz="1300" dirty="0"/>
          </a:p>
        </p:txBody>
      </p:sp>
      <p:sp>
        <p:nvSpPr>
          <p:cNvPr id="16" name="Shape"/>
          <p:cNvSpPr/>
          <p:nvPr/>
        </p:nvSpPr>
        <p:spPr>
          <a:xfrm>
            <a:off x="6308000" y="3560000"/>
            <a:ext cx="386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6308000" y="3560000"/>
            <a:ext cx="38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300" dirty="0"/>
          </a:p>
        </p:txBody>
      </p:sp>
      <p:sp>
        <p:nvSpPr>
          <p:cNvPr id="18" name="Shape"/>
          <p:cNvSpPr/>
          <p:nvPr/>
        </p:nvSpPr>
        <p:spPr>
          <a:xfrm>
            <a:off x="6764000" y="3560000"/>
            <a:ext cx="858000" cy="430000"/>
          </a:xfrm>
          <a:prstGeom prst="roundRect">
            <a:avLst>
              <a:gd name="adj" fmla="val 12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764000" y="3560000"/>
            <a:ext cx="858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</a:t>
            </a:r>
            <a:endParaRPr lang="en-US" sz="1300" dirty="0"/>
          </a:p>
        </p:txBody>
      </p:sp>
      <p:sp>
        <p:nvSpPr>
          <p:cNvPr id="20" name="Shape"/>
          <p:cNvSpPr/>
          <p:nvPr/>
        </p:nvSpPr>
        <p:spPr>
          <a:xfrm>
            <a:off x="7692000" y="3560000"/>
            <a:ext cx="386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692000" y="3560000"/>
            <a:ext cx="38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2" name="Shape"/>
          <p:cNvSpPr/>
          <p:nvPr/>
        </p:nvSpPr>
        <p:spPr>
          <a:xfrm>
            <a:off x="8148000" y="3560000"/>
            <a:ext cx="386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8148000" y="3560000"/>
            <a:ext cx="386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300" dirty="0"/>
          </a:p>
        </p:txBody>
      </p:sp>
      <p:sp>
        <p:nvSpPr>
          <p:cNvPr id="24" name="Shape"/>
          <p:cNvSpPr/>
          <p:nvPr/>
        </p:nvSpPr>
        <p:spPr>
          <a:xfrm>
            <a:off x="8604000" y="3560000"/>
            <a:ext cx="1212000" cy="430000"/>
          </a:xfrm>
          <a:prstGeom prst="roundRect">
            <a:avLst>
              <a:gd name="adj" fmla="val 12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8604000" y="3560000"/>
            <a:ext cx="1212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actualizó</a:t>
            </a:r>
            <a:endParaRPr lang="en-US" sz="1300" dirty="0"/>
          </a:p>
        </p:txBody>
      </p:sp>
      <p:sp>
        <p:nvSpPr>
          <p:cNvPr id="26" name="Shape"/>
          <p:cNvSpPr/>
          <p:nvPr/>
        </p:nvSpPr>
        <p:spPr>
          <a:xfrm>
            <a:off x="9886000" y="3560000"/>
            <a:ext cx="268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9886000" y="3560000"/>
            <a:ext cx="268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Shape"/>
          <p:cNvSpPr/>
          <p:nvPr/>
        </p:nvSpPr>
        <p:spPr>
          <a:xfrm>
            <a:off x="10224000" y="3560000"/>
            <a:ext cx="858000" cy="430000"/>
          </a:xfrm>
          <a:prstGeom prst="roundRect">
            <a:avLst>
              <a:gd name="adj" fmla="val 12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10224000" y="3560000"/>
            <a:ext cx="858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300" dirty="0"/>
          </a:p>
        </p:txBody>
      </p:sp>
      <p:cxnSp>
        <p:nvCxnSpPr>
          <p:cNvPr id="30" name="Line"/>
          <p:cNvCxnSpPr/>
          <p:nvPr/>
        </p:nvCxnSpPr>
        <p:spPr>
          <a:xfrm>
            <a:off x="4425000" y="3300000"/>
            <a:ext cx="1" cy="200000"/>
          </a:xfrm>
          <a:prstGeom prst="line">
            <a:avLst/>
          </a:prstGeom>
          <a:ln w="22225">
            <a:solidFill>
              <a:srgbClr val="C85A28"/>
            </a:solidFill>
          </a:ln>
        </p:spPr>
      </p:cxnSp>
      <p:cxnSp>
        <p:nvCxnSpPr>
          <p:cNvPr id="31" name="Line"/>
          <p:cNvCxnSpPr/>
          <p:nvPr/>
        </p:nvCxnSpPr>
        <p:spPr>
          <a:xfrm>
            <a:off x="2113000" y="3300000"/>
            <a:ext cx="2312000" cy="1"/>
          </a:xfrm>
          <a:prstGeom prst="line">
            <a:avLst/>
          </a:prstGeom>
          <a:ln w="22225">
            <a:solidFill>
              <a:srgbClr val="C85A28"/>
            </a:solidFill>
          </a:ln>
        </p:spPr>
      </p:cxnSp>
      <p:cxnSp>
        <p:nvCxnSpPr>
          <p:cNvPr id="32" name="Line"/>
          <p:cNvCxnSpPr/>
          <p:nvPr/>
        </p:nvCxnSpPr>
        <p:spPr>
          <a:xfrm>
            <a:off x="2113000" y="3300000"/>
            <a:ext cx="1" cy="200000"/>
          </a:xfrm>
          <a:prstGeom prst="line">
            <a:avLst/>
          </a:prstGeom>
          <a:ln w="22225">
            <a:solidFill>
              <a:srgbClr val="C85A28"/>
            </a:solidFill>
            <a:tailEnd type="triangle" w="med" len="med"/>
          </a:ln>
        </p:spPr>
      </p:cxnSp>
      <p:cxnSp>
        <p:nvCxnSpPr>
          <p:cNvPr id="33" name="Line"/>
          <p:cNvCxnSpPr/>
          <p:nvPr/>
        </p:nvCxnSpPr>
        <p:spPr>
          <a:xfrm>
            <a:off x="9210000" y="4050000"/>
            <a:ext cx="1" cy="200000"/>
          </a:xfrm>
          <a:prstGeom prst="line">
            <a:avLst/>
          </a:prstGeom>
          <a:ln w="22225">
            <a:solidFill>
              <a:srgbClr val="2E7D7D"/>
            </a:solidFill>
          </a:ln>
        </p:spPr>
      </p:cxnSp>
      <p:cxnSp>
        <p:nvCxnSpPr>
          <p:cNvPr id="34" name="Line"/>
          <p:cNvCxnSpPr/>
          <p:nvPr/>
        </p:nvCxnSpPr>
        <p:spPr>
          <a:xfrm>
            <a:off x="7193000" y="4250000"/>
            <a:ext cx="2017000" cy="1"/>
          </a:xfrm>
          <a:prstGeom prst="line">
            <a:avLst/>
          </a:prstGeom>
          <a:ln w="22225">
            <a:solidFill>
              <a:srgbClr val="2E7D7D"/>
            </a:solidFill>
          </a:ln>
        </p:spPr>
      </p:cxnSp>
      <p:cxnSp>
        <p:nvCxnSpPr>
          <p:cNvPr id="35" name="Line"/>
          <p:cNvCxnSpPr/>
          <p:nvPr/>
        </p:nvCxnSpPr>
        <p:spPr>
          <a:xfrm>
            <a:off x="7193000" y="4050000"/>
            <a:ext cx="1" cy="200000"/>
          </a:xfrm>
          <a:prstGeom prst="line">
            <a:avLst/>
          </a:prstGeom>
          <a:ln w="22225">
            <a:solidFill>
              <a:srgbClr val="2E7D7D"/>
            </a:solidFill>
            <a:headEnd type="triangle" w="med" len="med"/>
          </a:ln>
        </p:spPr>
      </p:cxnSp>
      <p:sp>
        <p:nvSpPr>
          <p:cNvPr id="36" name="Text"/>
          <p:cNvSpPr txBox="1"/>
          <p:nvPr/>
        </p:nvSpPr>
        <p:spPr>
          <a:xfrm>
            <a:off x="1110000" y="2450000"/>
            <a:ext cx="6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entender «su», el modelo mira «programa».</a:t>
            </a:r>
            <a:endParaRPr lang="en-US" sz="1400" dirty="0"/>
          </a:p>
        </p:txBody>
      </p:sp>
      <p:sp>
        <p:nvSpPr>
          <p:cNvPr id="37" name="Text"/>
          <p:cNvSpPr txBox="1"/>
          <p:nvPr/>
        </p:nvSpPr>
        <p:spPr>
          <a:xfrm>
            <a:off x="4710000" y="4500000"/>
            <a:ext cx="74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qué no se actualizó, mira «padrón». Y repite ese cálculo con cada palabra contra todas las demás, varias capas seguidas.</a:t>
            </a:r>
            <a:endParaRPr lang="en-US" sz="1400" dirty="0"/>
          </a:p>
        </p:txBody>
      </p:sp>
      <p:sp>
        <p:nvSpPr>
          <p:cNvPr id="40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crece con el cuadrado del texto: duplicar el documento cuadruplica el cálculo. De ahí viene la ventana de contexto que verás en la sesión 4.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transformer a la herramienta que abres</a:t>
            </a:r>
            <a:endParaRPr lang="en-US" sz="3200" dirty="0"/>
          </a:p>
        </p:txBody>
      </p:sp>
      <p:sp>
        <p:nvSpPr>
          <p:cNvPr id="22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 de entrenamiento, y cada uno explica algo que ya viste en el curso.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2350000"/>
            <a:ext cx="2560000" cy="235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786928" y="2570000"/>
            <a:ext cx="21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Preentrenamiento</a:t>
            </a:r>
            <a:endParaRPr lang="en-US" sz="1450" dirty="0"/>
          </a:p>
        </p:txBody>
      </p:sp>
      <p:sp>
        <p:nvSpPr>
          <p:cNvPr id="4" name="Text"/>
          <p:cNvSpPr txBox="1"/>
          <p:nvPr/>
        </p:nvSpPr>
        <p:spPr>
          <a:xfrm>
            <a:off x="786928" y="3250000"/>
            <a:ext cx="212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casi todo lo escrito con una sola tarea: predecir la palabra siguiente.</a:t>
            </a:r>
            <a:endParaRPr lang="en-US" sz="1200" dirty="0"/>
          </a:p>
        </p:txBody>
      </p:sp>
      <p:sp>
        <p:nvSpPr>
          <p:cNvPr id="5" name="Text"/>
          <p:cNvSpPr txBox="1"/>
          <p:nvPr/>
        </p:nvSpPr>
        <p:spPr>
          <a:xfrm>
            <a:off x="786928" y="4180000"/>
            <a:ext cx="21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nace lo que sabe y lo que inventa.</a:t>
            </a:r>
            <a:endParaRPr lang="en-US" sz="1100" dirty="0"/>
          </a:p>
        </p:txBody>
      </p:sp>
      <p:sp>
        <p:nvSpPr>
          <p:cNvPr id="6" name="Shape"/>
          <p:cNvSpPr/>
          <p:nvPr/>
        </p:nvSpPr>
        <p:spPr>
          <a:xfrm>
            <a:off x="3113285" y="3395000"/>
            <a:ext cx="300000" cy="26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Shape"/>
          <p:cNvSpPr/>
          <p:nvPr/>
        </p:nvSpPr>
        <p:spPr>
          <a:xfrm>
            <a:off x="3399642" y="2350000"/>
            <a:ext cx="2560000" cy="235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3619642" y="2570000"/>
            <a:ext cx="21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Ajuste por instrucciones</a:t>
            </a:r>
            <a:endParaRPr lang="en-US" sz="1450" dirty="0"/>
          </a:p>
        </p:txBody>
      </p:sp>
      <p:sp>
        <p:nvSpPr>
          <p:cNvPr id="9" name="Text"/>
          <p:cNvSpPr txBox="1"/>
          <p:nvPr/>
        </p:nvSpPr>
        <p:spPr>
          <a:xfrm>
            <a:off x="3619642" y="3250000"/>
            <a:ext cx="212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ejemplos de seguir órdenes, no solo continuar el texto.</a:t>
            </a:r>
            <a:endParaRPr lang="en-US" sz="1200" dirty="0"/>
          </a:p>
        </p:txBody>
      </p:sp>
      <p:sp>
        <p:nvSpPr>
          <p:cNvPr id="10" name="Text"/>
          <p:cNvSpPr txBox="1"/>
          <p:nvPr/>
        </p:nvSpPr>
        <p:spPr>
          <a:xfrm>
            <a:off x="3619642" y="4180000"/>
            <a:ext cx="21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nace el prompt que escribes hoy.</a:t>
            </a:r>
            <a:endParaRPr lang="en-US" sz="1100" dirty="0"/>
          </a:p>
        </p:txBody>
      </p:sp>
      <p:sp>
        <p:nvSpPr>
          <p:cNvPr id="11" name="Shape"/>
          <p:cNvSpPr/>
          <p:nvPr/>
        </p:nvSpPr>
        <p:spPr>
          <a:xfrm>
            <a:off x="5945999" y="3395000"/>
            <a:ext cx="300000" cy="26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2" name="Shape"/>
          <p:cNvSpPr/>
          <p:nvPr/>
        </p:nvSpPr>
        <p:spPr>
          <a:xfrm>
            <a:off x="6232356" y="2350000"/>
            <a:ext cx="2560000" cy="2350000"/>
          </a:xfrm>
          <a:prstGeom prst="roundRect">
            <a:avLst>
              <a:gd name="adj" fmla="val 2998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6452356" y="2570000"/>
            <a:ext cx="21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Refuerzo con personas</a:t>
            </a:r>
            <a:endParaRPr lang="en-US" sz="1450" dirty="0"/>
          </a:p>
        </p:txBody>
      </p:sp>
      <p:sp>
        <p:nvSpPr>
          <p:cNvPr id="14" name="Text"/>
          <p:cNvSpPr txBox="1"/>
          <p:nvPr/>
        </p:nvSpPr>
        <p:spPr>
          <a:xfrm>
            <a:off x="6452356" y="3250000"/>
            <a:ext cx="212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califican respuestas; aprende a preferir las mejor calificadas.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6452356" y="4180000"/>
            <a:ext cx="21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nace la complacencia (sesión 3).</a:t>
            </a:r>
            <a:endParaRPr lang="en-US" sz="1100" dirty="0"/>
          </a:p>
        </p:txBody>
      </p:sp>
      <p:sp>
        <p:nvSpPr>
          <p:cNvPr id="16" name="Shape"/>
          <p:cNvSpPr/>
          <p:nvPr/>
        </p:nvSpPr>
        <p:spPr>
          <a:xfrm>
            <a:off x="8778713" y="3395000"/>
            <a:ext cx="300000" cy="260000"/>
          </a:xfrm>
          <a:prstGeom prst="rightArrow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Shape"/>
          <p:cNvSpPr/>
          <p:nvPr/>
        </p:nvSpPr>
        <p:spPr>
          <a:xfrm>
            <a:off x="9065070" y="2350000"/>
            <a:ext cx="2560000" cy="2350000"/>
          </a:xfrm>
          <a:prstGeom prst="roundRect">
            <a:avLst>
              <a:gd name="adj" fmla="val 2998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9285070" y="2570000"/>
            <a:ext cx="21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que abres</a:t>
            </a:r>
            <a:endParaRPr lang="en-US" sz="1450" dirty="0"/>
          </a:p>
        </p:txBody>
      </p:sp>
      <p:sp>
        <p:nvSpPr>
          <p:cNvPr id="19" name="Text"/>
          <p:cNvSpPr txBox="1"/>
          <p:nvPr/>
        </p:nvSpPr>
        <p:spPr>
          <a:xfrm>
            <a:off x="9285070" y="3250000"/>
            <a:ext cx="212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Gemini, Copilot: el mismo camino, distinta marca.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9285070" y="4180000"/>
            <a:ext cx="212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aquí empieza tu trabajo: verificar.</a:t>
            </a:r>
            <a:endParaRPr lang="en-US" sz="1100" dirty="0"/>
          </a:p>
        </p:txBody>
      </p:sp>
      <p:sp>
        <p:nvSpPr>
          <p:cNvPr id="23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piezas sostienen el curso: la invención viene del paso 1, tu prompt vive en el paso 2 y la complacencia nació en el paso 3.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/>
          <p:cNvSpPr txBox="1"/>
          <p:nvPr/>
        </p:nvSpPr>
        <p:spPr>
          <a:xfrm>
            <a:off x="566928" y="40233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seguir por tu cuenta</a:t>
            </a:r>
            <a:endParaRPr lang="en-US" sz="3200" dirty="0"/>
          </a:p>
        </p:txBody>
      </p:sp>
      <p:sp>
        <p:nvSpPr>
          <p:cNvPr id="23" name="Text"/>
          <p:cNvSpPr txBox="1"/>
          <p:nvPr/>
        </p:nvSpPr>
        <p:spPr>
          <a:xfrm>
            <a:off x="566928" y="12801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fuentes, todas verificables: es exactamente lo que este curso te pide hacer con cualquier referencia.</a:t>
            </a:r>
            <a:endParaRPr lang="en-US" sz="1500" dirty="0"/>
          </a:p>
        </p:txBody>
      </p:sp>
      <p:sp>
        <p:nvSpPr>
          <p:cNvPr id="2" name="Shape"/>
          <p:cNvSpPr/>
          <p:nvPr/>
        </p:nvSpPr>
        <p:spPr>
          <a:xfrm>
            <a:off x="566928" y="1900000"/>
            <a:ext cx="11057839" cy="640000"/>
          </a:xfrm>
          <a:prstGeom prst="roundRect">
            <a:avLst>
              <a:gd name="adj" fmla="val 1018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3" name="Text"/>
          <p:cNvSpPr txBox="1"/>
          <p:nvPr/>
        </p:nvSpPr>
        <p:spPr>
          <a:xfrm>
            <a:off x="806928" y="1900000"/>
            <a:ext cx="29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y coautores, 2017</a:t>
            </a:r>
            <a:endParaRPr lang="en-US" sz="1300" dirty="0"/>
          </a:p>
        </p:txBody>
      </p:sp>
      <p:sp>
        <p:nvSpPr>
          <p:cNvPr id="4" name="Text"/>
          <p:cNvSpPr txBox="1"/>
          <p:nvPr/>
        </p:nvSpPr>
        <p:spPr>
          <a:xfrm>
            <a:off x="3830000" y="1900000"/>
            <a:ext cx="533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Need. El artículo que propuso el transformer.</a:t>
            </a:r>
            <a:endParaRPr lang="en-US" sz="1200" dirty="0"/>
          </a:p>
        </p:txBody>
      </p:sp>
      <p:sp>
        <p:nvSpPr>
          <p:cNvPr id="5" name="Text"/>
          <p:cNvSpPr txBox="1"/>
          <p:nvPr/>
        </p:nvSpPr>
        <p:spPr>
          <a:xfrm>
            <a:off x="9290000" y="1900000"/>
            <a:ext cx="22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arxiv.org/abs/1706.03762</a:t>
            </a:r>
            <a:endParaRPr lang="en-US" sz="1100" dirty="0"/>
          </a:p>
        </p:txBody>
      </p:sp>
      <p:sp>
        <p:nvSpPr>
          <p:cNvPr id="6" name="Shape"/>
          <p:cNvSpPr/>
          <p:nvPr/>
        </p:nvSpPr>
        <p:spPr>
          <a:xfrm>
            <a:off x="566928" y="2640000"/>
            <a:ext cx="11057839" cy="640000"/>
          </a:xfrm>
          <a:prstGeom prst="roundRect">
            <a:avLst>
              <a:gd name="adj" fmla="val 1018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806928" y="2640000"/>
            <a:ext cx="29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Breiman, 2001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3830000" y="2640000"/>
            <a:ext cx="533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Modeling: The Two Cultures. Explicar contra predecir, contado por un clásico de la estadística.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9290000" y="2640000"/>
            <a:ext cx="22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doi.org/10.1214/ss/1009213726</a:t>
            </a:r>
            <a:endParaRPr lang="en-US" sz="1100" dirty="0"/>
          </a:p>
        </p:txBody>
      </p:sp>
      <p:sp>
        <p:nvSpPr>
          <p:cNvPr id="10" name="Shape"/>
          <p:cNvSpPr/>
          <p:nvPr/>
        </p:nvSpPr>
        <p:spPr>
          <a:xfrm>
            <a:off x="566928" y="3380000"/>
            <a:ext cx="11057839" cy="640000"/>
          </a:xfrm>
          <a:prstGeom prst="roundRect">
            <a:avLst>
              <a:gd name="adj" fmla="val 1018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806928" y="3380000"/>
            <a:ext cx="29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James, Witten, Hastie y Tibshirani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3830000" y="3380000"/>
            <a:ext cx="533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Statistical Learning. El puente formal entre estadística y aprendizaje automático, gratuito.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9290000" y="3380000"/>
            <a:ext cx="22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statlearning.com</a:t>
            </a:r>
            <a:endParaRPr lang="en-US" sz="1100" dirty="0"/>
          </a:p>
        </p:txBody>
      </p:sp>
      <p:sp>
        <p:nvSpPr>
          <p:cNvPr id="14" name="Shape"/>
          <p:cNvSpPr/>
          <p:nvPr/>
        </p:nvSpPr>
        <p:spPr>
          <a:xfrm>
            <a:off x="566928" y="4120000"/>
            <a:ext cx="11057839" cy="640000"/>
          </a:xfrm>
          <a:prstGeom prst="roundRect">
            <a:avLst>
              <a:gd name="adj" fmla="val 1018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806928" y="4120000"/>
            <a:ext cx="29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Alammar</a:t>
            </a:r>
            <a:endParaRPr lang="en-US" sz="1300" dirty="0"/>
          </a:p>
        </p:txBody>
      </p:sp>
      <p:sp>
        <p:nvSpPr>
          <p:cNvPr id="16" name="Text"/>
          <p:cNvSpPr txBox="1"/>
          <p:nvPr/>
        </p:nvSpPr>
        <p:spPr>
          <a:xfrm>
            <a:off x="3830000" y="4120000"/>
            <a:ext cx="533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Illustrated Transformer. La mejor explicación visual de la atención.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9290000" y="4120000"/>
            <a:ext cx="22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jalammar.github.io/illustrated-transformer</a:t>
            </a:r>
            <a:endParaRPr lang="en-US" sz="1100" dirty="0"/>
          </a:p>
        </p:txBody>
      </p:sp>
      <p:sp>
        <p:nvSpPr>
          <p:cNvPr id="18" name="Shape"/>
          <p:cNvSpPr/>
          <p:nvPr/>
        </p:nvSpPr>
        <p:spPr>
          <a:xfrm>
            <a:off x="566928" y="4860000"/>
            <a:ext cx="11057839" cy="640000"/>
          </a:xfrm>
          <a:prstGeom prst="roundRect">
            <a:avLst>
              <a:gd name="adj" fmla="val 1018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806928" y="4860000"/>
            <a:ext cx="29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3Blue1Brown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3830000" y="4860000"/>
            <a:ext cx="533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de videos sobre redes neuronales. Las capas y el entrenamiento, animados.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9290000" y="4860000"/>
            <a:ext cx="22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3blue1brown.com/topics/neural-networks</a:t>
            </a:r>
            <a:endParaRPr lang="en-US" sz="1100" dirty="0"/>
          </a:p>
        </p:txBody>
      </p:sp>
      <p:sp>
        <p:nvSpPr>
          <p:cNvPr id="24" name="Shape"/>
          <p:cNvSpPr/>
          <p:nvPr/>
        </p:nvSpPr>
        <p:spPr>
          <a:xfrm>
            <a:off x="566928" y="5824728"/>
            <a:ext cx="11057839" cy="594360"/>
          </a:xfrm>
          <a:prstGeom prst="roundRect">
            <a:avLst>
              <a:gd name="adj" fmla="val 8235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804672" y="5824728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verificadas el 14 de septiembre de 2026. Este anexo es lectura opcional y acompaña la charla del receso de la sesión 2.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Anexo. De la regresión al transformer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2026-09-13T23:31:27Z</dcterms:created>
  <dcterms:modified xsi:type="dcterms:W3CDTF">2026-09-13T23:31:27Z</dcterms:modified>
</cp:coreProperties>
</file>