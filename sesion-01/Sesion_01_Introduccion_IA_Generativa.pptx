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sala quince minutos antes. Tener listos: Copilot, Excel con el padrón sintético, la configuración de privacidad de ChatGPT y la liga del repositorio para pegar en el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bio de Eduardo se tomó de su ficha pública de Venture Café Monterrey, de 2023. Confirmarla con él antes del lunes por si cambió algo. Las fotos las tiene que dar cada quien.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Decirlo en voz alta: aquí nadie aprueba por venir. Se aprueba por 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mostrar la respuesta, pregunta al grupo dónde pondrían una regresión logística. Casi siempre la ponen fuera del diagrama.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No entrar en redes recurrentes ni en cómo se calcula la atención. El anexo dice que no se requiere experiencia previa en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Después viene la frase de que predice la siguiente palabra: la atención es cómo lee, predecir es para qué se entrenó.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distinción evita el error más caro del curso: creer que porque Copilot está bajo contrato, su salida ya se puede usar sin verificar. El contrato protege tus datos, no la veracidad del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3: pide tres estudios sobre evaluación de transferencias monetarias en México y búscalos en vivo. Si todos existieran, repite con algo más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mejor caso de los cuatro para este grupo. Pregunta al grupo: ¿cuántas veces usamos gasto como sustituto de necesidad?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Los requisitos del curso dicen que ya conocen el manejo de información confidencial. Esto solo lo traduce a qué se puede pegar en qué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afirmación sobre Copilot está verificada contra la documentación de Microsoft sobre enterprise data protection. El matiz de la cuenta institucional es el que más importa en la práctica: es el error que sí pueden cometer.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 la configuración de ChatGPT en pantalla compartida. Conéctalo con el caso de Samsung que acaban de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exactos, en pantalla compartida al mismo tiempo que ellos. El punto es que vean que es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ves que alguien describió una categoría de trabajo en lugar de una tarea, corrígelo ahí mismo. "Revisar reglas de operación" no es una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presenta en clase. Solo se señala al cerrar: está en el mazo y el mazo está en el repositorio. Si alguien encuentra un error aquí, que lo diga.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law.berkeley.edu/wp-content/uploads/archive/2025/12/Mata-v-Avianca-Inc.pdf"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forbes.com/sites/siladityaray/2023/05/02/samsung-bans-chatgpt-and-other-chatbots-for-employees-after-sensitive-code-leak/"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nyc.gov/site/dca/about/automated-employment-decision-tools.page"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science.org/doi/10.1126/science.aax2342"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openai.com/index/expanding-on-sycophancy/"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pnas.org/doi/10.1073/pnas.1915768117"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www.law.berkeley.edu/wp-content/uploads/archive/2025/12/Mata-v-Avianca-Inc.pdf" TargetMode="External"/><Relationship Id="rId2" Type="http://schemas.openxmlformats.org/officeDocument/2006/relationships/hyperlink" Target="https://www.forbes.com/sites/siladityaray/2023/05/02/samsung-bans-chatgpt-and-other-chatbots-for-employees-after-sensitive-code-leak/" TargetMode="External"/><Relationship Id="rId3" Type="http://schemas.openxmlformats.org/officeDocument/2006/relationships/hyperlink" Target="https://www.amnesty.org/en/latest/news/2021/10/xenophobic-machines-dutch-child-benefit-scandal/" TargetMode="External"/><Relationship Id="rId4" Type="http://schemas.openxmlformats.org/officeDocument/2006/relationships/hyperlink" Target="https://www.reuters.com/article/us-amazon-com-jobs-automation-insight/amazon-scraps-secret-ai-recruiting-tool-that-showed-bias-against-women-idUSKCN1MK08G" TargetMode="External"/><Relationship Id="rId5" Type="http://schemas.openxmlformats.org/officeDocument/2006/relationships/hyperlink" Target="https://www.science.org/doi/10.1126/science.aax2342" TargetMode="External"/><Relationship Id="rId6" Type="http://schemas.openxmlformats.org/officeDocument/2006/relationships/hyperlink" Target="https://openai.com/index/expanding-on-sycophancy/" TargetMode="External"/><Relationship Id="rId7" Type="http://schemas.openxmlformats.org/officeDocument/2006/relationships/hyperlink" Target="https://www.pnas.org/doi/10.1073/pnas.1915768117" TargetMode="External"/><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371600" y="-2011680"/>
            <a:ext cx="5852160" cy="5852160"/>
          </a:xfrm>
          <a:prstGeom prst="ellipse">
            <a:avLst/>
          </a:prstGeom>
          <a:solidFill>
            <a:srgbClr val="24404E"/>
          </a:solidFill>
          <a:ln w="12700">
            <a:solidFill>
              <a:srgbClr val="24404E"/>
            </a:solidFill>
            <a:prstDash val="solid"/>
          </a:ln>
        </p:spPr>
      </p:sp>
      <p:sp>
        <p:nvSpPr>
          <p:cNvPr id="3" name="Shape 1"/>
          <p:cNvSpPr/>
          <p:nvPr/>
        </p:nvSpPr>
        <p:spPr>
          <a:xfrm>
            <a:off x="9692640" y="4206240"/>
            <a:ext cx="4206240" cy="4206240"/>
          </a:xfrm>
          <a:prstGeom prst="ellipse">
            <a:avLst/>
          </a:prstGeom>
          <a:solidFill>
            <a:srgbClr val="24404E"/>
          </a:solidFill>
          <a:ln w="12700">
            <a:solidFill>
              <a:srgbClr val="24404E"/>
            </a:solidFill>
            <a:prstDash val="solid"/>
          </a:ln>
        </p:spPr>
      </p:sp>
      <p:sp>
        <p:nvSpPr>
          <p:cNvPr id="4" name="Text 2"/>
          <p:cNvSpPr txBox="1"/>
          <p:nvPr/>
        </p:nvSpPr>
        <p:spPr>
          <a:xfrm>
            <a:off x="566928" y="1417320"/>
            <a:ext cx="10424160" cy="365760"/>
          </a:xfrm>
          <a:prstGeom prst="rect">
            <a:avLst/>
          </a:prstGeom>
          <a:noFill/>
          <a:ln/>
        </p:spPr>
        <p:txBody>
          <a:bodyPr wrap="square" lIns="0" tIns="0" rIns="0" bIns="0" rtlCol="0" anchor="ctr"/>
          <a:lstStyle/>
          <a:p>
            <a:pPr indent="0" marL="0">
              <a:buNone/>
            </a:pPr>
            <a:r>
              <a:rPr lang="en-US" sz="1500" b="1" spc="200" kern="0" dirty="0">
                <a:solidFill>
                  <a:srgbClr val="D7E7E7"/>
                </a:solidFill>
                <a:latin typeface="Calibri" pitchFamily="34" charset="0"/>
                <a:ea typeface="Calibri" pitchFamily="34" charset="-122"/>
                <a:cs typeface="Calibri" pitchFamily="34" charset="-120"/>
              </a:rPr>
              <a:t>MÓDULO I. FUNDAMENTOS, ÉTICA Y COPILOT INSTITUCIONAL</a:t>
            </a:r>
            <a:endParaRPr lang="en-US" sz="1500" dirty="0"/>
          </a:p>
        </p:txBody>
      </p:sp>
      <p:sp>
        <p:nvSpPr>
          <p:cNvPr id="5" name="Text 3"/>
          <p:cNvSpPr txBox="1"/>
          <p:nvPr/>
        </p:nvSpPr>
        <p:spPr>
          <a:xfrm>
            <a:off x="566928" y="1874520"/>
            <a:ext cx="10424160" cy="640080"/>
          </a:xfrm>
          <a:prstGeom prst="rect">
            <a:avLst/>
          </a:prstGeom>
          <a:noFill/>
          <a:ln/>
        </p:spPr>
        <p:txBody>
          <a:bodyPr wrap="square" lIns="0" tIns="0" rIns="0" bIns="0" rtlCol="0" anchor="ctr"/>
          <a:lstStyle/>
          <a:p>
            <a:pPr indent="0" marL="0">
              <a:buNone/>
            </a:pPr>
            <a:r>
              <a:rPr lang="en-US" sz="4400" b="1" dirty="0">
                <a:solidFill>
                  <a:srgbClr val="C85A28"/>
                </a:solidFill>
                <a:latin typeface="Arial" pitchFamily="34" charset="0"/>
                <a:ea typeface="Arial" pitchFamily="34" charset="-122"/>
                <a:cs typeface="Arial" pitchFamily="34" charset="-120"/>
              </a:rPr>
              <a:t>Sesión 1</a:t>
            </a:r>
            <a:endParaRPr lang="en-US" sz="4400" dirty="0"/>
          </a:p>
        </p:txBody>
      </p:sp>
      <p:sp>
        <p:nvSpPr>
          <p:cNvPr id="6" name="Text 4"/>
          <p:cNvSpPr txBox="1"/>
          <p:nvPr/>
        </p:nvSpPr>
        <p:spPr>
          <a:xfrm>
            <a:off x="566928" y="2560320"/>
            <a:ext cx="10607040" cy="15544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Introducción a la IA generativa en la administración pública y la evaluación social</a:t>
            </a:r>
            <a:endParaRPr lang="en-US" sz="3400" dirty="0"/>
          </a:p>
        </p:txBody>
      </p:sp>
      <p:sp>
        <p:nvSpPr>
          <p:cNvPr id="7" name="Shape 5"/>
          <p:cNvSpPr/>
          <p:nvPr/>
        </p:nvSpPr>
        <p:spPr>
          <a:xfrm>
            <a:off x="566928" y="4480560"/>
            <a:ext cx="5120640" cy="54864"/>
          </a:xfrm>
          <a:prstGeom prst="roundRect">
            <a:avLst>
              <a:gd name="adj" fmla="val 50000"/>
            </a:avLst>
          </a:prstGeom>
          <a:solidFill>
            <a:srgbClr val="2E7D7D"/>
          </a:solidFill>
          <a:ln w="12700">
            <a:solidFill>
              <a:srgbClr val="2E7D7D"/>
            </a:solidFill>
            <a:prstDash val="solid"/>
          </a:ln>
        </p:spPr>
      </p:sp>
      <p:sp>
        <p:nvSpPr>
          <p:cNvPr id="8" name="Text 6"/>
          <p:cNvSpPr txBox="1"/>
          <p:nvPr/>
        </p:nvSpPr>
        <p:spPr>
          <a:xfrm>
            <a:off x="566928" y="4709160"/>
            <a:ext cx="1042416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Lunes 14 de septiembre de 2026, 9:00 a 11:30 horas</a:t>
            </a:r>
            <a:endParaRPr lang="en-US" sz="1600" dirty="0"/>
          </a:p>
        </p:txBody>
      </p:sp>
      <p:sp>
        <p:nvSpPr>
          <p:cNvPr id="9" name="Text 7"/>
          <p:cNvSpPr txBox="1"/>
          <p:nvPr/>
        </p:nvSpPr>
        <p:spPr>
          <a:xfrm>
            <a:off x="566928" y="5120640"/>
            <a:ext cx="10424160" cy="365760"/>
          </a:xfrm>
          <a:prstGeom prst="rect">
            <a:avLst/>
          </a:prstGeom>
          <a:noFill/>
          <a:ln/>
        </p:spPr>
        <p:txBody>
          <a:bodyPr wrap="square" lIns="0" tIns="0" rIns="0" bIns="0" rtlCol="0" anchor="ctr"/>
          <a:lstStyle/>
          <a:p>
            <a:pPr indent="0" marL="0">
              <a:buNone/>
            </a:pPr>
            <a:r>
              <a:rPr lang="en-US" sz="1300" dirty="0">
                <a:solidFill>
                  <a:srgbClr val="D7E7E7"/>
                </a:solidFill>
                <a:latin typeface="Calibri" pitchFamily="34" charset="0"/>
                <a:ea typeface="Calibri" pitchFamily="34" charset="-122"/>
                <a:cs typeface="Calibri" pitchFamily="34" charset="-120"/>
              </a:rPr>
              <a:t>Curso de Inteligencia Artificial Aplicada. INEGI 2026. CC BY-NC-SA 4.0.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Quiénes te van a acompañar</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Dos instructores. Uno para cada mitad del curso.</a:t>
            </a:r>
            <a:endParaRPr lang="en-US" sz="1500" dirty="0"/>
          </a:p>
        </p:txBody>
      </p:sp>
      <p:sp>
        <p:nvSpPr>
          <p:cNvPr id="4" name="Shape 2"/>
          <p:cNvSpPr/>
          <p:nvPr/>
        </p:nvSpPr>
        <p:spPr>
          <a:xfrm>
            <a:off x="566928" y="1810512"/>
            <a:ext cx="5346040" cy="4059936"/>
          </a:xfrm>
          <a:prstGeom prst="roundRect">
            <a:avLst>
              <a:gd name="adj" fmla="val 2252"/>
            </a:avLst>
          </a:prstGeom>
          <a:solidFill>
            <a:srgbClr val="D7E7E7"/>
          </a:solidFill>
          <a:ln w="12700">
            <a:solidFill>
              <a:srgbClr val="D7E7E7"/>
            </a:solidFill>
            <a:prstDash val="solid"/>
          </a:ln>
        </p:spPr>
      </p:sp>
      <p:sp>
        <p:nvSpPr>
          <p:cNvPr id="5" name="Shape 3"/>
          <p:cNvSpPr/>
          <p:nvPr/>
        </p:nvSpPr>
        <p:spPr>
          <a:xfrm>
            <a:off x="877824" y="2121408"/>
            <a:ext cx="1371600" cy="1371600"/>
          </a:xfrm>
          <a:prstGeom prst="ellipse">
            <a:avLst/>
          </a:prstGeom>
          <a:solidFill>
            <a:srgbClr val="FFFFFF"/>
          </a:solidFill>
          <a:ln w="25400">
            <a:solidFill>
              <a:srgbClr val="2E7D7D"/>
            </a:solidFill>
            <a:prstDash val="dash"/>
          </a:ln>
        </p:spPr>
      </p:sp>
      <p:sp>
        <p:nvSpPr>
          <p:cNvPr id="6" name="Text 4"/>
          <p:cNvSpPr txBox="1"/>
          <p:nvPr/>
        </p:nvSpPr>
        <p:spPr>
          <a:xfrm>
            <a:off x="877824" y="2121408"/>
            <a:ext cx="1371600" cy="1371600"/>
          </a:xfrm>
          <a:prstGeom prst="rect">
            <a:avLst/>
          </a:prstGeom>
          <a:noFill/>
          <a:ln/>
        </p:spPr>
        <p:txBody>
          <a:bodyPr wrap="square" lIns="0" tIns="0" rIns="0" bIns="0" rtlCol="0" anchor="ctr"/>
          <a:lstStyle/>
          <a:p>
            <a:pPr algn="ctr" indent="0" marL="0">
              <a:buNone/>
            </a:pPr>
            <a:r>
              <a:rPr lang="en-US" sz="3400" b="1" dirty="0">
                <a:solidFill>
                  <a:srgbClr val="2E7D7D"/>
                </a:solidFill>
                <a:latin typeface="Arial" pitchFamily="34" charset="0"/>
                <a:ea typeface="Arial" pitchFamily="34" charset="-122"/>
                <a:cs typeface="Arial" pitchFamily="34" charset="-120"/>
              </a:rPr>
              <a:t>JR</a:t>
            </a:r>
            <a:endParaRPr lang="en-US" sz="3400" dirty="0"/>
          </a:p>
        </p:txBody>
      </p:sp>
      <p:sp>
        <p:nvSpPr>
          <p:cNvPr id="7" name="Text 5"/>
          <p:cNvSpPr txBox="1"/>
          <p:nvPr/>
        </p:nvSpPr>
        <p:spPr>
          <a:xfrm>
            <a:off x="2487168" y="2194560"/>
            <a:ext cx="3114904" cy="457200"/>
          </a:xfrm>
          <a:prstGeom prst="rect">
            <a:avLst/>
          </a:prstGeom>
          <a:noFill/>
          <a:ln/>
        </p:spPr>
        <p:txBody>
          <a:bodyPr wrap="square" lIns="0" tIns="0" rIns="0" bIns="0" rtlCol="0" anchor="t"/>
          <a:lstStyle/>
          <a:p>
            <a:pPr indent="0" marL="0">
              <a:buNone/>
            </a:pPr>
            <a:r>
              <a:rPr lang="en-US" sz="2000" b="1" dirty="0">
                <a:solidFill>
                  <a:srgbClr val="16262E"/>
                </a:solidFill>
                <a:latin typeface="Arial" pitchFamily="34" charset="0"/>
                <a:ea typeface="Arial" pitchFamily="34" charset="-122"/>
                <a:cs typeface="Arial" pitchFamily="34" charset="-120"/>
              </a:rPr>
              <a:t>Jesús Ramos Cardona</a:t>
            </a:r>
            <a:endParaRPr lang="en-US" sz="2000" dirty="0"/>
          </a:p>
        </p:txBody>
      </p:sp>
      <p:sp>
        <p:nvSpPr>
          <p:cNvPr id="8" name="Text 6"/>
          <p:cNvSpPr txBox="1"/>
          <p:nvPr/>
        </p:nvSpPr>
        <p:spPr>
          <a:xfrm>
            <a:off x="2487168" y="2688336"/>
            <a:ext cx="3114904" cy="731520"/>
          </a:xfrm>
          <a:prstGeom prst="rect">
            <a:avLst/>
          </a:prstGeom>
          <a:noFill/>
          <a:ln/>
        </p:spPr>
        <p:txBody>
          <a:bodyPr wrap="square" lIns="0" tIns="0" rIns="0" bIns="0" rtlCol="0" anchor="t"/>
          <a:lstStyle/>
          <a:p>
            <a:pPr indent="0" marL="0">
              <a:lnSpc>
                <a:spcPct val="110000"/>
              </a:lnSpc>
              <a:buNone/>
            </a:pPr>
            <a:r>
              <a:rPr lang="en-US" sz="1300" dirty="0">
                <a:solidFill>
                  <a:srgbClr val="2E7D7D"/>
                </a:solidFill>
                <a:latin typeface="Calibri" pitchFamily="34" charset="0"/>
                <a:ea typeface="Calibri" pitchFamily="34" charset="-122"/>
                <a:cs typeface="Calibri" pitchFamily="34" charset="-120"/>
              </a:rPr>
              <a:t>Módulos I y II. Sesiones 1 a 6.</a:t>
            </a:r>
            <a:endParaRPr lang="en-US" sz="1300" dirty="0"/>
          </a:p>
          <a:p>
            <a:pPr indent="0" marL="0">
              <a:lnSpc>
                <a:spcPct val="110000"/>
              </a:lnSpc>
              <a:buNone/>
            </a:pPr>
            <a:r>
              <a:rPr lang="en-US" sz="1300" dirty="0">
                <a:solidFill>
                  <a:srgbClr val="2E7D7D"/>
                </a:solidFill>
                <a:latin typeface="Calibri" pitchFamily="34" charset="0"/>
                <a:ea typeface="Calibri" pitchFamily="34" charset="-122"/>
                <a:cs typeface="Calibri" pitchFamily="34" charset="-120"/>
              </a:rPr>
              <a:t>Fundamentos, ética y análisis cualitativo.</a:t>
            </a:r>
            <a:endParaRPr lang="en-US" sz="1300" dirty="0"/>
          </a:p>
        </p:txBody>
      </p:sp>
      <p:sp>
        <p:nvSpPr>
          <p:cNvPr id="9" name="Text 7"/>
          <p:cNvSpPr txBox="1"/>
          <p:nvPr/>
        </p:nvSpPr>
        <p:spPr>
          <a:xfrm>
            <a:off x="877824" y="3694176"/>
            <a:ext cx="4724248" cy="1956816"/>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Head of Data Engineering en Ensitech.</a:t>
            </a:r>
            <a:endParaRPr lang="en-US" sz="1300" dirty="0"/>
          </a:p>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Trabaja en el cruce de ingeniería de datos, tecnología cívica y política pública.</a:t>
            </a:r>
            <a:endParaRPr lang="en-US" sz="1300" dirty="0"/>
          </a:p>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Ha diseñado plataformas de datos para instituciones públicas y privadas en México.</a:t>
            </a:r>
            <a:endParaRPr lang="en-US" sz="1300" dirty="0"/>
          </a:p>
        </p:txBody>
      </p:sp>
      <p:sp>
        <p:nvSpPr>
          <p:cNvPr id="10" name="Shape 8"/>
          <p:cNvSpPr/>
          <p:nvPr/>
        </p:nvSpPr>
        <p:spPr>
          <a:xfrm>
            <a:off x="6278728" y="1810512"/>
            <a:ext cx="5346040" cy="4059936"/>
          </a:xfrm>
          <a:prstGeom prst="roundRect">
            <a:avLst>
              <a:gd name="adj" fmla="val 2252"/>
            </a:avLst>
          </a:prstGeom>
          <a:solidFill>
            <a:srgbClr val="F2F5F6"/>
          </a:solidFill>
          <a:ln w="12700">
            <a:solidFill>
              <a:srgbClr val="F2F5F6"/>
            </a:solidFill>
            <a:prstDash val="solid"/>
          </a:ln>
        </p:spPr>
      </p:sp>
      <p:sp>
        <p:nvSpPr>
          <p:cNvPr id="11" name="Shape 9"/>
          <p:cNvSpPr/>
          <p:nvPr/>
        </p:nvSpPr>
        <p:spPr>
          <a:xfrm>
            <a:off x="6589624" y="2121408"/>
            <a:ext cx="1371600" cy="1371600"/>
          </a:xfrm>
          <a:prstGeom prst="ellipse">
            <a:avLst/>
          </a:prstGeom>
          <a:solidFill>
            <a:srgbClr val="FFFFFF"/>
          </a:solidFill>
          <a:ln w="25400">
            <a:solidFill>
              <a:srgbClr val="5A6B73"/>
            </a:solidFill>
            <a:prstDash val="dash"/>
          </a:ln>
        </p:spPr>
      </p:sp>
      <p:sp>
        <p:nvSpPr>
          <p:cNvPr id="12" name="Text 10"/>
          <p:cNvSpPr txBox="1"/>
          <p:nvPr/>
        </p:nvSpPr>
        <p:spPr>
          <a:xfrm>
            <a:off x="6589624" y="2121408"/>
            <a:ext cx="1371600" cy="1371600"/>
          </a:xfrm>
          <a:prstGeom prst="rect">
            <a:avLst/>
          </a:prstGeom>
          <a:noFill/>
          <a:ln/>
        </p:spPr>
        <p:txBody>
          <a:bodyPr wrap="square" lIns="0" tIns="0" rIns="0" bIns="0" rtlCol="0" anchor="ctr"/>
          <a:lstStyle/>
          <a:p>
            <a:pPr algn="ctr" indent="0" marL="0">
              <a:buNone/>
            </a:pPr>
            <a:r>
              <a:rPr lang="en-US" sz="3400" b="1" dirty="0">
                <a:solidFill>
                  <a:srgbClr val="5A6B73"/>
                </a:solidFill>
                <a:latin typeface="Arial" pitchFamily="34" charset="0"/>
                <a:ea typeface="Arial" pitchFamily="34" charset="-122"/>
                <a:cs typeface="Arial" pitchFamily="34" charset="-120"/>
              </a:rPr>
              <a:t>ER</a:t>
            </a:r>
            <a:endParaRPr lang="en-US" sz="3400" dirty="0"/>
          </a:p>
        </p:txBody>
      </p:sp>
      <p:sp>
        <p:nvSpPr>
          <p:cNvPr id="13" name="Text 11"/>
          <p:cNvSpPr txBox="1"/>
          <p:nvPr/>
        </p:nvSpPr>
        <p:spPr>
          <a:xfrm>
            <a:off x="8198968" y="2194560"/>
            <a:ext cx="3114904" cy="457200"/>
          </a:xfrm>
          <a:prstGeom prst="rect">
            <a:avLst/>
          </a:prstGeom>
          <a:noFill/>
          <a:ln/>
        </p:spPr>
        <p:txBody>
          <a:bodyPr wrap="square" lIns="0" tIns="0" rIns="0" bIns="0" rtlCol="0" anchor="t"/>
          <a:lstStyle/>
          <a:p>
            <a:pPr indent="0" marL="0">
              <a:buNone/>
            </a:pPr>
            <a:r>
              <a:rPr lang="en-US" sz="2000" b="1" dirty="0">
                <a:solidFill>
                  <a:srgbClr val="16262E"/>
                </a:solidFill>
                <a:latin typeface="Arial" pitchFamily="34" charset="0"/>
                <a:ea typeface="Arial" pitchFamily="34" charset="-122"/>
                <a:cs typeface="Arial" pitchFamily="34" charset="-120"/>
              </a:rPr>
              <a:t>Dr. Eduardo H. Ramírez</a:t>
            </a:r>
            <a:endParaRPr lang="en-US" sz="2000" dirty="0"/>
          </a:p>
        </p:txBody>
      </p:sp>
      <p:sp>
        <p:nvSpPr>
          <p:cNvPr id="14" name="Text 12"/>
          <p:cNvSpPr txBox="1"/>
          <p:nvPr/>
        </p:nvSpPr>
        <p:spPr>
          <a:xfrm>
            <a:off x="8198968" y="2688336"/>
            <a:ext cx="3114904" cy="731520"/>
          </a:xfrm>
          <a:prstGeom prst="rect">
            <a:avLst/>
          </a:prstGeom>
          <a:noFill/>
          <a:ln/>
        </p:spPr>
        <p:txBody>
          <a:bodyPr wrap="square" lIns="0" tIns="0" rIns="0" bIns="0" rtlCol="0" anchor="t"/>
          <a:lstStyle/>
          <a:p>
            <a:pPr indent="0" marL="0">
              <a:lnSpc>
                <a:spcPct val="110000"/>
              </a:lnSpc>
              <a:buNone/>
            </a:pPr>
            <a:r>
              <a:rPr lang="en-US" sz="1300" dirty="0">
                <a:solidFill>
                  <a:srgbClr val="5A6B73"/>
                </a:solidFill>
                <a:latin typeface="Calibri" pitchFamily="34" charset="0"/>
                <a:ea typeface="Calibri" pitchFamily="34" charset="-122"/>
                <a:cs typeface="Calibri" pitchFamily="34" charset="-120"/>
              </a:rPr>
              <a:t>Módulos III y IV. Sesiones 7 a 12.</a:t>
            </a:r>
            <a:endParaRPr lang="en-US" sz="1300" dirty="0"/>
          </a:p>
          <a:p>
            <a:pPr indent="0" marL="0">
              <a:lnSpc>
                <a:spcPct val="110000"/>
              </a:lnSpc>
              <a:buNone/>
            </a:pPr>
            <a:r>
              <a:rPr lang="en-US" sz="1300" dirty="0">
                <a:solidFill>
                  <a:srgbClr val="5A6B73"/>
                </a:solidFill>
                <a:latin typeface="Calibri" pitchFamily="34" charset="0"/>
                <a:ea typeface="Calibri" pitchFamily="34" charset="-122"/>
                <a:cs typeface="Calibri" pitchFamily="34" charset="-120"/>
              </a:rPr>
              <a:t>Análisis cuantitativo, agentes y proyecto integrador.</a:t>
            </a:r>
            <a:endParaRPr lang="en-US" sz="1300" dirty="0"/>
          </a:p>
        </p:txBody>
      </p:sp>
      <p:sp>
        <p:nvSpPr>
          <p:cNvPr id="15" name="Text 13"/>
          <p:cNvSpPr txBox="1"/>
          <p:nvPr/>
        </p:nvSpPr>
        <p:spPr>
          <a:xfrm>
            <a:off x="6589624" y="3694176"/>
            <a:ext cx="4724248" cy="1956816"/>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Doctor en Sistemas Inteligentes. Cofundador y director de Inteligencia Artificial en Ensitech.</a:t>
            </a:r>
            <a:endParaRPr lang="en-US" sz="1300" dirty="0"/>
          </a:p>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Antes trabajó en Yahoo! Research y Microsoft Research.</a:t>
            </a:r>
            <a:endParaRPr lang="en-US" sz="1300" dirty="0"/>
          </a:p>
          <a:p>
            <a:pPr indent="0" marL="0">
              <a:lnSpc>
                <a:spcPct val="112000"/>
              </a:lnSpc>
              <a:spcAft>
                <a:spcPts val="600"/>
              </a:spcAft>
              <a:buNone/>
            </a:pPr>
            <a:r>
              <a:rPr lang="en-US" sz="1300" dirty="0">
                <a:solidFill>
                  <a:srgbClr val="16262E"/>
                </a:solidFill>
                <a:latin typeface="Calibri" pitchFamily="34" charset="0"/>
                <a:ea typeface="Calibri" pitchFamily="34" charset="-122"/>
                <a:cs typeface="Calibri" pitchFamily="34" charset="-120"/>
              </a:rPr>
              <a:t>Fundó la comunidad de Ciencia de Datos de Monterrey y forma parte del consejo de la carrera de Matemáticas y Ciencia de Datos del Tec de Monterrey, y del consejo de Saturdays.AI.</a:t>
            </a:r>
            <a:endParaRPr lang="en-US" sz="1300" dirty="0"/>
          </a:p>
        </p:txBody>
      </p:sp>
      <p:sp>
        <p:nvSpPr>
          <p:cNvPr id="16" name="Shape 14"/>
          <p:cNvSpPr/>
          <p:nvPr/>
        </p:nvSpPr>
        <p:spPr>
          <a:xfrm>
            <a:off x="566928" y="5998464"/>
            <a:ext cx="11057839" cy="457200"/>
          </a:xfrm>
          <a:prstGeom prst="roundRect">
            <a:avLst>
              <a:gd name="adj" fmla="val 12000"/>
            </a:avLst>
          </a:prstGeom>
          <a:solidFill>
            <a:srgbClr val="F7E4D8"/>
          </a:solidFill>
          <a:ln w="12700">
            <a:solidFill>
              <a:srgbClr val="F7E4D8"/>
            </a:solidFill>
            <a:prstDash val="solid"/>
          </a:ln>
        </p:spPr>
      </p:sp>
      <p:sp>
        <p:nvSpPr>
          <p:cNvPr id="17" name="Text 15"/>
          <p:cNvSpPr txBox="1"/>
          <p:nvPr/>
        </p:nvSpPr>
        <p:spPr>
          <a:xfrm>
            <a:off x="786384" y="5998464"/>
            <a:ext cx="10618927" cy="457200"/>
          </a:xfrm>
          <a:prstGeom prst="rect">
            <a:avLst/>
          </a:prstGeom>
          <a:noFill/>
          <a:ln/>
        </p:spPr>
        <p:txBody>
          <a:bodyPr wrap="square" lIns="0" tIns="0" rIns="0" bIns="0" rtlCol="0" anchor="ctr"/>
          <a:lstStyle/>
          <a:p>
            <a:pPr indent="0" marL="0">
              <a:buNone/>
            </a:pPr>
            <a:r>
              <a:rPr lang="en-US" sz="1250" b="1" dirty="0">
                <a:solidFill>
                  <a:srgbClr val="16262E"/>
                </a:solidFill>
                <a:latin typeface="Calibri" pitchFamily="34" charset="0"/>
                <a:ea typeface="Calibri" pitchFamily="34" charset="-122"/>
                <a:cs typeface="Calibri" pitchFamily="34" charset="-120"/>
              </a:rPr>
              <a:t>Pendiente: confirmar las dos bios con cada instructor y colocar sus fotografías en los círculos.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Cómo vamos a usar los 150 minutos</a:t>
            </a:r>
            <a:endParaRPr lang="en-US" sz="3200" dirty="0"/>
          </a:p>
        </p:txBody>
      </p:sp>
      <p:sp>
        <p:nvSpPr>
          <p:cNvPr id="3" name="Shape 1"/>
          <p:cNvSpPr/>
          <p:nvPr/>
        </p:nvSpPr>
        <p:spPr>
          <a:xfrm>
            <a:off x="9485071" y="457200"/>
            <a:ext cx="2139696" cy="347472"/>
          </a:xfrm>
          <a:prstGeom prst="roundRect">
            <a:avLst>
              <a:gd name="adj" fmla="val 50000"/>
            </a:avLst>
          </a:prstGeom>
          <a:solidFill>
            <a:srgbClr val="F2F5F6"/>
          </a:solidFill>
          <a:ln w="12700">
            <a:solidFill>
              <a:srgbClr val="F2F5F6"/>
            </a:solidFill>
            <a:prstDash val="solid"/>
          </a:ln>
        </p:spPr>
      </p:sp>
      <p:sp>
        <p:nvSpPr>
          <p:cNvPr id="4" name="Text 2"/>
          <p:cNvSpPr txBox="1"/>
          <p:nvPr/>
        </p:nvSpPr>
        <p:spPr>
          <a:xfrm>
            <a:off x="9485071" y="457200"/>
            <a:ext cx="2139696" cy="347472"/>
          </a:xfrm>
          <a:prstGeom prst="rect">
            <a:avLst/>
          </a:prstGeom>
          <a:noFill/>
          <a:ln/>
        </p:spPr>
        <p:txBody>
          <a:bodyPr wrap="square" lIns="0" tIns="0" rIns="0" bIns="0" rtlCol="0" anchor="ctr"/>
          <a:lstStyle/>
          <a:p>
            <a:pPr algn="ctr" indent="0" marL="0">
              <a:buNone/>
            </a:pPr>
            <a:r>
              <a:rPr lang="en-US" sz="1200" b="1" dirty="0">
                <a:solidFill>
                  <a:srgbClr val="5A6B73"/>
                </a:solidFill>
                <a:latin typeface="Calibri" pitchFamily="34" charset="0"/>
                <a:ea typeface="Calibri" pitchFamily="34" charset="-122"/>
                <a:cs typeface="Calibri" pitchFamily="34" charset="-120"/>
              </a:rPr>
              <a:t>9:00 a 11:30</a:t>
            </a:r>
            <a:endParaRPr lang="en-US" sz="1200" dirty="0"/>
          </a:p>
        </p:txBody>
      </p:sp>
      <p:sp>
        <p:nvSpPr>
          <p:cNvPr id="5" name="Shape 3"/>
          <p:cNvSpPr/>
          <p:nvPr/>
        </p:nvSpPr>
        <p:spPr>
          <a:xfrm>
            <a:off x="566928" y="1408176"/>
            <a:ext cx="5364328" cy="835762"/>
          </a:xfrm>
          <a:prstGeom prst="roundRect">
            <a:avLst>
              <a:gd name="adj" fmla="val 7659"/>
            </a:avLst>
          </a:prstGeom>
          <a:solidFill>
            <a:srgbClr val="F2F5F6"/>
          </a:solidFill>
          <a:ln w="12700">
            <a:solidFill>
              <a:srgbClr val="F2F5F6"/>
            </a:solidFill>
            <a:prstDash val="solid"/>
          </a:ln>
        </p:spPr>
      </p:sp>
      <p:sp>
        <p:nvSpPr>
          <p:cNvPr id="6" name="Text 4"/>
          <p:cNvSpPr txBox="1"/>
          <p:nvPr/>
        </p:nvSpPr>
        <p:spPr>
          <a:xfrm>
            <a:off x="786384" y="1408176"/>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9:00</a:t>
            </a:r>
            <a:endParaRPr lang="en-US" sz="1300" dirty="0"/>
          </a:p>
        </p:txBody>
      </p:sp>
      <p:sp>
        <p:nvSpPr>
          <p:cNvPr id="7" name="Text 5"/>
          <p:cNvSpPr txBox="1"/>
          <p:nvPr/>
        </p:nvSpPr>
        <p:spPr>
          <a:xfrm>
            <a:off x="2194560" y="1463040"/>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Quiénes somos, cómo se califica y qué te llevas</a:t>
            </a:r>
            <a:endParaRPr lang="en-US" sz="1350" dirty="0"/>
          </a:p>
        </p:txBody>
      </p:sp>
      <p:sp>
        <p:nvSpPr>
          <p:cNvPr id="8" name="Shape 6"/>
          <p:cNvSpPr/>
          <p:nvPr/>
        </p:nvSpPr>
        <p:spPr>
          <a:xfrm>
            <a:off x="566928" y="2390242"/>
            <a:ext cx="5364328" cy="835762"/>
          </a:xfrm>
          <a:prstGeom prst="roundRect">
            <a:avLst>
              <a:gd name="adj" fmla="val 7659"/>
            </a:avLst>
          </a:prstGeom>
          <a:solidFill>
            <a:srgbClr val="F2F5F6"/>
          </a:solidFill>
          <a:ln w="12700">
            <a:solidFill>
              <a:srgbClr val="F2F5F6"/>
            </a:solidFill>
            <a:prstDash val="solid"/>
          </a:ln>
        </p:spPr>
      </p:sp>
      <p:sp>
        <p:nvSpPr>
          <p:cNvPr id="9" name="Text 7"/>
          <p:cNvSpPr txBox="1"/>
          <p:nvPr/>
        </p:nvSpPr>
        <p:spPr>
          <a:xfrm>
            <a:off x="786384" y="2390242"/>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9:12</a:t>
            </a:r>
            <a:endParaRPr lang="en-US" sz="1300" dirty="0"/>
          </a:p>
        </p:txBody>
      </p:sp>
      <p:sp>
        <p:nvSpPr>
          <p:cNvPr id="10" name="Text 8"/>
          <p:cNvSpPr txBox="1"/>
          <p:nvPr/>
        </p:nvSpPr>
        <p:spPr>
          <a:xfrm>
            <a:off x="2194560" y="2445106"/>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Qué es un modelo de lenguaje y por qué falla</a:t>
            </a:r>
            <a:endParaRPr lang="en-US" sz="1350" dirty="0"/>
          </a:p>
        </p:txBody>
      </p:sp>
      <p:sp>
        <p:nvSpPr>
          <p:cNvPr id="11" name="Shape 9"/>
          <p:cNvSpPr/>
          <p:nvPr/>
        </p:nvSpPr>
        <p:spPr>
          <a:xfrm>
            <a:off x="566928" y="3372307"/>
            <a:ext cx="5364328" cy="835762"/>
          </a:xfrm>
          <a:prstGeom prst="roundRect">
            <a:avLst>
              <a:gd name="adj" fmla="val 7659"/>
            </a:avLst>
          </a:prstGeom>
          <a:solidFill>
            <a:srgbClr val="F2F5F6"/>
          </a:solidFill>
          <a:ln w="12700">
            <a:solidFill>
              <a:srgbClr val="F2F5F6"/>
            </a:solidFill>
            <a:prstDash val="solid"/>
          </a:ln>
        </p:spPr>
      </p:sp>
      <p:sp>
        <p:nvSpPr>
          <p:cNvPr id="12" name="Text 10"/>
          <p:cNvSpPr txBox="1"/>
          <p:nvPr/>
        </p:nvSpPr>
        <p:spPr>
          <a:xfrm>
            <a:off x="786384" y="3372307"/>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9:50</a:t>
            </a:r>
            <a:endParaRPr lang="en-US" sz="1300" dirty="0"/>
          </a:p>
        </p:txBody>
      </p:sp>
      <p:sp>
        <p:nvSpPr>
          <p:cNvPr id="13" name="Text 11"/>
          <p:cNvSpPr txBox="1"/>
          <p:nvPr/>
        </p:nvSpPr>
        <p:spPr>
          <a:xfrm>
            <a:off x="2194560" y="3427171"/>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Uso ético: transparencia, gobierno de datos y sesgos</a:t>
            </a:r>
            <a:endParaRPr lang="en-US" sz="1350" dirty="0"/>
          </a:p>
        </p:txBody>
      </p:sp>
      <p:sp>
        <p:nvSpPr>
          <p:cNvPr id="14" name="Shape 12"/>
          <p:cNvSpPr/>
          <p:nvPr/>
        </p:nvSpPr>
        <p:spPr>
          <a:xfrm>
            <a:off x="566928" y="4354373"/>
            <a:ext cx="5364328" cy="835762"/>
          </a:xfrm>
          <a:prstGeom prst="roundRect">
            <a:avLst>
              <a:gd name="adj" fmla="val 7659"/>
            </a:avLst>
          </a:prstGeom>
          <a:solidFill>
            <a:srgbClr val="F7E4D8"/>
          </a:solidFill>
          <a:ln w="12700">
            <a:solidFill>
              <a:srgbClr val="F7E4D8"/>
            </a:solidFill>
            <a:prstDash val="solid"/>
          </a:ln>
        </p:spPr>
      </p:sp>
      <p:sp>
        <p:nvSpPr>
          <p:cNvPr id="15" name="Text 13"/>
          <p:cNvSpPr txBox="1"/>
          <p:nvPr/>
        </p:nvSpPr>
        <p:spPr>
          <a:xfrm>
            <a:off x="786384" y="4354373"/>
            <a:ext cx="1371600" cy="835762"/>
          </a:xfrm>
          <a:prstGeom prst="rect">
            <a:avLst/>
          </a:prstGeom>
          <a:noFill/>
          <a:ln/>
        </p:spPr>
        <p:txBody>
          <a:bodyPr wrap="square" lIns="0" tIns="0" rIns="0" bIns="0" rtlCol="0" anchor="ctr"/>
          <a:lstStyle/>
          <a:p>
            <a:pPr indent="0" marL="0">
              <a:buNone/>
            </a:pPr>
            <a:r>
              <a:rPr lang="en-US" sz="1300" b="1" dirty="0">
                <a:solidFill>
                  <a:srgbClr val="C85A28"/>
                </a:solidFill>
                <a:latin typeface="Arial" pitchFamily="34" charset="0"/>
                <a:ea typeface="Arial" pitchFamily="34" charset="-122"/>
                <a:cs typeface="Arial" pitchFamily="34" charset="-120"/>
              </a:rPr>
              <a:t>10:22</a:t>
            </a:r>
            <a:endParaRPr lang="en-US" sz="1300" dirty="0"/>
          </a:p>
        </p:txBody>
      </p:sp>
      <p:sp>
        <p:nvSpPr>
          <p:cNvPr id="16" name="Text 14"/>
          <p:cNvSpPr txBox="1"/>
          <p:nvPr/>
        </p:nvSpPr>
        <p:spPr>
          <a:xfrm>
            <a:off x="2194560" y="4409237"/>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Receso de diez minutos</a:t>
            </a:r>
            <a:endParaRPr lang="en-US" sz="1350" dirty="0"/>
          </a:p>
        </p:txBody>
      </p:sp>
      <p:sp>
        <p:nvSpPr>
          <p:cNvPr id="17" name="Shape 15"/>
          <p:cNvSpPr/>
          <p:nvPr/>
        </p:nvSpPr>
        <p:spPr>
          <a:xfrm>
            <a:off x="566928" y="5336438"/>
            <a:ext cx="5364328" cy="835762"/>
          </a:xfrm>
          <a:prstGeom prst="roundRect">
            <a:avLst>
              <a:gd name="adj" fmla="val 7659"/>
            </a:avLst>
          </a:prstGeom>
          <a:solidFill>
            <a:srgbClr val="F2F5F6"/>
          </a:solidFill>
          <a:ln w="12700">
            <a:solidFill>
              <a:srgbClr val="F2F5F6"/>
            </a:solidFill>
            <a:prstDash val="solid"/>
          </a:ln>
        </p:spPr>
      </p:sp>
      <p:sp>
        <p:nvSpPr>
          <p:cNvPr id="18" name="Text 16"/>
          <p:cNvSpPr txBox="1"/>
          <p:nvPr/>
        </p:nvSpPr>
        <p:spPr>
          <a:xfrm>
            <a:off x="786384" y="5336438"/>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10:32</a:t>
            </a:r>
            <a:endParaRPr lang="en-US" sz="1300" dirty="0"/>
          </a:p>
        </p:txBody>
      </p:sp>
      <p:sp>
        <p:nvSpPr>
          <p:cNvPr id="19" name="Text 17"/>
          <p:cNvSpPr txBox="1"/>
          <p:nvPr/>
        </p:nvSpPr>
        <p:spPr>
          <a:xfrm>
            <a:off x="2194560" y="5391302"/>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El semáforo de datos y tu configuración de privacidad</a:t>
            </a:r>
            <a:endParaRPr lang="en-US" sz="1350" dirty="0"/>
          </a:p>
        </p:txBody>
      </p:sp>
      <p:sp>
        <p:nvSpPr>
          <p:cNvPr id="20" name="Shape 18"/>
          <p:cNvSpPr/>
          <p:nvPr/>
        </p:nvSpPr>
        <p:spPr>
          <a:xfrm>
            <a:off x="6260440" y="1408176"/>
            <a:ext cx="5364328" cy="835762"/>
          </a:xfrm>
          <a:prstGeom prst="roundRect">
            <a:avLst>
              <a:gd name="adj" fmla="val 7659"/>
            </a:avLst>
          </a:prstGeom>
          <a:solidFill>
            <a:srgbClr val="F2F5F6"/>
          </a:solidFill>
          <a:ln w="12700">
            <a:solidFill>
              <a:srgbClr val="F2F5F6"/>
            </a:solidFill>
            <a:prstDash val="solid"/>
          </a:ln>
        </p:spPr>
      </p:sp>
      <p:sp>
        <p:nvSpPr>
          <p:cNvPr id="21" name="Text 19"/>
          <p:cNvSpPr txBox="1"/>
          <p:nvPr/>
        </p:nvSpPr>
        <p:spPr>
          <a:xfrm>
            <a:off x="6479896" y="1408176"/>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10:44</a:t>
            </a:r>
            <a:endParaRPr lang="en-US" sz="1300" dirty="0"/>
          </a:p>
        </p:txBody>
      </p:sp>
      <p:sp>
        <p:nvSpPr>
          <p:cNvPr id="22" name="Text 20"/>
          <p:cNvSpPr txBox="1"/>
          <p:nvPr/>
        </p:nvSpPr>
        <p:spPr>
          <a:xfrm>
            <a:off x="7888072" y="1463040"/>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Trazabilidad: de dónde salió cada cosa</a:t>
            </a:r>
            <a:endParaRPr lang="en-US" sz="1350" dirty="0"/>
          </a:p>
        </p:txBody>
      </p:sp>
      <p:sp>
        <p:nvSpPr>
          <p:cNvPr id="23" name="Shape 21"/>
          <p:cNvSpPr/>
          <p:nvPr/>
        </p:nvSpPr>
        <p:spPr>
          <a:xfrm>
            <a:off x="6260440" y="2390242"/>
            <a:ext cx="5364328" cy="835762"/>
          </a:xfrm>
          <a:prstGeom prst="roundRect">
            <a:avLst>
              <a:gd name="adj" fmla="val 7659"/>
            </a:avLst>
          </a:prstGeom>
          <a:solidFill>
            <a:srgbClr val="F2F5F6"/>
          </a:solidFill>
          <a:ln w="12700">
            <a:solidFill>
              <a:srgbClr val="F2F5F6"/>
            </a:solidFill>
            <a:prstDash val="solid"/>
          </a:ln>
        </p:spPr>
      </p:sp>
      <p:sp>
        <p:nvSpPr>
          <p:cNvPr id="24" name="Text 22"/>
          <p:cNvSpPr txBox="1"/>
          <p:nvPr/>
        </p:nvSpPr>
        <p:spPr>
          <a:xfrm>
            <a:off x="6479896" y="2390242"/>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10:56</a:t>
            </a:r>
            <a:endParaRPr lang="en-US" sz="1300" dirty="0"/>
          </a:p>
        </p:txBody>
      </p:sp>
      <p:sp>
        <p:nvSpPr>
          <p:cNvPr id="25" name="Text 23"/>
          <p:cNvSpPr txBox="1"/>
          <p:nvPr/>
        </p:nvSpPr>
        <p:spPr>
          <a:xfrm>
            <a:off x="7888072" y="2445106"/>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Cómo justificar el uso de IA en tu trabajo</a:t>
            </a:r>
            <a:endParaRPr lang="en-US" sz="1350" dirty="0"/>
          </a:p>
        </p:txBody>
      </p:sp>
      <p:sp>
        <p:nvSpPr>
          <p:cNvPr id="26" name="Shape 24"/>
          <p:cNvSpPr/>
          <p:nvPr/>
        </p:nvSpPr>
        <p:spPr>
          <a:xfrm>
            <a:off x="6260440" y="3372307"/>
            <a:ext cx="5364328" cy="835762"/>
          </a:xfrm>
          <a:prstGeom prst="roundRect">
            <a:avLst>
              <a:gd name="adj" fmla="val 7659"/>
            </a:avLst>
          </a:prstGeom>
          <a:solidFill>
            <a:srgbClr val="F2F5F6"/>
          </a:solidFill>
          <a:ln w="12700">
            <a:solidFill>
              <a:srgbClr val="F2F5F6"/>
            </a:solidFill>
            <a:prstDash val="solid"/>
          </a:ln>
        </p:spPr>
      </p:sp>
      <p:sp>
        <p:nvSpPr>
          <p:cNvPr id="27" name="Text 25"/>
          <p:cNvSpPr txBox="1"/>
          <p:nvPr/>
        </p:nvSpPr>
        <p:spPr>
          <a:xfrm>
            <a:off x="6479896" y="3372307"/>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11:14</a:t>
            </a:r>
            <a:endParaRPr lang="en-US" sz="1300" dirty="0"/>
          </a:p>
        </p:txBody>
      </p:sp>
      <p:sp>
        <p:nvSpPr>
          <p:cNvPr id="28" name="Text 26"/>
          <p:cNvSpPr txBox="1"/>
          <p:nvPr/>
        </p:nvSpPr>
        <p:spPr>
          <a:xfrm>
            <a:off x="7888072" y="3427171"/>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Tu ficha de idoneidad</a:t>
            </a:r>
            <a:endParaRPr lang="en-US" sz="1350" dirty="0"/>
          </a:p>
        </p:txBody>
      </p:sp>
      <p:sp>
        <p:nvSpPr>
          <p:cNvPr id="29" name="Shape 27"/>
          <p:cNvSpPr/>
          <p:nvPr/>
        </p:nvSpPr>
        <p:spPr>
          <a:xfrm>
            <a:off x="6260440" y="4354373"/>
            <a:ext cx="5364328" cy="835762"/>
          </a:xfrm>
          <a:prstGeom prst="roundRect">
            <a:avLst>
              <a:gd name="adj" fmla="val 7659"/>
            </a:avLst>
          </a:prstGeom>
          <a:solidFill>
            <a:srgbClr val="F2F5F6"/>
          </a:solidFill>
          <a:ln w="12700">
            <a:solidFill>
              <a:srgbClr val="F2F5F6"/>
            </a:solidFill>
            <a:prstDash val="solid"/>
          </a:ln>
        </p:spPr>
      </p:sp>
      <p:sp>
        <p:nvSpPr>
          <p:cNvPr id="30" name="Text 28"/>
          <p:cNvSpPr txBox="1"/>
          <p:nvPr/>
        </p:nvSpPr>
        <p:spPr>
          <a:xfrm>
            <a:off x="6479896" y="4354373"/>
            <a:ext cx="1371600" cy="835762"/>
          </a:xfrm>
          <a:prstGeom prst="rect">
            <a:avLst/>
          </a:prstGeom>
          <a:noFill/>
          <a:ln/>
        </p:spPr>
        <p:txBody>
          <a:bodyPr wrap="square" lIns="0" tIns="0" rIns="0" bIns="0" rtlCol="0" anchor="ctr"/>
          <a:lstStyle/>
          <a:p>
            <a:pPr indent="0" marL="0">
              <a:buNone/>
            </a:pPr>
            <a:r>
              <a:rPr lang="en-US" sz="1300" b="1" dirty="0">
                <a:solidFill>
                  <a:srgbClr val="2E7D7D"/>
                </a:solidFill>
                <a:latin typeface="Arial" pitchFamily="34" charset="0"/>
                <a:ea typeface="Arial" pitchFamily="34" charset="-122"/>
                <a:cs typeface="Arial" pitchFamily="34" charset="-120"/>
              </a:rPr>
              <a:t>11:26</a:t>
            </a:r>
            <a:endParaRPr lang="en-US" sz="1300" dirty="0"/>
          </a:p>
        </p:txBody>
      </p:sp>
      <p:sp>
        <p:nvSpPr>
          <p:cNvPr id="31" name="Text 29"/>
          <p:cNvSpPr txBox="1"/>
          <p:nvPr/>
        </p:nvSpPr>
        <p:spPr>
          <a:xfrm>
            <a:off x="7888072" y="4409237"/>
            <a:ext cx="3517240" cy="726034"/>
          </a:xfrm>
          <a:prstGeom prst="rect">
            <a:avLst/>
          </a:prstGeom>
          <a:noFill/>
          <a:ln/>
        </p:spPr>
        <p:txBody>
          <a:bodyPr wrap="square" lIns="0" tIns="0" rIns="0" bIns="0" rtlCol="0" anchor="ctr"/>
          <a:lstStyle/>
          <a:p>
            <a:pPr indent="0" marL="0">
              <a:lnSpc>
                <a:spcPct val="105000"/>
              </a:lnSpc>
              <a:buNone/>
            </a:pPr>
            <a:r>
              <a:rPr lang="en-US" sz="1350" dirty="0">
                <a:solidFill>
                  <a:srgbClr val="16262E"/>
                </a:solidFill>
                <a:latin typeface="Calibri" pitchFamily="34" charset="0"/>
                <a:ea typeface="Calibri" pitchFamily="34" charset="-122"/>
                <a:cs typeface="Calibri" pitchFamily="34" charset="-120"/>
              </a:rPr>
              <a:t>Cierre y tarea para mañana</a:t>
            </a:r>
            <a:endParaRPr lang="en-US" sz="1350" dirty="0"/>
          </a:p>
        </p:txBody>
      </p:sp>
      <p:sp>
        <p:nvSpPr>
          <p:cNvPr id="32" name="Text 30"/>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Hoy vas a trabajar con las manos en el teclado unos 35 minutos. A partir de mañana, mucho más.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Cómo se califica este curso</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La asistencia es lo que menos pesa. Lo que cuenta es lo que tú produces.</a:t>
            </a:r>
            <a:endParaRPr lang="en-US" sz="1500" dirty="0"/>
          </a:p>
        </p:txBody>
      </p:sp>
      <p:sp>
        <p:nvSpPr>
          <p:cNvPr id="4" name="Shape 2"/>
          <p:cNvSpPr/>
          <p:nvPr/>
        </p:nvSpPr>
        <p:spPr>
          <a:xfrm>
            <a:off x="566928" y="2011680"/>
            <a:ext cx="2558720" cy="2724912"/>
          </a:xfrm>
          <a:prstGeom prst="roundRect">
            <a:avLst>
              <a:gd name="adj" fmla="val 2859"/>
            </a:avLst>
          </a:prstGeom>
          <a:solidFill>
            <a:srgbClr val="D7E7E7"/>
          </a:solidFill>
          <a:ln w="12700">
            <a:solidFill>
              <a:srgbClr val="D7E7E7"/>
            </a:solidFill>
            <a:prstDash val="solid"/>
          </a:ln>
        </p:spPr>
      </p:sp>
      <p:sp>
        <p:nvSpPr>
          <p:cNvPr id="5" name="Shape 3"/>
          <p:cNvSpPr/>
          <p:nvPr/>
        </p:nvSpPr>
        <p:spPr>
          <a:xfrm>
            <a:off x="804672" y="2231136"/>
            <a:ext cx="420624" cy="420624"/>
          </a:xfrm>
          <a:prstGeom prst="ellipse">
            <a:avLst/>
          </a:prstGeom>
          <a:solidFill>
            <a:srgbClr val="2E7D7D"/>
          </a:solidFill>
          <a:ln w="12700">
            <a:solidFill>
              <a:srgbClr val="2E7D7D"/>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40%</a:t>
            </a:r>
            <a:endParaRPr lang="en-US" sz="1400" dirty="0"/>
          </a:p>
        </p:txBody>
      </p:sp>
      <p:sp>
        <p:nvSpPr>
          <p:cNvPr id="7" name="Text 5"/>
          <p:cNvSpPr txBox="1"/>
          <p:nvPr/>
        </p:nvSpPr>
        <p:spPr>
          <a:xfrm>
            <a:off x="804672" y="279806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Laboratorios</a:t>
            </a:r>
            <a:endParaRPr lang="en-US" sz="1600" dirty="0"/>
          </a:p>
        </p:txBody>
      </p:sp>
      <p:sp>
        <p:nvSpPr>
          <p:cNvPr id="8" name="Text 6"/>
          <p:cNvSpPr txBox="1"/>
          <p:nvPr/>
        </p:nvSpPr>
        <p:spPr>
          <a:xfrm>
            <a:off x="804672" y="3263392"/>
            <a:ext cx="2083232"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Los tres laboratorios, los ejercicios de prompts y tu bitácora. Dos de los tres caen en estas dos semanas.</a:t>
            </a:r>
            <a:endParaRPr lang="en-US" sz="1300" dirty="0"/>
          </a:p>
        </p:txBody>
      </p:sp>
      <p:sp>
        <p:nvSpPr>
          <p:cNvPr id="9" name="Shape 7"/>
          <p:cNvSpPr/>
          <p:nvPr/>
        </p:nvSpPr>
        <p:spPr>
          <a:xfrm>
            <a:off x="3399968" y="2011680"/>
            <a:ext cx="2558720" cy="2724912"/>
          </a:xfrm>
          <a:prstGeom prst="roundRect">
            <a:avLst>
              <a:gd name="adj" fmla="val 2859"/>
            </a:avLst>
          </a:prstGeom>
          <a:solidFill>
            <a:srgbClr val="F2F5F6"/>
          </a:solidFill>
          <a:ln w="12700">
            <a:solidFill>
              <a:srgbClr val="F2F5F6"/>
            </a:solidFill>
            <a:prstDash val="solid"/>
          </a:ln>
        </p:spPr>
      </p:sp>
      <p:sp>
        <p:nvSpPr>
          <p:cNvPr id="10" name="Shape 8"/>
          <p:cNvSpPr/>
          <p:nvPr/>
        </p:nvSpPr>
        <p:spPr>
          <a:xfrm>
            <a:off x="3637712" y="2231136"/>
            <a:ext cx="420624" cy="420624"/>
          </a:xfrm>
          <a:prstGeom prst="ellipse">
            <a:avLst/>
          </a:prstGeom>
          <a:solidFill>
            <a:srgbClr val="2E7D7D"/>
          </a:solidFill>
          <a:ln w="12700">
            <a:solidFill>
              <a:srgbClr val="2E7D7D"/>
            </a:solidFill>
            <a:prstDash val="solid"/>
          </a:ln>
        </p:spPr>
      </p:sp>
      <p:sp>
        <p:nvSpPr>
          <p:cNvPr id="11" name="Text 9"/>
          <p:cNvSpPr txBox="1"/>
          <p:nvPr/>
        </p:nvSpPr>
        <p:spPr>
          <a:xfrm>
            <a:off x="363771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40%</a:t>
            </a:r>
            <a:endParaRPr lang="en-US" sz="1400" dirty="0"/>
          </a:p>
        </p:txBody>
      </p:sp>
      <p:sp>
        <p:nvSpPr>
          <p:cNvPr id="12" name="Text 10"/>
          <p:cNvSpPr txBox="1"/>
          <p:nvPr/>
        </p:nvSpPr>
        <p:spPr>
          <a:xfrm>
            <a:off x="3637712" y="279806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Proyecto final</a:t>
            </a:r>
            <a:endParaRPr lang="en-US" sz="1600" dirty="0"/>
          </a:p>
        </p:txBody>
      </p:sp>
      <p:sp>
        <p:nvSpPr>
          <p:cNvPr id="13" name="Text 11"/>
          <p:cNvSpPr txBox="1"/>
          <p:nvPr/>
        </p:nvSpPr>
        <p:spPr>
          <a:xfrm>
            <a:off x="3637712" y="3263392"/>
            <a:ext cx="2083232"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En equipo. Se evalúa hasta el Módulo IV, pero puedes construirlo con lo que hagas estas dos semanas.</a:t>
            </a:r>
            <a:endParaRPr lang="en-US" sz="1300" dirty="0"/>
          </a:p>
        </p:txBody>
      </p:sp>
      <p:sp>
        <p:nvSpPr>
          <p:cNvPr id="14" name="Shape 12"/>
          <p:cNvSpPr/>
          <p:nvPr/>
        </p:nvSpPr>
        <p:spPr>
          <a:xfrm>
            <a:off x="6233008" y="2011680"/>
            <a:ext cx="2558720" cy="2724912"/>
          </a:xfrm>
          <a:prstGeom prst="roundRect">
            <a:avLst>
              <a:gd name="adj" fmla="val 2859"/>
            </a:avLst>
          </a:prstGeom>
          <a:solidFill>
            <a:srgbClr val="F2F5F6"/>
          </a:solidFill>
          <a:ln w="12700">
            <a:solidFill>
              <a:srgbClr val="F2F5F6"/>
            </a:solidFill>
            <a:prstDash val="solid"/>
          </a:ln>
        </p:spPr>
      </p:sp>
      <p:sp>
        <p:nvSpPr>
          <p:cNvPr id="15" name="Shape 13"/>
          <p:cNvSpPr/>
          <p:nvPr/>
        </p:nvSpPr>
        <p:spPr>
          <a:xfrm>
            <a:off x="6470752" y="2231136"/>
            <a:ext cx="420624" cy="420624"/>
          </a:xfrm>
          <a:prstGeom prst="ellipse">
            <a:avLst/>
          </a:prstGeom>
          <a:solidFill>
            <a:srgbClr val="2E7D7D"/>
          </a:solidFill>
          <a:ln w="12700">
            <a:solidFill>
              <a:srgbClr val="2E7D7D"/>
            </a:solidFill>
            <a:prstDash val="solid"/>
          </a:ln>
        </p:spPr>
      </p:sp>
      <p:sp>
        <p:nvSpPr>
          <p:cNvPr id="16" name="Text 14"/>
          <p:cNvSpPr txBox="1"/>
          <p:nvPr/>
        </p:nvSpPr>
        <p:spPr>
          <a:xfrm>
            <a:off x="647075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17" name="Text 15"/>
          <p:cNvSpPr txBox="1"/>
          <p:nvPr/>
        </p:nvSpPr>
        <p:spPr>
          <a:xfrm>
            <a:off x="6470752" y="279806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Ejercicios en clase</a:t>
            </a:r>
            <a:endParaRPr lang="en-US" sz="1600" dirty="0"/>
          </a:p>
        </p:txBody>
      </p:sp>
      <p:sp>
        <p:nvSpPr>
          <p:cNvPr id="18" name="Text 16"/>
          <p:cNvSpPr txBox="1"/>
          <p:nvPr/>
        </p:nvSpPr>
        <p:spPr>
          <a:xfrm>
            <a:off x="6470752" y="3263392"/>
            <a:ext cx="2083232"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ficha de hoy, tu biblioteca de prompts y el cuadro comparativo de la sesión 5.</a:t>
            </a:r>
            <a:endParaRPr lang="en-US" sz="1300" dirty="0"/>
          </a:p>
        </p:txBody>
      </p:sp>
      <p:sp>
        <p:nvSpPr>
          <p:cNvPr id="19" name="Shape 17"/>
          <p:cNvSpPr/>
          <p:nvPr/>
        </p:nvSpPr>
        <p:spPr>
          <a:xfrm>
            <a:off x="9066047" y="2011680"/>
            <a:ext cx="2558720" cy="2724912"/>
          </a:xfrm>
          <a:prstGeom prst="roundRect">
            <a:avLst>
              <a:gd name="adj" fmla="val 2859"/>
            </a:avLst>
          </a:prstGeom>
          <a:solidFill>
            <a:srgbClr val="F2F5F6"/>
          </a:solidFill>
          <a:ln w="12700">
            <a:solidFill>
              <a:srgbClr val="F2F5F6"/>
            </a:solidFill>
            <a:prstDash val="solid"/>
          </a:ln>
        </p:spPr>
      </p:sp>
      <p:sp>
        <p:nvSpPr>
          <p:cNvPr id="20" name="Shape 18"/>
          <p:cNvSpPr/>
          <p:nvPr/>
        </p:nvSpPr>
        <p:spPr>
          <a:xfrm>
            <a:off x="9303791" y="2231136"/>
            <a:ext cx="420624" cy="420624"/>
          </a:xfrm>
          <a:prstGeom prst="ellipse">
            <a:avLst/>
          </a:prstGeom>
          <a:solidFill>
            <a:srgbClr val="2E7D7D"/>
          </a:solidFill>
          <a:ln w="12700">
            <a:solidFill>
              <a:srgbClr val="2E7D7D"/>
            </a:solidFill>
            <a:prstDash val="solid"/>
          </a:ln>
        </p:spPr>
      </p:sp>
      <p:sp>
        <p:nvSpPr>
          <p:cNvPr id="21" name="Text 19"/>
          <p:cNvSpPr txBox="1"/>
          <p:nvPr/>
        </p:nvSpPr>
        <p:spPr>
          <a:xfrm>
            <a:off x="9303791"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22" name="Text 20"/>
          <p:cNvSpPr txBox="1"/>
          <p:nvPr/>
        </p:nvSpPr>
        <p:spPr>
          <a:xfrm>
            <a:off x="9303791" y="279806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Asistencia</a:t>
            </a:r>
            <a:endParaRPr lang="en-US" sz="1600" dirty="0"/>
          </a:p>
        </p:txBody>
      </p:sp>
      <p:sp>
        <p:nvSpPr>
          <p:cNvPr id="23" name="Text 21"/>
          <p:cNvSpPr txBox="1"/>
          <p:nvPr/>
        </p:nvSpPr>
        <p:spPr>
          <a:xfrm>
            <a:off x="9303791" y="3263392"/>
            <a:ext cx="2083232"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mínima que marca el reglamento. Es el criterio que menos pesa de los cuatro.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Qué te llevas al terminar las dos semanas</a:t>
            </a:r>
            <a:endParaRPr lang="en-US" sz="3200" dirty="0"/>
          </a:p>
        </p:txBody>
      </p:sp>
      <p:sp>
        <p:nvSpPr>
          <p:cNvPr id="3" name="Shape 1"/>
          <p:cNvSpPr/>
          <p:nvPr/>
        </p:nvSpPr>
        <p:spPr>
          <a:xfrm>
            <a:off x="566928" y="1417803"/>
            <a:ext cx="3503066" cy="2235225"/>
          </a:xfrm>
          <a:prstGeom prst="roundRect">
            <a:avLst>
              <a:gd name="adj" fmla="val 3273"/>
            </a:avLst>
          </a:prstGeom>
          <a:solidFill>
            <a:srgbClr val="F2F5F6"/>
          </a:solidFill>
          <a:ln w="12700">
            <a:solidFill>
              <a:srgbClr val="F2F5F6"/>
            </a:solidFill>
            <a:prstDash val="solid"/>
          </a:ln>
        </p:spPr>
      </p:sp>
      <p:sp>
        <p:nvSpPr>
          <p:cNvPr id="4" name="Shape 2"/>
          <p:cNvSpPr/>
          <p:nvPr/>
        </p:nvSpPr>
        <p:spPr>
          <a:xfrm>
            <a:off x="804672" y="1637259"/>
            <a:ext cx="420624" cy="420624"/>
          </a:xfrm>
          <a:prstGeom prst="ellipse">
            <a:avLst/>
          </a:prstGeom>
          <a:solidFill>
            <a:srgbClr val="2E7D7D"/>
          </a:solidFill>
          <a:ln w="12700">
            <a:solidFill>
              <a:srgbClr val="2E7D7D"/>
            </a:solidFill>
            <a:prstDash val="solid"/>
          </a:ln>
        </p:spPr>
      </p:sp>
      <p:sp>
        <p:nvSpPr>
          <p:cNvPr id="5" name="Text 3"/>
          <p:cNvSpPr txBox="1"/>
          <p:nvPr/>
        </p:nvSpPr>
        <p:spPr>
          <a:xfrm>
            <a:off x="804672" y="1637259"/>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804672" y="2204187"/>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Tu bitácora</a:t>
            </a:r>
            <a:endParaRPr lang="en-US" sz="1168" dirty="0"/>
          </a:p>
        </p:txBody>
      </p:sp>
      <p:sp>
        <p:nvSpPr>
          <p:cNvPr id="7" name="Text 5"/>
          <p:cNvSpPr txBox="1"/>
          <p:nvPr/>
        </p:nvSpPr>
        <p:spPr>
          <a:xfrm>
            <a:off x="804672" y="2598191"/>
            <a:ext cx="3027578" cy="85366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Todo lo que probaste, con la versión de cada prompt y lo que te devolvió. Cuenta dentro del 40 por ciento de laboratorios.</a:t>
            </a:r>
            <a:endParaRPr lang="en-US" sz="949" dirty="0"/>
          </a:p>
        </p:txBody>
      </p:sp>
      <p:sp>
        <p:nvSpPr>
          <p:cNvPr id="8" name="Shape 6"/>
          <p:cNvSpPr/>
          <p:nvPr/>
        </p:nvSpPr>
        <p:spPr>
          <a:xfrm>
            <a:off x="4344314" y="1417803"/>
            <a:ext cx="3503066" cy="2235225"/>
          </a:xfrm>
          <a:prstGeom prst="roundRect">
            <a:avLst>
              <a:gd name="adj" fmla="val 3273"/>
            </a:avLst>
          </a:prstGeom>
          <a:solidFill>
            <a:srgbClr val="F2F5F6"/>
          </a:solidFill>
          <a:ln w="12700">
            <a:solidFill>
              <a:srgbClr val="F2F5F6"/>
            </a:solidFill>
            <a:prstDash val="solid"/>
          </a:ln>
        </p:spPr>
      </p:sp>
      <p:sp>
        <p:nvSpPr>
          <p:cNvPr id="9" name="Shape 7"/>
          <p:cNvSpPr/>
          <p:nvPr/>
        </p:nvSpPr>
        <p:spPr>
          <a:xfrm>
            <a:off x="4582058" y="1637259"/>
            <a:ext cx="420624" cy="420624"/>
          </a:xfrm>
          <a:prstGeom prst="ellipse">
            <a:avLst/>
          </a:prstGeom>
          <a:solidFill>
            <a:srgbClr val="2E7D7D"/>
          </a:solidFill>
          <a:ln w="12700">
            <a:solidFill>
              <a:srgbClr val="2E7D7D"/>
            </a:solidFill>
            <a:prstDash val="solid"/>
          </a:ln>
        </p:spPr>
      </p:sp>
      <p:sp>
        <p:nvSpPr>
          <p:cNvPr id="10" name="Text 8"/>
          <p:cNvSpPr txBox="1"/>
          <p:nvPr/>
        </p:nvSpPr>
        <p:spPr>
          <a:xfrm>
            <a:off x="4582058" y="1637259"/>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4582058" y="2204187"/>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Tu biblioteca de prompts</a:t>
            </a:r>
            <a:endParaRPr lang="en-US" sz="1168" dirty="0"/>
          </a:p>
        </p:txBody>
      </p:sp>
      <p:sp>
        <p:nvSpPr>
          <p:cNvPr id="12" name="Text 10"/>
          <p:cNvSpPr txBox="1"/>
          <p:nvPr/>
        </p:nvSpPr>
        <p:spPr>
          <a:xfrm>
            <a:off x="4582058" y="2598191"/>
            <a:ext cx="3027578" cy="85366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Al menos ocho prompts que ya funcionan para tareas reales de tu trabajo.</a:t>
            </a:r>
            <a:endParaRPr lang="en-US" sz="949" dirty="0"/>
          </a:p>
        </p:txBody>
      </p:sp>
      <p:sp>
        <p:nvSpPr>
          <p:cNvPr id="13" name="Shape 11"/>
          <p:cNvSpPr/>
          <p:nvPr/>
        </p:nvSpPr>
        <p:spPr>
          <a:xfrm>
            <a:off x="8121701" y="1417803"/>
            <a:ext cx="3503066" cy="2235225"/>
          </a:xfrm>
          <a:prstGeom prst="roundRect">
            <a:avLst>
              <a:gd name="adj" fmla="val 3273"/>
            </a:avLst>
          </a:prstGeom>
          <a:solidFill>
            <a:srgbClr val="F2F5F6"/>
          </a:solidFill>
          <a:ln w="12700">
            <a:solidFill>
              <a:srgbClr val="F2F5F6"/>
            </a:solidFill>
            <a:prstDash val="solid"/>
          </a:ln>
        </p:spPr>
      </p:sp>
      <p:sp>
        <p:nvSpPr>
          <p:cNvPr id="14" name="Shape 12"/>
          <p:cNvSpPr/>
          <p:nvPr/>
        </p:nvSpPr>
        <p:spPr>
          <a:xfrm>
            <a:off x="8359445" y="1637259"/>
            <a:ext cx="420624" cy="420624"/>
          </a:xfrm>
          <a:prstGeom prst="ellipse">
            <a:avLst/>
          </a:prstGeom>
          <a:solidFill>
            <a:srgbClr val="2E7D7D"/>
          </a:solidFill>
          <a:ln w="12700">
            <a:solidFill>
              <a:srgbClr val="2E7D7D"/>
            </a:solidFill>
            <a:prstDash val="solid"/>
          </a:ln>
        </p:spPr>
      </p:sp>
      <p:sp>
        <p:nvSpPr>
          <p:cNvPr id="15" name="Text 13"/>
          <p:cNvSpPr txBox="1"/>
          <p:nvPr/>
        </p:nvSpPr>
        <p:spPr>
          <a:xfrm>
            <a:off x="8359445" y="1637259"/>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8359445" y="2204187"/>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Un dictamen de validación</a:t>
            </a:r>
            <a:endParaRPr lang="en-US" sz="1168" dirty="0"/>
          </a:p>
        </p:txBody>
      </p:sp>
      <p:sp>
        <p:nvSpPr>
          <p:cNvPr id="17" name="Text 15"/>
          <p:cNvSpPr txBox="1"/>
          <p:nvPr/>
        </p:nvSpPr>
        <p:spPr>
          <a:xfrm>
            <a:off x="8359445" y="2598191"/>
            <a:ext cx="3027578" cy="85366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De un informe de evaluación, hecho con el protocolo del curso.</a:t>
            </a:r>
            <a:endParaRPr lang="en-US" sz="949" dirty="0"/>
          </a:p>
        </p:txBody>
      </p:sp>
      <p:sp>
        <p:nvSpPr>
          <p:cNvPr id="18" name="Shape 16"/>
          <p:cNvSpPr/>
          <p:nvPr/>
        </p:nvSpPr>
        <p:spPr>
          <a:xfrm>
            <a:off x="566928" y="3927348"/>
            <a:ext cx="3503066" cy="2235225"/>
          </a:xfrm>
          <a:prstGeom prst="roundRect">
            <a:avLst>
              <a:gd name="adj" fmla="val 3273"/>
            </a:avLst>
          </a:prstGeom>
          <a:solidFill>
            <a:srgbClr val="F2F5F6"/>
          </a:solidFill>
          <a:ln w="12700">
            <a:solidFill>
              <a:srgbClr val="F2F5F6"/>
            </a:solidFill>
            <a:prstDash val="solid"/>
          </a:ln>
        </p:spPr>
      </p:sp>
      <p:sp>
        <p:nvSpPr>
          <p:cNvPr id="19" name="Shape 17"/>
          <p:cNvSpPr/>
          <p:nvPr/>
        </p:nvSpPr>
        <p:spPr>
          <a:xfrm>
            <a:off x="804672" y="4146804"/>
            <a:ext cx="420624" cy="420624"/>
          </a:xfrm>
          <a:prstGeom prst="ellipse">
            <a:avLst/>
          </a:prstGeom>
          <a:solidFill>
            <a:srgbClr val="2E7D7D"/>
          </a:solidFill>
          <a:ln w="12700">
            <a:solidFill>
              <a:srgbClr val="2E7D7D"/>
            </a:solidFill>
            <a:prstDash val="solid"/>
          </a:ln>
        </p:spPr>
      </p:sp>
      <p:sp>
        <p:nvSpPr>
          <p:cNvPr id="20" name="Text 18"/>
          <p:cNvSpPr txBox="1"/>
          <p:nvPr/>
        </p:nvSpPr>
        <p:spPr>
          <a:xfrm>
            <a:off x="804672" y="41468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804672" y="4713732"/>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Una matriz de evidencia</a:t>
            </a:r>
            <a:endParaRPr lang="en-US" sz="1168" dirty="0"/>
          </a:p>
        </p:txBody>
      </p:sp>
      <p:sp>
        <p:nvSpPr>
          <p:cNvPr id="22" name="Text 20"/>
          <p:cNvSpPr txBox="1"/>
          <p:nvPr/>
        </p:nvSpPr>
        <p:spPr>
          <a:xfrm>
            <a:off x="804672" y="5107737"/>
            <a:ext cx="3027578" cy="85366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Con cada afirmación ligada al documento y la sección de donde salió.</a:t>
            </a:r>
            <a:endParaRPr lang="en-US" sz="949" dirty="0"/>
          </a:p>
        </p:txBody>
      </p:sp>
      <p:sp>
        <p:nvSpPr>
          <p:cNvPr id="23" name="Shape 21"/>
          <p:cNvSpPr/>
          <p:nvPr/>
        </p:nvSpPr>
        <p:spPr>
          <a:xfrm>
            <a:off x="4344314" y="3927348"/>
            <a:ext cx="3503066" cy="2235225"/>
          </a:xfrm>
          <a:prstGeom prst="roundRect">
            <a:avLst>
              <a:gd name="adj" fmla="val 3273"/>
            </a:avLst>
          </a:prstGeom>
          <a:solidFill>
            <a:srgbClr val="F2F5F6"/>
          </a:solidFill>
          <a:ln w="12700">
            <a:solidFill>
              <a:srgbClr val="F2F5F6"/>
            </a:solidFill>
            <a:prstDash val="solid"/>
          </a:ln>
        </p:spPr>
      </p:sp>
      <p:sp>
        <p:nvSpPr>
          <p:cNvPr id="24" name="Shape 22"/>
          <p:cNvSpPr/>
          <p:nvPr/>
        </p:nvSpPr>
        <p:spPr>
          <a:xfrm>
            <a:off x="4582058" y="4146804"/>
            <a:ext cx="420624" cy="420624"/>
          </a:xfrm>
          <a:prstGeom prst="ellipse">
            <a:avLst/>
          </a:prstGeom>
          <a:solidFill>
            <a:srgbClr val="2E7D7D"/>
          </a:solidFill>
          <a:ln w="12700">
            <a:solidFill>
              <a:srgbClr val="2E7D7D"/>
            </a:solidFill>
            <a:prstDash val="solid"/>
          </a:ln>
        </p:spPr>
      </p:sp>
      <p:sp>
        <p:nvSpPr>
          <p:cNvPr id="25" name="Text 23"/>
          <p:cNvSpPr txBox="1"/>
          <p:nvPr/>
        </p:nvSpPr>
        <p:spPr>
          <a:xfrm>
            <a:off x="4582058" y="41468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4582058" y="4713732"/>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Un cuadro comparativo</a:t>
            </a:r>
            <a:endParaRPr lang="en-US" sz="1168" dirty="0"/>
          </a:p>
        </p:txBody>
      </p:sp>
      <p:sp>
        <p:nvSpPr>
          <p:cNvPr id="27" name="Text 25"/>
          <p:cNvSpPr txBox="1"/>
          <p:nvPr/>
        </p:nvSpPr>
        <p:spPr>
          <a:xfrm>
            <a:off x="4582058" y="5107737"/>
            <a:ext cx="3027578" cy="85366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De las plataformas de análisis cualitativo, con tu propia evaluación de cuál sirve para qué.</a:t>
            </a:r>
            <a:endParaRPr lang="en-US" sz="949" dirty="0"/>
          </a:p>
        </p:txBody>
      </p:sp>
      <p:sp>
        <p:nvSpPr>
          <p:cNvPr id="28" name="Shape 26"/>
          <p:cNvSpPr/>
          <p:nvPr/>
        </p:nvSpPr>
        <p:spPr>
          <a:xfrm>
            <a:off x="8121701" y="3927348"/>
            <a:ext cx="3503066" cy="2235225"/>
          </a:xfrm>
          <a:prstGeom prst="roundRect">
            <a:avLst>
              <a:gd name="adj" fmla="val 3273"/>
            </a:avLst>
          </a:prstGeom>
          <a:solidFill>
            <a:srgbClr val="F7E4D8"/>
          </a:solidFill>
          <a:ln w="12700">
            <a:solidFill>
              <a:srgbClr val="F7E4D8"/>
            </a:solidFill>
            <a:prstDash val="solid"/>
          </a:ln>
        </p:spPr>
      </p:sp>
      <p:sp>
        <p:nvSpPr>
          <p:cNvPr id="29" name="Text 27"/>
          <p:cNvSpPr txBox="1"/>
          <p:nvPr/>
        </p:nvSpPr>
        <p:spPr>
          <a:xfrm>
            <a:off x="8359445" y="4165092"/>
            <a:ext cx="3027578" cy="247701"/>
          </a:xfrm>
          <a:prstGeom prst="rect">
            <a:avLst/>
          </a:prstGeom>
          <a:noFill/>
          <a:ln/>
        </p:spPr>
        <p:txBody>
          <a:bodyPr wrap="square" lIns="0" tIns="0" rIns="0" bIns="0" rtlCol="0" anchor="t"/>
          <a:lstStyle/>
          <a:p>
            <a:pPr indent="0" marL="0">
              <a:buNone/>
            </a:pPr>
            <a:r>
              <a:rPr lang="en-US" sz="1168" b="1" dirty="0">
                <a:solidFill>
                  <a:srgbClr val="16262E"/>
                </a:solidFill>
                <a:latin typeface="Arial" pitchFamily="34" charset="0"/>
                <a:ea typeface="Arial" pitchFamily="34" charset="-122"/>
                <a:cs typeface="Arial" pitchFamily="34" charset="-120"/>
              </a:rPr>
              <a:t>Y la base de tu proyecto</a:t>
            </a:r>
            <a:endParaRPr lang="en-US" sz="1168" dirty="0"/>
          </a:p>
        </p:txBody>
      </p:sp>
      <p:sp>
        <p:nvSpPr>
          <p:cNvPr id="30" name="Text 28"/>
          <p:cNvSpPr txBox="1"/>
          <p:nvPr/>
        </p:nvSpPr>
        <p:spPr>
          <a:xfrm>
            <a:off x="8359445" y="4559097"/>
            <a:ext cx="3027578" cy="1402309"/>
          </a:xfrm>
          <a:prstGeom prst="rect">
            <a:avLst/>
          </a:prstGeom>
          <a:noFill/>
          <a:ln/>
        </p:spPr>
        <p:txBody>
          <a:bodyPr wrap="square" lIns="0" tIns="0" rIns="0" bIns="0" rtlCol="0" anchor="t"/>
          <a:lstStyle/>
          <a:p>
            <a:pPr indent="0" marL="0">
              <a:lnSpc>
                <a:spcPct val="110000"/>
              </a:lnSpc>
              <a:buNone/>
            </a:pPr>
            <a:r>
              <a:rPr lang="en-US" sz="949" dirty="0">
                <a:solidFill>
                  <a:srgbClr val="16262E"/>
                </a:solidFill>
                <a:latin typeface="Calibri" pitchFamily="34" charset="0"/>
                <a:ea typeface="Calibri" pitchFamily="34" charset="-122"/>
                <a:cs typeface="Calibri" pitchFamily="34" charset="-120"/>
              </a:rPr>
              <a:t>El proyecto final vale otro 40 por ciento y se trabaja en equipo. Lo que hagas estas dos semanas puede ser su punto de partida.</a:t>
            </a:r>
            <a:endParaRPr lang="en-US" sz="94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1</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CONCEPTOS CLAVE</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Qué es un modelo de lenguaje y por qué falla</a:t>
            </a:r>
            <a:endParaRPr lang="en-US" sz="3400" dirty="0"/>
          </a:p>
        </p:txBody>
      </p:sp>
      <p:sp>
        <p:nvSpPr>
          <p:cNvPr id="6" name="Shape 4"/>
          <p:cNvSpPr/>
          <p:nvPr/>
        </p:nvSpPr>
        <p:spPr>
          <a:xfrm>
            <a:off x="9631375" y="457200"/>
            <a:ext cx="1993392"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631375" y="457200"/>
            <a:ext cx="19933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9:12 a 9:50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Dónde queda la IA generativa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Cuando alguien dice "la IA", vale la pena preguntar cuál. Son anillos, no sinónimos.</a:t>
            </a:r>
            <a:endParaRPr lang="en-US" sz="1500" dirty="0"/>
          </a:p>
        </p:txBody>
      </p:sp>
      <p:sp>
        <p:nvSpPr>
          <p:cNvPr id="4" name="Shape 2"/>
          <p:cNvSpPr/>
          <p:nvPr/>
        </p:nvSpPr>
        <p:spPr>
          <a:xfrm>
            <a:off x="566928" y="1856232"/>
            <a:ext cx="6309360" cy="4343400"/>
          </a:xfrm>
          <a:prstGeom prst="ellipse">
            <a:avLst/>
          </a:prstGeom>
          <a:solidFill>
            <a:srgbClr val="F2F5F6"/>
          </a:solidFill>
          <a:ln w="12700">
            <a:solidFill>
              <a:srgbClr val="F2F5F6"/>
            </a:solidFill>
            <a:prstDash val="solid"/>
          </a:ln>
        </p:spPr>
      </p:sp>
      <p:sp>
        <p:nvSpPr>
          <p:cNvPr id="5" name="Shape 3"/>
          <p:cNvSpPr/>
          <p:nvPr/>
        </p:nvSpPr>
        <p:spPr>
          <a:xfrm>
            <a:off x="868680" y="2496312"/>
            <a:ext cx="5394960" cy="3547872"/>
          </a:xfrm>
          <a:prstGeom prst="ellipse">
            <a:avLst/>
          </a:prstGeom>
          <a:solidFill>
            <a:srgbClr val="D7E7E7"/>
          </a:solidFill>
          <a:ln w="12700">
            <a:solidFill>
              <a:srgbClr val="D7E7E7"/>
            </a:solidFill>
            <a:prstDash val="solid"/>
          </a:ln>
        </p:spPr>
      </p:sp>
      <p:sp>
        <p:nvSpPr>
          <p:cNvPr id="6" name="Shape 4"/>
          <p:cNvSpPr/>
          <p:nvPr/>
        </p:nvSpPr>
        <p:spPr>
          <a:xfrm>
            <a:off x="1170432" y="3136392"/>
            <a:ext cx="4480560" cy="2743200"/>
          </a:xfrm>
          <a:prstGeom prst="ellipse">
            <a:avLst/>
          </a:prstGeom>
          <a:solidFill>
            <a:srgbClr val="A9CFCF"/>
          </a:solidFill>
          <a:ln w="12700">
            <a:solidFill>
              <a:srgbClr val="A9CFCF"/>
            </a:solidFill>
            <a:prstDash val="solid"/>
          </a:ln>
        </p:spPr>
      </p:sp>
      <p:sp>
        <p:nvSpPr>
          <p:cNvPr id="7" name="Shape 5"/>
          <p:cNvSpPr/>
          <p:nvPr/>
        </p:nvSpPr>
        <p:spPr>
          <a:xfrm>
            <a:off x="1481328" y="3776472"/>
            <a:ext cx="3566160" cy="1938528"/>
          </a:xfrm>
          <a:prstGeom prst="ellipse">
            <a:avLst/>
          </a:prstGeom>
          <a:solidFill>
            <a:srgbClr val="2E7D7D"/>
          </a:solidFill>
          <a:ln w="12700">
            <a:solidFill>
              <a:srgbClr val="2E7D7D"/>
            </a:solidFill>
            <a:prstDash val="solid"/>
          </a:ln>
        </p:spPr>
      </p:sp>
      <p:sp>
        <p:nvSpPr>
          <p:cNvPr id="8" name="Text 6"/>
          <p:cNvSpPr txBox="1"/>
          <p:nvPr/>
        </p:nvSpPr>
        <p:spPr>
          <a:xfrm>
            <a:off x="841248" y="1965960"/>
            <a:ext cx="5760720" cy="457200"/>
          </a:xfrm>
          <a:prstGeom prst="rect">
            <a:avLst/>
          </a:prstGeom>
          <a:noFill/>
          <a:ln/>
        </p:spPr>
        <p:txBody>
          <a:bodyPr wrap="square" lIns="0" tIns="0" rIns="0" bIns="0" rtlCol="0" anchor="ctr"/>
          <a:lstStyle/>
          <a:p>
            <a:pPr algn="ctr" indent="0" marL="0">
              <a:buNone/>
            </a:pPr>
            <a:r>
              <a:rPr lang="en-US" sz="1400" b="1" dirty="0">
                <a:solidFill>
                  <a:srgbClr val="16262E"/>
                </a:solidFill>
                <a:latin typeface="Arial" pitchFamily="34" charset="0"/>
                <a:ea typeface="Arial" pitchFamily="34" charset="-122"/>
                <a:cs typeface="Arial" pitchFamily="34" charset="-120"/>
              </a:rPr>
              <a:t>Inteligencia artificial</a:t>
            </a:r>
            <a:endParaRPr lang="en-US" sz="1400" dirty="0"/>
          </a:p>
        </p:txBody>
      </p:sp>
      <p:sp>
        <p:nvSpPr>
          <p:cNvPr id="9" name="Text 7"/>
          <p:cNvSpPr txBox="1"/>
          <p:nvPr/>
        </p:nvSpPr>
        <p:spPr>
          <a:xfrm>
            <a:off x="1143000" y="2606040"/>
            <a:ext cx="4846320" cy="457200"/>
          </a:xfrm>
          <a:prstGeom prst="rect">
            <a:avLst/>
          </a:prstGeom>
          <a:noFill/>
          <a:ln/>
        </p:spPr>
        <p:txBody>
          <a:bodyPr wrap="square" lIns="0" tIns="0" rIns="0" bIns="0" rtlCol="0" anchor="ctr"/>
          <a:lstStyle/>
          <a:p>
            <a:pPr algn="ctr" indent="0" marL="0">
              <a:buNone/>
            </a:pPr>
            <a:r>
              <a:rPr lang="en-US" sz="1400" b="1" dirty="0">
                <a:solidFill>
                  <a:srgbClr val="16262E"/>
                </a:solidFill>
                <a:latin typeface="Arial" pitchFamily="34" charset="0"/>
                <a:ea typeface="Arial" pitchFamily="34" charset="-122"/>
                <a:cs typeface="Arial" pitchFamily="34" charset="-120"/>
              </a:rPr>
              <a:t>Aprendizaje automático</a:t>
            </a:r>
            <a:endParaRPr lang="en-US" sz="1400" dirty="0"/>
          </a:p>
        </p:txBody>
      </p:sp>
      <p:sp>
        <p:nvSpPr>
          <p:cNvPr id="10" name="Text 8"/>
          <p:cNvSpPr txBox="1"/>
          <p:nvPr/>
        </p:nvSpPr>
        <p:spPr>
          <a:xfrm>
            <a:off x="1444752" y="3246120"/>
            <a:ext cx="3931920" cy="457200"/>
          </a:xfrm>
          <a:prstGeom prst="rect">
            <a:avLst/>
          </a:prstGeom>
          <a:noFill/>
          <a:ln/>
        </p:spPr>
        <p:txBody>
          <a:bodyPr wrap="square" lIns="0" tIns="0" rIns="0" bIns="0" rtlCol="0" anchor="ctr"/>
          <a:lstStyle/>
          <a:p>
            <a:pPr algn="ctr" indent="0" marL="0">
              <a:buNone/>
            </a:pPr>
            <a:r>
              <a:rPr lang="en-US" sz="1400" b="1" dirty="0">
                <a:solidFill>
                  <a:srgbClr val="16262E"/>
                </a:solidFill>
                <a:latin typeface="Arial" pitchFamily="34" charset="0"/>
                <a:ea typeface="Arial" pitchFamily="34" charset="-122"/>
                <a:cs typeface="Arial" pitchFamily="34" charset="-120"/>
              </a:rPr>
              <a:t>Aprendizaje profundo</a:t>
            </a:r>
            <a:endParaRPr lang="en-US" sz="1400" dirty="0"/>
          </a:p>
        </p:txBody>
      </p:sp>
      <p:sp>
        <p:nvSpPr>
          <p:cNvPr id="11" name="Text 9"/>
          <p:cNvSpPr txBox="1"/>
          <p:nvPr/>
        </p:nvSpPr>
        <p:spPr>
          <a:xfrm>
            <a:off x="1755648" y="4334256"/>
            <a:ext cx="301752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IA generativa y modelos de lenguaje</a:t>
            </a:r>
            <a:endParaRPr lang="en-US" sz="1500" dirty="0"/>
          </a:p>
        </p:txBody>
      </p:sp>
      <p:sp>
        <p:nvSpPr>
          <p:cNvPr id="12" name="Shape 10"/>
          <p:cNvSpPr/>
          <p:nvPr/>
        </p:nvSpPr>
        <p:spPr>
          <a:xfrm>
            <a:off x="7269480" y="1856232"/>
            <a:ext cx="4355287" cy="2103120"/>
          </a:xfrm>
          <a:prstGeom prst="roundRect">
            <a:avLst>
              <a:gd name="adj" fmla="val 3478"/>
            </a:avLst>
          </a:prstGeom>
          <a:solidFill>
            <a:srgbClr val="D7E7E7"/>
          </a:solidFill>
          <a:ln w="12700">
            <a:solidFill>
              <a:srgbClr val="D7E7E7"/>
            </a:solidFill>
            <a:prstDash val="solid"/>
          </a:ln>
        </p:spPr>
      </p:sp>
      <p:sp>
        <p:nvSpPr>
          <p:cNvPr id="13" name="Text 11"/>
          <p:cNvSpPr txBox="1"/>
          <p:nvPr/>
        </p:nvSpPr>
        <p:spPr>
          <a:xfrm>
            <a:off x="7507224" y="2039112"/>
            <a:ext cx="3879799" cy="365760"/>
          </a:xfrm>
          <a:prstGeom prst="rect">
            <a:avLst/>
          </a:prstGeom>
          <a:noFill/>
          <a:ln/>
        </p:spPr>
        <p:txBody>
          <a:bodyPr wrap="square" lIns="0" tIns="0" rIns="0" bIns="0" rtlCol="0" anchor="t"/>
          <a:lstStyle/>
          <a:p>
            <a:pPr indent="0" marL="0">
              <a:buNone/>
            </a:pPr>
            <a:r>
              <a:rPr lang="en-US" sz="1500" b="1" dirty="0">
                <a:solidFill>
                  <a:srgbClr val="16262E"/>
                </a:solidFill>
                <a:latin typeface="Arial" pitchFamily="34" charset="0"/>
                <a:ea typeface="Arial" pitchFamily="34" charset="-122"/>
                <a:cs typeface="Arial" pitchFamily="34" charset="-120"/>
              </a:rPr>
              <a:t>Lo que ya usan</a:t>
            </a:r>
            <a:endParaRPr lang="en-US" sz="1500" dirty="0"/>
          </a:p>
        </p:txBody>
      </p:sp>
      <p:sp>
        <p:nvSpPr>
          <p:cNvPr id="14" name="Text 12"/>
          <p:cNvSpPr txBox="1"/>
          <p:nvPr/>
        </p:nvSpPr>
        <p:spPr>
          <a:xfrm>
            <a:off x="7507224" y="2459736"/>
            <a:ext cx="3879799" cy="1371600"/>
          </a:xfrm>
          <a:prstGeom prst="rect">
            <a:avLst/>
          </a:prstGeom>
          <a:noFill/>
          <a:ln/>
        </p:spPr>
        <p:txBody>
          <a:bodyPr wrap="square" lIns="0" tIns="0" rIns="0" bIns="0" rtlCol="0" anchor="t"/>
          <a:lstStyle/>
          <a:p>
            <a:pPr indent="0" marL="0">
              <a:lnSpc>
                <a:spcPct val="110000"/>
              </a:lnSpc>
              <a:buNone/>
            </a:pPr>
            <a:endParaRPr lang="en-US" sz="1250" dirty="0"/>
          </a:p>
        </p:txBody>
      </p:sp>
      <p:sp>
        <p:nvSpPr>
          <p:cNvPr id="15" name="Shape 13"/>
          <p:cNvSpPr/>
          <p:nvPr/>
        </p:nvSpPr>
        <p:spPr>
          <a:xfrm>
            <a:off x="7269480" y="4142232"/>
            <a:ext cx="4355287" cy="2103120"/>
          </a:xfrm>
          <a:prstGeom prst="roundRect">
            <a:avLst>
              <a:gd name="adj" fmla="val 3478"/>
            </a:avLst>
          </a:prstGeom>
          <a:solidFill>
            <a:srgbClr val="F7E4D8"/>
          </a:solidFill>
          <a:ln w="12700">
            <a:solidFill>
              <a:srgbClr val="F7E4D8"/>
            </a:solidFill>
            <a:prstDash val="solid"/>
          </a:ln>
        </p:spPr>
      </p:sp>
      <p:sp>
        <p:nvSpPr>
          <p:cNvPr id="16" name="Text 14"/>
          <p:cNvSpPr txBox="1"/>
          <p:nvPr/>
        </p:nvSpPr>
        <p:spPr>
          <a:xfrm>
            <a:off x="7507224" y="4325112"/>
            <a:ext cx="3879799" cy="365760"/>
          </a:xfrm>
          <a:prstGeom prst="rect">
            <a:avLst/>
          </a:prstGeom>
          <a:noFill/>
          <a:ln/>
        </p:spPr>
        <p:txBody>
          <a:bodyPr wrap="square" lIns="0" tIns="0" rIns="0" bIns="0" rtlCol="0" anchor="t"/>
          <a:lstStyle/>
          <a:p>
            <a:pPr indent="0" marL="0">
              <a:buNone/>
            </a:pPr>
            <a:r>
              <a:rPr lang="en-US" sz="1500" b="1" dirty="0">
                <a:solidFill>
                  <a:srgbClr val="16262E"/>
                </a:solidFill>
                <a:latin typeface="Arial" pitchFamily="34" charset="0"/>
                <a:ea typeface="Arial" pitchFamily="34" charset="-122"/>
                <a:cs typeface="Arial" pitchFamily="34" charset="-120"/>
              </a:rPr>
              <a:t>Lo que vamos a aprender</a:t>
            </a:r>
            <a:endParaRPr lang="en-US" sz="1500" dirty="0"/>
          </a:p>
        </p:txBody>
      </p:sp>
      <p:sp>
        <p:nvSpPr>
          <p:cNvPr id="17" name="Text 15"/>
          <p:cNvSpPr txBox="1"/>
          <p:nvPr/>
        </p:nvSpPr>
        <p:spPr>
          <a:xfrm>
            <a:off x="7507224" y="4745736"/>
            <a:ext cx="3879799" cy="1371600"/>
          </a:xfrm>
          <a:prstGeom prst="rect">
            <a:avLst/>
          </a:prstGeom>
          <a:noFill/>
          <a:ln/>
        </p:spPr>
        <p:txBody>
          <a:bodyPr wrap="square" lIns="0" tIns="0" rIns="0" bIns="0" rtlCol="0" anchor="t"/>
          <a:lstStyle/>
          <a:p>
            <a:pPr indent="0" marL="0">
              <a:lnSpc>
                <a:spcPct val="110000"/>
              </a:lnSpc>
              <a:buNone/>
            </a:pPr>
            <a:endParaRPr lang="en-US" sz="1250" dirty="0"/>
          </a:p>
        </p:txBody>
      </p:sp>
      <p:sp>
        <p:nvSpPr>
          <p:cNvPr id="18" name="Text 16"/>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Lo que tú ya haces no está fuera de esto. Está en el segundo anillo. Lo nuevo es el de adentro, y es el único que trabaja con lenguaje.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Qué cambió en 2017</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 la idea que hizo posibles a estos modelos. Cabe en una lámina.</a:t>
            </a:r>
            <a:endParaRPr lang="en-US" sz="1500" dirty="0"/>
          </a:p>
        </p:txBody>
      </p:sp>
      <p:sp>
        <p:nvSpPr>
          <p:cNvPr id="4" name="Shape 2"/>
          <p:cNvSpPr/>
          <p:nvPr/>
        </p:nvSpPr>
        <p:spPr>
          <a:xfrm>
            <a:off x="566928" y="1810512"/>
            <a:ext cx="5364328" cy="2590038"/>
          </a:xfrm>
          <a:prstGeom prst="roundRect">
            <a:avLst>
              <a:gd name="adj" fmla="val 2824"/>
            </a:avLst>
          </a:prstGeom>
          <a:solidFill>
            <a:srgbClr val="F2F5F6"/>
          </a:solidFill>
          <a:ln w="12700">
            <a:solidFill>
              <a:srgbClr val="F2F5F6"/>
            </a:solidFill>
            <a:prstDash val="solid"/>
          </a:ln>
        </p:spPr>
      </p:sp>
      <p:sp>
        <p:nvSpPr>
          <p:cNvPr id="5" name="Shape 3"/>
          <p:cNvSpPr/>
          <p:nvPr/>
        </p:nvSpPr>
        <p:spPr>
          <a:xfrm>
            <a:off x="566928" y="1810512"/>
            <a:ext cx="5364328" cy="658368"/>
          </a:xfrm>
          <a:prstGeom prst="roundRect">
            <a:avLst>
              <a:gd name="adj" fmla="val 11111"/>
            </a:avLst>
          </a:prstGeom>
          <a:solidFill>
            <a:srgbClr val="5A6B73"/>
          </a:solidFill>
          <a:ln w="12700">
            <a:solidFill>
              <a:srgbClr val="5A6B73"/>
            </a:solidFill>
            <a:prstDash val="solid"/>
          </a:ln>
        </p:spPr>
      </p:sp>
      <p:sp>
        <p:nvSpPr>
          <p:cNvPr id="6" name="Shape 4"/>
          <p:cNvSpPr/>
          <p:nvPr/>
        </p:nvSpPr>
        <p:spPr>
          <a:xfrm>
            <a:off x="566928" y="2176272"/>
            <a:ext cx="5364328" cy="292608"/>
          </a:xfrm>
          <a:prstGeom prst="rect">
            <a:avLst/>
          </a:prstGeom>
          <a:solidFill>
            <a:srgbClr val="5A6B73"/>
          </a:solidFill>
          <a:ln w="12700">
            <a:solidFill>
              <a:srgbClr val="5A6B73"/>
            </a:solidFill>
            <a:prstDash val="solid"/>
          </a:ln>
        </p:spPr>
      </p:sp>
      <p:sp>
        <p:nvSpPr>
          <p:cNvPr id="7" name="Text 5"/>
          <p:cNvSpPr txBox="1"/>
          <p:nvPr/>
        </p:nvSpPr>
        <p:spPr>
          <a:xfrm>
            <a:off x="822960"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Antes: leer palabra por palabra</a:t>
            </a:r>
            <a:endParaRPr lang="en-US" sz="1700" dirty="0"/>
          </a:p>
        </p:txBody>
      </p:sp>
      <p:sp>
        <p:nvSpPr>
          <p:cNvPr id="8" name="Text 6"/>
          <p:cNvSpPr txBox="1"/>
          <p:nvPr/>
        </p:nvSpPr>
        <p:spPr>
          <a:xfrm>
            <a:off x="822960" y="2679192"/>
            <a:ext cx="4852264" cy="1492758"/>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El modelo leía en orden, una palabra a la vez. Lo del principio se le iba borrando.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Al leer en secuencia, no se podía entrenar en paralelo. Entrenarlo con mucho texto era lentísimo.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Servía para frases cortas. No para documentos.</a:t>
            </a:r>
            <a:endParaRPr lang="en-US" sz="1400" dirty="0"/>
          </a:p>
        </p:txBody>
      </p:sp>
      <p:sp>
        <p:nvSpPr>
          <p:cNvPr id="9" name="Shape 7"/>
          <p:cNvSpPr/>
          <p:nvPr/>
        </p:nvSpPr>
        <p:spPr>
          <a:xfrm>
            <a:off x="6260440" y="1810512"/>
            <a:ext cx="5364328" cy="2590038"/>
          </a:xfrm>
          <a:prstGeom prst="roundRect">
            <a:avLst>
              <a:gd name="adj" fmla="val 2824"/>
            </a:avLst>
          </a:prstGeom>
          <a:solidFill>
            <a:srgbClr val="F7E4D8"/>
          </a:solidFill>
          <a:ln w="12700">
            <a:solidFill>
              <a:srgbClr val="F7E4D8"/>
            </a:solidFill>
            <a:prstDash val="solid"/>
          </a:ln>
        </p:spPr>
      </p:sp>
      <p:sp>
        <p:nvSpPr>
          <p:cNvPr id="10" name="Shape 8"/>
          <p:cNvSpPr/>
          <p:nvPr/>
        </p:nvSpPr>
        <p:spPr>
          <a:xfrm>
            <a:off x="6260440" y="1810512"/>
            <a:ext cx="5364328" cy="658368"/>
          </a:xfrm>
          <a:prstGeom prst="roundRect">
            <a:avLst>
              <a:gd name="adj" fmla="val 11111"/>
            </a:avLst>
          </a:prstGeom>
          <a:solidFill>
            <a:srgbClr val="C85A28"/>
          </a:solidFill>
          <a:ln w="12700">
            <a:solidFill>
              <a:srgbClr val="C85A28"/>
            </a:solidFill>
            <a:prstDash val="solid"/>
          </a:ln>
        </p:spPr>
      </p:sp>
      <p:sp>
        <p:nvSpPr>
          <p:cNvPr id="11" name="Shape 9"/>
          <p:cNvSpPr/>
          <p:nvPr/>
        </p:nvSpPr>
        <p:spPr>
          <a:xfrm>
            <a:off x="6260440" y="2176272"/>
            <a:ext cx="5364328" cy="292608"/>
          </a:xfrm>
          <a:prstGeom prst="rect">
            <a:avLst/>
          </a:prstGeom>
          <a:solidFill>
            <a:srgbClr val="C85A28"/>
          </a:solidFill>
          <a:ln w="12700">
            <a:solidFill>
              <a:srgbClr val="C85A28"/>
            </a:solidFill>
            <a:prstDash val="solid"/>
          </a:ln>
        </p:spPr>
      </p:sp>
      <p:sp>
        <p:nvSpPr>
          <p:cNvPr id="12" name="Text 10"/>
          <p:cNvSpPr txBox="1"/>
          <p:nvPr/>
        </p:nvSpPr>
        <p:spPr>
          <a:xfrm>
            <a:off x="6516472"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Desde 2017: leer todo junto y prestar atención</a:t>
            </a:r>
            <a:endParaRPr lang="en-US" sz="1700" dirty="0"/>
          </a:p>
        </p:txBody>
      </p:sp>
      <p:sp>
        <p:nvSpPr>
          <p:cNvPr id="13" name="Text 11"/>
          <p:cNvSpPr txBox="1"/>
          <p:nvPr/>
        </p:nvSpPr>
        <p:spPr>
          <a:xfrm>
            <a:off x="6516472" y="2679192"/>
            <a:ext cx="4852264" cy="1492758"/>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El modelo lee el texto completo de una vez. Para cada palabra calcula cuánta atención darle a cada una de las demás.</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Como lee en paralelo, se puede entrenar con cantidades enormes de texto.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Ahora sí entiende documentos, y aprendió de casi todo lo que hay escrito.</a:t>
            </a:r>
            <a:endParaRPr lang="en-US" sz="1400" dirty="0"/>
          </a:p>
        </p:txBody>
      </p:sp>
      <p:sp>
        <p:nvSpPr>
          <p:cNvPr id="14" name="Text 12"/>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El artículo que lo propuso se llama, en traducción, "La atención es todo lo que necesitas". La atención es la idea.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La atención, en una frase de tu trabajo</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Para entender cada palabra, el modelo decide a qué otras palabras mirar.</a:t>
            </a:r>
            <a:endParaRPr lang="en-US" sz="1500" dirty="0"/>
          </a:p>
        </p:txBody>
      </p:sp>
      <p:sp>
        <p:nvSpPr>
          <p:cNvPr id="4" name="Shape 2"/>
          <p:cNvSpPr/>
          <p:nvPr/>
        </p:nvSpPr>
        <p:spPr>
          <a:xfrm>
            <a:off x="1004926" y="2496312"/>
            <a:ext cx="429768" cy="475488"/>
          </a:xfrm>
          <a:prstGeom prst="roundRect">
            <a:avLst>
              <a:gd name="adj" fmla="val 12766"/>
            </a:avLst>
          </a:prstGeom>
          <a:solidFill>
            <a:srgbClr val="F2F5F6"/>
          </a:solidFill>
          <a:ln w="12700">
            <a:solidFill>
              <a:srgbClr val="F2F5F6"/>
            </a:solidFill>
            <a:prstDash val="solid"/>
          </a:ln>
        </p:spPr>
      </p:sp>
      <p:sp>
        <p:nvSpPr>
          <p:cNvPr id="5" name="Text 3"/>
          <p:cNvSpPr txBox="1"/>
          <p:nvPr/>
        </p:nvSpPr>
        <p:spPr>
          <a:xfrm>
            <a:off x="1004926" y="2496312"/>
            <a:ext cx="42976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El</a:t>
            </a:r>
            <a:endParaRPr lang="en-US" sz="1400" dirty="0"/>
          </a:p>
        </p:txBody>
      </p:sp>
      <p:sp>
        <p:nvSpPr>
          <p:cNvPr id="6" name="Shape 4"/>
          <p:cNvSpPr/>
          <p:nvPr/>
        </p:nvSpPr>
        <p:spPr>
          <a:xfrm>
            <a:off x="1526134" y="2496312"/>
            <a:ext cx="1005840" cy="475488"/>
          </a:xfrm>
          <a:prstGeom prst="roundRect">
            <a:avLst>
              <a:gd name="adj" fmla="val 11538"/>
            </a:avLst>
          </a:prstGeom>
          <a:solidFill>
            <a:srgbClr val="2E7D7D"/>
          </a:solidFill>
          <a:ln w="12700">
            <a:solidFill>
              <a:srgbClr val="2E7D7D"/>
            </a:solidFill>
            <a:prstDash val="solid"/>
          </a:ln>
        </p:spPr>
      </p:sp>
      <p:sp>
        <p:nvSpPr>
          <p:cNvPr id="7" name="Text 5"/>
          <p:cNvSpPr txBox="1"/>
          <p:nvPr/>
        </p:nvSpPr>
        <p:spPr>
          <a:xfrm>
            <a:off x="1526134" y="2496312"/>
            <a:ext cx="10058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programa</a:t>
            </a:r>
            <a:endParaRPr lang="en-US" sz="1400" dirty="0"/>
          </a:p>
        </p:txBody>
      </p:sp>
      <p:sp>
        <p:nvSpPr>
          <p:cNvPr id="8" name="Shape 6"/>
          <p:cNvSpPr/>
          <p:nvPr/>
        </p:nvSpPr>
        <p:spPr>
          <a:xfrm>
            <a:off x="2623414" y="2496312"/>
            <a:ext cx="429768" cy="475488"/>
          </a:xfrm>
          <a:prstGeom prst="roundRect">
            <a:avLst>
              <a:gd name="adj" fmla="val 12766"/>
            </a:avLst>
          </a:prstGeom>
          <a:solidFill>
            <a:srgbClr val="F2F5F6"/>
          </a:solidFill>
          <a:ln w="12700">
            <a:solidFill>
              <a:srgbClr val="F2F5F6"/>
            </a:solidFill>
            <a:prstDash val="solid"/>
          </a:ln>
        </p:spPr>
      </p:sp>
      <p:sp>
        <p:nvSpPr>
          <p:cNvPr id="9" name="Text 7"/>
          <p:cNvSpPr txBox="1"/>
          <p:nvPr/>
        </p:nvSpPr>
        <p:spPr>
          <a:xfrm>
            <a:off x="2623414" y="2496312"/>
            <a:ext cx="42976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no</a:t>
            </a:r>
            <a:endParaRPr lang="en-US" sz="1400" dirty="0"/>
          </a:p>
        </p:txBody>
      </p:sp>
      <p:sp>
        <p:nvSpPr>
          <p:cNvPr id="10" name="Shape 8"/>
          <p:cNvSpPr/>
          <p:nvPr/>
        </p:nvSpPr>
        <p:spPr>
          <a:xfrm>
            <a:off x="3144622" y="2496312"/>
            <a:ext cx="909828" cy="475488"/>
          </a:xfrm>
          <a:prstGeom prst="roundRect">
            <a:avLst>
              <a:gd name="adj" fmla="val 11538"/>
            </a:avLst>
          </a:prstGeom>
          <a:solidFill>
            <a:srgbClr val="F2F5F6"/>
          </a:solidFill>
          <a:ln w="12700">
            <a:solidFill>
              <a:srgbClr val="F2F5F6"/>
            </a:solidFill>
            <a:prstDash val="solid"/>
          </a:ln>
        </p:spPr>
      </p:sp>
      <p:sp>
        <p:nvSpPr>
          <p:cNvPr id="11" name="Text 9"/>
          <p:cNvSpPr txBox="1"/>
          <p:nvPr/>
        </p:nvSpPr>
        <p:spPr>
          <a:xfrm>
            <a:off x="3144622" y="2496312"/>
            <a:ext cx="90982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alcanzó</a:t>
            </a:r>
            <a:endParaRPr lang="en-US" sz="1400" dirty="0"/>
          </a:p>
        </p:txBody>
      </p:sp>
      <p:sp>
        <p:nvSpPr>
          <p:cNvPr id="12" name="Shape 10"/>
          <p:cNvSpPr/>
          <p:nvPr/>
        </p:nvSpPr>
        <p:spPr>
          <a:xfrm>
            <a:off x="4145890" y="2496312"/>
            <a:ext cx="429768" cy="475488"/>
          </a:xfrm>
          <a:prstGeom prst="roundRect">
            <a:avLst>
              <a:gd name="adj" fmla="val 12766"/>
            </a:avLst>
          </a:prstGeom>
          <a:solidFill>
            <a:srgbClr val="2E7D7D"/>
          </a:solidFill>
          <a:ln w="12700">
            <a:solidFill>
              <a:srgbClr val="2E7D7D"/>
            </a:solidFill>
            <a:prstDash val="solid"/>
          </a:ln>
        </p:spPr>
      </p:sp>
      <p:sp>
        <p:nvSpPr>
          <p:cNvPr id="13" name="Text 11"/>
          <p:cNvSpPr txBox="1"/>
          <p:nvPr/>
        </p:nvSpPr>
        <p:spPr>
          <a:xfrm>
            <a:off x="4145890" y="2496312"/>
            <a:ext cx="42976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a:t>
            </a:r>
            <a:endParaRPr lang="en-US" sz="1400" dirty="0"/>
          </a:p>
        </p:txBody>
      </p:sp>
      <p:sp>
        <p:nvSpPr>
          <p:cNvPr id="14" name="Shape 12"/>
          <p:cNvSpPr/>
          <p:nvPr/>
        </p:nvSpPr>
        <p:spPr>
          <a:xfrm>
            <a:off x="4667098" y="2496312"/>
            <a:ext cx="621792" cy="475488"/>
          </a:xfrm>
          <a:prstGeom prst="roundRect">
            <a:avLst>
              <a:gd name="adj" fmla="val 11538"/>
            </a:avLst>
          </a:prstGeom>
          <a:solidFill>
            <a:srgbClr val="F2F5F6"/>
          </a:solidFill>
          <a:ln w="12700">
            <a:solidFill>
              <a:srgbClr val="F2F5F6"/>
            </a:solidFill>
            <a:prstDash val="solid"/>
          </a:ln>
        </p:spPr>
      </p:sp>
      <p:sp>
        <p:nvSpPr>
          <p:cNvPr id="15" name="Text 13"/>
          <p:cNvSpPr txBox="1"/>
          <p:nvPr/>
        </p:nvSpPr>
        <p:spPr>
          <a:xfrm>
            <a:off x="4667098" y="2496312"/>
            <a:ext cx="621792"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meta</a:t>
            </a:r>
            <a:endParaRPr lang="en-US" sz="1400" dirty="0"/>
          </a:p>
        </p:txBody>
      </p:sp>
      <p:sp>
        <p:nvSpPr>
          <p:cNvPr id="16" name="Shape 14"/>
          <p:cNvSpPr/>
          <p:nvPr/>
        </p:nvSpPr>
        <p:spPr>
          <a:xfrm>
            <a:off x="5380330" y="2496312"/>
            <a:ext cx="813816" cy="475488"/>
          </a:xfrm>
          <a:prstGeom prst="roundRect">
            <a:avLst>
              <a:gd name="adj" fmla="val 11538"/>
            </a:avLst>
          </a:prstGeom>
          <a:solidFill>
            <a:srgbClr val="F2F5F6"/>
          </a:solidFill>
          <a:ln w="12700">
            <a:solidFill>
              <a:srgbClr val="F2F5F6"/>
            </a:solidFill>
            <a:prstDash val="solid"/>
          </a:ln>
        </p:spPr>
      </p:sp>
      <p:sp>
        <p:nvSpPr>
          <p:cNvPr id="17" name="Text 15"/>
          <p:cNvSpPr txBox="1"/>
          <p:nvPr/>
        </p:nvSpPr>
        <p:spPr>
          <a:xfrm>
            <a:off x="5380330" y="2496312"/>
            <a:ext cx="813816"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porque</a:t>
            </a:r>
            <a:endParaRPr lang="en-US" sz="1400" dirty="0"/>
          </a:p>
        </p:txBody>
      </p:sp>
      <p:sp>
        <p:nvSpPr>
          <p:cNvPr id="18" name="Shape 16"/>
          <p:cNvSpPr/>
          <p:nvPr/>
        </p:nvSpPr>
        <p:spPr>
          <a:xfrm>
            <a:off x="6285586" y="2496312"/>
            <a:ext cx="429768" cy="475488"/>
          </a:xfrm>
          <a:prstGeom prst="roundRect">
            <a:avLst>
              <a:gd name="adj" fmla="val 12766"/>
            </a:avLst>
          </a:prstGeom>
          <a:solidFill>
            <a:srgbClr val="F2F5F6"/>
          </a:solidFill>
          <a:ln w="12700">
            <a:solidFill>
              <a:srgbClr val="F2F5F6"/>
            </a:solidFill>
            <a:prstDash val="solid"/>
          </a:ln>
        </p:spPr>
      </p:sp>
      <p:sp>
        <p:nvSpPr>
          <p:cNvPr id="19" name="Text 17"/>
          <p:cNvSpPr txBox="1"/>
          <p:nvPr/>
        </p:nvSpPr>
        <p:spPr>
          <a:xfrm>
            <a:off x="6285586" y="2496312"/>
            <a:ext cx="42976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el</a:t>
            </a:r>
            <a:endParaRPr lang="en-US" sz="1400" dirty="0"/>
          </a:p>
        </p:txBody>
      </p:sp>
      <p:sp>
        <p:nvSpPr>
          <p:cNvPr id="20" name="Shape 18"/>
          <p:cNvSpPr/>
          <p:nvPr/>
        </p:nvSpPr>
        <p:spPr>
          <a:xfrm>
            <a:off x="6806794" y="2496312"/>
            <a:ext cx="813816" cy="475488"/>
          </a:xfrm>
          <a:prstGeom prst="roundRect">
            <a:avLst>
              <a:gd name="adj" fmla="val 11538"/>
            </a:avLst>
          </a:prstGeom>
          <a:solidFill>
            <a:srgbClr val="C85A28"/>
          </a:solidFill>
          <a:ln w="12700">
            <a:solidFill>
              <a:srgbClr val="C85A28"/>
            </a:solidFill>
            <a:prstDash val="solid"/>
          </a:ln>
        </p:spPr>
      </p:sp>
      <p:sp>
        <p:nvSpPr>
          <p:cNvPr id="21" name="Text 19"/>
          <p:cNvSpPr txBox="1"/>
          <p:nvPr/>
        </p:nvSpPr>
        <p:spPr>
          <a:xfrm>
            <a:off x="6806794" y="2496312"/>
            <a:ext cx="813816"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padrón</a:t>
            </a:r>
            <a:endParaRPr lang="en-US" sz="1400" dirty="0"/>
          </a:p>
        </p:txBody>
      </p:sp>
      <p:sp>
        <p:nvSpPr>
          <p:cNvPr id="22" name="Shape 20"/>
          <p:cNvSpPr/>
          <p:nvPr/>
        </p:nvSpPr>
        <p:spPr>
          <a:xfrm>
            <a:off x="7712050" y="2496312"/>
            <a:ext cx="429768" cy="475488"/>
          </a:xfrm>
          <a:prstGeom prst="roundRect">
            <a:avLst>
              <a:gd name="adj" fmla="val 12766"/>
            </a:avLst>
          </a:prstGeom>
          <a:solidFill>
            <a:srgbClr val="F2F5F6"/>
          </a:solidFill>
          <a:ln w="12700">
            <a:solidFill>
              <a:srgbClr val="F2F5F6"/>
            </a:solidFill>
            <a:prstDash val="solid"/>
          </a:ln>
        </p:spPr>
      </p:sp>
      <p:sp>
        <p:nvSpPr>
          <p:cNvPr id="23" name="Text 21"/>
          <p:cNvSpPr txBox="1"/>
          <p:nvPr/>
        </p:nvSpPr>
        <p:spPr>
          <a:xfrm>
            <a:off x="7712050" y="2496312"/>
            <a:ext cx="42976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no</a:t>
            </a:r>
            <a:endParaRPr lang="en-US" sz="1400" dirty="0"/>
          </a:p>
        </p:txBody>
      </p:sp>
      <p:sp>
        <p:nvSpPr>
          <p:cNvPr id="24" name="Shape 22"/>
          <p:cNvSpPr/>
          <p:nvPr/>
        </p:nvSpPr>
        <p:spPr>
          <a:xfrm>
            <a:off x="8233258" y="2496312"/>
            <a:ext cx="429768" cy="475488"/>
          </a:xfrm>
          <a:prstGeom prst="roundRect">
            <a:avLst>
              <a:gd name="adj" fmla="val 12766"/>
            </a:avLst>
          </a:prstGeom>
          <a:solidFill>
            <a:srgbClr val="F2F5F6"/>
          </a:solidFill>
          <a:ln w="12700">
            <a:solidFill>
              <a:srgbClr val="F2F5F6"/>
            </a:solidFill>
            <a:prstDash val="solid"/>
          </a:ln>
        </p:spPr>
      </p:sp>
      <p:sp>
        <p:nvSpPr>
          <p:cNvPr id="25" name="Text 23"/>
          <p:cNvSpPr txBox="1"/>
          <p:nvPr/>
        </p:nvSpPr>
        <p:spPr>
          <a:xfrm>
            <a:off x="8233258" y="2496312"/>
            <a:ext cx="429768"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se</a:t>
            </a:r>
            <a:endParaRPr lang="en-US" sz="1400" dirty="0"/>
          </a:p>
        </p:txBody>
      </p:sp>
      <p:sp>
        <p:nvSpPr>
          <p:cNvPr id="26" name="Shape 24"/>
          <p:cNvSpPr/>
          <p:nvPr/>
        </p:nvSpPr>
        <p:spPr>
          <a:xfrm>
            <a:off x="8754466" y="2496312"/>
            <a:ext cx="1101852" cy="475488"/>
          </a:xfrm>
          <a:prstGeom prst="roundRect">
            <a:avLst>
              <a:gd name="adj" fmla="val 11538"/>
            </a:avLst>
          </a:prstGeom>
          <a:solidFill>
            <a:srgbClr val="C85A28"/>
          </a:solidFill>
          <a:ln w="12700">
            <a:solidFill>
              <a:srgbClr val="C85A28"/>
            </a:solidFill>
            <a:prstDash val="solid"/>
          </a:ln>
        </p:spPr>
      </p:sp>
      <p:sp>
        <p:nvSpPr>
          <p:cNvPr id="27" name="Text 25"/>
          <p:cNvSpPr txBox="1"/>
          <p:nvPr/>
        </p:nvSpPr>
        <p:spPr>
          <a:xfrm>
            <a:off x="8754466" y="2496312"/>
            <a:ext cx="1101852"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actualizó</a:t>
            </a:r>
            <a:endParaRPr lang="en-US" sz="1400" dirty="0"/>
          </a:p>
        </p:txBody>
      </p:sp>
      <p:sp>
        <p:nvSpPr>
          <p:cNvPr id="28" name="Shape 26"/>
          <p:cNvSpPr/>
          <p:nvPr/>
        </p:nvSpPr>
        <p:spPr>
          <a:xfrm>
            <a:off x="9947758" y="2496312"/>
            <a:ext cx="333756" cy="475488"/>
          </a:xfrm>
          <a:prstGeom prst="roundRect">
            <a:avLst>
              <a:gd name="adj" fmla="val 16438"/>
            </a:avLst>
          </a:prstGeom>
          <a:solidFill>
            <a:srgbClr val="F2F5F6"/>
          </a:solidFill>
          <a:ln w="12700">
            <a:solidFill>
              <a:srgbClr val="F2F5F6"/>
            </a:solidFill>
            <a:prstDash val="solid"/>
          </a:ln>
        </p:spPr>
      </p:sp>
      <p:sp>
        <p:nvSpPr>
          <p:cNvPr id="29" name="Text 27"/>
          <p:cNvSpPr txBox="1"/>
          <p:nvPr/>
        </p:nvSpPr>
        <p:spPr>
          <a:xfrm>
            <a:off x="9947758" y="2496312"/>
            <a:ext cx="333756"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a</a:t>
            </a:r>
            <a:endParaRPr lang="en-US" sz="1400" dirty="0"/>
          </a:p>
        </p:txBody>
      </p:sp>
      <p:sp>
        <p:nvSpPr>
          <p:cNvPr id="30" name="Shape 28"/>
          <p:cNvSpPr/>
          <p:nvPr/>
        </p:nvSpPr>
        <p:spPr>
          <a:xfrm>
            <a:off x="10372954" y="2496312"/>
            <a:ext cx="813816" cy="475488"/>
          </a:xfrm>
          <a:prstGeom prst="roundRect">
            <a:avLst>
              <a:gd name="adj" fmla="val 11538"/>
            </a:avLst>
          </a:prstGeom>
          <a:solidFill>
            <a:srgbClr val="F2F5F6"/>
          </a:solidFill>
          <a:ln w="12700">
            <a:solidFill>
              <a:srgbClr val="F2F5F6"/>
            </a:solidFill>
            <a:prstDash val="solid"/>
          </a:ln>
        </p:spPr>
      </p:sp>
      <p:sp>
        <p:nvSpPr>
          <p:cNvPr id="31" name="Text 29"/>
          <p:cNvSpPr txBox="1"/>
          <p:nvPr/>
        </p:nvSpPr>
        <p:spPr>
          <a:xfrm>
            <a:off x="10372954" y="2496312"/>
            <a:ext cx="813816" cy="475488"/>
          </a:xfrm>
          <a:prstGeom prst="rect">
            <a:avLst/>
          </a:prstGeom>
          <a:noFill/>
          <a:ln/>
        </p:spPr>
        <p:txBody>
          <a:bodyPr wrap="square" lIns="0" tIns="0" rIns="0" bIns="0" rtlCol="0" anchor="ctr"/>
          <a:lstStyle/>
          <a:p>
            <a:pPr algn="ctr" indent="0" marL="0">
              <a:buNone/>
            </a:pPr>
            <a:r>
              <a:rPr lang="en-US" sz="1400" dirty="0">
                <a:solidFill>
                  <a:srgbClr val="16262E"/>
                </a:solidFill>
                <a:latin typeface="Calibri" pitchFamily="34" charset="0"/>
                <a:ea typeface="Calibri" pitchFamily="34" charset="-122"/>
                <a:cs typeface="Calibri" pitchFamily="34" charset="-120"/>
              </a:rPr>
              <a:t>tiempo</a:t>
            </a:r>
            <a:endParaRPr lang="en-US" sz="1400" dirty="0"/>
          </a:p>
        </p:txBody>
      </p:sp>
      <p:sp>
        <p:nvSpPr>
          <p:cNvPr id="32" name="Shape 30"/>
          <p:cNvSpPr/>
          <p:nvPr/>
        </p:nvSpPr>
        <p:spPr>
          <a:xfrm>
            <a:off x="4360774" y="2112264"/>
            <a:ext cx="0" cy="384048"/>
          </a:xfrm>
          <a:prstGeom prst="line">
            <a:avLst/>
          </a:prstGeom>
          <a:noFill/>
          <a:ln w="25400">
            <a:solidFill>
              <a:srgbClr val="2E7D7D"/>
            </a:solidFill>
            <a:prstDash val="solid"/>
          </a:ln>
        </p:spPr>
      </p:sp>
      <p:sp>
        <p:nvSpPr>
          <p:cNvPr id="33" name="Shape 31"/>
          <p:cNvSpPr/>
          <p:nvPr/>
        </p:nvSpPr>
        <p:spPr>
          <a:xfrm>
            <a:off x="2029054" y="2112264"/>
            <a:ext cx="2331720" cy="0"/>
          </a:xfrm>
          <a:prstGeom prst="line">
            <a:avLst/>
          </a:prstGeom>
          <a:noFill/>
          <a:ln w="25400">
            <a:solidFill>
              <a:srgbClr val="2E7D7D"/>
            </a:solidFill>
            <a:prstDash val="solid"/>
          </a:ln>
        </p:spPr>
      </p:sp>
      <p:sp>
        <p:nvSpPr>
          <p:cNvPr id="34" name="Shape 32"/>
          <p:cNvSpPr/>
          <p:nvPr/>
        </p:nvSpPr>
        <p:spPr>
          <a:xfrm flipV="1">
            <a:off x="2029054" y="2112264"/>
            <a:ext cx="0" cy="384048"/>
          </a:xfrm>
          <a:prstGeom prst="line">
            <a:avLst/>
          </a:prstGeom>
          <a:noFill/>
          <a:ln w="25400">
            <a:solidFill>
              <a:srgbClr val="2E7D7D"/>
            </a:solidFill>
            <a:prstDash val="solid"/>
            <a:tailEnd type="triangle"/>
          </a:ln>
        </p:spPr>
      </p:sp>
      <p:sp>
        <p:nvSpPr>
          <p:cNvPr id="35" name="Shape 33"/>
          <p:cNvSpPr/>
          <p:nvPr/>
        </p:nvSpPr>
        <p:spPr>
          <a:xfrm>
            <a:off x="9305392" y="2971800"/>
            <a:ext cx="0" cy="384048"/>
          </a:xfrm>
          <a:prstGeom prst="line">
            <a:avLst/>
          </a:prstGeom>
          <a:noFill/>
          <a:ln w="25400">
            <a:solidFill>
              <a:srgbClr val="C85A28"/>
            </a:solidFill>
            <a:prstDash val="solid"/>
          </a:ln>
        </p:spPr>
      </p:sp>
      <p:sp>
        <p:nvSpPr>
          <p:cNvPr id="36" name="Shape 34"/>
          <p:cNvSpPr/>
          <p:nvPr/>
        </p:nvSpPr>
        <p:spPr>
          <a:xfrm>
            <a:off x="7213702" y="3355848"/>
            <a:ext cx="2091690" cy="0"/>
          </a:xfrm>
          <a:prstGeom prst="line">
            <a:avLst/>
          </a:prstGeom>
          <a:noFill/>
          <a:ln w="25400">
            <a:solidFill>
              <a:srgbClr val="C85A28"/>
            </a:solidFill>
            <a:prstDash val="solid"/>
          </a:ln>
        </p:spPr>
      </p:sp>
      <p:sp>
        <p:nvSpPr>
          <p:cNvPr id="37" name="Shape 35"/>
          <p:cNvSpPr/>
          <p:nvPr/>
        </p:nvSpPr>
        <p:spPr>
          <a:xfrm>
            <a:off x="7213702" y="2971800"/>
            <a:ext cx="0" cy="384048"/>
          </a:xfrm>
          <a:prstGeom prst="line">
            <a:avLst/>
          </a:prstGeom>
          <a:noFill/>
          <a:ln w="25400">
            <a:solidFill>
              <a:srgbClr val="C85A28"/>
            </a:solidFill>
            <a:prstDash val="solid"/>
            <a:tailEnd type="triangle"/>
          </a:ln>
        </p:spPr>
      </p:sp>
      <p:sp>
        <p:nvSpPr>
          <p:cNvPr id="38" name="Text 36"/>
          <p:cNvSpPr txBox="1"/>
          <p:nvPr/>
        </p:nvSpPr>
        <p:spPr>
          <a:xfrm>
            <a:off x="566928" y="3611880"/>
            <a:ext cx="11057839" cy="685800"/>
          </a:xfrm>
          <a:prstGeom prst="rect">
            <a:avLst/>
          </a:prstGeom>
          <a:noFill/>
          <a:ln/>
        </p:spPr>
        <p:txBody>
          <a:bodyPr wrap="square" lIns="0" tIns="0" rIns="0" bIns="0" rtlCol="0" anchor="t"/>
          <a:lstStyle/>
          <a:p>
            <a:pPr indent="0" marL="0">
              <a:lnSpc>
                <a:spcPct val="110000"/>
              </a:lnSpc>
              <a:buNone/>
            </a:pPr>
            <a:r>
              <a:rPr lang="en-US" sz="1400" dirty="0">
                <a:solidFill>
                  <a:srgbClr val="16262E"/>
                </a:solidFill>
                <a:latin typeface="Calibri" pitchFamily="34" charset="0"/>
                <a:ea typeface="Calibri" pitchFamily="34" charset="-122"/>
                <a:cs typeface="Calibri" pitchFamily="34" charset="-120"/>
              </a:rPr>
              <a:t>Para saber a qué se refiere "su", el modelo mira "programa". Para saber qué fue lo que no se actualizó, mira "padrón". Hace ese cálculo con cada palabra contra todas las demás, muchas veces, en capas.</a:t>
            </a:r>
            <a:endParaRPr lang="en-US" sz="1400" dirty="0"/>
          </a:p>
        </p:txBody>
      </p:sp>
      <p:sp>
        <p:nvSpPr>
          <p:cNvPr id="39" name="Shape 37"/>
          <p:cNvSpPr/>
          <p:nvPr/>
        </p:nvSpPr>
        <p:spPr>
          <a:xfrm>
            <a:off x="566928" y="4389120"/>
            <a:ext cx="2593010" cy="1600200"/>
          </a:xfrm>
          <a:prstGeom prst="roundRect">
            <a:avLst>
              <a:gd name="adj" fmla="val 4000"/>
            </a:avLst>
          </a:prstGeom>
          <a:solidFill>
            <a:srgbClr val="D7E7E7"/>
          </a:solidFill>
          <a:ln w="12700">
            <a:solidFill>
              <a:srgbClr val="D7E7E7"/>
            </a:solidFill>
            <a:prstDash val="solid"/>
          </a:ln>
        </p:spPr>
      </p:sp>
      <p:sp>
        <p:nvSpPr>
          <p:cNvPr id="40" name="Text 38"/>
          <p:cNvSpPr txBox="1"/>
          <p:nvPr/>
        </p:nvSpPr>
        <p:spPr>
          <a:xfrm>
            <a:off x="768096" y="4535424"/>
            <a:ext cx="2190674" cy="365760"/>
          </a:xfrm>
          <a:prstGeom prst="rect">
            <a:avLst/>
          </a:prstGeom>
          <a:noFill/>
          <a:ln/>
        </p:spPr>
        <p:txBody>
          <a:bodyPr wrap="square" lIns="0" tIns="0" rIns="0" bIns="0" rtlCol="0" anchor="t"/>
          <a:lstStyle/>
          <a:p>
            <a:pPr indent="0" marL="0">
              <a:buNone/>
            </a:pPr>
            <a:r>
              <a:rPr lang="en-US" sz="1400" b="1" dirty="0">
                <a:solidFill>
                  <a:srgbClr val="16262E"/>
                </a:solidFill>
                <a:latin typeface="Arial" pitchFamily="34" charset="0"/>
                <a:ea typeface="Arial" pitchFamily="34" charset="-122"/>
                <a:cs typeface="Arial" pitchFamily="34" charset="-120"/>
              </a:rPr>
              <a:t>Alcanza lejos</a:t>
            </a:r>
            <a:endParaRPr lang="en-US" sz="1400" dirty="0"/>
          </a:p>
        </p:txBody>
      </p:sp>
      <p:sp>
        <p:nvSpPr>
          <p:cNvPr id="41" name="Text 39"/>
          <p:cNvSpPr txBox="1"/>
          <p:nvPr/>
        </p:nvSpPr>
        <p:spPr>
          <a:xfrm>
            <a:off x="768096" y="4919472"/>
            <a:ext cx="2190674" cy="960120"/>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Relaciona una palabra con otra que está veinte párrafos antes. Por eso puede trabajar con documentos.</a:t>
            </a:r>
            <a:endParaRPr lang="en-US" sz="1250" dirty="0"/>
          </a:p>
        </p:txBody>
      </p:sp>
      <p:sp>
        <p:nvSpPr>
          <p:cNvPr id="42" name="Shape 40"/>
          <p:cNvSpPr/>
          <p:nvPr/>
        </p:nvSpPr>
        <p:spPr>
          <a:xfrm>
            <a:off x="3388538" y="4389120"/>
            <a:ext cx="2593010" cy="1600200"/>
          </a:xfrm>
          <a:prstGeom prst="roundRect">
            <a:avLst>
              <a:gd name="adj" fmla="val 4000"/>
            </a:avLst>
          </a:prstGeom>
          <a:solidFill>
            <a:srgbClr val="D7E7E7"/>
          </a:solidFill>
          <a:ln w="12700">
            <a:solidFill>
              <a:srgbClr val="D7E7E7"/>
            </a:solidFill>
            <a:prstDash val="solid"/>
          </a:ln>
        </p:spPr>
      </p:sp>
      <p:sp>
        <p:nvSpPr>
          <p:cNvPr id="43" name="Text 41"/>
          <p:cNvSpPr txBox="1"/>
          <p:nvPr/>
        </p:nvSpPr>
        <p:spPr>
          <a:xfrm>
            <a:off x="3589706" y="4535424"/>
            <a:ext cx="2190674" cy="365760"/>
          </a:xfrm>
          <a:prstGeom prst="rect">
            <a:avLst/>
          </a:prstGeom>
          <a:noFill/>
          <a:ln/>
        </p:spPr>
        <p:txBody>
          <a:bodyPr wrap="square" lIns="0" tIns="0" rIns="0" bIns="0" rtlCol="0" anchor="t"/>
          <a:lstStyle/>
          <a:p>
            <a:pPr indent="0" marL="0">
              <a:buNone/>
            </a:pPr>
            <a:r>
              <a:rPr lang="en-US" sz="1400" b="1" dirty="0">
                <a:solidFill>
                  <a:srgbClr val="16262E"/>
                </a:solidFill>
                <a:latin typeface="Arial" pitchFamily="34" charset="0"/>
                <a:ea typeface="Arial" pitchFamily="34" charset="-122"/>
                <a:cs typeface="Arial" pitchFamily="34" charset="-120"/>
              </a:rPr>
              <a:t>Lee en paralelo</a:t>
            </a:r>
            <a:endParaRPr lang="en-US" sz="1400" dirty="0"/>
          </a:p>
        </p:txBody>
      </p:sp>
      <p:sp>
        <p:nvSpPr>
          <p:cNvPr id="44" name="Text 42"/>
          <p:cNvSpPr txBox="1"/>
          <p:nvPr/>
        </p:nvSpPr>
        <p:spPr>
          <a:xfrm>
            <a:off x="3589706" y="4919472"/>
            <a:ext cx="2190674" cy="960120"/>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Al no leer en orden, se entrena a gran escala. Aprendió de una porción enorme de todo lo escrito.</a:t>
            </a:r>
            <a:endParaRPr lang="en-US" sz="1250" dirty="0"/>
          </a:p>
        </p:txBody>
      </p:sp>
      <p:sp>
        <p:nvSpPr>
          <p:cNvPr id="45" name="Shape 43"/>
          <p:cNvSpPr/>
          <p:nvPr/>
        </p:nvSpPr>
        <p:spPr>
          <a:xfrm>
            <a:off x="6210148" y="4389120"/>
            <a:ext cx="2593010" cy="1600200"/>
          </a:xfrm>
          <a:prstGeom prst="roundRect">
            <a:avLst>
              <a:gd name="adj" fmla="val 4000"/>
            </a:avLst>
          </a:prstGeom>
          <a:solidFill>
            <a:srgbClr val="D7E7E7"/>
          </a:solidFill>
          <a:ln w="12700">
            <a:solidFill>
              <a:srgbClr val="D7E7E7"/>
            </a:solidFill>
            <a:prstDash val="solid"/>
          </a:ln>
        </p:spPr>
      </p:sp>
      <p:sp>
        <p:nvSpPr>
          <p:cNvPr id="46" name="Text 44"/>
          <p:cNvSpPr txBox="1"/>
          <p:nvPr/>
        </p:nvSpPr>
        <p:spPr>
          <a:xfrm>
            <a:off x="6411316" y="4535424"/>
            <a:ext cx="2190674" cy="365760"/>
          </a:xfrm>
          <a:prstGeom prst="rect">
            <a:avLst/>
          </a:prstGeom>
          <a:noFill/>
          <a:ln/>
        </p:spPr>
        <p:txBody>
          <a:bodyPr wrap="square" lIns="0" tIns="0" rIns="0" bIns="0" rtlCol="0" anchor="t"/>
          <a:lstStyle/>
          <a:p>
            <a:pPr indent="0" marL="0">
              <a:buNone/>
            </a:pPr>
            <a:r>
              <a:rPr lang="en-US" sz="1400" b="1" dirty="0">
                <a:solidFill>
                  <a:srgbClr val="16262E"/>
                </a:solidFill>
                <a:latin typeface="Arial" pitchFamily="34" charset="0"/>
                <a:ea typeface="Arial" pitchFamily="34" charset="-122"/>
                <a:cs typeface="Arial" pitchFamily="34" charset="-120"/>
              </a:rPr>
              <a:t>La receta escala</a:t>
            </a:r>
            <a:endParaRPr lang="en-US" sz="1400" dirty="0"/>
          </a:p>
        </p:txBody>
      </p:sp>
      <p:sp>
        <p:nvSpPr>
          <p:cNvPr id="47" name="Text 45"/>
          <p:cNvSpPr txBox="1"/>
          <p:nvPr/>
        </p:nvSpPr>
        <p:spPr>
          <a:xfrm>
            <a:off x="6411316" y="4919472"/>
            <a:ext cx="2190674" cy="960120"/>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Más texto y más parámetros dan mejor resultado sin cambiar el diseño. Por eso mejoran cada año.</a:t>
            </a:r>
            <a:endParaRPr lang="en-US" sz="1250" dirty="0"/>
          </a:p>
        </p:txBody>
      </p:sp>
      <p:sp>
        <p:nvSpPr>
          <p:cNvPr id="48" name="Shape 46"/>
          <p:cNvSpPr/>
          <p:nvPr/>
        </p:nvSpPr>
        <p:spPr>
          <a:xfrm>
            <a:off x="9031757" y="4389120"/>
            <a:ext cx="2593010" cy="1600200"/>
          </a:xfrm>
          <a:prstGeom prst="roundRect">
            <a:avLst>
              <a:gd name="adj" fmla="val 4000"/>
            </a:avLst>
          </a:prstGeom>
          <a:solidFill>
            <a:srgbClr val="D7E7E7"/>
          </a:solidFill>
          <a:ln w="12700">
            <a:solidFill>
              <a:srgbClr val="D7E7E7"/>
            </a:solidFill>
            <a:prstDash val="solid"/>
          </a:ln>
        </p:spPr>
      </p:sp>
      <p:sp>
        <p:nvSpPr>
          <p:cNvPr id="49" name="Text 47"/>
          <p:cNvSpPr txBox="1"/>
          <p:nvPr/>
        </p:nvSpPr>
        <p:spPr>
          <a:xfrm>
            <a:off x="9232925" y="4535424"/>
            <a:ext cx="2190674" cy="365760"/>
          </a:xfrm>
          <a:prstGeom prst="rect">
            <a:avLst/>
          </a:prstGeom>
          <a:noFill/>
          <a:ln/>
        </p:spPr>
        <p:txBody>
          <a:bodyPr wrap="square" lIns="0" tIns="0" rIns="0" bIns="0" rtlCol="0" anchor="t"/>
          <a:lstStyle/>
          <a:p>
            <a:pPr indent="0" marL="0">
              <a:buNone/>
            </a:pPr>
            <a:r>
              <a:rPr lang="en-US" sz="1400" b="1" dirty="0">
                <a:solidFill>
                  <a:srgbClr val="16262E"/>
                </a:solidFill>
                <a:latin typeface="Arial" pitchFamily="34" charset="0"/>
                <a:ea typeface="Arial" pitchFamily="34" charset="-122"/>
                <a:cs typeface="Arial" pitchFamily="34" charset="-120"/>
              </a:rPr>
              <a:t>Pero tiene un límite</a:t>
            </a:r>
            <a:endParaRPr lang="en-US" sz="1400" dirty="0"/>
          </a:p>
        </p:txBody>
      </p:sp>
      <p:sp>
        <p:nvSpPr>
          <p:cNvPr id="50" name="Text 48"/>
          <p:cNvSpPr txBox="1"/>
          <p:nvPr/>
        </p:nvSpPr>
        <p:spPr>
          <a:xfrm>
            <a:off x="9232925" y="4919472"/>
            <a:ext cx="2190674" cy="960120"/>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La atención se calcula sobre una cantidad fija de texto. Lo que queda fuera, no lo ve. Volvemos a esto más tarde.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0058400" y="-1463040"/>
            <a:ext cx="4023360" cy="4023360"/>
          </a:xfrm>
          <a:prstGeom prst="ellipse">
            <a:avLst/>
          </a:prstGeom>
          <a:solidFill>
            <a:srgbClr val="24404E"/>
          </a:solidFill>
          <a:ln w="12700">
            <a:solidFill>
              <a:srgbClr val="24404E"/>
            </a:solidFill>
            <a:prstDash val="solid"/>
          </a:ln>
        </p:spPr>
      </p:sp>
      <p:sp>
        <p:nvSpPr>
          <p:cNvPr id="3" name="Text 1"/>
          <p:cNvSpPr txBox="1"/>
          <p:nvPr/>
        </p:nvSpPr>
        <p:spPr>
          <a:xfrm>
            <a:off x="932688" y="13716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Y PARA QUÉ SE ENTRENÓ TODO ESO</a:t>
            </a:r>
            <a:endParaRPr lang="en-US" sz="1400" dirty="0"/>
          </a:p>
        </p:txBody>
      </p:sp>
      <p:sp>
        <p:nvSpPr>
          <p:cNvPr id="4" name="Text 2"/>
          <p:cNvSpPr txBox="1"/>
          <p:nvPr/>
        </p:nvSpPr>
        <p:spPr>
          <a:xfrm>
            <a:off x="932688" y="1828800"/>
            <a:ext cx="10241280"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Un modelo de lenguaje predice cuál es la siguiente palabra más probable, a partir de todo lo que ya vio.</a:t>
            </a:r>
            <a:endParaRPr lang="en-US" sz="3000" dirty="0"/>
          </a:p>
        </p:txBody>
      </p:sp>
      <p:sp>
        <p:nvSpPr>
          <p:cNvPr id="5" name="Text 3"/>
          <p:cNvSpPr txBox="1"/>
          <p:nvPr/>
        </p:nvSpPr>
        <p:spPr>
          <a:xfrm>
            <a:off x="932688" y="4343400"/>
            <a:ext cx="10058400" cy="1371600"/>
          </a:xfrm>
          <a:prstGeom prst="rect">
            <a:avLst/>
          </a:prstGeom>
          <a:noFill/>
          <a:ln/>
        </p:spPr>
        <p:txBody>
          <a:bodyPr wrap="square" lIns="0" tIns="0" rIns="0" bIns="0" rtlCol="0" anchor="t"/>
          <a:lstStyle/>
          <a:p>
            <a:pPr indent="0" marL="0">
              <a:lnSpc>
                <a:spcPct val="115000"/>
              </a:lnSpc>
              <a:buNone/>
            </a:pPr>
            <a:r>
              <a:rPr lang="en-US" sz="1600" dirty="0">
                <a:solidFill>
                  <a:srgbClr val="D7E7E7"/>
                </a:solidFill>
                <a:latin typeface="Calibri" pitchFamily="34" charset="0"/>
                <a:ea typeface="Calibri" pitchFamily="34" charset="-122"/>
                <a:cs typeface="Calibri" pitchFamily="34" charset="-120"/>
              </a:rPr>
              <a:t>De ahí salen sus virtudes y sus defectos. Es muy bueno produciendo texto que suena correcto, porque eso es exactamente lo que hace. No tiene forma de saber si además es cierto.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Dos palabras que no significan lo mismo</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Las vas a oír todo el curso. Conviene separarlas desde hoy, porque se gobiernan distinto.</a:t>
            </a:r>
            <a:endParaRPr lang="en-US" sz="1500" dirty="0"/>
          </a:p>
        </p:txBody>
      </p:sp>
      <p:sp>
        <p:nvSpPr>
          <p:cNvPr id="4" name="Shape 2"/>
          <p:cNvSpPr/>
          <p:nvPr/>
        </p:nvSpPr>
        <p:spPr>
          <a:xfrm>
            <a:off x="566928" y="1810512"/>
            <a:ext cx="5364328" cy="2912364"/>
          </a:xfrm>
          <a:prstGeom prst="roundRect">
            <a:avLst>
              <a:gd name="adj" fmla="val 2512"/>
            </a:avLst>
          </a:prstGeom>
          <a:solidFill>
            <a:srgbClr val="F7E4D8"/>
          </a:solidFill>
          <a:ln w="12700">
            <a:solidFill>
              <a:srgbClr val="F7E4D8"/>
            </a:solidFill>
            <a:prstDash val="solid"/>
          </a:ln>
        </p:spPr>
      </p:sp>
      <p:sp>
        <p:nvSpPr>
          <p:cNvPr id="5" name="Shape 3"/>
          <p:cNvSpPr/>
          <p:nvPr/>
        </p:nvSpPr>
        <p:spPr>
          <a:xfrm>
            <a:off x="566928" y="1810512"/>
            <a:ext cx="5364328" cy="658368"/>
          </a:xfrm>
          <a:prstGeom prst="roundRect">
            <a:avLst>
              <a:gd name="adj" fmla="val 11111"/>
            </a:avLst>
          </a:prstGeom>
          <a:solidFill>
            <a:srgbClr val="C85A28"/>
          </a:solidFill>
          <a:ln w="12700">
            <a:solidFill>
              <a:srgbClr val="C85A28"/>
            </a:solidFill>
            <a:prstDash val="solid"/>
          </a:ln>
        </p:spPr>
      </p:sp>
      <p:sp>
        <p:nvSpPr>
          <p:cNvPr id="6" name="Shape 4"/>
          <p:cNvSpPr/>
          <p:nvPr/>
        </p:nvSpPr>
        <p:spPr>
          <a:xfrm>
            <a:off x="566928" y="2176272"/>
            <a:ext cx="5364328" cy="292608"/>
          </a:xfrm>
          <a:prstGeom prst="rect">
            <a:avLst/>
          </a:prstGeom>
          <a:solidFill>
            <a:srgbClr val="C85A28"/>
          </a:solidFill>
          <a:ln w="12700">
            <a:solidFill>
              <a:srgbClr val="C85A28"/>
            </a:solidFill>
            <a:prstDash val="solid"/>
          </a:ln>
        </p:spPr>
      </p:sp>
      <p:sp>
        <p:nvSpPr>
          <p:cNvPr id="7" name="Text 5"/>
          <p:cNvSpPr txBox="1"/>
          <p:nvPr/>
        </p:nvSpPr>
        <p:spPr>
          <a:xfrm>
            <a:off x="822960"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El modelo</a:t>
            </a:r>
            <a:endParaRPr lang="en-US" sz="1700" dirty="0"/>
          </a:p>
        </p:txBody>
      </p:sp>
      <p:sp>
        <p:nvSpPr>
          <p:cNvPr id="8" name="Text 6"/>
          <p:cNvSpPr txBox="1"/>
          <p:nvPr/>
        </p:nvSpPr>
        <p:spPr>
          <a:xfrm>
            <a:off x="822960" y="2679192"/>
            <a:ext cx="4852264" cy="1815084"/>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Es lo que predice palabras. Vive por debajo, no lo ves.</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Es lo que inventa referencias, lo que no calcula y lo que trae sesgos.</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Tiene un límite de cuánto texto puede leer de una vez.</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Cuando hablemos de lo que falla, vamos a decir el modelo.</a:t>
            </a:r>
            <a:endParaRPr lang="en-US" sz="1400" dirty="0"/>
          </a:p>
        </p:txBody>
      </p:sp>
      <p:sp>
        <p:nvSpPr>
          <p:cNvPr id="9" name="Shape 7"/>
          <p:cNvSpPr/>
          <p:nvPr/>
        </p:nvSpPr>
        <p:spPr>
          <a:xfrm>
            <a:off x="6260440" y="1810512"/>
            <a:ext cx="5364328" cy="2912364"/>
          </a:xfrm>
          <a:prstGeom prst="roundRect">
            <a:avLst>
              <a:gd name="adj" fmla="val 2512"/>
            </a:avLst>
          </a:prstGeom>
          <a:solidFill>
            <a:srgbClr val="D7E7E7"/>
          </a:solidFill>
          <a:ln w="12700">
            <a:solidFill>
              <a:srgbClr val="D7E7E7"/>
            </a:solidFill>
            <a:prstDash val="solid"/>
          </a:ln>
        </p:spPr>
      </p:sp>
      <p:sp>
        <p:nvSpPr>
          <p:cNvPr id="10" name="Shape 8"/>
          <p:cNvSpPr/>
          <p:nvPr/>
        </p:nvSpPr>
        <p:spPr>
          <a:xfrm>
            <a:off x="6260440" y="1810512"/>
            <a:ext cx="5364328" cy="658368"/>
          </a:xfrm>
          <a:prstGeom prst="roundRect">
            <a:avLst>
              <a:gd name="adj" fmla="val 11111"/>
            </a:avLst>
          </a:prstGeom>
          <a:solidFill>
            <a:srgbClr val="2E7D7D"/>
          </a:solidFill>
          <a:ln w="12700">
            <a:solidFill>
              <a:srgbClr val="2E7D7D"/>
            </a:solidFill>
            <a:prstDash val="solid"/>
          </a:ln>
        </p:spPr>
      </p:sp>
      <p:sp>
        <p:nvSpPr>
          <p:cNvPr id="11" name="Shape 9"/>
          <p:cNvSpPr/>
          <p:nvPr/>
        </p:nvSpPr>
        <p:spPr>
          <a:xfrm>
            <a:off x="6260440" y="2176272"/>
            <a:ext cx="5364328" cy="292608"/>
          </a:xfrm>
          <a:prstGeom prst="rect">
            <a:avLst/>
          </a:prstGeom>
          <a:solidFill>
            <a:srgbClr val="2E7D7D"/>
          </a:solidFill>
          <a:ln w="12700">
            <a:solidFill>
              <a:srgbClr val="2E7D7D"/>
            </a:solidFill>
            <a:prstDash val="solid"/>
          </a:ln>
        </p:spPr>
      </p:sp>
      <p:sp>
        <p:nvSpPr>
          <p:cNvPr id="12" name="Text 10"/>
          <p:cNvSpPr txBox="1"/>
          <p:nvPr/>
        </p:nvSpPr>
        <p:spPr>
          <a:xfrm>
            <a:off x="6516472"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La herramienta</a:t>
            </a:r>
            <a:endParaRPr lang="en-US" sz="1700" dirty="0"/>
          </a:p>
        </p:txBody>
      </p:sp>
      <p:sp>
        <p:nvSpPr>
          <p:cNvPr id="13" name="Text 11"/>
          <p:cNvSpPr txBox="1"/>
          <p:nvPr/>
        </p:nvSpPr>
        <p:spPr>
          <a:xfrm>
            <a:off x="6516472" y="2679192"/>
            <a:ext cx="4852264" cy="1815084"/>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Es el producto que abres: Copilot, ChatGPT, Claude, Gemini.</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Tiene un contrato, o no lo tiene. Tiene una configuración de privacidad. Tiene un precio.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Varias herramientas distintas pueden usar el mismo modelo por debajo.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Cuando hablemos de dónde puedes meter información, vamos a decir la herramienta.</a:t>
            </a:r>
            <a:endParaRPr lang="en-US" sz="1400" dirty="0"/>
          </a:p>
        </p:txBody>
      </p:sp>
      <p:sp>
        <p:nvSpPr>
          <p:cNvPr id="14" name="Text 12"/>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Que una herramienta sea segura no vuelve confiable lo que escribe el modelo. Son dos preguntas separadas y las dos hay que contestarlas.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Tres demostraciones y tres lecciones</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Las hacemos en vivo ahora mismo. Anota la lección, no la demostración.</a:t>
            </a:r>
            <a:endParaRPr lang="en-US" sz="1500" dirty="0"/>
          </a:p>
        </p:txBody>
      </p:sp>
      <p:sp>
        <p:nvSpPr>
          <p:cNvPr id="4" name="Shape 2"/>
          <p:cNvSpPr/>
          <p:nvPr/>
        </p:nvSpPr>
        <p:spPr>
          <a:xfrm>
            <a:off x="566928" y="2011680"/>
            <a:ext cx="3503066" cy="3071622"/>
          </a:xfrm>
          <a:prstGeom prst="roundRect">
            <a:avLst>
              <a:gd name="adj" fmla="val 2382"/>
            </a:avLst>
          </a:prstGeom>
          <a:solidFill>
            <a:srgbClr val="F2F5F6"/>
          </a:solidFill>
          <a:ln w="12700">
            <a:solidFill>
              <a:srgbClr val="F2F5F6"/>
            </a:solidFill>
            <a:prstDash val="solid"/>
          </a:ln>
        </p:spPr>
      </p:sp>
      <p:sp>
        <p:nvSpPr>
          <p:cNvPr id="5" name="Shape 3"/>
          <p:cNvSpPr/>
          <p:nvPr/>
        </p:nvSpPr>
        <p:spPr>
          <a:xfrm>
            <a:off x="804672" y="2231136"/>
            <a:ext cx="420624" cy="420624"/>
          </a:xfrm>
          <a:prstGeom prst="ellipse">
            <a:avLst/>
          </a:prstGeom>
          <a:solidFill>
            <a:srgbClr val="2E7D7D"/>
          </a:solidFill>
          <a:ln w="12700">
            <a:solidFill>
              <a:srgbClr val="2E7D7D"/>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804672"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El mismo prompt, tres veces</a:t>
            </a:r>
            <a:endParaRPr lang="en-US" sz="1600" dirty="0"/>
          </a:p>
        </p:txBody>
      </p:sp>
      <p:sp>
        <p:nvSpPr>
          <p:cNvPr id="8" name="Text 6"/>
          <p:cNvSpPr txBox="1"/>
          <p:nvPr/>
        </p:nvSpPr>
        <p:spPr>
          <a:xfrm>
            <a:off x="804672" y="3263392"/>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Salen tres respuestas distintas.</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Lección: el modelo no repite. No puedes reproducir un resultado solo con volver a preguntar. Por eso llevas bitácora.</a:t>
            </a:r>
            <a:endParaRPr lang="en-US" sz="1300" dirty="0"/>
          </a:p>
        </p:txBody>
      </p:sp>
      <p:sp>
        <p:nvSpPr>
          <p:cNvPr id="9" name="Shape 7"/>
          <p:cNvSpPr/>
          <p:nvPr/>
        </p:nvSpPr>
        <p:spPr>
          <a:xfrm>
            <a:off x="4344314" y="2011680"/>
            <a:ext cx="3503066" cy="3071622"/>
          </a:xfrm>
          <a:prstGeom prst="roundRect">
            <a:avLst>
              <a:gd name="adj" fmla="val 2382"/>
            </a:avLst>
          </a:prstGeom>
          <a:solidFill>
            <a:srgbClr val="F2F5F6"/>
          </a:solidFill>
          <a:ln w="12700">
            <a:solidFill>
              <a:srgbClr val="F2F5F6"/>
            </a:solidFill>
            <a:prstDash val="solid"/>
          </a:ln>
        </p:spPr>
      </p:sp>
      <p:sp>
        <p:nvSpPr>
          <p:cNvPr id="10" name="Shape 8"/>
          <p:cNvSpPr/>
          <p:nvPr/>
        </p:nvSpPr>
        <p:spPr>
          <a:xfrm>
            <a:off x="4582058" y="2231136"/>
            <a:ext cx="420624" cy="420624"/>
          </a:xfrm>
          <a:prstGeom prst="ellipse">
            <a:avLst/>
          </a:prstGeom>
          <a:solidFill>
            <a:srgbClr val="2E7D7D"/>
          </a:solidFill>
          <a:ln w="12700">
            <a:solidFill>
              <a:srgbClr val="2E7D7D"/>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582058"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Una cuenta con varias cifras</a:t>
            </a:r>
            <a:endParaRPr lang="en-US" sz="1600" dirty="0"/>
          </a:p>
        </p:txBody>
      </p:sp>
      <p:sp>
        <p:nvSpPr>
          <p:cNvPr id="13" name="Text 11"/>
          <p:cNvSpPr txBox="1"/>
          <p:nvPr/>
        </p:nvSpPr>
        <p:spPr>
          <a:xfrm>
            <a:off x="4582058" y="3263392"/>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comprobamos en Excel y no cuadra.</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Lección: el modelo no calcula. Escribe algo que se parece a un cálculo. Por eso existe el Módulo III.</a:t>
            </a:r>
            <a:endParaRPr lang="en-US" sz="1300" dirty="0"/>
          </a:p>
        </p:txBody>
      </p:sp>
      <p:sp>
        <p:nvSpPr>
          <p:cNvPr id="14" name="Shape 12"/>
          <p:cNvSpPr/>
          <p:nvPr/>
        </p:nvSpPr>
        <p:spPr>
          <a:xfrm>
            <a:off x="8121701" y="2011680"/>
            <a:ext cx="3503066" cy="3071622"/>
          </a:xfrm>
          <a:prstGeom prst="roundRect">
            <a:avLst>
              <a:gd name="adj" fmla="val 2382"/>
            </a:avLst>
          </a:prstGeom>
          <a:solidFill>
            <a:srgbClr val="F7E4D8"/>
          </a:solidFill>
          <a:ln w="12700">
            <a:solidFill>
              <a:srgbClr val="F7E4D8"/>
            </a:solidFill>
            <a:prstDash val="solid"/>
          </a:ln>
        </p:spPr>
      </p:sp>
      <p:sp>
        <p:nvSpPr>
          <p:cNvPr id="15" name="Shape 13"/>
          <p:cNvSpPr/>
          <p:nvPr/>
        </p:nvSpPr>
        <p:spPr>
          <a:xfrm>
            <a:off x="8359445" y="2231136"/>
            <a:ext cx="420624" cy="420624"/>
          </a:xfrm>
          <a:prstGeom prst="ellipse">
            <a:avLst/>
          </a:prstGeom>
          <a:solidFill>
            <a:srgbClr val="C85A28"/>
          </a:solidFill>
          <a:ln w="12700">
            <a:solidFill>
              <a:srgbClr val="C85A28"/>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59445"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Tres estudios sobre el tema</a:t>
            </a:r>
            <a:endParaRPr lang="en-US" sz="1600" dirty="0"/>
          </a:p>
        </p:txBody>
      </p:sp>
      <p:sp>
        <p:nvSpPr>
          <p:cNvPr id="18" name="Text 16"/>
          <p:cNvSpPr txBox="1"/>
          <p:nvPr/>
        </p:nvSpPr>
        <p:spPr>
          <a:xfrm>
            <a:off x="8359445" y="3263392"/>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Buscamos las referencias y al menos una no existe.</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Lección: el modelo escribe lo que suena creíble, no lo que es cierto. Por eso existe la sesión del jueves.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2</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USO ÉTICO DE LA IA EN LA FUNCIÓN PÚBLICA</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Tres principios que aquí no son opcionales</a:t>
            </a:r>
            <a:endParaRPr lang="en-US" sz="3400" dirty="0"/>
          </a:p>
        </p:txBody>
      </p:sp>
      <p:sp>
        <p:nvSpPr>
          <p:cNvPr id="6" name="Shape 4"/>
          <p:cNvSpPr/>
          <p:nvPr/>
        </p:nvSpPr>
        <p:spPr>
          <a:xfrm>
            <a:off x="9485071" y="457200"/>
            <a:ext cx="2139696"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485071" y="457200"/>
            <a:ext cx="2139696"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9:50 a 10:22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Los tres principios</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En una empresa son buenas prácticas. Aquí son obligaciones, porque tu producto sostiene decisiones públicas.</a:t>
            </a:r>
            <a:endParaRPr lang="en-US" sz="1500" dirty="0"/>
          </a:p>
        </p:txBody>
      </p:sp>
      <p:sp>
        <p:nvSpPr>
          <p:cNvPr id="4" name="Shape 2"/>
          <p:cNvSpPr/>
          <p:nvPr/>
        </p:nvSpPr>
        <p:spPr>
          <a:xfrm>
            <a:off x="566928" y="2011680"/>
            <a:ext cx="3503066" cy="2493772"/>
          </a:xfrm>
          <a:prstGeom prst="roundRect">
            <a:avLst>
              <a:gd name="adj" fmla="val 2933"/>
            </a:avLst>
          </a:prstGeom>
          <a:solidFill>
            <a:srgbClr val="D7E7E7"/>
          </a:solidFill>
          <a:ln w="12700">
            <a:solidFill>
              <a:srgbClr val="D7E7E7"/>
            </a:solidFill>
            <a:prstDash val="solid"/>
          </a:ln>
        </p:spPr>
      </p:sp>
      <p:sp>
        <p:nvSpPr>
          <p:cNvPr id="5" name="Shape 3"/>
          <p:cNvSpPr/>
          <p:nvPr/>
        </p:nvSpPr>
        <p:spPr>
          <a:xfrm>
            <a:off x="804672" y="2231136"/>
            <a:ext cx="420624" cy="420624"/>
          </a:xfrm>
          <a:prstGeom prst="ellipse">
            <a:avLst/>
          </a:prstGeom>
          <a:solidFill>
            <a:srgbClr val="2E7D7D"/>
          </a:solidFill>
          <a:ln w="12700">
            <a:solidFill>
              <a:srgbClr val="2E7D7D"/>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804672"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Transparencia</a:t>
            </a:r>
            <a:endParaRPr lang="en-US" sz="1600" dirty="0"/>
          </a:p>
        </p:txBody>
      </p:sp>
      <p:sp>
        <p:nvSpPr>
          <p:cNvPr id="8" name="Text 6"/>
          <p:cNvSpPr txBox="1"/>
          <p:nvPr/>
        </p:nvSpPr>
        <p:spPr>
          <a:xfrm>
            <a:off x="804672" y="326339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Quien recibe tu trabajo tiene derecho a saber que usaste IA y cómo llegaste al resultado.</a:t>
            </a:r>
            <a:endParaRPr lang="en-US" sz="1300" dirty="0"/>
          </a:p>
        </p:txBody>
      </p:sp>
      <p:sp>
        <p:nvSpPr>
          <p:cNvPr id="9" name="Shape 7"/>
          <p:cNvSpPr/>
          <p:nvPr/>
        </p:nvSpPr>
        <p:spPr>
          <a:xfrm>
            <a:off x="4344314" y="2011680"/>
            <a:ext cx="3503066" cy="2493772"/>
          </a:xfrm>
          <a:prstGeom prst="roundRect">
            <a:avLst>
              <a:gd name="adj" fmla="val 2933"/>
            </a:avLst>
          </a:prstGeom>
          <a:solidFill>
            <a:srgbClr val="D7E7E7"/>
          </a:solidFill>
          <a:ln w="12700">
            <a:solidFill>
              <a:srgbClr val="D7E7E7"/>
            </a:solidFill>
            <a:prstDash val="solid"/>
          </a:ln>
        </p:spPr>
      </p:sp>
      <p:sp>
        <p:nvSpPr>
          <p:cNvPr id="10" name="Shape 8"/>
          <p:cNvSpPr/>
          <p:nvPr/>
        </p:nvSpPr>
        <p:spPr>
          <a:xfrm>
            <a:off x="4582058" y="2231136"/>
            <a:ext cx="420624" cy="420624"/>
          </a:xfrm>
          <a:prstGeom prst="ellipse">
            <a:avLst/>
          </a:prstGeom>
          <a:solidFill>
            <a:srgbClr val="2E7D7D"/>
          </a:solidFill>
          <a:ln w="12700">
            <a:solidFill>
              <a:srgbClr val="2E7D7D"/>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582058"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Gobierno de datos</a:t>
            </a:r>
            <a:endParaRPr lang="en-US" sz="1600" dirty="0"/>
          </a:p>
        </p:txBody>
      </p:sp>
      <p:sp>
        <p:nvSpPr>
          <p:cNvPr id="13" name="Text 11"/>
          <p:cNvSpPr txBox="1"/>
          <p:nvPr/>
        </p:nvSpPr>
        <p:spPr>
          <a:xfrm>
            <a:off x="4582058" y="326339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Saber qué información entra a qué herramienta, bajo qué contrato, y quién responde si algo sale mal.</a:t>
            </a:r>
            <a:endParaRPr lang="en-US" sz="1300" dirty="0"/>
          </a:p>
        </p:txBody>
      </p:sp>
      <p:sp>
        <p:nvSpPr>
          <p:cNvPr id="14" name="Shape 12"/>
          <p:cNvSpPr/>
          <p:nvPr/>
        </p:nvSpPr>
        <p:spPr>
          <a:xfrm>
            <a:off x="8121701" y="2011680"/>
            <a:ext cx="3503066" cy="2493772"/>
          </a:xfrm>
          <a:prstGeom prst="roundRect">
            <a:avLst>
              <a:gd name="adj" fmla="val 2933"/>
            </a:avLst>
          </a:prstGeom>
          <a:solidFill>
            <a:srgbClr val="F7E4D8"/>
          </a:solidFill>
          <a:ln w="12700">
            <a:solidFill>
              <a:srgbClr val="F7E4D8"/>
            </a:solidFill>
            <a:prstDash val="solid"/>
          </a:ln>
        </p:spPr>
      </p:sp>
      <p:sp>
        <p:nvSpPr>
          <p:cNvPr id="15" name="Shape 13"/>
          <p:cNvSpPr/>
          <p:nvPr/>
        </p:nvSpPr>
        <p:spPr>
          <a:xfrm>
            <a:off x="8359445" y="2231136"/>
            <a:ext cx="420624" cy="420624"/>
          </a:xfrm>
          <a:prstGeom prst="ellipse">
            <a:avLst/>
          </a:prstGeom>
          <a:solidFill>
            <a:srgbClr val="C85A28"/>
          </a:solidFill>
          <a:ln w="12700">
            <a:solidFill>
              <a:srgbClr val="C85A28"/>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59445"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Disminución de sesgos</a:t>
            </a:r>
            <a:endParaRPr lang="en-US" sz="1600" dirty="0"/>
          </a:p>
        </p:txBody>
      </p:sp>
      <p:sp>
        <p:nvSpPr>
          <p:cNvPr id="18" name="Text 16"/>
          <p:cNvSpPr txBox="1"/>
          <p:nvPr/>
        </p:nvSpPr>
        <p:spPr>
          <a:xfrm>
            <a:off x="8359445" y="3263392"/>
            <a:ext cx="3027578" cy="104089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Los modelos aprendieron de textos que ya traían sesgos. En evaluación social eso cambia cómo se describe a la gente.</a:t>
            </a:r>
            <a:endParaRPr lang="en-US" sz="1300" dirty="0"/>
          </a:p>
        </p:txBody>
      </p:sp>
      <p:sp>
        <p:nvSpPr>
          <p:cNvPr id="19" name="Text 17"/>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Vemos uno por uno. Cada principio trae qué es, cómo lo cumples en la práctica, y un caso real de qué pasa cuando no se cumple.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Principio 1. Transparencia</a:t>
            </a:r>
            <a:endParaRPr lang="en-US" sz="3200" dirty="0"/>
          </a:p>
        </p:txBody>
      </p:sp>
      <p:sp>
        <p:nvSpPr>
          <p:cNvPr id="3" name="Shape 1"/>
          <p:cNvSpPr/>
          <p:nvPr/>
        </p:nvSpPr>
        <p:spPr>
          <a:xfrm>
            <a:off x="566928" y="1408176"/>
            <a:ext cx="3515258" cy="4370832"/>
          </a:xfrm>
          <a:prstGeom prst="roundRect">
            <a:avLst>
              <a:gd name="adj" fmla="val 2341"/>
            </a:avLst>
          </a:prstGeom>
          <a:solidFill>
            <a:srgbClr val="F2F5F6"/>
          </a:solidFill>
          <a:ln w="12700">
            <a:solidFill>
              <a:srgbClr val="F2F5F6"/>
            </a:solidFill>
            <a:prstDash val="solid"/>
          </a:ln>
        </p:spPr>
      </p:sp>
      <p:sp>
        <p:nvSpPr>
          <p:cNvPr id="4" name="Shape 2"/>
          <p:cNvSpPr/>
          <p:nvPr/>
        </p:nvSpPr>
        <p:spPr>
          <a:xfrm>
            <a:off x="566928" y="1408176"/>
            <a:ext cx="3515258" cy="621792"/>
          </a:xfrm>
          <a:prstGeom prst="roundRect">
            <a:avLst>
              <a:gd name="adj" fmla="val 13235"/>
            </a:avLst>
          </a:prstGeom>
          <a:solidFill>
            <a:srgbClr val="16262E"/>
          </a:solidFill>
          <a:ln w="12700">
            <a:solidFill>
              <a:srgbClr val="16262E"/>
            </a:solidFill>
            <a:prstDash val="solid"/>
          </a:ln>
        </p:spPr>
      </p:sp>
      <p:sp>
        <p:nvSpPr>
          <p:cNvPr id="5" name="Shape 3"/>
          <p:cNvSpPr/>
          <p:nvPr/>
        </p:nvSpPr>
        <p:spPr>
          <a:xfrm>
            <a:off x="566928" y="1755648"/>
            <a:ext cx="3515258" cy="274320"/>
          </a:xfrm>
          <a:prstGeom prst="rect">
            <a:avLst/>
          </a:prstGeom>
          <a:solidFill>
            <a:srgbClr val="16262E"/>
          </a:solidFill>
          <a:ln w="12700">
            <a:solidFill>
              <a:srgbClr val="16262E"/>
            </a:solidFill>
            <a:prstDash val="solid"/>
          </a:ln>
        </p:spPr>
      </p:sp>
      <p:sp>
        <p:nvSpPr>
          <p:cNvPr id="6" name="Text 4"/>
          <p:cNvSpPr txBox="1"/>
          <p:nvPr/>
        </p:nvSpPr>
        <p:spPr>
          <a:xfrm>
            <a:off x="80467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Qué es</a:t>
            </a:r>
            <a:endParaRPr lang="en-US" sz="1500" dirty="0"/>
          </a:p>
        </p:txBody>
      </p:sp>
      <p:sp>
        <p:nvSpPr>
          <p:cNvPr id="7" name="Text 5"/>
          <p:cNvSpPr txBox="1"/>
          <p:nvPr/>
        </p:nvSpPr>
        <p:spPr>
          <a:xfrm>
            <a:off x="804672"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Quien lee tu informe tiene derecho a saber que se usó IA para hacerlo.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Y tiene derecho a que le puedas explicar cómo llegaste al resultado, sin que la respuesta sea "lo escribió la IA".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No es una formalidad. Es lo que permite que alguien revise tu trabajo.</a:t>
            </a:r>
            <a:endParaRPr lang="en-US" sz="1300" dirty="0"/>
          </a:p>
        </p:txBody>
      </p:sp>
      <p:sp>
        <p:nvSpPr>
          <p:cNvPr id="8" name="Shape 6"/>
          <p:cNvSpPr/>
          <p:nvPr/>
        </p:nvSpPr>
        <p:spPr>
          <a:xfrm>
            <a:off x="4338218" y="1408176"/>
            <a:ext cx="3515258" cy="4370832"/>
          </a:xfrm>
          <a:prstGeom prst="roundRect">
            <a:avLst>
              <a:gd name="adj" fmla="val 2341"/>
            </a:avLst>
          </a:prstGeom>
          <a:solidFill>
            <a:srgbClr val="D7E7E7"/>
          </a:solidFill>
          <a:ln w="12700">
            <a:solidFill>
              <a:srgbClr val="D7E7E7"/>
            </a:solidFill>
            <a:prstDash val="solid"/>
          </a:ln>
        </p:spPr>
      </p:sp>
      <p:sp>
        <p:nvSpPr>
          <p:cNvPr id="9" name="Shape 7"/>
          <p:cNvSpPr/>
          <p:nvPr/>
        </p:nvSpPr>
        <p:spPr>
          <a:xfrm>
            <a:off x="4338218" y="1408176"/>
            <a:ext cx="3515258" cy="621792"/>
          </a:xfrm>
          <a:prstGeom prst="roundRect">
            <a:avLst>
              <a:gd name="adj" fmla="val 13235"/>
            </a:avLst>
          </a:prstGeom>
          <a:solidFill>
            <a:srgbClr val="2E7D7D"/>
          </a:solidFill>
          <a:ln w="12700">
            <a:solidFill>
              <a:srgbClr val="2E7D7D"/>
            </a:solidFill>
            <a:prstDash val="solid"/>
          </a:ln>
        </p:spPr>
      </p:sp>
      <p:sp>
        <p:nvSpPr>
          <p:cNvPr id="10" name="Shape 8"/>
          <p:cNvSpPr/>
          <p:nvPr/>
        </p:nvSpPr>
        <p:spPr>
          <a:xfrm>
            <a:off x="4338218" y="1755648"/>
            <a:ext cx="3515258" cy="274320"/>
          </a:xfrm>
          <a:prstGeom prst="rect">
            <a:avLst/>
          </a:prstGeom>
          <a:solidFill>
            <a:srgbClr val="2E7D7D"/>
          </a:solidFill>
          <a:ln w="12700">
            <a:solidFill>
              <a:srgbClr val="2E7D7D"/>
            </a:solidFill>
            <a:prstDash val="solid"/>
          </a:ln>
        </p:spPr>
      </p:sp>
      <p:sp>
        <p:nvSpPr>
          <p:cNvPr id="11" name="Text 9"/>
          <p:cNvSpPr txBox="1"/>
          <p:nvPr/>
        </p:nvSpPr>
        <p:spPr>
          <a:xfrm>
            <a:off x="457596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Cómo lo cumples aquí</a:t>
            </a:r>
            <a:endParaRPr lang="en-US" sz="1500" dirty="0"/>
          </a:p>
        </p:txBody>
      </p:sp>
      <p:sp>
        <p:nvSpPr>
          <p:cNvPr id="12" name="Text 10"/>
          <p:cNvSpPr txBox="1"/>
          <p:nvPr/>
        </p:nvSpPr>
        <p:spPr>
          <a:xfrm>
            <a:off x="4575962"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Declaras el uso de IA en el producto. Una línea basta.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Llevas tu bitácora: qué pediste y qué te devolvió.</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Guardas los borradores intermedios.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Pides que cada dato venga con la sección del documento de donde salió.</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Los cuatro pasos son el marco de trazabilidad que vemos en un rato.</a:t>
            </a:r>
            <a:endParaRPr lang="en-US" sz="1300" dirty="0"/>
          </a:p>
        </p:txBody>
      </p:sp>
      <p:sp>
        <p:nvSpPr>
          <p:cNvPr id="13" name="Shape 11"/>
          <p:cNvSpPr/>
          <p:nvPr/>
        </p:nvSpPr>
        <p:spPr>
          <a:xfrm>
            <a:off x="8109509" y="1408176"/>
            <a:ext cx="3515258" cy="4370832"/>
          </a:xfrm>
          <a:prstGeom prst="roundRect">
            <a:avLst>
              <a:gd name="adj" fmla="val 2341"/>
            </a:avLst>
          </a:prstGeom>
          <a:solidFill>
            <a:srgbClr val="F7E4D8"/>
          </a:solidFill>
          <a:ln w="12700">
            <a:solidFill>
              <a:srgbClr val="F7E4D8"/>
            </a:solidFill>
            <a:prstDash val="solid"/>
          </a:ln>
        </p:spPr>
      </p:sp>
      <p:sp>
        <p:nvSpPr>
          <p:cNvPr id="14" name="Shape 12"/>
          <p:cNvSpPr/>
          <p:nvPr/>
        </p:nvSpPr>
        <p:spPr>
          <a:xfrm>
            <a:off x="8109509" y="1408176"/>
            <a:ext cx="3515258" cy="621792"/>
          </a:xfrm>
          <a:prstGeom prst="roundRect">
            <a:avLst>
              <a:gd name="adj" fmla="val 13235"/>
            </a:avLst>
          </a:prstGeom>
          <a:solidFill>
            <a:srgbClr val="C85A28"/>
          </a:solidFill>
          <a:ln w="12700">
            <a:solidFill>
              <a:srgbClr val="C85A28"/>
            </a:solidFill>
            <a:prstDash val="solid"/>
          </a:ln>
        </p:spPr>
      </p:sp>
      <p:sp>
        <p:nvSpPr>
          <p:cNvPr id="15" name="Shape 13"/>
          <p:cNvSpPr/>
          <p:nvPr/>
        </p:nvSpPr>
        <p:spPr>
          <a:xfrm>
            <a:off x="8109509" y="1755648"/>
            <a:ext cx="3515258" cy="274320"/>
          </a:xfrm>
          <a:prstGeom prst="rect">
            <a:avLst/>
          </a:prstGeom>
          <a:solidFill>
            <a:srgbClr val="C85A28"/>
          </a:solidFill>
          <a:ln w="12700">
            <a:solidFill>
              <a:srgbClr val="C85A28"/>
            </a:solidFill>
            <a:prstDash val="solid"/>
          </a:ln>
        </p:spPr>
      </p:sp>
      <p:sp>
        <p:nvSpPr>
          <p:cNvPr id="16" name="Text 14"/>
          <p:cNvSpPr txBox="1"/>
          <p:nvPr/>
        </p:nvSpPr>
        <p:spPr>
          <a:xfrm>
            <a:off x="8347253"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Qué pasa si no</a:t>
            </a:r>
            <a:endParaRPr lang="en-US" sz="1500" dirty="0"/>
          </a:p>
        </p:txBody>
      </p:sp>
      <p:sp>
        <p:nvSpPr>
          <p:cNvPr id="17" name="Text 15"/>
          <p:cNvSpPr txBox="1"/>
          <p:nvPr/>
        </p:nvSpPr>
        <p:spPr>
          <a:xfrm>
            <a:off x="8347253"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Nueva York, 2023. Un despacho presentó ante un tribunal federal un escrito con seis precedentes judiciales que el modelo se había inventado.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Nadie verificó. Y nadie declaró que se había usado IA.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El juez impuso sanción de cinco mil dólares y obligó a notificar a cada juez que aparecía como autor de las sentencias falsas.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El juez fue explícito: usar la herramienta no fue el problema.</a:t>
            </a:r>
            <a:endParaRPr lang="en-US" sz="1300" dirty="0"/>
          </a:p>
        </p:txBody>
      </p:sp>
      <p:sp>
        <p:nvSpPr>
          <p:cNvPr id="18" name="Shape 16"/>
          <p:cNvSpPr/>
          <p:nvPr/>
        </p:nvSpPr>
        <p:spPr>
          <a:xfrm>
            <a:off x="566928" y="5907024"/>
            <a:ext cx="11057839" cy="475488"/>
          </a:xfrm>
          <a:prstGeom prst="roundRect">
            <a:avLst>
              <a:gd name="adj" fmla="val 11538"/>
            </a:avLst>
          </a:prstGeom>
          <a:solidFill>
            <a:srgbClr val="16262E"/>
          </a:solidFill>
          <a:ln w="12700">
            <a:solidFill>
              <a:srgbClr val="16262E"/>
            </a:solidFill>
            <a:prstDash val="solid"/>
          </a:ln>
        </p:spPr>
      </p:sp>
      <p:sp>
        <p:nvSpPr>
          <p:cNvPr id="19" name="Text 17"/>
          <p:cNvSpPr txBox="1"/>
          <p:nvPr/>
        </p:nvSpPr>
        <p:spPr>
          <a:xfrm>
            <a:off x="804672" y="5943600"/>
            <a:ext cx="10582351" cy="2011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Mata v. Avianca, Inc., No. 1:22-cv-01461 (S.D.N.Y.). Opinión y orden de sanciones del juez P. Kevin Castel, 22 de junio de 2023.</a:t>
            </a:r>
            <a:endParaRPr lang="en-US" sz="1100" dirty="0"/>
          </a:p>
        </p:txBody>
      </p:sp>
      <p:sp>
        <p:nvSpPr>
          <p:cNvPr id="20" name="Text 18">
            <a:hlinkClick r:id="rId1" tooltip=""/>
          </p:cNvPr>
          <p:cNvSpPr txBox="1"/>
          <p:nvPr/>
        </p:nvSpPr>
        <p:spPr>
          <a:xfrm>
            <a:off x="804672" y="6144768"/>
            <a:ext cx="10582351" cy="201168"/>
          </a:xfrm>
          <a:prstGeom prst="rect">
            <a:avLst/>
          </a:prstGeom>
          <a:noFill/>
          <a:ln/>
        </p:spPr>
        <p:txBody>
          <a:bodyPr wrap="square" lIns="0" tIns="0" rIns="0" bIns="0" rtlCol="0" anchor="ctr"/>
          <a:lstStyle/>
          <a:p>
            <a:pPr indent="0" marL="0">
              <a:buNone/>
            </a:pPr>
            <a:r>
              <a:rPr lang="en-US" sz="85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https://www.law.berkeley.edu/wp-content/uploads/archive/2025/12/Mata-v-Avianca-Inc.pdf</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Principio 2. Gobierno de datos</a:t>
            </a:r>
            <a:endParaRPr lang="en-US" sz="3200" dirty="0"/>
          </a:p>
        </p:txBody>
      </p:sp>
      <p:sp>
        <p:nvSpPr>
          <p:cNvPr id="3" name="Shape 1"/>
          <p:cNvSpPr/>
          <p:nvPr/>
        </p:nvSpPr>
        <p:spPr>
          <a:xfrm>
            <a:off x="566928" y="1408176"/>
            <a:ext cx="3515258" cy="4370832"/>
          </a:xfrm>
          <a:prstGeom prst="roundRect">
            <a:avLst>
              <a:gd name="adj" fmla="val 2341"/>
            </a:avLst>
          </a:prstGeom>
          <a:solidFill>
            <a:srgbClr val="F2F5F6"/>
          </a:solidFill>
          <a:ln w="12700">
            <a:solidFill>
              <a:srgbClr val="F2F5F6"/>
            </a:solidFill>
            <a:prstDash val="solid"/>
          </a:ln>
        </p:spPr>
      </p:sp>
      <p:sp>
        <p:nvSpPr>
          <p:cNvPr id="4" name="Shape 2"/>
          <p:cNvSpPr/>
          <p:nvPr/>
        </p:nvSpPr>
        <p:spPr>
          <a:xfrm>
            <a:off x="566928" y="1408176"/>
            <a:ext cx="3515258" cy="621792"/>
          </a:xfrm>
          <a:prstGeom prst="roundRect">
            <a:avLst>
              <a:gd name="adj" fmla="val 13235"/>
            </a:avLst>
          </a:prstGeom>
          <a:solidFill>
            <a:srgbClr val="16262E"/>
          </a:solidFill>
          <a:ln w="12700">
            <a:solidFill>
              <a:srgbClr val="16262E"/>
            </a:solidFill>
            <a:prstDash val="solid"/>
          </a:ln>
        </p:spPr>
      </p:sp>
      <p:sp>
        <p:nvSpPr>
          <p:cNvPr id="5" name="Shape 3"/>
          <p:cNvSpPr/>
          <p:nvPr/>
        </p:nvSpPr>
        <p:spPr>
          <a:xfrm>
            <a:off x="566928" y="1755648"/>
            <a:ext cx="3515258" cy="274320"/>
          </a:xfrm>
          <a:prstGeom prst="rect">
            <a:avLst/>
          </a:prstGeom>
          <a:solidFill>
            <a:srgbClr val="16262E"/>
          </a:solidFill>
          <a:ln w="12700">
            <a:solidFill>
              <a:srgbClr val="16262E"/>
            </a:solidFill>
            <a:prstDash val="solid"/>
          </a:ln>
        </p:spPr>
      </p:sp>
      <p:sp>
        <p:nvSpPr>
          <p:cNvPr id="6" name="Text 4"/>
          <p:cNvSpPr txBox="1"/>
          <p:nvPr/>
        </p:nvSpPr>
        <p:spPr>
          <a:xfrm>
            <a:off x="80467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Qué es</a:t>
            </a:r>
            <a:endParaRPr lang="en-US" sz="1500" dirty="0"/>
          </a:p>
        </p:txBody>
      </p:sp>
      <p:sp>
        <p:nvSpPr>
          <p:cNvPr id="7" name="Text 5"/>
          <p:cNvSpPr txBox="1"/>
          <p:nvPr/>
        </p:nvSpPr>
        <p:spPr>
          <a:xfrm>
            <a:off x="804672"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Saber qué información entra a qué herramienta.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Bajo qué contrato se procesa esa información y dónde se queda guardada.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Y quién responde si algo sale mal.</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No es un tema de tecnología. Es de responsabilidad institucional.</a:t>
            </a:r>
            <a:endParaRPr lang="en-US" sz="1300" dirty="0"/>
          </a:p>
        </p:txBody>
      </p:sp>
      <p:sp>
        <p:nvSpPr>
          <p:cNvPr id="8" name="Shape 6"/>
          <p:cNvSpPr/>
          <p:nvPr/>
        </p:nvSpPr>
        <p:spPr>
          <a:xfrm>
            <a:off x="4338218" y="1408176"/>
            <a:ext cx="3515258" cy="4370832"/>
          </a:xfrm>
          <a:prstGeom prst="roundRect">
            <a:avLst>
              <a:gd name="adj" fmla="val 2341"/>
            </a:avLst>
          </a:prstGeom>
          <a:solidFill>
            <a:srgbClr val="D7E7E7"/>
          </a:solidFill>
          <a:ln w="12700">
            <a:solidFill>
              <a:srgbClr val="D7E7E7"/>
            </a:solidFill>
            <a:prstDash val="solid"/>
          </a:ln>
        </p:spPr>
      </p:sp>
      <p:sp>
        <p:nvSpPr>
          <p:cNvPr id="9" name="Shape 7"/>
          <p:cNvSpPr/>
          <p:nvPr/>
        </p:nvSpPr>
        <p:spPr>
          <a:xfrm>
            <a:off x="4338218" y="1408176"/>
            <a:ext cx="3515258" cy="621792"/>
          </a:xfrm>
          <a:prstGeom prst="roundRect">
            <a:avLst>
              <a:gd name="adj" fmla="val 13235"/>
            </a:avLst>
          </a:prstGeom>
          <a:solidFill>
            <a:srgbClr val="2E7D7D"/>
          </a:solidFill>
          <a:ln w="12700">
            <a:solidFill>
              <a:srgbClr val="2E7D7D"/>
            </a:solidFill>
            <a:prstDash val="solid"/>
          </a:ln>
        </p:spPr>
      </p:sp>
      <p:sp>
        <p:nvSpPr>
          <p:cNvPr id="10" name="Shape 8"/>
          <p:cNvSpPr/>
          <p:nvPr/>
        </p:nvSpPr>
        <p:spPr>
          <a:xfrm>
            <a:off x="4338218" y="1755648"/>
            <a:ext cx="3515258" cy="274320"/>
          </a:xfrm>
          <a:prstGeom prst="rect">
            <a:avLst/>
          </a:prstGeom>
          <a:solidFill>
            <a:srgbClr val="2E7D7D"/>
          </a:solidFill>
          <a:ln w="12700">
            <a:solidFill>
              <a:srgbClr val="2E7D7D"/>
            </a:solidFill>
            <a:prstDash val="solid"/>
          </a:ln>
        </p:spPr>
      </p:sp>
      <p:sp>
        <p:nvSpPr>
          <p:cNvPr id="11" name="Text 9"/>
          <p:cNvSpPr txBox="1"/>
          <p:nvPr/>
        </p:nvSpPr>
        <p:spPr>
          <a:xfrm>
            <a:off x="457596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Cómo lo cumples aquí</a:t>
            </a:r>
            <a:endParaRPr lang="en-US" sz="1500" dirty="0"/>
          </a:p>
        </p:txBody>
      </p:sp>
      <p:sp>
        <p:nvSpPr>
          <p:cNvPr id="12" name="Text 10"/>
          <p:cNvSpPr txBox="1"/>
          <p:nvPr/>
        </p:nvSpPr>
        <p:spPr>
          <a:xfrm>
            <a:off x="4575962"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Clasificas la información antes de pegarla. Es el semáforo que vemos después del receso.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Información interna solo en Copilot, que es la única herramienta con contrato del Instituto.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Información confidencial, en ninguna: primero la enmascaras.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Y apagas el entrenamiento en cada herramienta gratuita que abras.</a:t>
            </a:r>
            <a:endParaRPr lang="en-US" sz="1300" dirty="0"/>
          </a:p>
        </p:txBody>
      </p:sp>
      <p:sp>
        <p:nvSpPr>
          <p:cNvPr id="13" name="Shape 11"/>
          <p:cNvSpPr/>
          <p:nvPr/>
        </p:nvSpPr>
        <p:spPr>
          <a:xfrm>
            <a:off x="8109509" y="1408176"/>
            <a:ext cx="3515258" cy="4370832"/>
          </a:xfrm>
          <a:prstGeom prst="roundRect">
            <a:avLst>
              <a:gd name="adj" fmla="val 2341"/>
            </a:avLst>
          </a:prstGeom>
          <a:solidFill>
            <a:srgbClr val="F7E4D8"/>
          </a:solidFill>
          <a:ln w="12700">
            <a:solidFill>
              <a:srgbClr val="F7E4D8"/>
            </a:solidFill>
            <a:prstDash val="solid"/>
          </a:ln>
        </p:spPr>
      </p:sp>
      <p:sp>
        <p:nvSpPr>
          <p:cNvPr id="14" name="Shape 12"/>
          <p:cNvSpPr/>
          <p:nvPr/>
        </p:nvSpPr>
        <p:spPr>
          <a:xfrm>
            <a:off x="8109509" y="1408176"/>
            <a:ext cx="3515258" cy="621792"/>
          </a:xfrm>
          <a:prstGeom prst="roundRect">
            <a:avLst>
              <a:gd name="adj" fmla="val 13235"/>
            </a:avLst>
          </a:prstGeom>
          <a:solidFill>
            <a:srgbClr val="C85A28"/>
          </a:solidFill>
          <a:ln w="12700">
            <a:solidFill>
              <a:srgbClr val="C85A28"/>
            </a:solidFill>
            <a:prstDash val="solid"/>
          </a:ln>
        </p:spPr>
      </p:sp>
      <p:sp>
        <p:nvSpPr>
          <p:cNvPr id="15" name="Shape 13"/>
          <p:cNvSpPr/>
          <p:nvPr/>
        </p:nvSpPr>
        <p:spPr>
          <a:xfrm>
            <a:off x="8109509" y="1755648"/>
            <a:ext cx="3515258" cy="274320"/>
          </a:xfrm>
          <a:prstGeom prst="rect">
            <a:avLst/>
          </a:prstGeom>
          <a:solidFill>
            <a:srgbClr val="C85A28"/>
          </a:solidFill>
          <a:ln w="12700">
            <a:solidFill>
              <a:srgbClr val="C85A28"/>
            </a:solidFill>
            <a:prstDash val="solid"/>
          </a:ln>
        </p:spPr>
      </p:sp>
      <p:sp>
        <p:nvSpPr>
          <p:cNvPr id="16" name="Text 14"/>
          <p:cNvSpPr txBox="1"/>
          <p:nvPr/>
        </p:nvSpPr>
        <p:spPr>
          <a:xfrm>
            <a:off x="8347253"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Qué pasa si no</a:t>
            </a:r>
            <a:endParaRPr lang="en-US" sz="1500" dirty="0"/>
          </a:p>
        </p:txBody>
      </p:sp>
      <p:sp>
        <p:nvSpPr>
          <p:cNvPr id="17" name="Text 15"/>
          <p:cNvSpPr txBox="1"/>
          <p:nvPr/>
        </p:nvSpPr>
        <p:spPr>
          <a:xfrm>
            <a:off x="8347253" y="2231136"/>
            <a:ext cx="3039770" cy="3364992"/>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Samsung, 2023. La empresa permitió usar ChatGPT en marzo.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En menos de tres semanas hubo tres fugas: código fuente de una base de datos, datos de rendimiento de equipo, y la transcripción de una junta interna convertida en minuta.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El primero de mayo la empresa prohibió estas herramientas por completo.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Eran ingenieros de una de las empresas de tecnología más grandes del mundo. Nadie actuó de mala fe.</a:t>
            </a:r>
            <a:endParaRPr lang="en-US" sz="1300" dirty="0"/>
          </a:p>
        </p:txBody>
      </p:sp>
      <p:sp>
        <p:nvSpPr>
          <p:cNvPr id="18" name="Shape 16"/>
          <p:cNvSpPr/>
          <p:nvPr/>
        </p:nvSpPr>
        <p:spPr>
          <a:xfrm>
            <a:off x="566928" y="5907024"/>
            <a:ext cx="11057839" cy="475488"/>
          </a:xfrm>
          <a:prstGeom prst="roundRect">
            <a:avLst>
              <a:gd name="adj" fmla="val 11538"/>
            </a:avLst>
          </a:prstGeom>
          <a:solidFill>
            <a:srgbClr val="16262E"/>
          </a:solidFill>
          <a:ln w="12700">
            <a:solidFill>
              <a:srgbClr val="16262E"/>
            </a:solidFill>
            <a:prstDash val="solid"/>
          </a:ln>
        </p:spPr>
      </p:sp>
      <p:sp>
        <p:nvSpPr>
          <p:cNvPr id="19" name="Text 17"/>
          <p:cNvSpPr txBox="1"/>
          <p:nvPr/>
        </p:nvSpPr>
        <p:spPr>
          <a:xfrm>
            <a:off x="804672" y="5943600"/>
            <a:ext cx="10582351" cy="2011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Siladitya Ray, Forbes, 2 de mayo de 2023. La nota original es de Mark Gurman en Bloomberg, de la misma fecha.</a:t>
            </a:r>
            <a:endParaRPr lang="en-US" sz="1100" dirty="0"/>
          </a:p>
        </p:txBody>
      </p:sp>
      <p:sp>
        <p:nvSpPr>
          <p:cNvPr id="20" name="Text 18">
            <a:hlinkClick r:id="rId1" tooltip=""/>
          </p:cNvPr>
          <p:cNvSpPr txBox="1"/>
          <p:nvPr/>
        </p:nvSpPr>
        <p:spPr>
          <a:xfrm>
            <a:off x="804672" y="6144768"/>
            <a:ext cx="10582351" cy="201168"/>
          </a:xfrm>
          <a:prstGeom prst="rect">
            <a:avLst/>
          </a:prstGeom>
          <a:noFill/>
          <a:ln/>
        </p:spPr>
        <p:txBody>
          <a:bodyPr wrap="square" lIns="0" tIns="0" rIns="0" bIns="0" rtlCol="0" anchor="ctr"/>
          <a:lstStyle/>
          <a:p>
            <a:pPr indent="0" marL="0">
              <a:buNone/>
            </a:pPr>
            <a:r>
              <a:rPr lang="en-US" sz="85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https://www.forbes.com/sites/siladityaray/2023/05/02/samsung-bans-chatgpt-and-other-chatbots-for-employees-after-sensitive-code-leak/</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Principio 3. Disminución de sesgos</a:t>
            </a:r>
            <a:endParaRPr lang="en-US" sz="3200" dirty="0"/>
          </a:p>
        </p:txBody>
      </p:sp>
      <p:sp>
        <p:nvSpPr>
          <p:cNvPr id="3" name="Shape 1"/>
          <p:cNvSpPr/>
          <p:nvPr/>
        </p:nvSpPr>
        <p:spPr>
          <a:xfrm>
            <a:off x="566928" y="1408176"/>
            <a:ext cx="3515258" cy="4809744"/>
          </a:xfrm>
          <a:prstGeom prst="roundRect">
            <a:avLst>
              <a:gd name="adj" fmla="val 2341"/>
            </a:avLst>
          </a:prstGeom>
          <a:solidFill>
            <a:srgbClr val="F2F5F6"/>
          </a:solidFill>
          <a:ln w="12700">
            <a:solidFill>
              <a:srgbClr val="F2F5F6"/>
            </a:solidFill>
            <a:prstDash val="solid"/>
          </a:ln>
        </p:spPr>
      </p:sp>
      <p:sp>
        <p:nvSpPr>
          <p:cNvPr id="4" name="Shape 2"/>
          <p:cNvSpPr/>
          <p:nvPr/>
        </p:nvSpPr>
        <p:spPr>
          <a:xfrm>
            <a:off x="566928" y="1408176"/>
            <a:ext cx="3515258" cy="621792"/>
          </a:xfrm>
          <a:prstGeom prst="roundRect">
            <a:avLst>
              <a:gd name="adj" fmla="val 13235"/>
            </a:avLst>
          </a:prstGeom>
          <a:solidFill>
            <a:srgbClr val="16262E"/>
          </a:solidFill>
          <a:ln w="12700">
            <a:solidFill>
              <a:srgbClr val="16262E"/>
            </a:solidFill>
            <a:prstDash val="solid"/>
          </a:ln>
        </p:spPr>
      </p:sp>
      <p:sp>
        <p:nvSpPr>
          <p:cNvPr id="5" name="Shape 3"/>
          <p:cNvSpPr/>
          <p:nvPr/>
        </p:nvSpPr>
        <p:spPr>
          <a:xfrm>
            <a:off x="566928" y="1755648"/>
            <a:ext cx="3515258" cy="274320"/>
          </a:xfrm>
          <a:prstGeom prst="rect">
            <a:avLst/>
          </a:prstGeom>
          <a:solidFill>
            <a:srgbClr val="16262E"/>
          </a:solidFill>
          <a:ln w="12700">
            <a:solidFill>
              <a:srgbClr val="16262E"/>
            </a:solidFill>
            <a:prstDash val="solid"/>
          </a:ln>
        </p:spPr>
      </p:sp>
      <p:sp>
        <p:nvSpPr>
          <p:cNvPr id="6" name="Text 4"/>
          <p:cNvSpPr txBox="1"/>
          <p:nvPr/>
        </p:nvSpPr>
        <p:spPr>
          <a:xfrm>
            <a:off x="80467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Qué es</a:t>
            </a:r>
            <a:endParaRPr lang="en-US" sz="1500" dirty="0"/>
          </a:p>
        </p:txBody>
      </p:sp>
      <p:sp>
        <p:nvSpPr>
          <p:cNvPr id="7" name="Text 5"/>
          <p:cNvSpPr txBox="1"/>
          <p:nvPr/>
        </p:nvSpPr>
        <p:spPr>
          <a:xfrm>
            <a:off x="804672" y="2231136"/>
            <a:ext cx="3039770" cy="3803904"/>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El modelo aprendió de textos escritos por personas, y esos textos ya traían sesgos.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Cuando le pides que describa a una población, que agrupe quejas o que clasifique testimonios, esos sesgos entran en tu análisis.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En evaluación de política social eso no es un detalle: cambia cómo queda descrita la gente a la que atiende el programa.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No se eliminan con un prompt. Se disminuyen.</a:t>
            </a:r>
            <a:endParaRPr lang="en-US" sz="1300" dirty="0"/>
          </a:p>
        </p:txBody>
      </p:sp>
      <p:sp>
        <p:nvSpPr>
          <p:cNvPr id="8" name="Shape 6"/>
          <p:cNvSpPr/>
          <p:nvPr/>
        </p:nvSpPr>
        <p:spPr>
          <a:xfrm>
            <a:off x="4338218" y="1408176"/>
            <a:ext cx="3515258" cy="4809744"/>
          </a:xfrm>
          <a:prstGeom prst="roundRect">
            <a:avLst>
              <a:gd name="adj" fmla="val 2341"/>
            </a:avLst>
          </a:prstGeom>
          <a:solidFill>
            <a:srgbClr val="D7E7E7"/>
          </a:solidFill>
          <a:ln w="12700">
            <a:solidFill>
              <a:srgbClr val="D7E7E7"/>
            </a:solidFill>
            <a:prstDash val="solid"/>
          </a:ln>
        </p:spPr>
      </p:sp>
      <p:sp>
        <p:nvSpPr>
          <p:cNvPr id="9" name="Shape 7"/>
          <p:cNvSpPr/>
          <p:nvPr/>
        </p:nvSpPr>
        <p:spPr>
          <a:xfrm>
            <a:off x="4338218" y="1408176"/>
            <a:ext cx="3515258" cy="621792"/>
          </a:xfrm>
          <a:prstGeom prst="roundRect">
            <a:avLst>
              <a:gd name="adj" fmla="val 13235"/>
            </a:avLst>
          </a:prstGeom>
          <a:solidFill>
            <a:srgbClr val="2E7D7D"/>
          </a:solidFill>
          <a:ln w="12700">
            <a:solidFill>
              <a:srgbClr val="2E7D7D"/>
            </a:solidFill>
            <a:prstDash val="solid"/>
          </a:ln>
        </p:spPr>
      </p:sp>
      <p:sp>
        <p:nvSpPr>
          <p:cNvPr id="10" name="Shape 8"/>
          <p:cNvSpPr/>
          <p:nvPr/>
        </p:nvSpPr>
        <p:spPr>
          <a:xfrm>
            <a:off x="4338218" y="1755648"/>
            <a:ext cx="3515258" cy="274320"/>
          </a:xfrm>
          <a:prstGeom prst="rect">
            <a:avLst/>
          </a:prstGeom>
          <a:solidFill>
            <a:srgbClr val="2E7D7D"/>
          </a:solidFill>
          <a:ln w="12700">
            <a:solidFill>
              <a:srgbClr val="2E7D7D"/>
            </a:solidFill>
            <a:prstDash val="solid"/>
          </a:ln>
        </p:spPr>
      </p:sp>
      <p:sp>
        <p:nvSpPr>
          <p:cNvPr id="11" name="Text 9"/>
          <p:cNvSpPr txBox="1"/>
          <p:nvPr/>
        </p:nvSpPr>
        <p:spPr>
          <a:xfrm>
            <a:off x="4575962"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Cómo los disminuyes aquí</a:t>
            </a:r>
            <a:endParaRPr lang="en-US" sz="1500" dirty="0"/>
          </a:p>
        </p:txBody>
      </p:sp>
      <p:sp>
        <p:nvSpPr>
          <p:cNvPr id="12" name="Text 10"/>
          <p:cNvSpPr txBox="1"/>
          <p:nvPr/>
        </p:nvSpPr>
        <p:spPr>
          <a:xfrm>
            <a:off x="4575962" y="2231136"/>
            <a:ext cx="3039770" cy="3803904"/>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Nunca dejas que el modelo describa a una población sin contrastar contra los datos reales del programa.</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Revisas a mano todo lo que haya clasificado como "otros".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No pones tu conclusión dentro del prompt.</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Revisas los registros peor redactados, que son los que peor se clasifican.</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Los cuatro son ejercicios de estas dos semanas.</a:t>
            </a:r>
            <a:endParaRPr lang="en-US" sz="1300" dirty="0"/>
          </a:p>
        </p:txBody>
      </p:sp>
      <p:sp>
        <p:nvSpPr>
          <p:cNvPr id="13" name="Shape 11"/>
          <p:cNvSpPr/>
          <p:nvPr/>
        </p:nvSpPr>
        <p:spPr>
          <a:xfrm>
            <a:off x="8109509" y="1408176"/>
            <a:ext cx="3515258" cy="4809744"/>
          </a:xfrm>
          <a:prstGeom prst="roundRect">
            <a:avLst>
              <a:gd name="adj" fmla="val 2341"/>
            </a:avLst>
          </a:prstGeom>
          <a:solidFill>
            <a:srgbClr val="F7E4D8"/>
          </a:solidFill>
          <a:ln w="12700">
            <a:solidFill>
              <a:srgbClr val="F7E4D8"/>
            </a:solidFill>
            <a:prstDash val="solid"/>
          </a:ln>
        </p:spPr>
      </p:sp>
      <p:sp>
        <p:nvSpPr>
          <p:cNvPr id="14" name="Shape 12"/>
          <p:cNvSpPr/>
          <p:nvPr/>
        </p:nvSpPr>
        <p:spPr>
          <a:xfrm>
            <a:off x="8109509" y="1408176"/>
            <a:ext cx="3515258" cy="621792"/>
          </a:xfrm>
          <a:prstGeom prst="roundRect">
            <a:avLst>
              <a:gd name="adj" fmla="val 13235"/>
            </a:avLst>
          </a:prstGeom>
          <a:solidFill>
            <a:srgbClr val="C85A28"/>
          </a:solidFill>
          <a:ln w="12700">
            <a:solidFill>
              <a:srgbClr val="C85A28"/>
            </a:solidFill>
            <a:prstDash val="solid"/>
          </a:ln>
        </p:spPr>
      </p:sp>
      <p:sp>
        <p:nvSpPr>
          <p:cNvPr id="15" name="Shape 13"/>
          <p:cNvSpPr/>
          <p:nvPr/>
        </p:nvSpPr>
        <p:spPr>
          <a:xfrm>
            <a:off x="8109509" y="1755648"/>
            <a:ext cx="3515258" cy="274320"/>
          </a:xfrm>
          <a:prstGeom prst="rect">
            <a:avLst/>
          </a:prstGeom>
          <a:solidFill>
            <a:srgbClr val="C85A28"/>
          </a:solidFill>
          <a:ln w="12700">
            <a:solidFill>
              <a:srgbClr val="C85A28"/>
            </a:solidFill>
            <a:prstDash val="solid"/>
          </a:ln>
        </p:spPr>
      </p:sp>
      <p:sp>
        <p:nvSpPr>
          <p:cNvPr id="16" name="Text 14"/>
          <p:cNvSpPr txBox="1"/>
          <p:nvPr/>
        </p:nvSpPr>
        <p:spPr>
          <a:xfrm>
            <a:off x="8347253" y="1408176"/>
            <a:ext cx="3039770" cy="62179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Cuatro formas de sesgo</a:t>
            </a:r>
            <a:endParaRPr lang="en-US" sz="1500" dirty="0"/>
          </a:p>
        </p:txBody>
      </p:sp>
      <p:sp>
        <p:nvSpPr>
          <p:cNvPr id="17" name="Text 15"/>
          <p:cNvSpPr txBox="1"/>
          <p:nvPr/>
        </p:nvSpPr>
        <p:spPr>
          <a:xfrm>
            <a:off x="8347253" y="2231136"/>
            <a:ext cx="3039770" cy="3803904"/>
          </a:xfrm>
          <a:prstGeom prst="rect">
            <a:avLst/>
          </a:prstGeom>
          <a:noFill/>
          <a:ln/>
        </p:spPr>
        <p:txBody>
          <a:bodyPr wrap="square" lIns="0" tIns="0" rIns="0" bIns="0" rtlCol="0" anchor="t"/>
          <a:lstStyle/>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Los sesgos no llegan de una sola manera. En evaluación aparecen principalmente de cuatro.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Representación. Mayoría. Complacencia. Lingüístico.</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Vemos cada uno con un caso real, cómo lo disminuyes, y qué cambió en la industria después.</a:t>
            </a:r>
            <a:endParaRPr lang="en-US" sz="1300" dirty="0"/>
          </a:p>
          <a:p>
            <a:pPr indent="0" marL="0">
              <a:lnSpc>
                <a:spcPct val="114000"/>
              </a:lnSpc>
              <a:spcAft>
                <a:spcPts val="600"/>
              </a:spcAft>
              <a:buNone/>
            </a:pPr>
            <a:r>
              <a:rPr lang="en-US" sz="1300" dirty="0">
                <a:solidFill>
                  <a:srgbClr val="16262E"/>
                </a:solidFill>
                <a:latin typeface="Calibri" pitchFamily="34" charset="0"/>
                <a:ea typeface="Calibri" pitchFamily="34" charset="-122"/>
                <a:cs typeface="Calibri" pitchFamily="34" charset="-120"/>
              </a:rPr>
              <a:t>Ninguno de los cuatro casos es de México.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Sesgo 1. Representación</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El modelo describe a un grupo con los supuestos que traía de sus datos de entrenamiento.</a:t>
            </a:r>
            <a:endParaRPr lang="en-US" sz="1500" dirty="0"/>
          </a:p>
        </p:txBody>
      </p:sp>
      <p:sp>
        <p:nvSpPr>
          <p:cNvPr id="4" name="Shape 2"/>
          <p:cNvSpPr/>
          <p:nvPr/>
        </p:nvSpPr>
        <p:spPr>
          <a:xfrm>
            <a:off x="566928" y="1810512"/>
            <a:ext cx="2599868" cy="4005072"/>
          </a:xfrm>
          <a:prstGeom prst="roundRect">
            <a:avLst>
              <a:gd name="adj" fmla="val 3165"/>
            </a:avLst>
          </a:prstGeom>
          <a:solidFill>
            <a:srgbClr val="F2F5F6"/>
          </a:solidFill>
          <a:ln w="12700">
            <a:solidFill>
              <a:srgbClr val="F2F5F6"/>
            </a:solidFill>
            <a:prstDash val="solid"/>
          </a:ln>
        </p:spPr>
      </p:sp>
      <p:sp>
        <p:nvSpPr>
          <p:cNvPr id="5" name="Shape 3"/>
          <p:cNvSpPr/>
          <p:nvPr/>
        </p:nvSpPr>
        <p:spPr>
          <a:xfrm>
            <a:off x="566928" y="1810512"/>
            <a:ext cx="2599868" cy="548640"/>
          </a:xfrm>
          <a:prstGeom prst="roundRect">
            <a:avLst>
              <a:gd name="adj" fmla="val 15000"/>
            </a:avLst>
          </a:prstGeom>
          <a:solidFill>
            <a:srgbClr val="16262E"/>
          </a:solidFill>
          <a:ln w="12700">
            <a:solidFill>
              <a:srgbClr val="16262E"/>
            </a:solidFill>
            <a:prstDash val="solid"/>
          </a:ln>
        </p:spPr>
      </p:sp>
      <p:sp>
        <p:nvSpPr>
          <p:cNvPr id="6" name="Shape 4"/>
          <p:cNvSpPr/>
          <p:nvPr/>
        </p:nvSpPr>
        <p:spPr>
          <a:xfrm>
            <a:off x="566928" y="2103120"/>
            <a:ext cx="2599868" cy="256032"/>
          </a:xfrm>
          <a:prstGeom prst="rect">
            <a:avLst/>
          </a:prstGeom>
          <a:solidFill>
            <a:srgbClr val="16262E"/>
          </a:solidFill>
          <a:ln w="12700">
            <a:solidFill>
              <a:srgbClr val="16262E"/>
            </a:solidFill>
            <a:prstDash val="solid"/>
          </a:ln>
        </p:spPr>
      </p:sp>
      <p:sp>
        <p:nvSpPr>
          <p:cNvPr id="7" name="Text 5"/>
          <p:cNvSpPr txBox="1"/>
          <p:nvPr/>
        </p:nvSpPr>
        <p:spPr>
          <a:xfrm>
            <a:off x="768096"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es?</a:t>
            </a:r>
            <a:endParaRPr lang="en-US" sz="1350" dirty="0"/>
          </a:p>
        </p:txBody>
      </p:sp>
      <p:sp>
        <p:nvSpPr>
          <p:cNvPr id="8" name="Text 6"/>
          <p:cNvSpPr txBox="1"/>
          <p:nvPr/>
        </p:nvSpPr>
        <p:spPr>
          <a:xfrm>
            <a:off x="768096"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Le pides que describa a una población y te devuelve lo que sus datos traían, no lo que tu programa atiende.</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Prueba a pedirle el perfil de "una beneficiaria típica" y fíjate qué da por hecho sin que nadie se lo haya dicho.</a:t>
            </a:r>
            <a:endParaRPr lang="en-US" sz="1200" dirty="0"/>
          </a:p>
        </p:txBody>
      </p:sp>
      <p:sp>
        <p:nvSpPr>
          <p:cNvPr id="9" name="Shape 7"/>
          <p:cNvSpPr/>
          <p:nvPr/>
        </p:nvSpPr>
        <p:spPr>
          <a:xfrm>
            <a:off x="3386252" y="1810512"/>
            <a:ext cx="2599868" cy="4005072"/>
          </a:xfrm>
          <a:prstGeom prst="roundRect">
            <a:avLst>
              <a:gd name="adj" fmla="val 3165"/>
            </a:avLst>
          </a:prstGeom>
          <a:solidFill>
            <a:srgbClr val="F7E4D8"/>
          </a:solidFill>
          <a:ln w="12700">
            <a:solidFill>
              <a:srgbClr val="F7E4D8"/>
            </a:solidFill>
            <a:prstDash val="solid"/>
          </a:ln>
        </p:spPr>
      </p:sp>
      <p:sp>
        <p:nvSpPr>
          <p:cNvPr id="10" name="Shape 8"/>
          <p:cNvSpPr/>
          <p:nvPr/>
        </p:nvSpPr>
        <p:spPr>
          <a:xfrm>
            <a:off x="3386252" y="1810512"/>
            <a:ext cx="2599868" cy="548640"/>
          </a:xfrm>
          <a:prstGeom prst="roundRect">
            <a:avLst>
              <a:gd name="adj" fmla="val 15000"/>
            </a:avLst>
          </a:prstGeom>
          <a:solidFill>
            <a:srgbClr val="C85A28"/>
          </a:solidFill>
          <a:ln w="12700">
            <a:solidFill>
              <a:srgbClr val="C85A28"/>
            </a:solidFill>
            <a:prstDash val="solid"/>
          </a:ln>
        </p:spPr>
      </p:sp>
      <p:sp>
        <p:nvSpPr>
          <p:cNvPr id="11" name="Shape 9"/>
          <p:cNvSpPr/>
          <p:nvPr/>
        </p:nvSpPr>
        <p:spPr>
          <a:xfrm>
            <a:off x="3386252" y="2103120"/>
            <a:ext cx="2599868" cy="256032"/>
          </a:xfrm>
          <a:prstGeom prst="rect">
            <a:avLst/>
          </a:prstGeom>
          <a:solidFill>
            <a:srgbClr val="C85A28"/>
          </a:solidFill>
          <a:ln w="12700">
            <a:solidFill>
              <a:srgbClr val="C85A28"/>
            </a:solidFill>
            <a:prstDash val="solid"/>
          </a:ln>
        </p:spPr>
      </p:sp>
      <p:sp>
        <p:nvSpPr>
          <p:cNvPr id="12" name="Text 10"/>
          <p:cNvSpPr txBox="1"/>
          <p:nvPr/>
        </p:nvSpPr>
        <p:spPr>
          <a:xfrm>
            <a:off x="3587420"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Caso real</a:t>
            </a:r>
            <a:endParaRPr lang="en-US" sz="1350" dirty="0"/>
          </a:p>
        </p:txBody>
      </p:sp>
      <p:sp>
        <p:nvSpPr>
          <p:cNvPr id="13" name="Text 11"/>
          <p:cNvSpPr txBox="1"/>
          <p:nvPr/>
        </p:nvSpPr>
        <p:spPr>
          <a:xfrm>
            <a:off x="3587420"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Amazon, 2018.</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Un sistema de reclutamiento entrenado con diez años de currículos, casi todos de hombres.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Aprendió a bajar de calificación los currículos que decían "mujer", como en "capitana del club de ajedrez femenil".</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La empresa lo descartó.</a:t>
            </a:r>
            <a:endParaRPr lang="en-US" sz="1200" dirty="0"/>
          </a:p>
        </p:txBody>
      </p:sp>
      <p:sp>
        <p:nvSpPr>
          <p:cNvPr id="14" name="Shape 12"/>
          <p:cNvSpPr/>
          <p:nvPr/>
        </p:nvSpPr>
        <p:spPr>
          <a:xfrm>
            <a:off x="6205576" y="1810512"/>
            <a:ext cx="2599868" cy="4005072"/>
          </a:xfrm>
          <a:prstGeom prst="roundRect">
            <a:avLst>
              <a:gd name="adj" fmla="val 3165"/>
            </a:avLst>
          </a:prstGeom>
          <a:solidFill>
            <a:srgbClr val="D7E7E7"/>
          </a:solidFill>
          <a:ln w="12700">
            <a:solidFill>
              <a:srgbClr val="D7E7E7"/>
            </a:solidFill>
            <a:prstDash val="solid"/>
          </a:ln>
        </p:spPr>
      </p:sp>
      <p:sp>
        <p:nvSpPr>
          <p:cNvPr id="15" name="Shape 13"/>
          <p:cNvSpPr/>
          <p:nvPr/>
        </p:nvSpPr>
        <p:spPr>
          <a:xfrm>
            <a:off x="6205576" y="1810512"/>
            <a:ext cx="2599868" cy="548640"/>
          </a:xfrm>
          <a:prstGeom prst="roundRect">
            <a:avLst>
              <a:gd name="adj" fmla="val 15000"/>
            </a:avLst>
          </a:prstGeom>
          <a:solidFill>
            <a:srgbClr val="2E7D7D"/>
          </a:solidFill>
          <a:ln w="12700">
            <a:solidFill>
              <a:srgbClr val="2E7D7D"/>
            </a:solidFill>
            <a:prstDash val="solid"/>
          </a:ln>
        </p:spPr>
      </p:sp>
      <p:sp>
        <p:nvSpPr>
          <p:cNvPr id="16" name="Shape 14"/>
          <p:cNvSpPr/>
          <p:nvPr/>
        </p:nvSpPr>
        <p:spPr>
          <a:xfrm>
            <a:off x="6205576" y="2103120"/>
            <a:ext cx="2599868" cy="256032"/>
          </a:xfrm>
          <a:prstGeom prst="rect">
            <a:avLst/>
          </a:prstGeom>
          <a:solidFill>
            <a:srgbClr val="2E7D7D"/>
          </a:solidFill>
          <a:ln w="12700">
            <a:solidFill>
              <a:srgbClr val="2E7D7D"/>
            </a:solidFill>
            <a:prstDash val="solid"/>
          </a:ln>
        </p:spPr>
      </p:sp>
      <p:sp>
        <p:nvSpPr>
          <p:cNvPr id="17" name="Text 15"/>
          <p:cNvSpPr txBox="1"/>
          <p:nvPr/>
        </p:nvSpPr>
        <p:spPr>
          <a:xfrm>
            <a:off x="6406744"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Cómo lo disminuyes</a:t>
            </a:r>
            <a:endParaRPr lang="en-US" sz="1350" dirty="0"/>
          </a:p>
        </p:txBody>
      </p:sp>
      <p:sp>
        <p:nvSpPr>
          <p:cNvPr id="18" name="Text 16"/>
          <p:cNvSpPr txBox="1"/>
          <p:nvPr/>
        </p:nvSpPr>
        <p:spPr>
          <a:xfrm>
            <a:off x="6406744"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No dejes que el modelo caracterice a una población. Que solo extraiga lo que dice el documento.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Contrasta cualquier descripción contra los datos reales de tu padrón.</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Si le pides un perfil, pídele también que diga en qué se basó.</a:t>
            </a:r>
            <a:endParaRPr lang="en-US" sz="1200" dirty="0"/>
          </a:p>
        </p:txBody>
      </p:sp>
      <p:sp>
        <p:nvSpPr>
          <p:cNvPr id="19" name="Shape 17"/>
          <p:cNvSpPr/>
          <p:nvPr/>
        </p:nvSpPr>
        <p:spPr>
          <a:xfrm>
            <a:off x="9024899" y="1810512"/>
            <a:ext cx="2599868" cy="4005072"/>
          </a:xfrm>
          <a:prstGeom prst="roundRect">
            <a:avLst>
              <a:gd name="adj" fmla="val 3165"/>
            </a:avLst>
          </a:prstGeom>
          <a:solidFill>
            <a:srgbClr val="F2F5F6"/>
          </a:solidFill>
          <a:ln w="12700">
            <a:solidFill>
              <a:srgbClr val="F2F5F6"/>
            </a:solidFill>
            <a:prstDash val="solid"/>
          </a:ln>
        </p:spPr>
      </p:sp>
      <p:sp>
        <p:nvSpPr>
          <p:cNvPr id="20" name="Shape 18"/>
          <p:cNvSpPr/>
          <p:nvPr/>
        </p:nvSpPr>
        <p:spPr>
          <a:xfrm>
            <a:off x="9024899" y="1810512"/>
            <a:ext cx="2599868" cy="548640"/>
          </a:xfrm>
          <a:prstGeom prst="roundRect">
            <a:avLst>
              <a:gd name="adj" fmla="val 15000"/>
            </a:avLst>
          </a:prstGeom>
          <a:solidFill>
            <a:srgbClr val="5A6B73"/>
          </a:solidFill>
          <a:ln w="12700">
            <a:solidFill>
              <a:srgbClr val="5A6B73"/>
            </a:solidFill>
            <a:prstDash val="solid"/>
          </a:ln>
        </p:spPr>
      </p:sp>
      <p:sp>
        <p:nvSpPr>
          <p:cNvPr id="21" name="Shape 19"/>
          <p:cNvSpPr/>
          <p:nvPr/>
        </p:nvSpPr>
        <p:spPr>
          <a:xfrm>
            <a:off x="9024899" y="2103120"/>
            <a:ext cx="2599868" cy="256032"/>
          </a:xfrm>
          <a:prstGeom prst="rect">
            <a:avLst/>
          </a:prstGeom>
          <a:solidFill>
            <a:srgbClr val="5A6B73"/>
          </a:solidFill>
          <a:ln w="12700">
            <a:solidFill>
              <a:srgbClr val="5A6B73"/>
            </a:solidFill>
            <a:prstDash val="solid"/>
          </a:ln>
        </p:spPr>
      </p:sp>
      <p:sp>
        <p:nvSpPr>
          <p:cNvPr id="22" name="Text 20"/>
          <p:cNvSpPr txBox="1"/>
          <p:nvPr/>
        </p:nvSpPr>
        <p:spPr>
          <a:xfrm>
            <a:off x="9226067"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pasó después</a:t>
            </a:r>
            <a:endParaRPr lang="en-US" sz="1350" dirty="0"/>
          </a:p>
        </p:txBody>
      </p:sp>
      <p:sp>
        <p:nvSpPr>
          <p:cNvPr id="23" name="Text 21"/>
          <p:cNvSpPr txBox="1"/>
          <p:nvPr/>
        </p:nvSpPr>
        <p:spPr>
          <a:xfrm>
            <a:off x="9226067"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El caso puso el sesgo algorítmico en la agenda de recursos humanos.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Hoy hay regulación. Nueva York exige desde julio de 2023 una auditoría de sesgo anual e independiente para las herramientas automatizadas de contratación, publicar el resumen y avisar al candidato.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Otros estados siguieron el mismo camino.</a:t>
            </a:r>
            <a:endParaRPr lang="en-US" sz="1200" dirty="0"/>
          </a:p>
        </p:txBody>
      </p:sp>
      <p:sp>
        <p:nvSpPr>
          <p:cNvPr id="24" name="Shape 22"/>
          <p:cNvSpPr/>
          <p:nvPr/>
        </p:nvSpPr>
        <p:spPr>
          <a:xfrm>
            <a:off x="566928" y="5943600"/>
            <a:ext cx="11057839" cy="475488"/>
          </a:xfrm>
          <a:prstGeom prst="roundRect">
            <a:avLst>
              <a:gd name="adj" fmla="val 11538"/>
            </a:avLst>
          </a:prstGeom>
          <a:solidFill>
            <a:srgbClr val="16262E"/>
          </a:solidFill>
          <a:ln w="12700">
            <a:solidFill>
              <a:srgbClr val="16262E"/>
            </a:solidFill>
            <a:prstDash val="solid"/>
          </a:ln>
        </p:spPr>
      </p:sp>
      <p:sp>
        <p:nvSpPr>
          <p:cNvPr id="25" name="Text 23"/>
          <p:cNvSpPr txBox="1"/>
          <p:nvPr/>
        </p:nvSpPr>
        <p:spPr>
          <a:xfrm>
            <a:off x="804672" y="5971032"/>
            <a:ext cx="10582351" cy="2011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Jeffrey Dastin, Reuters, 10 de octubre de 2018. Sobre la regulación posterior: Ley Local 144 de Nueva York, vigente desde el 1 de enero de 2023, en vigor desde el 5 de julio de 2023.</a:t>
            </a:r>
            <a:endParaRPr lang="en-US" sz="1050" dirty="0"/>
          </a:p>
        </p:txBody>
      </p:sp>
      <p:sp>
        <p:nvSpPr>
          <p:cNvPr id="26" name="Text 24">
            <a:hlinkClick r:id="rId1" tooltip=""/>
          </p:cNvPr>
          <p:cNvSpPr txBox="1"/>
          <p:nvPr/>
        </p:nvSpPr>
        <p:spPr>
          <a:xfrm>
            <a:off x="804672" y="6172200"/>
            <a:ext cx="10582351" cy="201168"/>
          </a:xfrm>
          <a:prstGeom prst="rect">
            <a:avLst/>
          </a:prstGeom>
          <a:noFill/>
          <a:ln/>
        </p:spPr>
        <p:txBody>
          <a:bodyPr wrap="square" lIns="0" tIns="0" rIns="0" bIns="0" rtlCol="0" anchor="ctr"/>
          <a:lstStyle/>
          <a:p>
            <a:pPr indent="0" marL="0">
              <a:buNone/>
            </a:pPr>
            <a:r>
              <a:rPr lang="en-US" sz="80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https://www.nyc.gov/site/dca/about/automated-employment-decision-tools.page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Sesgo 2. Mayoría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El sistema funciona bien para el caso frecuente y mal para el que no lo es.</a:t>
            </a:r>
            <a:endParaRPr lang="en-US" sz="1500" dirty="0"/>
          </a:p>
        </p:txBody>
      </p:sp>
      <p:sp>
        <p:nvSpPr>
          <p:cNvPr id="4" name="Shape 2"/>
          <p:cNvSpPr/>
          <p:nvPr/>
        </p:nvSpPr>
        <p:spPr>
          <a:xfrm>
            <a:off x="566928" y="1810512"/>
            <a:ext cx="2599868" cy="4005072"/>
          </a:xfrm>
          <a:prstGeom prst="roundRect">
            <a:avLst>
              <a:gd name="adj" fmla="val 3165"/>
            </a:avLst>
          </a:prstGeom>
          <a:solidFill>
            <a:srgbClr val="F2F5F6"/>
          </a:solidFill>
          <a:ln w="12700">
            <a:solidFill>
              <a:srgbClr val="F2F5F6"/>
            </a:solidFill>
            <a:prstDash val="solid"/>
          </a:ln>
        </p:spPr>
      </p:sp>
      <p:sp>
        <p:nvSpPr>
          <p:cNvPr id="5" name="Shape 3"/>
          <p:cNvSpPr/>
          <p:nvPr/>
        </p:nvSpPr>
        <p:spPr>
          <a:xfrm>
            <a:off x="566928" y="1810512"/>
            <a:ext cx="2599868" cy="548640"/>
          </a:xfrm>
          <a:prstGeom prst="roundRect">
            <a:avLst>
              <a:gd name="adj" fmla="val 15000"/>
            </a:avLst>
          </a:prstGeom>
          <a:solidFill>
            <a:srgbClr val="16262E"/>
          </a:solidFill>
          <a:ln w="12700">
            <a:solidFill>
              <a:srgbClr val="16262E"/>
            </a:solidFill>
            <a:prstDash val="solid"/>
          </a:ln>
        </p:spPr>
      </p:sp>
      <p:sp>
        <p:nvSpPr>
          <p:cNvPr id="6" name="Shape 4"/>
          <p:cNvSpPr/>
          <p:nvPr/>
        </p:nvSpPr>
        <p:spPr>
          <a:xfrm>
            <a:off x="566928" y="2103120"/>
            <a:ext cx="2599868" cy="256032"/>
          </a:xfrm>
          <a:prstGeom prst="rect">
            <a:avLst/>
          </a:prstGeom>
          <a:solidFill>
            <a:srgbClr val="16262E"/>
          </a:solidFill>
          <a:ln w="12700">
            <a:solidFill>
              <a:srgbClr val="16262E"/>
            </a:solidFill>
            <a:prstDash val="solid"/>
          </a:ln>
        </p:spPr>
      </p:sp>
      <p:sp>
        <p:nvSpPr>
          <p:cNvPr id="7" name="Text 5"/>
          <p:cNvSpPr txBox="1"/>
          <p:nvPr/>
        </p:nvSpPr>
        <p:spPr>
          <a:xfrm>
            <a:off x="768096"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es?</a:t>
            </a:r>
            <a:endParaRPr lang="en-US" sz="1350" dirty="0"/>
          </a:p>
        </p:txBody>
      </p:sp>
      <p:sp>
        <p:nvSpPr>
          <p:cNvPr id="8" name="Text 6"/>
          <p:cNvSpPr txBox="1"/>
          <p:nvPr/>
        </p:nvSpPr>
        <p:spPr>
          <a:xfrm>
            <a:off x="768096"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Cuando agrupas textos por tema, el modelo arma las categorías con lo más repetido y manda lo demás a una bolsa de "otros".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Las voces que menos aparecen suelen ser las que una evaluación más necesita ver.</a:t>
            </a:r>
            <a:endParaRPr lang="en-US" sz="1200" dirty="0"/>
          </a:p>
        </p:txBody>
      </p:sp>
      <p:sp>
        <p:nvSpPr>
          <p:cNvPr id="9" name="Shape 7"/>
          <p:cNvSpPr/>
          <p:nvPr/>
        </p:nvSpPr>
        <p:spPr>
          <a:xfrm>
            <a:off x="3386252" y="1810512"/>
            <a:ext cx="2599868" cy="4005072"/>
          </a:xfrm>
          <a:prstGeom prst="roundRect">
            <a:avLst>
              <a:gd name="adj" fmla="val 3165"/>
            </a:avLst>
          </a:prstGeom>
          <a:solidFill>
            <a:srgbClr val="F7E4D8"/>
          </a:solidFill>
          <a:ln w="12700">
            <a:solidFill>
              <a:srgbClr val="F7E4D8"/>
            </a:solidFill>
            <a:prstDash val="solid"/>
          </a:ln>
        </p:spPr>
      </p:sp>
      <p:sp>
        <p:nvSpPr>
          <p:cNvPr id="10" name="Shape 8"/>
          <p:cNvSpPr/>
          <p:nvPr/>
        </p:nvSpPr>
        <p:spPr>
          <a:xfrm>
            <a:off x="3386252" y="1810512"/>
            <a:ext cx="2599868" cy="548640"/>
          </a:xfrm>
          <a:prstGeom prst="roundRect">
            <a:avLst>
              <a:gd name="adj" fmla="val 15000"/>
            </a:avLst>
          </a:prstGeom>
          <a:solidFill>
            <a:srgbClr val="C85A28"/>
          </a:solidFill>
          <a:ln w="12700">
            <a:solidFill>
              <a:srgbClr val="C85A28"/>
            </a:solidFill>
            <a:prstDash val="solid"/>
          </a:ln>
        </p:spPr>
      </p:sp>
      <p:sp>
        <p:nvSpPr>
          <p:cNvPr id="11" name="Shape 9"/>
          <p:cNvSpPr/>
          <p:nvPr/>
        </p:nvSpPr>
        <p:spPr>
          <a:xfrm>
            <a:off x="3386252" y="2103120"/>
            <a:ext cx="2599868" cy="256032"/>
          </a:xfrm>
          <a:prstGeom prst="rect">
            <a:avLst/>
          </a:prstGeom>
          <a:solidFill>
            <a:srgbClr val="C85A28"/>
          </a:solidFill>
          <a:ln w="12700">
            <a:solidFill>
              <a:srgbClr val="C85A28"/>
            </a:solidFill>
            <a:prstDash val="solid"/>
          </a:ln>
        </p:spPr>
      </p:sp>
      <p:sp>
        <p:nvSpPr>
          <p:cNvPr id="12" name="Text 10"/>
          <p:cNvSpPr txBox="1"/>
          <p:nvPr/>
        </p:nvSpPr>
        <p:spPr>
          <a:xfrm>
            <a:off x="3587420"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Caso real</a:t>
            </a:r>
            <a:endParaRPr lang="en-US" sz="1350" dirty="0"/>
          </a:p>
        </p:txBody>
      </p:sp>
      <p:sp>
        <p:nvSpPr>
          <p:cNvPr id="13" name="Text 11"/>
          <p:cNvSpPr txBox="1"/>
          <p:nvPr/>
        </p:nvSpPr>
        <p:spPr>
          <a:xfrm>
            <a:off x="3587420"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Hospitales de Estados Unidos, 2019.</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Un algoritmo asignaba cuidados adicionales usando el gasto médico previo como medida de necesidad.</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Como históricamente se gastaba menos en pacientes negros con la misma enfermedad, el sistema los calificaba como más sanos de lo que estaban.</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Corregir la medida más que duplicó su acceso: de 17.7 a 46.5 por ciento.</a:t>
            </a:r>
            <a:endParaRPr lang="en-US" sz="1200" dirty="0"/>
          </a:p>
        </p:txBody>
      </p:sp>
      <p:sp>
        <p:nvSpPr>
          <p:cNvPr id="14" name="Shape 12"/>
          <p:cNvSpPr/>
          <p:nvPr/>
        </p:nvSpPr>
        <p:spPr>
          <a:xfrm>
            <a:off x="6205576" y="1810512"/>
            <a:ext cx="2599868" cy="4005072"/>
          </a:xfrm>
          <a:prstGeom prst="roundRect">
            <a:avLst>
              <a:gd name="adj" fmla="val 3165"/>
            </a:avLst>
          </a:prstGeom>
          <a:solidFill>
            <a:srgbClr val="D7E7E7"/>
          </a:solidFill>
          <a:ln w="12700">
            <a:solidFill>
              <a:srgbClr val="D7E7E7"/>
            </a:solidFill>
            <a:prstDash val="solid"/>
          </a:ln>
        </p:spPr>
      </p:sp>
      <p:sp>
        <p:nvSpPr>
          <p:cNvPr id="15" name="Shape 13"/>
          <p:cNvSpPr/>
          <p:nvPr/>
        </p:nvSpPr>
        <p:spPr>
          <a:xfrm>
            <a:off x="6205576" y="1810512"/>
            <a:ext cx="2599868" cy="548640"/>
          </a:xfrm>
          <a:prstGeom prst="roundRect">
            <a:avLst>
              <a:gd name="adj" fmla="val 15000"/>
            </a:avLst>
          </a:prstGeom>
          <a:solidFill>
            <a:srgbClr val="2E7D7D"/>
          </a:solidFill>
          <a:ln w="12700">
            <a:solidFill>
              <a:srgbClr val="2E7D7D"/>
            </a:solidFill>
            <a:prstDash val="solid"/>
          </a:ln>
        </p:spPr>
      </p:sp>
      <p:sp>
        <p:nvSpPr>
          <p:cNvPr id="16" name="Shape 14"/>
          <p:cNvSpPr/>
          <p:nvPr/>
        </p:nvSpPr>
        <p:spPr>
          <a:xfrm>
            <a:off x="6205576" y="2103120"/>
            <a:ext cx="2599868" cy="256032"/>
          </a:xfrm>
          <a:prstGeom prst="rect">
            <a:avLst/>
          </a:prstGeom>
          <a:solidFill>
            <a:srgbClr val="2E7D7D"/>
          </a:solidFill>
          <a:ln w="12700">
            <a:solidFill>
              <a:srgbClr val="2E7D7D"/>
            </a:solidFill>
            <a:prstDash val="solid"/>
          </a:ln>
        </p:spPr>
      </p:sp>
      <p:sp>
        <p:nvSpPr>
          <p:cNvPr id="17" name="Text 15"/>
          <p:cNvSpPr txBox="1"/>
          <p:nvPr/>
        </p:nvSpPr>
        <p:spPr>
          <a:xfrm>
            <a:off x="6406744"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Cómo lo disminuyes</a:t>
            </a:r>
            <a:endParaRPr lang="en-US" sz="1350" dirty="0"/>
          </a:p>
        </p:txBody>
      </p:sp>
      <p:sp>
        <p:nvSpPr>
          <p:cNvPr id="18" name="Text 16"/>
          <p:cNvSpPr txBox="1"/>
          <p:nvPr/>
        </p:nvSpPr>
        <p:spPr>
          <a:xfrm>
            <a:off x="6406744"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Revisa a mano todo lo que quedó en "otros". Ahí está lo interesante.</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Pregúntate siempre si la variable que usas mide lo que crees que mide.</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Gasto no es lo mismo que necesidad. Quejas no es lo mismo que problemas.</a:t>
            </a:r>
            <a:endParaRPr lang="en-US" sz="1200" dirty="0"/>
          </a:p>
        </p:txBody>
      </p:sp>
      <p:sp>
        <p:nvSpPr>
          <p:cNvPr id="19" name="Shape 17"/>
          <p:cNvSpPr/>
          <p:nvPr/>
        </p:nvSpPr>
        <p:spPr>
          <a:xfrm>
            <a:off x="9024899" y="1810512"/>
            <a:ext cx="2599868" cy="4005072"/>
          </a:xfrm>
          <a:prstGeom prst="roundRect">
            <a:avLst>
              <a:gd name="adj" fmla="val 3165"/>
            </a:avLst>
          </a:prstGeom>
          <a:solidFill>
            <a:srgbClr val="F2F5F6"/>
          </a:solidFill>
          <a:ln w="12700">
            <a:solidFill>
              <a:srgbClr val="F2F5F6"/>
            </a:solidFill>
            <a:prstDash val="solid"/>
          </a:ln>
        </p:spPr>
      </p:sp>
      <p:sp>
        <p:nvSpPr>
          <p:cNvPr id="20" name="Shape 18"/>
          <p:cNvSpPr/>
          <p:nvPr/>
        </p:nvSpPr>
        <p:spPr>
          <a:xfrm>
            <a:off x="9024899" y="1810512"/>
            <a:ext cx="2599868" cy="548640"/>
          </a:xfrm>
          <a:prstGeom prst="roundRect">
            <a:avLst>
              <a:gd name="adj" fmla="val 15000"/>
            </a:avLst>
          </a:prstGeom>
          <a:solidFill>
            <a:srgbClr val="5A6B73"/>
          </a:solidFill>
          <a:ln w="12700">
            <a:solidFill>
              <a:srgbClr val="5A6B73"/>
            </a:solidFill>
            <a:prstDash val="solid"/>
          </a:ln>
        </p:spPr>
      </p:sp>
      <p:sp>
        <p:nvSpPr>
          <p:cNvPr id="21" name="Shape 19"/>
          <p:cNvSpPr/>
          <p:nvPr/>
        </p:nvSpPr>
        <p:spPr>
          <a:xfrm>
            <a:off x="9024899" y="2103120"/>
            <a:ext cx="2599868" cy="256032"/>
          </a:xfrm>
          <a:prstGeom prst="rect">
            <a:avLst/>
          </a:prstGeom>
          <a:solidFill>
            <a:srgbClr val="5A6B73"/>
          </a:solidFill>
          <a:ln w="12700">
            <a:solidFill>
              <a:srgbClr val="5A6B73"/>
            </a:solidFill>
            <a:prstDash val="solid"/>
          </a:ln>
        </p:spPr>
      </p:sp>
      <p:sp>
        <p:nvSpPr>
          <p:cNvPr id="22" name="Text 20"/>
          <p:cNvSpPr txBox="1"/>
          <p:nvPr/>
        </p:nvSpPr>
        <p:spPr>
          <a:xfrm>
            <a:off x="9226067"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pasó después</a:t>
            </a:r>
            <a:endParaRPr lang="en-US" sz="1350" dirty="0"/>
          </a:p>
        </p:txBody>
      </p:sp>
      <p:sp>
        <p:nvSpPr>
          <p:cNvPr id="23" name="Text 21"/>
          <p:cNvSpPr txBox="1"/>
          <p:nvPr/>
        </p:nvSpPr>
        <p:spPr>
          <a:xfrm>
            <a:off x="9226067"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El error no estaba en el algoritmo sino en la variable elegida como sustituto.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Desde entonces, "usar el costo como sustituto de la necesidad" es el ejemplo de manual de este tipo de sesgo.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Cambió la forma en que se revisan los algoritmos clínicos y de asignación de recursos.</a:t>
            </a:r>
            <a:endParaRPr lang="en-US" sz="1200" dirty="0"/>
          </a:p>
        </p:txBody>
      </p:sp>
      <p:sp>
        <p:nvSpPr>
          <p:cNvPr id="24" name="Shape 22"/>
          <p:cNvSpPr/>
          <p:nvPr/>
        </p:nvSpPr>
        <p:spPr>
          <a:xfrm>
            <a:off x="566928" y="5943600"/>
            <a:ext cx="11057839" cy="475488"/>
          </a:xfrm>
          <a:prstGeom prst="roundRect">
            <a:avLst>
              <a:gd name="adj" fmla="val 11538"/>
            </a:avLst>
          </a:prstGeom>
          <a:solidFill>
            <a:srgbClr val="16262E"/>
          </a:solidFill>
          <a:ln w="12700">
            <a:solidFill>
              <a:srgbClr val="16262E"/>
            </a:solidFill>
            <a:prstDash val="solid"/>
          </a:ln>
        </p:spPr>
      </p:sp>
      <p:sp>
        <p:nvSpPr>
          <p:cNvPr id="25" name="Text 23"/>
          <p:cNvSpPr txBox="1"/>
          <p:nvPr/>
        </p:nvSpPr>
        <p:spPr>
          <a:xfrm>
            <a:off x="804672" y="5971032"/>
            <a:ext cx="10582351" cy="2011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Obermeyer, Powers, Vogeli y Mullainathan, Science 366(6464), páginas 447 a 453, 25 de octubre de 2019.</a:t>
            </a:r>
            <a:endParaRPr lang="en-US" sz="1050" dirty="0"/>
          </a:p>
        </p:txBody>
      </p:sp>
      <p:sp>
        <p:nvSpPr>
          <p:cNvPr id="26" name="Text 24">
            <a:hlinkClick r:id="rId1" tooltip=""/>
          </p:cNvPr>
          <p:cNvSpPr txBox="1"/>
          <p:nvPr/>
        </p:nvSpPr>
        <p:spPr>
          <a:xfrm>
            <a:off x="804672" y="6172200"/>
            <a:ext cx="10582351" cy="201168"/>
          </a:xfrm>
          <a:prstGeom prst="rect">
            <a:avLst/>
          </a:prstGeom>
          <a:noFill/>
          <a:ln/>
        </p:spPr>
        <p:txBody>
          <a:bodyPr wrap="square" lIns="0" tIns="0" rIns="0" bIns="0" rtlCol="0" anchor="ctr"/>
          <a:lstStyle/>
          <a:p>
            <a:pPr indent="0" marL="0">
              <a:buNone/>
            </a:pPr>
            <a:r>
              <a:rPr lang="en-US" sz="80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https://www.science.org/doi/10.1126/science.aax2342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Sesgo 3. Complacencia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El modelo tiende a darte la razón, aunque tu premisa sea falsa.</a:t>
            </a:r>
            <a:endParaRPr lang="en-US" sz="1500" dirty="0"/>
          </a:p>
        </p:txBody>
      </p:sp>
      <p:sp>
        <p:nvSpPr>
          <p:cNvPr id="4" name="Shape 2"/>
          <p:cNvSpPr/>
          <p:nvPr/>
        </p:nvSpPr>
        <p:spPr>
          <a:xfrm>
            <a:off x="566928" y="1810512"/>
            <a:ext cx="2599868" cy="4005072"/>
          </a:xfrm>
          <a:prstGeom prst="roundRect">
            <a:avLst>
              <a:gd name="adj" fmla="val 3165"/>
            </a:avLst>
          </a:prstGeom>
          <a:solidFill>
            <a:srgbClr val="F2F5F6"/>
          </a:solidFill>
          <a:ln w="12700">
            <a:solidFill>
              <a:srgbClr val="F2F5F6"/>
            </a:solidFill>
            <a:prstDash val="solid"/>
          </a:ln>
        </p:spPr>
      </p:sp>
      <p:sp>
        <p:nvSpPr>
          <p:cNvPr id="5" name="Shape 3"/>
          <p:cNvSpPr/>
          <p:nvPr/>
        </p:nvSpPr>
        <p:spPr>
          <a:xfrm>
            <a:off x="566928" y="1810512"/>
            <a:ext cx="2599868" cy="548640"/>
          </a:xfrm>
          <a:prstGeom prst="roundRect">
            <a:avLst>
              <a:gd name="adj" fmla="val 15000"/>
            </a:avLst>
          </a:prstGeom>
          <a:solidFill>
            <a:srgbClr val="16262E"/>
          </a:solidFill>
          <a:ln w="12700">
            <a:solidFill>
              <a:srgbClr val="16262E"/>
            </a:solidFill>
            <a:prstDash val="solid"/>
          </a:ln>
        </p:spPr>
      </p:sp>
      <p:sp>
        <p:nvSpPr>
          <p:cNvPr id="6" name="Shape 4"/>
          <p:cNvSpPr/>
          <p:nvPr/>
        </p:nvSpPr>
        <p:spPr>
          <a:xfrm>
            <a:off x="566928" y="2103120"/>
            <a:ext cx="2599868" cy="256032"/>
          </a:xfrm>
          <a:prstGeom prst="rect">
            <a:avLst/>
          </a:prstGeom>
          <a:solidFill>
            <a:srgbClr val="16262E"/>
          </a:solidFill>
          <a:ln w="12700">
            <a:solidFill>
              <a:srgbClr val="16262E"/>
            </a:solidFill>
            <a:prstDash val="solid"/>
          </a:ln>
        </p:spPr>
      </p:sp>
      <p:sp>
        <p:nvSpPr>
          <p:cNvPr id="7" name="Text 5"/>
          <p:cNvSpPr txBox="1"/>
          <p:nvPr/>
        </p:nvSpPr>
        <p:spPr>
          <a:xfrm>
            <a:off x="768096"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es?</a:t>
            </a:r>
            <a:endParaRPr lang="en-US" sz="1350" dirty="0"/>
          </a:p>
        </p:txBody>
      </p:sp>
      <p:sp>
        <p:nvSpPr>
          <p:cNvPr id="8" name="Text 6"/>
          <p:cNvSpPr txBox="1"/>
          <p:nvPr/>
        </p:nvSpPr>
        <p:spPr>
          <a:xfrm>
            <a:off x="768096"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Si tu instrucción ya trae la conclusión adentro, el modelo busca la evidencia que la confirma y deja fuera la que no.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No te miente. Elige.</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Es el sesgo más fácil de provocar sin querer.</a:t>
            </a:r>
            <a:endParaRPr lang="en-US" sz="1200" dirty="0"/>
          </a:p>
        </p:txBody>
      </p:sp>
      <p:sp>
        <p:nvSpPr>
          <p:cNvPr id="9" name="Shape 7"/>
          <p:cNvSpPr/>
          <p:nvPr/>
        </p:nvSpPr>
        <p:spPr>
          <a:xfrm>
            <a:off x="3386252" y="1810512"/>
            <a:ext cx="2599868" cy="4005072"/>
          </a:xfrm>
          <a:prstGeom prst="roundRect">
            <a:avLst>
              <a:gd name="adj" fmla="val 3165"/>
            </a:avLst>
          </a:prstGeom>
          <a:solidFill>
            <a:srgbClr val="F7E4D8"/>
          </a:solidFill>
          <a:ln w="12700">
            <a:solidFill>
              <a:srgbClr val="F7E4D8"/>
            </a:solidFill>
            <a:prstDash val="solid"/>
          </a:ln>
        </p:spPr>
      </p:sp>
      <p:sp>
        <p:nvSpPr>
          <p:cNvPr id="10" name="Shape 8"/>
          <p:cNvSpPr/>
          <p:nvPr/>
        </p:nvSpPr>
        <p:spPr>
          <a:xfrm>
            <a:off x="3386252" y="1810512"/>
            <a:ext cx="2599868" cy="548640"/>
          </a:xfrm>
          <a:prstGeom prst="roundRect">
            <a:avLst>
              <a:gd name="adj" fmla="val 15000"/>
            </a:avLst>
          </a:prstGeom>
          <a:solidFill>
            <a:srgbClr val="C85A28"/>
          </a:solidFill>
          <a:ln w="12700">
            <a:solidFill>
              <a:srgbClr val="C85A28"/>
            </a:solidFill>
            <a:prstDash val="solid"/>
          </a:ln>
        </p:spPr>
      </p:sp>
      <p:sp>
        <p:nvSpPr>
          <p:cNvPr id="11" name="Shape 9"/>
          <p:cNvSpPr/>
          <p:nvPr/>
        </p:nvSpPr>
        <p:spPr>
          <a:xfrm>
            <a:off x="3386252" y="2103120"/>
            <a:ext cx="2599868" cy="256032"/>
          </a:xfrm>
          <a:prstGeom prst="rect">
            <a:avLst/>
          </a:prstGeom>
          <a:solidFill>
            <a:srgbClr val="C85A28"/>
          </a:solidFill>
          <a:ln w="12700">
            <a:solidFill>
              <a:srgbClr val="C85A28"/>
            </a:solidFill>
            <a:prstDash val="solid"/>
          </a:ln>
        </p:spPr>
      </p:sp>
      <p:sp>
        <p:nvSpPr>
          <p:cNvPr id="12" name="Text 10"/>
          <p:cNvSpPr txBox="1"/>
          <p:nvPr/>
        </p:nvSpPr>
        <p:spPr>
          <a:xfrm>
            <a:off x="3587420"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Caso real</a:t>
            </a:r>
            <a:endParaRPr lang="en-US" sz="1350" dirty="0"/>
          </a:p>
        </p:txBody>
      </p:sp>
      <p:sp>
        <p:nvSpPr>
          <p:cNvPr id="13" name="Text 11"/>
          <p:cNvSpPr txBox="1"/>
          <p:nvPr/>
        </p:nvSpPr>
        <p:spPr>
          <a:xfrm>
            <a:off x="3587420"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OpenAI, abril de 2025.</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La empresa lanzó una actualización el 25 de abril y empezó a revertirla el 28.</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El modelo se había vuelto demasiado complaciente: validaba ideas malas y le daba la razón al usuario en cosas donde no la tenía.</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La propia empresa publicó dos análisis del error.</a:t>
            </a:r>
            <a:endParaRPr lang="en-US" sz="1200" dirty="0"/>
          </a:p>
        </p:txBody>
      </p:sp>
      <p:sp>
        <p:nvSpPr>
          <p:cNvPr id="14" name="Shape 12"/>
          <p:cNvSpPr/>
          <p:nvPr/>
        </p:nvSpPr>
        <p:spPr>
          <a:xfrm>
            <a:off x="6205576" y="1810512"/>
            <a:ext cx="2599868" cy="4005072"/>
          </a:xfrm>
          <a:prstGeom prst="roundRect">
            <a:avLst>
              <a:gd name="adj" fmla="val 3165"/>
            </a:avLst>
          </a:prstGeom>
          <a:solidFill>
            <a:srgbClr val="D7E7E7"/>
          </a:solidFill>
          <a:ln w="12700">
            <a:solidFill>
              <a:srgbClr val="D7E7E7"/>
            </a:solidFill>
            <a:prstDash val="solid"/>
          </a:ln>
        </p:spPr>
      </p:sp>
      <p:sp>
        <p:nvSpPr>
          <p:cNvPr id="15" name="Shape 13"/>
          <p:cNvSpPr/>
          <p:nvPr/>
        </p:nvSpPr>
        <p:spPr>
          <a:xfrm>
            <a:off x="6205576" y="1810512"/>
            <a:ext cx="2599868" cy="548640"/>
          </a:xfrm>
          <a:prstGeom prst="roundRect">
            <a:avLst>
              <a:gd name="adj" fmla="val 15000"/>
            </a:avLst>
          </a:prstGeom>
          <a:solidFill>
            <a:srgbClr val="2E7D7D"/>
          </a:solidFill>
          <a:ln w="12700">
            <a:solidFill>
              <a:srgbClr val="2E7D7D"/>
            </a:solidFill>
            <a:prstDash val="solid"/>
          </a:ln>
        </p:spPr>
      </p:sp>
      <p:sp>
        <p:nvSpPr>
          <p:cNvPr id="16" name="Shape 14"/>
          <p:cNvSpPr/>
          <p:nvPr/>
        </p:nvSpPr>
        <p:spPr>
          <a:xfrm>
            <a:off x="6205576" y="2103120"/>
            <a:ext cx="2599868" cy="256032"/>
          </a:xfrm>
          <a:prstGeom prst="rect">
            <a:avLst/>
          </a:prstGeom>
          <a:solidFill>
            <a:srgbClr val="2E7D7D"/>
          </a:solidFill>
          <a:ln w="12700">
            <a:solidFill>
              <a:srgbClr val="2E7D7D"/>
            </a:solidFill>
            <a:prstDash val="solid"/>
          </a:ln>
        </p:spPr>
      </p:sp>
      <p:sp>
        <p:nvSpPr>
          <p:cNvPr id="17" name="Text 15"/>
          <p:cNvSpPr txBox="1"/>
          <p:nvPr/>
        </p:nvSpPr>
        <p:spPr>
          <a:xfrm>
            <a:off x="6406744"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Cómo lo disminuyes</a:t>
            </a:r>
            <a:endParaRPr lang="en-US" sz="1350" dirty="0"/>
          </a:p>
        </p:txBody>
      </p:sp>
      <p:sp>
        <p:nvSpPr>
          <p:cNvPr id="18" name="Text 16"/>
          <p:cNvSpPr txBox="1"/>
          <p:nvPr/>
        </p:nvSpPr>
        <p:spPr>
          <a:xfrm>
            <a:off x="6406744"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Nunca pongas tu conclusión en el prompt. No preguntes "confírmame que el programa fue exitoso".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Pide por separado la evidencia a favor y la evidencia en contra.</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Y pide que te diga explícitamente si alguna de las dos listas quedó vacía.</a:t>
            </a:r>
            <a:endParaRPr lang="en-US" sz="1200" dirty="0"/>
          </a:p>
        </p:txBody>
      </p:sp>
      <p:sp>
        <p:nvSpPr>
          <p:cNvPr id="19" name="Shape 17"/>
          <p:cNvSpPr/>
          <p:nvPr/>
        </p:nvSpPr>
        <p:spPr>
          <a:xfrm>
            <a:off x="9024899" y="1810512"/>
            <a:ext cx="2599868" cy="4005072"/>
          </a:xfrm>
          <a:prstGeom prst="roundRect">
            <a:avLst>
              <a:gd name="adj" fmla="val 3165"/>
            </a:avLst>
          </a:prstGeom>
          <a:solidFill>
            <a:srgbClr val="F2F5F6"/>
          </a:solidFill>
          <a:ln w="12700">
            <a:solidFill>
              <a:srgbClr val="F2F5F6"/>
            </a:solidFill>
            <a:prstDash val="solid"/>
          </a:ln>
        </p:spPr>
      </p:sp>
      <p:sp>
        <p:nvSpPr>
          <p:cNvPr id="20" name="Shape 18"/>
          <p:cNvSpPr/>
          <p:nvPr/>
        </p:nvSpPr>
        <p:spPr>
          <a:xfrm>
            <a:off x="9024899" y="1810512"/>
            <a:ext cx="2599868" cy="548640"/>
          </a:xfrm>
          <a:prstGeom prst="roundRect">
            <a:avLst>
              <a:gd name="adj" fmla="val 15000"/>
            </a:avLst>
          </a:prstGeom>
          <a:solidFill>
            <a:srgbClr val="5A6B73"/>
          </a:solidFill>
          <a:ln w="12700">
            <a:solidFill>
              <a:srgbClr val="5A6B73"/>
            </a:solidFill>
            <a:prstDash val="solid"/>
          </a:ln>
        </p:spPr>
      </p:sp>
      <p:sp>
        <p:nvSpPr>
          <p:cNvPr id="21" name="Shape 19"/>
          <p:cNvSpPr/>
          <p:nvPr/>
        </p:nvSpPr>
        <p:spPr>
          <a:xfrm>
            <a:off x="9024899" y="2103120"/>
            <a:ext cx="2599868" cy="256032"/>
          </a:xfrm>
          <a:prstGeom prst="rect">
            <a:avLst/>
          </a:prstGeom>
          <a:solidFill>
            <a:srgbClr val="5A6B73"/>
          </a:solidFill>
          <a:ln w="12700">
            <a:solidFill>
              <a:srgbClr val="5A6B73"/>
            </a:solidFill>
            <a:prstDash val="solid"/>
          </a:ln>
        </p:spPr>
      </p:sp>
      <p:sp>
        <p:nvSpPr>
          <p:cNvPr id="22" name="Text 20"/>
          <p:cNvSpPr txBox="1"/>
          <p:nvPr/>
        </p:nvSpPr>
        <p:spPr>
          <a:xfrm>
            <a:off x="9226067"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pasó después</a:t>
            </a:r>
            <a:endParaRPr lang="en-US" sz="1350" dirty="0"/>
          </a:p>
        </p:txBody>
      </p:sp>
      <p:sp>
        <p:nvSpPr>
          <p:cNvPr id="23" name="Text 21"/>
          <p:cNvSpPr txBox="1"/>
          <p:nvPr/>
        </p:nvSpPr>
        <p:spPr>
          <a:xfrm>
            <a:off x="9226067"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La empresa cambió su proceso de revisión: ahora el comportamiento del modelo puede bloquear un lanzamiento, no solo las métricas.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Cuando el propio fabricante lo documenta, deja de ser anécdota.</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Es una propiedad del sistema que tienes que vigilar tú.</a:t>
            </a:r>
            <a:endParaRPr lang="en-US" sz="1200" dirty="0"/>
          </a:p>
        </p:txBody>
      </p:sp>
      <p:sp>
        <p:nvSpPr>
          <p:cNvPr id="24" name="Shape 22"/>
          <p:cNvSpPr/>
          <p:nvPr/>
        </p:nvSpPr>
        <p:spPr>
          <a:xfrm>
            <a:off x="566928" y="5943600"/>
            <a:ext cx="11057839" cy="475488"/>
          </a:xfrm>
          <a:prstGeom prst="roundRect">
            <a:avLst>
              <a:gd name="adj" fmla="val 11538"/>
            </a:avLst>
          </a:prstGeom>
          <a:solidFill>
            <a:srgbClr val="16262E"/>
          </a:solidFill>
          <a:ln w="12700">
            <a:solidFill>
              <a:srgbClr val="16262E"/>
            </a:solidFill>
            <a:prstDash val="solid"/>
          </a:ln>
        </p:spPr>
      </p:sp>
      <p:sp>
        <p:nvSpPr>
          <p:cNvPr id="25" name="Text 23"/>
          <p:cNvSpPr txBox="1"/>
          <p:nvPr/>
        </p:nvSpPr>
        <p:spPr>
          <a:xfrm>
            <a:off x="804672" y="5971032"/>
            <a:ext cx="10582351" cy="2011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Análisis publicados por OpenAI el 29 de abril y el 2 de mayo de 2025.</a:t>
            </a:r>
            <a:endParaRPr lang="en-US" sz="1050" dirty="0"/>
          </a:p>
        </p:txBody>
      </p:sp>
      <p:sp>
        <p:nvSpPr>
          <p:cNvPr id="26" name="Text 24">
            <a:hlinkClick r:id="rId1" tooltip=""/>
          </p:cNvPr>
          <p:cNvSpPr txBox="1"/>
          <p:nvPr/>
        </p:nvSpPr>
        <p:spPr>
          <a:xfrm>
            <a:off x="804672" y="6172200"/>
            <a:ext cx="10582351" cy="201168"/>
          </a:xfrm>
          <a:prstGeom prst="rect">
            <a:avLst/>
          </a:prstGeom>
          <a:noFill/>
          <a:ln/>
        </p:spPr>
        <p:txBody>
          <a:bodyPr wrap="square" lIns="0" tIns="0" rIns="0" bIns="0" rtlCol="0" anchor="ctr"/>
          <a:lstStyle/>
          <a:p>
            <a:pPr indent="0" marL="0">
              <a:buNone/>
            </a:pPr>
            <a:r>
              <a:rPr lang="en-US" sz="80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https://openai.com/index/expanding-on-sycophancy/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Sesgo 4. Lingüístico</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El modelo funciona peor con lenguas y variantes que estaban poco representadas.</a:t>
            </a:r>
            <a:endParaRPr lang="en-US" sz="1500" dirty="0"/>
          </a:p>
        </p:txBody>
      </p:sp>
      <p:sp>
        <p:nvSpPr>
          <p:cNvPr id="4" name="Shape 2"/>
          <p:cNvSpPr/>
          <p:nvPr/>
        </p:nvSpPr>
        <p:spPr>
          <a:xfrm>
            <a:off x="566928" y="1810512"/>
            <a:ext cx="2599868" cy="4005072"/>
          </a:xfrm>
          <a:prstGeom prst="roundRect">
            <a:avLst>
              <a:gd name="adj" fmla="val 3165"/>
            </a:avLst>
          </a:prstGeom>
          <a:solidFill>
            <a:srgbClr val="F2F5F6"/>
          </a:solidFill>
          <a:ln w="12700">
            <a:solidFill>
              <a:srgbClr val="F2F5F6"/>
            </a:solidFill>
            <a:prstDash val="solid"/>
          </a:ln>
        </p:spPr>
      </p:sp>
      <p:sp>
        <p:nvSpPr>
          <p:cNvPr id="5" name="Shape 3"/>
          <p:cNvSpPr/>
          <p:nvPr/>
        </p:nvSpPr>
        <p:spPr>
          <a:xfrm>
            <a:off x="566928" y="1810512"/>
            <a:ext cx="2599868" cy="548640"/>
          </a:xfrm>
          <a:prstGeom prst="roundRect">
            <a:avLst>
              <a:gd name="adj" fmla="val 15000"/>
            </a:avLst>
          </a:prstGeom>
          <a:solidFill>
            <a:srgbClr val="16262E"/>
          </a:solidFill>
          <a:ln w="12700">
            <a:solidFill>
              <a:srgbClr val="16262E"/>
            </a:solidFill>
            <a:prstDash val="solid"/>
          </a:ln>
        </p:spPr>
      </p:sp>
      <p:sp>
        <p:nvSpPr>
          <p:cNvPr id="6" name="Shape 4"/>
          <p:cNvSpPr/>
          <p:nvPr/>
        </p:nvSpPr>
        <p:spPr>
          <a:xfrm>
            <a:off x="566928" y="2103120"/>
            <a:ext cx="2599868" cy="256032"/>
          </a:xfrm>
          <a:prstGeom prst="rect">
            <a:avLst/>
          </a:prstGeom>
          <a:solidFill>
            <a:srgbClr val="16262E"/>
          </a:solidFill>
          <a:ln w="12700">
            <a:solidFill>
              <a:srgbClr val="16262E"/>
            </a:solidFill>
            <a:prstDash val="solid"/>
          </a:ln>
        </p:spPr>
      </p:sp>
      <p:sp>
        <p:nvSpPr>
          <p:cNvPr id="7" name="Text 5"/>
          <p:cNvSpPr txBox="1"/>
          <p:nvPr/>
        </p:nvSpPr>
        <p:spPr>
          <a:xfrm>
            <a:off x="768096"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es?</a:t>
            </a:r>
            <a:endParaRPr lang="en-US" sz="1350" dirty="0"/>
          </a:p>
        </p:txBody>
      </p:sp>
      <p:sp>
        <p:nvSpPr>
          <p:cNvPr id="8" name="Text 6"/>
          <p:cNvSpPr txBox="1"/>
          <p:nvPr/>
        </p:nvSpPr>
        <p:spPr>
          <a:xfrm>
            <a:off x="768096"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Funciona mejor en español estándar y peor con variantes regionales, con textos mal escritos o con lenguas indígenas.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Un registro de atención ciudadana con faltas de ortografía se clasifica peor que uno bien redactado, aunque diga algo más importante.</a:t>
            </a:r>
            <a:endParaRPr lang="en-US" sz="1200" dirty="0"/>
          </a:p>
        </p:txBody>
      </p:sp>
      <p:sp>
        <p:nvSpPr>
          <p:cNvPr id="9" name="Shape 7"/>
          <p:cNvSpPr/>
          <p:nvPr/>
        </p:nvSpPr>
        <p:spPr>
          <a:xfrm>
            <a:off x="3386252" y="1810512"/>
            <a:ext cx="2599868" cy="4005072"/>
          </a:xfrm>
          <a:prstGeom prst="roundRect">
            <a:avLst>
              <a:gd name="adj" fmla="val 3165"/>
            </a:avLst>
          </a:prstGeom>
          <a:solidFill>
            <a:srgbClr val="F7E4D8"/>
          </a:solidFill>
          <a:ln w="12700">
            <a:solidFill>
              <a:srgbClr val="F7E4D8"/>
            </a:solidFill>
            <a:prstDash val="solid"/>
          </a:ln>
        </p:spPr>
      </p:sp>
      <p:sp>
        <p:nvSpPr>
          <p:cNvPr id="10" name="Shape 8"/>
          <p:cNvSpPr/>
          <p:nvPr/>
        </p:nvSpPr>
        <p:spPr>
          <a:xfrm>
            <a:off x="3386252" y="1810512"/>
            <a:ext cx="2599868" cy="548640"/>
          </a:xfrm>
          <a:prstGeom prst="roundRect">
            <a:avLst>
              <a:gd name="adj" fmla="val 15000"/>
            </a:avLst>
          </a:prstGeom>
          <a:solidFill>
            <a:srgbClr val="C85A28"/>
          </a:solidFill>
          <a:ln w="12700">
            <a:solidFill>
              <a:srgbClr val="C85A28"/>
            </a:solidFill>
            <a:prstDash val="solid"/>
          </a:ln>
        </p:spPr>
      </p:sp>
      <p:sp>
        <p:nvSpPr>
          <p:cNvPr id="11" name="Shape 9"/>
          <p:cNvSpPr/>
          <p:nvPr/>
        </p:nvSpPr>
        <p:spPr>
          <a:xfrm>
            <a:off x="3386252" y="2103120"/>
            <a:ext cx="2599868" cy="256032"/>
          </a:xfrm>
          <a:prstGeom prst="rect">
            <a:avLst/>
          </a:prstGeom>
          <a:solidFill>
            <a:srgbClr val="C85A28"/>
          </a:solidFill>
          <a:ln w="12700">
            <a:solidFill>
              <a:srgbClr val="C85A28"/>
            </a:solidFill>
            <a:prstDash val="solid"/>
          </a:ln>
        </p:spPr>
      </p:sp>
      <p:sp>
        <p:nvSpPr>
          <p:cNvPr id="12" name="Text 10"/>
          <p:cNvSpPr txBox="1"/>
          <p:nvPr/>
        </p:nvSpPr>
        <p:spPr>
          <a:xfrm>
            <a:off x="3587420"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Caso real</a:t>
            </a:r>
            <a:endParaRPr lang="en-US" sz="1350" dirty="0"/>
          </a:p>
        </p:txBody>
      </p:sp>
      <p:sp>
        <p:nvSpPr>
          <p:cNvPr id="13" name="Text 11"/>
          <p:cNvSpPr txBox="1"/>
          <p:nvPr/>
        </p:nvSpPr>
        <p:spPr>
          <a:xfrm>
            <a:off x="3587420"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Israel, 2017.</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Un albañil publicó "buenos días" en árabe junto a una foto suya.</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El traductor automático de la red social lo tradujo como "atáquenlos".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Fue detenido, interrogado y liberado horas después. Ningún hablante de árabe revisó la traducción antes de que actuara la policía.</a:t>
            </a:r>
            <a:endParaRPr lang="en-US" sz="1200" dirty="0"/>
          </a:p>
        </p:txBody>
      </p:sp>
      <p:sp>
        <p:nvSpPr>
          <p:cNvPr id="14" name="Shape 12"/>
          <p:cNvSpPr/>
          <p:nvPr/>
        </p:nvSpPr>
        <p:spPr>
          <a:xfrm>
            <a:off x="6205576" y="1810512"/>
            <a:ext cx="2599868" cy="4005072"/>
          </a:xfrm>
          <a:prstGeom prst="roundRect">
            <a:avLst>
              <a:gd name="adj" fmla="val 3165"/>
            </a:avLst>
          </a:prstGeom>
          <a:solidFill>
            <a:srgbClr val="D7E7E7"/>
          </a:solidFill>
          <a:ln w="12700">
            <a:solidFill>
              <a:srgbClr val="D7E7E7"/>
            </a:solidFill>
            <a:prstDash val="solid"/>
          </a:ln>
        </p:spPr>
      </p:sp>
      <p:sp>
        <p:nvSpPr>
          <p:cNvPr id="15" name="Shape 13"/>
          <p:cNvSpPr/>
          <p:nvPr/>
        </p:nvSpPr>
        <p:spPr>
          <a:xfrm>
            <a:off x="6205576" y="1810512"/>
            <a:ext cx="2599868" cy="548640"/>
          </a:xfrm>
          <a:prstGeom prst="roundRect">
            <a:avLst>
              <a:gd name="adj" fmla="val 15000"/>
            </a:avLst>
          </a:prstGeom>
          <a:solidFill>
            <a:srgbClr val="2E7D7D"/>
          </a:solidFill>
          <a:ln w="12700">
            <a:solidFill>
              <a:srgbClr val="2E7D7D"/>
            </a:solidFill>
            <a:prstDash val="solid"/>
          </a:ln>
        </p:spPr>
      </p:sp>
      <p:sp>
        <p:nvSpPr>
          <p:cNvPr id="16" name="Shape 14"/>
          <p:cNvSpPr/>
          <p:nvPr/>
        </p:nvSpPr>
        <p:spPr>
          <a:xfrm>
            <a:off x="6205576" y="2103120"/>
            <a:ext cx="2599868" cy="256032"/>
          </a:xfrm>
          <a:prstGeom prst="rect">
            <a:avLst/>
          </a:prstGeom>
          <a:solidFill>
            <a:srgbClr val="2E7D7D"/>
          </a:solidFill>
          <a:ln w="12700">
            <a:solidFill>
              <a:srgbClr val="2E7D7D"/>
            </a:solidFill>
            <a:prstDash val="solid"/>
          </a:ln>
        </p:spPr>
      </p:sp>
      <p:sp>
        <p:nvSpPr>
          <p:cNvPr id="17" name="Text 15"/>
          <p:cNvSpPr txBox="1"/>
          <p:nvPr/>
        </p:nvSpPr>
        <p:spPr>
          <a:xfrm>
            <a:off x="6406744"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Cómo lo disminuyes</a:t>
            </a:r>
            <a:endParaRPr lang="en-US" sz="1350" dirty="0"/>
          </a:p>
        </p:txBody>
      </p:sp>
      <p:sp>
        <p:nvSpPr>
          <p:cNvPr id="18" name="Text 16"/>
          <p:cNvSpPr txBox="1"/>
          <p:nvPr/>
        </p:nvSpPr>
        <p:spPr>
          <a:xfrm>
            <a:off x="6406744"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Saca una muestra de los registros peor redactados y revisa a mano cómo los clasificó.</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Si tu material incluye lenguas indígenas, no delegues la interpretación.</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Y nunca dejes que una traducción automática sostenga una decisión sin que la revise una persona que hable el idioma.</a:t>
            </a:r>
            <a:endParaRPr lang="en-US" sz="1200" dirty="0"/>
          </a:p>
        </p:txBody>
      </p:sp>
      <p:sp>
        <p:nvSpPr>
          <p:cNvPr id="19" name="Shape 17"/>
          <p:cNvSpPr/>
          <p:nvPr/>
        </p:nvSpPr>
        <p:spPr>
          <a:xfrm>
            <a:off x="9024899" y="1810512"/>
            <a:ext cx="2599868" cy="4005072"/>
          </a:xfrm>
          <a:prstGeom prst="roundRect">
            <a:avLst>
              <a:gd name="adj" fmla="val 3165"/>
            </a:avLst>
          </a:prstGeom>
          <a:solidFill>
            <a:srgbClr val="F2F5F6"/>
          </a:solidFill>
          <a:ln w="12700">
            <a:solidFill>
              <a:srgbClr val="F2F5F6"/>
            </a:solidFill>
            <a:prstDash val="solid"/>
          </a:ln>
        </p:spPr>
      </p:sp>
      <p:sp>
        <p:nvSpPr>
          <p:cNvPr id="20" name="Shape 18"/>
          <p:cNvSpPr/>
          <p:nvPr/>
        </p:nvSpPr>
        <p:spPr>
          <a:xfrm>
            <a:off x="9024899" y="1810512"/>
            <a:ext cx="2599868" cy="548640"/>
          </a:xfrm>
          <a:prstGeom prst="roundRect">
            <a:avLst>
              <a:gd name="adj" fmla="val 15000"/>
            </a:avLst>
          </a:prstGeom>
          <a:solidFill>
            <a:srgbClr val="5A6B73"/>
          </a:solidFill>
          <a:ln w="12700">
            <a:solidFill>
              <a:srgbClr val="5A6B73"/>
            </a:solidFill>
            <a:prstDash val="solid"/>
          </a:ln>
        </p:spPr>
      </p:sp>
      <p:sp>
        <p:nvSpPr>
          <p:cNvPr id="21" name="Shape 19"/>
          <p:cNvSpPr/>
          <p:nvPr/>
        </p:nvSpPr>
        <p:spPr>
          <a:xfrm>
            <a:off x="9024899" y="2103120"/>
            <a:ext cx="2599868" cy="256032"/>
          </a:xfrm>
          <a:prstGeom prst="rect">
            <a:avLst/>
          </a:prstGeom>
          <a:solidFill>
            <a:srgbClr val="5A6B73"/>
          </a:solidFill>
          <a:ln w="12700">
            <a:solidFill>
              <a:srgbClr val="5A6B73"/>
            </a:solidFill>
            <a:prstDash val="solid"/>
          </a:ln>
        </p:spPr>
      </p:sp>
      <p:sp>
        <p:nvSpPr>
          <p:cNvPr id="22" name="Text 20"/>
          <p:cNvSpPr txBox="1"/>
          <p:nvPr/>
        </p:nvSpPr>
        <p:spPr>
          <a:xfrm>
            <a:off x="9226067" y="1810512"/>
            <a:ext cx="2197532"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Qué pasó después</a:t>
            </a:r>
            <a:endParaRPr lang="en-US" sz="1350" dirty="0"/>
          </a:p>
        </p:txBody>
      </p:sp>
      <p:sp>
        <p:nvSpPr>
          <p:cNvPr id="23" name="Text 21"/>
          <p:cNvSpPr txBox="1"/>
          <p:nvPr/>
        </p:nvSpPr>
        <p:spPr>
          <a:xfrm>
            <a:off x="9226067" y="2523744"/>
            <a:ext cx="2197532" cy="310896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No fue un caso aislado.</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Un estudio de 2020 midió cinco sistemas comerciales de reconocimiento de voz: 35 por ciento de error para hablantes negros contra 19 por ciento para blancos.</a:t>
            </a:r>
            <a:endParaRPr lang="en-US" sz="1200" dirty="0"/>
          </a:p>
          <a:p>
            <a:pPr indent="0" marL="0">
              <a:lnSpc>
                <a:spcPct val="112000"/>
              </a:lnSpc>
              <a:spcAft>
                <a:spcPts val="600"/>
              </a:spcAft>
              <a:buNone/>
            </a:pPr>
            <a:r>
              <a:rPr lang="en-US" sz="1200" dirty="0">
                <a:solidFill>
                  <a:srgbClr val="16262E"/>
                </a:solidFill>
                <a:latin typeface="Calibri" pitchFamily="34" charset="0"/>
                <a:ea typeface="Calibri" pitchFamily="34" charset="-122"/>
                <a:cs typeface="Calibri" pitchFamily="34" charset="-120"/>
              </a:rPr>
              <a:t>Desde entonces se construyen corpus de habla diversa para reducir esa brecha.</a:t>
            </a:r>
            <a:endParaRPr lang="en-US" sz="1200" dirty="0"/>
          </a:p>
        </p:txBody>
      </p:sp>
      <p:sp>
        <p:nvSpPr>
          <p:cNvPr id="24" name="Shape 22"/>
          <p:cNvSpPr/>
          <p:nvPr/>
        </p:nvSpPr>
        <p:spPr>
          <a:xfrm>
            <a:off x="566928" y="5943600"/>
            <a:ext cx="11057839" cy="475488"/>
          </a:xfrm>
          <a:prstGeom prst="roundRect">
            <a:avLst>
              <a:gd name="adj" fmla="val 11538"/>
            </a:avLst>
          </a:prstGeom>
          <a:solidFill>
            <a:srgbClr val="16262E"/>
          </a:solidFill>
          <a:ln w="12700">
            <a:solidFill>
              <a:srgbClr val="16262E"/>
            </a:solidFill>
            <a:prstDash val="solid"/>
          </a:ln>
        </p:spPr>
      </p:sp>
      <p:sp>
        <p:nvSpPr>
          <p:cNvPr id="25" name="Text 23"/>
          <p:cNvSpPr txBox="1"/>
          <p:nvPr/>
        </p:nvSpPr>
        <p:spPr>
          <a:xfrm>
            <a:off x="804672" y="5971032"/>
            <a:ext cx="10582351" cy="2011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Haaretz, 22 de octubre de 2017. La cifra es de Koenecke y coautores, PNAS 117(14), 2020.</a:t>
            </a:r>
            <a:endParaRPr lang="en-US" sz="1050" dirty="0"/>
          </a:p>
        </p:txBody>
      </p:sp>
      <p:sp>
        <p:nvSpPr>
          <p:cNvPr id="26" name="Text 24">
            <a:hlinkClick r:id="rId1" tooltip=""/>
          </p:cNvPr>
          <p:cNvSpPr txBox="1"/>
          <p:nvPr/>
        </p:nvSpPr>
        <p:spPr>
          <a:xfrm>
            <a:off x="804672" y="6172200"/>
            <a:ext cx="10582351" cy="201168"/>
          </a:xfrm>
          <a:prstGeom prst="rect">
            <a:avLst/>
          </a:prstGeom>
          <a:noFill/>
          <a:ln/>
        </p:spPr>
        <p:txBody>
          <a:bodyPr wrap="square" lIns="0" tIns="0" rIns="0" bIns="0" rtlCol="0" anchor="ctr"/>
          <a:lstStyle/>
          <a:p>
            <a:pPr indent="0" marL="0">
              <a:buNone/>
            </a:pPr>
            <a:r>
              <a:rPr lang="en-US" sz="800" u="sng" dirty="0">
                <a:solidFill>
                  <a:srgbClr val="D7E7E7"/>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https://www.pnas.org/doi/10.1073/pnas.1915768117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3</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GOBIERNO DE DATOS EN LA PRÁCTICA</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El semáforo de datos</a:t>
            </a:r>
            <a:endParaRPr lang="en-US" sz="3400" dirty="0"/>
          </a:p>
        </p:txBody>
      </p:sp>
      <p:sp>
        <p:nvSpPr>
          <p:cNvPr id="6" name="Shape 4"/>
          <p:cNvSpPr/>
          <p:nvPr/>
        </p:nvSpPr>
        <p:spPr>
          <a:xfrm>
            <a:off x="9338767" y="457200"/>
            <a:ext cx="2286000"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338767" y="457200"/>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10:32 a 10:44</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402336"/>
            <a:ext cx="996055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Antes de pegar algo, clasifícalo</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 la regla más importante del curso y cabe en tres colores.</a:t>
            </a:r>
            <a:endParaRPr lang="en-US" sz="1500" dirty="0"/>
          </a:p>
        </p:txBody>
      </p:sp>
      <p:sp>
        <p:nvSpPr>
          <p:cNvPr id="4" name="Shape 2"/>
          <p:cNvSpPr/>
          <p:nvPr/>
        </p:nvSpPr>
        <p:spPr>
          <a:xfrm>
            <a:off x="886968" y="1901952"/>
            <a:ext cx="1371600" cy="3703320"/>
          </a:xfrm>
          <a:prstGeom prst="roundRect">
            <a:avLst>
              <a:gd name="adj" fmla="val 14667"/>
            </a:avLst>
          </a:prstGeom>
          <a:solidFill>
            <a:srgbClr val="16262E"/>
          </a:solidFill>
          <a:ln w="12700">
            <a:solidFill>
              <a:srgbClr val="16262E"/>
            </a:solidFill>
            <a:prstDash val="solid"/>
          </a:ln>
        </p:spPr>
      </p:sp>
      <p:sp>
        <p:nvSpPr>
          <p:cNvPr id="5" name="Shape 3"/>
          <p:cNvSpPr/>
          <p:nvPr/>
        </p:nvSpPr>
        <p:spPr>
          <a:xfrm>
            <a:off x="1161288" y="2194560"/>
            <a:ext cx="822960" cy="822960"/>
          </a:xfrm>
          <a:prstGeom prst="ellipse">
            <a:avLst/>
          </a:prstGeom>
          <a:solidFill>
            <a:srgbClr val="3F7A4E"/>
          </a:solidFill>
          <a:ln w="12700">
            <a:solidFill>
              <a:srgbClr val="3F7A4E"/>
            </a:solidFill>
            <a:prstDash val="solid"/>
          </a:ln>
        </p:spPr>
      </p:sp>
      <p:sp>
        <p:nvSpPr>
          <p:cNvPr id="6" name="Shape 4"/>
          <p:cNvSpPr/>
          <p:nvPr/>
        </p:nvSpPr>
        <p:spPr>
          <a:xfrm>
            <a:off x="1161288" y="3310128"/>
            <a:ext cx="822960" cy="822960"/>
          </a:xfrm>
          <a:prstGeom prst="ellipse">
            <a:avLst/>
          </a:prstGeom>
          <a:solidFill>
            <a:srgbClr val="B8862B"/>
          </a:solidFill>
          <a:ln w="12700">
            <a:solidFill>
              <a:srgbClr val="B8862B"/>
            </a:solidFill>
            <a:prstDash val="solid"/>
          </a:ln>
        </p:spPr>
      </p:sp>
      <p:sp>
        <p:nvSpPr>
          <p:cNvPr id="7" name="Shape 5"/>
          <p:cNvSpPr/>
          <p:nvPr/>
        </p:nvSpPr>
        <p:spPr>
          <a:xfrm>
            <a:off x="1161288" y="4425696"/>
            <a:ext cx="822960" cy="822960"/>
          </a:xfrm>
          <a:prstGeom prst="ellipse">
            <a:avLst/>
          </a:prstGeom>
          <a:solidFill>
            <a:srgbClr val="A33A3A"/>
          </a:solidFill>
          <a:ln w="12700">
            <a:solidFill>
              <a:srgbClr val="A33A3A"/>
            </a:solidFill>
            <a:prstDash val="solid"/>
          </a:ln>
        </p:spPr>
      </p:sp>
      <p:sp>
        <p:nvSpPr>
          <p:cNvPr id="8" name="Shape 6"/>
          <p:cNvSpPr/>
          <p:nvPr/>
        </p:nvSpPr>
        <p:spPr>
          <a:xfrm>
            <a:off x="2670048" y="1901952"/>
            <a:ext cx="8954719" cy="1173480"/>
          </a:xfrm>
          <a:prstGeom prst="roundRect">
            <a:avLst>
              <a:gd name="adj" fmla="val 6234"/>
            </a:avLst>
          </a:prstGeom>
          <a:solidFill>
            <a:srgbClr val="DCEBE0"/>
          </a:solidFill>
          <a:ln w="12700">
            <a:solidFill>
              <a:srgbClr val="DCEBE0"/>
            </a:solidFill>
            <a:prstDash val="solid"/>
          </a:ln>
        </p:spPr>
      </p:sp>
      <p:sp>
        <p:nvSpPr>
          <p:cNvPr id="9" name="Text 7"/>
          <p:cNvSpPr txBox="1"/>
          <p:nvPr/>
        </p:nvSpPr>
        <p:spPr>
          <a:xfrm>
            <a:off x="2926080" y="2048256"/>
            <a:ext cx="8442655" cy="310896"/>
          </a:xfrm>
          <a:prstGeom prst="rect">
            <a:avLst/>
          </a:prstGeom>
          <a:noFill/>
          <a:ln/>
        </p:spPr>
        <p:txBody>
          <a:bodyPr wrap="square" lIns="0" tIns="0" rIns="0" bIns="0" rtlCol="0" anchor="ctr"/>
          <a:lstStyle/>
          <a:p>
            <a:pPr indent="0" marL="0">
              <a:buNone/>
            </a:pPr>
            <a:r>
              <a:rPr lang="en-US" sz="1500" b="1" dirty="0">
                <a:solidFill>
                  <a:srgbClr val="16262E"/>
                </a:solidFill>
                <a:latin typeface="Arial" pitchFamily="34" charset="0"/>
                <a:ea typeface="Arial" pitchFamily="34" charset="-122"/>
                <a:cs typeface="Arial" pitchFamily="34" charset="-120"/>
              </a:rPr>
              <a:t>Verde. Ya es público</a:t>
            </a:r>
            <a:endParaRPr lang="en-US" sz="1500" dirty="0"/>
          </a:p>
        </p:txBody>
      </p:sp>
      <p:sp>
        <p:nvSpPr>
          <p:cNvPr id="10" name="Text 8"/>
          <p:cNvSpPr txBox="1"/>
          <p:nvPr/>
        </p:nvSpPr>
        <p:spPr>
          <a:xfrm>
            <a:off x="2926080" y="2395728"/>
            <a:ext cx="8442655" cy="515112"/>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Reglas de operación del Diario Oficial, informes publicados, normatividad, microdatos públicos anonimizados. Lo puedes usar en Copilot y en las siete herramientas gratuitas del curso.</a:t>
            </a:r>
            <a:endParaRPr lang="en-US" sz="1250" dirty="0"/>
          </a:p>
        </p:txBody>
      </p:sp>
      <p:sp>
        <p:nvSpPr>
          <p:cNvPr id="11" name="Shape 9"/>
          <p:cNvSpPr/>
          <p:nvPr/>
        </p:nvSpPr>
        <p:spPr>
          <a:xfrm>
            <a:off x="2670048" y="3166872"/>
            <a:ext cx="8954719" cy="1173480"/>
          </a:xfrm>
          <a:prstGeom prst="roundRect">
            <a:avLst>
              <a:gd name="adj" fmla="val 6234"/>
            </a:avLst>
          </a:prstGeom>
          <a:solidFill>
            <a:srgbClr val="F7EDD6"/>
          </a:solidFill>
          <a:ln w="12700">
            <a:solidFill>
              <a:srgbClr val="F7EDD6"/>
            </a:solidFill>
            <a:prstDash val="solid"/>
          </a:ln>
        </p:spPr>
      </p:sp>
      <p:sp>
        <p:nvSpPr>
          <p:cNvPr id="12" name="Text 10"/>
          <p:cNvSpPr txBox="1"/>
          <p:nvPr/>
        </p:nvSpPr>
        <p:spPr>
          <a:xfrm>
            <a:off x="2926080" y="3313176"/>
            <a:ext cx="8442655" cy="310896"/>
          </a:xfrm>
          <a:prstGeom prst="rect">
            <a:avLst/>
          </a:prstGeom>
          <a:noFill/>
          <a:ln/>
        </p:spPr>
        <p:txBody>
          <a:bodyPr wrap="square" lIns="0" tIns="0" rIns="0" bIns="0" rtlCol="0" anchor="ctr"/>
          <a:lstStyle/>
          <a:p>
            <a:pPr indent="0" marL="0">
              <a:buNone/>
            </a:pPr>
            <a:r>
              <a:rPr lang="en-US" sz="1500" b="1" dirty="0">
                <a:solidFill>
                  <a:srgbClr val="16262E"/>
                </a:solidFill>
                <a:latin typeface="Arial" pitchFamily="34" charset="0"/>
                <a:ea typeface="Arial" pitchFamily="34" charset="-122"/>
                <a:cs typeface="Arial" pitchFamily="34" charset="-120"/>
              </a:rPr>
              <a:t>Amarillo. Interno de trabajo</a:t>
            </a:r>
            <a:endParaRPr lang="en-US" sz="1500" dirty="0"/>
          </a:p>
        </p:txBody>
      </p:sp>
      <p:sp>
        <p:nvSpPr>
          <p:cNvPr id="13" name="Text 11"/>
          <p:cNvSpPr txBox="1"/>
          <p:nvPr/>
        </p:nvSpPr>
        <p:spPr>
          <a:xfrm>
            <a:off x="2926080" y="3660648"/>
            <a:ext cx="8442655" cy="515112"/>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Borradores, minutas, notas, análisis preliminares. Sin datos personales ni información reservada. Solo en Copilot: es la única con contrato del Instituto.</a:t>
            </a:r>
            <a:endParaRPr lang="en-US" sz="1250" dirty="0"/>
          </a:p>
        </p:txBody>
      </p:sp>
      <p:sp>
        <p:nvSpPr>
          <p:cNvPr id="14" name="Shape 12"/>
          <p:cNvSpPr/>
          <p:nvPr/>
        </p:nvSpPr>
        <p:spPr>
          <a:xfrm>
            <a:off x="2670048" y="4431792"/>
            <a:ext cx="8954719" cy="1173480"/>
          </a:xfrm>
          <a:prstGeom prst="roundRect">
            <a:avLst>
              <a:gd name="adj" fmla="val 6234"/>
            </a:avLst>
          </a:prstGeom>
          <a:solidFill>
            <a:srgbClr val="F2DEDE"/>
          </a:solidFill>
          <a:ln w="12700">
            <a:solidFill>
              <a:srgbClr val="F2DEDE"/>
            </a:solidFill>
            <a:prstDash val="solid"/>
          </a:ln>
        </p:spPr>
      </p:sp>
      <p:sp>
        <p:nvSpPr>
          <p:cNvPr id="15" name="Text 13"/>
          <p:cNvSpPr txBox="1"/>
          <p:nvPr/>
        </p:nvSpPr>
        <p:spPr>
          <a:xfrm>
            <a:off x="2926080" y="4578096"/>
            <a:ext cx="8442655" cy="310896"/>
          </a:xfrm>
          <a:prstGeom prst="rect">
            <a:avLst/>
          </a:prstGeom>
          <a:noFill/>
          <a:ln/>
        </p:spPr>
        <p:txBody>
          <a:bodyPr wrap="square" lIns="0" tIns="0" rIns="0" bIns="0" rtlCol="0" anchor="ctr"/>
          <a:lstStyle/>
          <a:p>
            <a:pPr indent="0" marL="0">
              <a:buNone/>
            </a:pPr>
            <a:r>
              <a:rPr lang="en-US" sz="1500" b="1" dirty="0">
                <a:solidFill>
                  <a:srgbClr val="16262E"/>
                </a:solidFill>
                <a:latin typeface="Arial" pitchFamily="34" charset="0"/>
                <a:ea typeface="Arial" pitchFamily="34" charset="-122"/>
                <a:cs typeface="Arial" pitchFamily="34" charset="-120"/>
              </a:rPr>
              <a:t>Rojo. Confidencial o personal</a:t>
            </a:r>
            <a:endParaRPr lang="en-US" sz="1500" dirty="0"/>
          </a:p>
        </p:txBody>
      </p:sp>
      <p:sp>
        <p:nvSpPr>
          <p:cNvPr id="16" name="Text 14"/>
          <p:cNvSpPr txBox="1"/>
          <p:nvPr/>
        </p:nvSpPr>
        <p:spPr>
          <a:xfrm>
            <a:off x="2926080" y="4925568"/>
            <a:ext cx="8442655" cy="515112"/>
          </a:xfrm>
          <a:prstGeom prst="rect">
            <a:avLst/>
          </a:prstGeom>
          <a:noFill/>
          <a:ln/>
        </p:spPr>
        <p:txBody>
          <a:bodyPr wrap="square" lIns="0" tIns="0" rIns="0" bIns="0" rtlCol="0" anchor="t"/>
          <a:lstStyle/>
          <a:p>
            <a:pPr indent="0" marL="0">
              <a:lnSpc>
                <a:spcPct val="110000"/>
              </a:lnSpc>
              <a:buNone/>
            </a:pPr>
            <a:r>
              <a:rPr lang="en-US" sz="1250" dirty="0">
                <a:solidFill>
                  <a:srgbClr val="16262E"/>
                </a:solidFill>
                <a:latin typeface="Calibri" pitchFamily="34" charset="0"/>
                <a:ea typeface="Calibri" pitchFamily="34" charset="-122"/>
                <a:cs typeface="Calibri" pitchFamily="34" charset="-120"/>
              </a:rPr>
              <a:t>Padrones con nombres o CURP, microdatos identificables, información bajo reserva. Ni en Copilot ni en las gratuitas. Si lo necesitas, primero lo enmascaras.</a:t>
            </a:r>
            <a:endParaRPr lang="en-US" sz="1250" dirty="0"/>
          </a:p>
        </p:txBody>
      </p:sp>
      <p:sp>
        <p:nvSpPr>
          <p:cNvPr id="17" name="Text 15"/>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El Instituto todavía no tiene lineamientos propios sobre uso de IA. Mientras no los haya, esta es la regla del curso.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Qué hace cada herramienta con lo que le das</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La diferencia entre las ocho no es de calidad. Es de contrato.</a:t>
            </a:r>
            <a:endParaRPr lang="en-US" sz="1500" dirty="0"/>
          </a:p>
        </p:txBody>
      </p:sp>
      <p:sp>
        <p:nvSpPr>
          <p:cNvPr id="4" name="Shape 2"/>
          <p:cNvSpPr/>
          <p:nvPr/>
        </p:nvSpPr>
        <p:spPr>
          <a:xfrm>
            <a:off x="566928" y="1810512"/>
            <a:ext cx="5364328" cy="3392424"/>
          </a:xfrm>
          <a:prstGeom prst="roundRect">
            <a:avLst>
              <a:gd name="adj" fmla="val 2156"/>
            </a:avLst>
          </a:prstGeom>
          <a:solidFill>
            <a:srgbClr val="D7E7E7"/>
          </a:solidFill>
          <a:ln w="12700">
            <a:solidFill>
              <a:srgbClr val="D7E7E7"/>
            </a:solidFill>
            <a:prstDash val="solid"/>
          </a:ln>
        </p:spPr>
      </p:sp>
      <p:sp>
        <p:nvSpPr>
          <p:cNvPr id="5" name="Shape 3"/>
          <p:cNvSpPr/>
          <p:nvPr/>
        </p:nvSpPr>
        <p:spPr>
          <a:xfrm>
            <a:off x="566928" y="1810512"/>
            <a:ext cx="5364328" cy="658368"/>
          </a:xfrm>
          <a:prstGeom prst="roundRect">
            <a:avLst>
              <a:gd name="adj" fmla="val 11111"/>
            </a:avLst>
          </a:prstGeom>
          <a:solidFill>
            <a:srgbClr val="2E7D7D"/>
          </a:solidFill>
          <a:ln w="12700">
            <a:solidFill>
              <a:srgbClr val="2E7D7D"/>
            </a:solidFill>
            <a:prstDash val="solid"/>
          </a:ln>
        </p:spPr>
      </p:sp>
      <p:sp>
        <p:nvSpPr>
          <p:cNvPr id="6" name="Shape 4"/>
          <p:cNvSpPr/>
          <p:nvPr/>
        </p:nvSpPr>
        <p:spPr>
          <a:xfrm>
            <a:off x="566928" y="2176272"/>
            <a:ext cx="5364328" cy="292608"/>
          </a:xfrm>
          <a:prstGeom prst="rect">
            <a:avLst/>
          </a:prstGeom>
          <a:solidFill>
            <a:srgbClr val="2E7D7D"/>
          </a:solidFill>
          <a:ln w="12700">
            <a:solidFill>
              <a:srgbClr val="2E7D7D"/>
            </a:solidFill>
            <a:prstDash val="solid"/>
          </a:ln>
        </p:spPr>
      </p:sp>
      <p:sp>
        <p:nvSpPr>
          <p:cNvPr id="7" name="Text 5"/>
          <p:cNvSpPr txBox="1"/>
          <p:nvPr/>
        </p:nvSpPr>
        <p:spPr>
          <a:xfrm>
            <a:off x="822960"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Copilot: no hay nada que apagar</a:t>
            </a:r>
            <a:endParaRPr lang="en-US" sz="1700" dirty="0"/>
          </a:p>
        </p:txBody>
      </p:sp>
      <p:sp>
        <p:nvSpPr>
          <p:cNvPr id="8" name="Text 6"/>
          <p:cNvSpPr txBox="1"/>
          <p:nvPr/>
        </p:nvSpPr>
        <p:spPr>
          <a:xfrm>
            <a:off x="822960" y="2679192"/>
            <a:ext cx="4852264" cy="2295144"/>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Microsoft 365 Copilot es la única con contrato del Instituto.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Microsoft se compromete por escrito a que tus prompts, sus respuestas y los archivos que Copilot lee no se usan para entrenar sus modelos. No es una opción que puedas prender o apagar: viene en el contrato.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Con una condición, y es la que importa: eso aplica solo mientras estés dentro de tu cuenta institucional. Si abres Copilot sin iniciar sesión con tu cuenta del INEGI, sales del contrato.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Tu tarea de hoy: verificar que entraste con tu cuenta del Instituto.</a:t>
            </a:r>
            <a:endParaRPr lang="en-US" sz="1400" dirty="0"/>
          </a:p>
        </p:txBody>
      </p:sp>
      <p:sp>
        <p:nvSpPr>
          <p:cNvPr id="9" name="Shape 7"/>
          <p:cNvSpPr/>
          <p:nvPr/>
        </p:nvSpPr>
        <p:spPr>
          <a:xfrm>
            <a:off x="6260440" y="1810512"/>
            <a:ext cx="5364328" cy="3392424"/>
          </a:xfrm>
          <a:prstGeom prst="roundRect">
            <a:avLst>
              <a:gd name="adj" fmla="val 2156"/>
            </a:avLst>
          </a:prstGeom>
          <a:solidFill>
            <a:srgbClr val="F7E4D8"/>
          </a:solidFill>
          <a:ln w="12700">
            <a:solidFill>
              <a:srgbClr val="F7E4D8"/>
            </a:solidFill>
            <a:prstDash val="solid"/>
          </a:ln>
        </p:spPr>
      </p:sp>
      <p:sp>
        <p:nvSpPr>
          <p:cNvPr id="10" name="Shape 8"/>
          <p:cNvSpPr/>
          <p:nvPr/>
        </p:nvSpPr>
        <p:spPr>
          <a:xfrm>
            <a:off x="6260440" y="1810512"/>
            <a:ext cx="5364328" cy="658368"/>
          </a:xfrm>
          <a:prstGeom prst="roundRect">
            <a:avLst>
              <a:gd name="adj" fmla="val 11111"/>
            </a:avLst>
          </a:prstGeom>
          <a:solidFill>
            <a:srgbClr val="C85A28"/>
          </a:solidFill>
          <a:ln w="12700">
            <a:solidFill>
              <a:srgbClr val="C85A28"/>
            </a:solidFill>
            <a:prstDash val="solid"/>
          </a:ln>
        </p:spPr>
      </p:sp>
      <p:sp>
        <p:nvSpPr>
          <p:cNvPr id="11" name="Shape 9"/>
          <p:cNvSpPr/>
          <p:nvPr/>
        </p:nvSpPr>
        <p:spPr>
          <a:xfrm>
            <a:off x="6260440" y="2176272"/>
            <a:ext cx="5364328" cy="292608"/>
          </a:xfrm>
          <a:prstGeom prst="rect">
            <a:avLst/>
          </a:prstGeom>
          <a:solidFill>
            <a:srgbClr val="C85A28"/>
          </a:solidFill>
          <a:ln w="12700">
            <a:solidFill>
              <a:srgbClr val="C85A28"/>
            </a:solidFill>
            <a:prstDash val="solid"/>
          </a:ln>
        </p:spPr>
      </p:sp>
      <p:sp>
        <p:nvSpPr>
          <p:cNvPr id="12" name="Text 10"/>
          <p:cNvSpPr txBox="1"/>
          <p:nvPr/>
        </p:nvSpPr>
        <p:spPr>
          <a:xfrm>
            <a:off x="6516472" y="1810512"/>
            <a:ext cx="4852264" cy="65836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Las otras siete: sí hay que apagarlo</a:t>
            </a:r>
            <a:endParaRPr lang="en-US" sz="1700" dirty="0"/>
          </a:p>
        </p:txBody>
      </p:sp>
      <p:sp>
        <p:nvSpPr>
          <p:cNvPr id="13" name="Text 11"/>
          <p:cNvSpPr txBox="1"/>
          <p:nvPr/>
        </p:nvSpPr>
        <p:spPr>
          <a:xfrm>
            <a:off x="6516472" y="2679192"/>
            <a:ext cx="4852264" cy="2295144"/>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ChatGPT, Claude, Gemini, Perplexity, You.com, Elicit y Consensus.</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Ninguna tiene contrato con el Instituto. Todas las vas a usar con su plan gratuito.</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En plan gratuito, estas herramientas usan tus conversaciones para entrenar sus modelos, salvo que tú lo apagues. Viene prendido de fábrica.</a:t>
            </a:r>
            <a:endParaRPr lang="en-US" sz="1400" dirty="0"/>
          </a:p>
          <a:p>
            <a:pPr indent="0" marL="0">
              <a:lnSpc>
                <a:spcPct val="115000"/>
              </a:lnSpc>
              <a:spcAft>
                <a:spcPts val="600"/>
              </a:spcAft>
              <a:buNone/>
            </a:pPr>
            <a:r>
              <a:rPr lang="en-US" sz="1400" dirty="0">
                <a:solidFill>
                  <a:srgbClr val="16262E"/>
                </a:solidFill>
                <a:latin typeface="Calibri" pitchFamily="34" charset="0"/>
                <a:ea typeface="Calibri" pitchFamily="34" charset="-122"/>
                <a:cs typeface="Calibri" pitchFamily="34" charset="-120"/>
              </a:rPr>
              <a:t>Tu tarea: apagarlo en cada una, el día que la abras por primera vez.</a:t>
            </a:r>
            <a:endParaRPr lang="en-US" sz="1400" dirty="0"/>
          </a:p>
        </p:txBody>
      </p:sp>
      <p:sp>
        <p:nvSpPr>
          <p:cNvPr id="14" name="Text 12"/>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000" dirty="0">
                <a:solidFill>
                  <a:srgbClr val="5A6B73"/>
                </a:solidFill>
                <a:latin typeface="Calibri" pitchFamily="34" charset="0"/>
                <a:ea typeface="Calibri" pitchFamily="34" charset="-122"/>
                <a:cs typeface="Calibri" pitchFamily="34" charset="-120"/>
              </a:rPr>
              <a:t>Aunque apagues el entrenamiento, esas siete siguen siendo solo para información verde. Apagarlo reduce un riesgo, no cambia el semáforo.</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7E7E7"/>
        </a:solidFill>
      </p:bgPr>
    </p:bg>
    <p:spTree>
      <p:nvGrpSpPr>
        <p:cNvPr id="1" name=""/>
        <p:cNvGrpSpPr/>
        <p:nvPr/>
      </p:nvGrpSpPr>
      <p:grpSpPr>
        <a:xfrm>
          <a:off x="0" y="0"/>
          <a:ext cx="0" cy="0"/>
          <a:chOff x="0" y="0"/>
          <a:chExt cx="0" cy="0"/>
        </a:xfrm>
      </p:grpSpPr>
      <p:sp>
        <p:nvSpPr>
          <p:cNvPr id="2" name="Shape 0"/>
          <p:cNvSpPr/>
          <p:nvPr/>
        </p:nvSpPr>
        <p:spPr>
          <a:xfrm>
            <a:off x="566928" y="457200"/>
            <a:ext cx="2788920" cy="457200"/>
          </a:xfrm>
          <a:prstGeom prst="roundRect">
            <a:avLst>
              <a:gd name="adj" fmla="val 50000"/>
            </a:avLst>
          </a:prstGeom>
          <a:solidFill>
            <a:srgbClr val="2E7D7D"/>
          </a:solidFill>
          <a:ln w="12700">
            <a:solidFill>
              <a:srgbClr val="2E7D7D"/>
            </a:solidFill>
            <a:prstDash val="solid"/>
          </a:ln>
        </p:spPr>
      </p:sp>
      <p:sp>
        <p:nvSpPr>
          <p:cNvPr id="3" name="Text 1"/>
          <p:cNvSpPr txBox="1"/>
          <p:nvPr/>
        </p:nvSpPr>
        <p:spPr>
          <a:xfrm>
            <a:off x="566928" y="457200"/>
            <a:ext cx="2788920" cy="45720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TU TURNO</a:t>
            </a:r>
            <a:endParaRPr lang="en-US" sz="1300" dirty="0"/>
          </a:p>
        </p:txBody>
      </p:sp>
      <p:sp>
        <p:nvSpPr>
          <p:cNvPr id="4" name="Shape 2"/>
          <p:cNvSpPr/>
          <p:nvPr/>
        </p:nvSpPr>
        <p:spPr>
          <a:xfrm>
            <a:off x="9704527" y="457200"/>
            <a:ext cx="1920240" cy="457200"/>
          </a:xfrm>
          <a:prstGeom prst="roundRect">
            <a:avLst>
              <a:gd name="adj" fmla="val 50000"/>
            </a:avLst>
          </a:prstGeom>
          <a:solidFill>
            <a:srgbClr val="C85A28"/>
          </a:solidFill>
          <a:ln w="12700">
            <a:solidFill>
              <a:srgbClr val="C85A28"/>
            </a:solidFill>
            <a:prstDash val="solid"/>
          </a:ln>
        </p:spPr>
      </p:sp>
      <p:sp>
        <p:nvSpPr>
          <p:cNvPr id="5" name="Text 3"/>
          <p:cNvSpPr txBox="1"/>
          <p:nvPr/>
        </p:nvSpPr>
        <p:spPr>
          <a:xfrm>
            <a:off x="9704527" y="457200"/>
            <a:ext cx="1920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 minutos</a:t>
            </a:r>
            <a:endParaRPr lang="en-US" sz="1300" dirty="0"/>
          </a:p>
        </p:txBody>
      </p:sp>
      <p:sp>
        <p:nvSpPr>
          <p:cNvPr id="6" name="Text 4"/>
          <p:cNvSpPr txBox="1"/>
          <p:nvPr/>
        </p:nvSpPr>
        <p:spPr>
          <a:xfrm>
            <a:off x="566928" y="1078992"/>
            <a:ext cx="11057839" cy="685800"/>
          </a:xfrm>
          <a:prstGeom prst="rect">
            <a:avLst/>
          </a:prstGeom>
          <a:noFill/>
          <a:ln/>
        </p:spPr>
        <p:txBody>
          <a:bodyPr wrap="square" lIns="0" tIns="0" rIns="0" bIns="0" rtlCol="0" anchor="ctr"/>
          <a:lstStyle/>
          <a:p>
            <a:pPr indent="0" marL="0">
              <a:buNone/>
            </a:pPr>
            <a:r>
              <a:rPr lang="en-US" sz="2900" b="1" dirty="0">
                <a:solidFill>
                  <a:srgbClr val="16262E"/>
                </a:solidFill>
                <a:latin typeface="Arial" pitchFamily="34" charset="0"/>
                <a:ea typeface="Arial" pitchFamily="34" charset="-122"/>
                <a:cs typeface="Arial" pitchFamily="34" charset="-120"/>
              </a:rPr>
              <a:t>Apaga el entrenamiento antes de subir nada</a:t>
            </a:r>
            <a:endParaRPr lang="en-US" sz="2900" dirty="0"/>
          </a:p>
        </p:txBody>
      </p:sp>
      <p:sp>
        <p:nvSpPr>
          <p:cNvPr id="7" name="Shape 5"/>
          <p:cNvSpPr/>
          <p:nvPr/>
        </p:nvSpPr>
        <p:spPr>
          <a:xfrm>
            <a:off x="566928" y="1920240"/>
            <a:ext cx="11057839" cy="628650"/>
          </a:xfrm>
          <a:prstGeom prst="roundRect">
            <a:avLst>
              <a:gd name="adj" fmla="val 10182"/>
            </a:avLst>
          </a:prstGeom>
          <a:solidFill>
            <a:srgbClr val="FFFFFF"/>
          </a:solidFill>
          <a:ln w="12700">
            <a:solidFill>
              <a:srgbClr val="FFFFFF"/>
            </a:solidFill>
            <a:prstDash val="solid"/>
          </a:ln>
        </p:spPr>
      </p:sp>
      <p:sp>
        <p:nvSpPr>
          <p:cNvPr id="8" name="Shape 6"/>
          <p:cNvSpPr/>
          <p:nvPr/>
        </p:nvSpPr>
        <p:spPr>
          <a:xfrm>
            <a:off x="786384" y="2024253"/>
            <a:ext cx="420624" cy="420624"/>
          </a:xfrm>
          <a:prstGeom prst="ellipse">
            <a:avLst/>
          </a:prstGeom>
          <a:solidFill>
            <a:srgbClr val="2E7D7D"/>
          </a:solidFill>
          <a:ln w="12700">
            <a:solidFill>
              <a:srgbClr val="2E7D7D"/>
            </a:solidFill>
            <a:prstDash val="solid"/>
          </a:ln>
        </p:spPr>
      </p:sp>
      <p:sp>
        <p:nvSpPr>
          <p:cNvPr id="9" name="Text 7"/>
          <p:cNvSpPr txBox="1"/>
          <p:nvPr/>
        </p:nvSpPr>
        <p:spPr>
          <a:xfrm>
            <a:off x="786384" y="202425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08176" y="201168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Primero Copilot: solo verifica que entraste con tu cuenta del Instituto. Ahí no hay nada que apagar.</a:t>
            </a:r>
            <a:endParaRPr lang="en-US" sz="1450" dirty="0"/>
          </a:p>
        </p:txBody>
      </p:sp>
      <p:sp>
        <p:nvSpPr>
          <p:cNvPr id="11" name="Shape 9"/>
          <p:cNvSpPr/>
          <p:nvPr/>
        </p:nvSpPr>
        <p:spPr>
          <a:xfrm>
            <a:off x="566928" y="2731770"/>
            <a:ext cx="11057839" cy="628650"/>
          </a:xfrm>
          <a:prstGeom prst="roundRect">
            <a:avLst>
              <a:gd name="adj" fmla="val 10182"/>
            </a:avLst>
          </a:prstGeom>
          <a:solidFill>
            <a:srgbClr val="FFFFFF"/>
          </a:solidFill>
          <a:ln w="12700">
            <a:solidFill>
              <a:srgbClr val="FFFFFF"/>
            </a:solidFill>
            <a:prstDash val="solid"/>
          </a:ln>
        </p:spPr>
      </p:sp>
      <p:sp>
        <p:nvSpPr>
          <p:cNvPr id="12" name="Shape 10"/>
          <p:cNvSpPr/>
          <p:nvPr/>
        </p:nvSpPr>
        <p:spPr>
          <a:xfrm>
            <a:off x="786384" y="2835783"/>
            <a:ext cx="420624" cy="420624"/>
          </a:xfrm>
          <a:prstGeom prst="ellipse">
            <a:avLst/>
          </a:prstGeom>
          <a:solidFill>
            <a:srgbClr val="2E7D7D"/>
          </a:solidFill>
          <a:ln w="12700">
            <a:solidFill>
              <a:srgbClr val="2E7D7D"/>
            </a:solidFill>
            <a:prstDash val="solid"/>
          </a:ln>
        </p:spPr>
      </p:sp>
      <p:sp>
        <p:nvSpPr>
          <p:cNvPr id="13" name="Text 11"/>
          <p:cNvSpPr txBox="1"/>
          <p:nvPr/>
        </p:nvSpPr>
        <p:spPr>
          <a:xfrm>
            <a:off x="786384" y="283578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408176" y="282321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Ahora ChatGPT, que es la que más vas a usar de las siete. Entra a su configuración y busca la sección de datos, privacidad o controles de datos.</a:t>
            </a:r>
            <a:endParaRPr lang="en-US" sz="1450" dirty="0"/>
          </a:p>
        </p:txBody>
      </p:sp>
      <p:sp>
        <p:nvSpPr>
          <p:cNvPr id="15" name="Shape 13"/>
          <p:cNvSpPr/>
          <p:nvPr/>
        </p:nvSpPr>
        <p:spPr>
          <a:xfrm>
            <a:off x="566928" y="3543300"/>
            <a:ext cx="11057839" cy="628650"/>
          </a:xfrm>
          <a:prstGeom prst="roundRect">
            <a:avLst>
              <a:gd name="adj" fmla="val 10182"/>
            </a:avLst>
          </a:prstGeom>
          <a:solidFill>
            <a:srgbClr val="FFFFFF"/>
          </a:solidFill>
          <a:ln w="12700">
            <a:solidFill>
              <a:srgbClr val="FFFFFF"/>
            </a:solidFill>
            <a:prstDash val="solid"/>
          </a:ln>
        </p:spPr>
      </p:sp>
      <p:sp>
        <p:nvSpPr>
          <p:cNvPr id="16" name="Shape 14"/>
          <p:cNvSpPr/>
          <p:nvPr/>
        </p:nvSpPr>
        <p:spPr>
          <a:xfrm>
            <a:off x="786384" y="3647313"/>
            <a:ext cx="420624" cy="420624"/>
          </a:xfrm>
          <a:prstGeom prst="ellipse">
            <a:avLst/>
          </a:prstGeom>
          <a:solidFill>
            <a:srgbClr val="2E7D7D"/>
          </a:solidFill>
          <a:ln w="12700">
            <a:solidFill>
              <a:srgbClr val="2E7D7D"/>
            </a:solidFill>
            <a:prstDash val="solid"/>
          </a:ln>
        </p:spPr>
      </p:sp>
      <p:sp>
        <p:nvSpPr>
          <p:cNvPr id="17" name="Text 15"/>
          <p:cNvSpPr txBox="1"/>
          <p:nvPr/>
        </p:nvSpPr>
        <p:spPr>
          <a:xfrm>
            <a:off x="786384" y="364731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408176" y="363474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Apaga la opción de mejorar el modelo. El nombre del menú cambia entre herramientas y cambia seguido, pero la opción es siempre la misma.</a:t>
            </a:r>
            <a:endParaRPr lang="en-US" sz="1450" dirty="0"/>
          </a:p>
        </p:txBody>
      </p:sp>
      <p:sp>
        <p:nvSpPr>
          <p:cNvPr id="19" name="Shape 17"/>
          <p:cNvSpPr/>
          <p:nvPr/>
        </p:nvSpPr>
        <p:spPr>
          <a:xfrm>
            <a:off x="566928" y="4354830"/>
            <a:ext cx="11057839" cy="628650"/>
          </a:xfrm>
          <a:prstGeom prst="roundRect">
            <a:avLst>
              <a:gd name="adj" fmla="val 10182"/>
            </a:avLst>
          </a:prstGeom>
          <a:solidFill>
            <a:srgbClr val="FFFFFF"/>
          </a:solidFill>
          <a:ln w="12700">
            <a:solidFill>
              <a:srgbClr val="FFFFFF"/>
            </a:solidFill>
            <a:prstDash val="solid"/>
          </a:ln>
        </p:spPr>
      </p:sp>
      <p:sp>
        <p:nvSpPr>
          <p:cNvPr id="20" name="Shape 18"/>
          <p:cNvSpPr/>
          <p:nvPr/>
        </p:nvSpPr>
        <p:spPr>
          <a:xfrm>
            <a:off x="786384" y="4458843"/>
            <a:ext cx="420624" cy="420624"/>
          </a:xfrm>
          <a:prstGeom prst="ellipse">
            <a:avLst/>
          </a:prstGeom>
          <a:solidFill>
            <a:srgbClr val="2E7D7D"/>
          </a:solidFill>
          <a:ln w="12700">
            <a:solidFill>
              <a:srgbClr val="2E7D7D"/>
            </a:solidFill>
            <a:prstDash val="solid"/>
          </a:ln>
        </p:spPr>
      </p:sp>
      <p:sp>
        <p:nvSpPr>
          <p:cNvPr id="21" name="Text 19"/>
          <p:cNvSpPr txBox="1"/>
          <p:nvPr/>
        </p:nvSpPr>
        <p:spPr>
          <a:xfrm>
            <a:off x="786384" y="445884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408176" y="444627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Con las otras seis, hazlo el día que las abras por primera vez. Anota en tu bitácora cuál apagaste y cuándo.</a:t>
            </a:r>
            <a:endParaRPr lang="en-US" sz="1450" dirty="0"/>
          </a:p>
        </p:txBody>
      </p:sp>
      <p:sp>
        <p:nvSpPr>
          <p:cNvPr id="23" name="Shape 21"/>
          <p:cNvSpPr/>
          <p:nvPr/>
        </p:nvSpPr>
        <p:spPr>
          <a:xfrm>
            <a:off x="566928" y="5193792"/>
            <a:ext cx="11057839" cy="777240"/>
          </a:xfrm>
          <a:prstGeom prst="roundRect">
            <a:avLst>
              <a:gd name="adj" fmla="val 8235"/>
            </a:avLst>
          </a:prstGeom>
          <a:solidFill>
            <a:srgbClr val="16262E"/>
          </a:solidFill>
          <a:ln w="12700">
            <a:solidFill>
              <a:srgbClr val="16262E"/>
            </a:solidFill>
            <a:prstDash val="solid"/>
          </a:ln>
        </p:spPr>
      </p:sp>
      <p:sp>
        <p:nvSpPr>
          <p:cNvPr id="24" name="Text 22"/>
          <p:cNvSpPr txBox="1"/>
          <p:nvPr/>
        </p:nvSpPr>
        <p:spPr>
          <a:xfrm>
            <a:off x="841248" y="5193792"/>
            <a:ext cx="10509199"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 en alguna no encuentras la opción, anótalo y no subas nada a esa herramienta hasta encontrarla.</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4</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MARCO DE TRAZABILIDAD</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De dónde salió esto</a:t>
            </a:r>
            <a:endParaRPr lang="en-US" sz="3400" dirty="0"/>
          </a:p>
        </p:txBody>
      </p:sp>
      <p:sp>
        <p:nvSpPr>
          <p:cNvPr id="6" name="Shape 4"/>
          <p:cNvSpPr/>
          <p:nvPr/>
        </p:nvSpPr>
        <p:spPr>
          <a:xfrm>
            <a:off x="9338767" y="457200"/>
            <a:ext cx="2286000"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338767" y="457200"/>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10:44 a 10:56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Tres piezas, una sola pregunta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Es la parte de la transparencia que te toca a ti como quien produce el trabajo.</a:t>
            </a:r>
            <a:endParaRPr lang="en-US" sz="1500" dirty="0"/>
          </a:p>
        </p:txBody>
      </p:sp>
      <p:sp>
        <p:nvSpPr>
          <p:cNvPr id="4" name="Shape 2"/>
          <p:cNvSpPr/>
          <p:nvPr/>
        </p:nvSpPr>
        <p:spPr>
          <a:xfrm>
            <a:off x="566928" y="2011680"/>
            <a:ext cx="3503066" cy="2724912"/>
          </a:xfrm>
          <a:prstGeom prst="roundRect">
            <a:avLst>
              <a:gd name="adj" fmla="val 2685"/>
            </a:avLst>
          </a:prstGeom>
          <a:solidFill>
            <a:srgbClr val="F2F5F6"/>
          </a:solidFill>
          <a:ln w="12700">
            <a:solidFill>
              <a:srgbClr val="F2F5F6"/>
            </a:solidFill>
            <a:prstDash val="solid"/>
          </a:ln>
        </p:spPr>
      </p:sp>
      <p:sp>
        <p:nvSpPr>
          <p:cNvPr id="5" name="Shape 3"/>
          <p:cNvSpPr/>
          <p:nvPr/>
        </p:nvSpPr>
        <p:spPr>
          <a:xfrm>
            <a:off x="804672" y="2231136"/>
            <a:ext cx="420624" cy="420624"/>
          </a:xfrm>
          <a:prstGeom prst="ellipse">
            <a:avLst/>
          </a:prstGeom>
          <a:solidFill>
            <a:srgbClr val="2E7D7D"/>
          </a:solidFill>
          <a:ln w="12700">
            <a:solidFill>
              <a:srgbClr val="2E7D7D"/>
            </a:solidFill>
            <a:prstDash val="solid"/>
          </a:ln>
        </p:spPr>
      </p:sp>
      <p:sp>
        <p:nvSpPr>
          <p:cNvPr id="6" name="Text 4"/>
          <p:cNvSpPr txBox="1"/>
          <p:nvPr/>
        </p:nvSpPr>
        <p:spPr>
          <a:xfrm>
            <a:off x="804672"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804672"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Registro de lo que pediste</a:t>
            </a:r>
            <a:endParaRPr lang="en-US" sz="1600" dirty="0"/>
          </a:p>
        </p:txBody>
      </p:sp>
      <p:sp>
        <p:nvSpPr>
          <p:cNvPr id="8" name="Text 6"/>
          <p:cNvSpPr txBox="1"/>
          <p:nvPr/>
        </p:nvSpPr>
        <p:spPr>
          <a:xfrm>
            <a:off x="804672" y="3263392"/>
            <a:ext cx="3027578"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Tu bitácora: qué le pediste al modelo y qué te contestó. Como no repite, sin bitácora no puedes reconstruir nada.</a:t>
            </a:r>
            <a:endParaRPr lang="en-US" sz="1300" dirty="0"/>
          </a:p>
        </p:txBody>
      </p:sp>
      <p:sp>
        <p:nvSpPr>
          <p:cNvPr id="9" name="Shape 7"/>
          <p:cNvSpPr/>
          <p:nvPr/>
        </p:nvSpPr>
        <p:spPr>
          <a:xfrm>
            <a:off x="4344314" y="2011680"/>
            <a:ext cx="3503066" cy="2724912"/>
          </a:xfrm>
          <a:prstGeom prst="roundRect">
            <a:avLst>
              <a:gd name="adj" fmla="val 2685"/>
            </a:avLst>
          </a:prstGeom>
          <a:solidFill>
            <a:srgbClr val="F2F5F6"/>
          </a:solidFill>
          <a:ln w="12700">
            <a:solidFill>
              <a:srgbClr val="F2F5F6"/>
            </a:solidFill>
            <a:prstDash val="solid"/>
          </a:ln>
        </p:spPr>
      </p:sp>
      <p:sp>
        <p:nvSpPr>
          <p:cNvPr id="10" name="Shape 8"/>
          <p:cNvSpPr/>
          <p:nvPr/>
        </p:nvSpPr>
        <p:spPr>
          <a:xfrm>
            <a:off x="4582058" y="2231136"/>
            <a:ext cx="420624" cy="420624"/>
          </a:xfrm>
          <a:prstGeom prst="ellipse">
            <a:avLst/>
          </a:prstGeom>
          <a:solidFill>
            <a:srgbClr val="2E7D7D"/>
          </a:solidFill>
          <a:ln w="12700">
            <a:solidFill>
              <a:srgbClr val="2E7D7D"/>
            </a:solidFill>
            <a:prstDash val="solid"/>
          </a:ln>
        </p:spPr>
      </p:sp>
      <p:sp>
        <p:nvSpPr>
          <p:cNvPr id="11" name="Text 9"/>
          <p:cNvSpPr txBox="1"/>
          <p:nvPr/>
        </p:nvSpPr>
        <p:spPr>
          <a:xfrm>
            <a:off x="4582058"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582058"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Control de versiones</a:t>
            </a:r>
            <a:endParaRPr lang="en-US" sz="1600" dirty="0"/>
          </a:p>
        </p:txBody>
      </p:sp>
      <p:sp>
        <p:nvSpPr>
          <p:cNvPr id="13" name="Text 11"/>
          <p:cNvSpPr txBox="1"/>
          <p:nvPr/>
        </p:nvSpPr>
        <p:spPr>
          <a:xfrm>
            <a:off x="4582058" y="3263392"/>
            <a:ext cx="3027578"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Guardas los borradores intermedios. Así puedes ver en qué paso se metió un error.</a:t>
            </a:r>
            <a:endParaRPr lang="en-US" sz="1300" dirty="0"/>
          </a:p>
        </p:txBody>
      </p:sp>
      <p:sp>
        <p:nvSpPr>
          <p:cNvPr id="14" name="Shape 12"/>
          <p:cNvSpPr/>
          <p:nvPr/>
        </p:nvSpPr>
        <p:spPr>
          <a:xfrm>
            <a:off x="8121701" y="2011680"/>
            <a:ext cx="3503066" cy="2724912"/>
          </a:xfrm>
          <a:prstGeom prst="roundRect">
            <a:avLst>
              <a:gd name="adj" fmla="val 2685"/>
            </a:avLst>
          </a:prstGeom>
          <a:solidFill>
            <a:srgbClr val="F2F5F6"/>
          </a:solidFill>
          <a:ln w="12700">
            <a:solidFill>
              <a:srgbClr val="F2F5F6"/>
            </a:solidFill>
            <a:prstDash val="solid"/>
          </a:ln>
        </p:spPr>
      </p:sp>
      <p:sp>
        <p:nvSpPr>
          <p:cNvPr id="15" name="Shape 13"/>
          <p:cNvSpPr/>
          <p:nvPr/>
        </p:nvSpPr>
        <p:spPr>
          <a:xfrm>
            <a:off x="8359445" y="2231136"/>
            <a:ext cx="420624" cy="420624"/>
          </a:xfrm>
          <a:prstGeom prst="ellipse">
            <a:avLst/>
          </a:prstGeom>
          <a:solidFill>
            <a:srgbClr val="2E7D7D"/>
          </a:solidFill>
          <a:ln w="12700">
            <a:solidFill>
              <a:srgbClr val="2E7D7D"/>
            </a:solidFill>
            <a:prstDash val="solid"/>
          </a:ln>
        </p:spPr>
      </p:sp>
      <p:sp>
        <p:nvSpPr>
          <p:cNvPr id="16" name="Text 14"/>
          <p:cNvSpPr txBox="1"/>
          <p:nvPr/>
        </p:nvSpPr>
        <p:spPr>
          <a:xfrm>
            <a:off x="8359445" y="2231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59445" y="2798064"/>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Linaje del dato</a:t>
            </a:r>
            <a:endParaRPr lang="en-US" sz="1600" dirty="0"/>
          </a:p>
        </p:txBody>
      </p:sp>
      <p:sp>
        <p:nvSpPr>
          <p:cNvPr id="18" name="Text 16"/>
          <p:cNvSpPr txBox="1"/>
          <p:nvPr/>
        </p:nvSpPr>
        <p:spPr>
          <a:xfrm>
            <a:off x="8359445" y="3263392"/>
            <a:ext cx="3027578" cy="12720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Qué documento y qué sección sostienen cada afirmación. Y si enmascaraste algo, cómo lo hiciste. Lo construyes completo en la sesión 6.</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7E7E7"/>
        </a:solidFill>
      </p:bgPr>
    </p:bg>
    <p:spTree>
      <p:nvGrpSpPr>
        <p:cNvPr id="1" name=""/>
        <p:cNvGrpSpPr/>
        <p:nvPr/>
      </p:nvGrpSpPr>
      <p:grpSpPr>
        <a:xfrm>
          <a:off x="0" y="0"/>
          <a:ext cx="0" cy="0"/>
          <a:chOff x="0" y="0"/>
          <a:chExt cx="0" cy="0"/>
        </a:xfrm>
      </p:grpSpPr>
      <p:sp>
        <p:nvSpPr>
          <p:cNvPr id="2" name="Shape 0"/>
          <p:cNvSpPr/>
          <p:nvPr/>
        </p:nvSpPr>
        <p:spPr>
          <a:xfrm>
            <a:off x="566928" y="457200"/>
            <a:ext cx="2788920" cy="457200"/>
          </a:xfrm>
          <a:prstGeom prst="roundRect">
            <a:avLst>
              <a:gd name="adj" fmla="val 50000"/>
            </a:avLst>
          </a:prstGeom>
          <a:solidFill>
            <a:srgbClr val="2E7D7D"/>
          </a:solidFill>
          <a:ln w="12700">
            <a:solidFill>
              <a:srgbClr val="2E7D7D"/>
            </a:solidFill>
            <a:prstDash val="solid"/>
          </a:ln>
        </p:spPr>
      </p:sp>
      <p:sp>
        <p:nvSpPr>
          <p:cNvPr id="3" name="Text 1"/>
          <p:cNvSpPr txBox="1"/>
          <p:nvPr/>
        </p:nvSpPr>
        <p:spPr>
          <a:xfrm>
            <a:off x="566928" y="457200"/>
            <a:ext cx="2788920" cy="45720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TU TURNO</a:t>
            </a:r>
            <a:endParaRPr lang="en-US" sz="1300" dirty="0"/>
          </a:p>
        </p:txBody>
      </p:sp>
      <p:sp>
        <p:nvSpPr>
          <p:cNvPr id="4" name="Shape 2"/>
          <p:cNvSpPr/>
          <p:nvPr/>
        </p:nvSpPr>
        <p:spPr>
          <a:xfrm>
            <a:off x="9704527" y="457200"/>
            <a:ext cx="1920240" cy="457200"/>
          </a:xfrm>
          <a:prstGeom prst="roundRect">
            <a:avLst>
              <a:gd name="adj" fmla="val 50000"/>
            </a:avLst>
          </a:prstGeom>
          <a:solidFill>
            <a:srgbClr val="C85A28"/>
          </a:solidFill>
          <a:ln w="12700">
            <a:solidFill>
              <a:srgbClr val="C85A28"/>
            </a:solidFill>
            <a:prstDash val="solid"/>
          </a:ln>
        </p:spPr>
      </p:sp>
      <p:sp>
        <p:nvSpPr>
          <p:cNvPr id="5" name="Text 3"/>
          <p:cNvSpPr txBox="1"/>
          <p:nvPr/>
        </p:nvSpPr>
        <p:spPr>
          <a:xfrm>
            <a:off x="9704527" y="457200"/>
            <a:ext cx="1920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 minutos</a:t>
            </a:r>
            <a:endParaRPr lang="en-US" sz="1300" dirty="0"/>
          </a:p>
        </p:txBody>
      </p:sp>
      <p:sp>
        <p:nvSpPr>
          <p:cNvPr id="6" name="Text 4"/>
          <p:cNvSpPr txBox="1"/>
          <p:nvPr/>
        </p:nvSpPr>
        <p:spPr>
          <a:xfrm>
            <a:off x="566928" y="1078992"/>
            <a:ext cx="11057839" cy="685800"/>
          </a:xfrm>
          <a:prstGeom prst="rect">
            <a:avLst/>
          </a:prstGeom>
          <a:noFill/>
          <a:ln/>
        </p:spPr>
        <p:txBody>
          <a:bodyPr wrap="square" lIns="0" tIns="0" rIns="0" bIns="0" rtlCol="0" anchor="ctr"/>
          <a:lstStyle/>
          <a:p>
            <a:pPr indent="0" marL="0">
              <a:buNone/>
            </a:pPr>
            <a:r>
              <a:rPr lang="en-US" sz="2900" b="1" dirty="0">
                <a:solidFill>
                  <a:srgbClr val="16262E"/>
                </a:solidFill>
                <a:latin typeface="Arial" pitchFamily="34" charset="0"/>
                <a:ea typeface="Arial" pitchFamily="34" charset="-122"/>
                <a:cs typeface="Arial" pitchFamily="34" charset="-120"/>
              </a:rPr>
              <a:t>Enmascara un archivo con datos personales</a:t>
            </a:r>
            <a:endParaRPr lang="en-US" sz="2900" dirty="0"/>
          </a:p>
        </p:txBody>
      </p:sp>
      <p:sp>
        <p:nvSpPr>
          <p:cNvPr id="7" name="Shape 5"/>
          <p:cNvSpPr/>
          <p:nvPr/>
        </p:nvSpPr>
        <p:spPr>
          <a:xfrm>
            <a:off x="566928" y="1920240"/>
            <a:ext cx="11057839" cy="628650"/>
          </a:xfrm>
          <a:prstGeom prst="roundRect">
            <a:avLst>
              <a:gd name="adj" fmla="val 10182"/>
            </a:avLst>
          </a:prstGeom>
          <a:solidFill>
            <a:srgbClr val="FFFFFF"/>
          </a:solidFill>
          <a:ln w="12700">
            <a:solidFill>
              <a:srgbClr val="FFFFFF"/>
            </a:solidFill>
            <a:prstDash val="solid"/>
          </a:ln>
        </p:spPr>
      </p:sp>
      <p:sp>
        <p:nvSpPr>
          <p:cNvPr id="8" name="Shape 6"/>
          <p:cNvSpPr/>
          <p:nvPr/>
        </p:nvSpPr>
        <p:spPr>
          <a:xfrm>
            <a:off x="786384" y="2024253"/>
            <a:ext cx="420624" cy="420624"/>
          </a:xfrm>
          <a:prstGeom prst="ellipse">
            <a:avLst/>
          </a:prstGeom>
          <a:solidFill>
            <a:srgbClr val="2E7D7D"/>
          </a:solidFill>
          <a:ln w="12700">
            <a:solidFill>
              <a:srgbClr val="2E7D7D"/>
            </a:solidFill>
            <a:prstDash val="solid"/>
          </a:ln>
        </p:spPr>
      </p:sp>
      <p:sp>
        <p:nvSpPr>
          <p:cNvPr id="9" name="Text 7"/>
          <p:cNvSpPr txBox="1"/>
          <p:nvPr/>
        </p:nvSpPr>
        <p:spPr>
          <a:xfrm>
            <a:off x="786384" y="202425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08176" y="201168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Abre la hoja Padron_sintetico. Tiene nombres, CURP, domicilios, teléfonos y correos.</a:t>
            </a:r>
            <a:endParaRPr lang="en-US" sz="1450" dirty="0"/>
          </a:p>
        </p:txBody>
      </p:sp>
      <p:sp>
        <p:nvSpPr>
          <p:cNvPr id="11" name="Shape 9"/>
          <p:cNvSpPr/>
          <p:nvPr/>
        </p:nvSpPr>
        <p:spPr>
          <a:xfrm>
            <a:off x="566928" y="2731770"/>
            <a:ext cx="11057839" cy="628650"/>
          </a:xfrm>
          <a:prstGeom prst="roundRect">
            <a:avLst>
              <a:gd name="adj" fmla="val 10182"/>
            </a:avLst>
          </a:prstGeom>
          <a:solidFill>
            <a:srgbClr val="FFFFFF"/>
          </a:solidFill>
          <a:ln w="12700">
            <a:solidFill>
              <a:srgbClr val="FFFFFF"/>
            </a:solidFill>
            <a:prstDash val="solid"/>
          </a:ln>
        </p:spPr>
      </p:sp>
      <p:sp>
        <p:nvSpPr>
          <p:cNvPr id="12" name="Shape 10"/>
          <p:cNvSpPr/>
          <p:nvPr/>
        </p:nvSpPr>
        <p:spPr>
          <a:xfrm>
            <a:off x="786384" y="2835783"/>
            <a:ext cx="420624" cy="420624"/>
          </a:xfrm>
          <a:prstGeom prst="ellipse">
            <a:avLst/>
          </a:prstGeom>
          <a:solidFill>
            <a:srgbClr val="2E7D7D"/>
          </a:solidFill>
          <a:ln w="12700">
            <a:solidFill>
              <a:srgbClr val="2E7D7D"/>
            </a:solidFill>
            <a:prstDash val="solid"/>
          </a:ln>
        </p:spPr>
      </p:sp>
      <p:sp>
        <p:nvSpPr>
          <p:cNvPr id="13" name="Text 11"/>
          <p:cNvSpPr txBox="1"/>
          <p:nvPr/>
        </p:nvSpPr>
        <p:spPr>
          <a:xfrm>
            <a:off x="786384" y="283578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408176" y="282321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Cambia la columna de nombre por un número secuencial. La equivalencia se queda en un archivo aparte que nunca sube a ninguna herramienta.</a:t>
            </a:r>
            <a:endParaRPr lang="en-US" sz="1450" dirty="0"/>
          </a:p>
        </p:txBody>
      </p:sp>
      <p:sp>
        <p:nvSpPr>
          <p:cNvPr id="15" name="Shape 13"/>
          <p:cNvSpPr/>
          <p:nvPr/>
        </p:nvSpPr>
        <p:spPr>
          <a:xfrm>
            <a:off x="566928" y="3543300"/>
            <a:ext cx="11057839" cy="628650"/>
          </a:xfrm>
          <a:prstGeom prst="roundRect">
            <a:avLst>
              <a:gd name="adj" fmla="val 10182"/>
            </a:avLst>
          </a:prstGeom>
          <a:solidFill>
            <a:srgbClr val="FFFFFF"/>
          </a:solidFill>
          <a:ln w="12700">
            <a:solidFill>
              <a:srgbClr val="FFFFFF"/>
            </a:solidFill>
            <a:prstDash val="solid"/>
          </a:ln>
        </p:spPr>
      </p:sp>
      <p:sp>
        <p:nvSpPr>
          <p:cNvPr id="16" name="Shape 14"/>
          <p:cNvSpPr/>
          <p:nvPr/>
        </p:nvSpPr>
        <p:spPr>
          <a:xfrm>
            <a:off x="786384" y="3647313"/>
            <a:ext cx="420624" cy="420624"/>
          </a:xfrm>
          <a:prstGeom prst="ellipse">
            <a:avLst/>
          </a:prstGeom>
          <a:solidFill>
            <a:srgbClr val="2E7D7D"/>
          </a:solidFill>
          <a:ln w="12700">
            <a:solidFill>
              <a:srgbClr val="2E7D7D"/>
            </a:solidFill>
            <a:prstDash val="solid"/>
          </a:ln>
        </p:spPr>
      </p:sp>
      <p:sp>
        <p:nvSpPr>
          <p:cNvPr id="17" name="Text 15"/>
          <p:cNvSpPr txBox="1"/>
          <p:nvPr/>
        </p:nvSpPr>
        <p:spPr>
          <a:xfrm>
            <a:off x="786384" y="364731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408176" y="363474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Deja solo el año de nacimiento, y solo el municipio y la entidad. Borra CURP, teléfono y correo.</a:t>
            </a:r>
            <a:endParaRPr lang="en-US" sz="1450" dirty="0"/>
          </a:p>
        </p:txBody>
      </p:sp>
      <p:sp>
        <p:nvSpPr>
          <p:cNvPr id="19" name="Shape 17"/>
          <p:cNvSpPr/>
          <p:nvPr/>
        </p:nvSpPr>
        <p:spPr>
          <a:xfrm>
            <a:off x="566928" y="4354830"/>
            <a:ext cx="11057839" cy="628650"/>
          </a:xfrm>
          <a:prstGeom prst="roundRect">
            <a:avLst>
              <a:gd name="adj" fmla="val 10182"/>
            </a:avLst>
          </a:prstGeom>
          <a:solidFill>
            <a:srgbClr val="FFFFFF"/>
          </a:solidFill>
          <a:ln w="12700">
            <a:solidFill>
              <a:srgbClr val="FFFFFF"/>
            </a:solidFill>
            <a:prstDash val="solid"/>
          </a:ln>
        </p:spPr>
      </p:sp>
      <p:sp>
        <p:nvSpPr>
          <p:cNvPr id="20" name="Shape 18"/>
          <p:cNvSpPr/>
          <p:nvPr/>
        </p:nvSpPr>
        <p:spPr>
          <a:xfrm>
            <a:off x="786384" y="4458843"/>
            <a:ext cx="420624" cy="420624"/>
          </a:xfrm>
          <a:prstGeom prst="ellipse">
            <a:avLst/>
          </a:prstGeom>
          <a:solidFill>
            <a:srgbClr val="2E7D7D"/>
          </a:solidFill>
          <a:ln w="12700">
            <a:solidFill>
              <a:srgbClr val="2E7D7D"/>
            </a:solidFill>
            <a:prstDash val="solid"/>
          </a:ln>
        </p:spPr>
      </p:sp>
      <p:sp>
        <p:nvSpPr>
          <p:cNvPr id="21" name="Text 19"/>
          <p:cNvSpPr txBox="1"/>
          <p:nvPr/>
        </p:nvSpPr>
        <p:spPr>
          <a:xfrm>
            <a:off x="786384" y="445884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408176" y="444627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Lo que queda es una versión verde de un archivo rojo. Y tu linaje registra qué le hiciste.</a:t>
            </a:r>
            <a:endParaRPr lang="en-US" sz="1450" dirty="0"/>
          </a:p>
        </p:txBody>
      </p:sp>
      <p:sp>
        <p:nvSpPr>
          <p:cNvPr id="23" name="Shape 21"/>
          <p:cNvSpPr/>
          <p:nvPr/>
        </p:nvSpPr>
        <p:spPr>
          <a:xfrm>
            <a:off x="566928" y="5193792"/>
            <a:ext cx="11057839" cy="777240"/>
          </a:xfrm>
          <a:prstGeom prst="roundRect">
            <a:avLst>
              <a:gd name="adj" fmla="val 8235"/>
            </a:avLst>
          </a:prstGeom>
          <a:solidFill>
            <a:srgbClr val="16262E"/>
          </a:solidFill>
          <a:ln w="12700">
            <a:solidFill>
              <a:srgbClr val="16262E"/>
            </a:solidFill>
            <a:prstDash val="solid"/>
          </a:ln>
        </p:spPr>
      </p:sp>
      <p:sp>
        <p:nvSpPr>
          <p:cNvPr id="24" name="Text 22"/>
          <p:cNvSpPr txBox="1"/>
          <p:nvPr/>
        </p:nvSpPr>
        <p:spPr>
          <a:xfrm>
            <a:off x="841248" y="5193792"/>
            <a:ext cx="10509199"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Archivo: Registros_atencion_ciudadana_PARTICIPANTE.xlsx, hoja Padron_sintetico.</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5</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JUSTIFICACIÓN TÉCNICA DEL USO DE IA</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Tres preguntas que tienes que poder contestar</a:t>
            </a:r>
            <a:endParaRPr lang="en-US" sz="3400" dirty="0"/>
          </a:p>
        </p:txBody>
      </p:sp>
      <p:sp>
        <p:nvSpPr>
          <p:cNvPr id="6" name="Shape 4"/>
          <p:cNvSpPr/>
          <p:nvPr/>
        </p:nvSpPr>
        <p:spPr>
          <a:xfrm>
            <a:off x="9338767" y="457200"/>
            <a:ext cx="2286000"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338767" y="457200"/>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10:56 a 11:14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0058400" y="-1463040"/>
            <a:ext cx="4023360" cy="4023360"/>
          </a:xfrm>
          <a:prstGeom prst="ellipse">
            <a:avLst/>
          </a:prstGeom>
          <a:solidFill>
            <a:srgbClr val="24404E"/>
          </a:solidFill>
          <a:ln w="12700">
            <a:solidFill>
              <a:srgbClr val="24404E"/>
            </a:solidFill>
            <a:prstDash val="solid"/>
          </a:ln>
        </p:spPr>
      </p:sp>
      <p:sp>
        <p:nvSpPr>
          <p:cNvPr id="3" name="Text 1"/>
          <p:cNvSpPr txBox="1"/>
          <p:nvPr/>
        </p:nvSpPr>
        <p:spPr>
          <a:xfrm>
            <a:off x="932688" y="13716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POR QUÉ SE LLAMA JUSTIFICACIÓN Y NO DECISIÓN</a:t>
            </a:r>
            <a:endParaRPr lang="en-US" sz="1400" dirty="0"/>
          </a:p>
        </p:txBody>
      </p:sp>
      <p:sp>
        <p:nvSpPr>
          <p:cNvPr id="4" name="Text 2"/>
          <p:cNvSpPr txBox="1"/>
          <p:nvPr/>
        </p:nvSpPr>
        <p:spPr>
          <a:xfrm>
            <a:off x="932688" y="1828800"/>
            <a:ext cx="10241280" cy="2377440"/>
          </a:xfrm>
          <a:prstGeom prst="rect">
            <a:avLst/>
          </a:prstGeom>
          <a:noFill/>
          <a:ln/>
        </p:spPr>
        <p:txBody>
          <a:bodyPr wrap="square" lIns="0" tIns="0" rIns="0" bIns="0" rtlCol="0" anchor="t"/>
          <a:lstStyle/>
          <a:p>
            <a:pPr indent="0" marL="0">
              <a:lnSpc>
                <a:spcPct val="112000"/>
              </a:lnSpc>
              <a:buNone/>
            </a:pPr>
            <a:r>
              <a:rPr lang="en-US" sz="2800" b="1" dirty="0">
                <a:solidFill>
                  <a:srgbClr val="FFFFFF"/>
                </a:solidFill>
                <a:latin typeface="Arial" pitchFamily="34" charset="0"/>
                <a:ea typeface="Arial" pitchFamily="34" charset="-122"/>
                <a:cs typeface="Arial" pitchFamily="34" charset="-120"/>
              </a:rPr>
              <a:t>Aquí no basta con haber decidido bien. Tienes que poder mostrar por qué decidiste así, a alguien que no estuvo ahí.</a:t>
            </a:r>
            <a:endParaRPr lang="en-US" sz="2800" dirty="0"/>
          </a:p>
        </p:txBody>
      </p:sp>
      <p:sp>
        <p:nvSpPr>
          <p:cNvPr id="5" name="Text 3"/>
          <p:cNvSpPr txBox="1"/>
          <p:nvPr/>
        </p:nvSpPr>
        <p:spPr>
          <a:xfrm>
            <a:off x="932688" y="4343400"/>
            <a:ext cx="10058400" cy="1371600"/>
          </a:xfrm>
          <a:prstGeom prst="rect">
            <a:avLst/>
          </a:prstGeom>
          <a:noFill/>
          <a:ln/>
        </p:spPr>
        <p:txBody>
          <a:bodyPr wrap="square" lIns="0" tIns="0" rIns="0" bIns="0" rtlCol="0" anchor="t"/>
          <a:lstStyle/>
          <a:p>
            <a:pPr indent="0" marL="0">
              <a:lnSpc>
                <a:spcPct val="115000"/>
              </a:lnSpc>
              <a:buNone/>
            </a:pPr>
            <a:r>
              <a:rPr lang="en-US" sz="1600" dirty="0">
                <a:solidFill>
                  <a:srgbClr val="D7E7E7"/>
                </a:solidFill>
                <a:latin typeface="Calibri" pitchFamily="34" charset="0"/>
                <a:ea typeface="Calibri" pitchFamily="34" charset="-122"/>
                <a:cs typeface="Calibri" pitchFamily="34" charset="-120"/>
              </a:rPr>
              <a:t>Las tres preguntas que siguen son las que te va a hacer un órgano de control, una auditoría o un comité de evaluación sobre cualquier producto hecho con IA. Conviene tener la respuesta escrita antes de que te la pregunten.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1. ¿Se justifica usar IA para esta tarea?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Tres condiciones que se cumplen juntas. Y una que las anula.</a:t>
            </a:r>
            <a:endParaRPr lang="en-US" sz="1500" dirty="0"/>
          </a:p>
        </p:txBody>
      </p:sp>
      <p:sp>
        <p:nvSpPr>
          <p:cNvPr id="4" name="Shape 2"/>
          <p:cNvSpPr/>
          <p:nvPr/>
        </p:nvSpPr>
        <p:spPr>
          <a:xfrm>
            <a:off x="566928" y="2011680"/>
            <a:ext cx="2558720" cy="2671572"/>
          </a:xfrm>
          <a:prstGeom prst="roundRect">
            <a:avLst>
              <a:gd name="adj" fmla="val 2859"/>
            </a:avLst>
          </a:prstGeom>
          <a:solidFill>
            <a:srgbClr val="D7E7E7"/>
          </a:solidFill>
          <a:ln w="12700">
            <a:solidFill>
              <a:srgbClr val="D7E7E7"/>
            </a:solidFill>
            <a:prstDash val="solid"/>
          </a:ln>
        </p:spPr>
      </p:sp>
      <p:sp>
        <p:nvSpPr>
          <p:cNvPr id="5" name="Text 3"/>
          <p:cNvSpPr txBox="1"/>
          <p:nvPr/>
        </p:nvSpPr>
        <p:spPr>
          <a:xfrm>
            <a:off x="804672"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Te ahorra escala</a:t>
            </a:r>
            <a:endParaRPr lang="en-US" sz="1600" dirty="0"/>
          </a:p>
        </p:txBody>
      </p:sp>
      <p:sp>
        <p:nvSpPr>
          <p:cNvPr id="6" name="Text 4"/>
          <p:cNvSpPr txBox="1"/>
          <p:nvPr/>
        </p:nvSpPr>
        <p:spPr>
          <a:xfrm>
            <a:off x="804672"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Se justifica cuando hay más texto del que tu equipo puede leer en el tiempo que tiene. Cuatro mil registros, sí. Cuarenta, no: se leen.</a:t>
            </a:r>
            <a:endParaRPr lang="en-US" sz="1300" dirty="0"/>
          </a:p>
        </p:txBody>
      </p:sp>
      <p:sp>
        <p:nvSpPr>
          <p:cNvPr id="7" name="Shape 5"/>
          <p:cNvSpPr/>
          <p:nvPr/>
        </p:nvSpPr>
        <p:spPr>
          <a:xfrm>
            <a:off x="3399968" y="2011680"/>
            <a:ext cx="2558720" cy="2671572"/>
          </a:xfrm>
          <a:prstGeom prst="roundRect">
            <a:avLst>
              <a:gd name="adj" fmla="val 2859"/>
            </a:avLst>
          </a:prstGeom>
          <a:solidFill>
            <a:srgbClr val="D7E7E7"/>
          </a:solidFill>
          <a:ln w="12700">
            <a:solidFill>
              <a:srgbClr val="D7E7E7"/>
            </a:solidFill>
            <a:prstDash val="solid"/>
          </a:ln>
        </p:spPr>
      </p:sp>
      <p:sp>
        <p:nvSpPr>
          <p:cNvPr id="8" name="Text 6"/>
          <p:cNvSpPr txBox="1"/>
          <p:nvPr/>
        </p:nvSpPr>
        <p:spPr>
          <a:xfrm>
            <a:off x="3637712" y="2249424"/>
            <a:ext cx="2083232" cy="58318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La tarea es repetitiva</a:t>
            </a:r>
            <a:endParaRPr lang="en-US" sz="1600" dirty="0"/>
          </a:p>
        </p:txBody>
      </p:sp>
      <p:sp>
        <p:nvSpPr>
          <p:cNvPr id="9" name="Text 7"/>
          <p:cNvSpPr txBox="1"/>
          <p:nvPr/>
        </p:nvSpPr>
        <p:spPr>
          <a:xfrm>
            <a:off x="3637712" y="2978912"/>
            <a:ext cx="2083232" cy="150317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Se justifica si vas a sacar los mismos cinco datos de treinta documentos. No si cada documento pide un juicio distinto.</a:t>
            </a:r>
            <a:endParaRPr lang="en-US" sz="1300" dirty="0"/>
          </a:p>
        </p:txBody>
      </p:sp>
      <p:sp>
        <p:nvSpPr>
          <p:cNvPr id="10" name="Shape 8"/>
          <p:cNvSpPr/>
          <p:nvPr/>
        </p:nvSpPr>
        <p:spPr>
          <a:xfrm>
            <a:off x="6233008" y="2011680"/>
            <a:ext cx="2558720" cy="2671572"/>
          </a:xfrm>
          <a:prstGeom prst="roundRect">
            <a:avLst>
              <a:gd name="adj" fmla="val 2859"/>
            </a:avLst>
          </a:prstGeom>
          <a:solidFill>
            <a:srgbClr val="D7E7E7"/>
          </a:solidFill>
          <a:ln w="12700">
            <a:solidFill>
              <a:srgbClr val="D7E7E7"/>
            </a:solidFill>
            <a:prstDash val="solid"/>
          </a:ln>
        </p:spPr>
      </p:sp>
      <p:sp>
        <p:nvSpPr>
          <p:cNvPr id="11" name="Text 9"/>
          <p:cNvSpPr txBox="1"/>
          <p:nvPr/>
        </p:nvSpPr>
        <p:spPr>
          <a:xfrm>
            <a:off x="6470752"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Alguien va a revisar</a:t>
            </a:r>
            <a:endParaRPr lang="en-US" sz="1600" dirty="0"/>
          </a:p>
        </p:txBody>
      </p:sp>
      <p:sp>
        <p:nvSpPr>
          <p:cNvPr id="12" name="Text 10"/>
          <p:cNvSpPr txBox="1"/>
          <p:nvPr/>
        </p:nvSpPr>
        <p:spPr>
          <a:xfrm>
            <a:off x="6470752"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IA no sustituye a la persona. Si nadie va a revisar la salida, no se justifica: nadie respondería por ella.</a:t>
            </a:r>
            <a:endParaRPr lang="en-US" sz="1300" dirty="0"/>
          </a:p>
        </p:txBody>
      </p:sp>
      <p:sp>
        <p:nvSpPr>
          <p:cNvPr id="13" name="Shape 11"/>
          <p:cNvSpPr/>
          <p:nvPr/>
        </p:nvSpPr>
        <p:spPr>
          <a:xfrm>
            <a:off x="9066047" y="2011680"/>
            <a:ext cx="2558720" cy="2671572"/>
          </a:xfrm>
          <a:prstGeom prst="roundRect">
            <a:avLst>
              <a:gd name="adj" fmla="val 2859"/>
            </a:avLst>
          </a:prstGeom>
          <a:solidFill>
            <a:srgbClr val="F2DEDE"/>
          </a:solidFill>
          <a:ln w="12700">
            <a:solidFill>
              <a:srgbClr val="F2DEDE"/>
            </a:solidFill>
            <a:prstDash val="solid"/>
          </a:ln>
        </p:spPr>
      </p:sp>
      <p:sp>
        <p:nvSpPr>
          <p:cNvPr id="14" name="Text 12"/>
          <p:cNvSpPr txBox="1"/>
          <p:nvPr/>
        </p:nvSpPr>
        <p:spPr>
          <a:xfrm>
            <a:off x="9303791"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Lo que lo anula</a:t>
            </a:r>
            <a:endParaRPr lang="en-US" sz="1600" dirty="0"/>
          </a:p>
        </p:txBody>
      </p:sp>
      <p:sp>
        <p:nvSpPr>
          <p:cNvPr id="15" name="Text 13"/>
          <p:cNvSpPr txBox="1"/>
          <p:nvPr/>
        </p:nvSpPr>
        <p:spPr>
          <a:xfrm>
            <a:off x="9303791"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Si el resultado tiene efectos jurídicos o necesita un número exacto, no se justifica aunque cumpla las otras tres.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2. ¿Por qué esta herramienta y no otra?</a:t>
            </a:r>
            <a:endParaRPr lang="en-US" sz="3200" dirty="0"/>
          </a:p>
        </p:txBody>
      </p:sp>
      <p:sp>
        <p:nvSpPr>
          <p:cNvPr id="3" name="Shape 1"/>
          <p:cNvSpPr/>
          <p:nvPr/>
        </p:nvSpPr>
        <p:spPr>
          <a:xfrm>
            <a:off x="566928" y="1609344"/>
            <a:ext cx="3503066" cy="2522982"/>
          </a:xfrm>
          <a:prstGeom prst="roundRect">
            <a:avLst>
              <a:gd name="adj" fmla="val 2899"/>
            </a:avLst>
          </a:prstGeom>
          <a:solidFill>
            <a:srgbClr val="F2F5F6"/>
          </a:solidFill>
          <a:ln w="12700">
            <a:solidFill>
              <a:srgbClr val="F2F5F6"/>
            </a:solidFill>
            <a:prstDash val="solid"/>
          </a:ln>
        </p:spPr>
      </p:sp>
      <p:sp>
        <p:nvSpPr>
          <p:cNvPr id="4" name="Text 2"/>
          <p:cNvSpPr txBox="1"/>
          <p:nvPr/>
        </p:nvSpPr>
        <p:spPr>
          <a:xfrm>
            <a:off x="804672" y="1847088"/>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Seguridad y privacidad</a:t>
            </a:r>
            <a:endParaRPr lang="en-US" sz="1600" dirty="0"/>
          </a:p>
        </p:txBody>
      </p:sp>
      <p:sp>
        <p:nvSpPr>
          <p:cNvPr id="5" name="Text 3"/>
          <p:cNvSpPr txBox="1"/>
          <p:nvPr/>
        </p:nvSpPr>
        <p:spPr>
          <a:xfrm>
            <a:off x="804672" y="2312416"/>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¿Dónde se procesa la información y bajo qué contrato? ¿La herramienta usa lo que le das para entrenarse?</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Es el semáforo visto desde el lado de la herramienta.</a:t>
            </a:r>
            <a:endParaRPr lang="en-US" sz="1300" dirty="0"/>
          </a:p>
        </p:txBody>
      </p:sp>
      <p:sp>
        <p:nvSpPr>
          <p:cNvPr id="6" name="Shape 4"/>
          <p:cNvSpPr/>
          <p:nvPr/>
        </p:nvSpPr>
        <p:spPr>
          <a:xfrm>
            <a:off x="4344314" y="1609344"/>
            <a:ext cx="3503066" cy="2522982"/>
          </a:xfrm>
          <a:prstGeom prst="roundRect">
            <a:avLst>
              <a:gd name="adj" fmla="val 2899"/>
            </a:avLst>
          </a:prstGeom>
          <a:solidFill>
            <a:srgbClr val="F2F5F6"/>
          </a:solidFill>
          <a:ln w="12700">
            <a:solidFill>
              <a:srgbClr val="F2F5F6"/>
            </a:solidFill>
            <a:prstDash val="solid"/>
          </a:ln>
        </p:spPr>
      </p:sp>
      <p:sp>
        <p:nvSpPr>
          <p:cNvPr id="7" name="Text 5"/>
          <p:cNvSpPr txBox="1"/>
          <p:nvPr/>
        </p:nvSpPr>
        <p:spPr>
          <a:xfrm>
            <a:off x="4582058" y="1847088"/>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Se integra con tu trabajo</a:t>
            </a:r>
            <a:endParaRPr lang="en-US" sz="1600" dirty="0"/>
          </a:p>
        </p:txBody>
      </p:sp>
      <p:sp>
        <p:nvSpPr>
          <p:cNvPr id="8" name="Text 6"/>
          <p:cNvSpPr txBox="1"/>
          <p:nvPr/>
        </p:nvSpPr>
        <p:spPr>
          <a:xfrm>
            <a:off x="4582058" y="2312416"/>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herramienta trabaja donde ya está el documento, o tienes que sacarlo?</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Cada vez que mueves un archivo, es un paso más y un riesgo más.</a:t>
            </a:r>
            <a:endParaRPr lang="en-US" sz="1300" dirty="0"/>
          </a:p>
        </p:txBody>
      </p:sp>
      <p:sp>
        <p:nvSpPr>
          <p:cNvPr id="9" name="Shape 7"/>
          <p:cNvSpPr/>
          <p:nvPr/>
        </p:nvSpPr>
        <p:spPr>
          <a:xfrm>
            <a:off x="8121701" y="1609344"/>
            <a:ext cx="3503066" cy="2522982"/>
          </a:xfrm>
          <a:prstGeom prst="roundRect">
            <a:avLst>
              <a:gd name="adj" fmla="val 2899"/>
            </a:avLst>
          </a:prstGeom>
          <a:solidFill>
            <a:srgbClr val="F7E4D8"/>
          </a:solidFill>
          <a:ln w="12700">
            <a:solidFill>
              <a:srgbClr val="F7E4D8"/>
            </a:solidFill>
            <a:prstDash val="solid"/>
          </a:ln>
        </p:spPr>
      </p:sp>
      <p:sp>
        <p:nvSpPr>
          <p:cNvPr id="10" name="Text 8"/>
          <p:cNvSpPr txBox="1"/>
          <p:nvPr/>
        </p:nvSpPr>
        <p:spPr>
          <a:xfrm>
            <a:off x="8359445" y="1847088"/>
            <a:ext cx="3027578"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¿Sirve para esta tarea?</a:t>
            </a:r>
            <a:endParaRPr lang="en-US" sz="1600" dirty="0"/>
          </a:p>
        </p:txBody>
      </p:sp>
      <p:sp>
        <p:nvSpPr>
          <p:cNvPr id="11" name="Text 9"/>
          <p:cNvSpPr txBox="1"/>
          <p:nvPr/>
        </p:nvSpPr>
        <p:spPr>
          <a:xfrm>
            <a:off x="8359445" y="2312416"/>
            <a:ext cx="3027578" cy="161874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La pregunta concreta: ¿necesitas Python para calcular algo?</a:t>
            </a:r>
            <a:endParaRPr lang="en-US" sz="1300" dirty="0"/>
          </a:p>
          <a:p>
            <a:pPr indent="0" marL="0">
              <a:lnSpc>
                <a:spcPct val="110000"/>
              </a:lnSpc>
              <a:buNone/>
            </a:pPr>
            <a:endParaRPr lang="en-US" sz="1300" dirty="0"/>
          </a:p>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Si la respuesta es sí, el chat no te sirve: necesitas un entorno de código. Esta sola pregunta te manda al Módulo III.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3. ¿Qué no puede hacer esta herramienta?</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Lo declaras por escrito en cada producto. No es un deslinde: es la parte de la transparencia que te toca.</a:t>
            </a:r>
            <a:endParaRPr lang="en-US" sz="1500" dirty="0"/>
          </a:p>
        </p:txBody>
      </p:sp>
      <p:sp>
        <p:nvSpPr>
          <p:cNvPr id="4" name="Shape 2"/>
          <p:cNvSpPr/>
          <p:nvPr/>
        </p:nvSpPr>
        <p:spPr>
          <a:xfrm>
            <a:off x="566928" y="2011680"/>
            <a:ext cx="2558720" cy="2671572"/>
          </a:xfrm>
          <a:prstGeom prst="roundRect">
            <a:avLst>
              <a:gd name="adj" fmla="val 2859"/>
            </a:avLst>
          </a:prstGeom>
          <a:solidFill>
            <a:srgbClr val="F2F5F6"/>
          </a:solidFill>
          <a:ln w="12700">
            <a:solidFill>
              <a:srgbClr val="F2F5F6"/>
            </a:solidFill>
            <a:prstDash val="solid"/>
          </a:ln>
        </p:spPr>
      </p:sp>
      <p:sp>
        <p:nvSpPr>
          <p:cNvPr id="5" name="Text 3"/>
          <p:cNvSpPr txBox="1"/>
          <p:nvPr/>
        </p:nvSpPr>
        <p:spPr>
          <a:xfrm>
            <a:off x="804672"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Puede inventar</a:t>
            </a:r>
            <a:endParaRPr lang="en-US" sz="1600" dirty="0"/>
          </a:p>
        </p:txBody>
      </p:sp>
      <p:sp>
        <p:nvSpPr>
          <p:cNvPr id="6" name="Text 4"/>
          <p:cNvSpPr txBox="1"/>
          <p:nvPr/>
        </p:nvSpPr>
        <p:spPr>
          <a:xfrm>
            <a:off x="804672"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El modelo escribe cosas creíbles que pueden ser falsas. Lo viste hace una hora con las referencias. Toda salida es un borrador hasta que alguien la verifica.</a:t>
            </a:r>
            <a:endParaRPr lang="en-US" sz="1300" dirty="0"/>
          </a:p>
        </p:txBody>
      </p:sp>
      <p:sp>
        <p:nvSpPr>
          <p:cNvPr id="7" name="Shape 5"/>
          <p:cNvSpPr/>
          <p:nvPr/>
        </p:nvSpPr>
        <p:spPr>
          <a:xfrm>
            <a:off x="3399968" y="2011680"/>
            <a:ext cx="2558720" cy="2671572"/>
          </a:xfrm>
          <a:prstGeom prst="roundRect">
            <a:avLst>
              <a:gd name="adj" fmla="val 2859"/>
            </a:avLst>
          </a:prstGeom>
          <a:solidFill>
            <a:srgbClr val="F2F5F6"/>
          </a:solidFill>
          <a:ln w="12700">
            <a:solidFill>
              <a:srgbClr val="F2F5F6"/>
            </a:solidFill>
            <a:prstDash val="solid"/>
          </a:ln>
        </p:spPr>
      </p:sp>
      <p:sp>
        <p:nvSpPr>
          <p:cNvPr id="8" name="Text 6"/>
          <p:cNvSpPr txBox="1"/>
          <p:nvPr/>
        </p:nvSpPr>
        <p:spPr>
          <a:xfrm>
            <a:off x="3637712"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Trae sesgos</a:t>
            </a:r>
            <a:endParaRPr lang="en-US" sz="1600" dirty="0"/>
          </a:p>
        </p:txBody>
      </p:sp>
      <p:sp>
        <p:nvSpPr>
          <p:cNvPr id="9" name="Text 7"/>
          <p:cNvSpPr txBox="1"/>
          <p:nvPr/>
        </p:nvSpPr>
        <p:spPr>
          <a:xfrm>
            <a:off x="3637712"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Los heredó de sus datos. No se quitan con un prompt. Se disminuyen revisando lo que el modelo dejó al margen.</a:t>
            </a:r>
            <a:endParaRPr lang="en-US" sz="1300" dirty="0"/>
          </a:p>
        </p:txBody>
      </p:sp>
      <p:sp>
        <p:nvSpPr>
          <p:cNvPr id="10" name="Shape 8"/>
          <p:cNvSpPr/>
          <p:nvPr/>
        </p:nvSpPr>
        <p:spPr>
          <a:xfrm>
            <a:off x="6233008" y="2011680"/>
            <a:ext cx="2558720" cy="2671572"/>
          </a:xfrm>
          <a:prstGeom prst="roundRect">
            <a:avLst>
              <a:gd name="adj" fmla="val 2859"/>
            </a:avLst>
          </a:prstGeom>
          <a:solidFill>
            <a:srgbClr val="F2F5F6"/>
          </a:solidFill>
          <a:ln w="12700">
            <a:solidFill>
              <a:srgbClr val="F2F5F6"/>
            </a:solidFill>
            <a:prstDash val="solid"/>
          </a:ln>
        </p:spPr>
      </p:sp>
      <p:sp>
        <p:nvSpPr>
          <p:cNvPr id="11" name="Text 9"/>
          <p:cNvSpPr txBox="1"/>
          <p:nvPr/>
        </p:nvSpPr>
        <p:spPr>
          <a:xfrm>
            <a:off x="6470752" y="2249424"/>
            <a:ext cx="2083232" cy="58318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Tiene un límite de lectura</a:t>
            </a:r>
            <a:endParaRPr lang="en-US" sz="1600" dirty="0"/>
          </a:p>
        </p:txBody>
      </p:sp>
      <p:sp>
        <p:nvSpPr>
          <p:cNvPr id="12" name="Text 10"/>
          <p:cNvSpPr txBox="1"/>
          <p:nvPr/>
        </p:nvSpPr>
        <p:spPr>
          <a:xfrm>
            <a:off x="6470752" y="2978912"/>
            <a:ext cx="2083232" cy="150317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Cada modelo lee hasta cierta cantidad de texto. Lo que no cabe, no lo ve, y no te avisa. El resumen igual suena completo.</a:t>
            </a:r>
            <a:endParaRPr lang="en-US" sz="1300" dirty="0"/>
          </a:p>
        </p:txBody>
      </p:sp>
      <p:sp>
        <p:nvSpPr>
          <p:cNvPr id="13" name="Shape 11"/>
          <p:cNvSpPr/>
          <p:nvPr/>
        </p:nvSpPr>
        <p:spPr>
          <a:xfrm>
            <a:off x="9066047" y="2011680"/>
            <a:ext cx="2558720" cy="2671572"/>
          </a:xfrm>
          <a:prstGeom prst="roundRect">
            <a:avLst>
              <a:gd name="adj" fmla="val 2859"/>
            </a:avLst>
          </a:prstGeom>
          <a:solidFill>
            <a:srgbClr val="F7E4D8"/>
          </a:solidFill>
          <a:ln w="12700">
            <a:solidFill>
              <a:srgbClr val="F7E4D8"/>
            </a:solidFill>
            <a:prstDash val="solid"/>
          </a:ln>
        </p:spPr>
      </p:sp>
      <p:sp>
        <p:nvSpPr>
          <p:cNvPr id="14" name="Text 12"/>
          <p:cNvSpPr txBox="1"/>
          <p:nvPr/>
        </p:nvSpPr>
        <p:spPr>
          <a:xfrm>
            <a:off x="9303791" y="2249424"/>
            <a:ext cx="2083232" cy="319024"/>
          </a:xfrm>
          <a:prstGeom prst="rect">
            <a:avLst/>
          </a:prstGeom>
          <a:noFill/>
          <a:ln/>
        </p:spPr>
        <p:txBody>
          <a:bodyPr wrap="square" lIns="0" tIns="0" rIns="0" bIns="0" rtlCol="0" anchor="t"/>
          <a:lstStyle/>
          <a:p>
            <a:pPr indent="0" marL="0">
              <a:buNone/>
            </a:pPr>
            <a:r>
              <a:rPr lang="en-US" sz="1600" b="1" dirty="0">
                <a:solidFill>
                  <a:srgbClr val="16262E"/>
                </a:solidFill>
                <a:latin typeface="Arial" pitchFamily="34" charset="0"/>
                <a:ea typeface="Arial" pitchFamily="34" charset="-122"/>
                <a:cs typeface="Arial" pitchFamily="34" charset="-120"/>
              </a:rPr>
              <a:t>No sabe qué importa</a:t>
            </a:r>
            <a:endParaRPr lang="en-US" sz="1600" dirty="0"/>
          </a:p>
        </p:txBody>
      </p:sp>
      <p:sp>
        <p:nvSpPr>
          <p:cNvPr id="15" name="Text 13"/>
          <p:cNvSpPr txBox="1"/>
          <p:nvPr/>
        </p:nvSpPr>
        <p:spPr>
          <a:xfrm>
            <a:off x="9303791" y="2714752"/>
            <a:ext cx="2083232" cy="1767332"/>
          </a:xfrm>
          <a:prstGeom prst="rect">
            <a:avLst/>
          </a:prstGeom>
          <a:noFill/>
          <a:ln/>
        </p:spPr>
        <p:txBody>
          <a:bodyPr wrap="square" lIns="0" tIns="0" rIns="0" bIns="0" rtlCol="0" anchor="t"/>
          <a:lstStyle/>
          <a:p>
            <a:pPr indent="0" marL="0">
              <a:lnSpc>
                <a:spcPct val="110000"/>
              </a:lnSpc>
              <a:buNone/>
            </a:pPr>
            <a:r>
              <a:rPr lang="en-US" sz="1300" dirty="0">
                <a:solidFill>
                  <a:srgbClr val="16262E"/>
                </a:solidFill>
                <a:latin typeface="Calibri" pitchFamily="34" charset="0"/>
                <a:ea typeface="Calibri" pitchFamily="34" charset="-122"/>
                <a:cs typeface="Calibri" pitchFamily="34" charset="-120"/>
              </a:rPr>
              <a:t>El modelo puede resumir cien páginas y dejar fuera el hallazgo central porque ocupaba una frase. Decidir qué importa te toca a ti.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566928" y="2331720"/>
            <a:ext cx="1371600" cy="1371600"/>
          </a:xfrm>
          <a:prstGeom prst="ellipse">
            <a:avLst/>
          </a:prstGeom>
          <a:solidFill>
            <a:srgbClr val="C85A28"/>
          </a:solidFill>
          <a:ln w="12700">
            <a:solidFill>
              <a:srgbClr val="C85A28"/>
            </a:solidFill>
            <a:prstDash val="solid"/>
          </a:ln>
        </p:spPr>
      </p:sp>
      <p:sp>
        <p:nvSpPr>
          <p:cNvPr id="3" name="Text 1"/>
          <p:cNvSpPr txBox="1"/>
          <p:nvPr/>
        </p:nvSpPr>
        <p:spPr>
          <a:xfrm>
            <a:off x="566928"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6</a:t>
            </a:r>
            <a:endParaRPr lang="en-US" sz="4400" dirty="0"/>
          </a:p>
        </p:txBody>
      </p:sp>
      <p:sp>
        <p:nvSpPr>
          <p:cNvPr id="4" name="Text 2"/>
          <p:cNvSpPr txBox="1"/>
          <p:nvPr/>
        </p:nvSpPr>
        <p:spPr>
          <a:xfrm>
            <a:off x="2487168" y="2331720"/>
            <a:ext cx="8778240" cy="365760"/>
          </a:xfrm>
          <a:prstGeom prst="rect">
            <a:avLst/>
          </a:prstGeom>
          <a:noFill/>
          <a:ln/>
        </p:spPr>
        <p:txBody>
          <a:bodyPr wrap="square" lIns="0" tIns="0" rIns="0" bIns="0" rtlCol="0" anchor="ctr"/>
          <a:lstStyle/>
          <a:p>
            <a:pPr indent="0" marL="0">
              <a:buNone/>
            </a:pPr>
            <a:r>
              <a:rPr lang="en-US" sz="1400" b="1" spc="200" kern="0" dirty="0">
                <a:solidFill>
                  <a:srgbClr val="D7E7E7"/>
                </a:solidFill>
                <a:latin typeface="Calibri" pitchFamily="34" charset="0"/>
                <a:ea typeface="Calibri" pitchFamily="34" charset="-122"/>
                <a:cs typeface="Calibri" pitchFamily="34" charset="-120"/>
              </a:rPr>
              <a:t>EJERCICIO GUIADO</a:t>
            </a:r>
            <a:endParaRPr lang="en-US" sz="1400" dirty="0"/>
          </a:p>
        </p:txBody>
      </p:sp>
      <p:sp>
        <p:nvSpPr>
          <p:cNvPr id="5" name="Text 3"/>
          <p:cNvSpPr txBox="1"/>
          <p:nvPr/>
        </p:nvSpPr>
        <p:spPr>
          <a:xfrm>
            <a:off x="2487168" y="2697480"/>
            <a:ext cx="89611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Tu ficha de idoneidad</a:t>
            </a:r>
            <a:endParaRPr lang="en-US" sz="3400" dirty="0"/>
          </a:p>
        </p:txBody>
      </p:sp>
      <p:sp>
        <p:nvSpPr>
          <p:cNvPr id="6" name="Shape 4"/>
          <p:cNvSpPr/>
          <p:nvPr/>
        </p:nvSpPr>
        <p:spPr>
          <a:xfrm>
            <a:off x="9338767" y="457200"/>
            <a:ext cx="2286000" cy="347472"/>
          </a:xfrm>
          <a:prstGeom prst="roundRect">
            <a:avLst>
              <a:gd name="adj" fmla="val 50000"/>
            </a:avLst>
          </a:prstGeom>
          <a:solidFill>
            <a:srgbClr val="24404E"/>
          </a:solidFill>
          <a:ln w="12700">
            <a:solidFill>
              <a:srgbClr val="24404E"/>
            </a:solidFill>
            <a:prstDash val="solid"/>
          </a:ln>
        </p:spPr>
      </p:sp>
      <p:sp>
        <p:nvSpPr>
          <p:cNvPr id="7" name="Text 5"/>
          <p:cNvSpPr txBox="1"/>
          <p:nvPr/>
        </p:nvSpPr>
        <p:spPr>
          <a:xfrm>
            <a:off x="9338767" y="457200"/>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11:14 a 11:26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D7E7E7"/>
        </a:solidFill>
      </p:bgPr>
    </p:bg>
    <p:spTree>
      <p:nvGrpSpPr>
        <p:cNvPr id="1" name=""/>
        <p:cNvGrpSpPr/>
        <p:nvPr/>
      </p:nvGrpSpPr>
      <p:grpSpPr>
        <a:xfrm>
          <a:off x="0" y="0"/>
          <a:ext cx="0" cy="0"/>
          <a:chOff x="0" y="0"/>
          <a:chExt cx="0" cy="0"/>
        </a:xfrm>
      </p:grpSpPr>
      <p:sp>
        <p:nvSpPr>
          <p:cNvPr id="2" name="Shape 0"/>
          <p:cNvSpPr/>
          <p:nvPr/>
        </p:nvSpPr>
        <p:spPr>
          <a:xfrm>
            <a:off x="566928" y="457200"/>
            <a:ext cx="2788920" cy="457200"/>
          </a:xfrm>
          <a:prstGeom prst="roundRect">
            <a:avLst>
              <a:gd name="adj" fmla="val 50000"/>
            </a:avLst>
          </a:prstGeom>
          <a:solidFill>
            <a:srgbClr val="2E7D7D"/>
          </a:solidFill>
          <a:ln w="12700">
            <a:solidFill>
              <a:srgbClr val="2E7D7D"/>
            </a:solidFill>
            <a:prstDash val="solid"/>
          </a:ln>
        </p:spPr>
      </p:sp>
      <p:sp>
        <p:nvSpPr>
          <p:cNvPr id="3" name="Text 1"/>
          <p:cNvSpPr txBox="1"/>
          <p:nvPr/>
        </p:nvSpPr>
        <p:spPr>
          <a:xfrm>
            <a:off x="566928" y="457200"/>
            <a:ext cx="2788920" cy="45720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TU TURNO</a:t>
            </a:r>
            <a:endParaRPr lang="en-US" sz="1300" dirty="0"/>
          </a:p>
        </p:txBody>
      </p:sp>
      <p:sp>
        <p:nvSpPr>
          <p:cNvPr id="4" name="Shape 2"/>
          <p:cNvSpPr/>
          <p:nvPr/>
        </p:nvSpPr>
        <p:spPr>
          <a:xfrm>
            <a:off x="9704527" y="457200"/>
            <a:ext cx="1920240" cy="457200"/>
          </a:xfrm>
          <a:prstGeom prst="roundRect">
            <a:avLst>
              <a:gd name="adj" fmla="val 50000"/>
            </a:avLst>
          </a:prstGeom>
          <a:solidFill>
            <a:srgbClr val="C85A28"/>
          </a:solidFill>
          <a:ln w="12700">
            <a:solidFill>
              <a:srgbClr val="C85A28"/>
            </a:solidFill>
            <a:prstDash val="solid"/>
          </a:ln>
        </p:spPr>
      </p:sp>
      <p:sp>
        <p:nvSpPr>
          <p:cNvPr id="5" name="Text 3"/>
          <p:cNvSpPr txBox="1"/>
          <p:nvPr/>
        </p:nvSpPr>
        <p:spPr>
          <a:xfrm>
            <a:off x="9704527" y="457200"/>
            <a:ext cx="1920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12 minutos</a:t>
            </a:r>
            <a:endParaRPr lang="en-US" sz="1300" dirty="0"/>
          </a:p>
        </p:txBody>
      </p:sp>
      <p:sp>
        <p:nvSpPr>
          <p:cNvPr id="6" name="Text 4"/>
          <p:cNvSpPr txBox="1"/>
          <p:nvPr/>
        </p:nvSpPr>
        <p:spPr>
          <a:xfrm>
            <a:off x="566928" y="1078992"/>
            <a:ext cx="11057839" cy="685800"/>
          </a:xfrm>
          <a:prstGeom prst="rect">
            <a:avLst/>
          </a:prstGeom>
          <a:noFill/>
          <a:ln/>
        </p:spPr>
        <p:txBody>
          <a:bodyPr wrap="square" lIns="0" tIns="0" rIns="0" bIns="0" rtlCol="0" anchor="ctr"/>
          <a:lstStyle/>
          <a:p>
            <a:pPr indent="0" marL="0">
              <a:buNone/>
            </a:pPr>
            <a:r>
              <a:rPr lang="en-US" sz="2900" b="1" dirty="0">
                <a:solidFill>
                  <a:srgbClr val="16262E"/>
                </a:solidFill>
                <a:latin typeface="Arial" pitchFamily="34" charset="0"/>
                <a:ea typeface="Arial" pitchFamily="34" charset="-122"/>
                <a:cs typeface="Arial" pitchFamily="34" charset="-120"/>
              </a:rPr>
              <a:t>Llena tu ficha y deja que la critiquen</a:t>
            </a:r>
            <a:endParaRPr lang="en-US" sz="2900" dirty="0"/>
          </a:p>
        </p:txBody>
      </p:sp>
      <p:sp>
        <p:nvSpPr>
          <p:cNvPr id="7" name="Shape 5"/>
          <p:cNvSpPr/>
          <p:nvPr/>
        </p:nvSpPr>
        <p:spPr>
          <a:xfrm>
            <a:off x="566928" y="1920240"/>
            <a:ext cx="11057839" cy="628650"/>
          </a:xfrm>
          <a:prstGeom prst="roundRect">
            <a:avLst>
              <a:gd name="adj" fmla="val 10182"/>
            </a:avLst>
          </a:prstGeom>
          <a:solidFill>
            <a:srgbClr val="FFFFFF"/>
          </a:solidFill>
          <a:ln w="12700">
            <a:solidFill>
              <a:srgbClr val="FFFFFF"/>
            </a:solidFill>
            <a:prstDash val="solid"/>
          </a:ln>
        </p:spPr>
      </p:sp>
      <p:sp>
        <p:nvSpPr>
          <p:cNvPr id="8" name="Shape 6"/>
          <p:cNvSpPr/>
          <p:nvPr/>
        </p:nvSpPr>
        <p:spPr>
          <a:xfrm>
            <a:off x="786384" y="2024253"/>
            <a:ext cx="420624" cy="420624"/>
          </a:xfrm>
          <a:prstGeom prst="ellipse">
            <a:avLst/>
          </a:prstGeom>
          <a:solidFill>
            <a:srgbClr val="2E7D7D"/>
          </a:solidFill>
          <a:ln w="12700">
            <a:solidFill>
              <a:srgbClr val="2E7D7D"/>
            </a:solidFill>
            <a:prstDash val="solid"/>
          </a:ln>
        </p:spPr>
      </p:sp>
      <p:sp>
        <p:nvSpPr>
          <p:cNvPr id="9" name="Text 7"/>
          <p:cNvSpPr txBox="1"/>
          <p:nvPr/>
        </p:nvSpPr>
        <p:spPr>
          <a:xfrm>
            <a:off x="786384" y="202425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08176" y="201168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Seis minutos. Elige una tarea real de tu trabajo, de esta semana, y llena la ficha a mano. Sin abrir ninguna herramienta.</a:t>
            </a:r>
            <a:endParaRPr lang="en-US" sz="1450" dirty="0"/>
          </a:p>
        </p:txBody>
      </p:sp>
      <p:sp>
        <p:nvSpPr>
          <p:cNvPr id="11" name="Shape 9"/>
          <p:cNvSpPr/>
          <p:nvPr/>
        </p:nvSpPr>
        <p:spPr>
          <a:xfrm>
            <a:off x="566928" y="2731770"/>
            <a:ext cx="11057839" cy="628650"/>
          </a:xfrm>
          <a:prstGeom prst="roundRect">
            <a:avLst>
              <a:gd name="adj" fmla="val 10182"/>
            </a:avLst>
          </a:prstGeom>
          <a:solidFill>
            <a:srgbClr val="FFFFFF"/>
          </a:solidFill>
          <a:ln w="12700">
            <a:solidFill>
              <a:srgbClr val="FFFFFF"/>
            </a:solidFill>
            <a:prstDash val="solid"/>
          </a:ln>
        </p:spPr>
      </p:sp>
      <p:sp>
        <p:nvSpPr>
          <p:cNvPr id="12" name="Shape 10"/>
          <p:cNvSpPr/>
          <p:nvPr/>
        </p:nvSpPr>
        <p:spPr>
          <a:xfrm>
            <a:off x="786384" y="2835783"/>
            <a:ext cx="420624" cy="420624"/>
          </a:xfrm>
          <a:prstGeom prst="ellipse">
            <a:avLst/>
          </a:prstGeom>
          <a:solidFill>
            <a:srgbClr val="2E7D7D"/>
          </a:solidFill>
          <a:ln w="12700">
            <a:solidFill>
              <a:srgbClr val="2E7D7D"/>
            </a:solidFill>
            <a:prstDash val="solid"/>
          </a:ln>
        </p:spPr>
      </p:sp>
      <p:sp>
        <p:nvSpPr>
          <p:cNvPr id="13" name="Text 11"/>
          <p:cNvSpPr txBox="1"/>
          <p:nvPr/>
        </p:nvSpPr>
        <p:spPr>
          <a:xfrm>
            <a:off x="786384" y="283578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408176" y="282321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Cuatro minutos. Pídele a Copilot que la critique: "actúa como evaluador metodológico y señala los puntos débiles de esta ficha, sin reescribirla".</a:t>
            </a:r>
            <a:endParaRPr lang="en-US" sz="1450" dirty="0"/>
          </a:p>
        </p:txBody>
      </p:sp>
      <p:sp>
        <p:nvSpPr>
          <p:cNvPr id="15" name="Shape 13"/>
          <p:cNvSpPr/>
          <p:nvPr/>
        </p:nvSpPr>
        <p:spPr>
          <a:xfrm>
            <a:off x="566928" y="3543300"/>
            <a:ext cx="11057839" cy="628650"/>
          </a:xfrm>
          <a:prstGeom prst="roundRect">
            <a:avLst>
              <a:gd name="adj" fmla="val 10182"/>
            </a:avLst>
          </a:prstGeom>
          <a:solidFill>
            <a:srgbClr val="FFFFFF"/>
          </a:solidFill>
          <a:ln w="12700">
            <a:solidFill>
              <a:srgbClr val="FFFFFF"/>
            </a:solidFill>
            <a:prstDash val="solid"/>
          </a:ln>
        </p:spPr>
      </p:sp>
      <p:sp>
        <p:nvSpPr>
          <p:cNvPr id="16" name="Shape 14"/>
          <p:cNvSpPr/>
          <p:nvPr/>
        </p:nvSpPr>
        <p:spPr>
          <a:xfrm>
            <a:off x="786384" y="3647313"/>
            <a:ext cx="420624" cy="420624"/>
          </a:xfrm>
          <a:prstGeom prst="ellipse">
            <a:avLst/>
          </a:prstGeom>
          <a:solidFill>
            <a:srgbClr val="2E7D7D"/>
          </a:solidFill>
          <a:ln w="12700">
            <a:solidFill>
              <a:srgbClr val="2E7D7D"/>
            </a:solidFill>
            <a:prstDash val="solid"/>
          </a:ln>
        </p:spPr>
      </p:sp>
      <p:sp>
        <p:nvSpPr>
          <p:cNvPr id="17" name="Text 15"/>
          <p:cNvSpPr txBox="1"/>
          <p:nvPr/>
        </p:nvSpPr>
        <p:spPr>
          <a:xfrm>
            <a:off x="786384" y="364731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408176" y="363474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Dos minutos. Decide qué partes de la crítica aceptas y cuáles no, y anota por qué. Esta parte es la que se califica.</a:t>
            </a:r>
            <a:endParaRPr lang="en-US" sz="1450" dirty="0"/>
          </a:p>
        </p:txBody>
      </p:sp>
      <p:sp>
        <p:nvSpPr>
          <p:cNvPr id="19" name="Shape 17"/>
          <p:cNvSpPr/>
          <p:nvPr/>
        </p:nvSpPr>
        <p:spPr>
          <a:xfrm>
            <a:off x="566928" y="4354830"/>
            <a:ext cx="11057839" cy="628650"/>
          </a:xfrm>
          <a:prstGeom prst="roundRect">
            <a:avLst>
              <a:gd name="adj" fmla="val 10182"/>
            </a:avLst>
          </a:prstGeom>
          <a:solidFill>
            <a:srgbClr val="FFFFFF"/>
          </a:solidFill>
          <a:ln w="12700">
            <a:solidFill>
              <a:srgbClr val="FFFFFF"/>
            </a:solidFill>
            <a:prstDash val="solid"/>
          </a:ln>
        </p:spPr>
      </p:sp>
      <p:sp>
        <p:nvSpPr>
          <p:cNvPr id="20" name="Shape 18"/>
          <p:cNvSpPr/>
          <p:nvPr/>
        </p:nvSpPr>
        <p:spPr>
          <a:xfrm>
            <a:off x="786384" y="4458843"/>
            <a:ext cx="420624" cy="420624"/>
          </a:xfrm>
          <a:prstGeom prst="ellipse">
            <a:avLst/>
          </a:prstGeom>
          <a:solidFill>
            <a:srgbClr val="2E7D7D"/>
          </a:solidFill>
          <a:ln w="12700">
            <a:solidFill>
              <a:srgbClr val="2E7D7D"/>
            </a:solidFill>
            <a:prstDash val="solid"/>
          </a:ln>
        </p:spPr>
      </p:sp>
      <p:sp>
        <p:nvSpPr>
          <p:cNvPr id="21" name="Text 19"/>
          <p:cNvSpPr txBox="1"/>
          <p:nvPr/>
        </p:nvSpPr>
        <p:spPr>
          <a:xfrm>
            <a:off x="786384" y="4458843"/>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408176" y="4446270"/>
            <a:ext cx="9960559" cy="445770"/>
          </a:xfrm>
          <a:prstGeom prst="rect">
            <a:avLst/>
          </a:prstGeom>
          <a:noFill/>
          <a:ln/>
        </p:spPr>
        <p:txBody>
          <a:bodyPr wrap="square" lIns="0" tIns="0" rIns="0" bIns="0" rtlCol="0" anchor="ctr"/>
          <a:lstStyle/>
          <a:p>
            <a:pPr indent="0" marL="0">
              <a:lnSpc>
                <a:spcPct val="110000"/>
              </a:lnSpc>
              <a:buNone/>
            </a:pPr>
            <a:r>
              <a:rPr lang="en-US" sz="1450" dirty="0">
                <a:solidFill>
                  <a:srgbClr val="16262E"/>
                </a:solidFill>
                <a:latin typeface="Calibri" pitchFamily="34" charset="0"/>
                <a:ea typeface="Calibri" pitchFamily="34" charset="-122"/>
                <a:cs typeface="Calibri" pitchFamily="34" charset="-120"/>
              </a:rPr>
              <a:t>Si concluyes que para tu tarea no conviene usar IA, tu ficha vale igual. El criterio es cómo lo justificas, no el entusiasmo.</a:t>
            </a:r>
            <a:endParaRPr lang="en-US" sz="1450" dirty="0"/>
          </a:p>
        </p:txBody>
      </p:sp>
      <p:sp>
        <p:nvSpPr>
          <p:cNvPr id="23" name="Shape 21"/>
          <p:cNvSpPr/>
          <p:nvPr/>
        </p:nvSpPr>
        <p:spPr>
          <a:xfrm>
            <a:off x="566928" y="5193792"/>
            <a:ext cx="11057839" cy="777240"/>
          </a:xfrm>
          <a:prstGeom prst="roundRect">
            <a:avLst>
              <a:gd name="adj" fmla="val 8235"/>
            </a:avLst>
          </a:prstGeom>
          <a:solidFill>
            <a:srgbClr val="16262E"/>
          </a:solidFill>
          <a:ln w="12700">
            <a:solidFill>
              <a:srgbClr val="16262E"/>
            </a:solidFill>
            <a:prstDash val="solid"/>
          </a:ln>
        </p:spPr>
      </p:sp>
      <p:sp>
        <p:nvSpPr>
          <p:cNvPr id="24" name="Text 22"/>
          <p:cNvSpPr txBox="1"/>
          <p:nvPr/>
        </p:nvSpPr>
        <p:spPr>
          <a:xfrm>
            <a:off x="841248" y="5193792"/>
            <a:ext cx="10509199"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Formato 2 del archivo Formatos_de_trabajo_curso_IA.docx. Los apartados 2, 3 y 5 son las tres preguntas que acabas de ver.</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1737360" y="3931920"/>
            <a:ext cx="4754880" cy="4754880"/>
          </a:xfrm>
          <a:prstGeom prst="ellipse">
            <a:avLst/>
          </a:prstGeom>
          <a:solidFill>
            <a:srgbClr val="24404E"/>
          </a:solidFill>
          <a:ln w="12700">
            <a:solidFill>
              <a:srgbClr val="24404E"/>
            </a:solidFill>
            <a:prstDash val="solid"/>
          </a:ln>
        </p:spPr>
      </p:sp>
      <p:sp>
        <p:nvSpPr>
          <p:cNvPr id="3" name="Text 1"/>
          <p:cNvSpPr txBox="1"/>
          <p:nvPr/>
        </p:nvSpPr>
        <p:spPr>
          <a:xfrm>
            <a:off x="566928" y="685800"/>
            <a:ext cx="10424160" cy="365760"/>
          </a:xfrm>
          <a:prstGeom prst="rect">
            <a:avLst/>
          </a:prstGeom>
          <a:noFill/>
          <a:ln/>
        </p:spPr>
        <p:txBody>
          <a:bodyPr wrap="square" lIns="0" tIns="0" rIns="0" bIns="0" rtlCol="0" anchor="ctr"/>
          <a:lstStyle/>
          <a:p>
            <a:pPr indent="0" marL="0">
              <a:buNone/>
            </a:pPr>
            <a:r>
              <a:rPr lang="en-US" sz="1400" b="1" spc="200" kern="0" dirty="0">
                <a:solidFill>
                  <a:srgbClr val="C85A28"/>
                </a:solidFill>
                <a:latin typeface="Calibri" pitchFamily="34" charset="0"/>
                <a:ea typeface="Calibri" pitchFamily="34" charset="-122"/>
                <a:cs typeface="Calibri" pitchFamily="34" charset="-120"/>
              </a:rPr>
              <a:t>AL SALIR DE HOY</a:t>
            </a:r>
            <a:endParaRPr lang="en-US" sz="1400" dirty="0"/>
          </a:p>
        </p:txBody>
      </p:sp>
      <p:sp>
        <p:nvSpPr>
          <p:cNvPr id="4" name="Text 2"/>
          <p:cNvSpPr txBox="1"/>
          <p:nvPr/>
        </p:nvSpPr>
        <p:spPr>
          <a:xfrm>
            <a:off x="566928" y="1097280"/>
            <a:ext cx="1060704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Lo que entregas y lo que traes mañana</a:t>
            </a:r>
            <a:endParaRPr lang="en-US" sz="3000" dirty="0"/>
          </a:p>
        </p:txBody>
      </p:sp>
      <p:sp>
        <p:nvSpPr>
          <p:cNvPr id="5" name="Shape 3"/>
          <p:cNvSpPr/>
          <p:nvPr/>
        </p:nvSpPr>
        <p:spPr>
          <a:xfrm>
            <a:off x="566928" y="2011680"/>
            <a:ext cx="11057839" cy="649224"/>
          </a:xfrm>
          <a:prstGeom prst="roundRect">
            <a:avLst>
              <a:gd name="adj" fmla="val 9859"/>
            </a:avLst>
          </a:prstGeom>
          <a:solidFill>
            <a:srgbClr val="24404E"/>
          </a:solidFill>
          <a:ln w="12700">
            <a:solidFill>
              <a:srgbClr val="24404E"/>
            </a:solidFill>
            <a:prstDash val="solid"/>
          </a:ln>
        </p:spPr>
      </p:sp>
      <p:sp>
        <p:nvSpPr>
          <p:cNvPr id="6" name="Shape 4"/>
          <p:cNvSpPr/>
          <p:nvPr/>
        </p:nvSpPr>
        <p:spPr>
          <a:xfrm>
            <a:off x="804672" y="2135124"/>
            <a:ext cx="402336" cy="402336"/>
          </a:xfrm>
          <a:prstGeom prst="ellipse">
            <a:avLst/>
          </a:prstGeom>
          <a:solidFill>
            <a:srgbClr val="2E7D7D"/>
          </a:solidFill>
          <a:ln w="12700">
            <a:solidFill>
              <a:srgbClr val="2E7D7D"/>
            </a:solidFill>
            <a:prstDash val="solid"/>
          </a:ln>
        </p:spPr>
      </p:sp>
      <p:sp>
        <p:nvSpPr>
          <p:cNvPr id="7" name="Text 5"/>
          <p:cNvSpPr txBox="1"/>
          <p:nvPr/>
        </p:nvSpPr>
        <p:spPr>
          <a:xfrm>
            <a:off x="804672" y="2135124"/>
            <a:ext cx="402336" cy="402336"/>
          </a:xfrm>
          <a:prstGeom prst="rect">
            <a:avLst/>
          </a:prstGeom>
          <a:noFill/>
          <a:ln/>
        </p:spPr>
        <p:txBody>
          <a:bodyPr wrap="square" lIns="0" tIns="0" rIns="0" bIns="0" rtlCol="0" anchor="ctr"/>
          <a:lstStyle/>
          <a:p>
            <a:pPr algn="ctr" indent="0" marL="0">
              <a:buNone/>
            </a:pPr>
            <a:endParaRPr lang="en-US" sz="1200" dirty="0"/>
          </a:p>
        </p:txBody>
      </p:sp>
      <p:sp>
        <p:nvSpPr>
          <p:cNvPr id="8" name="Text 6"/>
          <p:cNvSpPr txBox="1"/>
          <p:nvPr/>
        </p:nvSpPr>
        <p:spPr>
          <a:xfrm>
            <a:off x="1426464" y="2084832"/>
            <a:ext cx="9960559" cy="5029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Tu ficha de idoneidad. La mandas por correo como S01_ApellidoNombre_FichaIdoneidad.docx, con el asunto igual al nombre del archivo.</a:t>
            </a:r>
            <a:endParaRPr lang="en-US" sz="1450" dirty="0"/>
          </a:p>
        </p:txBody>
      </p:sp>
      <p:sp>
        <p:nvSpPr>
          <p:cNvPr id="9" name="Shape 7"/>
          <p:cNvSpPr/>
          <p:nvPr/>
        </p:nvSpPr>
        <p:spPr>
          <a:xfrm>
            <a:off x="566928" y="2843784"/>
            <a:ext cx="11057839" cy="649224"/>
          </a:xfrm>
          <a:prstGeom prst="roundRect">
            <a:avLst>
              <a:gd name="adj" fmla="val 9859"/>
            </a:avLst>
          </a:prstGeom>
          <a:solidFill>
            <a:srgbClr val="24404E"/>
          </a:solidFill>
          <a:ln w="12700">
            <a:solidFill>
              <a:srgbClr val="24404E"/>
            </a:solidFill>
            <a:prstDash val="solid"/>
          </a:ln>
        </p:spPr>
      </p:sp>
      <p:sp>
        <p:nvSpPr>
          <p:cNvPr id="10" name="Shape 8"/>
          <p:cNvSpPr/>
          <p:nvPr/>
        </p:nvSpPr>
        <p:spPr>
          <a:xfrm>
            <a:off x="804672" y="2967228"/>
            <a:ext cx="402336" cy="402336"/>
          </a:xfrm>
          <a:prstGeom prst="ellipse">
            <a:avLst/>
          </a:prstGeom>
          <a:solidFill>
            <a:srgbClr val="2E7D7D"/>
          </a:solidFill>
          <a:ln w="12700">
            <a:solidFill>
              <a:srgbClr val="2E7D7D"/>
            </a:solidFill>
            <a:prstDash val="solid"/>
          </a:ln>
        </p:spPr>
      </p:sp>
      <p:sp>
        <p:nvSpPr>
          <p:cNvPr id="11" name="Text 9"/>
          <p:cNvSpPr txBox="1"/>
          <p:nvPr/>
        </p:nvSpPr>
        <p:spPr>
          <a:xfrm>
            <a:off x="804672" y="2967228"/>
            <a:ext cx="402336" cy="402336"/>
          </a:xfrm>
          <a:prstGeom prst="rect">
            <a:avLst/>
          </a:prstGeom>
          <a:noFill/>
          <a:ln/>
        </p:spPr>
        <p:txBody>
          <a:bodyPr wrap="square" lIns="0" tIns="0" rIns="0" bIns="0" rtlCol="0" anchor="ctr"/>
          <a:lstStyle/>
          <a:p>
            <a:pPr algn="ctr" indent="0" marL="0">
              <a:buNone/>
            </a:pPr>
            <a:endParaRPr lang="en-US" sz="1200" dirty="0"/>
          </a:p>
        </p:txBody>
      </p:sp>
      <p:sp>
        <p:nvSpPr>
          <p:cNvPr id="12" name="Text 10"/>
          <p:cNvSpPr txBox="1"/>
          <p:nvPr/>
        </p:nvSpPr>
        <p:spPr>
          <a:xfrm>
            <a:off x="1426464" y="2916936"/>
            <a:ext cx="9960559" cy="5029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Todo el material del curso está en github.com/xuxoramos/curso-inegi-gen-ai. Ábrelo hoy y avisa si no puedes entrar.</a:t>
            </a:r>
            <a:endParaRPr lang="en-US" sz="1450" dirty="0"/>
          </a:p>
        </p:txBody>
      </p:sp>
      <p:sp>
        <p:nvSpPr>
          <p:cNvPr id="13" name="Shape 11"/>
          <p:cNvSpPr/>
          <p:nvPr/>
        </p:nvSpPr>
        <p:spPr>
          <a:xfrm>
            <a:off x="566928" y="3675888"/>
            <a:ext cx="11057839" cy="649224"/>
          </a:xfrm>
          <a:prstGeom prst="roundRect">
            <a:avLst>
              <a:gd name="adj" fmla="val 9859"/>
            </a:avLst>
          </a:prstGeom>
          <a:solidFill>
            <a:srgbClr val="24404E"/>
          </a:solidFill>
          <a:ln w="12700">
            <a:solidFill>
              <a:srgbClr val="24404E"/>
            </a:solidFill>
            <a:prstDash val="solid"/>
          </a:ln>
        </p:spPr>
      </p:sp>
      <p:sp>
        <p:nvSpPr>
          <p:cNvPr id="14" name="Shape 12"/>
          <p:cNvSpPr/>
          <p:nvPr/>
        </p:nvSpPr>
        <p:spPr>
          <a:xfrm>
            <a:off x="804672" y="3799332"/>
            <a:ext cx="402336" cy="402336"/>
          </a:xfrm>
          <a:prstGeom prst="ellipse">
            <a:avLst/>
          </a:prstGeom>
          <a:solidFill>
            <a:srgbClr val="2E7D7D"/>
          </a:solidFill>
          <a:ln w="12700">
            <a:solidFill>
              <a:srgbClr val="2E7D7D"/>
            </a:solidFill>
            <a:prstDash val="solid"/>
          </a:ln>
        </p:spPr>
      </p:sp>
      <p:sp>
        <p:nvSpPr>
          <p:cNvPr id="15" name="Text 13"/>
          <p:cNvSpPr txBox="1"/>
          <p:nvPr/>
        </p:nvSpPr>
        <p:spPr>
          <a:xfrm>
            <a:off x="804672" y="3799332"/>
            <a:ext cx="402336" cy="402336"/>
          </a:xfrm>
          <a:prstGeom prst="rect">
            <a:avLst/>
          </a:prstGeom>
          <a:noFill/>
          <a:ln/>
        </p:spPr>
        <p:txBody>
          <a:bodyPr wrap="square" lIns="0" tIns="0" rIns="0" bIns="0" rtlCol="0" anchor="ctr"/>
          <a:lstStyle/>
          <a:p>
            <a:pPr algn="ctr" indent="0" marL="0">
              <a:buNone/>
            </a:pPr>
            <a:endParaRPr lang="en-US" sz="1200" dirty="0"/>
          </a:p>
        </p:txBody>
      </p:sp>
      <p:sp>
        <p:nvSpPr>
          <p:cNvPr id="16" name="Text 14"/>
          <p:cNvSpPr txBox="1"/>
          <p:nvPr/>
        </p:nvSpPr>
        <p:spPr>
          <a:xfrm>
            <a:off x="1426464" y="3749040"/>
            <a:ext cx="9960559" cy="5029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Tu bitácora creada, con al menos tres entradas de las demostraciones de hoy.</a:t>
            </a:r>
            <a:endParaRPr lang="en-US" sz="1450" dirty="0"/>
          </a:p>
        </p:txBody>
      </p:sp>
      <p:sp>
        <p:nvSpPr>
          <p:cNvPr id="17" name="Shape 15"/>
          <p:cNvSpPr/>
          <p:nvPr/>
        </p:nvSpPr>
        <p:spPr>
          <a:xfrm>
            <a:off x="566928" y="4507992"/>
            <a:ext cx="11057839" cy="649224"/>
          </a:xfrm>
          <a:prstGeom prst="roundRect">
            <a:avLst>
              <a:gd name="adj" fmla="val 9859"/>
            </a:avLst>
          </a:prstGeom>
          <a:solidFill>
            <a:srgbClr val="24404E"/>
          </a:solidFill>
          <a:ln w="12700">
            <a:solidFill>
              <a:srgbClr val="24404E"/>
            </a:solidFill>
            <a:prstDash val="solid"/>
          </a:ln>
        </p:spPr>
      </p:sp>
      <p:sp>
        <p:nvSpPr>
          <p:cNvPr id="18" name="Shape 16"/>
          <p:cNvSpPr/>
          <p:nvPr/>
        </p:nvSpPr>
        <p:spPr>
          <a:xfrm>
            <a:off x="804672" y="4631436"/>
            <a:ext cx="402336" cy="402336"/>
          </a:xfrm>
          <a:prstGeom prst="ellipse">
            <a:avLst/>
          </a:prstGeom>
          <a:solidFill>
            <a:srgbClr val="2E7D7D"/>
          </a:solidFill>
          <a:ln w="12700">
            <a:solidFill>
              <a:srgbClr val="2E7D7D"/>
            </a:solidFill>
            <a:prstDash val="solid"/>
          </a:ln>
        </p:spPr>
      </p:sp>
      <p:sp>
        <p:nvSpPr>
          <p:cNvPr id="19" name="Text 17"/>
          <p:cNvSpPr txBox="1"/>
          <p:nvPr/>
        </p:nvSpPr>
        <p:spPr>
          <a:xfrm>
            <a:off x="804672" y="4631436"/>
            <a:ext cx="402336" cy="402336"/>
          </a:xfrm>
          <a:prstGeom prst="rect">
            <a:avLst/>
          </a:prstGeom>
          <a:noFill/>
          <a:ln/>
        </p:spPr>
        <p:txBody>
          <a:bodyPr wrap="square" lIns="0" tIns="0" rIns="0" bIns="0" rtlCol="0" anchor="ctr"/>
          <a:lstStyle/>
          <a:p>
            <a:pPr algn="ctr" indent="0" marL="0">
              <a:buNone/>
            </a:pPr>
            <a:endParaRPr lang="en-US" sz="1200" dirty="0"/>
          </a:p>
        </p:txBody>
      </p:sp>
      <p:sp>
        <p:nvSpPr>
          <p:cNvPr id="20" name="Text 18"/>
          <p:cNvSpPr txBox="1"/>
          <p:nvPr/>
        </p:nvSpPr>
        <p:spPr>
          <a:xfrm>
            <a:off x="1426464" y="4581144"/>
            <a:ext cx="9960559" cy="5029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Para mañana: baja un documento normativo público que te interese, de preferencia unas reglas de operación del Diario Oficial, y tráelo abierto.</a:t>
            </a:r>
            <a:endParaRPr lang="en-US" sz="1450" dirty="0"/>
          </a:p>
        </p:txBody>
      </p:sp>
      <p:sp>
        <p:nvSpPr>
          <p:cNvPr id="21" name="Shape 19"/>
          <p:cNvSpPr/>
          <p:nvPr/>
        </p:nvSpPr>
        <p:spPr>
          <a:xfrm>
            <a:off x="566928" y="5340096"/>
            <a:ext cx="11057839" cy="649224"/>
          </a:xfrm>
          <a:prstGeom prst="roundRect">
            <a:avLst>
              <a:gd name="adj" fmla="val 9859"/>
            </a:avLst>
          </a:prstGeom>
          <a:solidFill>
            <a:srgbClr val="24404E"/>
          </a:solidFill>
          <a:ln w="12700">
            <a:solidFill>
              <a:srgbClr val="24404E"/>
            </a:solidFill>
            <a:prstDash val="solid"/>
          </a:ln>
        </p:spPr>
      </p:sp>
      <p:sp>
        <p:nvSpPr>
          <p:cNvPr id="22" name="Shape 20"/>
          <p:cNvSpPr/>
          <p:nvPr/>
        </p:nvSpPr>
        <p:spPr>
          <a:xfrm>
            <a:off x="804672" y="5463540"/>
            <a:ext cx="402336" cy="402336"/>
          </a:xfrm>
          <a:prstGeom prst="ellipse">
            <a:avLst/>
          </a:prstGeom>
          <a:solidFill>
            <a:srgbClr val="2E7D7D"/>
          </a:solidFill>
          <a:ln w="12700">
            <a:solidFill>
              <a:srgbClr val="2E7D7D"/>
            </a:solidFill>
            <a:prstDash val="solid"/>
          </a:ln>
        </p:spPr>
      </p:sp>
      <p:sp>
        <p:nvSpPr>
          <p:cNvPr id="23" name="Text 21"/>
          <p:cNvSpPr txBox="1"/>
          <p:nvPr/>
        </p:nvSpPr>
        <p:spPr>
          <a:xfrm>
            <a:off x="804672" y="5463540"/>
            <a:ext cx="402336" cy="402336"/>
          </a:xfrm>
          <a:prstGeom prst="rect">
            <a:avLst/>
          </a:prstGeom>
          <a:noFill/>
          <a:ln/>
        </p:spPr>
        <p:txBody>
          <a:bodyPr wrap="square" lIns="0" tIns="0" rIns="0" bIns="0" rtlCol="0" anchor="ctr"/>
          <a:lstStyle/>
          <a:p>
            <a:pPr algn="ctr" indent="0" marL="0">
              <a:buNone/>
            </a:pPr>
            <a:endParaRPr lang="en-US" sz="1200" dirty="0"/>
          </a:p>
        </p:txBody>
      </p:sp>
      <p:sp>
        <p:nvSpPr>
          <p:cNvPr id="24" name="Text 22"/>
          <p:cNvSpPr txBox="1"/>
          <p:nvPr/>
        </p:nvSpPr>
        <p:spPr>
          <a:xfrm>
            <a:off x="1426464" y="5413248"/>
            <a:ext cx="9960559" cy="5029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No actives todavía la prueba de Elicit. Son siete días y se usa hasta el lunes 21. Lo mismo con cualquier prueba gratuita: actívala el día que se usa.</a:t>
            </a:r>
            <a:endParaRPr lang="en-US" sz="1450" dirty="0"/>
          </a:p>
        </p:txBody>
      </p:sp>
      <p:sp>
        <p:nvSpPr>
          <p:cNvPr id="25" name="Text 23"/>
          <p:cNvSpPr txBox="1"/>
          <p:nvPr/>
        </p:nvSpPr>
        <p:spPr>
          <a:xfrm>
            <a:off x="566928" y="6172200"/>
            <a:ext cx="11057839" cy="411480"/>
          </a:xfrm>
          <a:prstGeom prst="rect">
            <a:avLst/>
          </a:prstGeom>
          <a:noFill/>
          <a:ln/>
        </p:spPr>
        <p:txBody>
          <a:bodyPr wrap="square" lIns="0" tIns="0" rIns="0" bIns="0" rtlCol="0" anchor="ctr"/>
          <a:lstStyle/>
          <a:p>
            <a:pPr indent="0" marL="0">
              <a:buNone/>
            </a:pPr>
            <a:r>
              <a:rPr lang="en-US" sz="1300" i="1" dirty="0">
                <a:solidFill>
                  <a:srgbClr val="D7E7E7"/>
                </a:solidFill>
                <a:latin typeface="Calibri" pitchFamily="34" charset="0"/>
                <a:ea typeface="Calibri" pitchFamily="34" charset="-122"/>
                <a:cs typeface="Calibri" pitchFamily="34" charset="-120"/>
              </a:rPr>
              <a:t>Sesión 2, martes 15 de septiembre: Microsoft Copilot y cómo escribir mejores instrucciones.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66928" y="402336"/>
            <a:ext cx="9229039" cy="749808"/>
          </a:xfrm>
          <a:prstGeom prst="rect">
            <a:avLst/>
          </a:prstGeom>
          <a:noFill/>
          <a:ln/>
        </p:spPr>
        <p:txBody>
          <a:bodyPr wrap="square" lIns="0" tIns="0" rIns="0" bIns="0" rtlCol="0" anchor="t"/>
          <a:lstStyle/>
          <a:p>
            <a:pPr algn="l" indent="0" marL="0">
              <a:buNone/>
            </a:pPr>
            <a:r>
              <a:rPr lang="en-US" sz="3200" b="1" dirty="0">
                <a:solidFill>
                  <a:srgbClr val="16262E"/>
                </a:solidFill>
                <a:latin typeface="Arial" pitchFamily="34" charset="0"/>
                <a:ea typeface="Arial" pitchFamily="34" charset="-122"/>
                <a:cs typeface="Arial" pitchFamily="34" charset="-120"/>
              </a:rPr>
              <a:t>Fuentes de los casos de hoy</a:t>
            </a:r>
            <a:endParaRPr lang="en-US" sz="3200" dirty="0"/>
          </a:p>
        </p:txBody>
      </p:sp>
      <p:sp>
        <p:nvSpPr>
          <p:cNvPr id="3" name="Text 1"/>
          <p:cNvSpPr txBox="1"/>
          <p:nvPr/>
        </p:nvSpPr>
        <p:spPr>
          <a:xfrm>
            <a:off x="566928" y="1280160"/>
            <a:ext cx="9960559" cy="365760"/>
          </a:xfrm>
          <a:prstGeom prst="rect">
            <a:avLst/>
          </a:prstGeom>
          <a:noFill/>
          <a:ln/>
        </p:spPr>
        <p:txBody>
          <a:bodyPr wrap="square" lIns="0" tIns="0" rIns="0" bIns="0" rtlCol="0" anchor="t"/>
          <a:lstStyle/>
          <a:p>
            <a:pPr indent="0" marL="0">
              <a:buNone/>
            </a:pPr>
            <a:r>
              <a:rPr lang="en-US" sz="1500" dirty="0">
                <a:solidFill>
                  <a:srgbClr val="5A6B73"/>
                </a:solidFill>
                <a:latin typeface="Calibri" pitchFamily="34" charset="0"/>
                <a:ea typeface="Calibri" pitchFamily="34" charset="-122"/>
                <a:cs typeface="Calibri" pitchFamily="34" charset="-120"/>
              </a:rPr>
              <a:t>Los siete casos son verificables. Compruébalos tú mismo: es exactamente lo que este curso te va a pedir que hagas con todo lo demás.</a:t>
            </a:r>
            <a:endParaRPr lang="en-US" sz="1500" dirty="0"/>
          </a:p>
        </p:txBody>
      </p:sp>
      <p:sp>
        <p:nvSpPr>
          <p:cNvPr id="4" name="Shape 2"/>
          <p:cNvSpPr/>
          <p:nvPr/>
        </p:nvSpPr>
        <p:spPr>
          <a:xfrm>
            <a:off x="566928" y="1810512"/>
            <a:ext cx="11057839" cy="493776"/>
          </a:xfrm>
          <a:prstGeom prst="roundRect">
            <a:avLst>
              <a:gd name="adj" fmla="val 11111"/>
            </a:avLst>
          </a:prstGeom>
          <a:solidFill>
            <a:srgbClr val="F2F5F6"/>
          </a:solidFill>
          <a:ln w="12700">
            <a:solidFill>
              <a:srgbClr val="F2F5F6"/>
            </a:solidFill>
            <a:prstDash val="solid"/>
          </a:ln>
        </p:spPr>
      </p:sp>
      <p:sp>
        <p:nvSpPr>
          <p:cNvPr id="5" name="Text 3"/>
          <p:cNvSpPr txBox="1"/>
          <p:nvPr/>
        </p:nvSpPr>
        <p:spPr>
          <a:xfrm>
            <a:off x="749808" y="1810512"/>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Transparencia.</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Nueva York, 2023</a:t>
            </a:r>
            <a:endParaRPr lang="en-US" sz="1200" dirty="0"/>
          </a:p>
        </p:txBody>
      </p:sp>
      <p:sp>
        <p:nvSpPr>
          <p:cNvPr id="6" name="Text 4"/>
          <p:cNvSpPr txBox="1"/>
          <p:nvPr/>
        </p:nvSpPr>
        <p:spPr>
          <a:xfrm>
            <a:off x="2944368" y="1901952"/>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Mata v. Avianca, Inc., No. 1:22-cv-01461 (S.D.N.Y.). Sanciones del juez P. Kevin Castel, 22 de junio de 2023. Cita: 678 F. Supp. 3d 443.</a:t>
            </a:r>
            <a:endParaRPr lang="en-US" sz="1200" dirty="0"/>
          </a:p>
        </p:txBody>
      </p:sp>
      <p:sp>
        <p:nvSpPr>
          <p:cNvPr id="7" name="Text 5">
            <a:hlinkClick r:id="rId1" tooltip=""/>
          </p:cNvPr>
          <p:cNvSpPr txBox="1"/>
          <p:nvPr/>
        </p:nvSpPr>
        <p:spPr>
          <a:xfrm>
            <a:off x="2944368" y="2140428"/>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https://www.law.berkeley.edu/wp-content/uploads/archive/2025/12/Mata-v-Avianca-Inc.pdf</a:t>
            </a:r>
            <a:endParaRPr lang="en-US" sz="850" dirty="0"/>
          </a:p>
        </p:txBody>
      </p:sp>
      <p:sp>
        <p:nvSpPr>
          <p:cNvPr id="8" name="Shape 6"/>
          <p:cNvSpPr/>
          <p:nvPr/>
        </p:nvSpPr>
        <p:spPr>
          <a:xfrm>
            <a:off x="566928" y="2395728"/>
            <a:ext cx="11057839" cy="493776"/>
          </a:xfrm>
          <a:prstGeom prst="roundRect">
            <a:avLst>
              <a:gd name="adj" fmla="val 11111"/>
            </a:avLst>
          </a:prstGeom>
          <a:solidFill>
            <a:srgbClr val="FFFFFF"/>
          </a:solidFill>
          <a:ln w="12700">
            <a:solidFill>
              <a:srgbClr val="EDF1F2"/>
            </a:solidFill>
            <a:prstDash val="solid"/>
          </a:ln>
        </p:spPr>
      </p:sp>
      <p:sp>
        <p:nvSpPr>
          <p:cNvPr id="9" name="Text 7"/>
          <p:cNvSpPr txBox="1"/>
          <p:nvPr/>
        </p:nvSpPr>
        <p:spPr>
          <a:xfrm>
            <a:off x="749808" y="2395728"/>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Gobierno de datos.</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Samsung, 2023</a:t>
            </a:r>
            <a:endParaRPr lang="en-US" sz="1200" dirty="0"/>
          </a:p>
        </p:txBody>
      </p:sp>
      <p:sp>
        <p:nvSpPr>
          <p:cNvPr id="10" name="Text 8"/>
          <p:cNvSpPr txBox="1"/>
          <p:nvPr/>
        </p:nvSpPr>
        <p:spPr>
          <a:xfrm>
            <a:off x="2944368" y="2487168"/>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Siladitya Ray, Forbes, 2 de mayo de 2023. La nota original es de Mark Gurman en Bloomberg.</a:t>
            </a:r>
            <a:endParaRPr lang="en-US" sz="1200" dirty="0"/>
          </a:p>
        </p:txBody>
      </p:sp>
      <p:sp>
        <p:nvSpPr>
          <p:cNvPr id="11" name="Text 9">
            <a:hlinkClick r:id="rId2" tooltip=""/>
          </p:cNvPr>
          <p:cNvSpPr txBox="1"/>
          <p:nvPr/>
        </p:nvSpPr>
        <p:spPr>
          <a:xfrm>
            <a:off x="2944368" y="2725644"/>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https://www.forbes.com/sites/siladityaray/2023/05/02/samsung-bans-chatgpt-and-other-chatbots-for-employees-after-sensitive-code-leak/</a:t>
            </a:r>
            <a:endParaRPr lang="en-US" sz="850" dirty="0"/>
          </a:p>
        </p:txBody>
      </p:sp>
      <p:sp>
        <p:nvSpPr>
          <p:cNvPr id="12" name="Shape 10"/>
          <p:cNvSpPr/>
          <p:nvPr/>
        </p:nvSpPr>
        <p:spPr>
          <a:xfrm>
            <a:off x="566928" y="2980944"/>
            <a:ext cx="11057839" cy="493776"/>
          </a:xfrm>
          <a:prstGeom prst="roundRect">
            <a:avLst>
              <a:gd name="adj" fmla="val 11111"/>
            </a:avLst>
          </a:prstGeom>
          <a:solidFill>
            <a:srgbClr val="F2F5F6"/>
          </a:solidFill>
          <a:ln w="12700">
            <a:solidFill>
              <a:srgbClr val="F2F5F6"/>
            </a:solidFill>
            <a:prstDash val="solid"/>
          </a:ln>
        </p:spPr>
      </p:sp>
      <p:sp>
        <p:nvSpPr>
          <p:cNvPr id="13" name="Text 11"/>
          <p:cNvSpPr txBox="1"/>
          <p:nvPr/>
        </p:nvSpPr>
        <p:spPr>
          <a:xfrm>
            <a:off x="749808" y="2980944"/>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Sesgos.</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Países Bajos</a:t>
            </a:r>
            <a:endParaRPr lang="en-US" sz="1200" dirty="0"/>
          </a:p>
        </p:txBody>
      </p:sp>
      <p:sp>
        <p:nvSpPr>
          <p:cNvPr id="14" name="Text 12"/>
          <p:cNvSpPr txBox="1"/>
          <p:nvPr/>
        </p:nvSpPr>
        <p:spPr>
          <a:xfrm>
            <a:off x="2944368" y="3072384"/>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Amnistía Internacional, "Xenophobic Machines", octubre de 2021. Un sistema de riesgo del subsidio de guardería usaba la nacionalidad como indicador; el gabinete renunció en enero de 2021.</a:t>
            </a:r>
            <a:endParaRPr lang="en-US" sz="1200" dirty="0"/>
          </a:p>
        </p:txBody>
      </p:sp>
      <p:sp>
        <p:nvSpPr>
          <p:cNvPr id="15" name="Text 13">
            <a:hlinkClick r:id="rId3" tooltip=""/>
          </p:cNvPr>
          <p:cNvSpPr txBox="1"/>
          <p:nvPr/>
        </p:nvSpPr>
        <p:spPr>
          <a:xfrm>
            <a:off x="2944368" y="3310860"/>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https://www.amnesty.org/en/latest/news/2021/10/xenophobic-machines-dutch-child-benefit-scandal/</a:t>
            </a:r>
            <a:endParaRPr lang="en-US" sz="850" dirty="0"/>
          </a:p>
        </p:txBody>
      </p:sp>
      <p:sp>
        <p:nvSpPr>
          <p:cNvPr id="16" name="Shape 14"/>
          <p:cNvSpPr/>
          <p:nvPr/>
        </p:nvSpPr>
        <p:spPr>
          <a:xfrm>
            <a:off x="566928" y="3566160"/>
            <a:ext cx="11057839" cy="493776"/>
          </a:xfrm>
          <a:prstGeom prst="roundRect">
            <a:avLst>
              <a:gd name="adj" fmla="val 11111"/>
            </a:avLst>
          </a:prstGeom>
          <a:solidFill>
            <a:srgbClr val="FFFFFF"/>
          </a:solidFill>
          <a:ln w="12700">
            <a:solidFill>
              <a:srgbClr val="EDF1F2"/>
            </a:solidFill>
            <a:prstDash val="solid"/>
          </a:ln>
        </p:spPr>
      </p:sp>
      <p:sp>
        <p:nvSpPr>
          <p:cNvPr id="17" name="Text 15"/>
          <p:cNvSpPr txBox="1"/>
          <p:nvPr/>
        </p:nvSpPr>
        <p:spPr>
          <a:xfrm>
            <a:off x="749808" y="3566160"/>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Representación.</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Amazon, 2018</a:t>
            </a:r>
            <a:endParaRPr lang="en-US" sz="1200" dirty="0"/>
          </a:p>
        </p:txBody>
      </p:sp>
      <p:sp>
        <p:nvSpPr>
          <p:cNvPr id="18" name="Text 16"/>
          <p:cNvSpPr txBox="1"/>
          <p:nvPr/>
        </p:nvSpPr>
        <p:spPr>
          <a:xfrm>
            <a:off x="2944368" y="3657600"/>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Jeffrey Dastin, Reuters, 10 de octubre de 2018.</a:t>
            </a:r>
            <a:endParaRPr lang="en-US" sz="1200" dirty="0"/>
          </a:p>
        </p:txBody>
      </p:sp>
      <p:sp>
        <p:nvSpPr>
          <p:cNvPr id="19" name="Text 17">
            <a:hlinkClick r:id="rId4" tooltip=""/>
          </p:cNvPr>
          <p:cNvSpPr txBox="1"/>
          <p:nvPr/>
        </p:nvSpPr>
        <p:spPr>
          <a:xfrm>
            <a:off x="2944368" y="3896076"/>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https://www.reuters.com/article/us-amazon-com-jobs-automation-insight/amazon-scraps-secret-ai-recruiting-tool-that-showed-bias-against-women-idUSKCN1MK08G</a:t>
            </a:r>
            <a:endParaRPr lang="en-US" sz="850" dirty="0"/>
          </a:p>
        </p:txBody>
      </p:sp>
      <p:sp>
        <p:nvSpPr>
          <p:cNvPr id="20" name="Shape 18"/>
          <p:cNvSpPr/>
          <p:nvPr/>
        </p:nvSpPr>
        <p:spPr>
          <a:xfrm>
            <a:off x="566928" y="4151376"/>
            <a:ext cx="11057839" cy="493776"/>
          </a:xfrm>
          <a:prstGeom prst="roundRect">
            <a:avLst>
              <a:gd name="adj" fmla="val 11111"/>
            </a:avLst>
          </a:prstGeom>
          <a:solidFill>
            <a:srgbClr val="F2F5F6"/>
          </a:solidFill>
          <a:ln w="12700">
            <a:solidFill>
              <a:srgbClr val="F2F5F6"/>
            </a:solidFill>
            <a:prstDash val="solid"/>
          </a:ln>
        </p:spPr>
      </p:sp>
      <p:sp>
        <p:nvSpPr>
          <p:cNvPr id="21" name="Text 19"/>
          <p:cNvSpPr txBox="1"/>
          <p:nvPr/>
        </p:nvSpPr>
        <p:spPr>
          <a:xfrm>
            <a:off x="749808" y="4151376"/>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Mayoría.</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Hospitales, 2019</a:t>
            </a:r>
            <a:endParaRPr lang="en-US" sz="1200" dirty="0"/>
          </a:p>
        </p:txBody>
      </p:sp>
      <p:sp>
        <p:nvSpPr>
          <p:cNvPr id="22" name="Text 20"/>
          <p:cNvSpPr txBox="1"/>
          <p:nvPr/>
        </p:nvSpPr>
        <p:spPr>
          <a:xfrm>
            <a:off x="2944368" y="4242816"/>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Obermeyer, Powers, Vogeli y Mullainathan, Science 366(6464), páginas 447 a 453, 25 de octubre de 2019.</a:t>
            </a:r>
            <a:endParaRPr lang="en-US" sz="1200" dirty="0"/>
          </a:p>
        </p:txBody>
      </p:sp>
      <p:sp>
        <p:nvSpPr>
          <p:cNvPr id="23" name="Text 21">
            <a:hlinkClick r:id="rId5" tooltip=""/>
          </p:cNvPr>
          <p:cNvSpPr txBox="1"/>
          <p:nvPr/>
        </p:nvSpPr>
        <p:spPr>
          <a:xfrm>
            <a:off x="2944368" y="4481292"/>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https://www.science.org/doi/10.1126/science.aax2342</a:t>
            </a:r>
            <a:endParaRPr lang="en-US" sz="850" dirty="0"/>
          </a:p>
        </p:txBody>
      </p:sp>
      <p:sp>
        <p:nvSpPr>
          <p:cNvPr id="24" name="Shape 22"/>
          <p:cNvSpPr/>
          <p:nvPr/>
        </p:nvSpPr>
        <p:spPr>
          <a:xfrm>
            <a:off x="566928" y="4736592"/>
            <a:ext cx="11057839" cy="493776"/>
          </a:xfrm>
          <a:prstGeom prst="roundRect">
            <a:avLst>
              <a:gd name="adj" fmla="val 11111"/>
            </a:avLst>
          </a:prstGeom>
          <a:solidFill>
            <a:srgbClr val="FFFFFF"/>
          </a:solidFill>
          <a:ln w="12700">
            <a:solidFill>
              <a:srgbClr val="EDF1F2"/>
            </a:solidFill>
            <a:prstDash val="solid"/>
          </a:ln>
        </p:spPr>
      </p:sp>
      <p:sp>
        <p:nvSpPr>
          <p:cNvPr id="25" name="Text 23"/>
          <p:cNvSpPr txBox="1"/>
          <p:nvPr/>
        </p:nvSpPr>
        <p:spPr>
          <a:xfrm>
            <a:off x="749808" y="4736592"/>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Complacencia.</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OpenAI, 2025</a:t>
            </a:r>
            <a:endParaRPr lang="en-US" sz="1200" dirty="0"/>
          </a:p>
        </p:txBody>
      </p:sp>
      <p:sp>
        <p:nvSpPr>
          <p:cNvPr id="26" name="Text 24"/>
          <p:cNvSpPr txBox="1"/>
          <p:nvPr/>
        </p:nvSpPr>
        <p:spPr>
          <a:xfrm>
            <a:off x="2944368" y="4828032"/>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Análisis publicados por la propia empresa el 29 de abril y el 2 de mayo de 2025.</a:t>
            </a:r>
            <a:endParaRPr lang="en-US" sz="1200" dirty="0"/>
          </a:p>
        </p:txBody>
      </p:sp>
      <p:sp>
        <p:nvSpPr>
          <p:cNvPr id="27" name="Text 25">
            <a:hlinkClick r:id="rId6" tooltip=""/>
          </p:cNvPr>
          <p:cNvSpPr txBox="1"/>
          <p:nvPr/>
        </p:nvSpPr>
        <p:spPr>
          <a:xfrm>
            <a:off x="2944368" y="5066508"/>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https://openai.com/index/expanding-on-sycophancy/</a:t>
            </a:r>
            <a:endParaRPr lang="en-US" sz="850" dirty="0"/>
          </a:p>
        </p:txBody>
      </p:sp>
      <p:sp>
        <p:nvSpPr>
          <p:cNvPr id="28" name="Shape 26"/>
          <p:cNvSpPr/>
          <p:nvPr/>
        </p:nvSpPr>
        <p:spPr>
          <a:xfrm>
            <a:off x="566928" y="5321808"/>
            <a:ext cx="11057839" cy="493776"/>
          </a:xfrm>
          <a:prstGeom prst="roundRect">
            <a:avLst>
              <a:gd name="adj" fmla="val 11111"/>
            </a:avLst>
          </a:prstGeom>
          <a:solidFill>
            <a:srgbClr val="F2F5F6"/>
          </a:solidFill>
          <a:ln w="12700">
            <a:solidFill>
              <a:srgbClr val="F2F5F6"/>
            </a:solidFill>
            <a:prstDash val="solid"/>
          </a:ln>
        </p:spPr>
      </p:sp>
      <p:sp>
        <p:nvSpPr>
          <p:cNvPr id="29" name="Text 27"/>
          <p:cNvSpPr txBox="1"/>
          <p:nvPr/>
        </p:nvSpPr>
        <p:spPr>
          <a:xfrm>
            <a:off x="749808" y="5321808"/>
            <a:ext cx="1965960" cy="493776"/>
          </a:xfrm>
          <a:prstGeom prst="rect">
            <a:avLst/>
          </a:prstGeom>
          <a:noFill/>
          <a:ln/>
        </p:spPr>
        <p:txBody>
          <a:bodyPr wrap="square" lIns="0" tIns="0" rIns="0" bIns="0" rtlCol="0" anchor="ctr"/>
          <a:lstStyle/>
          <a:p>
            <a:pPr indent="0" marL="0">
              <a:buNone/>
            </a:pPr>
            <a:r>
              <a:rPr lang="en-US" sz="1200" b="1" dirty="0">
                <a:solidFill>
                  <a:srgbClr val="16262E"/>
                </a:solidFill>
                <a:latin typeface="Arial" pitchFamily="34" charset="0"/>
                <a:ea typeface="Arial" pitchFamily="34" charset="-122"/>
                <a:cs typeface="Arial" pitchFamily="34" charset="-120"/>
              </a:rPr>
              <a:t>Lingüístico.</a:t>
            </a:r>
            <a:endParaRPr lang="en-US" sz="1200" dirty="0"/>
          </a:p>
          <a:p>
            <a:pPr indent="0" marL="0">
              <a:buNone/>
            </a:pPr>
            <a:r>
              <a:rPr lang="en-US" sz="1200" b="1" dirty="0">
                <a:solidFill>
                  <a:srgbClr val="16262E"/>
                </a:solidFill>
                <a:latin typeface="Arial" pitchFamily="34" charset="0"/>
                <a:ea typeface="Arial" pitchFamily="34" charset="-122"/>
                <a:cs typeface="Arial" pitchFamily="34" charset="-120"/>
              </a:rPr>
              <a:t>Israel, 2017</a:t>
            </a:r>
            <a:endParaRPr lang="en-US" sz="1200" dirty="0"/>
          </a:p>
        </p:txBody>
      </p:sp>
      <p:sp>
        <p:nvSpPr>
          <p:cNvPr id="30" name="Text 28"/>
          <p:cNvSpPr txBox="1"/>
          <p:nvPr/>
        </p:nvSpPr>
        <p:spPr>
          <a:xfrm>
            <a:off x="2944368" y="5413248"/>
            <a:ext cx="8497519" cy="256764"/>
          </a:xfrm>
          <a:prstGeom prst="rect">
            <a:avLst/>
          </a:prstGeom>
          <a:noFill/>
          <a:ln/>
        </p:spPr>
        <p:txBody>
          <a:bodyPr wrap="square" lIns="0" tIns="0" rIns="0" bIns="0" rtlCol="0" anchor="t"/>
          <a:lstStyle/>
          <a:p>
            <a:pPr indent="0" marL="0">
              <a:lnSpc>
                <a:spcPct val="106000"/>
              </a:lnSpc>
              <a:buNone/>
            </a:pPr>
            <a:r>
              <a:rPr lang="en-US" sz="1200" dirty="0">
                <a:solidFill>
                  <a:srgbClr val="16262E"/>
                </a:solidFill>
                <a:latin typeface="Calibri" pitchFamily="34" charset="0"/>
                <a:ea typeface="Calibri" pitchFamily="34" charset="-122"/>
                <a:cs typeface="Calibri" pitchFamily="34" charset="-120"/>
              </a:rPr>
              <a:t>Haaretz, 22 de octubre de 2017. La cifra de reconocimiento de voz es de Koenecke y coautores, PNAS 117(14), 2020.</a:t>
            </a:r>
            <a:endParaRPr lang="en-US" sz="1200" dirty="0"/>
          </a:p>
        </p:txBody>
      </p:sp>
      <p:sp>
        <p:nvSpPr>
          <p:cNvPr id="31" name="Text 29">
            <a:hlinkClick r:id="rId7" tooltip=""/>
          </p:cNvPr>
          <p:cNvSpPr txBox="1"/>
          <p:nvPr/>
        </p:nvSpPr>
        <p:spPr>
          <a:xfrm>
            <a:off x="2944368" y="5651724"/>
            <a:ext cx="8497519" cy="207386"/>
          </a:xfrm>
          <a:prstGeom prst="rect">
            <a:avLst/>
          </a:prstGeom>
          <a:noFill/>
          <a:ln/>
        </p:spPr>
        <p:txBody>
          <a:bodyPr wrap="square" lIns="0" tIns="0" rIns="0" bIns="0" rtlCol="0" anchor="t"/>
          <a:lstStyle/>
          <a:p>
            <a:pPr indent="0" marL="0">
              <a:lnSpc>
                <a:spcPct val="105000"/>
              </a:lnSpc>
              <a:buNone/>
            </a:pPr>
            <a:r>
              <a:rPr lang="en-US" sz="850" u="sng" dirty="0">
                <a:solidFill>
                  <a:srgbClr val="2E7D7D"/>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https://www.pnas.org/doi/10.1073/pnas.1915768117</a:t>
            </a:r>
            <a:endParaRPr lang="en-US" sz="850" dirty="0"/>
          </a:p>
        </p:txBody>
      </p:sp>
      <p:sp>
        <p:nvSpPr>
          <p:cNvPr id="32" name="Shape 30"/>
          <p:cNvSpPr/>
          <p:nvPr/>
        </p:nvSpPr>
        <p:spPr>
          <a:xfrm>
            <a:off x="566928" y="5980176"/>
            <a:ext cx="11057839" cy="475488"/>
          </a:xfrm>
          <a:prstGeom prst="roundRect">
            <a:avLst>
              <a:gd name="adj" fmla="val 11538"/>
            </a:avLst>
          </a:prstGeom>
          <a:solidFill>
            <a:srgbClr val="F7E4D8"/>
          </a:solidFill>
          <a:ln w="12700">
            <a:solidFill>
              <a:srgbClr val="F7E4D8"/>
            </a:solidFill>
            <a:prstDash val="solid"/>
          </a:ln>
        </p:spPr>
      </p:sp>
      <p:sp>
        <p:nvSpPr>
          <p:cNvPr id="33" name="Text 31"/>
          <p:cNvSpPr txBox="1"/>
          <p:nvPr/>
        </p:nvSpPr>
        <p:spPr>
          <a:xfrm>
            <a:off x="786384" y="5980176"/>
            <a:ext cx="10618927" cy="475488"/>
          </a:xfrm>
          <a:prstGeom prst="rect">
            <a:avLst/>
          </a:prstGeom>
          <a:noFill/>
          <a:ln/>
        </p:spPr>
        <p:txBody>
          <a:bodyPr wrap="square" lIns="0" tIns="0" rIns="0" bIns="0" rtlCol="0" anchor="ctr"/>
          <a:lstStyle/>
          <a:p>
            <a:pPr indent="0" marL="0">
              <a:buNone/>
            </a:pPr>
            <a:r>
              <a:rPr lang="en-US" sz="1150" b="1" dirty="0">
                <a:solidFill>
                  <a:srgbClr val="16262E"/>
                </a:solidFill>
                <a:latin typeface="Calibri" pitchFamily="34" charset="0"/>
                <a:ea typeface="Calibri" pitchFamily="34" charset="-122"/>
                <a:cs typeface="Calibri" pitchFamily="34" charset="-120"/>
              </a:rPr>
              <a:t>Ligas verificadas el 12 de septiembre de 2026. Si alguna deja de servir, la referencia basta para encontrar la fuente.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Curso de Inteligencia Artificial Aplicada</dc:creator>
  <cp:lastModifiedBy>Curso de Inteligencia Artificial Aplicada</cp:lastModifiedBy>
  <cp:revision>1</cp:revision>
  <dcterms:created xsi:type="dcterms:W3CDTF">2026-09-13T23:55:48Z</dcterms:created>
  <dcterms:modified xsi:type="dcterms:W3CDTF">2026-09-13T23:55:48Z</dcterms:modified>
</cp:coreProperties>
</file>