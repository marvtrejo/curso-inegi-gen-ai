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slides/slide29.xml" ContentType="application/vnd.openxmlformats-officedocument.presentationml.slide+xml"/>
  <Override PartName="/ppt/slides/slide27.xml" ContentType="application/vnd.openxmlformats-officedocument.presentationml.slide+xml"/>
  <Override PartName="/ppt/slides/slide26.xml" ContentType="application/vnd.openxmlformats-officedocument.presentationml.slide+xml"/>
  <Override PartName="/ppt/slides/slide14.xml" ContentType="application/vnd.openxmlformats-officedocument.presentationml.slide+xml"/>
  <Override PartName="/ppt/slides/slide6.xml" ContentType="application/vnd.openxmlformats-officedocument.presentationml.slide+xml"/>
  <Override PartName="/ppt/slides/slide15.xml" ContentType="application/vnd.openxmlformats-officedocument.presentationml.slide+xml"/>
  <Override PartName="/ppt/slides/slide1.xml" ContentType="application/vnd.openxmlformats-officedocument.presentationml.slide+xml"/>
  <Override PartName="/ppt/slides/slide16.xml" ContentType="application/vnd.openxmlformats-officedocument.presentationml.slide+xml"/>
  <Override PartName="/ppt/slides/slide5.xml" ContentType="application/vnd.openxmlformats-officedocument.presentationml.slide+xml"/>
  <Override PartName="/ppt/slides/slide22.xml" ContentType="application/vnd.openxmlformats-officedocument.presentationml.slide+xml"/>
  <Override PartName="/ppt/slides/slide25.xml" ContentType="application/vnd.openxmlformats-officedocument.presentationml.slide+xml"/>
  <Override PartName="/ppt/slides/slide21.xml" ContentType="application/vnd.openxmlformats-officedocument.presentationml.slide+xml"/>
  <Override PartName="/ppt/slides/slide34.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6.xml" ContentType="application/vnd.openxmlformats-officedocument.presentationml.slide+xml"/>
  <Override PartName="/ppt/slides/slide18.xml" ContentType="application/vnd.openxmlformats-officedocument.presentationml.slide+xml"/>
  <Override PartName="/ppt/slides/slide33.xml" ContentType="application/vnd.openxmlformats-officedocument.presentationml.slide+xml"/>
  <Override PartName="/ppt/slides/slide35.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9.xml" ContentType="application/vnd.openxmlformats-officedocument.presentationml.slide+xml"/>
  <Override PartName="/ppt/slides/slide37.xml" ContentType="application/vnd.openxmlformats-officedocument.presentationml.slide+xml"/>
  <Override PartName="/ppt/slides/slide24.xml" ContentType="application/vnd.openxmlformats-officedocument.presentationml.slide+xml"/>
  <Override PartName="/ppt/slides/slide32.xml" ContentType="application/vnd.openxmlformats-officedocument.presentationml.slide+xml"/>
  <Override PartName="/ppt/slides/slide31.xml" ContentType="application/vnd.openxmlformats-officedocument.presentationml.slide+xml"/>
  <Override PartName="/ppt/slides/slide39.xml" ContentType="application/vnd.openxmlformats-officedocument.presentationml.slide+xml"/>
  <Override PartName="/ppt/slides/slide19.xml" ContentType="application/vnd.openxmlformats-officedocument.presentationml.slide+xml"/>
  <Override PartName="/ppt/slides/slide13.xml" ContentType="application/vnd.openxmlformats-officedocument.presentationml.slide+xml"/>
  <Override PartName="/ppt/slides/slide11.xml" ContentType="application/vnd.openxmlformats-officedocument.presentationml.slide+xml"/>
  <Override PartName="/ppt/slides/slide28.xml" ContentType="application/vnd.openxmlformats-officedocument.presentationml.slide+xml"/>
  <Override PartName="/ppt/slides/slide12.xml" ContentType="application/vnd.openxmlformats-officedocument.presentationml.slide+xml"/>
  <Override PartName="/ppt/slides/slide20.xml" ContentType="application/vnd.openxmlformats-officedocument.presentationml.slide+xml"/>
  <Override PartName="/ppt/slides/slide17.xml" ContentType="application/vnd.openxmlformats-officedocument.presentationml.slide+xml"/>
  <Override PartName="/ppt/slides/slide10.xml" ContentType="application/vnd.openxmlformats-officedocument.presentationml.slide+xml"/>
  <Override PartName="/ppt/slides/slide23.xml" ContentType="application/vnd.openxmlformats-officedocument.presentationml.slide+xml"/>
  <Override PartName="/ppt/slides/slide2.xml" ContentType="application/vnd.openxmlformats-officedocument.presentationml.slide+xml"/>
  <Override PartName="/ppt/slides/slide8.xml" ContentType="application/vnd.openxmlformats-officedocument.presentationml.slide+xml"/>
  <Override PartName="/ppt/notesSlides/notesSlide26.xml" ContentType="application/vnd.openxmlformats-officedocument.presentationml.notesSlide+xml"/>
  <Override PartName="/ppt/notesSlides/notesSlide9.xml" ContentType="application/vnd.openxmlformats-officedocument.presentationml.notesSlide+xml"/>
  <Override PartName="/ppt/notesSlides/notesSlide24.xml" ContentType="application/vnd.openxmlformats-officedocument.presentationml.notesSlide+xml"/>
  <Override PartName="/ppt/notesSlides/notesSlide23.xml" ContentType="application/vnd.openxmlformats-officedocument.presentationml.notesSlide+xml"/>
  <Override PartName="/ppt/notesSlides/notesSlide6.xml" ContentType="application/vnd.openxmlformats-officedocument.presentationml.notesSlide+xml"/>
  <Override PartName="/ppt/notesSlides/notesSlide22.xml" ContentType="application/vnd.openxmlformats-officedocument.presentationml.notesSlide+xml"/>
  <Override PartName="/ppt/notesSlides/notesSlide12.xml" ContentType="application/vnd.openxmlformats-officedocument.presentationml.notesSlide+xml"/>
  <Override PartName="/ppt/notesSlides/notesSlide11.xml" ContentType="application/vnd.openxmlformats-officedocument.presentationml.notesSlide+xml"/>
  <Override PartName="/ppt/notesSlides/notesSlide13.xml" ContentType="application/vnd.openxmlformats-officedocument.presentationml.notesSlide+xml"/>
  <Override PartName="/ppt/notesSlides/notesSlide5.xml" ContentType="application/vnd.openxmlformats-officedocument.presentationml.notesSlide+xml"/>
  <Override PartName="/ppt/notesSlides/notesSlide1.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18.xml" ContentType="application/vnd.openxmlformats-officedocument.presentationml.notesSlide+xml"/>
  <Override PartName="/ppt/notesSlides/notesSlide32.xml" ContentType="application/vnd.openxmlformats-officedocument.presentationml.notesSlide+xml"/>
  <Override PartName="/ppt/notesSlides/notesSlide10.xml" ContentType="application/vnd.openxmlformats-officedocument.presentationml.notesSlide+xml"/>
  <Override PartName="/ppt/notesSlides/notesSlide19.xml" ContentType="application/vnd.openxmlformats-officedocument.presentationml.notesSlide+xml"/>
  <Override PartName="/ppt/notesSlides/notesSlide33.xml" ContentType="application/vnd.openxmlformats-officedocument.presentationml.notesSlide+xml"/>
  <Override PartName="/ppt/notesSlides/notesSlide36.xml" ContentType="application/vnd.openxmlformats-officedocument.presentationml.notesSlide+xml"/>
  <Override PartName="/ppt/notesSlides/notesSlide27.xml" ContentType="application/vnd.openxmlformats-officedocument.presentationml.notesSlide+xml"/>
  <Override PartName="/ppt/notesSlides/notesSlide35.xml" ContentType="application/vnd.openxmlformats-officedocument.presentationml.notesSlide+xml"/>
  <Override PartName="/ppt/notesSlides/notesSlide25.xml" ContentType="application/vnd.openxmlformats-officedocument.presentationml.notesSlide+xml"/>
  <Override PartName="/ppt/notesSlides/notesSlide34.xml" ContentType="application/vnd.openxmlformats-officedocument.presentationml.notesSlide+xml"/>
  <Override PartName="/ppt/notesSlides/notesSlide8.xml" ContentType="application/vnd.openxmlformats-officedocument.presentationml.notesSlide+xml"/>
  <Override PartName="/ppt/notesSlides/notesSlide29.xml" ContentType="application/vnd.openxmlformats-officedocument.presentationml.notesSlide+xml"/>
  <Override PartName="/ppt/notesSlides/notesSlide37.xml" ContentType="application/vnd.openxmlformats-officedocument.presentationml.notesSlide+xml"/>
  <Override PartName="/ppt/notesSlides/notesSlide3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28.xml" ContentType="application/vnd.openxmlformats-officedocument.presentationml.notesSlide+xml"/>
  <Override PartName="/ppt/notesSlides/notesSlide21.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38.xml" ContentType="application/vnd.openxmlformats-officedocument.presentationml.notesSlide+xml"/>
  <Override PartName="/ppt/notesSlides/notesSlide17.xml" ContentType="application/vnd.openxmlformats-officedocument.presentationml.notesSlide+xml"/>
  <Override PartName="/ppt/notesSlides/notesSlide20.xml" ContentType="application/vnd.openxmlformats-officedocument.presentationml.notesSlide+xml"/>
  <Override PartName="/ppt/notesSlides/notesSlide4.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 id="285" r:id="rId33"/>
    <p:sldId id="286" r:id="rId34"/>
    <p:sldId id="287" r:id="rId35"/>
    <p:sldId id="288" r:id="rId36"/>
    <p:sldId id="289" r:id="rId37"/>
    <p:sldId id="290" r:id="rId38"/>
    <p:sldId id="291" r:id="rId39"/>
    <p:sldId id="292" r:id="rId40"/>
    <p:sldId id="293" r:id="rId41"/>
    <p:sldId id="294" r:id="rId42"/>
  </p:sldIdLst>
  <p:sldSz cx="12192000" cy="6858000"/>
  <p:notesSz cx="6858000" cy="121920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slide" Target="slides/slide33.xml"/><Relationship Id="rId37" Type="http://schemas.openxmlformats.org/officeDocument/2006/relationships/slide" Target="slides/slide34.xml"/><Relationship Id="rId38" Type="http://schemas.openxmlformats.org/officeDocument/2006/relationships/slide" Target="slides/slide35.xml"/><Relationship Id="rId39" Type="http://schemas.openxmlformats.org/officeDocument/2006/relationships/slide" Target="slides/slide36.xml"/><Relationship Id="rId40" Type="http://schemas.openxmlformats.org/officeDocument/2006/relationships/slide" Target="slides/slide37.xml"/><Relationship Id="rId41" Type="http://schemas.openxmlformats.org/officeDocument/2006/relationships/slide" Target="slides/slide38.xml"/><Relationship Id="rId42" Type="http://schemas.openxmlformats.org/officeDocument/2006/relationships/slide" Target="slides/slide39.xml"/><Relationship Id="rId43"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 name="PlaceHolder 1"/>
          <p:cNvSpPr>
            <a:spLocks noGrp="1"/>
          </p:cNvSpPr>
          <p:nvPr>
            <p:ph type="sldImg"/>
          </p:nvPr>
        </p:nvSpPr>
        <p:spPr>
          <a:xfrm>
            <a:off x="533520" y="764280"/>
            <a:ext cx="6704640" cy="3771360"/>
          </a:xfrm>
          <a:prstGeom prst="rect">
            <a:avLst/>
          </a:prstGeom>
          <a:noFill/>
          <a:ln w="0">
            <a:noFill/>
          </a:ln>
        </p:spPr>
        <p:txBody>
          <a:bodyPr lIns="0" tIns="0" rIns="0" bIns="0" anchor="ctr">
            <a:noAutofit/>
          </a:bodyPr>
          <a:p>
            <a:r>
              <a:rPr lang="en-US" sz="1800" b="0" u="none" strike="noStrike">
                <a:solidFill>
                  <a:schemeClr val="dk1"/>
                </a:solidFill>
                <a:effectLst/>
                <a:uFillTx/>
                <a:latin typeface="Calibri"/>
              </a:rPr>
              <a:t>Click to move the slide</a:t>
            </a:r>
            <a:endParaRPr lang="en-US" sz="1800" b="0" u="none" strike="noStrike">
              <a:solidFill>
                <a:schemeClr val="dk1"/>
              </a:solidFill>
              <a:effectLst/>
              <a:uFillTx/>
              <a:latin typeface="Calibri"/>
            </a:endParaRPr>
          </a:p>
        </p:txBody>
      </p:sp>
      <p:sp>
        <p:nvSpPr>
          <p:cNvPr id="5"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p>
            <a:pPr indent="0" algn="l">
              <a:buNone/>
            </a:pPr>
            <a:r>
              <a:rPr lang="en-US" sz="2000" b="0" u="none" strike="noStrike">
                <a:solidFill>
                  <a:srgbClr val="000000"/>
                </a:solidFill>
                <a:effectLst/>
                <a:uFillTx/>
                <a:latin typeface="Arial"/>
              </a:rPr>
              <a:t>Click to edit the notes format</a:t>
            </a:r>
            <a:endParaRPr lang="en-US" sz="2000" b="0" u="none" strike="noStrike">
              <a:solidFill>
                <a:srgbClr val="000000"/>
              </a:solidFill>
              <a:effectLst/>
              <a:uFillTx/>
              <a:latin typeface="Arial"/>
            </a:endParaRPr>
          </a:p>
        </p:txBody>
      </p:sp>
      <p:sp>
        <p:nvSpPr>
          <p:cNvPr id="6" name="PlaceHolder 3"/>
          <p:cNvSpPr>
            <a:spLocks noGrp="1"/>
          </p:cNvSpPr>
          <p:nvPr>
            <p:ph type="hdr"/>
          </p:nvPr>
        </p:nvSpPr>
        <p:spPr>
          <a:xfrm>
            <a:off x="0" y="0"/>
            <a:ext cx="3372840" cy="502560"/>
          </a:xfrm>
          <a:prstGeom prst="rect">
            <a:avLst/>
          </a:prstGeom>
          <a:noFill/>
          <a:ln w="0">
            <a:noFill/>
          </a:ln>
        </p:spPr>
        <p:txBody>
          <a:bodyPr lIns="0" tIns="0" rIns="0" bIns="0" anchor="t">
            <a:noAutofit/>
          </a:bodyPr>
          <a:p>
            <a:pPr indent="0" algn="l">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7" name="PlaceHolder 4"/>
          <p:cNvSpPr>
            <a:spLocks noGrp="1"/>
          </p:cNvSpPr>
          <p:nvPr>
            <p:ph type="dt" idx="1"/>
          </p:nvPr>
        </p:nvSpPr>
        <p:spPr>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8" name="PlaceHolder 5"/>
          <p:cNvSpPr>
            <a:spLocks noGrp="1"/>
          </p:cNvSpPr>
          <p:nvPr>
            <p:ph type="ftr" idx="2"/>
          </p:nvPr>
        </p:nvSpPr>
        <p:spPr>
          <a:xfrm>
            <a:off x="0" y="9555480"/>
            <a:ext cx="3372840" cy="50256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9" name="PlaceHolder 6"/>
          <p:cNvSpPr>
            <a:spLocks noGrp="1"/>
          </p:cNvSpPr>
          <p:nvPr>
            <p:ph type="sldNum" idx="3"/>
          </p:nvPr>
        </p:nvSpPr>
        <p:spPr>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FB919FF4-3DC6-4FDD-AE66-0A5656B4FE28}" type="slidenum">
              <a:rPr lang="en-US" sz="1400" b="0" u="none" strike="noStrike">
                <a:solidFill>
                  <a:srgbClr val="000000"/>
                </a:solidFill>
                <a:effectLst/>
                <a:uFillTx/>
                <a:latin typeface="Times New Roman"/>
              </a:rPr>
              <a:t>1</a:t>
            </a:fld>
            <a:endParaRPr lang="en-US"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_rels/notesSlide22.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
</Relationships>
</file>

<file path=ppt/notesSlides/_rels/notesSlide23.xml.rels><?xml version="1.0" encoding="UTF-8"?>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
</Relationships>
</file>

<file path=ppt/notesSlides/_rels/notesSlide24.xml.rels><?xml version="1.0" encoding="UTF-8"?>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
</Relationships>
</file>

<file path=ppt/notesSlides/_rels/notesSlide25.xml.rels><?xml version="1.0" encoding="UTF-8"?>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
</Relationships>
</file>

<file path=ppt/notesSlides/_rels/notesSlide26.xml.rels><?xml version="1.0" encoding="UTF-8"?>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
</Relationships>
</file>

<file path=ppt/notesSlides/_rels/notesSlide27.xml.rels><?xml version="1.0" encoding="UTF-8"?>
<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
</Relationships>
</file>

<file path=ppt/notesSlides/_rels/notesSlide28.xml.rels><?xml version="1.0" encoding="UTF-8"?>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
</Relationships>
</file>

<file path=ppt/notesSlides/_rels/notesSlide29.xml.rels><?xml version="1.0" encoding="UTF-8"?>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
</Relationships>
</file>

<file path=ppt/notesSlides/_rels/notesSlide30.xml.rels><?xml version="1.0" encoding="UTF-8"?>
<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
</Relationships>
</file>

<file path=ppt/notesSlides/_rels/notesSlide31.xml.rels><?xml version="1.0" encoding="UTF-8"?>
<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
</Relationships>
</file>

<file path=ppt/notesSlides/_rels/notesSlide32.xml.rels><?xml version="1.0" encoding="UTF-8"?>
<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
</Relationships>
</file>

<file path=ppt/notesSlides/_rels/notesSlide33.xml.rels><?xml version="1.0" encoding="UTF-8"?>
<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
</Relationships>
</file>

<file path=ppt/notesSlides/_rels/notesSlide34.xml.rels><?xml version="1.0" encoding="UTF-8"?>
<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
</Relationships>
</file>

<file path=ppt/notesSlides/_rels/notesSlide35.xml.rels><?xml version="1.0" encoding="UTF-8"?>
<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
</Relationships>
</file>

<file path=ppt/notesSlides/_rels/notesSlide36.xml.rels><?xml version="1.0" encoding="UTF-8"?>
<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
</Relationships>
</file>

<file path=ppt/notesSlides/_rels/notesSlide37.xml.rels><?xml version="1.0" encoding="UTF-8"?>
<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
</Relationships>
</file>

<file path=ppt/notesSlides/_rels/notesSlide38.xml.rels><?xml version="1.0" encoding="UTF-8"?>
<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
</Relationships>
</file>

<file path=ppt/notesSlides/_rels/notesSlide39.xml.rels><?xml version="1.0" encoding="UTF-8"?>
<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7" name="PlaceHolder 1"/>
          <p:cNvSpPr>
            <a:spLocks noGrp="1"/>
          </p:cNvSpPr>
          <p:nvPr>
            <p:ph type="sldImg"/>
          </p:nvPr>
        </p:nvSpPr>
        <p:spPr>
          <a:xfrm>
            <a:off x="685800" y="1143000"/>
            <a:ext cx="5486040" cy="3085920"/>
          </a:xfrm>
          <a:prstGeom prst="rect">
            <a:avLst/>
          </a:prstGeom>
          <a:ln w="0">
            <a:noFill/>
          </a:ln>
        </p:spPr>
      </p:sp>
      <p:sp>
        <p:nvSpPr>
          <p:cNvPr id="67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Abrir la sala quince minutos antes. Tener listos: Copilot, Excel con el padrón sintético, la configuración de privacidad de ChatGPT y la liga del repositorio para pegar en el chat.</a:t>
            </a:r>
            <a:endParaRPr lang="en-US" sz="2000" b="0" u="none" strike="noStrike">
              <a:solidFill>
                <a:srgbClr val="000000"/>
              </a:solidFill>
              <a:effectLst/>
              <a:uFillTx/>
              <a:latin typeface="Arial"/>
            </a:endParaRPr>
          </a:p>
        </p:txBody>
      </p:sp>
      <p:sp>
        <p:nvSpPr>
          <p:cNvPr id="679" name="PlaceHolder 3"/>
          <p:cNvSpPr>
            <a:spLocks noGrp="1"/>
          </p:cNvSpPr>
          <p:nvPr>
            <p:ph type="sldNum" idx="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0D4C3891-8546-4322-AA1F-247928BCBE9D}"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0" name="PlaceHolder 1"/>
          <p:cNvSpPr>
            <a:spLocks noGrp="1"/>
          </p:cNvSpPr>
          <p:nvPr>
            <p:ph type="sldImg"/>
          </p:nvPr>
        </p:nvSpPr>
        <p:spPr>
          <a:xfrm>
            <a:off x="685800" y="1143000"/>
            <a:ext cx="5486040" cy="3085920"/>
          </a:xfrm>
          <a:prstGeom prst="rect">
            <a:avLst/>
          </a:prstGeom>
          <a:ln w="0">
            <a:noFill/>
          </a:ln>
        </p:spPr>
      </p:sp>
      <p:sp>
        <p:nvSpPr>
          <p:cNvPr id="68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La bio de Eduardo se tomó de su ficha pública de Venture Café Monterrey, de 2023. Confirmarla con él antes del lunes por si cambió algo. Las fotos las tiene que dar cada quien.</a:t>
            </a:r>
            <a:endParaRPr lang="en-US" sz="2000" b="0" u="none" strike="noStrike">
              <a:solidFill>
                <a:srgbClr val="000000"/>
              </a:solidFill>
              <a:effectLst/>
              <a:uFillTx/>
              <a:latin typeface="Arial"/>
            </a:endParaRPr>
          </a:p>
        </p:txBody>
      </p:sp>
      <p:sp>
        <p:nvSpPr>
          <p:cNvPr id="682" name="PlaceHolder 3"/>
          <p:cNvSpPr>
            <a:spLocks noGrp="1"/>
          </p:cNvSpPr>
          <p:nvPr>
            <p:ph type="sldNum" idx="5"/>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EDED28CD-BFF7-4061-9FC7-CCE2B6D58630}"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3" name="PlaceHolder 1"/>
          <p:cNvSpPr>
            <a:spLocks noGrp="1"/>
          </p:cNvSpPr>
          <p:nvPr>
            <p:ph type="sldImg"/>
          </p:nvPr>
        </p:nvSpPr>
        <p:spPr>
          <a:xfrm>
            <a:off x="685800" y="1143000"/>
            <a:ext cx="5486040" cy="3085920"/>
          </a:xfrm>
          <a:prstGeom prst="rect">
            <a:avLst/>
          </a:prstGeom>
          <a:ln w="0">
            <a:noFill/>
          </a:ln>
        </p:spPr>
      </p:sp>
      <p:sp>
        <p:nvSpPr>
          <p:cNvPr id="68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685" name="PlaceHolder 3"/>
          <p:cNvSpPr>
            <a:spLocks noGrp="1"/>
          </p:cNvSpPr>
          <p:nvPr>
            <p:ph type="sldNum" idx="6"/>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A7E3D5FC-EB2F-4040-9579-D59488FD356A}"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6" name="PlaceHolder 1"/>
          <p:cNvSpPr>
            <a:spLocks noGrp="1"/>
          </p:cNvSpPr>
          <p:nvPr>
            <p:ph type="sldImg"/>
          </p:nvPr>
        </p:nvSpPr>
        <p:spPr>
          <a:xfrm>
            <a:off x="685800" y="1143000"/>
            <a:ext cx="5486040" cy="3085920"/>
          </a:xfrm>
          <a:prstGeom prst="rect">
            <a:avLst/>
          </a:prstGeom>
          <a:ln w="0">
            <a:noFill/>
          </a:ln>
        </p:spPr>
      </p:sp>
      <p:sp>
        <p:nvSpPr>
          <p:cNvPr id="68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Decirlo en voz alta: aquí nadie aprueba por venir. Se aprueba por entregar.</a:t>
            </a:r>
            <a:endParaRPr lang="en-US" sz="2000" b="0" u="none" strike="noStrike">
              <a:solidFill>
                <a:srgbClr val="000000"/>
              </a:solidFill>
              <a:effectLst/>
              <a:uFillTx/>
              <a:latin typeface="Arial"/>
            </a:endParaRPr>
          </a:p>
        </p:txBody>
      </p:sp>
      <p:sp>
        <p:nvSpPr>
          <p:cNvPr id="688" name="PlaceHolder 3"/>
          <p:cNvSpPr>
            <a:spLocks noGrp="1"/>
          </p:cNvSpPr>
          <p:nvPr>
            <p:ph type="sldNum" idx="7"/>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0CF0461D-53D2-49FA-AAF8-4EDBD243EDD2}"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9" name="PlaceHolder 1"/>
          <p:cNvSpPr>
            <a:spLocks noGrp="1"/>
          </p:cNvSpPr>
          <p:nvPr>
            <p:ph type="sldImg"/>
          </p:nvPr>
        </p:nvSpPr>
        <p:spPr>
          <a:xfrm>
            <a:off x="685800" y="1143000"/>
            <a:ext cx="5486040" cy="3085920"/>
          </a:xfrm>
          <a:prstGeom prst="rect">
            <a:avLst/>
          </a:prstGeom>
          <a:ln w="0">
            <a:noFill/>
          </a:ln>
        </p:spPr>
      </p:sp>
      <p:sp>
        <p:nvSpPr>
          <p:cNvPr id="69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691" name="PlaceHolder 3"/>
          <p:cNvSpPr>
            <a:spLocks noGrp="1"/>
          </p:cNvSpPr>
          <p:nvPr>
            <p:ph type="sldNum" idx="8"/>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24B8C61-C682-450C-A013-E431CB374B3C}"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2" name="PlaceHolder 1"/>
          <p:cNvSpPr>
            <a:spLocks noGrp="1"/>
          </p:cNvSpPr>
          <p:nvPr>
            <p:ph type="sldImg"/>
          </p:nvPr>
        </p:nvSpPr>
        <p:spPr>
          <a:xfrm>
            <a:off x="685800" y="1143000"/>
            <a:ext cx="5486040" cy="3085920"/>
          </a:xfrm>
          <a:prstGeom prst="rect">
            <a:avLst/>
          </a:prstGeom>
          <a:ln w="0">
            <a:noFill/>
          </a:ln>
        </p:spPr>
      </p:sp>
      <p:sp>
        <p:nvSpPr>
          <p:cNvPr id="69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694" name="PlaceHolder 3"/>
          <p:cNvSpPr>
            <a:spLocks noGrp="1"/>
          </p:cNvSpPr>
          <p:nvPr>
            <p:ph type="sldNum" idx="9"/>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4E1FB791-D5E3-4A2D-B79F-CDBFEE5A12DA}"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8" name="PlaceHolder 1"/>
          <p:cNvSpPr>
            <a:spLocks noGrp="1"/>
          </p:cNvSpPr>
          <p:nvPr>
            <p:ph type="sldImg"/>
          </p:nvPr>
        </p:nvSpPr>
        <p:spPr>
          <a:xfrm>
            <a:off x="685800" y="1143000"/>
            <a:ext cx="5486040" cy="3085920"/>
          </a:xfrm>
          <a:prstGeom prst="rect">
            <a:avLst/>
          </a:prstGeom>
          <a:ln w="0">
            <a:noFill/>
          </a:ln>
        </p:spPr>
      </p:sp>
      <p:sp>
        <p:nvSpPr>
          <p:cNvPr id="69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700" name="PlaceHolder 3"/>
          <p:cNvSpPr>
            <a:spLocks noGrp="1"/>
          </p:cNvSpPr>
          <p:nvPr>
            <p:ph type="sldNum" idx="11"/>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590D13F7-D13F-44F7-913B-039D52D540CA}"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1" name="PlaceHolder 1"/>
          <p:cNvSpPr>
            <a:spLocks noGrp="1"/>
          </p:cNvSpPr>
          <p:nvPr>
            <p:ph type="sldImg"/>
          </p:nvPr>
        </p:nvSpPr>
        <p:spPr>
          <a:xfrm>
            <a:off x="685800" y="1143000"/>
            <a:ext cx="5486040" cy="3085920"/>
          </a:xfrm>
          <a:prstGeom prst="rect">
            <a:avLst/>
          </a:prstGeom>
          <a:ln w="0">
            <a:noFill/>
          </a:ln>
        </p:spPr>
      </p:sp>
      <p:sp>
        <p:nvSpPr>
          <p:cNvPr id="70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Antes de mostrar la respuesta, pregunta al grupo dónde pondrían una regresión logística. Casi siempre la ponen fuera del diagrama.</a:t>
            </a:r>
            <a:endParaRPr lang="en-US" sz="2000" b="0" u="none" strike="noStrike">
              <a:solidFill>
                <a:srgbClr val="000000"/>
              </a:solidFill>
              <a:effectLst/>
              <a:uFillTx/>
              <a:latin typeface="Arial"/>
            </a:endParaRPr>
          </a:p>
        </p:txBody>
      </p:sp>
      <p:sp>
        <p:nvSpPr>
          <p:cNvPr id="703" name="PlaceHolder 3"/>
          <p:cNvSpPr>
            <a:spLocks noGrp="1"/>
          </p:cNvSpPr>
          <p:nvPr>
            <p:ph type="sldNum" idx="12"/>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B27986B-CB46-4741-9E9B-154EFE2AFC61}"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4" name="PlaceHolder 1"/>
          <p:cNvSpPr>
            <a:spLocks noGrp="1"/>
          </p:cNvSpPr>
          <p:nvPr>
            <p:ph type="sldImg"/>
          </p:nvPr>
        </p:nvSpPr>
        <p:spPr>
          <a:xfrm>
            <a:off x="685800" y="1143000"/>
            <a:ext cx="5486040" cy="3085920"/>
          </a:xfrm>
          <a:prstGeom prst="rect">
            <a:avLst/>
          </a:prstGeom>
          <a:ln w="0">
            <a:noFill/>
          </a:ln>
        </p:spPr>
      </p:sp>
      <p:sp>
        <p:nvSpPr>
          <p:cNvPr id="70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Tres minutos. No entrar en redes recurrentes ni en cómo se calcula la atención. El anexo dice que no se requiere experiencia previa en IA.</a:t>
            </a:r>
            <a:endParaRPr lang="en-US" sz="2000" b="0" u="none" strike="noStrike">
              <a:solidFill>
                <a:srgbClr val="000000"/>
              </a:solidFill>
              <a:effectLst/>
              <a:uFillTx/>
              <a:latin typeface="Arial"/>
            </a:endParaRPr>
          </a:p>
        </p:txBody>
      </p:sp>
      <p:sp>
        <p:nvSpPr>
          <p:cNvPr id="706" name="PlaceHolder 3"/>
          <p:cNvSpPr>
            <a:spLocks noGrp="1"/>
          </p:cNvSpPr>
          <p:nvPr>
            <p:ph type="sldNum" idx="13"/>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51FA7B2-8300-40DE-88C5-2CA0BA7D107E}"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7" name="PlaceHolder 1"/>
          <p:cNvSpPr>
            <a:spLocks noGrp="1"/>
          </p:cNvSpPr>
          <p:nvPr>
            <p:ph type="sldImg"/>
          </p:nvPr>
        </p:nvSpPr>
        <p:spPr>
          <a:xfrm>
            <a:off x="685800" y="1143000"/>
            <a:ext cx="5486040" cy="3085920"/>
          </a:xfrm>
          <a:prstGeom prst="rect">
            <a:avLst/>
          </a:prstGeom>
          <a:ln w="0">
            <a:noFill/>
          </a:ln>
        </p:spPr>
      </p:sp>
      <p:sp>
        <p:nvSpPr>
          <p:cNvPr id="70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Cinco minutos. Después viene la frase de que predice la siguiente palabra: la atención es cómo lee, predecir es para qué se entrenó.</a:t>
            </a:r>
            <a:endParaRPr lang="en-US" sz="2000" b="0" u="none" strike="noStrike">
              <a:solidFill>
                <a:srgbClr val="000000"/>
              </a:solidFill>
              <a:effectLst/>
              <a:uFillTx/>
              <a:latin typeface="Arial"/>
            </a:endParaRPr>
          </a:p>
        </p:txBody>
      </p:sp>
      <p:sp>
        <p:nvSpPr>
          <p:cNvPr id="709" name="PlaceHolder 3"/>
          <p:cNvSpPr>
            <a:spLocks noGrp="1"/>
          </p:cNvSpPr>
          <p:nvPr>
            <p:ph type="sldNum" idx="1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BAEFA5F9-4600-4BE5-A011-5AE658BDD2D2}"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0" name="PlaceHolder 1"/>
          <p:cNvSpPr>
            <a:spLocks noGrp="1"/>
          </p:cNvSpPr>
          <p:nvPr>
            <p:ph type="sldImg"/>
          </p:nvPr>
        </p:nvSpPr>
        <p:spPr>
          <a:xfrm>
            <a:off x="685800" y="1143000"/>
            <a:ext cx="5486040" cy="3085920"/>
          </a:xfrm>
          <a:prstGeom prst="rect">
            <a:avLst/>
          </a:prstGeom>
          <a:ln w="0">
            <a:noFill/>
          </a:ln>
        </p:spPr>
      </p:sp>
      <p:sp>
        <p:nvSpPr>
          <p:cNvPr id="71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712" name="PlaceHolder 3"/>
          <p:cNvSpPr>
            <a:spLocks noGrp="1"/>
          </p:cNvSpPr>
          <p:nvPr>
            <p:ph type="sldNum" idx="15"/>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A5E29B46-19F2-45B8-80D1-C78853A6895A}"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3" name="PlaceHolder 1"/>
          <p:cNvSpPr>
            <a:spLocks noGrp="1"/>
          </p:cNvSpPr>
          <p:nvPr>
            <p:ph type="sldImg"/>
          </p:nvPr>
        </p:nvSpPr>
        <p:spPr>
          <a:xfrm>
            <a:off x="685800" y="1143000"/>
            <a:ext cx="5486040" cy="3085920"/>
          </a:xfrm>
          <a:prstGeom prst="rect">
            <a:avLst/>
          </a:prstGeom>
          <a:ln w="0">
            <a:noFill/>
          </a:ln>
        </p:spPr>
      </p:sp>
      <p:sp>
        <p:nvSpPr>
          <p:cNvPr id="71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Esta distinción evita el error más caro del curso: creer que porque Copilot está bajo contrato, su salida ya se puede usar sin verificar. El contrato protege tus datos, no la veracidad del texto.</a:t>
            </a:r>
            <a:endParaRPr lang="en-US" sz="2000" b="0" u="none" strike="noStrike">
              <a:solidFill>
                <a:srgbClr val="000000"/>
              </a:solidFill>
              <a:effectLst/>
              <a:uFillTx/>
              <a:latin typeface="Arial"/>
            </a:endParaRPr>
          </a:p>
        </p:txBody>
      </p:sp>
      <p:sp>
        <p:nvSpPr>
          <p:cNvPr id="715" name="PlaceHolder 3"/>
          <p:cNvSpPr>
            <a:spLocks noGrp="1"/>
          </p:cNvSpPr>
          <p:nvPr>
            <p:ph type="sldNum" idx="16"/>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5365424C-E1A2-401E-9F8B-A80BD8034488}"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6" name="PlaceHolder 1"/>
          <p:cNvSpPr>
            <a:spLocks noGrp="1"/>
          </p:cNvSpPr>
          <p:nvPr>
            <p:ph type="sldImg"/>
          </p:nvPr>
        </p:nvSpPr>
        <p:spPr>
          <a:xfrm>
            <a:off x="685800" y="1143000"/>
            <a:ext cx="5486040" cy="3085920"/>
          </a:xfrm>
          <a:prstGeom prst="rect">
            <a:avLst/>
          </a:prstGeom>
          <a:ln w="0">
            <a:noFill/>
          </a:ln>
        </p:spPr>
      </p:sp>
      <p:sp>
        <p:nvSpPr>
          <p:cNvPr id="71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Demostración 3: pide tres estudios sobre evaluación de transferencias monetarias en México y búscalos en vivo. Si todos existieran, repite con algo más específico.</a:t>
            </a:r>
            <a:endParaRPr lang="en-US" sz="2000" b="0" u="none" strike="noStrike">
              <a:solidFill>
                <a:srgbClr val="000000"/>
              </a:solidFill>
              <a:effectLst/>
              <a:uFillTx/>
              <a:latin typeface="Arial"/>
            </a:endParaRPr>
          </a:p>
        </p:txBody>
      </p:sp>
      <p:sp>
        <p:nvSpPr>
          <p:cNvPr id="718" name="PlaceHolder 3"/>
          <p:cNvSpPr>
            <a:spLocks noGrp="1"/>
          </p:cNvSpPr>
          <p:nvPr>
            <p:ph type="sldNum" idx="17"/>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B12BCEB7-3187-4888-8F3A-4CE6DBE6C054}"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9" name="PlaceHolder 1"/>
          <p:cNvSpPr>
            <a:spLocks noGrp="1"/>
          </p:cNvSpPr>
          <p:nvPr>
            <p:ph type="sldImg"/>
          </p:nvPr>
        </p:nvSpPr>
        <p:spPr>
          <a:xfrm>
            <a:off x="685800" y="1143000"/>
            <a:ext cx="5486040" cy="3085920"/>
          </a:xfrm>
          <a:prstGeom prst="rect">
            <a:avLst/>
          </a:prstGeom>
          <a:ln w="0">
            <a:noFill/>
          </a:ln>
        </p:spPr>
      </p:sp>
      <p:sp>
        <p:nvSpPr>
          <p:cNvPr id="72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721" name="PlaceHolder 3"/>
          <p:cNvSpPr>
            <a:spLocks noGrp="1"/>
          </p:cNvSpPr>
          <p:nvPr>
            <p:ph type="sldNum" idx="18"/>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F4239881-1993-473D-9088-A3148C3713A8}"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2" name="PlaceHolder 1"/>
          <p:cNvSpPr>
            <a:spLocks noGrp="1"/>
          </p:cNvSpPr>
          <p:nvPr>
            <p:ph type="sldImg"/>
          </p:nvPr>
        </p:nvSpPr>
        <p:spPr>
          <a:xfrm>
            <a:off x="685800" y="1143000"/>
            <a:ext cx="5486040" cy="3085920"/>
          </a:xfrm>
          <a:prstGeom prst="rect">
            <a:avLst/>
          </a:prstGeom>
          <a:ln w="0">
            <a:noFill/>
          </a:ln>
        </p:spPr>
      </p:sp>
      <p:sp>
        <p:nvSpPr>
          <p:cNvPr id="72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724" name="PlaceHolder 3"/>
          <p:cNvSpPr>
            <a:spLocks noGrp="1"/>
          </p:cNvSpPr>
          <p:nvPr>
            <p:ph type="sldNum" idx="19"/>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0E1F955F-B7FB-4686-98DA-337647B5BB58}"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5" name="PlaceHolder 1"/>
          <p:cNvSpPr>
            <a:spLocks noGrp="1"/>
          </p:cNvSpPr>
          <p:nvPr>
            <p:ph type="sldImg"/>
          </p:nvPr>
        </p:nvSpPr>
        <p:spPr>
          <a:xfrm>
            <a:off x="685800" y="1143000"/>
            <a:ext cx="5486040" cy="3085920"/>
          </a:xfrm>
          <a:prstGeom prst="rect">
            <a:avLst/>
          </a:prstGeom>
          <a:ln w="0">
            <a:noFill/>
          </a:ln>
        </p:spPr>
      </p:sp>
      <p:sp>
        <p:nvSpPr>
          <p:cNvPr id="72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727" name="PlaceHolder 3"/>
          <p:cNvSpPr>
            <a:spLocks noGrp="1"/>
          </p:cNvSpPr>
          <p:nvPr>
            <p:ph type="sldNum" idx="20"/>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EAEC1A9-34A9-4E1C-BC9D-846D78561171}"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8" name="PlaceHolder 1"/>
          <p:cNvSpPr>
            <a:spLocks noGrp="1"/>
          </p:cNvSpPr>
          <p:nvPr>
            <p:ph type="sldImg"/>
          </p:nvPr>
        </p:nvSpPr>
        <p:spPr>
          <a:xfrm>
            <a:off x="685800" y="1143000"/>
            <a:ext cx="5486040" cy="3085920"/>
          </a:xfrm>
          <a:prstGeom prst="rect">
            <a:avLst/>
          </a:prstGeom>
          <a:ln w="0">
            <a:noFill/>
          </a:ln>
        </p:spPr>
      </p:sp>
      <p:sp>
        <p:nvSpPr>
          <p:cNvPr id="72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730" name="PlaceHolder 3"/>
          <p:cNvSpPr>
            <a:spLocks noGrp="1"/>
          </p:cNvSpPr>
          <p:nvPr>
            <p:ph type="sldNum" idx="21"/>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4220517-2D0B-4A4D-9929-C1286914DC52}"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1" name="PlaceHolder 1"/>
          <p:cNvSpPr>
            <a:spLocks noGrp="1"/>
          </p:cNvSpPr>
          <p:nvPr>
            <p:ph type="sldImg"/>
          </p:nvPr>
        </p:nvSpPr>
        <p:spPr>
          <a:xfrm>
            <a:off x="685800" y="1143000"/>
            <a:ext cx="5486040" cy="3085920"/>
          </a:xfrm>
          <a:prstGeom prst="rect">
            <a:avLst/>
          </a:prstGeom>
          <a:ln w="0">
            <a:noFill/>
          </a:ln>
        </p:spPr>
      </p:sp>
      <p:sp>
        <p:nvSpPr>
          <p:cNvPr id="73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733" name="PlaceHolder 3"/>
          <p:cNvSpPr>
            <a:spLocks noGrp="1"/>
          </p:cNvSpPr>
          <p:nvPr>
            <p:ph type="sldNum" idx="22"/>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E4107ED5-FC2E-4698-AA27-DE06746C4F5B}"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4" name="PlaceHolder 1"/>
          <p:cNvSpPr>
            <a:spLocks noGrp="1"/>
          </p:cNvSpPr>
          <p:nvPr>
            <p:ph type="sldImg"/>
          </p:nvPr>
        </p:nvSpPr>
        <p:spPr>
          <a:xfrm>
            <a:off x="685800" y="1143000"/>
            <a:ext cx="5486040" cy="3085920"/>
          </a:xfrm>
          <a:prstGeom prst="rect">
            <a:avLst/>
          </a:prstGeom>
          <a:ln w="0">
            <a:noFill/>
          </a:ln>
        </p:spPr>
      </p:sp>
      <p:sp>
        <p:nvSpPr>
          <p:cNvPr id="73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736" name="PlaceHolder 3"/>
          <p:cNvSpPr>
            <a:spLocks noGrp="1"/>
          </p:cNvSpPr>
          <p:nvPr>
            <p:ph type="sldNum" idx="23"/>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867DCAB-DA73-454E-B209-6D7C475BC6A1}"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7" name="PlaceHolder 1"/>
          <p:cNvSpPr>
            <a:spLocks noGrp="1"/>
          </p:cNvSpPr>
          <p:nvPr>
            <p:ph type="sldImg"/>
          </p:nvPr>
        </p:nvSpPr>
        <p:spPr>
          <a:xfrm>
            <a:off x="685800" y="1143000"/>
            <a:ext cx="5486040" cy="3085920"/>
          </a:xfrm>
          <a:prstGeom prst="rect">
            <a:avLst/>
          </a:prstGeom>
          <a:ln w="0">
            <a:noFill/>
          </a:ln>
        </p:spPr>
      </p:sp>
      <p:sp>
        <p:nvSpPr>
          <p:cNvPr id="73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Este es el mejor caso de los cuatro para este grupo. Pregunta al grupo: ¿cuántas veces usamos gasto como sustituto de necesidad?</a:t>
            </a:r>
            <a:endParaRPr lang="en-US" sz="2000" b="0" u="none" strike="noStrike">
              <a:solidFill>
                <a:srgbClr val="000000"/>
              </a:solidFill>
              <a:effectLst/>
              <a:uFillTx/>
              <a:latin typeface="Arial"/>
            </a:endParaRPr>
          </a:p>
        </p:txBody>
      </p:sp>
      <p:sp>
        <p:nvSpPr>
          <p:cNvPr id="739" name="PlaceHolder 3"/>
          <p:cNvSpPr>
            <a:spLocks noGrp="1"/>
          </p:cNvSpPr>
          <p:nvPr>
            <p:ph type="sldNum" idx="2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918387A-7851-445C-88FC-D4FE70B0AB28}"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0" name="PlaceHolder 1"/>
          <p:cNvSpPr>
            <a:spLocks noGrp="1"/>
          </p:cNvSpPr>
          <p:nvPr>
            <p:ph type="sldImg"/>
          </p:nvPr>
        </p:nvSpPr>
        <p:spPr>
          <a:xfrm>
            <a:off x="685800" y="1143000"/>
            <a:ext cx="5486040" cy="3085920"/>
          </a:xfrm>
          <a:prstGeom prst="rect">
            <a:avLst/>
          </a:prstGeom>
          <a:ln w="0">
            <a:noFill/>
          </a:ln>
        </p:spPr>
      </p:sp>
      <p:sp>
        <p:nvSpPr>
          <p:cNvPr id="74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742" name="PlaceHolder 3"/>
          <p:cNvSpPr>
            <a:spLocks noGrp="1"/>
          </p:cNvSpPr>
          <p:nvPr>
            <p:ph type="sldNum" idx="25"/>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A458EF54-A9B3-47A4-B91F-C1A9767855B4}"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3" name="PlaceHolder 1"/>
          <p:cNvSpPr>
            <a:spLocks noGrp="1"/>
          </p:cNvSpPr>
          <p:nvPr>
            <p:ph type="sldImg"/>
          </p:nvPr>
        </p:nvSpPr>
        <p:spPr>
          <a:xfrm>
            <a:off x="685800" y="1143000"/>
            <a:ext cx="5486040" cy="3085920"/>
          </a:xfrm>
          <a:prstGeom prst="rect">
            <a:avLst/>
          </a:prstGeom>
          <a:ln w="0">
            <a:noFill/>
          </a:ln>
        </p:spPr>
      </p:sp>
      <p:sp>
        <p:nvSpPr>
          <p:cNvPr id="74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745" name="PlaceHolder 3"/>
          <p:cNvSpPr>
            <a:spLocks noGrp="1"/>
          </p:cNvSpPr>
          <p:nvPr>
            <p:ph type="sldNum" idx="26"/>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89046F84-F3C4-4056-9670-1D1E4D23ED13}"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2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6" name="PlaceHolder 1"/>
          <p:cNvSpPr>
            <a:spLocks noGrp="1"/>
          </p:cNvSpPr>
          <p:nvPr>
            <p:ph type="sldImg"/>
          </p:nvPr>
        </p:nvSpPr>
        <p:spPr>
          <a:xfrm>
            <a:off x="685800" y="1143000"/>
            <a:ext cx="5486040" cy="3085920"/>
          </a:xfrm>
          <a:prstGeom prst="rect">
            <a:avLst/>
          </a:prstGeom>
          <a:ln w="0">
            <a:noFill/>
          </a:ln>
        </p:spPr>
      </p:sp>
      <p:sp>
        <p:nvSpPr>
          <p:cNvPr id="74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748" name="PlaceHolder 3"/>
          <p:cNvSpPr>
            <a:spLocks noGrp="1"/>
          </p:cNvSpPr>
          <p:nvPr>
            <p:ph type="sldNum" idx="27"/>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116DE3C0-232F-4C14-992F-2332FD092CE6}"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2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9" name="PlaceHolder 1"/>
          <p:cNvSpPr>
            <a:spLocks noGrp="1"/>
          </p:cNvSpPr>
          <p:nvPr>
            <p:ph type="sldImg"/>
          </p:nvPr>
        </p:nvSpPr>
        <p:spPr>
          <a:xfrm>
            <a:off x="685800" y="1143000"/>
            <a:ext cx="5486040" cy="3085920"/>
          </a:xfrm>
          <a:prstGeom prst="rect">
            <a:avLst/>
          </a:prstGeom>
          <a:ln w="0">
            <a:noFill/>
          </a:ln>
        </p:spPr>
      </p:sp>
      <p:sp>
        <p:nvSpPr>
          <p:cNvPr id="75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Tres minutos. Los requisitos del curso dicen que ya conocen el manejo de información confidencial. Esto solo lo traduce a qué se puede pegar en qué herramienta.</a:t>
            </a:r>
            <a:endParaRPr lang="en-US" sz="2000" b="0" u="none" strike="noStrike">
              <a:solidFill>
                <a:srgbClr val="000000"/>
              </a:solidFill>
              <a:effectLst/>
              <a:uFillTx/>
              <a:latin typeface="Arial"/>
            </a:endParaRPr>
          </a:p>
        </p:txBody>
      </p:sp>
      <p:sp>
        <p:nvSpPr>
          <p:cNvPr id="751" name="PlaceHolder 3"/>
          <p:cNvSpPr>
            <a:spLocks noGrp="1"/>
          </p:cNvSpPr>
          <p:nvPr>
            <p:ph type="sldNum" idx="28"/>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5FF7CF9-568D-4055-A60D-08AD60B10ED3}"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2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2" name="PlaceHolder 1"/>
          <p:cNvSpPr>
            <a:spLocks noGrp="1"/>
          </p:cNvSpPr>
          <p:nvPr>
            <p:ph type="sldImg"/>
          </p:nvPr>
        </p:nvSpPr>
        <p:spPr>
          <a:xfrm>
            <a:off x="685800" y="1143000"/>
            <a:ext cx="5486040" cy="3085920"/>
          </a:xfrm>
          <a:prstGeom prst="rect">
            <a:avLst/>
          </a:prstGeom>
          <a:ln w="0">
            <a:noFill/>
          </a:ln>
        </p:spPr>
      </p:sp>
      <p:sp>
        <p:nvSpPr>
          <p:cNvPr id="75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La afirmación sobre Copilot está verificada contra la documentación de Microsoft sobre enterprise data protection. El matiz de la cuenta institucional es el que más importa en la práctica: es el error que sí pueden cometer.</a:t>
            </a:r>
            <a:endParaRPr lang="en-US" sz="2000" b="0" u="none" strike="noStrike">
              <a:solidFill>
                <a:srgbClr val="000000"/>
              </a:solidFill>
              <a:effectLst/>
              <a:uFillTx/>
              <a:latin typeface="Arial"/>
            </a:endParaRPr>
          </a:p>
        </p:txBody>
      </p:sp>
      <p:sp>
        <p:nvSpPr>
          <p:cNvPr id="754" name="PlaceHolder 3"/>
          <p:cNvSpPr>
            <a:spLocks noGrp="1"/>
          </p:cNvSpPr>
          <p:nvPr>
            <p:ph type="sldNum" idx="29"/>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E27AC6F1-0826-4C6C-BA74-D709385260AC}"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2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5" name="PlaceHolder 1"/>
          <p:cNvSpPr>
            <a:spLocks noGrp="1"/>
          </p:cNvSpPr>
          <p:nvPr>
            <p:ph type="sldImg"/>
          </p:nvPr>
        </p:nvSpPr>
        <p:spPr>
          <a:xfrm>
            <a:off x="685800" y="1143000"/>
            <a:ext cx="5486040" cy="3085920"/>
          </a:xfrm>
          <a:prstGeom prst="rect">
            <a:avLst/>
          </a:prstGeom>
          <a:ln w="0">
            <a:noFill/>
          </a:ln>
        </p:spPr>
      </p:sp>
      <p:sp>
        <p:nvSpPr>
          <p:cNvPr id="75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Recorre la configuración de ChatGPT en pantalla compartida. Conéctalo con el caso de Samsung que acaban de ver.</a:t>
            </a:r>
            <a:endParaRPr lang="en-US" sz="2000" b="0" u="none" strike="noStrike">
              <a:solidFill>
                <a:srgbClr val="000000"/>
              </a:solidFill>
              <a:effectLst/>
              <a:uFillTx/>
              <a:latin typeface="Arial"/>
            </a:endParaRPr>
          </a:p>
        </p:txBody>
      </p:sp>
      <p:sp>
        <p:nvSpPr>
          <p:cNvPr id="757" name="PlaceHolder 3"/>
          <p:cNvSpPr>
            <a:spLocks noGrp="1"/>
          </p:cNvSpPr>
          <p:nvPr>
            <p:ph type="sldNum" idx="30"/>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ED5B0AC8-B976-4A52-98AB-E46B23FBC3A6}"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2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8" name="PlaceHolder 1"/>
          <p:cNvSpPr>
            <a:spLocks noGrp="1"/>
          </p:cNvSpPr>
          <p:nvPr>
            <p:ph type="sldImg"/>
          </p:nvPr>
        </p:nvSpPr>
        <p:spPr>
          <a:xfrm>
            <a:off x="685800" y="1143000"/>
            <a:ext cx="5486040" cy="3085920"/>
          </a:xfrm>
          <a:prstGeom prst="rect">
            <a:avLst/>
          </a:prstGeom>
          <a:ln w="0">
            <a:noFill/>
          </a:ln>
        </p:spPr>
      </p:sp>
      <p:sp>
        <p:nvSpPr>
          <p:cNvPr id="75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760" name="PlaceHolder 3"/>
          <p:cNvSpPr>
            <a:spLocks noGrp="1"/>
          </p:cNvSpPr>
          <p:nvPr>
            <p:ph type="sldNum" idx="31"/>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95B2152-2748-4D47-84C2-F9A3D4AC2900}"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2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1" name="PlaceHolder 1"/>
          <p:cNvSpPr>
            <a:spLocks noGrp="1"/>
          </p:cNvSpPr>
          <p:nvPr>
            <p:ph type="sldImg"/>
          </p:nvPr>
        </p:nvSpPr>
        <p:spPr>
          <a:xfrm>
            <a:off x="685800" y="1143000"/>
            <a:ext cx="5486040" cy="3085920"/>
          </a:xfrm>
          <a:prstGeom prst="rect">
            <a:avLst/>
          </a:prstGeom>
          <a:ln w="0">
            <a:noFill/>
          </a:ln>
        </p:spPr>
      </p:sp>
      <p:sp>
        <p:nvSpPr>
          <p:cNvPr id="76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763" name="PlaceHolder 3"/>
          <p:cNvSpPr>
            <a:spLocks noGrp="1"/>
          </p:cNvSpPr>
          <p:nvPr>
            <p:ph type="sldNum" idx="32"/>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EB9294C0-5C11-4A01-9BCB-FE2241FCFC05}"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3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4" name="PlaceHolder 1"/>
          <p:cNvSpPr>
            <a:spLocks noGrp="1"/>
          </p:cNvSpPr>
          <p:nvPr>
            <p:ph type="sldImg"/>
          </p:nvPr>
        </p:nvSpPr>
        <p:spPr>
          <a:xfrm>
            <a:off x="685800" y="1143000"/>
            <a:ext cx="5486040" cy="3085920"/>
          </a:xfrm>
          <a:prstGeom prst="rect">
            <a:avLst/>
          </a:prstGeom>
          <a:ln w="0">
            <a:noFill/>
          </a:ln>
        </p:spPr>
      </p:sp>
      <p:sp>
        <p:nvSpPr>
          <p:cNvPr id="76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Cinco minutos exactos, en pantalla compartida al mismo tiempo que ellos. El punto es que vean que es rápido.</a:t>
            </a:r>
            <a:endParaRPr lang="en-US" sz="2000" b="0" u="none" strike="noStrike">
              <a:solidFill>
                <a:srgbClr val="000000"/>
              </a:solidFill>
              <a:effectLst/>
              <a:uFillTx/>
              <a:latin typeface="Arial"/>
            </a:endParaRPr>
          </a:p>
        </p:txBody>
      </p:sp>
      <p:sp>
        <p:nvSpPr>
          <p:cNvPr id="766" name="PlaceHolder 3"/>
          <p:cNvSpPr>
            <a:spLocks noGrp="1"/>
          </p:cNvSpPr>
          <p:nvPr>
            <p:ph type="sldNum" idx="33"/>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BA45CF3-BF1D-425C-9A1D-DFEB57F6EED7}"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3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7" name="PlaceHolder 1"/>
          <p:cNvSpPr>
            <a:spLocks noGrp="1"/>
          </p:cNvSpPr>
          <p:nvPr>
            <p:ph type="sldImg"/>
          </p:nvPr>
        </p:nvSpPr>
        <p:spPr>
          <a:xfrm>
            <a:off x="685800" y="1143000"/>
            <a:ext cx="5486040" cy="3085920"/>
          </a:xfrm>
          <a:prstGeom prst="rect">
            <a:avLst/>
          </a:prstGeom>
          <a:ln w="0">
            <a:noFill/>
          </a:ln>
        </p:spPr>
      </p:sp>
      <p:sp>
        <p:nvSpPr>
          <p:cNvPr id="76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769" name="PlaceHolder 3"/>
          <p:cNvSpPr>
            <a:spLocks noGrp="1"/>
          </p:cNvSpPr>
          <p:nvPr>
            <p:ph type="sldNum" idx="3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CB8E3A7-9003-47A4-8310-76E348253A65}"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3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0" name="PlaceHolder 1"/>
          <p:cNvSpPr>
            <a:spLocks noGrp="1"/>
          </p:cNvSpPr>
          <p:nvPr>
            <p:ph type="sldImg"/>
          </p:nvPr>
        </p:nvSpPr>
        <p:spPr>
          <a:xfrm>
            <a:off x="685800" y="1143000"/>
            <a:ext cx="5486040" cy="3085920"/>
          </a:xfrm>
          <a:prstGeom prst="rect">
            <a:avLst/>
          </a:prstGeom>
          <a:ln w="0">
            <a:noFill/>
          </a:ln>
        </p:spPr>
      </p:sp>
      <p:sp>
        <p:nvSpPr>
          <p:cNvPr id="77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772" name="PlaceHolder 3"/>
          <p:cNvSpPr>
            <a:spLocks noGrp="1"/>
          </p:cNvSpPr>
          <p:nvPr>
            <p:ph type="sldNum" idx="35"/>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6E100EB8-3676-4EE0-89B1-7EAC81013322}"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3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3" name="PlaceHolder 1"/>
          <p:cNvSpPr>
            <a:spLocks noGrp="1"/>
          </p:cNvSpPr>
          <p:nvPr>
            <p:ph type="sldImg"/>
          </p:nvPr>
        </p:nvSpPr>
        <p:spPr>
          <a:xfrm>
            <a:off x="685800" y="1143000"/>
            <a:ext cx="5486040" cy="3085920"/>
          </a:xfrm>
          <a:prstGeom prst="rect">
            <a:avLst/>
          </a:prstGeom>
          <a:ln w="0">
            <a:noFill/>
          </a:ln>
        </p:spPr>
      </p:sp>
      <p:sp>
        <p:nvSpPr>
          <p:cNvPr id="77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775" name="PlaceHolder 3"/>
          <p:cNvSpPr>
            <a:spLocks noGrp="1"/>
          </p:cNvSpPr>
          <p:nvPr>
            <p:ph type="sldNum" idx="36"/>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FC0A3939-BAAA-44F6-8959-D30DA5350219}"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3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6" name="PlaceHolder 1"/>
          <p:cNvSpPr>
            <a:spLocks noGrp="1"/>
          </p:cNvSpPr>
          <p:nvPr>
            <p:ph type="sldImg"/>
          </p:nvPr>
        </p:nvSpPr>
        <p:spPr>
          <a:xfrm>
            <a:off x="685800" y="1143000"/>
            <a:ext cx="5486040" cy="3085920"/>
          </a:xfrm>
          <a:prstGeom prst="rect">
            <a:avLst/>
          </a:prstGeom>
          <a:ln w="0">
            <a:noFill/>
          </a:ln>
        </p:spPr>
      </p:sp>
      <p:sp>
        <p:nvSpPr>
          <p:cNvPr id="77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778" name="PlaceHolder 3"/>
          <p:cNvSpPr>
            <a:spLocks noGrp="1"/>
          </p:cNvSpPr>
          <p:nvPr>
            <p:ph type="sldNum" idx="37"/>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D3379174-23CA-4E84-9D51-BFB4D5B6130C}"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3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9" name="PlaceHolder 1"/>
          <p:cNvSpPr>
            <a:spLocks noGrp="1"/>
          </p:cNvSpPr>
          <p:nvPr>
            <p:ph type="sldImg"/>
          </p:nvPr>
        </p:nvSpPr>
        <p:spPr>
          <a:xfrm>
            <a:off x="685800" y="1143000"/>
            <a:ext cx="5486040" cy="3085920"/>
          </a:xfrm>
          <a:prstGeom prst="rect">
            <a:avLst/>
          </a:prstGeom>
          <a:ln w="0">
            <a:noFill/>
          </a:ln>
        </p:spPr>
      </p:sp>
      <p:sp>
        <p:nvSpPr>
          <p:cNvPr id="78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781" name="PlaceHolder 3"/>
          <p:cNvSpPr>
            <a:spLocks noGrp="1"/>
          </p:cNvSpPr>
          <p:nvPr>
            <p:ph type="sldNum" idx="38"/>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EE0930C-AB13-4339-8E4C-3804F5E3E786}"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3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2" name="PlaceHolder 1"/>
          <p:cNvSpPr>
            <a:spLocks noGrp="1"/>
          </p:cNvSpPr>
          <p:nvPr>
            <p:ph type="sldImg"/>
          </p:nvPr>
        </p:nvSpPr>
        <p:spPr>
          <a:xfrm>
            <a:off x="685800" y="1143000"/>
            <a:ext cx="5486040" cy="3085920"/>
          </a:xfrm>
          <a:prstGeom prst="rect">
            <a:avLst/>
          </a:prstGeom>
          <a:ln w="0">
            <a:noFill/>
          </a:ln>
        </p:spPr>
      </p:sp>
      <p:sp>
        <p:nvSpPr>
          <p:cNvPr id="78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784" name="PlaceHolder 3"/>
          <p:cNvSpPr>
            <a:spLocks noGrp="1"/>
          </p:cNvSpPr>
          <p:nvPr>
            <p:ph type="sldNum" idx="39"/>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8BFE950-C14E-42CF-A6FB-355134DB188A}"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3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5" name="PlaceHolder 1"/>
          <p:cNvSpPr>
            <a:spLocks noGrp="1"/>
          </p:cNvSpPr>
          <p:nvPr>
            <p:ph type="sldImg"/>
          </p:nvPr>
        </p:nvSpPr>
        <p:spPr>
          <a:xfrm>
            <a:off x="685800" y="1143000"/>
            <a:ext cx="5486040" cy="3085920"/>
          </a:xfrm>
          <a:prstGeom prst="rect">
            <a:avLst/>
          </a:prstGeom>
          <a:ln w="0">
            <a:noFill/>
          </a:ln>
        </p:spPr>
      </p:sp>
      <p:sp>
        <p:nvSpPr>
          <p:cNvPr id="78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Si ves que alguien describió una categoría de trabajo en lugar de una tarea, corrígelo ahí mismo. "Revisar reglas de operación" no es una tarea.</a:t>
            </a:r>
            <a:endParaRPr lang="en-US" sz="2000" b="0" u="none" strike="noStrike">
              <a:solidFill>
                <a:srgbClr val="000000"/>
              </a:solidFill>
              <a:effectLst/>
              <a:uFillTx/>
              <a:latin typeface="Arial"/>
            </a:endParaRPr>
          </a:p>
        </p:txBody>
      </p:sp>
      <p:sp>
        <p:nvSpPr>
          <p:cNvPr id="787" name="PlaceHolder 3"/>
          <p:cNvSpPr>
            <a:spLocks noGrp="1"/>
          </p:cNvSpPr>
          <p:nvPr>
            <p:ph type="sldNum" idx="40"/>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6DD5CA8C-D167-4B08-9B43-0A7792077262}"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3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8" name="PlaceHolder 1"/>
          <p:cNvSpPr>
            <a:spLocks noGrp="1"/>
          </p:cNvSpPr>
          <p:nvPr>
            <p:ph type="sldImg"/>
          </p:nvPr>
        </p:nvSpPr>
        <p:spPr>
          <a:xfrm>
            <a:off x="685800" y="1143000"/>
            <a:ext cx="5486040" cy="3085920"/>
          </a:xfrm>
          <a:prstGeom prst="rect">
            <a:avLst/>
          </a:prstGeom>
          <a:ln w="0">
            <a:noFill/>
          </a:ln>
        </p:spPr>
      </p:sp>
      <p:sp>
        <p:nvSpPr>
          <p:cNvPr id="78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790" name="PlaceHolder 3"/>
          <p:cNvSpPr>
            <a:spLocks noGrp="1"/>
          </p:cNvSpPr>
          <p:nvPr>
            <p:ph type="sldNum" idx="41"/>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7C1B6E8-BA9A-43A3-8C76-9C9254E8EF2A}"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3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91" name="PlaceHolder 1"/>
          <p:cNvSpPr>
            <a:spLocks noGrp="1"/>
          </p:cNvSpPr>
          <p:nvPr>
            <p:ph type="sldImg"/>
          </p:nvPr>
        </p:nvSpPr>
        <p:spPr>
          <a:xfrm>
            <a:off x="685800" y="1143000"/>
            <a:ext cx="5486040" cy="3085920"/>
          </a:xfrm>
          <a:prstGeom prst="rect">
            <a:avLst/>
          </a:prstGeom>
          <a:ln w="0">
            <a:noFill/>
          </a:ln>
        </p:spPr>
      </p:sp>
      <p:sp>
        <p:nvSpPr>
          <p:cNvPr id="79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No se presenta en clase. Solo se señala al cerrar: está en el mazo y el mazo está en el repositorio. Si alguien encuentra un error aquí, que lo diga.</a:t>
            </a:r>
            <a:endParaRPr lang="en-US" sz="2000" b="0" u="none" strike="noStrike">
              <a:solidFill>
                <a:srgbClr val="000000"/>
              </a:solidFill>
              <a:effectLst/>
              <a:uFillTx/>
              <a:latin typeface="Arial"/>
            </a:endParaRPr>
          </a:p>
        </p:txBody>
      </p:sp>
      <p:sp>
        <p:nvSpPr>
          <p:cNvPr id="793" name="PlaceHolder 3"/>
          <p:cNvSpPr>
            <a:spLocks noGrp="1"/>
          </p:cNvSpPr>
          <p:nvPr>
            <p:ph type="sldNum" idx="42"/>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92F70D5-5739-4A50-A6B0-C86585C2F35E}"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spTree>
      <p:nvGrpSpPr>
        <p:cNvPr id="1" name=""/>
        <p:cNvGrpSpPr/>
        <p:nvPr/>
      </p:nvGrpSpPr>
      <p:grpSpPr>
        <a:xfrm>
          <a:off x="0" y="0"/>
          <a:ext cx="0" cy="0"/>
          <a:chOff x="0" y="0"/>
          <a:chExt cx="0" cy="0"/>
        </a:xfrm>
      </p:grpSpPr>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lvl1pPr indent="0" algn="l">
              <a:buNone/>
              <a:defRPr lang="en-US" sz="1800" b="0" u="none" strike="noStrike">
                <a:solidFill>
                  <a:schemeClr val="dk1"/>
                </a:solidFill>
                <a:effectLst/>
                <a:uFillTx/>
                <a:latin typeface="Calibri"/>
              </a:defRPr>
            </a:lvl1pPr>
          </a:lstStyle>
          <a:p>
            <a:pPr indent="0" algn="l">
              <a:buNone/>
            </a:pPr>
            <a:r>
              <a:rPr lang="en-US" sz="1800" b="0" u="none" strike="noStrike">
                <a:solidFill>
                  <a:schemeClr val="dk1"/>
                </a:solidFill>
                <a:effectLst/>
                <a:uFillTx/>
                <a:latin typeface="Calibri"/>
              </a:rPr>
              <a:t>Click to edit the title text format</a:t>
            </a:r>
            <a:endParaRPr lang="en-US" sz="1800" b="0" u="none" strike="noStrike">
              <a:solidFill>
                <a:schemeClr val="dk1"/>
              </a:solidFill>
              <a:effectLst/>
              <a:uFillTx/>
              <a:latin typeface="Calibri"/>
            </a:endParaRPr>
          </a:p>
        </p:txBody>
      </p:sp>
      <p:sp>
        <p:nvSpPr>
          <p:cNvPr id="3" name="PlaceHolder 2"/>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3200" b="0" u="none" strike="noStrike">
                <a:solidFill>
                  <a:schemeClr val="dk1"/>
                </a:solidFill>
                <a:effectLst/>
                <a:uFillTx/>
                <a:latin typeface="Calibri"/>
              </a:defRPr>
            </a:lvl1pPr>
            <a:lvl2pPr lvl="1" algn="l">
              <a:spcBef>
                <a:spcPts val="1134"/>
              </a:spcBef>
              <a:buClr>
                <a:srgbClr val="000000"/>
              </a:buClr>
              <a:buSzPct val="75000"/>
              <a:buFont typeface="Symbol" charset="2"/>
              <a:buChar char=""/>
              <a:defRPr lang="en-US" sz="2400" b="0" u="none" strike="noStrike">
                <a:solidFill>
                  <a:schemeClr val="dk1"/>
                </a:solidFill>
                <a:effectLst/>
                <a:uFillTx/>
                <a:latin typeface="Calibri"/>
              </a:defRPr>
            </a:lvl2pPr>
            <a:lvl3pPr lvl="2" algn="l">
              <a:spcBef>
                <a:spcPts val="850"/>
              </a:spcBef>
              <a:buClr>
                <a:srgbClr val="000000"/>
              </a:buClr>
              <a:buSzPct val="45000"/>
              <a:buFont typeface="Wingdings" charset="2"/>
              <a:buChar char=""/>
              <a:defRPr lang="en-US" sz="2000" b="0" u="none" strike="noStrike">
                <a:solidFill>
                  <a:schemeClr val="dk1"/>
                </a:solidFill>
                <a:effectLst/>
                <a:uFillTx/>
                <a:latin typeface="Calibri"/>
              </a:defRPr>
            </a:lvl3pPr>
            <a:lvl4pPr lvl="3" algn="l">
              <a:spcBef>
                <a:spcPts val="567"/>
              </a:spcBef>
              <a:buClr>
                <a:srgbClr val="000000"/>
              </a:buClr>
              <a:buSzPct val="75000"/>
              <a:buFont typeface="Symbol" charset="2"/>
              <a:buChar char=""/>
              <a:defRPr lang="en-US" sz="2000" b="0" u="none" strike="noStrike">
                <a:solidFill>
                  <a:schemeClr val="dk1"/>
                </a:solidFill>
                <a:effectLst/>
                <a:uFillTx/>
                <a:latin typeface="Calibri"/>
              </a:defRPr>
            </a:lvl4pPr>
            <a:lvl5pPr lvl="4" algn="l">
              <a:spcBef>
                <a:spcPts val="283"/>
              </a:spcBef>
              <a:buClr>
                <a:srgbClr val="000000"/>
              </a:buClr>
              <a:buSzPct val="45000"/>
              <a:buFont typeface="Wingdings" charset="2"/>
              <a:buChar char=""/>
              <a:defRPr lang="en-US" sz="2000" b="0" u="none" strike="noStrike">
                <a:solidFill>
                  <a:schemeClr val="dk1"/>
                </a:solidFill>
                <a:effectLst/>
                <a:uFillTx/>
                <a:latin typeface="Calibri"/>
              </a:defRPr>
            </a:lvl5pPr>
            <a:lvl6pPr lvl="5" algn="l">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marL="432000" indent="-324000" algn="l">
              <a:spcBef>
                <a:spcPts val="1417"/>
              </a:spcBef>
              <a:buClr>
                <a:srgbClr val="000000"/>
              </a:buClr>
              <a:buSzPct val="45000"/>
              <a:buFont typeface="Wingdings" charset="2"/>
              <a:buChar char=""/>
            </a:pPr>
            <a:r>
              <a:rPr lang="en-US" sz="3200" b="0" u="none" strike="noStrike">
                <a:solidFill>
                  <a:schemeClr val="dk1"/>
                </a:solidFill>
                <a:effectLst/>
                <a:uFillTx/>
                <a:latin typeface="Calibri"/>
              </a:rPr>
              <a:t>Click to edit the outline text format</a:t>
            </a:r>
            <a:endParaRPr lang="en-US" sz="3200" b="0" u="none" strike="noStrike">
              <a:solidFill>
                <a:schemeClr val="dk1"/>
              </a:solidFill>
              <a:effectLst/>
              <a:uFillTx/>
              <a:latin typeface="Calibri"/>
            </a:endParaRPr>
          </a:p>
          <a:p>
            <a:pPr marL="864000" lvl="1" indent="-324000" algn="l">
              <a:spcBef>
                <a:spcPts val="1134"/>
              </a:spcBef>
              <a:buClr>
                <a:srgbClr val="000000"/>
              </a:buClr>
              <a:buSzPct val="75000"/>
              <a:buFont typeface="Symbol" charset="2"/>
              <a:buChar char=""/>
            </a:pPr>
            <a:r>
              <a:rPr lang="en-US" sz="2400" b="0" u="none" strike="noStrike">
                <a:solidFill>
                  <a:schemeClr val="dk1"/>
                </a:solidFill>
                <a:effectLst/>
                <a:uFillTx/>
                <a:latin typeface="Calibri"/>
              </a:rPr>
              <a:t>Second Outline Level</a:t>
            </a:r>
            <a:endParaRPr lang="en-US" sz="2400" b="0" u="none" strike="noStrike">
              <a:solidFill>
                <a:schemeClr val="dk1"/>
              </a:solidFill>
              <a:effectLst/>
              <a:uFillTx/>
              <a:latin typeface="Calibri"/>
            </a:endParaRPr>
          </a:p>
          <a:p>
            <a:pPr marL="1296000" lvl="2" indent="-288000" algn="l">
              <a:spcBef>
                <a:spcPts val="850"/>
              </a:spcBef>
              <a:buClr>
                <a:srgbClr val="000000"/>
              </a:buClr>
              <a:buSzPct val="45000"/>
              <a:buFont typeface="Wingdings" charset="2"/>
              <a:buChar char=""/>
            </a:pPr>
            <a:r>
              <a:rPr lang="en-US" sz="2000" b="0" u="none" strike="noStrike">
                <a:solidFill>
                  <a:schemeClr val="dk1"/>
                </a:solidFill>
                <a:effectLst/>
                <a:uFillTx/>
                <a:latin typeface="Calibri"/>
              </a:rPr>
              <a:t>Third Outline Level</a:t>
            </a:r>
            <a:endParaRPr lang="en-US" sz="2000" b="0" u="none" strike="noStrike">
              <a:solidFill>
                <a:schemeClr val="dk1"/>
              </a:solidFill>
              <a:effectLst/>
              <a:uFillTx/>
              <a:latin typeface="Calibri"/>
            </a:endParaRPr>
          </a:p>
          <a:p>
            <a:pPr marL="1728000" lvl="3" indent="-216000" algn="l">
              <a:spcBef>
                <a:spcPts val="567"/>
              </a:spcBef>
              <a:buClr>
                <a:srgbClr val="000000"/>
              </a:buClr>
              <a:buSzPct val="75000"/>
              <a:buFont typeface="Symbol" charset="2"/>
              <a:buChar char=""/>
            </a:pPr>
            <a:r>
              <a:rPr lang="en-US" sz="2000" b="0" u="none" strike="noStrike">
                <a:solidFill>
                  <a:schemeClr val="dk1"/>
                </a:solidFill>
                <a:effectLst/>
                <a:uFillTx/>
                <a:latin typeface="Calibri"/>
              </a:rPr>
              <a:t>Fourth Outline Level</a:t>
            </a:r>
            <a:endParaRPr lang="en-US" sz="2000" b="0" u="none" strike="noStrike">
              <a:solidFill>
                <a:schemeClr val="dk1"/>
              </a:solidFill>
              <a:effectLst/>
              <a:uFillTx/>
              <a:latin typeface="Calibri"/>
            </a:endParaRPr>
          </a:p>
          <a:p>
            <a:pPr marL="2160000" lvl="4" indent="-216000" algn="l">
              <a:spcBef>
                <a:spcPts val="283"/>
              </a:spcBef>
              <a:buClr>
                <a:srgbClr val="000000"/>
              </a:buClr>
              <a:buSzPct val="45000"/>
              <a:buFont typeface="Wingdings" charset="2"/>
              <a:buChar char=""/>
            </a:pPr>
            <a:r>
              <a:rPr lang="en-US" sz="2000" b="0" u="none" strike="noStrike">
                <a:solidFill>
                  <a:schemeClr val="dk1"/>
                </a:solidFill>
                <a:effectLst/>
                <a:uFillTx/>
                <a:latin typeface="Calibri"/>
              </a:rPr>
              <a:t>Fifth Outline Level</a:t>
            </a:r>
            <a:endParaRPr lang="en-US" sz="2000" b="0" u="none" strike="noStrike">
              <a:solidFill>
                <a:schemeClr val="dk1"/>
              </a:solidFill>
              <a:effectLst/>
              <a:uFillTx/>
              <a:latin typeface="Calibri"/>
            </a:endParaRPr>
          </a:p>
          <a:p>
            <a:pPr marL="2592000" lvl="5" indent="-216000" algn="l">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endParaRPr lang="en-US" sz="2000" b="0" u="none" strike="noStrike">
              <a:solidFill>
                <a:schemeClr val="dk1"/>
              </a:solidFill>
              <a:effectLst/>
              <a:uFillTx/>
              <a:latin typeface="Calibri"/>
            </a:endParaRPr>
          </a:p>
          <a:p>
            <a:pPr marL="3024000" lvl="6" indent="-216000" algn="l">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endParaRPr lang="en-US" sz="2000" b="0" u="none" strike="noStrike">
              <a:solidFill>
                <a:schemeClr val="dk1"/>
              </a:solidFill>
              <a:effectLst/>
              <a:uFillTx/>
              <a:latin typeface="Calibri"/>
            </a:endParaRPr>
          </a:p>
        </p:txBody>
      </p:sp>
    </p:spTree>
  </p:cSld>
  <p:clrMap bg1="lt1" tx1="dk1" bg2="lt2" tx2="dk2" accent1="accent1" accent2="accent2" accent3="accent3" accent4="accent4" accent5="accent5" accent6="accent6" hlink="hlink" folHlink="folHlink"/>
  <p:sldLayoutIdLst>
    <p:sldLayoutId id="2147483649" r:id="rId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hyperlink" Target="https://forms.gle/SiAfp4nnpYdbwWPq7" TargetMode="External"/><Relationship Id="rId2" Type="http://schemas.openxmlformats.org/officeDocument/2006/relationships/slideLayout" Target="../slideLayouts/slideLayout1.xml"/><Relationship Id="rId3" Type="http://schemas.openxmlformats.org/officeDocument/2006/relationships/notesSlide" Target="../notesSlides/notesSlide6.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hyperlink" Target="https://www.law.berkeley.edu/wp-content/uploads/archive/2025/12/Mata-v-Avianca-Inc.pdf" TargetMode="External"/><Relationship Id="rId2" Type="http://schemas.openxmlformats.org/officeDocument/2006/relationships/hyperlink" Target="https://www.law.berkeley.edu/wp-content/uploads/archive/2025/12/Mata-v-Avianca-Inc.pdf" TargetMode="External"/><Relationship Id="rId3" Type="http://schemas.openxmlformats.org/officeDocument/2006/relationships/slideLayout" Target="../slideLayouts/slideLayout1.xml"/><Relationship Id="rId4"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hyperlink" Target="https://www.forbes.com/sites/siladityaray/2023/05/02/samsung-bans-chatgpt-and-other-chatbots-for-employees-after-sensitive-code-leak/" TargetMode="External"/><Relationship Id="rId2" Type="http://schemas.openxmlformats.org/officeDocument/2006/relationships/hyperlink" Target="https://www.forbes.com/sites/siladityaray/2023/05/02/samsung-bans-chatgpt-and-other-chatbots-for-employees-after-sensitive-code-leak/" TargetMode="External"/><Relationship Id="rId3" Type="http://schemas.openxmlformats.org/officeDocument/2006/relationships/slideLayout" Target="../slideLayouts/slideLayout1.xml"/><Relationship Id="rId4"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hyperlink" Target="https://www.nyc.gov/site/dca/about/automated-employment-decision-tools.page" TargetMode="External"/><Relationship Id="rId2" Type="http://schemas.openxmlformats.org/officeDocument/2006/relationships/hyperlink" Target="https://www.nyc.gov/site/dca/about/automated-employment-decision-tools.page" TargetMode="External"/><Relationship Id="rId3" Type="http://schemas.openxmlformats.org/officeDocument/2006/relationships/slideLayout" Target="../slideLayouts/slideLayout1.xml"/><Relationship Id="rId4"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hyperlink" Target="https://www.science.org/doi/10.1126/science.aax2342" TargetMode="External"/><Relationship Id="rId2" Type="http://schemas.openxmlformats.org/officeDocument/2006/relationships/hyperlink" Target="https://www.science.org/doi/10.1126/science.aax2342" TargetMode="External"/><Relationship Id="rId3" Type="http://schemas.openxmlformats.org/officeDocument/2006/relationships/slideLayout" Target="../slideLayouts/slideLayout1.xml"/><Relationship Id="rId4"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hyperlink" Target="https://openai.com/index/expanding-on-sycophancy/" TargetMode="External"/><Relationship Id="rId2" Type="http://schemas.openxmlformats.org/officeDocument/2006/relationships/hyperlink" Target="https://openai.com/index/expanding-on-sycophancy/" TargetMode="External"/><Relationship Id="rId3" Type="http://schemas.openxmlformats.org/officeDocument/2006/relationships/slideLayout" Target="../slideLayouts/slideLayout1.xml"/><Relationship Id="rId4"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hyperlink" Target="https://www.pnas.org/doi/10.1073/pnas.1915768117" TargetMode="External"/><Relationship Id="rId2" Type="http://schemas.openxmlformats.org/officeDocument/2006/relationships/hyperlink" Target="https://www.pnas.org/doi/10.1073/pnas.1915768117" TargetMode="External"/><Relationship Id="rId3" Type="http://schemas.openxmlformats.org/officeDocument/2006/relationships/slideLayout" Target="../slideLayouts/slideLayout1.xml"/><Relationship Id="rId4"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
</Relationships>
</file>

<file path=ppt/slides/_rels/slide2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
</Relationships>
</file>

<file path=ppt/slides/_rels/slide2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
</Relationships>
</file>

<file path=ppt/slides/_rels/slide2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
</Relationships>
</file>

<file path=ppt/slides/_rels/slide3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
</Relationships>
</file>

<file path=ppt/slides/_rels/slide3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
</Relationships>
</file>

<file path=ppt/slides/_rels/slide3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
</Relationships>
</file>

<file path=ppt/slides/_rels/slide3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
</Relationships>
</file>

<file path=ppt/slides/_rels/slide3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
</Relationships>
</file>

<file path=ppt/slides/_rels/slide3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
</Relationships>
</file>

<file path=ppt/slides/_rels/slide3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
</Relationships>
</file>

<file path=ppt/slides/_rels/slide3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
</Relationships>
</file>

<file path=ppt/slides/_rels/slide38.xml.rels><?xml version="1.0" encoding="UTF-8"?>
<Relationships xmlns="http://schemas.openxmlformats.org/package/2006/relationships"><Relationship Id="rId1" Type="http://schemas.openxmlformats.org/officeDocument/2006/relationships/hyperlink" Target="https://github.com/xuxoramos/curso-inegi-gen-ai" TargetMode="External"/><Relationship Id="rId2" Type="http://schemas.openxmlformats.org/officeDocument/2006/relationships/slideLayout" Target="../slideLayouts/slideLayout1.xml"/><Relationship Id="rId3" Type="http://schemas.openxmlformats.org/officeDocument/2006/relationships/notesSlide" Target="../notesSlides/notesSlide38.xml"/>
</Relationships>
</file>

<file path=ppt/slides/_rels/slide39.xml.rels><?xml version="1.0" encoding="UTF-8"?>
<Relationships xmlns="http://schemas.openxmlformats.org/package/2006/relationships"><Relationship Id="rId1" Type="http://schemas.openxmlformats.org/officeDocument/2006/relationships/hyperlink" Target="https://www.law.berkeley.edu/wp-content/uploads/archive/2025/12/Mata-v-Avianca-Inc.pdf" TargetMode="External"/><Relationship Id="rId2" Type="http://schemas.openxmlformats.org/officeDocument/2006/relationships/hyperlink" Target="https://www.law.berkeley.edu/wp-content/uploads/archive/2025/12/Mata-v-Avianca-Inc.pdf" TargetMode="External"/><Relationship Id="rId3" Type="http://schemas.openxmlformats.org/officeDocument/2006/relationships/hyperlink" Target="https://www.forbes.com/sites/siladityaray/2023/05/02/samsung-bans-chatgpt-and-other-chatbots-for-employees-after-sensitive-code-leak/" TargetMode="External"/><Relationship Id="rId4" Type="http://schemas.openxmlformats.org/officeDocument/2006/relationships/hyperlink" Target="https://www.forbes.com/sites/siladityaray/2023/05/02/samsung-bans-chatgpt-and-other-chatbots-for-employees-after-sensitive-code-leak/" TargetMode="External"/><Relationship Id="rId5" Type="http://schemas.openxmlformats.org/officeDocument/2006/relationships/hyperlink" Target="https://www.amnesty.org/en/latest/news/2021/10/xenophobic-machines-dutch-child-benefit-scandal/" TargetMode="External"/><Relationship Id="rId6" Type="http://schemas.openxmlformats.org/officeDocument/2006/relationships/hyperlink" Target="https://www.amnesty.org/en/latest/news/2021/10/xenophobic-machines-dutch-child-benefit-scandal/" TargetMode="External"/><Relationship Id="rId7" Type="http://schemas.openxmlformats.org/officeDocument/2006/relationships/hyperlink" Target="https://www.reuters.com/article/us-amazon-com-jobs-automation-insight/amazon-scraps-secret-ai-recruiting-tool-that-showed-bias-against-women-idUSKCN1MK08G" TargetMode="External"/><Relationship Id="rId8" Type="http://schemas.openxmlformats.org/officeDocument/2006/relationships/hyperlink" Target="https://www.reuters.com/article/us-amazon-com-jobs-automation-insight/amazon-scraps-secret-ai-recruiting-tool-that-showed-bias-against-women-idUSKCN1MK08G" TargetMode="External"/><Relationship Id="rId9" Type="http://schemas.openxmlformats.org/officeDocument/2006/relationships/hyperlink" Target="https://www.science.org/doi/10.1126/science.aax2342" TargetMode="External"/><Relationship Id="rId10" Type="http://schemas.openxmlformats.org/officeDocument/2006/relationships/hyperlink" Target="https://www.science.org/doi/10.1126/science.aax2342" TargetMode="External"/><Relationship Id="rId11" Type="http://schemas.openxmlformats.org/officeDocument/2006/relationships/hyperlink" Target="https://openai.com/index/expanding-on-sycophancy/" TargetMode="External"/><Relationship Id="rId12" Type="http://schemas.openxmlformats.org/officeDocument/2006/relationships/hyperlink" Target="https://openai.com/index/expanding-on-sycophancy/" TargetMode="External"/><Relationship Id="rId13" Type="http://schemas.openxmlformats.org/officeDocument/2006/relationships/hyperlink" Target="https://www.pnas.org/doi/10.1073/pnas.1915768117" TargetMode="External"/><Relationship Id="rId14" Type="http://schemas.openxmlformats.org/officeDocument/2006/relationships/hyperlink" Target="https://www.pnas.org/doi/10.1073/pnas.1915768117" TargetMode="External"/><Relationship Id="rId15" Type="http://schemas.openxmlformats.org/officeDocument/2006/relationships/slideLayout" Target="../slideLayouts/slideLayout1.xml"/><Relationship Id="rId16" Type="http://schemas.openxmlformats.org/officeDocument/2006/relationships/notesSlide" Target="../notesSlides/notesSlide39.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6262E"/>
        </a:solidFill>
      </p:bgPr>
    </p:bg>
    <p:spTree>
      <p:nvGrpSpPr>
        <p:cNvPr id="1" name=""/>
        <p:cNvGrpSpPr/>
        <p:nvPr/>
      </p:nvGrpSpPr>
      <p:grpSpPr>
        <a:xfrm>
          <a:off x="0" y="0"/>
          <a:ext cx="0" cy="0"/>
          <a:chOff x="0" y="0"/>
          <a:chExt cx="0" cy="0"/>
        </a:xfrm>
      </p:grpSpPr>
      <p:sp>
        <p:nvSpPr>
          <p:cNvPr id="10" name="Shape 0"/>
          <p:cNvSpPr/>
          <p:nvPr/>
        </p:nvSpPr>
        <p:spPr>
          <a:xfrm>
            <a:off x="-1371600" y="-2011680"/>
            <a:ext cx="5851800" cy="5851800"/>
          </a:xfrm>
          <a:prstGeom prst="ellipse">
            <a:avLst/>
          </a:prstGeom>
          <a:solidFill>
            <a:srgbClr val="24404E"/>
          </a:solidFill>
          <a:ln w="12700">
            <a:solidFill>
              <a:srgbClr val="24404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1" name="Shape 1"/>
          <p:cNvSpPr/>
          <p:nvPr/>
        </p:nvSpPr>
        <p:spPr>
          <a:xfrm>
            <a:off x="9692640" y="4206240"/>
            <a:ext cx="4205880" cy="4205880"/>
          </a:xfrm>
          <a:prstGeom prst="ellipse">
            <a:avLst/>
          </a:prstGeom>
          <a:solidFill>
            <a:srgbClr val="24404E"/>
          </a:solidFill>
          <a:ln w="12700">
            <a:solidFill>
              <a:srgbClr val="24404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2" name="Text 2"/>
          <p:cNvSpPr/>
          <p:nvPr/>
        </p:nvSpPr>
        <p:spPr>
          <a:xfrm>
            <a:off x="567000" y="1417320"/>
            <a:ext cx="1042380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pc="201" strike="noStrike">
                <a:solidFill>
                  <a:srgbClr val="D7E7E7"/>
                </a:solidFill>
                <a:effectLst/>
                <a:uFillTx/>
                <a:latin typeface="Calibri"/>
                <a:ea typeface="Calibri"/>
              </a:rPr>
              <a:t>MÓDULO I. FUNDAMENTOS, ÉTICA Y COPILOT INSTITUCIONAL</a:t>
            </a:r>
            <a:endParaRPr lang="en-US" sz="1500" b="0" u="none" strike="noStrike">
              <a:solidFill>
                <a:srgbClr val="FFFFFF"/>
              </a:solidFill>
              <a:effectLst/>
              <a:uFillTx/>
              <a:latin typeface="Arial"/>
            </a:endParaRPr>
          </a:p>
        </p:txBody>
      </p:sp>
      <p:sp>
        <p:nvSpPr>
          <p:cNvPr id="13" name="Text 3"/>
          <p:cNvSpPr/>
          <p:nvPr/>
        </p:nvSpPr>
        <p:spPr>
          <a:xfrm>
            <a:off x="567000" y="1874520"/>
            <a:ext cx="1042380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4400" b="1" u="none" strike="noStrike">
                <a:solidFill>
                  <a:srgbClr val="C85A28"/>
                </a:solidFill>
                <a:effectLst/>
                <a:uFillTx/>
                <a:latin typeface="Arial"/>
                <a:ea typeface="Arial"/>
              </a:rPr>
              <a:t>Sesión 1</a:t>
            </a:r>
            <a:endParaRPr lang="en-US" sz="4400" b="0" u="none" strike="noStrike">
              <a:solidFill>
                <a:srgbClr val="FFFFFF"/>
              </a:solidFill>
              <a:effectLst/>
              <a:uFillTx/>
              <a:latin typeface="Arial"/>
            </a:endParaRPr>
          </a:p>
        </p:txBody>
      </p:sp>
      <p:sp>
        <p:nvSpPr>
          <p:cNvPr id="14" name="Text 4"/>
          <p:cNvSpPr/>
          <p:nvPr/>
        </p:nvSpPr>
        <p:spPr>
          <a:xfrm>
            <a:off x="567000" y="2560320"/>
            <a:ext cx="10606680" cy="15541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3400" b="1" u="none" strike="noStrike">
                <a:solidFill>
                  <a:srgbClr val="FFFFFF"/>
                </a:solidFill>
                <a:effectLst/>
                <a:uFillTx/>
                <a:latin typeface="Arial"/>
                <a:ea typeface="Arial"/>
              </a:rPr>
              <a:t>Introducción a la IA generativa en la administración pública y la evaluación social</a:t>
            </a:r>
            <a:endParaRPr lang="en-US" sz="3400" b="0" u="none" strike="noStrike">
              <a:solidFill>
                <a:srgbClr val="FFFFFF"/>
              </a:solidFill>
              <a:effectLst/>
              <a:uFillTx/>
              <a:latin typeface="Arial"/>
            </a:endParaRPr>
          </a:p>
        </p:txBody>
      </p:sp>
      <p:sp>
        <p:nvSpPr>
          <p:cNvPr id="15" name="Shape 5"/>
          <p:cNvSpPr/>
          <p:nvPr/>
        </p:nvSpPr>
        <p:spPr>
          <a:xfrm>
            <a:off x="567000" y="4480560"/>
            <a:ext cx="5120280" cy="54360"/>
          </a:xfrm>
          <a:prstGeom prst="roundRect">
            <a:avLst>
              <a:gd name="adj" fmla="val 50000"/>
            </a:avLst>
          </a:prstGeom>
          <a:solidFill>
            <a:srgbClr val="2E7D7D"/>
          </a:solidFill>
          <a:ln w="12700">
            <a:solidFill>
              <a:srgbClr val="2E7D7D"/>
            </a:solidFill>
            <a:round/>
          </a:ln>
        </p:spPr>
        <p:style>
          <a:lnRef idx="0"/>
          <a:fillRef idx="0"/>
          <a:effectRef idx="0"/>
          <a:fontRef idx="minor"/>
        </p:style>
        <p:txBody>
          <a:bodyPr lIns="90000" tIns="-6480" rIns="90000" bIns="-6480" anchor="t">
            <a:noAutofit/>
          </a:bodyPr>
          <a:p>
            <a:endParaRPr lang="en-US" sz="1800" b="0" u="none" strike="noStrike">
              <a:solidFill>
                <a:srgbClr val="FFFFFF"/>
              </a:solidFill>
              <a:effectLst/>
              <a:uFillTx/>
              <a:latin typeface="Arial"/>
            </a:endParaRPr>
          </a:p>
        </p:txBody>
      </p:sp>
      <p:sp>
        <p:nvSpPr>
          <p:cNvPr id="16" name="Text 6"/>
          <p:cNvSpPr/>
          <p:nvPr/>
        </p:nvSpPr>
        <p:spPr>
          <a:xfrm>
            <a:off x="567000" y="4709160"/>
            <a:ext cx="1042380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0" u="none" strike="noStrike">
                <a:solidFill>
                  <a:srgbClr val="FFFFFF"/>
                </a:solidFill>
                <a:effectLst/>
                <a:uFillTx/>
                <a:latin typeface="Calibri"/>
                <a:ea typeface="Calibri"/>
              </a:rPr>
              <a:t>Lunes 14 de septiembre de 2026, 9:00 a 11:30 horas</a:t>
            </a:r>
            <a:endParaRPr lang="en-US" sz="1600" b="0" u="none" strike="noStrike">
              <a:solidFill>
                <a:srgbClr val="FFFFFF"/>
              </a:solidFill>
              <a:effectLst/>
              <a:uFillTx/>
              <a:latin typeface="Arial"/>
            </a:endParaRPr>
          </a:p>
        </p:txBody>
      </p:sp>
      <p:sp>
        <p:nvSpPr>
          <p:cNvPr id="17" name="Text 7"/>
          <p:cNvSpPr/>
          <p:nvPr/>
        </p:nvSpPr>
        <p:spPr>
          <a:xfrm>
            <a:off x="567000" y="5120640"/>
            <a:ext cx="1042380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u="none" strike="noStrike">
                <a:solidFill>
                  <a:srgbClr val="D7E7E7"/>
                </a:solidFill>
                <a:effectLst/>
                <a:uFillTx/>
                <a:latin typeface="Calibri"/>
                <a:ea typeface="Calibri"/>
              </a:rPr>
              <a:t>Curso de Inteligencia Artificial Aplicada. INEGI 2026. CC BY-NC-SA 4.0.</a:t>
            </a:r>
            <a:endParaRPr lang="en-US" sz="13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 name="Text 0"/>
          <p:cNvSpPr/>
          <p:nvPr/>
        </p:nvSpPr>
        <p:spPr>
          <a:xfrm>
            <a:off x="567000" y="402480"/>
            <a:ext cx="9228600" cy="7495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3200" b="1" u="none" strike="noStrike">
                <a:solidFill>
                  <a:srgbClr val="16262E"/>
                </a:solidFill>
                <a:effectLst/>
                <a:uFillTx/>
                <a:latin typeface="Arial"/>
                <a:ea typeface="Arial"/>
              </a:rPr>
              <a:t>Quiénes te van a acompañar</a:t>
            </a:r>
            <a:endParaRPr lang="en-US" sz="3200" b="0" u="none" strike="noStrike">
              <a:solidFill>
                <a:srgbClr val="000000"/>
              </a:solidFill>
              <a:effectLst/>
              <a:uFillTx/>
              <a:latin typeface="Arial"/>
            </a:endParaRPr>
          </a:p>
        </p:txBody>
      </p:sp>
      <p:sp>
        <p:nvSpPr>
          <p:cNvPr id="19" name="Text 1"/>
          <p:cNvSpPr/>
          <p:nvPr/>
        </p:nvSpPr>
        <p:spPr>
          <a:xfrm>
            <a:off x="567000" y="1280160"/>
            <a:ext cx="9960120" cy="3654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500" b="0" u="none" strike="noStrike">
                <a:solidFill>
                  <a:srgbClr val="5A6B73"/>
                </a:solidFill>
                <a:effectLst/>
                <a:uFillTx/>
                <a:latin typeface="Calibri"/>
                <a:ea typeface="Calibri"/>
              </a:rPr>
              <a:t>Dos instructores. Uno para cada mitad del curso.</a:t>
            </a:r>
            <a:endParaRPr lang="en-US" sz="1500" b="0" u="none" strike="noStrike">
              <a:solidFill>
                <a:srgbClr val="000000"/>
              </a:solidFill>
              <a:effectLst/>
              <a:uFillTx/>
              <a:latin typeface="Arial"/>
            </a:endParaRPr>
          </a:p>
        </p:txBody>
      </p:sp>
      <p:sp>
        <p:nvSpPr>
          <p:cNvPr id="20" name="Shape 2"/>
          <p:cNvSpPr/>
          <p:nvPr/>
        </p:nvSpPr>
        <p:spPr>
          <a:xfrm>
            <a:off x="567000" y="1810440"/>
            <a:ext cx="5345640" cy="4059720"/>
          </a:xfrm>
          <a:prstGeom prst="roundRect">
            <a:avLst>
              <a:gd name="adj" fmla="val 2252"/>
            </a:avLst>
          </a:prstGeom>
          <a:solidFill>
            <a:srgbClr val="D7E7E7"/>
          </a:solidFill>
          <a:ln w="12700">
            <a:solidFill>
              <a:srgbClr val="D7E7E7"/>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1" name="Text 5"/>
          <p:cNvSpPr/>
          <p:nvPr/>
        </p:nvSpPr>
        <p:spPr>
          <a:xfrm>
            <a:off x="2487240" y="2194560"/>
            <a:ext cx="3114720" cy="45684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2000" b="1" u="none" strike="noStrike">
                <a:solidFill>
                  <a:srgbClr val="16262E"/>
                </a:solidFill>
                <a:effectLst/>
                <a:uFillTx/>
                <a:latin typeface="Arial"/>
                <a:ea typeface="Arial"/>
              </a:rPr>
              <a:t>Jesús Ramos Cardona</a:t>
            </a:r>
            <a:endParaRPr lang="en-US" sz="2000" b="0" u="none" strike="noStrike">
              <a:solidFill>
                <a:srgbClr val="000000"/>
              </a:solidFill>
              <a:effectLst/>
              <a:uFillTx/>
              <a:latin typeface="Arial"/>
            </a:endParaRPr>
          </a:p>
        </p:txBody>
      </p:sp>
      <p:sp>
        <p:nvSpPr>
          <p:cNvPr id="22" name="Text 6"/>
          <p:cNvSpPr/>
          <p:nvPr/>
        </p:nvSpPr>
        <p:spPr>
          <a:xfrm>
            <a:off x="2487240" y="2688480"/>
            <a:ext cx="3114720" cy="73116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300" b="0" u="none" strike="noStrike">
                <a:solidFill>
                  <a:srgbClr val="2E7D7D"/>
                </a:solidFill>
                <a:effectLst/>
                <a:uFillTx/>
                <a:latin typeface="Calibri"/>
                <a:ea typeface="Calibri"/>
              </a:rPr>
              <a:t>Módulos I y II. Sesiones 1 a 6.</a:t>
            </a:r>
            <a:endParaRPr lang="en-US" sz="1300" b="0" u="none" strike="noStrike">
              <a:solidFill>
                <a:srgbClr val="000000"/>
              </a:solidFill>
              <a:effectLst/>
              <a:uFillTx/>
              <a:latin typeface="Arial"/>
            </a:endParaRPr>
          </a:p>
          <a:p>
            <a:pPr defTabSz="914400">
              <a:lnSpc>
                <a:spcPct val="110000"/>
              </a:lnSpc>
              <a:tabLst>
                <a:tab pos="0" algn="l"/>
              </a:tabLst>
            </a:pPr>
            <a:r>
              <a:rPr lang="en-US" sz="1300" b="0" u="none" strike="noStrike">
                <a:solidFill>
                  <a:srgbClr val="2E7D7D"/>
                </a:solidFill>
                <a:effectLst/>
                <a:uFillTx/>
                <a:latin typeface="Calibri"/>
                <a:ea typeface="Calibri"/>
              </a:rPr>
              <a:t>Fundamentos, ética y análisis cualitativo.</a:t>
            </a:r>
            <a:endParaRPr lang="en-US" sz="1300" b="0" u="none" strike="noStrike">
              <a:solidFill>
                <a:srgbClr val="000000"/>
              </a:solidFill>
              <a:effectLst/>
              <a:uFillTx/>
              <a:latin typeface="Arial"/>
            </a:endParaRPr>
          </a:p>
        </p:txBody>
      </p:sp>
      <p:sp>
        <p:nvSpPr>
          <p:cNvPr id="23" name="Text 7"/>
          <p:cNvSpPr/>
          <p:nvPr/>
        </p:nvSpPr>
        <p:spPr>
          <a:xfrm>
            <a:off x="877680" y="3694320"/>
            <a:ext cx="4723920" cy="1956600"/>
          </a:xfrm>
          <a:prstGeom prst="rect">
            <a:avLst/>
          </a:prstGeom>
          <a:noFill/>
          <a:ln w="0">
            <a:noFill/>
          </a:ln>
        </p:spPr>
        <p:style>
          <a:lnRef idx="0"/>
          <a:fillRef idx="0"/>
          <a:effectRef idx="0"/>
          <a:fontRef idx="minor"/>
        </p:style>
        <p:txBody>
          <a:bodyPr lIns="0" tIns="0" rIns="0" bIns="0" anchor="t">
            <a:noAutofit/>
          </a:bodyPr>
          <a:p>
            <a:pPr defTabSz="914400">
              <a:lnSpc>
                <a:spcPct val="112000"/>
              </a:lnSpc>
              <a:spcAft>
                <a:spcPts val="601"/>
              </a:spcAft>
              <a:tabLst>
                <a:tab pos="0" algn="l"/>
              </a:tabLst>
            </a:pPr>
            <a:r>
              <a:rPr lang="en-US" sz="1300" b="0" u="none" strike="noStrike">
                <a:solidFill>
                  <a:srgbClr val="16262E"/>
                </a:solidFill>
                <a:effectLst/>
                <a:uFillTx/>
                <a:latin typeface="Calibri"/>
                <a:ea typeface="Calibri"/>
              </a:rPr>
              <a:t>Head of Data Engineering en Ensitech y fundador de The Data Pub, la comunidad de AI más grande de México.</a:t>
            </a:r>
            <a:endParaRPr lang="en-US" sz="1300" b="0" u="none" strike="noStrike">
              <a:solidFill>
                <a:srgbClr val="000000"/>
              </a:solidFill>
              <a:effectLst/>
              <a:uFillTx/>
              <a:latin typeface="Arial"/>
            </a:endParaRPr>
          </a:p>
          <a:p>
            <a:pPr defTabSz="914400">
              <a:lnSpc>
                <a:spcPct val="112000"/>
              </a:lnSpc>
              <a:spcAft>
                <a:spcPts val="601"/>
              </a:spcAft>
              <a:tabLst>
                <a:tab pos="0" algn="l"/>
              </a:tabLst>
            </a:pPr>
            <a:r>
              <a:rPr lang="en-US" sz="1300" b="0" u="none" strike="noStrike">
                <a:solidFill>
                  <a:srgbClr val="16262E"/>
                </a:solidFill>
                <a:effectLst/>
                <a:uFillTx/>
                <a:latin typeface="Calibri"/>
                <a:ea typeface="Calibri"/>
              </a:rPr>
              <a:t>Trabaja en el cruce de ingeniería de datos, tecnología cívica y política pública.</a:t>
            </a:r>
            <a:endParaRPr lang="en-US" sz="1300" b="0" u="none" strike="noStrike">
              <a:solidFill>
                <a:srgbClr val="000000"/>
              </a:solidFill>
              <a:effectLst/>
              <a:uFillTx/>
              <a:latin typeface="Arial"/>
            </a:endParaRPr>
          </a:p>
          <a:p>
            <a:pPr defTabSz="914400">
              <a:lnSpc>
                <a:spcPct val="112000"/>
              </a:lnSpc>
              <a:spcAft>
                <a:spcPts val="601"/>
              </a:spcAft>
              <a:tabLst>
                <a:tab pos="0" algn="l"/>
              </a:tabLst>
            </a:pPr>
            <a:r>
              <a:rPr lang="en-US" sz="1300" b="0" u="none" strike="noStrike">
                <a:solidFill>
                  <a:srgbClr val="16262E"/>
                </a:solidFill>
                <a:effectLst/>
                <a:uFillTx/>
                <a:latin typeface="Calibri"/>
                <a:ea typeface="Calibri"/>
              </a:rPr>
              <a:t>Ha diseñado plataformas de datos para instituciones públicas y privadas en México y EUA, como Banxico, Bolsa Mexicana de Valores, y California Policy Lab.</a:t>
            </a:r>
            <a:endParaRPr lang="en-US" sz="1300" b="0" u="none" strike="noStrike">
              <a:solidFill>
                <a:srgbClr val="000000"/>
              </a:solidFill>
              <a:effectLst/>
              <a:uFillTx/>
              <a:latin typeface="Arial"/>
            </a:endParaRPr>
          </a:p>
        </p:txBody>
      </p:sp>
      <p:sp>
        <p:nvSpPr>
          <p:cNvPr id="24" name="Shape 8"/>
          <p:cNvSpPr/>
          <p:nvPr/>
        </p:nvSpPr>
        <p:spPr>
          <a:xfrm>
            <a:off x="6278760" y="1810440"/>
            <a:ext cx="5345640" cy="4059720"/>
          </a:xfrm>
          <a:prstGeom prst="roundRect">
            <a:avLst>
              <a:gd name="adj" fmla="val 2252"/>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5" name="Text 11"/>
          <p:cNvSpPr/>
          <p:nvPr/>
        </p:nvSpPr>
        <p:spPr>
          <a:xfrm>
            <a:off x="8199000" y="2194560"/>
            <a:ext cx="3114720" cy="45684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2000" b="1" u="none" strike="noStrike">
                <a:solidFill>
                  <a:srgbClr val="16262E"/>
                </a:solidFill>
                <a:effectLst/>
                <a:uFillTx/>
                <a:latin typeface="Arial"/>
                <a:ea typeface="Arial"/>
              </a:rPr>
              <a:t>Dr. Eduardo H. Ramírez</a:t>
            </a:r>
            <a:endParaRPr lang="en-US" sz="2000" b="0" u="none" strike="noStrike">
              <a:solidFill>
                <a:srgbClr val="000000"/>
              </a:solidFill>
              <a:effectLst/>
              <a:uFillTx/>
              <a:latin typeface="Arial"/>
            </a:endParaRPr>
          </a:p>
        </p:txBody>
      </p:sp>
      <p:sp>
        <p:nvSpPr>
          <p:cNvPr id="26" name="Text 12"/>
          <p:cNvSpPr/>
          <p:nvPr/>
        </p:nvSpPr>
        <p:spPr>
          <a:xfrm>
            <a:off x="8199000" y="2688480"/>
            <a:ext cx="3114720" cy="73116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300" b="0" u="none" strike="noStrike">
                <a:solidFill>
                  <a:srgbClr val="5A6B73"/>
                </a:solidFill>
                <a:effectLst/>
                <a:uFillTx/>
                <a:latin typeface="Calibri"/>
                <a:ea typeface="Calibri"/>
              </a:rPr>
              <a:t>Módulos III y IV. Sesiones 7 a 12.</a:t>
            </a:r>
            <a:endParaRPr lang="en-US" sz="1300" b="0" u="none" strike="noStrike">
              <a:solidFill>
                <a:srgbClr val="000000"/>
              </a:solidFill>
              <a:effectLst/>
              <a:uFillTx/>
              <a:latin typeface="Arial"/>
            </a:endParaRPr>
          </a:p>
          <a:p>
            <a:pPr defTabSz="914400">
              <a:lnSpc>
                <a:spcPct val="110000"/>
              </a:lnSpc>
              <a:tabLst>
                <a:tab pos="0" algn="l"/>
              </a:tabLst>
            </a:pPr>
            <a:r>
              <a:rPr lang="en-US" sz="1300" b="0" u="none" strike="noStrike">
                <a:solidFill>
                  <a:srgbClr val="5A6B73"/>
                </a:solidFill>
                <a:effectLst/>
                <a:uFillTx/>
                <a:latin typeface="Calibri"/>
                <a:ea typeface="Calibri"/>
              </a:rPr>
              <a:t>Análisis cuantitativo, agentes y proyecto integrador.</a:t>
            </a:r>
            <a:endParaRPr lang="en-US" sz="1300" b="0" u="none" strike="noStrike">
              <a:solidFill>
                <a:srgbClr val="000000"/>
              </a:solidFill>
              <a:effectLst/>
              <a:uFillTx/>
              <a:latin typeface="Arial"/>
            </a:endParaRPr>
          </a:p>
        </p:txBody>
      </p:sp>
      <p:sp>
        <p:nvSpPr>
          <p:cNvPr id="27" name="Text 13"/>
          <p:cNvSpPr/>
          <p:nvPr/>
        </p:nvSpPr>
        <p:spPr>
          <a:xfrm>
            <a:off x="6589800" y="3694320"/>
            <a:ext cx="4723920" cy="1956600"/>
          </a:xfrm>
          <a:prstGeom prst="rect">
            <a:avLst/>
          </a:prstGeom>
          <a:noFill/>
          <a:ln w="0">
            <a:noFill/>
          </a:ln>
        </p:spPr>
        <p:style>
          <a:lnRef idx="0"/>
          <a:fillRef idx="0"/>
          <a:effectRef idx="0"/>
          <a:fontRef idx="minor"/>
        </p:style>
        <p:txBody>
          <a:bodyPr lIns="0" tIns="0" rIns="0" bIns="0" anchor="t">
            <a:noAutofit/>
          </a:bodyPr>
          <a:p>
            <a:pPr defTabSz="914400">
              <a:lnSpc>
                <a:spcPct val="112000"/>
              </a:lnSpc>
              <a:spcAft>
                <a:spcPts val="601"/>
              </a:spcAft>
              <a:tabLst>
                <a:tab pos="0" algn="l"/>
              </a:tabLst>
            </a:pPr>
            <a:r>
              <a:rPr lang="en-US" sz="1300" b="0" u="none" strike="noStrike">
                <a:solidFill>
                  <a:srgbClr val="16262E"/>
                </a:solidFill>
                <a:effectLst/>
                <a:uFillTx/>
                <a:latin typeface="Calibri"/>
                <a:ea typeface="Calibri"/>
              </a:rPr>
              <a:t>Doctor en Sistemas Inteligentes. Cofundador y director de Inteligencia Artificial en Ensitech.</a:t>
            </a:r>
            <a:endParaRPr lang="en-US" sz="1300" b="0" u="none" strike="noStrike">
              <a:solidFill>
                <a:srgbClr val="000000"/>
              </a:solidFill>
              <a:effectLst/>
              <a:uFillTx/>
              <a:latin typeface="Arial"/>
            </a:endParaRPr>
          </a:p>
          <a:p>
            <a:pPr defTabSz="914400">
              <a:lnSpc>
                <a:spcPct val="112000"/>
              </a:lnSpc>
              <a:spcAft>
                <a:spcPts val="601"/>
              </a:spcAft>
              <a:tabLst>
                <a:tab pos="0" algn="l"/>
              </a:tabLst>
            </a:pPr>
            <a:r>
              <a:rPr lang="en-US" sz="1300" b="0" u="none" strike="noStrike">
                <a:solidFill>
                  <a:srgbClr val="16262E"/>
                </a:solidFill>
                <a:effectLst/>
                <a:uFillTx/>
                <a:latin typeface="Calibri"/>
                <a:ea typeface="Calibri"/>
              </a:rPr>
              <a:t>Antes trabajó en Yahoo! Research y Microsoft Research.</a:t>
            </a:r>
            <a:endParaRPr lang="en-US" sz="1300" b="0" u="none" strike="noStrike">
              <a:solidFill>
                <a:srgbClr val="000000"/>
              </a:solidFill>
              <a:effectLst/>
              <a:uFillTx/>
              <a:latin typeface="Arial"/>
            </a:endParaRPr>
          </a:p>
          <a:p>
            <a:pPr defTabSz="914400">
              <a:lnSpc>
                <a:spcPct val="112000"/>
              </a:lnSpc>
              <a:spcAft>
                <a:spcPts val="601"/>
              </a:spcAft>
              <a:tabLst>
                <a:tab pos="0" algn="l"/>
              </a:tabLst>
            </a:pPr>
            <a:r>
              <a:rPr lang="en-US" sz="1300" b="0" u="none" strike="noStrike">
                <a:solidFill>
                  <a:srgbClr val="16262E"/>
                </a:solidFill>
                <a:effectLst/>
                <a:uFillTx/>
                <a:latin typeface="Calibri"/>
                <a:ea typeface="Calibri"/>
              </a:rPr>
              <a:t>Fundó la comunidad de Ciencia de Datos de Monterrey y forma parte del consejo de la carrera de Matemáticas y Ciencia de Datos del Tec de Monterrey, y del consejo de Saturdays.AI.</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 name="Text 0"/>
          <p:cNvSpPr/>
          <p:nvPr/>
        </p:nvSpPr>
        <p:spPr>
          <a:xfrm>
            <a:off x="567000" y="402480"/>
            <a:ext cx="9228600" cy="7495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3200" b="1" u="none" strike="noStrike">
                <a:solidFill>
                  <a:srgbClr val="16262E"/>
                </a:solidFill>
                <a:effectLst/>
                <a:uFillTx/>
                <a:latin typeface="Arial"/>
                <a:ea typeface="Arial"/>
              </a:rPr>
              <a:t>Cómo vamos a usar los 150 minutos</a:t>
            </a:r>
            <a:endParaRPr lang="en-US" sz="3200" b="0" u="none" strike="noStrike">
              <a:solidFill>
                <a:srgbClr val="000000"/>
              </a:solidFill>
              <a:effectLst/>
              <a:uFillTx/>
              <a:latin typeface="Arial"/>
            </a:endParaRPr>
          </a:p>
        </p:txBody>
      </p:sp>
      <p:sp>
        <p:nvSpPr>
          <p:cNvPr id="31" name="Shape 1"/>
          <p:cNvSpPr/>
          <p:nvPr/>
        </p:nvSpPr>
        <p:spPr>
          <a:xfrm>
            <a:off x="9484920" y="457200"/>
            <a:ext cx="2139480" cy="347040"/>
          </a:xfrm>
          <a:prstGeom prst="roundRect">
            <a:avLst>
              <a:gd name="adj" fmla="val 50000"/>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2" name="Text 2"/>
          <p:cNvSpPr/>
          <p:nvPr/>
        </p:nvSpPr>
        <p:spPr>
          <a:xfrm>
            <a:off x="9484920" y="457200"/>
            <a:ext cx="2139480" cy="347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1" u="none" strike="noStrike">
                <a:solidFill>
                  <a:srgbClr val="5A6B73"/>
                </a:solidFill>
                <a:effectLst/>
                <a:uFillTx/>
                <a:latin typeface="Calibri"/>
                <a:ea typeface="Calibri"/>
              </a:rPr>
              <a:t>9:00 a 11:30</a:t>
            </a:r>
            <a:endParaRPr lang="en-US" sz="1200" b="0" u="none" strike="noStrike">
              <a:solidFill>
                <a:srgbClr val="000000"/>
              </a:solidFill>
              <a:effectLst/>
              <a:uFillTx/>
              <a:latin typeface="Arial"/>
            </a:endParaRPr>
          </a:p>
        </p:txBody>
      </p:sp>
      <p:sp>
        <p:nvSpPr>
          <p:cNvPr id="33" name="Shape 3"/>
          <p:cNvSpPr/>
          <p:nvPr/>
        </p:nvSpPr>
        <p:spPr>
          <a:xfrm>
            <a:off x="567000" y="1408320"/>
            <a:ext cx="5364000" cy="835560"/>
          </a:xfrm>
          <a:prstGeom prst="roundRect">
            <a:avLst>
              <a:gd name="adj" fmla="val 7659"/>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4" name="Text 4"/>
          <p:cNvSpPr/>
          <p:nvPr/>
        </p:nvSpPr>
        <p:spPr>
          <a:xfrm>
            <a:off x="786240" y="1408320"/>
            <a:ext cx="1371240" cy="835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2E7D7D"/>
                </a:solidFill>
                <a:effectLst/>
                <a:uFillTx/>
                <a:latin typeface="Arial"/>
                <a:ea typeface="Arial"/>
              </a:rPr>
              <a:t>9:00</a:t>
            </a:r>
            <a:endParaRPr lang="en-US" sz="1300" b="0" u="none" strike="noStrike">
              <a:solidFill>
                <a:srgbClr val="000000"/>
              </a:solidFill>
              <a:effectLst/>
              <a:uFillTx/>
              <a:latin typeface="Arial"/>
            </a:endParaRPr>
          </a:p>
        </p:txBody>
      </p:sp>
      <p:sp>
        <p:nvSpPr>
          <p:cNvPr id="35" name="Text 5"/>
          <p:cNvSpPr/>
          <p:nvPr/>
        </p:nvSpPr>
        <p:spPr>
          <a:xfrm>
            <a:off x="2194560" y="1463040"/>
            <a:ext cx="3516840" cy="725760"/>
          </a:xfrm>
          <a:prstGeom prst="rect">
            <a:avLst/>
          </a:prstGeom>
          <a:noFill/>
          <a:ln w="0">
            <a:noFill/>
          </a:ln>
        </p:spPr>
        <p:style>
          <a:lnRef idx="0"/>
          <a:fillRef idx="0"/>
          <a:effectRef idx="0"/>
          <a:fontRef idx="minor"/>
        </p:style>
        <p:txBody>
          <a:bodyPr lIns="0" tIns="0" rIns="0" bIns="0" anchor="ctr">
            <a:noAutofit/>
          </a:bodyPr>
          <a:p>
            <a:pPr defTabSz="914400">
              <a:lnSpc>
                <a:spcPct val="105000"/>
              </a:lnSpc>
              <a:tabLst>
                <a:tab pos="0" algn="l"/>
              </a:tabLst>
            </a:pPr>
            <a:r>
              <a:rPr lang="en-US" sz="1350" b="0" u="none" strike="noStrike">
                <a:solidFill>
                  <a:srgbClr val="16262E"/>
                </a:solidFill>
                <a:effectLst/>
                <a:uFillTx/>
                <a:latin typeface="Calibri"/>
                <a:ea typeface="Calibri"/>
              </a:rPr>
              <a:t>Quiénes somos, cómo se califica y qué te llevas</a:t>
            </a:r>
            <a:endParaRPr lang="en-US" sz="1350" b="0" u="none" strike="noStrike">
              <a:solidFill>
                <a:srgbClr val="000000"/>
              </a:solidFill>
              <a:effectLst/>
              <a:uFillTx/>
              <a:latin typeface="Arial"/>
            </a:endParaRPr>
          </a:p>
        </p:txBody>
      </p:sp>
      <p:sp>
        <p:nvSpPr>
          <p:cNvPr id="36" name="Shape 6"/>
          <p:cNvSpPr/>
          <p:nvPr/>
        </p:nvSpPr>
        <p:spPr>
          <a:xfrm>
            <a:off x="567000" y="2390400"/>
            <a:ext cx="5364000" cy="835560"/>
          </a:xfrm>
          <a:prstGeom prst="roundRect">
            <a:avLst>
              <a:gd name="adj" fmla="val 7659"/>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7" name="Text 7"/>
          <p:cNvSpPr/>
          <p:nvPr/>
        </p:nvSpPr>
        <p:spPr>
          <a:xfrm>
            <a:off x="786240" y="2390400"/>
            <a:ext cx="1371240" cy="835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2E7D7D"/>
                </a:solidFill>
                <a:effectLst/>
                <a:uFillTx/>
                <a:latin typeface="Arial"/>
                <a:ea typeface="Arial"/>
              </a:rPr>
              <a:t>9:12</a:t>
            </a:r>
            <a:endParaRPr lang="en-US" sz="1300" b="0" u="none" strike="noStrike">
              <a:solidFill>
                <a:srgbClr val="000000"/>
              </a:solidFill>
              <a:effectLst/>
              <a:uFillTx/>
              <a:latin typeface="Arial"/>
            </a:endParaRPr>
          </a:p>
        </p:txBody>
      </p:sp>
      <p:sp>
        <p:nvSpPr>
          <p:cNvPr id="38" name="Text 8"/>
          <p:cNvSpPr/>
          <p:nvPr/>
        </p:nvSpPr>
        <p:spPr>
          <a:xfrm>
            <a:off x="2194560" y="2445120"/>
            <a:ext cx="3516840" cy="725760"/>
          </a:xfrm>
          <a:prstGeom prst="rect">
            <a:avLst/>
          </a:prstGeom>
          <a:noFill/>
          <a:ln w="0">
            <a:noFill/>
          </a:ln>
        </p:spPr>
        <p:style>
          <a:lnRef idx="0"/>
          <a:fillRef idx="0"/>
          <a:effectRef idx="0"/>
          <a:fontRef idx="minor"/>
        </p:style>
        <p:txBody>
          <a:bodyPr lIns="0" tIns="0" rIns="0" bIns="0" anchor="ctr">
            <a:noAutofit/>
          </a:bodyPr>
          <a:p>
            <a:pPr defTabSz="914400">
              <a:lnSpc>
                <a:spcPct val="105000"/>
              </a:lnSpc>
              <a:tabLst>
                <a:tab pos="0" algn="l"/>
              </a:tabLst>
            </a:pPr>
            <a:r>
              <a:rPr lang="en-US" sz="1350" b="0" u="none" strike="noStrike">
                <a:solidFill>
                  <a:srgbClr val="16262E"/>
                </a:solidFill>
                <a:effectLst/>
                <a:uFillTx/>
                <a:latin typeface="Calibri"/>
                <a:ea typeface="Calibri"/>
              </a:rPr>
              <a:t>Qué es un modelo de lenguaje y por qué falla</a:t>
            </a:r>
            <a:endParaRPr lang="en-US" sz="1350" b="0" u="none" strike="noStrike">
              <a:solidFill>
                <a:srgbClr val="000000"/>
              </a:solidFill>
              <a:effectLst/>
              <a:uFillTx/>
              <a:latin typeface="Arial"/>
            </a:endParaRPr>
          </a:p>
        </p:txBody>
      </p:sp>
      <p:sp>
        <p:nvSpPr>
          <p:cNvPr id="39" name="Shape 9"/>
          <p:cNvSpPr/>
          <p:nvPr/>
        </p:nvSpPr>
        <p:spPr>
          <a:xfrm>
            <a:off x="567000" y="3372480"/>
            <a:ext cx="5364000" cy="835560"/>
          </a:xfrm>
          <a:prstGeom prst="roundRect">
            <a:avLst>
              <a:gd name="adj" fmla="val 7659"/>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0" name="Text 10"/>
          <p:cNvSpPr/>
          <p:nvPr/>
        </p:nvSpPr>
        <p:spPr>
          <a:xfrm>
            <a:off x="786240" y="3372480"/>
            <a:ext cx="1371240" cy="835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2E7D7D"/>
                </a:solidFill>
                <a:effectLst/>
                <a:uFillTx/>
                <a:latin typeface="Arial"/>
                <a:ea typeface="Arial"/>
              </a:rPr>
              <a:t>9:50</a:t>
            </a:r>
            <a:endParaRPr lang="en-US" sz="1300" b="0" u="none" strike="noStrike">
              <a:solidFill>
                <a:srgbClr val="000000"/>
              </a:solidFill>
              <a:effectLst/>
              <a:uFillTx/>
              <a:latin typeface="Arial"/>
            </a:endParaRPr>
          </a:p>
        </p:txBody>
      </p:sp>
      <p:sp>
        <p:nvSpPr>
          <p:cNvPr id="41" name="Text 11"/>
          <p:cNvSpPr/>
          <p:nvPr/>
        </p:nvSpPr>
        <p:spPr>
          <a:xfrm>
            <a:off x="2194560" y="3427200"/>
            <a:ext cx="3516840" cy="725760"/>
          </a:xfrm>
          <a:prstGeom prst="rect">
            <a:avLst/>
          </a:prstGeom>
          <a:noFill/>
          <a:ln w="0">
            <a:noFill/>
          </a:ln>
        </p:spPr>
        <p:style>
          <a:lnRef idx="0"/>
          <a:fillRef idx="0"/>
          <a:effectRef idx="0"/>
          <a:fontRef idx="minor"/>
        </p:style>
        <p:txBody>
          <a:bodyPr lIns="0" tIns="0" rIns="0" bIns="0" anchor="ctr">
            <a:noAutofit/>
          </a:bodyPr>
          <a:p>
            <a:pPr defTabSz="914400">
              <a:lnSpc>
                <a:spcPct val="105000"/>
              </a:lnSpc>
              <a:tabLst>
                <a:tab pos="0" algn="l"/>
              </a:tabLst>
            </a:pPr>
            <a:r>
              <a:rPr lang="en-US" sz="1350" b="0" u="none" strike="noStrike">
                <a:solidFill>
                  <a:srgbClr val="16262E"/>
                </a:solidFill>
                <a:effectLst/>
                <a:uFillTx/>
                <a:latin typeface="Calibri"/>
                <a:ea typeface="Calibri"/>
              </a:rPr>
              <a:t>Uso ético: transparencia, gobierno de datos y sesgos</a:t>
            </a:r>
            <a:endParaRPr lang="en-US" sz="1350" b="0" u="none" strike="noStrike">
              <a:solidFill>
                <a:srgbClr val="000000"/>
              </a:solidFill>
              <a:effectLst/>
              <a:uFillTx/>
              <a:latin typeface="Arial"/>
            </a:endParaRPr>
          </a:p>
        </p:txBody>
      </p:sp>
      <p:sp>
        <p:nvSpPr>
          <p:cNvPr id="42" name="Shape 12"/>
          <p:cNvSpPr/>
          <p:nvPr/>
        </p:nvSpPr>
        <p:spPr>
          <a:xfrm>
            <a:off x="567000" y="4354200"/>
            <a:ext cx="5364000" cy="835560"/>
          </a:xfrm>
          <a:prstGeom prst="roundRect">
            <a:avLst>
              <a:gd name="adj" fmla="val 7659"/>
            </a:avLst>
          </a:prstGeom>
          <a:solidFill>
            <a:srgbClr val="F7E4D8"/>
          </a:solidFill>
          <a:ln w="12700">
            <a:solidFill>
              <a:srgbClr val="F7E4D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3" name="Text 13"/>
          <p:cNvSpPr/>
          <p:nvPr/>
        </p:nvSpPr>
        <p:spPr>
          <a:xfrm>
            <a:off x="786240" y="4354200"/>
            <a:ext cx="1371240" cy="835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C85A28"/>
                </a:solidFill>
                <a:effectLst/>
                <a:uFillTx/>
                <a:latin typeface="Arial"/>
                <a:ea typeface="Arial"/>
              </a:rPr>
              <a:t>10:22</a:t>
            </a:r>
            <a:endParaRPr lang="en-US" sz="1300" b="0" u="none" strike="noStrike">
              <a:solidFill>
                <a:srgbClr val="000000"/>
              </a:solidFill>
              <a:effectLst/>
              <a:uFillTx/>
              <a:latin typeface="Arial"/>
            </a:endParaRPr>
          </a:p>
        </p:txBody>
      </p:sp>
      <p:sp>
        <p:nvSpPr>
          <p:cNvPr id="44" name="Text 14"/>
          <p:cNvSpPr/>
          <p:nvPr/>
        </p:nvSpPr>
        <p:spPr>
          <a:xfrm>
            <a:off x="2194560" y="4409280"/>
            <a:ext cx="3516840" cy="725760"/>
          </a:xfrm>
          <a:prstGeom prst="rect">
            <a:avLst/>
          </a:prstGeom>
          <a:noFill/>
          <a:ln w="0">
            <a:noFill/>
          </a:ln>
        </p:spPr>
        <p:style>
          <a:lnRef idx="0"/>
          <a:fillRef idx="0"/>
          <a:effectRef idx="0"/>
          <a:fontRef idx="minor"/>
        </p:style>
        <p:txBody>
          <a:bodyPr lIns="0" tIns="0" rIns="0" bIns="0" anchor="ctr">
            <a:noAutofit/>
          </a:bodyPr>
          <a:p>
            <a:pPr defTabSz="914400">
              <a:lnSpc>
                <a:spcPct val="105000"/>
              </a:lnSpc>
              <a:tabLst>
                <a:tab pos="0" algn="l"/>
              </a:tabLst>
            </a:pPr>
            <a:r>
              <a:rPr lang="en-US" sz="1350" b="0" u="none" strike="noStrike">
                <a:solidFill>
                  <a:srgbClr val="16262E"/>
                </a:solidFill>
                <a:effectLst/>
                <a:uFillTx/>
                <a:latin typeface="Calibri"/>
                <a:ea typeface="Calibri"/>
              </a:rPr>
              <a:t>Receso de diez minutos</a:t>
            </a:r>
            <a:endParaRPr lang="en-US" sz="1350" b="0" u="none" strike="noStrike">
              <a:solidFill>
                <a:srgbClr val="000000"/>
              </a:solidFill>
              <a:effectLst/>
              <a:uFillTx/>
              <a:latin typeface="Arial"/>
            </a:endParaRPr>
          </a:p>
        </p:txBody>
      </p:sp>
      <p:sp>
        <p:nvSpPr>
          <p:cNvPr id="45" name="Shape 15"/>
          <p:cNvSpPr/>
          <p:nvPr/>
        </p:nvSpPr>
        <p:spPr>
          <a:xfrm>
            <a:off x="567000" y="5336280"/>
            <a:ext cx="5364000" cy="835560"/>
          </a:xfrm>
          <a:prstGeom prst="roundRect">
            <a:avLst>
              <a:gd name="adj" fmla="val 7659"/>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6" name="Text 16"/>
          <p:cNvSpPr/>
          <p:nvPr/>
        </p:nvSpPr>
        <p:spPr>
          <a:xfrm>
            <a:off x="786240" y="5336280"/>
            <a:ext cx="1371240" cy="835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2E7D7D"/>
                </a:solidFill>
                <a:effectLst/>
                <a:uFillTx/>
                <a:latin typeface="Arial"/>
                <a:ea typeface="Arial"/>
              </a:rPr>
              <a:t>10:32</a:t>
            </a:r>
            <a:endParaRPr lang="en-US" sz="1300" b="0" u="none" strike="noStrike">
              <a:solidFill>
                <a:srgbClr val="000000"/>
              </a:solidFill>
              <a:effectLst/>
              <a:uFillTx/>
              <a:latin typeface="Arial"/>
            </a:endParaRPr>
          </a:p>
        </p:txBody>
      </p:sp>
      <p:sp>
        <p:nvSpPr>
          <p:cNvPr id="47" name="Text 17"/>
          <p:cNvSpPr/>
          <p:nvPr/>
        </p:nvSpPr>
        <p:spPr>
          <a:xfrm>
            <a:off x="2194560" y="5391360"/>
            <a:ext cx="3516840" cy="725760"/>
          </a:xfrm>
          <a:prstGeom prst="rect">
            <a:avLst/>
          </a:prstGeom>
          <a:noFill/>
          <a:ln w="0">
            <a:noFill/>
          </a:ln>
        </p:spPr>
        <p:style>
          <a:lnRef idx="0"/>
          <a:fillRef idx="0"/>
          <a:effectRef idx="0"/>
          <a:fontRef idx="minor"/>
        </p:style>
        <p:txBody>
          <a:bodyPr lIns="0" tIns="0" rIns="0" bIns="0" anchor="ctr">
            <a:noAutofit/>
          </a:bodyPr>
          <a:p>
            <a:pPr defTabSz="914400">
              <a:lnSpc>
                <a:spcPct val="105000"/>
              </a:lnSpc>
              <a:tabLst>
                <a:tab pos="0" algn="l"/>
              </a:tabLst>
            </a:pPr>
            <a:r>
              <a:rPr lang="en-US" sz="1350" b="0" u="none" strike="noStrike">
                <a:solidFill>
                  <a:srgbClr val="16262E"/>
                </a:solidFill>
                <a:effectLst/>
                <a:uFillTx/>
                <a:latin typeface="Calibri"/>
                <a:ea typeface="Calibri"/>
              </a:rPr>
              <a:t>El semáforo de datos y tu configuración de privacidad</a:t>
            </a:r>
            <a:endParaRPr lang="en-US" sz="1350" b="0" u="none" strike="noStrike">
              <a:solidFill>
                <a:srgbClr val="000000"/>
              </a:solidFill>
              <a:effectLst/>
              <a:uFillTx/>
              <a:latin typeface="Arial"/>
            </a:endParaRPr>
          </a:p>
        </p:txBody>
      </p:sp>
      <p:sp>
        <p:nvSpPr>
          <p:cNvPr id="48" name="Shape 18"/>
          <p:cNvSpPr/>
          <p:nvPr/>
        </p:nvSpPr>
        <p:spPr>
          <a:xfrm>
            <a:off x="6260400" y="1408320"/>
            <a:ext cx="5364000" cy="835560"/>
          </a:xfrm>
          <a:prstGeom prst="roundRect">
            <a:avLst>
              <a:gd name="adj" fmla="val 7659"/>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9" name="Text 19"/>
          <p:cNvSpPr/>
          <p:nvPr/>
        </p:nvSpPr>
        <p:spPr>
          <a:xfrm>
            <a:off x="6480000" y="1408320"/>
            <a:ext cx="1371240" cy="835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2E7D7D"/>
                </a:solidFill>
                <a:effectLst/>
                <a:uFillTx/>
                <a:latin typeface="Arial"/>
                <a:ea typeface="Arial"/>
              </a:rPr>
              <a:t>10:44</a:t>
            </a:r>
            <a:endParaRPr lang="en-US" sz="1300" b="0" u="none" strike="noStrike">
              <a:solidFill>
                <a:srgbClr val="000000"/>
              </a:solidFill>
              <a:effectLst/>
              <a:uFillTx/>
              <a:latin typeface="Arial"/>
            </a:endParaRPr>
          </a:p>
        </p:txBody>
      </p:sp>
      <p:sp>
        <p:nvSpPr>
          <p:cNvPr id="50" name="Text 20"/>
          <p:cNvSpPr/>
          <p:nvPr/>
        </p:nvSpPr>
        <p:spPr>
          <a:xfrm>
            <a:off x="7887960" y="1463040"/>
            <a:ext cx="3516840" cy="725760"/>
          </a:xfrm>
          <a:prstGeom prst="rect">
            <a:avLst/>
          </a:prstGeom>
          <a:noFill/>
          <a:ln w="0">
            <a:noFill/>
          </a:ln>
        </p:spPr>
        <p:style>
          <a:lnRef idx="0"/>
          <a:fillRef idx="0"/>
          <a:effectRef idx="0"/>
          <a:fontRef idx="minor"/>
        </p:style>
        <p:txBody>
          <a:bodyPr lIns="0" tIns="0" rIns="0" bIns="0" anchor="ctr">
            <a:noAutofit/>
          </a:bodyPr>
          <a:p>
            <a:pPr defTabSz="914400">
              <a:lnSpc>
                <a:spcPct val="105000"/>
              </a:lnSpc>
              <a:tabLst>
                <a:tab pos="0" algn="l"/>
              </a:tabLst>
            </a:pPr>
            <a:r>
              <a:rPr lang="en-US" sz="1350" b="0" u="none" strike="noStrike">
                <a:solidFill>
                  <a:srgbClr val="16262E"/>
                </a:solidFill>
                <a:effectLst/>
                <a:uFillTx/>
                <a:latin typeface="Calibri"/>
                <a:ea typeface="Calibri"/>
              </a:rPr>
              <a:t>Trazabilidad: de dónde salió cada cosa</a:t>
            </a:r>
            <a:endParaRPr lang="en-US" sz="1350" b="0" u="none" strike="noStrike">
              <a:solidFill>
                <a:srgbClr val="000000"/>
              </a:solidFill>
              <a:effectLst/>
              <a:uFillTx/>
              <a:latin typeface="Arial"/>
            </a:endParaRPr>
          </a:p>
        </p:txBody>
      </p:sp>
      <p:sp>
        <p:nvSpPr>
          <p:cNvPr id="51" name="Shape 21"/>
          <p:cNvSpPr/>
          <p:nvPr/>
        </p:nvSpPr>
        <p:spPr>
          <a:xfrm>
            <a:off x="6260400" y="2390400"/>
            <a:ext cx="5364000" cy="835560"/>
          </a:xfrm>
          <a:prstGeom prst="roundRect">
            <a:avLst>
              <a:gd name="adj" fmla="val 7659"/>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2" name="Text 22"/>
          <p:cNvSpPr/>
          <p:nvPr/>
        </p:nvSpPr>
        <p:spPr>
          <a:xfrm>
            <a:off x="6480000" y="2390400"/>
            <a:ext cx="1371240" cy="835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2E7D7D"/>
                </a:solidFill>
                <a:effectLst/>
                <a:uFillTx/>
                <a:latin typeface="Arial"/>
                <a:ea typeface="Arial"/>
              </a:rPr>
              <a:t>10:56</a:t>
            </a:r>
            <a:endParaRPr lang="en-US" sz="1300" b="0" u="none" strike="noStrike">
              <a:solidFill>
                <a:srgbClr val="000000"/>
              </a:solidFill>
              <a:effectLst/>
              <a:uFillTx/>
              <a:latin typeface="Arial"/>
            </a:endParaRPr>
          </a:p>
        </p:txBody>
      </p:sp>
      <p:sp>
        <p:nvSpPr>
          <p:cNvPr id="53" name="Text 23"/>
          <p:cNvSpPr/>
          <p:nvPr/>
        </p:nvSpPr>
        <p:spPr>
          <a:xfrm>
            <a:off x="7887960" y="2445120"/>
            <a:ext cx="3516840" cy="725760"/>
          </a:xfrm>
          <a:prstGeom prst="rect">
            <a:avLst/>
          </a:prstGeom>
          <a:noFill/>
          <a:ln w="0">
            <a:noFill/>
          </a:ln>
        </p:spPr>
        <p:style>
          <a:lnRef idx="0"/>
          <a:fillRef idx="0"/>
          <a:effectRef idx="0"/>
          <a:fontRef idx="minor"/>
        </p:style>
        <p:txBody>
          <a:bodyPr lIns="0" tIns="0" rIns="0" bIns="0" anchor="ctr">
            <a:noAutofit/>
          </a:bodyPr>
          <a:p>
            <a:pPr defTabSz="914400">
              <a:lnSpc>
                <a:spcPct val="105000"/>
              </a:lnSpc>
              <a:tabLst>
                <a:tab pos="0" algn="l"/>
              </a:tabLst>
            </a:pPr>
            <a:r>
              <a:rPr lang="en-US" sz="1350" b="0" u="none" strike="noStrike">
                <a:solidFill>
                  <a:srgbClr val="16262E"/>
                </a:solidFill>
                <a:effectLst/>
                <a:uFillTx/>
                <a:latin typeface="Calibri"/>
                <a:ea typeface="Calibri"/>
              </a:rPr>
              <a:t>Cómo justificar el uso de IA en tu trabajo</a:t>
            </a:r>
            <a:endParaRPr lang="en-US" sz="1350" b="0" u="none" strike="noStrike">
              <a:solidFill>
                <a:srgbClr val="000000"/>
              </a:solidFill>
              <a:effectLst/>
              <a:uFillTx/>
              <a:latin typeface="Arial"/>
            </a:endParaRPr>
          </a:p>
        </p:txBody>
      </p:sp>
      <p:sp>
        <p:nvSpPr>
          <p:cNvPr id="54" name="Shape 24"/>
          <p:cNvSpPr/>
          <p:nvPr/>
        </p:nvSpPr>
        <p:spPr>
          <a:xfrm>
            <a:off x="6260400" y="3372480"/>
            <a:ext cx="5364000" cy="835560"/>
          </a:xfrm>
          <a:prstGeom prst="roundRect">
            <a:avLst>
              <a:gd name="adj" fmla="val 7659"/>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5" name="Text 25"/>
          <p:cNvSpPr/>
          <p:nvPr/>
        </p:nvSpPr>
        <p:spPr>
          <a:xfrm>
            <a:off x="6480000" y="3372480"/>
            <a:ext cx="1371240" cy="835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2E7D7D"/>
                </a:solidFill>
                <a:effectLst/>
                <a:uFillTx/>
                <a:latin typeface="Arial"/>
                <a:ea typeface="Arial"/>
              </a:rPr>
              <a:t>11:14</a:t>
            </a:r>
            <a:endParaRPr lang="en-US" sz="1300" b="0" u="none" strike="noStrike">
              <a:solidFill>
                <a:srgbClr val="000000"/>
              </a:solidFill>
              <a:effectLst/>
              <a:uFillTx/>
              <a:latin typeface="Arial"/>
            </a:endParaRPr>
          </a:p>
        </p:txBody>
      </p:sp>
      <p:sp>
        <p:nvSpPr>
          <p:cNvPr id="56" name="Text 26"/>
          <p:cNvSpPr/>
          <p:nvPr/>
        </p:nvSpPr>
        <p:spPr>
          <a:xfrm>
            <a:off x="7887960" y="3427200"/>
            <a:ext cx="3516840" cy="725760"/>
          </a:xfrm>
          <a:prstGeom prst="rect">
            <a:avLst/>
          </a:prstGeom>
          <a:noFill/>
          <a:ln w="0">
            <a:noFill/>
          </a:ln>
        </p:spPr>
        <p:style>
          <a:lnRef idx="0"/>
          <a:fillRef idx="0"/>
          <a:effectRef idx="0"/>
          <a:fontRef idx="minor"/>
        </p:style>
        <p:txBody>
          <a:bodyPr lIns="0" tIns="0" rIns="0" bIns="0" anchor="ctr">
            <a:noAutofit/>
          </a:bodyPr>
          <a:p>
            <a:pPr defTabSz="914400">
              <a:lnSpc>
                <a:spcPct val="105000"/>
              </a:lnSpc>
              <a:tabLst>
                <a:tab pos="0" algn="l"/>
              </a:tabLst>
            </a:pPr>
            <a:r>
              <a:rPr lang="en-US" sz="1350" b="0" u="none" strike="noStrike">
                <a:solidFill>
                  <a:srgbClr val="16262E"/>
                </a:solidFill>
                <a:effectLst/>
                <a:uFillTx/>
                <a:latin typeface="Calibri"/>
                <a:ea typeface="Calibri"/>
              </a:rPr>
              <a:t>Tu ficha de idoneidad</a:t>
            </a:r>
            <a:endParaRPr lang="en-US" sz="1350" b="0" u="none" strike="noStrike">
              <a:solidFill>
                <a:srgbClr val="000000"/>
              </a:solidFill>
              <a:effectLst/>
              <a:uFillTx/>
              <a:latin typeface="Arial"/>
            </a:endParaRPr>
          </a:p>
        </p:txBody>
      </p:sp>
      <p:sp>
        <p:nvSpPr>
          <p:cNvPr id="57" name="Shape 27"/>
          <p:cNvSpPr/>
          <p:nvPr/>
        </p:nvSpPr>
        <p:spPr>
          <a:xfrm>
            <a:off x="6260400" y="4354200"/>
            <a:ext cx="5364000" cy="835560"/>
          </a:xfrm>
          <a:prstGeom prst="roundRect">
            <a:avLst>
              <a:gd name="adj" fmla="val 7659"/>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8" name="Text 28"/>
          <p:cNvSpPr/>
          <p:nvPr/>
        </p:nvSpPr>
        <p:spPr>
          <a:xfrm>
            <a:off x="6480000" y="4354200"/>
            <a:ext cx="1371240" cy="835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2E7D7D"/>
                </a:solidFill>
                <a:effectLst/>
                <a:uFillTx/>
                <a:latin typeface="Arial"/>
                <a:ea typeface="Arial"/>
              </a:rPr>
              <a:t>11:26</a:t>
            </a:r>
            <a:endParaRPr lang="en-US" sz="1300" b="0" u="none" strike="noStrike">
              <a:solidFill>
                <a:srgbClr val="000000"/>
              </a:solidFill>
              <a:effectLst/>
              <a:uFillTx/>
              <a:latin typeface="Arial"/>
            </a:endParaRPr>
          </a:p>
        </p:txBody>
      </p:sp>
      <p:sp>
        <p:nvSpPr>
          <p:cNvPr id="59" name="Text 29"/>
          <p:cNvSpPr/>
          <p:nvPr/>
        </p:nvSpPr>
        <p:spPr>
          <a:xfrm>
            <a:off x="7887960" y="4409280"/>
            <a:ext cx="3516840" cy="725760"/>
          </a:xfrm>
          <a:prstGeom prst="rect">
            <a:avLst/>
          </a:prstGeom>
          <a:noFill/>
          <a:ln w="0">
            <a:noFill/>
          </a:ln>
        </p:spPr>
        <p:style>
          <a:lnRef idx="0"/>
          <a:fillRef idx="0"/>
          <a:effectRef idx="0"/>
          <a:fontRef idx="minor"/>
        </p:style>
        <p:txBody>
          <a:bodyPr lIns="0" tIns="0" rIns="0" bIns="0" anchor="ctr">
            <a:noAutofit/>
          </a:bodyPr>
          <a:p>
            <a:pPr defTabSz="914400">
              <a:lnSpc>
                <a:spcPct val="105000"/>
              </a:lnSpc>
              <a:tabLst>
                <a:tab pos="0" algn="l"/>
              </a:tabLst>
            </a:pPr>
            <a:r>
              <a:rPr lang="en-US" sz="1350" b="0" u="none" strike="noStrike">
                <a:solidFill>
                  <a:srgbClr val="16262E"/>
                </a:solidFill>
                <a:effectLst/>
                <a:uFillTx/>
                <a:latin typeface="Calibri"/>
                <a:ea typeface="Calibri"/>
              </a:rPr>
              <a:t>Cierre y tarea para mañana</a:t>
            </a:r>
            <a:endParaRPr lang="en-US" sz="1350" b="0" u="none" strike="noStrike">
              <a:solidFill>
                <a:srgbClr val="000000"/>
              </a:solidFill>
              <a:effectLst/>
              <a:uFillTx/>
              <a:latin typeface="Arial"/>
            </a:endParaRPr>
          </a:p>
        </p:txBody>
      </p:sp>
      <p:sp>
        <p:nvSpPr>
          <p:cNvPr id="60" name="Text 30"/>
          <p:cNvSpPr/>
          <p:nvPr/>
        </p:nvSpPr>
        <p:spPr>
          <a:xfrm>
            <a:off x="567000" y="6327720"/>
            <a:ext cx="11057400" cy="292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00" b="0" u="none" strike="noStrike">
                <a:solidFill>
                  <a:srgbClr val="5A6B73"/>
                </a:solidFill>
                <a:effectLst/>
                <a:uFillTx/>
                <a:latin typeface="Calibri"/>
                <a:ea typeface="Calibri"/>
              </a:rPr>
              <a:t>Hoy vas a trabajar con las manos en el teclado unos 35 minutos. A partir de mañana, mucho más.</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 name="Text 0"/>
          <p:cNvSpPr/>
          <p:nvPr/>
        </p:nvSpPr>
        <p:spPr>
          <a:xfrm>
            <a:off x="567000" y="402480"/>
            <a:ext cx="9228600" cy="7495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3200" b="1" u="none" strike="noStrike">
                <a:solidFill>
                  <a:srgbClr val="16262E"/>
                </a:solidFill>
                <a:effectLst/>
                <a:uFillTx/>
                <a:latin typeface="Arial"/>
                <a:ea typeface="Arial"/>
              </a:rPr>
              <a:t>Cómo se califica este curso</a:t>
            </a:r>
            <a:endParaRPr lang="en-US" sz="3200" b="0" u="none" strike="noStrike">
              <a:solidFill>
                <a:srgbClr val="000000"/>
              </a:solidFill>
              <a:effectLst/>
              <a:uFillTx/>
              <a:latin typeface="Arial"/>
            </a:endParaRPr>
          </a:p>
        </p:txBody>
      </p:sp>
      <p:sp>
        <p:nvSpPr>
          <p:cNvPr id="62" name="Text 1"/>
          <p:cNvSpPr/>
          <p:nvPr/>
        </p:nvSpPr>
        <p:spPr>
          <a:xfrm>
            <a:off x="567000" y="1280160"/>
            <a:ext cx="9960120" cy="3654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500" b="0" u="none" strike="noStrike">
                <a:solidFill>
                  <a:srgbClr val="5A6B73"/>
                </a:solidFill>
                <a:effectLst/>
                <a:uFillTx/>
                <a:latin typeface="Calibri"/>
                <a:ea typeface="Calibri"/>
              </a:rPr>
              <a:t>La asistencia es lo que menos pesa. Lo que cuenta es lo que tú produces.</a:t>
            </a:r>
            <a:endParaRPr lang="en-US" sz="1500" b="0" u="none" strike="noStrike">
              <a:solidFill>
                <a:srgbClr val="000000"/>
              </a:solidFill>
              <a:effectLst/>
              <a:uFillTx/>
              <a:latin typeface="Arial"/>
            </a:endParaRPr>
          </a:p>
        </p:txBody>
      </p:sp>
      <p:sp>
        <p:nvSpPr>
          <p:cNvPr id="63" name="Shape 2"/>
          <p:cNvSpPr/>
          <p:nvPr/>
        </p:nvSpPr>
        <p:spPr>
          <a:xfrm>
            <a:off x="567000" y="2011680"/>
            <a:ext cx="2558520" cy="2724480"/>
          </a:xfrm>
          <a:prstGeom prst="roundRect">
            <a:avLst>
              <a:gd name="adj" fmla="val 2859"/>
            </a:avLst>
          </a:prstGeom>
          <a:solidFill>
            <a:srgbClr val="D7E7E7"/>
          </a:solidFill>
          <a:ln w="12700">
            <a:solidFill>
              <a:srgbClr val="D7E7E7"/>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4" name="Shape 3"/>
          <p:cNvSpPr/>
          <p:nvPr/>
        </p:nvSpPr>
        <p:spPr>
          <a:xfrm>
            <a:off x="804600" y="2231280"/>
            <a:ext cx="420120" cy="420120"/>
          </a:xfrm>
          <a:prstGeom prst="ellipse">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65" name="Text 4"/>
          <p:cNvSpPr/>
          <p:nvPr/>
        </p:nvSpPr>
        <p:spPr>
          <a:xfrm>
            <a:off x="804600" y="2231280"/>
            <a:ext cx="420120" cy="420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40%</a:t>
            </a:r>
            <a:endParaRPr lang="en-US" sz="1400" b="0" u="none" strike="noStrike">
              <a:solidFill>
                <a:srgbClr val="000000"/>
              </a:solidFill>
              <a:effectLst/>
              <a:uFillTx/>
              <a:latin typeface="Arial"/>
            </a:endParaRPr>
          </a:p>
        </p:txBody>
      </p:sp>
      <p:sp>
        <p:nvSpPr>
          <p:cNvPr id="66" name="Text 5"/>
          <p:cNvSpPr/>
          <p:nvPr/>
        </p:nvSpPr>
        <p:spPr>
          <a:xfrm>
            <a:off x="804600" y="2797920"/>
            <a:ext cx="2082960" cy="3186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600" b="1" u="none" strike="noStrike">
                <a:solidFill>
                  <a:srgbClr val="16262E"/>
                </a:solidFill>
                <a:effectLst/>
                <a:uFillTx/>
                <a:latin typeface="Arial"/>
                <a:ea typeface="Arial"/>
              </a:rPr>
              <a:t>Laboratorios</a:t>
            </a:r>
            <a:endParaRPr lang="en-US" sz="1600" b="0" u="none" strike="noStrike">
              <a:solidFill>
                <a:srgbClr val="000000"/>
              </a:solidFill>
              <a:effectLst/>
              <a:uFillTx/>
              <a:latin typeface="Arial"/>
            </a:endParaRPr>
          </a:p>
        </p:txBody>
      </p:sp>
      <p:sp>
        <p:nvSpPr>
          <p:cNvPr id="67" name="Text 6"/>
          <p:cNvSpPr/>
          <p:nvPr/>
        </p:nvSpPr>
        <p:spPr>
          <a:xfrm>
            <a:off x="804600" y="3263400"/>
            <a:ext cx="2082960" cy="127152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300" b="0" u="none" strike="noStrike">
                <a:solidFill>
                  <a:srgbClr val="16262E"/>
                </a:solidFill>
                <a:effectLst/>
                <a:uFillTx/>
                <a:latin typeface="Calibri"/>
                <a:ea typeface="Calibri"/>
              </a:rPr>
              <a:t>Los tres laboratorios, los ejercicios de prompts y tu bitácora. Dos de los tres caen en estas dos semanas.</a:t>
            </a:r>
            <a:endParaRPr lang="en-US" sz="1300" b="0" u="none" strike="noStrike">
              <a:solidFill>
                <a:srgbClr val="000000"/>
              </a:solidFill>
              <a:effectLst/>
              <a:uFillTx/>
              <a:latin typeface="Arial"/>
            </a:endParaRPr>
          </a:p>
        </p:txBody>
      </p:sp>
      <p:sp>
        <p:nvSpPr>
          <p:cNvPr id="68" name="Shape 7"/>
          <p:cNvSpPr/>
          <p:nvPr/>
        </p:nvSpPr>
        <p:spPr>
          <a:xfrm>
            <a:off x="3399840" y="2011680"/>
            <a:ext cx="2558520" cy="2724480"/>
          </a:xfrm>
          <a:prstGeom prst="roundRect">
            <a:avLst>
              <a:gd name="adj" fmla="val 2859"/>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9" name="Shape 8"/>
          <p:cNvSpPr/>
          <p:nvPr/>
        </p:nvSpPr>
        <p:spPr>
          <a:xfrm>
            <a:off x="3637800" y="2231280"/>
            <a:ext cx="420120" cy="420120"/>
          </a:xfrm>
          <a:prstGeom prst="ellipse">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70" name="Text 9"/>
          <p:cNvSpPr/>
          <p:nvPr/>
        </p:nvSpPr>
        <p:spPr>
          <a:xfrm>
            <a:off x="3637800" y="2231280"/>
            <a:ext cx="420120" cy="420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40%</a:t>
            </a:r>
            <a:endParaRPr lang="en-US" sz="1400" b="0" u="none" strike="noStrike">
              <a:solidFill>
                <a:srgbClr val="000000"/>
              </a:solidFill>
              <a:effectLst/>
              <a:uFillTx/>
              <a:latin typeface="Arial"/>
            </a:endParaRPr>
          </a:p>
        </p:txBody>
      </p:sp>
      <p:sp>
        <p:nvSpPr>
          <p:cNvPr id="71" name="Text 10"/>
          <p:cNvSpPr/>
          <p:nvPr/>
        </p:nvSpPr>
        <p:spPr>
          <a:xfrm>
            <a:off x="3637800" y="2797920"/>
            <a:ext cx="2082960" cy="3186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600" b="1" u="none" strike="noStrike">
                <a:solidFill>
                  <a:srgbClr val="16262E"/>
                </a:solidFill>
                <a:effectLst/>
                <a:uFillTx/>
                <a:latin typeface="Arial"/>
                <a:ea typeface="Arial"/>
              </a:rPr>
              <a:t>Proyecto final</a:t>
            </a:r>
            <a:endParaRPr lang="en-US" sz="1600" b="0" u="none" strike="noStrike">
              <a:solidFill>
                <a:srgbClr val="000000"/>
              </a:solidFill>
              <a:effectLst/>
              <a:uFillTx/>
              <a:latin typeface="Arial"/>
            </a:endParaRPr>
          </a:p>
        </p:txBody>
      </p:sp>
      <p:sp>
        <p:nvSpPr>
          <p:cNvPr id="72" name="Text 11"/>
          <p:cNvSpPr/>
          <p:nvPr/>
        </p:nvSpPr>
        <p:spPr>
          <a:xfrm>
            <a:off x="3637800" y="3263400"/>
            <a:ext cx="2082960" cy="127152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300" b="0" u="none" strike="noStrike">
                <a:solidFill>
                  <a:srgbClr val="16262E"/>
                </a:solidFill>
                <a:effectLst/>
                <a:uFillTx/>
                <a:latin typeface="Calibri"/>
                <a:ea typeface="Calibri"/>
              </a:rPr>
              <a:t>En equipo. Se evalúa hasta el Módulo IV, pero puedes construirlo con lo que hagas estas dos semanas.</a:t>
            </a:r>
            <a:endParaRPr lang="en-US" sz="1300" b="0" u="none" strike="noStrike">
              <a:solidFill>
                <a:srgbClr val="000000"/>
              </a:solidFill>
              <a:effectLst/>
              <a:uFillTx/>
              <a:latin typeface="Arial"/>
            </a:endParaRPr>
          </a:p>
        </p:txBody>
      </p:sp>
      <p:sp>
        <p:nvSpPr>
          <p:cNvPr id="73" name="Shape 12"/>
          <p:cNvSpPr/>
          <p:nvPr/>
        </p:nvSpPr>
        <p:spPr>
          <a:xfrm>
            <a:off x="6233040" y="2011680"/>
            <a:ext cx="2558520" cy="2724480"/>
          </a:xfrm>
          <a:prstGeom prst="roundRect">
            <a:avLst>
              <a:gd name="adj" fmla="val 2859"/>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4" name="Shape 13"/>
          <p:cNvSpPr/>
          <p:nvPr/>
        </p:nvSpPr>
        <p:spPr>
          <a:xfrm>
            <a:off x="6470640" y="2231280"/>
            <a:ext cx="420120" cy="420120"/>
          </a:xfrm>
          <a:prstGeom prst="ellipse">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75" name="Text 14"/>
          <p:cNvSpPr/>
          <p:nvPr/>
        </p:nvSpPr>
        <p:spPr>
          <a:xfrm>
            <a:off x="6470640" y="2231280"/>
            <a:ext cx="420120" cy="420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10%</a:t>
            </a:r>
            <a:endParaRPr lang="en-US" sz="1400" b="0" u="none" strike="noStrike">
              <a:solidFill>
                <a:srgbClr val="000000"/>
              </a:solidFill>
              <a:effectLst/>
              <a:uFillTx/>
              <a:latin typeface="Arial"/>
            </a:endParaRPr>
          </a:p>
        </p:txBody>
      </p:sp>
      <p:sp>
        <p:nvSpPr>
          <p:cNvPr id="76" name="Text 15"/>
          <p:cNvSpPr/>
          <p:nvPr/>
        </p:nvSpPr>
        <p:spPr>
          <a:xfrm>
            <a:off x="6470640" y="2797920"/>
            <a:ext cx="2082960" cy="3186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600" b="1" u="none" strike="noStrike">
                <a:solidFill>
                  <a:srgbClr val="16262E"/>
                </a:solidFill>
                <a:effectLst/>
                <a:uFillTx/>
                <a:latin typeface="Arial"/>
                <a:ea typeface="Arial"/>
              </a:rPr>
              <a:t>Ejercicios en clase</a:t>
            </a:r>
            <a:endParaRPr lang="en-US" sz="1600" b="0" u="none" strike="noStrike">
              <a:solidFill>
                <a:srgbClr val="000000"/>
              </a:solidFill>
              <a:effectLst/>
              <a:uFillTx/>
              <a:latin typeface="Arial"/>
            </a:endParaRPr>
          </a:p>
        </p:txBody>
      </p:sp>
      <p:sp>
        <p:nvSpPr>
          <p:cNvPr id="77" name="Text 16"/>
          <p:cNvSpPr/>
          <p:nvPr/>
        </p:nvSpPr>
        <p:spPr>
          <a:xfrm>
            <a:off x="6470640" y="3263400"/>
            <a:ext cx="2082960" cy="127152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300" b="0" u="none" strike="noStrike">
                <a:solidFill>
                  <a:srgbClr val="16262E"/>
                </a:solidFill>
                <a:effectLst/>
                <a:uFillTx/>
                <a:latin typeface="Calibri"/>
                <a:ea typeface="Calibri"/>
              </a:rPr>
              <a:t>La ficha de hoy, tu biblioteca de prompts y el cuadro comparativo de la sesión 5.</a:t>
            </a:r>
            <a:endParaRPr lang="en-US" sz="1300" b="0" u="none" strike="noStrike">
              <a:solidFill>
                <a:srgbClr val="000000"/>
              </a:solidFill>
              <a:effectLst/>
              <a:uFillTx/>
              <a:latin typeface="Arial"/>
            </a:endParaRPr>
          </a:p>
        </p:txBody>
      </p:sp>
      <p:sp>
        <p:nvSpPr>
          <p:cNvPr id="78" name="Shape 17"/>
          <p:cNvSpPr/>
          <p:nvPr/>
        </p:nvSpPr>
        <p:spPr>
          <a:xfrm>
            <a:off x="9065880" y="2011680"/>
            <a:ext cx="2558520" cy="2724480"/>
          </a:xfrm>
          <a:prstGeom prst="roundRect">
            <a:avLst>
              <a:gd name="adj" fmla="val 2859"/>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9" name="Shape 18"/>
          <p:cNvSpPr/>
          <p:nvPr/>
        </p:nvSpPr>
        <p:spPr>
          <a:xfrm>
            <a:off x="9303840" y="2231280"/>
            <a:ext cx="420120" cy="420120"/>
          </a:xfrm>
          <a:prstGeom prst="ellipse">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80" name="Text 19"/>
          <p:cNvSpPr/>
          <p:nvPr/>
        </p:nvSpPr>
        <p:spPr>
          <a:xfrm>
            <a:off x="9303840" y="2231280"/>
            <a:ext cx="420120" cy="420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10%</a:t>
            </a:r>
            <a:endParaRPr lang="en-US" sz="1400" b="0" u="none" strike="noStrike">
              <a:solidFill>
                <a:srgbClr val="000000"/>
              </a:solidFill>
              <a:effectLst/>
              <a:uFillTx/>
              <a:latin typeface="Arial"/>
            </a:endParaRPr>
          </a:p>
        </p:txBody>
      </p:sp>
      <p:sp>
        <p:nvSpPr>
          <p:cNvPr id="81" name="Text 20"/>
          <p:cNvSpPr/>
          <p:nvPr/>
        </p:nvSpPr>
        <p:spPr>
          <a:xfrm>
            <a:off x="9303840" y="2797920"/>
            <a:ext cx="2082960" cy="3186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600" b="1" u="none" strike="noStrike">
                <a:solidFill>
                  <a:srgbClr val="16262E"/>
                </a:solidFill>
                <a:effectLst/>
                <a:uFillTx/>
                <a:latin typeface="Arial"/>
                <a:ea typeface="Arial"/>
              </a:rPr>
              <a:t>Asistencia</a:t>
            </a:r>
            <a:endParaRPr lang="en-US" sz="1600" b="0" u="none" strike="noStrike">
              <a:solidFill>
                <a:srgbClr val="000000"/>
              </a:solidFill>
              <a:effectLst/>
              <a:uFillTx/>
              <a:latin typeface="Arial"/>
            </a:endParaRPr>
          </a:p>
        </p:txBody>
      </p:sp>
      <p:sp>
        <p:nvSpPr>
          <p:cNvPr id="82" name="Text 21"/>
          <p:cNvSpPr/>
          <p:nvPr/>
        </p:nvSpPr>
        <p:spPr>
          <a:xfrm>
            <a:off x="9303840" y="3263400"/>
            <a:ext cx="2082960" cy="127152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300" b="0" u="none" strike="noStrike">
                <a:solidFill>
                  <a:srgbClr val="16262E"/>
                </a:solidFill>
                <a:effectLst/>
                <a:uFillTx/>
                <a:latin typeface="Calibri"/>
                <a:ea typeface="Calibri"/>
              </a:rPr>
              <a:t>La mínima que marca el reglamento. Es el criterio que menos pesa de los cuatro.</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3" name="Text 0"/>
          <p:cNvSpPr/>
          <p:nvPr/>
        </p:nvSpPr>
        <p:spPr>
          <a:xfrm>
            <a:off x="567000" y="402480"/>
            <a:ext cx="9228600" cy="7495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3200" b="1" u="none" strike="noStrike">
                <a:solidFill>
                  <a:srgbClr val="16262E"/>
                </a:solidFill>
                <a:effectLst/>
                <a:uFillTx/>
                <a:latin typeface="Arial"/>
                <a:ea typeface="Arial"/>
              </a:rPr>
              <a:t>Qué te llevas al terminar las dos semanas</a:t>
            </a:r>
            <a:endParaRPr lang="en-US" sz="3200" b="0" u="none" strike="noStrike">
              <a:solidFill>
                <a:srgbClr val="000000"/>
              </a:solidFill>
              <a:effectLst/>
              <a:uFillTx/>
              <a:latin typeface="Arial"/>
            </a:endParaRPr>
          </a:p>
        </p:txBody>
      </p:sp>
      <p:sp>
        <p:nvSpPr>
          <p:cNvPr id="84" name="Shape 1"/>
          <p:cNvSpPr/>
          <p:nvPr/>
        </p:nvSpPr>
        <p:spPr>
          <a:xfrm>
            <a:off x="567000" y="1417680"/>
            <a:ext cx="3502800" cy="2234880"/>
          </a:xfrm>
          <a:prstGeom prst="roundRect">
            <a:avLst>
              <a:gd name="adj" fmla="val 3273"/>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5" name="Shape 2"/>
          <p:cNvSpPr/>
          <p:nvPr/>
        </p:nvSpPr>
        <p:spPr>
          <a:xfrm>
            <a:off x="804600" y="1637280"/>
            <a:ext cx="420120" cy="420120"/>
          </a:xfrm>
          <a:prstGeom prst="ellipse">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86" name="Text 3"/>
          <p:cNvSpPr/>
          <p:nvPr/>
        </p:nvSpPr>
        <p:spPr>
          <a:xfrm>
            <a:off x="804600" y="1637280"/>
            <a:ext cx="420120" cy="420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1</a:t>
            </a:r>
            <a:endParaRPr lang="en-US" sz="1400" b="0" u="none" strike="noStrike">
              <a:solidFill>
                <a:srgbClr val="000000"/>
              </a:solidFill>
              <a:effectLst/>
              <a:uFillTx/>
              <a:latin typeface="Arial"/>
            </a:endParaRPr>
          </a:p>
        </p:txBody>
      </p:sp>
      <p:sp>
        <p:nvSpPr>
          <p:cNvPr id="87" name="Text 4"/>
          <p:cNvSpPr/>
          <p:nvPr/>
        </p:nvSpPr>
        <p:spPr>
          <a:xfrm>
            <a:off x="804600" y="2204280"/>
            <a:ext cx="3027240" cy="2473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170" b="1" u="none" strike="noStrike">
                <a:solidFill>
                  <a:srgbClr val="16262E"/>
                </a:solidFill>
                <a:effectLst/>
                <a:uFillTx/>
                <a:latin typeface="Arial"/>
                <a:ea typeface="Arial"/>
              </a:rPr>
              <a:t>Tu bitácora</a:t>
            </a:r>
            <a:endParaRPr lang="en-US" sz="1170" b="0" u="none" strike="noStrike">
              <a:solidFill>
                <a:srgbClr val="000000"/>
              </a:solidFill>
              <a:effectLst/>
              <a:uFillTx/>
              <a:latin typeface="Arial"/>
            </a:endParaRPr>
          </a:p>
        </p:txBody>
      </p:sp>
      <p:sp>
        <p:nvSpPr>
          <p:cNvPr id="88" name="Text 5"/>
          <p:cNvSpPr/>
          <p:nvPr/>
        </p:nvSpPr>
        <p:spPr>
          <a:xfrm>
            <a:off x="804600" y="2598120"/>
            <a:ext cx="3027240" cy="85320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950" b="0" u="none" strike="noStrike">
                <a:solidFill>
                  <a:srgbClr val="16262E"/>
                </a:solidFill>
                <a:effectLst/>
                <a:uFillTx/>
                <a:latin typeface="Calibri"/>
                <a:ea typeface="Calibri"/>
              </a:rPr>
              <a:t>Todo lo que probaste, con la versión de cada prompt y lo que te devolvió. Cuenta dentro del 40 por ciento de laboratorios.</a:t>
            </a:r>
            <a:endParaRPr lang="en-US" sz="950" b="0" u="none" strike="noStrike">
              <a:solidFill>
                <a:srgbClr val="000000"/>
              </a:solidFill>
              <a:effectLst/>
              <a:uFillTx/>
              <a:latin typeface="Arial"/>
            </a:endParaRPr>
          </a:p>
        </p:txBody>
      </p:sp>
      <p:sp>
        <p:nvSpPr>
          <p:cNvPr id="89" name="Shape 6"/>
          <p:cNvSpPr/>
          <p:nvPr/>
        </p:nvSpPr>
        <p:spPr>
          <a:xfrm>
            <a:off x="4344480" y="1417680"/>
            <a:ext cx="3502800" cy="2234880"/>
          </a:xfrm>
          <a:prstGeom prst="roundRect">
            <a:avLst>
              <a:gd name="adj" fmla="val 3273"/>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0" name="Shape 7"/>
          <p:cNvSpPr/>
          <p:nvPr/>
        </p:nvSpPr>
        <p:spPr>
          <a:xfrm>
            <a:off x="4582080" y="1637280"/>
            <a:ext cx="420120" cy="420120"/>
          </a:xfrm>
          <a:prstGeom prst="ellipse">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91" name="Text 8"/>
          <p:cNvSpPr/>
          <p:nvPr/>
        </p:nvSpPr>
        <p:spPr>
          <a:xfrm>
            <a:off x="4582080" y="1637280"/>
            <a:ext cx="420120" cy="420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2</a:t>
            </a:r>
            <a:endParaRPr lang="en-US" sz="1400" b="0" u="none" strike="noStrike">
              <a:solidFill>
                <a:srgbClr val="000000"/>
              </a:solidFill>
              <a:effectLst/>
              <a:uFillTx/>
              <a:latin typeface="Arial"/>
            </a:endParaRPr>
          </a:p>
        </p:txBody>
      </p:sp>
      <p:sp>
        <p:nvSpPr>
          <p:cNvPr id="92" name="Text 9"/>
          <p:cNvSpPr/>
          <p:nvPr/>
        </p:nvSpPr>
        <p:spPr>
          <a:xfrm>
            <a:off x="4582080" y="2204280"/>
            <a:ext cx="3027240" cy="2473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170" b="1" u="none" strike="noStrike">
                <a:solidFill>
                  <a:srgbClr val="16262E"/>
                </a:solidFill>
                <a:effectLst/>
                <a:uFillTx/>
                <a:latin typeface="Arial"/>
                <a:ea typeface="Arial"/>
              </a:rPr>
              <a:t>Tu biblioteca de prompts</a:t>
            </a:r>
            <a:endParaRPr lang="en-US" sz="1170" b="0" u="none" strike="noStrike">
              <a:solidFill>
                <a:srgbClr val="000000"/>
              </a:solidFill>
              <a:effectLst/>
              <a:uFillTx/>
              <a:latin typeface="Arial"/>
            </a:endParaRPr>
          </a:p>
        </p:txBody>
      </p:sp>
      <p:sp>
        <p:nvSpPr>
          <p:cNvPr id="93" name="Text 10"/>
          <p:cNvSpPr/>
          <p:nvPr/>
        </p:nvSpPr>
        <p:spPr>
          <a:xfrm>
            <a:off x="4582080" y="2598120"/>
            <a:ext cx="3027240" cy="85320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950" b="0" u="none" strike="noStrike">
                <a:solidFill>
                  <a:srgbClr val="16262E"/>
                </a:solidFill>
                <a:effectLst/>
                <a:uFillTx/>
                <a:latin typeface="Calibri"/>
                <a:ea typeface="Calibri"/>
              </a:rPr>
              <a:t>Al menos ocho prompts que ya funcionan para tareas reales de tu trabajo.</a:t>
            </a:r>
            <a:endParaRPr lang="en-US" sz="950" b="0" u="none" strike="noStrike">
              <a:solidFill>
                <a:srgbClr val="000000"/>
              </a:solidFill>
              <a:effectLst/>
              <a:uFillTx/>
              <a:latin typeface="Arial"/>
            </a:endParaRPr>
          </a:p>
        </p:txBody>
      </p:sp>
      <p:sp>
        <p:nvSpPr>
          <p:cNvPr id="94" name="Shape 11"/>
          <p:cNvSpPr/>
          <p:nvPr/>
        </p:nvSpPr>
        <p:spPr>
          <a:xfrm>
            <a:off x="8121600" y="1417680"/>
            <a:ext cx="3502800" cy="2234880"/>
          </a:xfrm>
          <a:prstGeom prst="roundRect">
            <a:avLst>
              <a:gd name="adj" fmla="val 3273"/>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5" name="Shape 12"/>
          <p:cNvSpPr/>
          <p:nvPr/>
        </p:nvSpPr>
        <p:spPr>
          <a:xfrm>
            <a:off x="8359560" y="1637280"/>
            <a:ext cx="420120" cy="420120"/>
          </a:xfrm>
          <a:prstGeom prst="ellipse">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96" name="Text 13"/>
          <p:cNvSpPr/>
          <p:nvPr/>
        </p:nvSpPr>
        <p:spPr>
          <a:xfrm>
            <a:off x="8359560" y="1637280"/>
            <a:ext cx="420120" cy="420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3</a:t>
            </a:r>
            <a:endParaRPr lang="en-US" sz="1400" b="0" u="none" strike="noStrike">
              <a:solidFill>
                <a:srgbClr val="000000"/>
              </a:solidFill>
              <a:effectLst/>
              <a:uFillTx/>
              <a:latin typeface="Arial"/>
            </a:endParaRPr>
          </a:p>
        </p:txBody>
      </p:sp>
      <p:sp>
        <p:nvSpPr>
          <p:cNvPr id="97" name="Text 14"/>
          <p:cNvSpPr/>
          <p:nvPr/>
        </p:nvSpPr>
        <p:spPr>
          <a:xfrm>
            <a:off x="8359560" y="2204280"/>
            <a:ext cx="3027240" cy="2473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170" b="1" u="none" strike="noStrike">
                <a:solidFill>
                  <a:srgbClr val="16262E"/>
                </a:solidFill>
                <a:effectLst/>
                <a:uFillTx/>
                <a:latin typeface="Arial"/>
                <a:ea typeface="Arial"/>
              </a:rPr>
              <a:t>Un dictamen de validación</a:t>
            </a:r>
            <a:endParaRPr lang="en-US" sz="1170" b="0" u="none" strike="noStrike">
              <a:solidFill>
                <a:srgbClr val="000000"/>
              </a:solidFill>
              <a:effectLst/>
              <a:uFillTx/>
              <a:latin typeface="Arial"/>
            </a:endParaRPr>
          </a:p>
        </p:txBody>
      </p:sp>
      <p:sp>
        <p:nvSpPr>
          <p:cNvPr id="98" name="Text 15"/>
          <p:cNvSpPr/>
          <p:nvPr/>
        </p:nvSpPr>
        <p:spPr>
          <a:xfrm>
            <a:off x="8359560" y="2598120"/>
            <a:ext cx="3027240" cy="85320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950" b="0" u="none" strike="noStrike">
                <a:solidFill>
                  <a:srgbClr val="16262E"/>
                </a:solidFill>
                <a:effectLst/>
                <a:uFillTx/>
                <a:latin typeface="Calibri"/>
                <a:ea typeface="Calibri"/>
              </a:rPr>
              <a:t>De un informe de evaluación, hecho con el protocolo del curso.</a:t>
            </a:r>
            <a:endParaRPr lang="en-US" sz="950" b="0" u="none" strike="noStrike">
              <a:solidFill>
                <a:srgbClr val="000000"/>
              </a:solidFill>
              <a:effectLst/>
              <a:uFillTx/>
              <a:latin typeface="Arial"/>
            </a:endParaRPr>
          </a:p>
        </p:txBody>
      </p:sp>
      <p:sp>
        <p:nvSpPr>
          <p:cNvPr id="99" name="Shape 16"/>
          <p:cNvSpPr/>
          <p:nvPr/>
        </p:nvSpPr>
        <p:spPr>
          <a:xfrm>
            <a:off x="567000" y="3927240"/>
            <a:ext cx="3502800" cy="2234880"/>
          </a:xfrm>
          <a:prstGeom prst="roundRect">
            <a:avLst>
              <a:gd name="adj" fmla="val 3273"/>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0" name="Shape 17"/>
          <p:cNvSpPr/>
          <p:nvPr/>
        </p:nvSpPr>
        <p:spPr>
          <a:xfrm>
            <a:off x="804600" y="4146840"/>
            <a:ext cx="420120" cy="420120"/>
          </a:xfrm>
          <a:prstGeom prst="ellipse">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01" name="Text 18"/>
          <p:cNvSpPr/>
          <p:nvPr/>
        </p:nvSpPr>
        <p:spPr>
          <a:xfrm>
            <a:off x="804600" y="4146840"/>
            <a:ext cx="420120" cy="420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4</a:t>
            </a:r>
            <a:endParaRPr lang="en-US" sz="1400" b="0" u="none" strike="noStrike">
              <a:solidFill>
                <a:srgbClr val="000000"/>
              </a:solidFill>
              <a:effectLst/>
              <a:uFillTx/>
              <a:latin typeface="Arial"/>
            </a:endParaRPr>
          </a:p>
        </p:txBody>
      </p:sp>
      <p:sp>
        <p:nvSpPr>
          <p:cNvPr id="102" name="Text 19"/>
          <p:cNvSpPr/>
          <p:nvPr/>
        </p:nvSpPr>
        <p:spPr>
          <a:xfrm>
            <a:off x="804600" y="4713840"/>
            <a:ext cx="3027240" cy="2473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170" b="1" u="none" strike="noStrike">
                <a:solidFill>
                  <a:srgbClr val="16262E"/>
                </a:solidFill>
                <a:effectLst/>
                <a:uFillTx/>
                <a:latin typeface="Arial"/>
                <a:ea typeface="Arial"/>
              </a:rPr>
              <a:t>Una matriz de evidencia</a:t>
            </a:r>
            <a:endParaRPr lang="en-US" sz="1170" b="0" u="none" strike="noStrike">
              <a:solidFill>
                <a:srgbClr val="000000"/>
              </a:solidFill>
              <a:effectLst/>
              <a:uFillTx/>
              <a:latin typeface="Arial"/>
            </a:endParaRPr>
          </a:p>
        </p:txBody>
      </p:sp>
      <p:sp>
        <p:nvSpPr>
          <p:cNvPr id="103" name="Text 20"/>
          <p:cNvSpPr/>
          <p:nvPr/>
        </p:nvSpPr>
        <p:spPr>
          <a:xfrm>
            <a:off x="804600" y="5107680"/>
            <a:ext cx="3027240" cy="85320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950" b="0" u="none" strike="noStrike">
                <a:solidFill>
                  <a:srgbClr val="16262E"/>
                </a:solidFill>
                <a:effectLst/>
                <a:uFillTx/>
                <a:latin typeface="Calibri"/>
                <a:ea typeface="Calibri"/>
              </a:rPr>
              <a:t>Con cada afirmación ligada al documento y la sección de donde salió.</a:t>
            </a:r>
            <a:endParaRPr lang="en-US" sz="950" b="0" u="none" strike="noStrike">
              <a:solidFill>
                <a:srgbClr val="000000"/>
              </a:solidFill>
              <a:effectLst/>
              <a:uFillTx/>
              <a:latin typeface="Arial"/>
            </a:endParaRPr>
          </a:p>
        </p:txBody>
      </p:sp>
      <p:sp>
        <p:nvSpPr>
          <p:cNvPr id="104" name="Shape 21"/>
          <p:cNvSpPr/>
          <p:nvPr/>
        </p:nvSpPr>
        <p:spPr>
          <a:xfrm>
            <a:off x="4344480" y="3927240"/>
            <a:ext cx="3502800" cy="2234880"/>
          </a:xfrm>
          <a:prstGeom prst="roundRect">
            <a:avLst>
              <a:gd name="adj" fmla="val 3273"/>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5" name="Shape 22"/>
          <p:cNvSpPr/>
          <p:nvPr/>
        </p:nvSpPr>
        <p:spPr>
          <a:xfrm>
            <a:off x="4582080" y="4146840"/>
            <a:ext cx="420120" cy="420120"/>
          </a:xfrm>
          <a:prstGeom prst="ellipse">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06" name="Text 23"/>
          <p:cNvSpPr/>
          <p:nvPr/>
        </p:nvSpPr>
        <p:spPr>
          <a:xfrm>
            <a:off x="4582080" y="4146840"/>
            <a:ext cx="420120" cy="420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5</a:t>
            </a:r>
            <a:endParaRPr lang="en-US" sz="1400" b="0" u="none" strike="noStrike">
              <a:solidFill>
                <a:srgbClr val="000000"/>
              </a:solidFill>
              <a:effectLst/>
              <a:uFillTx/>
              <a:latin typeface="Arial"/>
            </a:endParaRPr>
          </a:p>
        </p:txBody>
      </p:sp>
      <p:sp>
        <p:nvSpPr>
          <p:cNvPr id="107" name="Text 24"/>
          <p:cNvSpPr/>
          <p:nvPr/>
        </p:nvSpPr>
        <p:spPr>
          <a:xfrm>
            <a:off x="4582080" y="4713840"/>
            <a:ext cx="3027240" cy="2473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170" b="1" u="none" strike="noStrike">
                <a:solidFill>
                  <a:srgbClr val="16262E"/>
                </a:solidFill>
                <a:effectLst/>
                <a:uFillTx/>
                <a:latin typeface="Arial"/>
                <a:ea typeface="Arial"/>
              </a:rPr>
              <a:t>Un cuadro comparativo</a:t>
            </a:r>
            <a:endParaRPr lang="en-US" sz="1170" b="0" u="none" strike="noStrike">
              <a:solidFill>
                <a:srgbClr val="000000"/>
              </a:solidFill>
              <a:effectLst/>
              <a:uFillTx/>
              <a:latin typeface="Arial"/>
            </a:endParaRPr>
          </a:p>
        </p:txBody>
      </p:sp>
      <p:sp>
        <p:nvSpPr>
          <p:cNvPr id="108" name="Text 25"/>
          <p:cNvSpPr/>
          <p:nvPr/>
        </p:nvSpPr>
        <p:spPr>
          <a:xfrm>
            <a:off x="4582080" y="5107680"/>
            <a:ext cx="3027240" cy="85320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950" b="0" u="none" strike="noStrike">
                <a:solidFill>
                  <a:srgbClr val="16262E"/>
                </a:solidFill>
                <a:effectLst/>
                <a:uFillTx/>
                <a:latin typeface="Calibri"/>
                <a:ea typeface="Calibri"/>
              </a:rPr>
              <a:t>De las plataformas de análisis cualitativo, con tu propia evaluación de cuál sirve para qué.</a:t>
            </a:r>
            <a:endParaRPr lang="en-US" sz="950" b="0" u="none" strike="noStrike">
              <a:solidFill>
                <a:srgbClr val="000000"/>
              </a:solidFill>
              <a:effectLst/>
              <a:uFillTx/>
              <a:latin typeface="Arial"/>
            </a:endParaRPr>
          </a:p>
        </p:txBody>
      </p:sp>
      <p:sp>
        <p:nvSpPr>
          <p:cNvPr id="109" name="Shape 26"/>
          <p:cNvSpPr/>
          <p:nvPr/>
        </p:nvSpPr>
        <p:spPr>
          <a:xfrm>
            <a:off x="8121600" y="3927240"/>
            <a:ext cx="3502800" cy="2234880"/>
          </a:xfrm>
          <a:prstGeom prst="roundRect">
            <a:avLst>
              <a:gd name="adj" fmla="val 3273"/>
            </a:avLst>
          </a:prstGeom>
          <a:solidFill>
            <a:srgbClr val="F7E4D8"/>
          </a:solidFill>
          <a:ln w="12700">
            <a:solidFill>
              <a:srgbClr val="F7E4D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0" name="Text 27"/>
          <p:cNvSpPr/>
          <p:nvPr/>
        </p:nvSpPr>
        <p:spPr>
          <a:xfrm>
            <a:off x="8359560" y="4165200"/>
            <a:ext cx="3027240" cy="2473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170" b="1" u="none" strike="noStrike">
                <a:solidFill>
                  <a:srgbClr val="16262E"/>
                </a:solidFill>
                <a:effectLst/>
                <a:uFillTx/>
                <a:latin typeface="Arial"/>
                <a:ea typeface="Arial"/>
              </a:rPr>
              <a:t>Y la base de tu proyecto</a:t>
            </a:r>
            <a:endParaRPr lang="en-US" sz="1170" b="0" u="none" strike="noStrike">
              <a:solidFill>
                <a:srgbClr val="000000"/>
              </a:solidFill>
              <a:effectLst/>
              <a:uFillTx/>
              <a:latin typeface="Arial"/>
            </a:endParaRPr>
          </a:p>
        </p:txBody>
      </p:sp>
      <p:sp>
        <p:nvSpPr>
          <p:cNvPr id="111" name="Text 28"/>
          <p:cNvSpPr/>
          <p:nvPr/>
        </p:nvSpPr>
        <p:spPr>
          <a:xfrm>
            <a:off x="8359560" y="4559040"/>
            <a:ext cx="3027240" cy="140184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950" b="0" u="none" strike="noStrike">
                <a:solidFill>
                  <a:srgbClr val="16262E"/>
                </a:solidFill>
                <a:effectLst/>
                <a:uFillTx/>
                <a:latin typeface="Calibri"/>
                <a:ea typeface="Calibri"/>
              </a:rPr>
              <a:t>El proyecto final vale otro 40 por ciento y se trabaja en equipo. Lo que hagas estas dos semanas puede ser su punto de partida.</a:t>
            </a:r>
            <a:endParaRPr lang="en-US" sz="9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2" name="Text 35"/>
          <p:cNvSpPr/>
          <p:nvPr/>
        </p:nvSpPr>
        <p:spPr>
          <a:xfrm>
            <a:off x="567000" y="402480"/>
            <a:ext cx="9228600" cy="7495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3200" b="1" u="none" strike="noStrike">
                <a:solidFill>
                  <a:srgbClr val="16262E"/>
                </a:solidFill>
                <a:effectLst/>
                <a:uFillTx/>
                <a:latin typeface="Arial"/>
                <a:ea typeface="Arial"/>
              </a:rPr>
              <a:t>Midiendo tus expectativas</a:t>
            </a:r>
            <a:endParaRPr lang="en-US" sz="3200" b="0" u="none" strike="noStrike">
              <a:solidFill>
                <a:srgbClr val="000000"/>
              </a:solidFill>
              <a:effectLst/>
              <a:uFillTx/>
              <a:latin typeface="Arial"/>
            </a:endParaRPr>
          </a:p>
        </p:txBody>
      </p:sp>
      <p:sp>
        <p:nvSpPr>
          <p:cNvPr id="113" name=""/>
          <p:cNvSpPr txBox="1"/>
          <p:nvPr/>
        </p:nvSpPr>
        <p:spPr>
          <a:xfrm>
            <a:off x="1143000" y="2772720"/>
            <a:ext cx="9829800" cy="715320"/>
          </a:xfrm>
          <a:prstGeom prst="rect">
            <a:avLst/>
          </a:prstGeom>
          <a:noFill/>
          <a:ln w="0">
            <a:noFill/>
          </a:ln>
        </p:spPr>
        <p:txBody>
          <a:bodyPr lIns="90000" tIns="45000" rIns="90000" bIns="45000" anchor="t">
            <a:spAutoFit/>
          </a:bodyPr>
          <a:p>
            <a:r>
              <a:rPr lang="en-US" sz="4400" b="0" u="none" strike="noStrike">
                <a:solidFill>
                  <a:srgbClr val="000000"/>
                </a:solidFill>
                <a:effectLst/>
                <a:uFillTx/>
                <a:latin typeface="Arial"/>
                <a:hlinkClick r:id="rId1"/>
              </a:rPr>
              <a:t>https://forms.gle/SiAfp4nnpYdbwWPq7</a:t>
            </a:r>
            <a:endParaRPr lang="en-US" sz="4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6262E"/>
        </a:solidFill>
      </p:bgPr>
    </p:bg>
    <p:spTree>
      <p:nvGrpSpPr>
        <p:cNvPr id="1" name=""/>
        <p:cNvGrpSpPr/>
        <p:nvPr/>
      </p:nvGrpSpPr>
      <p:grpSpPr>
        <a:xfrm>
          <a:off x="0" y="0"/>
          <a:ext cx="0" cy="0"/>
          <a:chOff x="0" y="0"/>
          <a:chExt cx="0" cy="0"/>
        </a:xfrm>
      </p:grpSpPr>
      <p:sp>
        <p:nvSpPr>
          <p:cNvPr id="143" name="Shape 0"/>
          <p:cNvSpPr/>
          <p:nvPr/>
        </p:nvSpPr>
        <p:spPr>
          <a:xfrm>
            <a:off x="567000" y="2331720"/>
            <a:ext cx="1371240" cy="1371240"/>
          </a:xfrm>
          <a:prstGeom prst="ellipse">
            <a:avLst/>
          </a:prstGeom>
          <a:solidFill>
            <a:srgbClr val="C85A28"/>
          </a:solidFill>
          <a:ln w="12700">
            <a:solidFill>
              <a:srgbClr val="C85A2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44" name="Text 1"/>
          <p:cNvSpPr/>
          <p:nvPr/>
        </p:nvSpPr>
        <p:spPr>
          <a:xfrm>
            <a:off x="567000" y="2331720"/>
            <a:ext cx="1371240" cy="13712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4400" b="1" u="none" strike="noStrike">
                <a:solidFill>
                  <a:srgbClr val="FFFFFF"/>
                </a:solidFill>
                <a:effectLst/>
                <a:uFillTx/>
                <a:latin typeface="Arial"/>
                <a:ea typeface="Arial"/>
              </a:rPr>
              <a:t>1</a:t>
            </a:r>
            <a:endParaRPr lang="en-US" sz="4400" b="0" u="none" strike="noStrike">
              <a:solidFill>
                <a:srgbClr val="FFFFFF"/>
              </a:solidFill>
              <a:effectLst/>
              <a:uFillTx/>
              <a:latin typeface="Arial"/>
            </a:endParaRPr>
          </a:p>
        </p:txBody>
      </p:sp>
      <p:sp>
        <p:nvSpPr>
          <p:cNvPr id="145" name="Text 2"/>
          <p:cNvSpPr/>
          <p:nvPr/>
        </p:nvSpPr>
        <p:spPr>
          <a:xfrm>
            <a:off x="2487240" y="2331720"/>
            <a:ext cx="877788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pc="201" strike="noStrike">
                <a:solidFill>
                  <a:srgbClr val="D7E7E7"/>
                </a:solidFill>
                <a:effectLst/>
                <a:uFillTx/>
                <a:latin typeface="Calibri"/>
                <a:ea typeface="Calibri"/>
              </a:rPr>
              <a:t>CONCEPTOS CLAVE</a:t>
            </a:r>
            <a:endParaRPr lang="en-US" sz="1400" b="0" u="none" strike="noStrike">
              <a:solidFill>
                <a:srgbClr val="FFFFFF"/>
              </a:solidFill>
              <a:effectLst/>
              <a:uFillTx/>
              <a:latin typeface="Arial"/>
            </a:endParaRPr>
          </a:p>
        </p:txBody>
      </p:sp>
      <p:sp>
        <p:nvSpPr>
          <p:cNvPr id="146" name="Text 3"/>
          <p:cNvSpPr/>
          <p:nvPr/>
        </p:nvSpPr>
        <p:spPr>
          <a:xfrm>
            <a:off x="2487240" y="2697480"/>
            <a:ext cx="8960760" cy="118836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3400" b="1" u="none" strike="noStrike">
                <a:solidFill>
                  <a:srgbClr val="FFFFFF"/>
                </a:solidFill>
                <a:effectLst/>
                <a:uFillTx/>
                <a:latin typeface="Arial"/>
                <a:ea typeface="Arial"/>
              </a:rPr>
              <a:t>Qué es un modelo de lenguaje y por qué falla</a:t>
            </a:r>
            <a:endParaRPr lang="en-US" sz="3400" b="0" u="none" strike="noStrike">
              <a:solidFill>
                <a:srgbClr val="FFFFFF"/>
              </a:solidFill>
              <a:effectLst/>
              <a:uFillTx/>
              <a:latin typeface="Arial"/>
            </a:endParaRPr>
          </a:p>
        </p:txBody>
      </p:sp>
      <p:sp>
        <p:nvSpPr>
          <p:cNvPr id="147" name="Shape 4"/>
          <p:cNvSpPr/>
          <p:nvPr/>
        </p:nvSpPr>
        <p:spPr>
          <a:xfrm>
            <a:off x="9631440" y="457200"/>
            <a:ext cx="1992960" cy="347040"/>
          </a:xfrm>
          <a:prstGeom prst="roundRect">
            <a:avLst>
              <a:gd name="adj" fmla="val 50000"/>
            </a:avLst>
          </a:prstGeom>
          <a:solidFill>
            <a:srgbClr val="24404E"/>
          </a:solidFill>
          <a:ln w="12700">
            <a:solidFill>
              <a:srgbClr val="24404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48" name="Text 5"/>
          <p:cNvSpPr/>
          <p:nvPr/>
        </p:nvSpPr>
        <p:spPr>
          <a:xfrm>
            <a:off x="9631440" y="457200"/>
            <a:ext cx="1992960" cy="347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1" u="none" strike="noStrike">
                <a:solidFill>
                  <a:srgbClr val="FFFFFF"/>
                </a:solidFill>
                <a:effectLst/>
                <a:uFillTx/>
                <a:latin typeface="Calibri"/>
                <a:ea typeface="Calibri"/>
              </a:rPr>
              <a:t>9:12 a 9:50</a:t>
            </a:r>
            <a:endParaRPr lang="en-US" sz="12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9" name="Text 0"/>
          <p:cNvSpPr/>
          <p:nvPr/>
        </p:nvSpPr>
        <p:spPr>
          <a:xfrm>
            <a:off x="567000" y="402480"/>
            <a:ext cx="9228600" cy="7495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3200" b="1" u="none" strike="noStrike">
                <a:solidFill>
                  <a:srgbClr val="16262E"/>
                </a:solidFill>
                <a:effectLst/>
                <a:uFillTx/>
                <a:latin typeface="Arial"/>
                <a:ea typeface="Arial"/>
              </a:rPr>
              <a:t>Dónde queda la IA generativa</a:t>
            </a:r>
            <a:endParaRPr lang="en-US" sz="3200" b="0" u="none" strike="noStrike">
              <a:solidFill>
                <a:srgbClr val="000000"/>
              </a:solidFill>
              <a:effectLst/>
              <a:uFillTx/>
              <a:latin typeface="Arial"/>
            </a:endParaRPr>
          </a:p>
        </p:txBody>
      </p:sp>
      <p:sp>
        <p:nvSpPr>
          <p:cNvPr id="150" name="Text 1"/>
          <p:cNvSpPr/>
          <p:nvPr/>
        </p:nvSpPr>
        <p:spPr>
          <a:xfrm>
            <a:off x="567000" y="1280160"/>
            <a:ext cx="9960120" cy="3654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500" b="0" u="none" strike="noStrike">
                <a:solidFill>
                  <a:srgbClr val="5A6B73"/>
                </a:solidFill>
                <a:effectLst/>
                <a:uFillTx/>
                <a:latin typeface="Calibri"/>
                <a:ea typeface="Calibri"/>
              </a:rPr>
              <a:t>Cuando alguien dice "la IA", vale la pena preguntar cuál. Son anillos, no sinónimos.</a:t>
            </a:r>
            <a:endParaRPr lang="en-US" sz="1500" b="0" u="none" strike="noStrike">
              <a:solidFill>
                <a:srgbClr val="000000"/>
              </a:solidFill>
              <a:effectLst/>
              <a:uFillTx/>
              <a:latin typeface="Arial"/>
            </a:endParaRPr>
          </a:p>
        </p:txBody>
      </p:sp>
      <p:sp>
        <p:nvSpPr>
          <p:cNvPr id="151" name="Shape 2"/>
          <p:cNvSpPr/>
          <p:nvPr/>
        </p:nvSpPr>
        <p:spPr>
          <a:xfrm>
            <a:off x="567000" y="1856160"/>
            <a:ext cx="6309000" cy="4343040"/>
          </a:xfrm>
          <a:prstGeom prst="ellipse">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52" name="Shape 3"/>
          <p:cNvSpPr/>
          <p:nvPr/>
        </p:nvSpPr>
        <p:spPr>
          <a:xfrm>
            <a:off x="868680" y="2496240"/>
            <a:ext cx="5394600" cy="3547440"/>
          </a:xfrm>
          <a:prstGeom prst="ellipse">
            <a:avLst/>
          </a:prstGeom>
          <a:solidFill>
            <a:srgbClr val="D7E7E7"/>
          </a:solidFill>
          <a:ln w="12700">
            <a:solidFill>
              <a:srgbClr val="D7E7E7"/>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53" name="Shape 4"/>
          <p:cNvSpPr/>
          <p:nvPr/>
        </p:nvSpPr>
        <p:spPr>
          <a:xfrm>
            <a:off x="1170360" y="3136320"/>
            <a:ext cx="4480200" cy="2742840"/>
          </a:xfrm>
          <a:prstGeom prst="ellipse">
            <a:avLst/>
          </a:prstGeom>
          <a:solidFill>
            <a:srgbClr val="A9CFCF"/>
          </a:solidFill>
          <a:ln w="12700">
            <a:solidFill>
              <a:srgbClr val="A9CFCF"/>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54" name="Shape 5"/>
          <p:cNvSpPr/>
          <p:nvPr/>
        </p:nvSpPr>
        <p:spPr>
          <a:xfrm>
            <a:off x="1481400" y="3776400"/>
            <a:ext cx="3565800" cy="1938240"/>
          </a:xfrm>
          <a:prstGeom prst="ellipse">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55" name="Text 6"/>
          <p:cNvSpPr/>
          <p:nvPr/>
        </p:nvSpPr>
        <p:spPr>
          <a:xfrm>
            <a:off x="841320" y="1965960"/>
            <a:ext cx="5760360" cy="45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16262E"/>
                </a:solidFill>
                <a:effectLst/>
                <a:uFillTx/>
                <a:latin typeface="Arial"/>
                <a:ea typeface="Arial"/>
              </a:rPr>
              <a:t>Inteligencia artificial</a:t>
            </a:r>
            <a:endParaRPr lang="en-US" sz="1400" b="0" u="none" strike="noStrike">
              <a:solidFill>
                <a:srgbClr val="000000"/>
              </a:solidFill>
              <a:effectLst/>
              <a:uFillTx/>
              <a:latin typeface="Arial"/>
            </a:endParaRPr>
          </a:p>
        </p:txBody>
      </p:sp>
      <p:sp>
        <p:nvSpPr>
          <p:cNvPr id="156" name="Text 7"/>
          <p:cNvSpPr/>
          <p:nvPr/>
        </p:nvSpPr>
        <p:spPr>
          <a:xfrm>
            <a:off x="1143000" y="2606040"/>
            <a:ext cx="4845960" cy="45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16262E"/>
                </a:solidFill>
                <a:effectLst/>
                <a:uFillTx/>
                <a:latin typeface="Arial"/>
                <a:ea typeface="Arial"/>
              </a:rPr>
              <a:t>Aprendizaje automático</a:t>
            </a:r>
            <a:endParaRPr lang="en-US" sz="1400" b="0" u="none" strike="noStrike">
              <a:solidFill>
                <a:srgbClr val="000000"/>
              </a:solidFill>
              <a:effectLst/>
              <a:uFillTx/>
              <a:latin typeface="Arial"/>
            </a:endParaRPr>
          </a:p>
        </p:txBody>
      </p:sp>
      <p:sp>
        <p:nvSpPr>
          <p:cNvPr id="157" name="Text 8"/>
          <p:cNvSpPr/>
          <p:nvPr/>
        </p:nvSpPr>
        <p:spPr>
          <a:xfrm>
            <a:off x="1444680" y="3246120"/>
            <a:ext cx="3931560" cy="45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16262E"/>
                </a:solidFill>
                <a:effectLst/>
                <a:uFillTx/>
                <a:latin typeface="Arial"/>
                <a:ea typeface="Arial"/>
              </a:rPr>
              <a:t>Aprendizaje profundo</a:t>
            </a:r>
            <a:endParaRPr lang="en-US" sz="1400" b="0" u="none" strike="noStrike">
              <a:solidFill>
                <a:srgbClr val="000000"/>
              </a:solidFill>
              <a:effectLst/>
              <a:uFillTx/>
              <a:latin typeface="Arial"/>
            </a:endParaRPr>
          </a:p>
        </p:txBody>
      </p:sp>
      <p:sp>
        <p:nvSpPr>
          <p:cNvPr id="158" name="Text 9"/>
          <p:cNvSpPr/>
          <p:nvPr/>
        </p:nvSpPr>
        <p:spPr>
          <a:xfrm>
            <a:off x="1755720" y="4334400"/>
            <a:ext cx="3017160" cy="8226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Arial"/>
                <a:ea typeface="Arial"/>
              </a:rPr>
              <a:t>IA generativa y modelos de lenguaje</a:t>
            </a:r>
            <a:endParaRPr lang="en-US" sz="1500" b="0" u="none" strike="noStrike">
              <a:solidFill>
                <a:srgbClr val="000000"/>
              </a:solidFill>
              <a:effectLst/>
              <a:uFillTx/>
              <a:latin typeface="Arial"/>
            </a:endParaRPr>
          </a:p>
        </p:txBody>
      </p:sp>
      <p:sp>
        <p:nvSpPr>
          <p:cNvPr id="159" name="Shape 10"/>
          <p:cNvSpPr/>
          <p:nvPr/>
        </p:nvSpPr>
        <p:spPr>
          <a:xfrm>
            <a:off x="7269480" y="1856160"/>
            <a:ext cx="4354920" cy="2102760"/>
          </a:xfrm>
          <a:prstGeom prst="roundRect">
            <a:avLst>
              <a:gd name="adj" fmla="val 3478"/>
            </a:avLst>
          </a:prstGeom>
          <a:solidFill>
            <a:srgbClr val="D7E7E7"/>
          </a:solidFill>
          <a:ln w="12700">
            <a:solidFill>
              <a:srgbClr val="D7E7E7"/>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60" name="Text 11"/>
          <p:cNvSpPr/>
          <p:nvPr/>
        </p:nvSpPr>
        <p:spPr>
          <a:xfrm>
            <a:off x="7507080" y="2003040"/>
            <a:ext cx="3879360" cy="365400"/>
          </a:xfrm>
          <a:prstGeom prst="rect">
            <a:avLst/>
          </a:prstGeom>
          <a:noFill/>
          <a:ln w="0">
            <a:noFill/>
          </a:ln>
        </p:spPr>
        <p:style>
          <a:lnRef idx="0"/>
          <a:fillRef idx="0"/>
          <a:effectRef idx="0"/>
          <a:fontRef idx="minor"/>
        </p:style>
        <p:txBody>
          <a:bodyPr lIns="0" tIns="0" rIns="0" bIns="0" anchor="t">
            <a:noAutofit/>
          </a:bodyPr>
          <a:p>
            <a:pPr marL="216000" indent="-216000" defTabSz="914400">
              <a:lnSpc>
                <a:spcPct val="100000"/>
              </a:lnSpc>
              <a:buClr>
                <a:srgbClr val="16262E"/>
              </a:buClr>
              <a:buSzPct val="45000"/>
              <a:buFont typeface="Wingdings" charset="2"/>
              <a:buChar char=""/>
              <a:tabLst>
                <a:tab pos="0" algn="l"/>
              </a:tabLst>
            </a:pPr>
            <a:r>
              <a:rPr lang="en-US" sz="1500" b="1" u="none" strike="noStrike">
                <a:solidFill>
                  <a:srgbClr val="16262E"/>
                </a:solidFill>
                <a:effectLst/>
                <a:uFillTx/>
                <a:latin typeface="Arial"/>
                <a:ea typeface="Arial"/>
              </a:rPr>
              <a:t>Lo que ya usan ustedes</a:t>
            </a:r>
            <a:endParaRPr lang="en-US" sz="1500" b="0" u="none" strike="noStrike">
              <a:solidFill>
                <a:srgbClr val="000000"/>
              </a:solidFill>
              <a:effectLst/>
              <a:uFillTx/>
              <a:latin typeface="Arial"/>
            </a:endParaRPr>
          </a:p>
          <a:p>
            <a:pPr marL="216000" indent="-216000" defTabSz="914400">
              <a:lnSpc>
                <a:spcPct val="100000"/>
              </a:lnSpc>
              <a:buClr>
                <a:srgbClr val="16262E"/>
              </a:buClr>
              <a:buSzPct val="45000"/>
              <a:buFont typeface="Wingdings" charset="2"/>
              <a:buChar char=""/>
              <a:tabLst>
                <a:tab pos="0" algn="l"/>
              </a:tabLst>
            </a:pPr>
            <a:endParaRPr lang="en-US" sz="1500" b="0" u="none" strike="noStrike">
              <a:solidFill>
                <a:srgbClr val="000000"/>
              </a:solidFill>
              <a:effectLst/>
              <a:uFillTx/>
              <a:latin typeface="Arial"/>
            </a:endParaRPr>
          </a:p>
          <a:p>
            <a:pPr marL="216000" indent="-216000" defTabSz="914400">
              <a:lnSpc>
                <a:spcPct val="100000"/>
              </a:lnSpc>
              <a:buClr>
                <a:srgbClr val="16262E"/>
              </a:buClr>
              <a:buSzPct val="45000"/>
              <a:buFont typeface="Wingdings" charset="2"/>
              <a:buChar char=""/>
              <a:tabLst>
                <a:tab pos="0" algn="l"/>
              </a:tabLst>
            </a:pPr>
            <a:r>
              <a:rPr lang="en-US" sz="1300" b="0" u="none" strike="noStrike">
                <a:solidFill>
                  <a:srgbClr val="16262E"/>
                </a:solidFill>
                <a:effectLst/>
                <a:uFillTx/>
                <a:latin typeface="Arial"/>
                <a:ea typeface="Arial"/>
              </a:rPr>
              <a:t>Regresión</a:t>
            </a:r>
            <a:endParaRPr lang="en-US" sz="1300" b="0" u="none" strike="noStrike">
              <a:solidFill>
                <a:srgbClr val="000000"/>
              </a:solidFill>
              <a:effectLst/>
              <a:uFillTx/>
              <a:latin typeface="Arial"/>
            </a:endParaRPr>
          </a:p>
          <a:p>
            <a:pPr marL="457200" lvl="1" indent="-216000" defTabSz="914400">
              <a:lnSpc>
                <a:spcPct val="100000"/>
              </a:lnSpc>
              <a:buClr>
                <a:srgbClr val="000000"/>
              </a:buClr>
              <a:buSzPct val="75000"/>
              <a:buFont typeface="Symbol" charset="2"/>
              <a:buChar char=""/>
              <a:tabLst>
                <a:tab pos="0" algn="l"/>
              </a:tabLst>
            </a:pPr>
            <a:r>
              <a:rPr lang="en-US" sz="1300" b="0" u="none" strike="noStrike">
                <a:solidFill>
                  <a:srgbClr val="16262E"/>
                </a:solidFill>
                <a:effectLst/>
                <a:uFillTx/>
                <a:latin typeface="Arial"/>
                <a:ea typeface="Arial"/>
              </a:rPr>
              <a:t>Con modelos lineales</a:t>
            </a:r>
            <a:endParaRPr lang="en-US" sz="1300" b="0" u="none" strike="noStrike">
              <a:solidFill>
                <a:srgbClr val="000000"/>
              </a:solidFill>
              <a:effectLst/>
              <a:uFillTx/>
              <a:latin typeface="Arial"/>
            </a:endParaRPr>
          </a:p>
          <a:p>
            <a:pPr marL="457200" lvl="1" indent="-216000" defTabSz="914400">
              <a:lnSpc>
                <a:spcPct val="100000"/>
              </a:lnSpc>
              <a:buClr>
                <a:srgbClr val="000000"/>
              </a:buClr>
              <a:buSzPct val="75000"/>
              <a:buFont typeface="Symbol" charset="2"/>
              <a:buChar char=""/>
              <a:tabLst>
                <a:tab pos="0" algn="l"/>
              </a:tabLst>
            </a:pPr>
            <a:r>
              <a:rPr lang="en-US" sz="1300" b="0" u="none" strike="noStrike">
                <a:solidFill>
                  <a:srgbClr val="16262E"/>
                </a:solidFill>
                <a:effectLst/>
                <a:uFillTx/>
                <a:latin typeface="Arial"/>
                <a:ea typeface="Arial"/>
              </a:rPr>
              <a:t>Con árboles regresivos</a:t>
            </a:r>
            <a:endParaRPr lang="en-US" sz="1300" b="0" u="none" strike="noStrike">
              <a:solidFill>
                <a:srgbClr val="000000"/>
              </a:solidFill>
              <a:effectLst/>
              <a:uFillTx/>
              <a:latin typeface="Arial"/>
            </a:endParaRPr>
          </a:p>
          <a:p>
            <a:pPr marL="457200" lvl="1" indent="-216000" defTabSz="914400">
              <a:lnSpc>
                <a:spcPct val="100000"/>
              </a:lnSpc>
              <a:buClr>
                <a:srgbClr val="000000"/>
              </a:buClr>
              <a:buSzPct val="75000"/>
              <a:buFont typeface="Symbol" charset="2"/>
              <a:buChar char=""/>
              <a:tabLst>
                <a:tab pos="0" algn="l"/>
              </a:tabLst>
            </a:pPr>
            <a:r>
              <a:rPr lang="en-US" sz="1300" b="0" u="none" strike="noStrike">
                <a:solidFill>
                  <a:srgbClr val="16262E"/>
                </a:solidFill>
                <a:effectLst/>
                <a:uFillTx/>
                <a:latin typeface="Arial"/>
                <a:ea typeface="Arial"/>
              </a:rPr>
              <a:t>Con series de tiempo</a:t>
            </a:r>
            <a:endParaRPr lang="en-US" sz="1300" b="0" u="none" strike="noStrike">
              <a:solidFill>
                <a:srgbClr val="000000"/>
              </a:solidFill>
              <a:effectLst/>
              <a:uFillTx/>
              <a:latin typeface="Arial"/>
            </a:endParaRPr>
          </a:p>
          <a:p>
            <a:pPr marL="216000" indent="-216000" defTabSz="914400">
              <a:lnSpc>
                <a:spcPct val="100000"/>
              </a:lnSpc>
              <a:buClr>
                <a:srgbClr val="16262E"/>
              </a:buClr>
              <a:buSzPct val="45000"/>
              <a:buFont typeface="Wingdings" charset="2"/>
              <a:buChar char=""/>
              <a:tabLst>
                <a:tab pos="0" algn="l"/>
              </a:tabLst>
            </a:pPr>
            <a:r>
              <a:rPr lang="en-US" sz="1300" b="0" u="none" strike="noStrike">
                <a:solidFill>
                  <a:srgbClr val="16262E"/>
                </a:solidFill>
                <a:effectLst/>
                <a:uFillTx/>
                <a:latin typeface="Arial"/>
                <a:ea typeface="Arial"/>
              </a:rPr>
              <a:t>Clasificación</a:t>
            </a:r>
            <a:endParaRPr lang="en-US" sz="1300" b="0" u="none" strike="noStrike">
              <a:solidFill>
                <a:srgbClr val="000000"/>
              </a:solidFill>
              <a:effectLst/>
              <a:uFillTx/>
              <a:latin typeface="Arial"/>
            </a:endParaRPr>
          </a:p>
          <a:p>
            <a:pPr marL="457200" lvl="1" indent="-216000" defTabSz="914400">
              <a:lnSpc>
                <a:spcPct val="100000"/>
              </a:lnSpc>
              <a:buClr>
                <a:srgbClr val="000000"/>
              </a:buClr>
              <a:buSzPct val="75000"/>
              <a:buFont typeface="Symbol" charset="2"/>
              <a:buChar char=""/>
              <a:tabLst>
                <a:tab pos="0" algn="l"/>
              </a:tabLst>
            </a:pPr>
            <a:r>
              <a:rPr lang="en-US" sz="1300" b="0" u="none" strike="noStrike">
                <a:solidFill>
                  <a:srgbClr val="16262E"/>
                </a:solidFill>
                <a:effectLst/>
                <a:uFillTx/>
                <a:latin typeface="Arial"/>
                <a:ea typeface="Arial"/>
              </a:rPr>
              <a:t>Con métodos de ensamble</a:t>
            </a:r>
            <a:endParaRPr lang="en-US" sz="1300" b="0" u="none" strike="noStrike">
              <a:solidFill>
                <a:srgbClr val="000000"/>
              </a:solidFill>
              <a:effectLst/>
              <a:uFillTx/>
              <a:latin typeface="Arial"/>
            </a:endParaRPr>
          </a:p>
          <a:p>
            <a:pPr marL="457200" lvl="1" indent="-216000" defTabSz="914400">
              <a:lnSpc>
                <a:spcPct val="100000"/>
              </a:lnSpc>
              <a:buClr>
                <a:srgbClr val="000000"/>
              </a:buClr>
              <a:buSzPct val="75000"/>
              <a:buFont typeface="Symbol" charset="2"/>
              <a:buChar char=""/>
              <a:tabLst>
                <a:tab pos="0" algn="l"/>
              </a:tabLst>
            </a:pPr>
            <a:r>
              <a:rPr lang="en-US" sz="1300" b="0" u="none" strike="noStrike">
                <a:solidFill>
                  <a:srgbClr val="16262E"/>
                </a:solidFill>
                <a:effectLst/>
                <a:uFillTx/>
                <a:latin typeface="Arial"/>
                <a:ea typeface="Arial"/>
              </a:rPr>
              <a:t>Con redes neuronales</a:t>
            </a:r>
            <a:endParaRPr lang="en-US" sz="1300" b="0" u="none" strike="noStrike">
              <a:solidFill>
                <a:srgbClr val="000000"/>
              </a:solidFill>
              <a:effectLst/>
              <a:uFillTx/>
              <a:latin typeface="Arial"/>
            </a:endParaRPr>
          </a:p>
        </p:txBody>
      </p:sp>
      <p:sp>
        <p:nvSpPr>
          <p:cNvPr id="161" name="Text 12"/>
          <p:cNvSpPr/>
          <p:nvPr/>
        </p:nvSpPr>
        <p:spPr>
          <a:xfrm>
            <a:off x="7507080" y="2459880"/>
            <a:ext cx="3879360" cy="1371240"/>
          </a:xfrm>
          <a:prstGeom prst="rect">
            <a:avLst/>
          </a:prstGeom>
          <a:noFill/>
          <a:ln w="0">
            <a:noFill/>
          </a:ln>
        </p:spPr>
        <p:style>
          <a:lnRef idx="0"/>
          <a:fillRef idx="0"/>
          <a:effectRef idx="0"/>
          <a:fontRef idx="minor"/>
        </p:style>
        <p:txBody>
          <a:bodyPr lIns="0" tIns="0" rIns="0" bIns="0" anchor="t">
            <a:noAutofit/>
          </a:bodyPr>
          <a:p>
            <a:endParaRPr lang="en-US" sz="1250" b="0" u="none" strike="noStrike">
              <a:solidFill>
                <a:schemeClr val="dk1"/>
              </a:solidFill>
              <a:effectLst/>
              <a:uFillTx/>
              <a:latin typeface="Calibri"/>
            </a:endParaRPr>
          </a:p>
        </p:txBody>
      </p:sp>
      <p:sp>
        <p:nvSpPr>
          <p:cNvPr id="162" name="Shape 13"/>
          <p:cNvSpPr/>
          <p:nvPr/>
        </p:nvSpPr>
        <p:spPr>
          <a:xfrm>
            <a:off x="7269480" y="4142160"/>
            <a:ext cx="4354920" cy="2102760"/>
          </a:xfrm>
          <a:prstGeom prst="roundRect">
            <a:avLst>
              <a:gd name="adj" fmla="val 3478"/>
            </a:avLst>
          </a:prstGeom>
          <a:solidFill>
            <a:srgbClr val="F7E4D8"/>
          </a:solidFill>
          <a:ln w="12700">
            <a:solidFill>
              <a:srgbClr val="F7E4D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63" name="Text 14"/>
          <p:cNvSpPr/>
          <p:nvPr/>
        </p:nvSpPr>
        <p:spPr>
          <a:xfrm>
            <a:off x="7507080" y="4325040"/>
            <a:ext cx="3879360" cy="365400"/>
          </a:xfrm>
          <a:prstGeom prst="rect">
            <a:avLst/>
          </a:prstGeom>
          <a:noFill/>
          <a:ln w="0">
            <a:noFill/>
          </a:ln>
        </p:spPr>
        <p:style>
          <a:lnRef idx="0"/>
          <a:fillRef idx="0"/>
          <a:effectRef idx="0"/>
          <a:fontRef idx="minor"/>
        </p:style>
        <p:txBody>
          <a:bodyPr lIns="0" tIns="0" rIns="0" bIns="0" anchor="t">
            <a:noAutofit/>
          </a:bodyPr>
          <a:p>
            <a:pPr marL="216000" indent="-216000" defTabSz="914400">
              <a:lnSpc>
                <a:spcPct val="100000"/>
              </a:lnSpc>
              <a:buClr>
                <a:srgbClr val="16262E"/>
              </a:buClr>
              <a:buSzPct val="45000"/>
              <a:buFont typeface="Wingdings" charset="2"/>
              <a:buChar char=""/>
              <a:tabLst>
                <a:tab pos="0" algn="l"/>
              </a:tabLst>
            </a:pPr>
            <a:r>
              <a:rPr lang="en-US" sz="1500" b="1" u="none" strike="noStrike">
                <a:solidFill>
                  <a:srgbClr val="16262E"/>
                </a:solidFill>
                <a:effectLst/>
                <a:uFillTx/>
                <a:latin typeface="Arial"/>
                <a:ea typeface="Arial"/>
              </a:rPr>
              <a:t>Lo que vamos a aprender</a:t>
            </a:r>
            <a:endParaRPr lang="en-US" sz="1500" b="0" u="none" strike="noStrike">
              <a:solidFill>
                <a:srgbClr val="000000"/>
              </a:solidFill>
              <a:effectLst/>
              <a:uFillTx/>
              <a:latin typeface="Arial"/>
            </a:endParaRPr>
          </a:p>
          <a:p>
            <a:pPr marL="216000" indent="-216000" defTabSz="914400">
              <a:lnSpc>
                <a:spcPct val="100000"/>
              </a:lnSpc>
              <a:buClr>
                <a:srgbClr val="16262E"/>
              </a:buClr>
              <a:buSzPct val="45000"/>
              <a:buFont typeface="Wingdings" charset="2"/>
              <a:buChar char=""/>
              <a:tabLst>
                <a:tab pos="0" algn="l"/>
              </a:tabLst>
            </a:pPr>
            <a:endParaRPr lang="en-US" sz="1500" b="0" u="none" strike="noStrike">
              <a:solidFill>
                <a:srgbClr val="000000"/>
              </a:solidFill>
              <a:effectLst/>
              <a:uFillTx/>
              <a:latin typeface="Arial"/>
            </a:endParaRPr>
          </a:p>
          <a:p>
            <a:pPr marL="216000" indent="-216000" defTabSz="914400">
              <a:lnSpc>
                <a:spcPct val="100000"/>
              </a:lnSpc>
              <a:buClr>
                <a:srgbClr val="16262E"/>
              </a:buClr>
              <a:buSzPct val="45000"/>
              <a:buFont typeface="Wingdings" charset="2"/>
              <a:buChar char=""/>
              <a:tabLst>
                <a:tab pos="0" algn="l"/>
              </a:tabLst>
            </a:pPr>
            <a:r>
              <a:rPr lang="en-US" sz="1500" b="1" u="none" strike="noStrike">
                <a:solidFill>
                  <a:srgbClr val="16262E"/>
                </a:solidFill>
                <a:effectLst/>
                <a:uFillTx/>
                <a:latin typeface="Arial"/>
                <a:ea typeface="Arial"/>
              </a:rPr>
              <a:t>Generar, validar y auditar</a:t>
            </a:r>
            <a:endParaRPr lang="en-US" sz="1500" b="0" u="none" strike="noStrike">
              <a:solidFill>
                <a:srgbClr val="000000"/>
              </a:solidFill>
              <a:effectLst/>
              <a:uFillTx/>
              <a:latin typeface="Arial"/>
            </a:endParaRPr>
          </a:p>
          <a:p>
            <a:pPr marL="457200" lvl="1" indent="-216000" defTabSz="914400">
              <a:lnSpc>
                <a:spcPct val="100000"/>
              </a:lnSpc>
              <a:buClr>
                <a:srgbClr val="000000"/>
              </a:buClr>
              <a:buSzPct val="75000"/>
              <a:buFont typeface="Symbol" charset="2"/>
              <a:buChar char=""/>
              <a:tabLst>
                <a:tab pos="0" algn="l"/>
              </a:tabLst>
            </a:pPr>
            <a:r>
              <a:rPr lang="en-US" sz="1500" b="1" u="none" strike="noStrike">
                <a:solidFill>
                  <a:srgbClr val="16262E"/>
                </a:solidFill>
                <a:effectLst/>
                <a:uFillTx/>
                <a:latin typeface="Arial"/>
                <a:ea typeface="Arial"/>
              </a:rPr>
              <a:t>Con LLMs</a:t>
            </a:r>
            <a:endParaRPr lang="en-US" sz="1500" b="0" u="none" strike="noStrike">
              <a:solidFill>
                <a:srgbClr val="000000"/>
              </a:solidFill>
              <a:effectLst/>
              <a:uFillTx/>
              <a:latin typeface="Arial"/>
            </a:endParaRPr>
          </a:p>
        </p:txBody>
      </p:sp>
      <p:sp>
        <p:nvSpPr>
          <p:cNvPr id="164" name="Text 15"/>
          <p:cNvSpPr/>
          <p:nvPr/>
        </p:nvSpPr>
        <p:spPr>
          <a:xfrm>
            <a:off x="7507080" y="4745880"/>
            <a:ext cx="3879360" cy="1371240"/>
          </a:xfrm>
          <a:prstGeom prst="rect">
            <a:avLst/>
          </a:prstGeom>
          <a:noFill/>
          <a:ln w="0">
            <a:noFill/>
          </a:ln>
        </p:spPr>
        <p:style>
          <a:lnRef idx="0"/>
          <a:fillRef idx="0"/>
          <a:effectRef idx="0"/>
          <a:fontRef idx="minor"/>
        </p:style>
        <p:txBody>
          <a:bodyPr lIns="0" tIns="0" rIns="0" bIns="0" anchor="t">
            <a:noAutofit/>
          </a:bodyPr>
          <a:p>
            <a:endParaRPr lang="en-US" sz="1250" b="0" u="none" strike="noStrike">
              <a:solidFill>
                <a:schemeClr val="dk1"/>
              </a:solidFill>
              <a:effectLst/>
              <a:uFillTx/>
              <a:latin typeface="Calibri"/>
            </a:endParaRPr>
          </a:p>
        </p:txBody>
      </p:sp>
      <p:sp>
        <p:nvSpPr>
          <p:cNvPr id="165" name="Text 16"/>
          <p:cNvSpPr/>
          <p:nvPr/>
        </p:nvSpPr>
        <p:spPr>
          <a:xfrm>
            <a:off x="567000" y="6327720"/>
            <a:ext cx="11057400" cy="292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00" b="0" u="none" strike="noStrike">
                <a:solidFill>
                  <a:srgbClr val="5A6B73"/>
                </a:solidFill>
                <a:effectLst/>
                <a:uFillTx/>
                <a:latin typeface="Calibri"/>
                <a:ea typeface="Calibri"/>
              </a:rPr>
              <a:t>Lo que tú ya haces no está fuera de esto. Está en el segundo anillo. Lo nuevo es el de adentro, y es el único que trabaja con lenguaje.</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6" name="Text 0"/>
          <p:cNvSpPr/>
          <p:nvPr/>
        </p:nvSpPr>
        <p:spPr>
          <a:xfrm>
            <a:off x="567000" y="402480"/>
            <a:ext cx="9228600" cy="7495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3200" b="1" u="none" strike="noStrike">
                <a:solidFill>
                  <a:srgbClr val="16262E"/>
                </a:solidFill>
                <a:effectLst/>
                <a:uFillTx/>
                <a:latin typeface="Arial"/>
                <a:ea typeface="Arial"/>
              </a:rPr>
              <a:t>Qué cambió en 2017</a:t>
            </a:r>
            <a:endParaRPr lang="en-US" sz="3200" b="0" u="none" strike="noStrike">
              <a:solidFill>
                <a:srgbClr val="000000"/>
              </a:solidFill>
              <a:effectLst/>
              <a:uFillTx/>
              <a:latin typeface="Arial"/>
            </a:endParaRPr>
          </a:p>
        </p:txBody>
      </p:sp>
      <p:sp>
        <p:nvSpPr>
          <p:cNvPr id="167" name="Text 1"/>
          <p:cNvSpPr/>
          <p:nvPr/>
        </p:nvSpPr>
        <p:spPr>
          <a:xfrm>
            <a:off x="567000" y="1280160"/>
            <a:ext cx="9960120" cy="3654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500" b="0" u="none" strike="noStrike">
                <a:solidFill>
                  <a:srgbClr val="5A6B73"/>
                </a:solidFill>
                <a:effectLst/>
                <a:uFillTx/>
                <a:latin typeface="Calibri"/>
                <a:ea typeface="Calibri"/>
              </a:rPr>
              <a:t>Es la idea que hizo posibles a estos modelos. Cabe en una lámina.</a:t>
            </a:r>
            <a:endParaRPr lang="en-US" sz="1500" b="0" u="none" strike="noStrike">
              <a:solidFill>
                <a:srgbClr val="000000"/>
              </a:solidFill>
              <a:effectLst/>
              <a:uFillTx/>
              <a:latin typeface="Arial"/>
            </a:endParaRPr>
          </a:p>
        </p:txBody>
      </p:sp>
      <p:sp>
        <p:nvSpPr>
          <p:cNvPr id="168" name="Shape 2"/>
          <p:cNvSpPr/>
          <p:nvPr/>
        </p:nvSpPr>
        <p:spPr>
          <a:xfrm>
            <a:off x="567000" y="1810440"/>
            <a:ext cx="5364000" cy="2990160"/>
          </a:xfrm>
          <a:prstGeom prst="roundRect">
            <a:avLst>
              <a:gd name="adj" fmla="val 2824"/>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69" name="Shape 3"/>
          <p:cNvSpPr/>
          <p:nvPr/>
        </p:nvSpPr>
        <p:spPr>
          <a:xfrm>
            <a:off x="567000" y="1810440"/>
            <a:ext cx="5364000" cy="658080"/>
          </a:xfrm>
          <a:prstGeom prst="roundRect">
            <a:avLst>
              <a:gd name="adj" fmla="val 11111"/>
            </a:avLst>
          </a:prstGeom>
          <a:solidFill>
            <a:srgbClr val="5A6B73"/>
          </a:solidFill>
          <a:ln w="12700">
            <a:solidFill>
              <a:srgbClr val="5A6B73"/>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70" name="Shape 4"/>
          <p:cNvSpPr/>
          <p:nvPr/>
        </p:nvSpPr>
        <p:spPr>
          <a:xfrm>
            <a:off x="567000" y="2176200"/>
            <a:ext cx="5364000" cy="292320"/>
          </a:xfrm>
          <a:prstGeom prst="rect">
            <a:avLst/>
          </a:prstGeom>
          <a:solidFill>
            <a:srgbClr val="5A6B73"/>
          </a:solidFill>
          <a:ln w="12700">
            <a:solidFill>
              <a:srgbClr val="5A6B73"/>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71" name="Text 5"/>
          <p:cNvSpPr/>
          <p:nvPr/>
        </p:nvSpPr>
        <p:spPr>
          <a:xfrm>
            <a:off x="822960" y="1810440"/>
            <a:ext cx="4852080" cy="6580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FFFFFF"/>
                </a:solidFill>
                <a:effectLst/>
                <a:uFillTx/>
                <a:latin typeface="Arial"/>
                <a:ea typeface="Arial"/>
              </a:rPr>
              <a:t>Antes: leer palabra por palabra</a:t>
            </a:r>
            <a:endParaRPr lang="en-US" sz="1700" b="0" u="none" strike="noStrike">
              <a:solidFill>
                <a:srgbClr val="000000"/>
              </a:solidFill>
              <a:effectLst/>
              <a:uFillTx/>
              <a:latin typeface="Arial"/>
            </a:endParaRPr>
          </a:p>
        </p:txBody>
      </p:sp>
      <p:sp>
        <p:nvSpPr>
          <p:cNvPr id="172" name="Text 6"/>
          <p:cNvSpPr/>
          <p:nvPr/>
        </p:nvSpPr>
        <p:spPr>
          <a:xfrm>
            <a:off x="822960" y="2679120"/>
            <a:ext cx="4852080" cy="1492560"/>
          </a:xfrm>
          <a:prstGeom prst="rect">
            <a:avLst/>
          </a:prstGeom>
          <a:noFill/>
          <a:ln w="0">
            <a:noFill/>
          </a:ln>
        </p:spPr>
        <p:style>
          <a:lnRef idx="0"/>
          <a:fillRef idx="0"/>
          <a:effectRef idx="0"/>
          <a:fontRef idx="minor"/>
        </p:style>
        <p:txBody>
          <a:bodyPr lIns="0" tIns="0" rIns="0" bIns="0" anchor="t">
            <a:noAutofit/>
          </a:bodyPr>
          <a:p>
            <a:pPr defTabSz="914400">
              <a:lnSpc>
                <a:spcPct val="115000"/>
              </a:lnSpc>
              <a:spcAft>
                <a:spcPts val="601"/>
              </a:spcAft>
              <a:tabLst>
                <a:tab pos="0" algn="l"/>
              </a:tabLst>
            </a:pPr>
            <a:r>
              <a:rPr lang="en-US" sz="1400" b="0" u="none" strike="noStrike">
                <a:solidFill>
                  <a:srgbClr val="16262E"/>
                </a:solidFill>
                <a:effectLst/>
                <a:uFillTx/>
                <a:latin typeface="Calibri"/>
                <a:ea typeface="Calibri"/>
              </a:rPr>
              <a:t>El modelo leía en orden, una palabra a la vez. Lo del principio se le iba borrando.</a:t>
            </a:r>
            <a:endParaRPr lang="en-US" sz="1400" b="0" u="none" strike="noStrike">
              <a:solidFill>
                <a:srgbClr val="000000"/>
              </a:solidFill>
              <a:effectLst/>
              <a:uFillTx/>
              <a:latin typeface="Arial"/>
            </a:endParaRPr>
          </a:p>
          <a:p>
            <a:pPr defTabSz="914400">
              <a:lnSpc>
                <a:spcPct val="115000"/>
              </a:lnSpc>
              <a:spcAft>
                <a:spcPts val="601"/>
              </a:spcAft>
              <a:tabLst>
                <a:tab pos="0" algn="l"/>
              </a:tabLst>
            </a:pPr>
            <a:r>
              <a:rPr lang="en-US" sz="1400" b="0" u="none" strike="noStrike">
                <a:solidFill>
                  <a:srgbClr val="16262E"/>
                </a:solidFill>
                <a:effectLst/>
                <a:uFillTx/>
                <a:latin typeface="Calibri"/>
                <a:ea typeface="Calibri"/>
              </a:rPr>
              <a:t>Al leer en secuencia, no se podía entrenar en paralelo. Entrenarlo con mucho texto era lentísimo.</a:t>
            </a:r>
            <a:endParaRPr lang="en-US" sz="1400" b="0" u="none" strike="noStrike">
              <a:solidFill>
                <a:srgbClr val="000000"/>
              </a:solidFill>
              <a:effectLst/>
              <a:uFillTx/>
              <a:latin typeface="Arial"/>
            </a:endParaRPr>
          </a:p>
          <a:p>
            <a:pPr defTabSz="914400">
              <a:lnSpc>
                <a:spcPct val="115000"/>
              </a:lnSpc>
              <a:spcAft>
                <a:spcPts val="601"/>
              </a:spcAft>
              <a:tabLst>
                <a:tab pos="0" algn="l"/>
              </a:tabLst>
            </a:pPr>
            <a:r>
              <a:rPr lang="en-US" sz="1400" b="0" u="none" strike="noStrike">
                <a:solidFill>
                  <a:srgbClr val="16262E"/>
                </a:solidFill>
                <a:effectLst/>
                <a:uFillTx/>
                <a:latin typeface="Calibri"/>
                <a:ea typeface="Calibri"/>
              </a:rPr>
              <a:t>Servía para frases cortas. No para documentos.</a:t>
            </a:r>
            <a:endParaRPr lang="en-US" sz="1400" b="0" u="none" strike="noStrike">
              <a:solidFill>
                <a:srgbClr val="000000"/>
              </a:solidFill>
              <a:effectLst/>
              <a:uFillTx/>
              <a:latin typeface="Arial"/>
            </a:endParaRPr>
          </a:p>
        </p:txBody>
      </p:sp>
      <p:sp>
        <p:nvSpPr>
          <p:cNvPr id="173" name="Shape 7"/>
          <p:cNvSpPr/>
          <p:nvPr/>
        </p:nvSpPr>
        <p:spPr>
          <a:xfrm>
            <a:off x="6260400" y="1810440"/>
            <a:ext cx="5364000" cy="2990160"/>
          </a:xfrm>
          <a:prstGeom prst="roundRect">
            <a:avLst>
              <a:gd name="adj" fmla="val 2824"/>
            </a:avLst>
          </a:prstGeom>
          <a:solidFill>
            <a:srgbClr val="F7E4D8"/>
          </a:solidFill>
          <a:ln w="12700">
            <a:solidFill>
              <a:srgbClr val="F7E4D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74" name="Shape 8"/>
          <p:cNvSpPr/>
          <p:nvPr/>
        </p:nvSpPr>
        <p:spPr>
          <a:xfrm>
            <a:off x="6260400" y="1810440"/>
            <a:ext cx="5364000" cy="658080"/>
          </a:xfrm>
          <a:prstGeom prst="roundRect">
            <a:avLst>
              <a:gd name="adj" fmla="val 11111"/>
            </a:avLst>
          </a:prstGeom>
          <a:solidFill>
            <a:srgbClr val="C85A28"/>
          </a:solidFill>
          <a:ln w="12700">
            <a:solidFill>
              <a:srgbClr val="C85A2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75" name="Shape 9"/>
          <p:cNvSpPr/>
          <p:nvPr/>
        </p:nvSpPr>
        <p:spPr>
          <a:xfrm>
            <a:off x="6260400" y="2176200"/>
            <a:ext cx="5364000" cy="292320"/>
          </a:xfrm>
          <a:prstGeom prst="rect">
            <a:avLst/>
          </a:prstGeom>
          <a:solidFill>
            <a:srgbClr val="C85A28"/>
          </a:solidFill>
          <a:ln w="12700">
            <a:solidFill>
              <a:srgbClr val="C85A2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76" name="Text 10"/>
          <p:cNvSpPr/>
          <p:nvPr/>
        </p:nvSpPr>
        <p:spPr>
          <a:xfrm>
            <a:off x="6516360" y="1810440"/>
            <a:ext cx="4852080" cy="6580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FFFFFF"/>
                </a:solidFill>
                <a:effectLst/>
                <a:uFillTx/>
                <a:latin typeface="Arial"/>
                <a:ea typeface="Arial"/>
              </a:rPr>
              <a:t>Desde 2017: leer todo junto y prestar atención</a:t>
            </a:r>
            <a:endParaRPr lang="en-US" sz="1700" b="0" u="none" strike="noStrike">
              <a:solidFill>
                <a:srgbClr val="000000"/>
              </a:solidFill>
              <a:effectLst/>
              <a:uFillTx/>
              <a:latin typeface="Arial"/>
            </a:endParaRPr>
          </a:p>
        </p:txBody>
      </p:sp>
      <p:sp>
        <p:nvSpPr>
          <p:cNvPr id="177" name="Text 11"/>
          <p:cNvSpPr/>
          <p:nvPr/>
        </p:nvSpPr>
        <p:spPr>
          <a:xfrm>
            <a:off x="6516360" y="2679120"/>
            <a:ext cx="4852080" cy="1492560"/>
          </a:xfrm>
          <a:prstGeom prst="rect">
            <a:avLst/>
          </a:prstGeom>
          <a:noFill/>
          <a:ln w="0">
            <a:noFill/>
          </a:ln>
        </p:spPr>
        <p:style>
          <a:lnRef idx="0"/>
          <a:fillRef idx="0"/>
          <a:effectRef idx="0"/>
          <a:fontRef idx="minor"/>
        </p:style>
        <p:txBody>
          <a:bodyPr lIns="0" tIns="0" rIns="0" bIns="0" anchor="t">
            <a:noAutofit/>
          </a:bodyPr>
          <a:p>
            <a:pPr defTabSz="914400">
              <a:lnSpc>
                <a:spcPct val="115000"/>
              </a:lnSpc>
              <a:spcAft>
                <a:spcPts val="601"/>
              </a:spcAft>
              <a:tabLst>
                <a:tab pos="0" algn="l"/>
              </a:tabLst>
            </a:pPr>
            <a:r>
              <a:rPr lang="en-US" sz="1400" b="0" u="none" strike="noStrike">
                <a:solidFill>
                  <a:srgbClr val="16262E"/>
                </a:solidFill>
                <a:effectLst/>
                <a:uFillTx/>
                <a:latin typeface="Calibri"/>
                <a:ea typeface="Calibri"/>
              </a:rPr>
              <a:t>El modelo lee el texto completo de una vez. Para cada palabra calcula cuánta atención darle a cada una de las demás.</a:t>
            </a:r>
            <a:endParaRPr lang="en-US" sz="1400" b="0" u="none" strike="noStrike">
              <a:solidFill>
                <a:srgbClr val="000000"/>
              </a:solidFill>
              <a:effectLst/>
              <a:uFillTx/>
              <a:latin typeface="Arial"/>
            </a:endParaRPr>
          </a:p>
          <a:p>
            <a:pPr defTabSz="914400">
              <a:lnSpc>
                <a:spcPct val="115000"/>
              </a:lnSpc>
              <a:spcAft>
                <a:spcPts val="601"/>
              </a:spcAft>
              <a:tabLst>
                <a:tab pos="0" algn="l"/>
              </a:tabLst>
            </a:pPr>
            <a:r>
              <a:rPr lang="en-US" sz="1400" b="0" u="none" strike="noStrike">
                <a:solidFill>
                  <a:srgbClr val="16262E"/>
                </a:solidFill>
                <a:effectLst/>
                <a:uFillTx/>
                <a:latin typeface="Calibri"/>
                <a:ea typeface="Calibri"/>
              </a:rPr>
              <a:t>Como lee en paralelo, se puede entrenar con cantidades enormes de texto.</a:t>
            </a:r>
            <a:endParaRPr lang="en-US" sz="1400" b="0" u="none" strike="noStrike">
              <a:solidFill>
                <a:srgbClr val="000000"/>
              </a:solidFill>
              <a:effectLst/>
              <a:uFillTx/>
              <a:latin typeface="Arial"/>
            </a:endParaRPr>
          </a:p>
          <a:p>
            <a:pPr defTabSz="914400">
              <a:lnSpc>
                <a:spcPct val="115000"/>
              </a:lnSpc>
              <a:spcAft>
                <a:spcPts val="601"/>
              </a:spcAft>
              <a:tabLst>
                <a:tab pos="0" algn="l"/>
              </a:tabLst>
            </a:pPr>
            <a:r>
              <a:rPr lang="en-US" sz="1400" b="0" u="none" strike="noStrike">
                <a:solidFill>
                  <a:srgbClr val="16262E"/>
                </a:solidFill>
                <a:effectLst/>
                <a:uFillTx/>
                <a:latin typeface="Calibri"/>
                <a:ea typeface="Calibri"/>
              </a:rPr>
              <a:t>Ahora sí entiende documentos, y aprendió de casi todo lo que hay escrito.</a:t>
            </a:r>
            <a:endParaRPr lang="en-US" sz="1400" b="0" u="none" strike="noStrike">
              <a:solidFill>
                <a:srgbClr val="000000"/>
              </a:solidFill>
              <a:effectLst/>
              <a:uFillTx/>
              <a:latin typeface="Arial"/>
            </a:endParaRPr>
          </a:p>
        </p:txBody>
      </p:sp>
      <p:sp>
        <p:nvSpPr>
          <p:cNvPr id="178" name="Text 12"/>
          <p:cNvSpPr/>
          <p:nvPr/>
        </p:nvSpPr>
        <p:spPr>
          <a:xfrm>
            <a:off x="567000" y="6327720"/>
            <a:ext cx="11057400" cy="292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00" b="0" u="none" strike="noStrike">
                <a:solidFill>
                  <a:srgbClr val="5A6B73"/>
                </a:solidFill>
                <a:effectLst/>
                <a:uFillTx/>
                <a:latin typeface="Calibri"/>
                <a:ea typeface="Calibri"/>
              </a:rPr>
              <a:t>El artículo que lo propuso se llama, en traducción, "La atención es todo lo que necesitas". La atención es la idea.</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9" name="Text 0"/>
          <p:cNvSpPr/>
          <p:nvPr/>
        </p:nvSpPr>
        <p:spPr>
          <a:xfrm>
            <a:off x="567000" y="402480"/>
            <a:ext cx="9228600" cy="7495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3200" b="1" u="none" strike="noStrike">
                <a:solidFill>
                  <a:srgbClr val="16262E"/>
                </a:solidFill>
                <a:effectLst/>
                <a:uFillTx/>
                <a:latin typeface="Arial"/>
                <a:ea typeface="Arial"/>
              </a:rPr>
              <a:t>La atención, en una frase de tu trabajo</a:t>
            </a:r>
            <a:endParaRPr lang="en-US" sz="3200" b="0" u="none" strike="noStrike">
              <a:solidFill>
                <a:srgbClr val="000000"/>
              </a:solidFill>
              <a:effectLst/>
              <a:uFillTx/>
              <a:latin typeface="Arial"/>
            </a:endParaRPr>
          </a:p>
        </p:txBody>
      </p:sp>
      <p:sp>
        <p:nvSpPr>
          <p:cNvPr id="180" name="Text 1"/>
          <p:cNvSpPr/>
          <p:nvPr/>
        </p:nvSpPr>
        <p:spPr>
          <a:xfrm>
            <a:off x="567000" y="1280160"/>
            <a:ext cx="9960120" cy="3654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500" b="0" u="none" strike="noStrike">
                <a:solidFill>
                  <a:srgbClr val="5A6B73"/>
                </a:solidFill>
                <a:effectLst/>
                <a:uFillTx/>
                <a:latin typeface="Calibri"/>
                <a:ea typeface="Calibri"/>
              </a:rPr>
              <a:t>Para entender cada palabra, el modelo decide a qué otras palabras mirar.</a:t>
            </a:r>
            <a:endParaRPr lang="en-US" sz="1500" b="0" u="none" strike="noStrike">
              <a:solidFill>
                <a:srgbClr val="000000"/>
              </a:solidFill>
              <a:effectLst/>
              <a:uFillTx/>
              <a:latin typeface="Arial"/>
            </a:endParaRPr>
          </a:p>
        </p:txBody>
      </p:sp>
      <p:sp>
        <p:nvSpPr>
          <p:cNvPr id="181" name="Shape 2"/>
          <p:cNvSpPr/>
          <p:nvPr/>
        </p:nvSpPr>
        <p:spPr>
          <a:xfrm>
            <a:off x="1004760" y="2496240"/>
            <a:ext cx="429480" cy="475200"/>
          </a:xfrm>
          <a:prstGeom prst="roundRect">
            <a:avLst>
              <a:gd name="adj" fmla="val 12766"/>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82" name="Text 3"/>
          <p:cNvSpPr/>
          <p:nvPr/>
        </p:nvSpPr>
        <p:spPr>
          <a:xfrm>
            <a:off x="1004760" y="2496240"/>
            <a:ext cx="429480" cy="4752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0" u="none" strike="noStrike">
                <a:solidFill>
                  <a:srgbClr val="16262E"/>
                </a:solidFill>
                <a:effectLst/>
                <a:uFillTx/>
                <a:latin typeface="Calibri"/>
                <a:ea typeface="Calibri"/>
              </a:rPr>
              <a:t>El</a:t>
            </a:r>
            <a:endParaRPr lang="en-US" sz="1400" b="0" u="none" strike="noStrike">
              <a:solidFill>
                <a:srgbClr val="000000"/>
              </a:solidFill>
              <a:effectLst/>
              <a:uFillTx/>
              <a:latin typeface="Arial"/>
            </a:endParaRPr>
          </a:p>
        </p:txBody>
      </p:sp>
      <p:sp>
        <p:nvSpPr>
          <p:cNvPr id="183" name="Shape 4"/>
          <p:cNvSpPr/>
          <p:nvPr/>
        </p:nvSpPr>
        <p:spPr>
          <a:xfrm>
            <a:off x="1526040" y="2496240"/>
            <a:ext cx="1005480" cy="475200"/>
          </a:xfrm>
          <a:prstGeom prst="roundRect">
            <a:avLst>
              <a:gd name="adj" fmla="val 11538"/>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84" name="Text 5"/>
          <p:cNvSpPr/>
          <p:nvPr/>
        </p:nvSpPr>
        <p:spPr>
          <a:xfrm>
            <a:off x="1526040" y="2496240"/>
            <a:ext cx="1005480" cy="4752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Calibri"/>
                <a:ea typeface="Calibri"/>
              </a:rPr>
              <a:t>programa</a:t>
            </a:r>
            <a:endParaRPr lang="en-US" sz="1400" b="0" u="none" strike="noStrike">
              <a:solidFill>
                <a:srgbClr val="000000"/>
              </a:solidFill>
              <a:effectLst/>
              <a:uFillTx/>
              <a:latin typeface="Arial"/>
            </a:endParaRPr>
          </a:p>
        </p:txBody>
      </p:sp>
      <p:sp>
        <p:nvSpPr>
          <p:cNvPr id="185" name="Shape 6"/>
          <p:cNvSpPr/>
          <p:nvPr/>
        </p:nvSpPr>
        <p:spPr>
          <a:xfrm>
            <a:off x="2623320" y="2496240"/>
            <a:ext cx="429480" cy="475200"/>
          </a:xfrm>
          <a:prstGeom prst="roundRect">
            <a:avLst>
              <a:gd name="adj" fmla="val 12766"/>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86" name="Text 7"/>
          <p:cNvSpPr/>
          <p:nvPr/>
        </p:nvSpPr>
        <p:spPr>
          <a:xfrm>
            <a:off x="2623320" y="2496240"/>
            <a:ext cx="429480" cy="4752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0" u="none" strike="noStrike">
                <a:solidFill>
                  <a:srgbClr val="16262E"/>
                </a:solidFill>
                <a:effectLst/>
                <a:uFillTx/>
                <a:latin typeface="Calibri"/>
                <a:ea typeface="Calibri"/>
              </a:rPr>
              <a:t>no</a:t>
            </a:r>
            <a:endParaRPr lang="en-US" sz="1400" b="0" u="none" strike="noStrike">
              <a:solidFill>
                <a:srgbClr val="000000"/>
              </a:solidFill>
              <a:effectLst/>
              <a:uFillTx/>
              <a:latin typeface="Arial"/>
            </a:endParaRPr>
          </a:p>
        </p:txBody>
      </p:sp>
      <p:sp>
        <p:nvSpPr>
          <p:cNvPr id="187" name="Shape 8"/>
          <p:cNvSpPr/>
          <p:nvPr/>
        </p:nvSpPr>
        <p:spPr>
          <a:xfrm>
            <a:off x="3144600" y="2496240"/>
            <a:ext cx="909360" cy="475200"/>
          </a:xfrm>
          <a:prstGeom prst="roundRect">
            <a:avLst>
              <a:gd name="adj" fmla="val 11538"/>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88" name="Text 9"/>
          <p:cNvSpPr/>
          <p:nvPr/>
        </p:nvSpPr>
        <p:spPr>
          <a:xfrm>
            <a:off x="3144600" y="2496240"/>
            <a:ext cx="909360" cy="4752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0" u="none" strike="noStrike">
                <a:solidFill>
                  <a:srgbClr val="16262E"/>
                </a:solidFill>
                <a:effectLst/>
                <a:uFillTx/>
                <a:latin typeface="Calibri"/>
                <a:ea typeface="Calibri"/>
              </a:rPr>
              <a:t>alcanzó</a:t>
            </a:r>
            <a:endParaRPr lang="en-US" sz="1400" b="0" u="none" strike="noStrike">
              <a:solidFill>
                <a:srgbClr val="000000"/>
              </a:solidFill>
              <a:effectLst/>
              <a:uFillTx/>
              <a:latin typeface="Arial"/>
            </a:endParaRPr>
          </a:p>
        </p:txBody>
      </p:sp>
      <p:sp>
        <p:nvSpPr>
          <p:cNvPr id="189" name="Shape 10"/>
          <p:cNvSpPr/>
          <p:nvPr/>
        </p:nvSpPr>
        <p:spPr>
          <a:xfrm>
            <a:off x="4145760" y="2496240"/>
            <a:ext cx="429480" cy="475200"/>
          </a:xfrm>
          <a:prstGeom prst="roundRect">
            <a:avLst>
              <a:gd name="adj" fmla="val 12766"/>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90" name="Text 11"/>
          <p:cNvSpPr/>
          <p:nvPr/>
        </p:nvSpPr>
        <p:spPr>
          <a:xfrm>
            <a:off x="4145760" y="2496240"/>
            <a:ext cx="429480" cy="4752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Calibri"/>
                <a:ea typeface="Calibri"/>
              </a:rPr>
              <a:t>su</a:t>
            </a:r>
            <a:endParaRPr lang="en-US" sz="1400" b="0" u="none" strike="noStrike">
              <a:solidFill>
                <a:srgbClr val="000000"/>
              </a:solidFill>
              <a:effectLst/>
              <a:uFillTx/>
              <a:latin typeface="Arial"/>
            </a:endParaRPr>
          </a:p>
        </p:txBody>
      </p:sp>
      <p:sp>
        <p:nvSpPr>
          <p:cNvPr id="191" name="Shape 12"/>
          <p:cNvSpPr/>
          <p:nvPr/>
        </p:nvSpPr>
        <p:spPr>
          <a:xfrm>
            <a:off x="4667040" y="2496240"/>
            <a:ext cx="621360" cy="475200"/>
          </a:xfrm>
          <a:prstGeom prst="roundRect">
            <a:avLst>
              <a:gd name="adj" fmla="val 11538"/>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92" name="Text 13"/>
          <p:cNvSpPr/>
          <p:nvPr/>
        </p:nvSpPr>
        <p:spPr>
          <a:xfrm>
            <a:off x="4667040" y="2496240"/>
            <a:ext cx="621360" cy="4752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0" u="none" strike="noStrike">
                <a:solidFill>
                  <a:srgbClr val="16262E"/>
                </a:solidFill>
                <a:effectLst/>
                <a:uFillTx/>
                <a:latin typeface="Calibri"/>
                <a:ea typeface="Calibri"/>
              </a:rPr>
              <a:t>meta</a:t>
            </a:r>
            <a:endParaRPr lang="en-US" sz="1400" b="0" u="none" strike="noStrike">
              <a:solidFill>
                <a:srgbClr val="000000"/>
              </a:solidFill>
              <a:effectLst/>
              <a:uFillTx/>
              <a:latin typeface="Arial"/>
            </a:endParaRPr>
          </a:p>
        </p:txBody>
      </p:sp>
      <p:sp>
        <p:nvSpPr>
          <p:cNvPr id="193" name="Shape 14"/>
          <p:cNvSpPr/>
          <p:nvPr/>
        </p:nvSpPr>
        <p:spPr>
          <a:xfrm>
            <a:off x="5380200" y="2496240"/>
            <a:ext cx="813600" cy="475200"/>
          </a:xfrm>
          <a:prstGeom prst="roundRect">
            <a:avLst>
              <a:gd name="adj" fmla="val 11538"/>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94" name="Text 15"/>
          <p:cNvSpPr/>
          <p:nvPr/>
        </p:nvSpPr>
        <p:spPr>
          <a:xfrm>
            <a:off x="5380200" y="2496240"/>
            <a:ext cx="813600" cy="4752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0" u="none" strike="noStrike">
                <a:solidFill>
                  <a:srgbClr val="16262E"/>
                </a:solidFill>
                <a:effectLst/>
                <a:uFillTx/>
                <a:latin typeface="Calibri"/>
                <a:ea typeface="Calibri"/>
              </a:rPr>
              <a:t>porque</a:t>
            </a:r>
            <a:endParaRPr lang="en-US" sz="1400" b="0" u="none" strike="noStrike">
              <a:solidFill>
                <a:srgbClr val="000000"/>
              </a:solidFill>
              <a:effectLst/>
              <a:uFillTx/>
              <a:latin typeface="Arial"/>
            </a:endParaRPr>
          </a:p>
        </p:txBody>
      </p:sp>
      <p:sp>
        <p:nvSpPr>
          <p:cNvPr id="195" name="Shape 16"/>
          <p:cNvSpPr/>
          <p:nvPr/>
        </p:nvSpPr>
        <p:spPr>
          <a:xfrm>
            <a:off x="6285600" y="2496240"/>
            <a:ext cx="429480" cy="475200"/>
          </a:xfrm>
          <a:prstGeom prst="roundRect">
            <a:avLst>
              <a:gd name="adj" fmla="val 12766"/>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96" name="Text 17"/>
          <p:cNvSpPr/>
          <p:nvPr/>
        </p:nvSpPr>
        <p:spPr>
          <a:xfrm>
            <a:off x="6285600" y="2496240"/>
            <a:ext cx="429480" cy="4752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0" u="none" strike="noStrike">
                <a:solidFill>
                  <a:srgbClr val="16262E"/>
                </a:solidFill>
                <a:effectLst/>
                <a:uFillTx/>
                <a:latin typeface="Calibri"/>
                <a:ea typeface="Calibri"/>
              </a:rPr>
              <a:t>el</a:t>
            </a:r>
            <a:endParaRPr lang="en-US" sz="1400" b="0" u="none" strike="noStrike">
              <a:solidFill>
                <a:srgbClr val="000000"/>
              </a:solidFill>
              <a:effectLst/>
              <a:uFillTx/>
              <a:latin typeface="Arial"/>
            </a:endParaRPr>
          </a:p>
        </p:txBody>
      </p:sp>
      <p:sp>
        <p:nvSpPr>
          <p:cNvPr id="197" name="Shape 18"/>
          <p:cNvSpPr/>
          <p:nvPr/>
        </p:nvSpPr>
        <p:spPr>
          <a:xfrm>
            <a:off x="6806880" y="2496240"/>
            <a:ext cx="813600" cy="475200"/>
          </a:xfrm>
          <a:prstGeom prst="roundRect">
            <a:avLst>
              <a:gd name="adj" fmla="val 11538"/>
            </a:avLst>
          </a:prstGeom>
          <a:solidFill>
            <a:srgbClr val="C85A28"/>
          </a:solidFill>
          <a:ln w="12700">
            <a:solidFill>
              <a:srgbClr val="C85A2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98" name="Text 19"/>
          <p:cNvSpPr/>
          <p:nvPr/>
        </p:nvSpPr>
        <p:spPr>
          <a:xfrm>
            <a:off x="6806880" y="2496240"/>
            <a:ext cx="813600" cy="4752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Calibri"/>
                <a:ea typeface="Calibri"/>
              </a:rPr>
              <a:t>padrón</a:t>
            </a:r>
            <a:endParaRPr lang="en-US" sz="1400" b="0" u="none" strike="noStrike">
              <a:solidFill>
                <a:srgbClr val="000000"/>
              </a:solidFill>
              <a:effectLst/>
              <a:uFillTx/>
              <a:latin typeface="Arial"/>
            </a:endParaRPr>
          </a:p>
        </p:txBody>
      </p:sp>
      <p:sp>
        <p:nvSpPr>
          <p:cNvPr id="199" name="Shape 20"/>
          <p:cNvSpPr/>
          <p:nvPr/>
        </p:nvSpPr>
        <p:spPr>
          <a:xfrm>
            <a:off x="7711920" y="2496240"/>
            <a:ext cx="429480" cy="475200"/>
          </a:xfrm>
          <a:prstGeom prst="roundRect">
            <a:avLst>
              <a:gd name="adj" fmla="val 12766"/>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00" name="Text 21"/>
          <p:cNvSpPr/>
          <p:nvPr/>
        </p:nvSpPr>
        <p:spPr>
          <a:xfrm>
            <a:off x="7711920" y="2496240"/>
            <a:ext cx="429480" cy="4752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0" u="none" strike="noStrike">
                <a:solidFill>
                  <a:srgbClr val="16262E"/>
                </a:solidFill>
                <a:effectLst/>
                <a:uFillTx/>
                <a:latin typeface="Calibri"/>
                <a:ea typeface="Calibri"/>
              </a:rPr>
              <a:t>no</a:t>
            </a:r>
            <a:endParaRPr lang="en-US" sz="1400" b="0" u="none" strike="noStrike">
              <a:solidFill>
                <a:srgbClr val="000000"/>
              </a:solidFill>
              <a:effectLst/>
              <a:uFillTx/>
              <a:latin typeface="Arial"/>
            </a:endParaRPr>
          </a:p>
        </p:txBody>
      </p:sp>
      <p:sp>
        <p:nvSpPr>
          <p:cNvPr id="201" name="Shape 22"/>
          <p:cNvSpPr/>
          <p:nvPr/>
        </p:nvSpPr>
        <p:spPr>
          <a:xfrm>
            <a:off x="8233200" y="2496240"/>
            <a:ext cx="429480" cy="475200"/>
          </a:xfrm>
          <a:prstGeom prst="roundRect">
            <a:avLst>
              <a:gd name="adj" fmla="val 12766"/>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02" name="Text 23"/>
          <p:cNvSpPr/>
          <p:nvPr/>
        </p:nvSpPr>
        <p:spPr>
          <a:xfrm>
            <a:off x="8233200" y="2496240"/>
            <a:ext cx="429480" cy="4752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0" u="none" strike="noStrike">
                <a:solidFill>
                  <a:srgbClr val="16262E"/>
                </a:solidFill>
                <a:effectLst/>
                <a:uFillTx/>
                <a:latin typeface="Calibri"/>
                <a:ea typeface="Calibri"/>
              </a:rPr>
              <a:t>se</a:t>
            </a:r>
            <a:endParaRPr lang="en-US" sz="1400" b="0" u="none" strike="noStrike">
              <a:solidFill>
                <a:srgbClr val="000000"/>
              </a:solidFill>
              <a:effectLst/>
              <a:uFillTx/>
              <a:latin typeface="Arial"/>
            </a:endParaRPr>
          </a:p>
        </p:txBody>
      </p:sp>
      <p:sp>
        <p:nvSpPr>
          <p:cNvPr id="203" name="Shape 24"/>
          <p:cNvSpPr/>
          <p:nvPr/>
        </p:nvSpPr>
        <p:spPr>
          <a:xfrm>
            <a:off x="8754480" y="2496240"/>
            <a:ext cx="1101600" cy="475200"/>
          </a:xfrm>
          <a:prstGeom prst="roundRect">
            <a:avLst>
              <a:gd name="adj" fmla="val 11538"/>
            </a:avLst>
          </a:prstGeom>
          <a:solidFill>
            <a:srgbClr val="C85A28"/>
          </a:solidFill>
          <a:ln w="12700">
            <a:solidFill>
              <a:srgbClr val="C85A2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04" name="Text 25"/>
          <p:cNvSpPr/>
          <p:nvPr/>
        </p:nvSpPr>
        <p:spPr>
          <a:xfrm>
            <a:off x="8754480" y="2496240"/>
            <a:ext cx="1101600" cy="4752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Calibri"/>
                <a:ea typeface="Calibri"/>
              </a:rPr>
              <a:t>actualizó</a:t>
            </a:r>
            <a:endParaRPr lang="en-US" sz="1400" b="0" u="none" strike="noStrike">
              <a:solidFill>
                <a:srgbClr val="000000"/>
              </a:solidFill>
              <a:effectLst/>
              <a:uFillTx/>
              <a:latin typeface="Arial"/>
            </a:endParaRPr>
          </a:p>
        </p:txBody>
      </p:sp>
      <p:sp>
        <p:nvSpPr>
          <p:cNvPr id="205" name="Shape 26"/>
          <p:cNvSpPr/>
          <p:nvPr/>
        </p:nvSpPr>
        <p:spPr>
          <a:xfrm>
            <a:off x="9947880" y="2496240"/>
            <a:ext cx="333360" cy="475200"/>
          </a:xfrm>
          <a:prstGeom prst="roundRect">
            <a:avLst>
              <a:gd name="adj" fmla="val 16438"/>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06" name="Text 27"/>
          <p:cNvSpPr/>
          <p:nvPr/>
        </p:nvSpPr>
        <p:spPr>
          <a:xfrm>
            <a:off x="9947880" y="2496240"/>
            <a:ext cx="333360" cy="4752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0" u="none" strike="noStrike">
                <a:solidFill>
                  <a:srgbClr val="16262E"/>
                </a:solidFill>
                <a:effectLst/>
                <a:uFillTx/>
                <a:latin typeface="Calibri"/>
                <a:ea typeface="Calibri"/>
              </a:rPr>
              <a:t>a</a:t>
            </a:r>
            <a:endParaRPr lang="en-US" sz="1400" b="0" u="none" strike="noStrike">
              <a:solidFill>
                <a:srgbClr val="000000"/>
              </a:solidFill>
              <a:effectLst/>
              <a:uFillTx/>
              <a:latin typeface="Arial"/>
            </a:endParaRPr>
          </a:p>
        </p:txBody>
      </p:sp>
      <p:sp>
        <p:nvSpPr>
          <p:cNvPr id="207" name="Shape 28"/>
          <p:cNvSpPr/>
          <p:nvPr/>
        </p:nvSpPr>
        <p:spPr>
          <a:xfrm>
            <a:off x="10373040" y="2496240"/>
            <a:ext cx="813600" cy="475200"/>
          </a:xfrm>
          <a:prstGeom prst="roundRect">
            <a:avLst>
              <a:gd name="adj" fmla="val 11538"/>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08" name="Text 29"/>
          <p:cNvSpPr/>
          <p:nvPr/>
        </p:nvSpPr>
        <p:spPr>
          <a:xfrm>
            <a:off x="10373040" y="2496240"/>
            <a:ext cx="813600" cy="4752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0" u="none" strike="noStrike">
                <a:solidFill>
                  <a:srgbClr val="16262E"/>
                </a:solidFill>
                <a:effectLst/>
                <a:uFillTx/>
                <a:latin typeface="Calibri"/>
                <a:ea typeface="Calibri"/>
              </a:rPr>
              <a:t>tiempo</a:t>
            </a:r>
            <a:endParaRPr lang="en-US" sz="1400" b="0" u="none" strike="noStrike">
              <a:solidFill>
                <a:srgbClr val="000000"/>
              </a:solidFill>
              <a:effectLst/>
              <a:uFillTx/>
              <a:latin typeface="Arial"/>
            </a:endParaRPr>
          </a:p>
        </p:txBody>
      </p:sp>
      <p:sp>
        <p:nvSpPr>
          <p:cNvPr id="209" name="Shape 30"/>
          <p:cNvSpPr/>
          <p:nvPr/>
        </p:nvSpPr>
        <p:spPr>
          <a:xfrm>
            <a:off x="4360680" y="2112120"/>
            <a:ext cx="360" cy="384120"/>
          </a:xfrm>
          <a:prstGeom prst="line">
            <a:avLst/>
          </a:prstGeom>
          <a:ln w="25400">
            <a:solidFill>
              <a:srgbClr val="2E7D7D"/>
            </a:solidFill>
            <a:round/>
          </a:ln>
        </p:spPr>
        <p:style>
          <a:lnRef idx="0"/>
          <a:fillRef idx="0"/>
          <a:effectRef idx="0"/>
          <a:fontRef idx="minor"/>
        </p:style>
        <p:txBody>
          <a:bodyPr lIns="90000" tIns="45000" rIns="90000" bIns="45000" anchor="t" anchorCtr="1">
            <a:noAutofit/>
          </a:bodyPr>
          <a:p>
            <a:endParaRPr lang="en-US" sz="1800" b="0" u="none" strike="noStrike">
              <a:solidFill>
                <a:srgbClr val="000000"/>
              </a:solidFill>
              <a:effectLst/>
              <a:uFillTx/>
              <a:latin typeface="Arial"/>
            </a:endParaRPr>
          </a:p>
        </p:txBody>
      </p:sp>
      <p:sp>
        <p:nvSpPr>
          <p:cNvPr id="210" name="Shape 31"/>
          <p:cNvSpPr/>
          <p:nvPr/>
        </p:nvSpPr>
        <p:spPr>
          <a:xfrm>
            <a:off x="2028960" y="2112120"/>
            <a:ext cx="2331720" cy="360"/>
          </a:xfrm>
          <a:prstGeom prst="line">
            <a:avLst/>
          </a:prstGeom>
          <a:ln w="25400">
            <a:solidFill>
              <a:srgbClr val="2E7D7D"/>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211" name="Shape 32"/>
          <p:cNvSpPr/>
          <p:nvPr/>
        </p:nvSpPr>
        <p:spPr>
          <a:xfrm flipV="1">
            <a:off x="2028960" y="2112120"/>
            <a:ext cx="360" cy="384120"/>
          </a:xfrm>
          <a:prstGeom prst="line">
            <a:avLst/>
          </a:prstGeom>
          <a:ln w="25400">
            <a:solidFill>
              <a:srgbClr val="2E7D7D"/>
            </a:solidFill>
            <a:round/>
            <a:tailEnd len="med" type="triangle" w="med"/>
          </a:ln>
        </p:spPr>
        <p:style>
          <a:lnRef idx="0"/>
          <a:fillRef idx="0"/>
          <a:effectRef idx="0"/>
          <a:fontRef idx="minor"/>
        </p:style>
        <p:txBody>
          <a:bodyPr lIns="90000" tIns="45000" rIns="90000" bIns="45000" anchor="t" anchorCtr="1">
            <a:noAutofit/>
          </a:bodyPr>
          <a:p>
            <a:endParaRPr lang="en-US" sz="1800" b="0" u="none" strike="noStrike">
              <a:solidFill>
                <a:srgbClr val="000000"/>
              </a:solidFill>
              <a:effectLst/>
              <a:uFillTx/>
              <a:latin typeface="Arial"/>
            </a:endParaRPr>
          </a:p>
        </p:txBody>
      </p:sp>
      <p:sp>
        <p:nvSpPr>
          <p:cNvPr id="212" name="Shape 33"/>
          <p:cNvSpPr/>
          <p:nvPr/>
        </p:nvSpPr>
        <p:spPr>
          <a:xfrm>
            <a:off x="9305280" y="2971800"/>
            <a:ext cx="360" cy="383760"/>
          </a:xfrm>
          <a:prstGeom prst="line">
            <a:avLst/>
          </a:prstGeom>
          <a:ln w="25400">
            <a:solidFill>
              <a:srgbClr val="C85A28"/>
            </a:solidFill>
            <a:round/>
          </a:ln>
        </p:spPr>
        <p:style>
          <a:lnRef idx="0"/>
          <a:fillRef idx="0"/>
          <a:effectRef idx="0"/>
          <a:fontRef idx="minor"/>
        </p:style>
        <p:txBody>
          <a:bodyPr lIns="90000" tIns="45000" rIns="90000" bIns="45000" anchor="t" anchorCtr="1">
            <a:noAutofit/>
          </a:bodyPr>
          <a:p>
            <a:endParaRPr lang="en-US" sz="1800" b="0" u="none" strike="noStrike">
              <a:solidFill>
                <a:srgbClr val="000000"/>
              </a:solidFill>
              <a:effectLst/>
              <a:uFillTx/>
              <a:latin typeface="Arial"/>
            </a:endParaRPr>
          </a:p>
        </p:txBody>
      </p:sp>
      <p:sp>
        <p:nvSpPr>
          <p:cNvPr id="213" name="Shape 34"/>
          <p:cNvSpPr/>
          <p:nvPr/>
        </p:nvSpPr>
        <p:spPr>
          <a:xfrm>
            <a:off x="7213680" y="3355560"/>
            <a:ext cx="2091600" cy="360"/>
          </a:xfrm>
          <a:prstGeom prst="line">
            <a:avLst/>
          </a:prstGeom>
          <a:ln w="25400">
            <a:solidFill>
              <a:srgbClr val="C85A28"/>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214" name="Shape 35"/>
          <p:cNvSpPr/>
          <p:nvPr/>
        </p:nvSpPr>
        <p:spPr>
          <a:xfrm>
            <a:off x="7213680" y="2971800"/>
            <a:ext cx="360" cy="383760"/>
          </a:xfrm>
          <a:prstGeom prst="line">
            <a:avLst/>
          </a:prstGeom>
          <a:ln w="25400">
            <a:solidFill>
              <a:srgbClr val="C85A28"/>
            </a:solidFill>
            <a:round/>
            <a:tailEnd len="med" type="triangle" w="med"/>
          </a:ln>
        </p:spPr>
        <p:style>
          <a:lnRef idx="0"/>
          <a:fillRef idx="0"/>
          <a:effectRef idx="0"/>
          <a:fontRef idx="minor"/>
        </p:style>
        <p:txBody>
          <a:bodyPr lIns="90000" tIns="45000" rIns="90000" bIns="45000" anchor="t" anchorCtr="1">
            <a:noAutofit/>
          </a:bodyPr>
          <a:p>
            <a:endParaRPr lang="en-US" sz="1800" b="0" u="none" strike="noStrike">
              <a:solidFill>
                <a:srgbClr val="000000"/>
              </a:solidFill>
              <a:effectLst/>
              <a:uFillTx/>
              <a:latin typeface="Arial"/>
            </a:endParaRPr>
          </a:p>
        </p:txBody>
      </p:sp>
      <p:sp>
        <p:nvSpPr>
          <p:cNvPr id="215" name="Text 36"/>
          <p:cNvSpPr/>
          <p:nvPr/>
        </p:nvSpPr>
        <p:spPr>
          <a:xfrm>
            <a:off x="567000" y="3611880"/>
            <a:ext cx="11057400" cy="68544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400" b="0" u="none" strike="noStrike">
                <a:solidFill>
                  <a:srgbClr val="16262E"/>
                </a:solidFill>
                <a:effectLst/>
                <a:uFillTx/>
                <a:latin typeface="Calibri"/>
                <a:ea typeface="Calibri"/>
              </a:rPr>
              <a:t>Para saber a qué se refiere "su", el modelo mira "programa". Para saber qué fue lo que no se actualizó, mira "padrón". Hace ese cálculo con cada palabra contra todas las demás, muchas veces, en capas.</a:t>
            </a:r>
            <a:endParaRPr lang="en-US" sz="1400" b="0" u="none" strike="noStrike">
              <a:solidFill>
                <a:srgbClr val="000000"/>
              </a:solidFill>
              <a:effectLst/>
              <a:uFillTx/>
              <a:latin typeface="Arial"/>
            </a:endParaRPr>
          </a:p>
        </p:txBody>
      </p:sp>
      <p:sp>
        <p:nvSpPr>
          <p:cNvPr id="216" name="Shape 37"/>
          <p:cNvSpPr/>
          <p:nvPr/>
        </p:nvSpPr>
        <p:spPr>
          <a:xfrm>
            <a:off x="567000" y="4389120"/>
            <a:ext cx="2592720" cy="1599840"/>
          </a:xfrm>
          <a:prstGeom prst="roundRect">
            <a:avLst>
              <a:gd name="adj" fmla="val 4000"/>
            </a:avLst>
          </a:prstGeom>
          <a:solidFill>
            <a:srgbClr val="D7E7E7"/>
          </a:solidFill>
          <a:ln w="12700">
            <a:solidFill>
              <a:srgbClr val="D7E7E7"/>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17" name="Text 38"/>
          <p:cNvSpPr/>
          <p:nvPr/>
        </p:nvSpPr>
        <p:spPr>
          <a:xfrm>
            <a:off x="768240" y="4535280"/>
            <a:ext cx="2190240" cy="3654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400" b="1" u="none" strike="noStrike">
                <a:solidFill>
                  <a:srgbClr val="16262E"/>
                </a:solidFill>
                <a:effectLst/>
                <a:uFillTx/>
                <a:latin typeface="Arial"/>
                <a:ea typeface="Arial"/>
              </a:rPr>
              <a:t>Alcanza lejos</a:t>
            </a:r>
            <a:endParaRPr lang="en-US" sz="1400" b="0" u="none" strike="noStrike">
              <a:solidFill>
                <a:srgbClr val="000000"/>
              </a:solidFill>
              <a:effectLst/>
              <a:uFillTx/>
              <a:latin typeface="Arial"/>
            </a:endParaRPr>
          </a:p>
        </p:txBody>
      </p:sp>
      <p:sp>
        <p:nvSpPr>
          <p:cNvPr id="218" name="Text 39"/>
          <p:cNvSpPr/>
          <p:nvPr/>
        </p:nvSpPr>
        <p:spPr>
          <a:xfrm>
            <a:off x="768240" y="4919400"/>
            <a:ext cx="2190240" cy="95976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250" b="0" u="none" strike="noStrike">
                <a:solidFill>
                  <a:srgbClr val="16262E"/>
                </a:solidFill>
                <a:effectLst/>
                <a:uFillTx/>
                <a:latin typeface="Calibri"/>
                <a:ea typeface="Calibri"/>
              </a:rPr>
              <a:t>Relaciona una palabra con otra que está veinte párrafos antes. Por eso puede trabajar con documentos.</a:t>
            </a:r>
            <a:endParaRPr lang="en-US" sz="1250" b="0" u="none" strike="noStrike">
              <a:solidFill>
                <a:srgbClr val="000000"/>
              </a:solidFill>
              <a:effectLst/>
              <a:uFillTx/>
              <a:latin typeface="Arial"/>
            </a:endParaRPr>
          </a:p>
        </p:txBody>
      </p:sp>
      <p:sp>
        <p:nvSpPr>
          <p:cNvPr id="219" name="Shape 40"/>
          <p:cNvSpPr/>
          <p:nvPr/>
        </p:nvSpPr>
        <p:spPr>
          <a:xfrm>
            <a:off x="3388680" y="4389120"/>
            <a:ext cx="2592720" cy="1599840"/>
          </a:xfrm>
          <a:prstGeom prst="roundRect">
            <a:avLst>
              <a:gd name="adj" fmla="val 4000"/>
            </a:avLst>
          </a:prstGeom>
          <a:solidFill>
            <a:srgbClr val="D7E7E7"/>
          </a:solidFill>
          <a:ln w="12700">
            <a:solidFill>
              <a:srgbClr val="D7E7E7"/>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20" name="Text 41"/>
          <p:cNvSpPr/>
          <p:nvPr/>
        </p:nvSpPr>
        <p:spPr>
          <a:xfrm>
            <a:off x="3589560" y="4535280"/>
            <a:ext cx="2190240" cy="3654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400" b="1" u="none" strike="noStrike">
                <a:solidFill>
                  <a:srgbClr val="16262E"/>
                </a:solidFill>
                <a:effectLst/>
                <a:uFillTx/>
                <a:latin typeface="Arial"/>
                <a:ea typeface="Arial"/>
              </a:rPr>
              <a:t>Lee en paralelo</a:t>
            </a:r>
            <a:endParaRPr lang="en-US" sz="1400" b="0" u="none" strike="noStrike">
              <a:solidFill>
                <a:srgbClr val="000000"/>
              </a:solidFill>
              <a:effectLst/>
              <a:uFillTx/>
              <a:latin typeface="Arial"/>
            </a:endParaRPr>
          </a:p>
        </p:txBody>
      </p:sp>
      <p:sp>
        <p:nvSpPr>
          <p:cNvPr id="221" name="Text 42"/>
          <p:cNvSpPr/>
          <p:nvPr/>
        </p:nvSpPr>
        <p:spPr>
          <a:xfrm>
            <a:off x="3589560" y="4919400"/>
            <a:ext cx="2190240" cy="95976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250" b="0" u="none" strike="noStrike">
                <a:solidFill>
                  <a:srgbClr val="16262E"/>
                </a:solidFill>
                <a:effectLst/>
                <a:uFillTx/>
                <a:latin typeface="Calibri"/>
                <a:ea typeface="Calibri"/>
              </a:rPr>
              <a:t>Al no leer en orden, se entrena a gran escala. Aprendió de una porción enorme de todo lo escrito.</a:t>
            </a:r>
            <a:endParaRPr lang="en-US" sz="1250" b="0" u="none" strike="noStrike">
              <a:solidFill>
                <a:srgbClr val="000000"/>
              </a:solidFill>
              <a:effectLst/>
              <a:uFillTx/>
              <a:latin typeface="Arial"/>
            </a:endParaRPr>
          </a:p>
        </p:txBody>
      </p:sp>
      <p:sp>
        <p:nvSpPr>
          <p:cNvPr id="222" name="Shape 43"/>
          <p:cNvSpPr/>
          <p:nvPr/>
        </p:nvSpPr>
        <p:spPr>
          <a:xfrm>
            <a:off x="6210000" y="4389120"/>
            <a:ext cx="2592720" cy="1599840"/>
          </a:xfrm>
          <a:prstGeom prst="roundRect">
            <a:avLst>
              <a:gd name="adj" fmla="val 4000"/>
            </a:avLst>
          </a:prstGeom>
          <a:solidFill>
            <a:srgbClr val="D7E7E7"/>
          </a:solidFill>
          <a:ln w="12700">
            <a:solidFill>
              <a:srgbClr val="D7E7E7"/>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23" name="Text 44"/>
          <p:cNvSpPr/>
          <p:nvPr/>
        </p:nvSpPr>
        <p:spPr>
          <a:xfrm>
            <a:off x="6411240" y="4535280"/>
            <a:ext cx="2190240" cy="3654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400" b="1" u="none" strike="noStrike">
                <a:solidFill>
                  <a:srgbClr val="16262E"/>
                </a:solidFill>
                <a:effectLst/>
                <a:uFillTx/>
                <a:latin typeface="Arial"/>
                <a:ea typeface="Arial"/>
              </a:rPr>
              <a:t>La receta escala</a:t>
            </a:r>
            <a:endParaRPr lang="en-US" sz="1400" b="0" u="none" strike="noStrike">
              <a:solidFill>
                <a:srgbClr val="000000"/>
              </a:solidFill>
              <a:effectLst/>
              <a:uFillTx/>
              <a:latin typeface="Arial"/>
            </a:endParaRPr>
          </a:p>
        </p:txBody>
      </p:sp>
      <p:sp>
        <p:nvSpPr>
          <p:cNvPr id="224" name="Text 45"/>
          <p:cNvSpPr/>
          <p:nvPr/>
        </p:nvSpPr>
        <p:spPr>
          <a:xfrm>
            <a:off x="6411240" y="4919400"/>
            <a:ext cx="2190240" cy="95976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250" b="0" u="none" strike="noStrike">
                <a:solidFill>
                  <a:srgbClr val="16262E"/>
                </a:solidFill>
                <a:effectLst/>
                <a:uFillTx/>
                <a:latin typeface="Calibri"/>
                <a:ea typeface="Calibri"/>
              </a:rPr>
              <a:t>Más texto y más parámetros dan mejor resultado sin cambiar el diseño. Por eso mejoran cada año.</a:t>
            </a:r>
            <a:endParaRPr lang="en-US" sz="1250" b="0" u="none" strike="noStrike">
              <a:solidFill>
                <a:srgbClr val="000000"/>
              </a:solidFill>
              <a:effectLst/>
              <a:uFillTx/>
              <a:latin typeface="Arial"/>
            </a:endParaRPr>
          </a:p>
        </p:txBody>
      </p:sp>
      <p:sp>
        <p:nvSpPr>
          <p:cNvPr id="225" name="Shape 46"/>
          <p:cNvSpPr/>
          <p:nvPr/>
        </p:nvSpPr>
        <p:spPr>
          <a:xfrm>
            <a:off x="9031680" y="4389120"/>
            <a:ext cx="2592720" cy="1599840"/>
          </a:xfrm>
          <a:prstGeom prst="roundRect">
            <a:avLst>
              <a:gd name="adj" fmla="val 4000"/>
            </a:avLst>
          </a:prstGeom>
          <a:solidFill>
            <a:srgbClr val="D7E7E7"/>
          </a:solidFill>
          <a:ln w="12700">
            <a:solidFill>
              <a:srgbClr val="D7E7E7"/>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26" name="Text 47"/>
          <p:cNvSpPr/>
          <p:nvPr/>
        </p:nvSpPr>
        <p:spPr>
          <a:xfrm>
            <a:off x="9232920" y="4535280"/>
            <a:ext cx="2190240" cy="3654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400" b="1" u="none" strike="noStrike">
                <a:solidFill>
                  <a:srgbClr val="16262E"/>
                </a:solidFill>
                <a:effectLst/>
                <a:uFillTx/>
                <a:latin typeface="Arial"/>
                <a:ea typeface="Arial"/>
              </a:rPr>
              <a:t>Pero tiene un límite</a:t>
            </a:r>
            <a:endParaRPr lang="en-US" sz="1400" b="0" u="none" strike="noStrike">
              <a:solidFill>
                <a:srgbClr val="000000"/>
              </a:solidFill>
              <a:effectLst/>
              <a:uFillTx/>
              <a:latin typeface="Arial"/>
            </a:endParaRPr>
          </a:p>
        </p:txBody>
      </p:sp>
      <p:sp>
        <p:nvSpPr>
          <p:cNvPr id="227" name="Text 48"/>
          <p:cNvSpPr/>
          <p:nvPr/>
        </p:nvSpPr>
        <p:spPr>
          <a:xfrm>
            <a:off x="9232920" y="4919400"/>
            <a:ext cx="2190240" cy="95976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250" b="0" u="none" strike="noStrike">
                <a:solidFill>
                  <a:srgbClr val="16262E"/>
                </a:solidFill>
                <a:effectLst/>
                <a:uFillTx/>
                <a:latin typeface="Calibri"/>
                <a:ea typeface="Calibri"/>
              </a:rPr>
              <a:t>La atención se calcula sobre una cantidad fija de texto. Lo que queda fuera, no lo ve. Volvemos a esto más tarde.</a:t>
            </a:r>
            <a:endParaRPr lang="en-US" sz="12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6262E"/>
        </a:solidFill>
      </p:bgPr>
    </p:bg>
    <p:spTree>
      <p:nvGrpSpPr>
        <p:cNvPr id="1" name=""/>
        <p:cNvGrpSpPr/>
        <p:nvPr/>
      </p:nvGrpSpPr>
      <p:grpSpPr>
        <a:xfrm>
          <a:off x="0" y="0"/>
          <a:ext cx="0" cy="0"/>
          <a:chOff x="0" y="0"/>
          <a:chExt cx="0" cy="0"/>
        </a:xfrm>
      </p:grpSpPr>
      <p:sp>
        <p:nvSpPr>
          <p:cNvPr id="228" name="Shape 0"/>
          <p:cNvSpPr/>
          <p:nvPr/>
        </p:nvSpPr>
        <p:spPr>
          <a:xfrm>
            <a:off x="10058400" y="-1463040"/>
            <a:ext cx="4023000" cy="4023000"/>
          </a:xfrm>
          <a:prstGeom prst="ellipse">
            <a:avLst/>
          </a:prstGeom>
          <a:solidFill>
            <a:srgbClr val="24404E"/>
          </a:solidFill>
          <a:ln w="12700">
            <a:solidFill>
              <a:srgbClr val="24404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29" name="Text 1"/>
          <p:cNvSpPr/>
          <p:nvPr/>
        </p:nvSpPr>
        <p:spPr>
          <a:xfrm>
            <a:off x="932760" y="1371600"/>
            <a:ext cx="1042380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pc="201" strike="noStrike">
                <a:solidFill>
                  <a:srgbClr val="C85A28"/>
                </a:solidFill>
                <a:effectLst/>
                <a:uFillTx/>
                <a:latin typeface="Calibri"/>
                <a:ea typeface="Calibri"/>
              </a:rPr>
              <a:t>Y PARA QUÉ SE ENTRENÓ TODO ESO</a:t>
            </a:r>
            <a:endParaRPr lang="en-US" sz="1400" b="0" u="none" strike="noStrike">
              <a:solidFill>
                <a:srgbClr val="FFFFFF"/>
              </a:solidFill>
              <a:effectLst/>
              <a:uFillTx/>
              <a:latin typeface="Arial"/>
            </a:endParaRPr>
          </a:p>
        </p:txBody>
      </p:sp>
      <p:sp>
        <p:nvSpPr>
          <p:cNvPr id="230" name="Text 2"/>
          <p:cNvSpPr/>
          <p:nvPr/>
        </p:nvSpPr>
        <p:spPr>
          <a:xfrm>
            <a:off x="932760" y="1828800"/>
            <a:ext cx="10240920" cy="2377080"/>
          </a:xfrm>
          <a:prstGeom prst="rect">
            <a:avLst/>
          </a:prstGeom>
          <a:noFill/>
          <a:ln w="0">
            <a:noFill/>
          </a:ln>
        </p:spPr>
        <p:style>
          <a:lnRef idx="0"/>
          <a:fillRef idx="0"/>
          <a:effectRef idx="0"/>
          <a:fontRef idx="minor"/>
        </p:style>
        <p:txBody>
          <a:bodyPr lIns="0" tIns="0" rIns="0" bIns="0" anchor="t">
            <a:noAutofit/>
          </a:bodyPr>
          <a:p>
            <a:pPr defTabSz="914400">
              <a:lnSpc>
                <a:spcPct val="112000"/>
              </a:lnSpc>
              <a:tabLst>
                <a:tab pos="0" algn="l"/>
              </a:tabLst>
            </a:pPr>
            <a:r>
              <a:rPr lang="en-US" sz="3000" b="1" u="none" strike="noStrike">
                <a:solidFill>
                  <a:srgbClr val="FFFFFF"/>
                </a:solidFill>
                <a:effectLst/>
                <a:uFillTx/>
                <a:latin typeface="Arial"/>
                <a:ea typeface="Arial"/>
              </a:rPr>
              <a:t>Un modelo de lenguaje predice cuál es la siguiente palabra más probable, a partir de todo lo que ya vio.</a:t>
            </a:r>
            <a:endParaRPr lang="en-US" sz="3000" b="0" u="none" strike="noStrike">
              <a:solidFill>
                <a:srgbClr val="FFFFFF"/>
              </a:solidFill>
              <a:effectLst/>
              <a:uFillTx/>
              <a:latin typeface="Arial"/>
            </a:endParaRPr>
          </a:p>
        </p:txBody>
      </p:sp>
      <p:sp>
        <p:nvSpPr>
          <p:cNvPr id="231" name="Text 3"/>
          <p:cNvSpPr/>
          <p:nvPr/>
        </p:nvSpPr>
        <p:spPr>
          <a:xfrm>
            <a:off x="932760" y="4343400"/>
            <a:ext cx="10058040" cy="1371240"/>
          </a:xfrm>
          <a:prstGeom prst="rect">
            <a:avLst/>
          </a:prstGeom>
          <a:noFill/>
          <a:ln w="0">
            <a:noFill/>
          </a:ln>
        </p:spPr>
        <p:style>
          <a:lnRef idx="0"/>
          <a:fillRef idx="0"/>
          <a:effectRef idx="0"/>
          <a:fontRef idx="minor"/>
        </p:style>
        <p:txBody>
          <a:bodyPr lIns="0" tIns="0" rIns="0" bIns="0" anchor="t">
            <a:noAutofit/>
          </a:bodyPr>
          <a:p>
            <a:pPr defTabSz="914400">
              <a:lnSpc>
                <a:spcPct val="115000"/>
              </a:lnSpc>
              <a:tabLst>
                <a:tab pos="0" algn="l"/>
              </a:tabLst>
            </a:pPr>
            <a:r>
              <a:rPr lang="en-US" sz="1600" b="0" u="none" strike="noStrike">
                <a:solidFill>
                  <a:srgbClr val="D7E7E7"/>
                </a:solidFill>
                <a:effectLst/>
                <a:uFillTx/>
                <a:latin typeface="Calibri"/>
                <a:ea typeface="Calibri"/>
              </a:rPr>
              <a:t>De ahí salen sus virtudes y sus defectos. Es muy bueno produciendo texto que suena correcto, porque eso es exactamente lo que hace. No tiene forma de saber si además es cierto.</a:t>
            </a:r>
            <a:endParaRPr lang="en-US" sz="16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2" name="Text 0"/>
          <p:cNvSpPr/>
          <p:nvPr/>
        </p:nvSpPr>
        <p:spPr>
          <a:xfrm>
            <a:off x="567000" y="402480"/>
            <a:ext cx="9228600" cy="7495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3200" b="1" u="none" strike="noStrike">
                <a:solidFill>
                  <a:srgbClr val="16262E"/>
                </a:solidFill>
                <a:effectLst/>
                <a:uFillTx/>
                <a:latin typeface="Arial"/>
                <a:ea typeface="Arial"/>
              </a:rPr>
              <a:t>Dos palabras que no significan lo mismo</a:t>
            </a:r>
            <a:endParaRPr lang="en-US" sz="3200" b="0" u="none" strike="noStrike">
              <a:solidFill>
                <a:srgbClr val="000000"/>
              </a:solidFill>
              <a:effectLst/>
              <a:uFillTx/>
              <a:latin typeface="Arial"/>
            </a:endParaRPr>
          </a:p>
        </p:txBody>
      </p:sp>
      <p:sp>
        <p:nvSpPr>
          <p:cNvPr id="233" name="Text 1"/>
          <p:cNvSpPr/>
          <p:nvPr/>
        </p:nvSpPr>
        <p:spPr>
          <a:xfrm>
            <a:off x="567000" y="1280160"/>
            <a:ext cx="9960120" cy="3654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500" b="0" u="none" strike="noStrike">
                <a:solidFill>
                  <a:srgbClr val="5A6B73"/>
                </a:solidFill>
                <a:effectLst/>
                <a:uFillTx/>
                <a:latin typeface="Calibri"/>
                <a:ea typeface="Calibri"/>
              </a:rPr>
              <a:t>Las vas a oír todo el curso. Conviene separarlas desde hoy, porque se gobiernan distinto.</a:t>
            </a:r>
            <a:endParaRPr lang="en-US" sz="1500" b="0" u="none" strike="noStrike">
              <a:solidFill>
                <a:srgbClr val="000000"/>
              </a:solidFill>
              <a:effectLst/>
              <a:uFillTx/>
              <a:latin typeface="Arial"/>
            </a:endParaRPr>
          </a:p>
        </p:txBody>
      </p:sp>
      <p:sp>
        <p:nvSpPr>
          <p:cNvPr id="234" name="Shape 2"/>
          <p:cNvSpPr/>
          <p:nvPr/>
        </p:nvSpPr>
        <p:spPr>
          <a:xfrm>
            <a:off x="567000" y="1810440"/>
            <a:ext cx="5364000" cy="3218760"/>
          </a:xfrm>
          <a:prstGeom prst="roundRect">
            <a:avLst>
              <a:gd name="adj" fmla="val 2512"/>
            </a:avLst>
          </a:prstGeom>
          <a:solidFill>
            <a:srgbClr val="F7E4D8"/>
          </a:solidFill>
          <a:ln w="12700">
            <a:solidFill>
              <a:srgbClr val="F7E4D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35" name="Shape 3"/>
          <p:cNvSpPr/>
          <p:nvPr/>
        </p:nvSpPr>
        <p:spPr>
          <a:xfrm>
            <a:off x="567000" y="1810440"/>
            <a:ext cx="5364000" cy="658080"/>
          </a:xfrm>
          <a:prstGeom prst="roundRect">
            <a:avLst>
              <a:gd name="adj" fmla="val 11111"/>
            </a:avLst>
          </a:prstGeom>
          <a:solidFill>
            <a:srgbClr val="C85A28"/>
          </a:solidFill>
          <a:ln w="12700">
            <a:solidFill>
              <a:srgbClr val="C85A2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36" name="Shape 4"/>
          <p:cNvSpPr/>
          <p:nvPr/>
        </p:nvSpPr>
        <p:spPr>
          <a:xfrm>
            <a:off x="567000" y="2176200"/>
            <a:ext cx="5364000" cy="292320"/>
          </a:xfrm>
          <a:prstGeom prst="rect">
            <a:avLst/>
          </a:prstGeom>
          <a:solidFill>
            <a:srgbClr val="C85A28"/>
          </a:solidFill>
          <a:ln w="12700">
            <a:solidFill>
              <a:srgbClr val="C85A2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37" name="Text 5"/>
          <p:cNvSpPr/>
          <p:nvPr/>
        </p:nvSpPr>
        <p:spPr>
          <a:xfrm>
            <a:off x="822960" y="1810440"/>
            <a:ext cx="4852080" cy="6580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FFFFFF"/>
                </a:solidFill>
                <a:effectLst/>
                <a:uFillTx/>
                <a:latin typeface="Arial"/>
                <a:ea typeface="Arial"/>
              </a:rPr>
              <a:t>El modelo</a:t>
            </a:r>
            <a:endParaRPr lang="en-US" sz="1700" b="0" u="none" strike="noStrike">
              <a:solidFill>
                <a:srgbClr val="000000"/>
              </a:solidFill>
              <a:effectLst/>
              <a:uFillTx/>
              <a:latin typeface="Arial"/>
            </a:endParaRPr>
          </a:p>
        </p:txBody>
      </p:sp>
      <p:sp>
        <p:nvSpPr>
          <p:cNvPr id="238" name="Text 6"/>
          <p:cNvSpPr/>
          <p:nvPr/>
        </p:nvSpPr>
        <p:spPr>
          <a:xfrm>
            <a:off x="822960" y="2679120"/>
            <a:ext cx="4852080" cy="1814760"/>
          </a:xfrm>
          <a:prstGeom prst="rect">
            <a:avLst/>
          </a:prstGeom>
          <a:noFill/>
          <a:ln w="0">
            <a:noFill/>
          </a:ln>
        </p:spPr>
        <p:style>
          <a:lnRef idx="0"/>
          <a:fillRef idx="0"/>
          <a:effectRef idx="0"/>
          <a:fontRef idx="minor"/>
        </p:style>
        <p:txBody>
          <a:bodyPr lIns="0" tIns="0" rIns="0" bIns="0" anchor="t">
            <a:noAutofit/>
          </a:bodyPr>
          <a:p>
            <a:pPr defTabSz="914400">
              <a:lnSpc>
                <a:spcPct val="115000"/>
              </a:lnSpc>
              <a:spcAft>
                <a:spcPts val="601"/>
              </a:spcAft>
              <a:tabLst>
                <a:tab pos="0" algn="l"/>
              </a:tabLst>
            </a:pPr>
            <a:r>
              <a:rPr lang="en-US" sz="1400" b="0" u="none" strike="noStrike">
                <a:solidFill>
                  <a:srgbClr val="16262E"/>
                </a:solidFill>
                <a:effectLst/>
                <a:uFillTx/>
                <a:latin typeface="Calibri"/>
                <a:ea typeface="Calibri"/>
              </a:rPr>
              <a:t>Es lo que predice palabras. Vive por debajo, no lo ves.</a:t>
            </a:r>
            <a:endParaRPr lang="en-US" sz="1400" b="0" u="none" strike="noStrike">
              <a:solidFill>
                <a:srgbClr val="000000"/>
              </a:solidFill>
              <a:effectLst/>
              <a:uFillTx/>
              <a:latin typeface="Arial"/>
            </a:endParaRPr>
          </a:p>
          <a:p>
            <a:pPr defTabSz="914400">
              <a:lnSpc>
                <a:spcPct val="115000"/>
              </a:lnSpc>
              <a:spcAft>
                <a:spcPts val="601"/>
              </a:spcAft>
              <a:tabLst>
                <a:tab pos="0" algn="l"/>
              </a:tabLst>
            </a:pPr>
            <a:r>
              <a:rPr lang="en-US" sz="1400" b="0" u="none" strike="noStrike">
                <a:solidFill>
                  <a:srgbClr val="16262E"/>
                </a:solidFill>
                <a:effectLst/>
                <a:uFillTx/>
                <a:latin typeface="Calibri"/>
                <a:ea typeface="Calibri"/>
              </a:rPr>
              <a:t>Es lo que inventa referencias, lo que no calcula y lo que trae sesgos.</a:t>
            </a:r>
            <a:endParaRPr lang="en-US" sz="1400" b="0" u="none" strike="noStrike">
              <a:solidFill>
                <a:srgbClr val="000000"/>
              </a:solidFill>
              <a:effectLst/>
              <a:uFillTx/>
              <a:latin typeface="Arial"/>
            </a:endParaRPr>
          </a:p>
          <a:p>
            <a:pPr defTabSz="914400">
              <a:lnSpc>
                <a:spcPct val="115000"/>
              </a:lnSpc>
              <a:spcAft>
                <a:spcPts val="601"/>
              </a:spcAft>
              <a:tabLst>
                <a:tab pos="0" algn="l"/>
              </a:tabLst>
            </a:pPr>
            <a:r>
              <a:rPr lang="en-US" sz="1400" b="0" u="none" strike="noStrike">
                <a:solidFill>
                  <a:srgbClr val="16262E"/>
                </a:solidFill>
                <a:effectLst/>
                <a:uFillTx/>
                <a:latin typeface="Calibri"/>
                <a:ea typeface="Calibri"/>
              </a:rPr>
              <a:t>Tiene un límite de cuánto texto puede leer de una vez.</a:t>
            </a:r>
            <a:endParaRPr lang="en-US" sz="1400" b="0" u="none" strike="noStrike">
              <a:solidFill>
                <a:srgbClr val="000000"/>
              </a:solidFill>
              <a:effectLst/>
              <a:uFillTx/>
              <a:latin typeface="Arial"/>
            </a:endParaRPr>
          </a:p>
          <a:p>
            <a:pPr defTabSz="914400">
              <a:lnSpc>
                <a:spcPct val="115000"/>
              </a:lnSpc>
              <a:spcAft>
                <a:spcPts val="601"/>
              </a:spcAft>
              <a:tabLst>
                <a:tab pos="0" algn="l"/>
              </a:tabLst>
            </a:pPr>
            <a:r>
              <a:rPr lang="en-US" sz="1400" b="0" u="none" strike="noStrike">
                <a:solidFill>
                  <a:srgbClr val="16262E"/>
                </a:solidFill>
                <a:effectLst/>
                <a:uFillTx/>
                <a:latin typeface="Calibri"/>
                <a:ea typeface="Calibri"/>
              </a:rPr>
              <a:t>Cuando hablemos de lo que falla, vamos a decir el modelo.</a:t>
            </a:r>
            <a:endParaRPr lang="en-US" sz="1400" b="0" u="none" strike="noStrike">
              <a:solidFill>
                <a:srgbClr val="000000"/>
              </a:solidFill>
              <a:effectLst/>
              <a:uFillTx/>
              <a:latin typeface="Arial"/>
            </a:endParaRPr>
          </a:p>
        </p:txBody>
      </p:sp>
      <p:sp>
        <p:nvSpPr>
          <p:cNvPr id="239" name="Shape 7"/>
          <p:cNvSpPr/>
          <p:nvPr/>
        </p:nvSpPr>
        <p:spPr>
          <a:xfrm>
            <a:off x="6260400" y="1810440"/>
            <a:ext cx="5364000" cy="3218760"/>
          </a:xfrm>
          <a:prstGeom prst="roundRect">
            <a:avLst>
              <a:gd name="adj" fmla="val 2512"/>
            </a:avLst>
          </a:prstGeom>
          <a:solidFill>
            <a:srgbClr val="D7E7E7"/>
          </a:solidFill>
          <a:ln w="12700">
            <a:solidFill>
              <a:srgbClr val="D7E7E7"/>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40" name="Shape 8"/>
          <p:cNvSpPr/>
          <p:nvPr/>
        </p:nvSpPr>
        <p:spPr>
          <a:xfrm>
            <a:off x="6260400" y="1810440"/>
            <a:ext cx="5364000" cy="658080"/>
          </a:xfrm>
          <a:prstGeom prst="roundRect">
            <a:avLst>
              <a:gd name="adj" fmla="val 11111"/>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41" name="Shape 9"/>
          <p:cNvSpPr/>
          <p:nvPr/>
        </p:nvSpPr>
        <p:spPr>
          <a:xfrm>
            <a:off x="6260400" y="2176200"/>
            <a:ext cx="5364000" cy="292320"/>
          </a:xfrm>
          <a:prstGeom prst="rect">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42" name="Text 10"/>
          <p:cNvSpPr/>
          <p:nvPr/>
        </p:nvSpPr>
        <p:spPr>
          <a:xfrm>
            <a:off x="6516360" y="1810440"/>
            <a:ext cx="4852080" cy="6580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FFFFFF"/>
                </a:solidFill>
                <a:effectLst/>
                <a:uFillTx/>
                <a:latin typeface="Arial"/>
                <a:ea typeface="Arial"/>
              </a:rPr>
              <a:t>La herramienta</a:t>
            </a:r>
            <a:endParaRPr lang="en-US" sz="1700" b="0" u="none" strike="noStrike">
              <a:solidFill>
                <a:srgbClr val="000000"/>
              </a:solidFill>
              <a:effectLst/>
              <a:uFillTx/>
              <a:latin typeface="Arial"/>
            </a:endParaRPr>
          </a:p>
        </p:txBody>
      </p:sp>
      <p:sp>
        <p:nvSpPr>
          <p:cNvPr id="243" name="Text 11"/>
          <p:cNvSpPr/>
          <p:nvPr/>
        </p:nvSpPr>
        <p:spPr>
          <a:xfrm>
            <a:off x="6516360" y="2679120"/>
            <a:ext cx="4852080" cy="1814760"/>
          </a:xfrm>
          <a:prstGeom prst="rect">
            <a:avLst/>
          </a:prstGeom>
          <a:noFill/>
          <a:ln w="0">
            <a:noFill/>
          </a:ln>
        </p:spPr>
        <p:style>
          <a:lnRef idx="0"/>
          <a:fillRef idx="0"/>
          <a:effectRef idx="0"/>
          <a:fontRef idx="minor"/>
        </p:style>
        <p:txBody>
          <a:bodyPr lIns="0" tIns="0" rIns="0" bIns="0" anchor="t">
            <a:noAutofit/>
          </a:bodyPr>
          <a:p>
            <a:pPr defTabSz="914400">
              <a:lnSpc>
                <a:spcPct val="115000"/>
              </a:lnSpc>
              <a:spcAft>
                <a:spcPts val="601"/>
              </a:spcAft>
              <a:tabLst>
                <a:tab pos="0" algn="l"/>
              </a:tabLst>
            </a:pPr>
            <a:r>
              <a:rPr lang="en-US" sz="1400" b="0" u="none" strike="noStrike">
                <a:solidFill>
                  <a:srgbClr val="16262E"/>
                </a:solidFill>
                <a:effectLst/>
                <a:uFillTx/>
                <a:latin typeface="Calibri"/>
                <a:ea typeface="Calibri"/>
              </a:rPr>
              <a:t>Es el producto que abres: Copilot, ChatGPT, Claude, Gemini.</a:t>
            </a:r>
            <a:endParaRPr lang="en-US" sz="1400" b="0" u="none" strike="noStrike">
              <a:solidFill>
                <a:srgbClr val="000000"/>
              </a:solidFill>
              <a:effectLst/>
              <a:uFillTx/>
              <a:latin typeface="Arial"/>
            </a:endParaRPr>
          </a:p>
          <a:p>
            <a:pPr defTabSz="914400">
              <a:lnSpc>
                <a:spcPct val="115000"/>
              </a:lnSpc>
              <a:spcAft>
                <a:spcPts val="601"/>
              </a:spcAft>
              <a:tabLst>
                <a:tab pos="0" algn="l"/>
              </a:tabLst>
            </a:pPr>
            <a:r>
              <a:rPr lang="en-US" sz="1400" b="0" u="none" strike="noStrike">
                <a:solidFill>
                  <a:srgbClr val="16262E"/>
                </a:solidFill>
                <a:effectLst/>
                <a:uFillTx/>
                <a:latin typeface="Calibri"/>
                <a:ea typeface="Calibri"/>
              </a:rPr>
              <a:t>Tiene un contrato, o no lo tiene. Tiene una configuración de privacidad. Tiene un precio.</a:t>
            </a:r>
            <a:endParaRPr lang="en-US" sz="1400" b="0" u="none" strike="noStrike">
              <a:solidFill>
                <a:srgbClr val="000000"/>
              </a:solidFill>
              <a:effectLst/>
              <a:uFillTx/>
              <a:latin typeface="Arial"/>
            </a:endParaRPr>
          </a:p>
          <a:p>
            <a:pPr defTabSz="914400">
              <a:lnSpc>
                <a:spcPct val="115000"/>
              </a:lnSpc>
              <a:spcAft>
                <a:spcPts val="601"/>
              </a:spcAft>
              <a:tabLst>
                <a:tab pos="0" algn="l"/>
              </a:tabLst>
            </a:pPr>
            <a:r>
              <a:rPr lang="en-US" sz="1400" b="0" u="none" strike="noStrike">
                <a:solidFill>
                  <a:srgbClr val="16262E"/>
                </a:solidFill>
                <a:effectLst/>
                <a:uFillTx/>
                <a:latin typeface="Calibri"/>
                <a:ea typeface="Calibri"/>
              </a:rPr>
              <a:t>Varias herramientas distintas pueden usar el mismo modelo por debajo.</a:t>
            </a:r>
            <a:endParaRPr lang="en-US" sz="1400" b="0" u="none" strike="noStrike">
              <a:solidFill>
                <a:srgbClr val="000000"/>
              </a:solidFill>
              <a:effectLst/>
              <a:uFillTx/>
              <a:latin typeface="Arial"/>
            </a:endParaRPr>
          </a:p>
          <a:p>
            <a:pPr defTabSz="914400">
              <a:lnSpc>
                <a:spcPct val="115000"/>
              </a:lnSpc>
              <a:spcAft>
                <a:spcPts val="601"/>
              </a:spcAft>
              <a:tabLst>
                <a:tab pos="0" algn="l"/>
              </a:tabLst>
            </a:pPr>
            <a:r>
              <a:rPr lang="en-US" sz="1400" b="0" u="none" strike="noStrike">
                <a:solidFill>
                  <a:srgbClr val="16262E"/>
                </a:solidFill>
                <a:effectLst/>
                <a:uFillTx/>
                <a:latin typeface="Calibri"/>
                <a:ea typeface="Calibri"/>
              </a:rPr>
              <a:t>Cuando hablemos de dónde puedes meter información, vamos a decir la herramienta.</a:t>
            </a:r>
            <a:endParaRPr lang="en-US" sz="1400" b="0" u="none" strike="noStrike">
              <a:solidFill>
                <a:srgbClr val="000000"/>
              </a:solidFill>
              <a:effectLst/>
              <a:uFillTx/>
              <a:latin typeface="Arial"/>
            </a:endParaRPr>
          </a:p>
        </p:txBody>
      </p:sp>
      <p:sp>
        <p:nvSpPr>
          <p:cNvPr id="244" name="Text 12"/>
          <p:cNvSpPr/>
          <p:nvPr/>
        </p:nvSpPr>
        <p:spPr>
          <a:xfrm>
            <a:off x="567000" y="6327720"/>
            <a:ext cx="11057400" cy="292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00" b="0" u="none" strike="noStrike">
                <a:solidFill>
                  <a:srgbClr val="5A6B73"/>
                </a:solidFill>
                <a:effectLst/>
                <a:uFillTx/>
                <a:latin typeface="Calibri"/>
                <a:ea typeface="Calibri"/>
              </a:rPr>
              <a:t>Que una herramienta sea segura no vuelve confiable lo que escribe el modelo. Son dos preguntas separadas y las dos hay que contestarlas.</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5" name="Text 0"/>
          <p:cNvSpPr/>
          <p:nvPr/>
        </p:nvSpPr>
        <p:spPr>
          <a:xfrm>
            <a:off x="567000" y="402480"/>
            <a:ext cx="9228600" cy="7495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3200" b="1" u="none" strike="noStrike">
                <a:solidFill>
                  <a:srgbClr val="16262E"/>
                </a:solidFill>
                <a:effectLst/>
                <a:uFillTx/>
                <a:latin typeface="Arial"/>
                <a:ea typeface="Arial"/>
              </a:rPr>
              <a:t>Tres demostraciones y tres lecciones</a:t>
            </a:r>
            <a:endParaRPr lang="en-US" sz="3200" b="0" u="none" strike="noStrike">
              <a:solidFill>
                <a:srgbClr val="000000"/>
              </a:solidFill>
              <a:effectLst/>
              <a:uFillTx/>
              <a:latin typeface="Arial"/>
            </a:endParaRPr>
          </a:p>
        </p:txBody>
      </p:sp>
      <p:sp>
        <p:nvSpPr>
          <p:cNvPr id="246" name="Text 1"/>
          <p:cNvSpPr/>
          <p:nvPr/>
        </p:nvSpPr>
        <p:spPr>
          <a:xfrm>
            <a:off x="567000" y="1280160"/>
            <a:ext cx="9960120" cy="3654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500" b="0" u="none" strike="noStrike">
                <a:solidFill>
                  <a:srgbClr val="5A6B73"/>
                </a:solidFill>
                <a:effectLst/>
                <a:uFillTx/>
                <a:latin typeface="Calibri"/>
                <a:ea typeface="Calibri"/>
              </a:rPr>
              <a:t>Las hacemos en vivo ahora mismo. Anota la lección, no la demostración.</a:t>
            </a:r>
            <a:endParaRPr lang="en-US" sz="1500" b="0" u="none" strike="noStrike">
              <a:solidFill>
                <a:srgbClr val="000000"/>
              </a:solidFill>
              <a:effectLst/>
              <a:uFillTx/>
              <a:latin typeface="Arial"/>
            </a:endParaRPr>
          </a:p>
        </p:txBody>
      </p:sp>
      <p:sp>
        <p:nvSpPr>
          <p:cNvPr id="247" name="Shape 2"/>
          <p:cNvSpPr/>
          <p:nvPr/>
        </p:nvSpPr>
        <p:spPr>
          <a:xfrm>
            <a:off x="567000" y="2011680"/>
            <a:ext cx="3502800" cy="3071160"/>
          </a:xfrm>
          <a:prstGeom prst="roundRect">
            <a:avLst>
              <a:gd name="adj" fmla="val 2382"/>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48" name="Shape 3"/>
          <p:cNvSpPr/>
          <p:nvPr/>
        </p:nvSpPr>
        <p:spPr>
          <a:xfrm>
            <a:off x="804600" y="2231280"/>
            <a:ext cx="420120" cy="420120"/>
          </a:xfrm>
          <a:prstGeom prst="ellipse">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49" name="Text 4"/>
          <p:cNvSpPr/>
          <p:nvPr/>
        </p:nvSpPr>
        <p:spPr>
          <a:xfrm>
            <a:off x="804600" y="2231280"/>
            <a:ext cx="420120" cy="420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1</a:t>
            </a:r>
            <a:endParaRPr lang="en-US" sz="1400" b="0" u="none" strike="noStrike">
              <a:solidFill>
                <a:srgbClr val="000000"/>
              </a:solidFill>
              <a:effectLst/>
              <a:uFillTx/>
              <a:latin typeface="Arial"/>
            </a:endParaRPr>
          </a:p>
        </p:txBody>
      </p:sp>
      <p:sp>
        <p:nvSpPr>
          <p:cNvPr id="250" name="Text 5"/>
          <p:cNvSpPr/>
          <p:nvPr/>
        </p:nvSpPr>
        <p:spPr>
          <a:xfrm>
            <a:off x="804600" y="2797920"/>
            <a:ext cx="3027240" cy="3186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600" b="1" u="none" strike="noStrike">
                <a:solidFill>
                  <a:srgbClr val="16262E"/>
                </a:solidFill>
                <a:effectLst/>
                <a:uFillTx/>
                <a:latin typeface="Arial"/>
                <a:ea typeface="Arial"/>
              </a:rPr>
              <a:t>El mismo prompt, 2 veces</a:t>
            </a:r>
            <a:endParaRPr lang="en-US" sz="1600" b="0" u="none" strike="noStrike">
              <a:solidFill>
                <a:srgbClr val="000000"/>
              </a:solidFill>
              <a:effectLst/>
              <a:uFillTx/>
              <a:latin typeface="Arial"/>
            </a:endParaRPr>
          </a:p>
        </p:txBody>
      </p:sp>
      <p:sp>
        <p:nvSpPr>
          <p:cNvPr id="251" name="Text 6"/>
          <p:cNvSpPr/>
          <p:nvPr/>
        </p:nvSpPr>
        <p:spPr>
          <a:xfrm>
            <a:off x="804600" y="3263400"/>
            <a:ext cx="3027240" cy="161856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300" b="0" u="none" strike="noStrike">
                <a:solidFill>
                  <a:srgbClr val="16262E"/>
                </a:solidFill>
                <a:effectLst/>
                <a:uFillTx/>
                <a:latin typeface="Calibri"/>
                <a:ea typeface="Calibri"/>
              </a:rPr>
              <a:t>Salen 2 respuestas distintas.</a:t>
            </a:r>
            <a:endParaRPr lang="en-US" sz="1300" b="0" u="none" strike="noStrike">
              <a:solidFill>
                <a:srgbClr val="000000"/>
              </a:solidFill>
              <a:effectLst/>
              <a:uFillTx/>
              <a:latin typeface="Arial"/>
            </a:endParaRPr>
          </a:p>
          <a:p>
            <a:pPr defTabSz="914400">
              <a:lnSpc>
                <a:spcPct val="110000"/>
              </a:lnSpc>
              <a:tabLst>
                <a:tab pos="0" algn="l"/>
              </a:tabLst>
            </a:pPr>
            <a:endParaRPr lang="en-US" sz="1300" b="0" u="none" strike="noStrike">
              <a:solidFill>
                <a:srgbClr val="000000"/>
              </a:solidFill>
              <a:effectLst/>
              <a:uFillTx/>
              <a:latin typeface="Arial"/>
            </a:endParaRPr>
          </a:p>
          <a:p>
            <a:pPr defTabSz="914400">
              <a:lnSpc>
                <a:spcPct val="110000"/>
              </a:lnSpc>
              <a:tabLst>
                <a:tab pos="0" algn="l"/>
              </a:tabLst>
            </a:pPr>
            <a:r>
              <a:rPr lang="en-US" sz="1300" b="0" u="none" strike="noStrike">
                <a:solidFill>
                  <a:srgbClr val="16262E"/>
                </a:solidFill>
                <a:effectLst/>
                <a:uFillTx/>
                <a:latin typeface="Calibri"/>
                <a:ea typeface="Calibri"/>
              </a:rPr>
              <a:t>Lección: el modelo no repite. No puedes reproducir un resultado solo con volver a preguntar. Por eso llevas bitácora.</a:t>
            </a:r>
            <a:endParaRPr lang="en-US" sz="1300" b="0" u="none" strike="noStrike">
              <a:solidFill>
                <a:srgbClr val="000000"/>
              </a:solidFill>
              <a:effectLst/>
              <a:uFillTx/>
              <a:latin typeface="Arial"/>
            </a:endParaRPr>
          </a:p>
        </p:txBody>
      </p:sp>
      <p:sp>
        <p:nvSpPr>
          <p:cNvPr id="252" name="Shape 7"/>
          <p:cNvSpPr/>
          <p:nvPr/>
        </p:nvSpPr>
        <p:spPr>
          <a:xfrm>
            <a:off x="4344480" y="2011680"/>
            <a:ext cx="3502800" cy="3071160"/>
          </a:xfrm>
          <a:prstGeom prst="roundRect">
            <a:avLst>
              <a:gd name="adj" fmla="val 2382"/>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53" name="Shape 8"/>
          <p:cNvSpPr/>
          <p:nvPr/>
        </p:nvSpPr>
        <p:spPr>
          <a:xfrm>
            <a:off x="4582080" y="2231280"/>
            <a:ext cx="420120" cy="420120"/>
          </a:xfrm>
          <a:prstGeom prst="ellipse">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54" name="Text 9"/>
          <p:cNvSpPr/>
          <p:nvPr/>
        </p:nvSpPr>
        <p:spPr>
          <a:xfrm>
            <a:off x="4582080" y="2231280"/>
            <a:ext cx="420120" cy="420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2</a:t>
            </a:r>
            <a:endParaRPr lang="en-US" sz="1400" b="0" u="none" strike="noStrike">
              <a:solidFill>
                <a:srgbClr val="000000"/>
              </a:solidFill>
              <a:effectLst/>
              <a:uFillTx/>
              <a:latin typeface="Arial"/>
            </a:endParaRPr>
          </a:p>
        </p:txBody>
      </p:sp>
      <p:sp>
        <p:nvSpPr>
          <p:cNvPr id="255" name="Text 10"/>
          <p:cNvSpPr/>
          <p:nvPr/>
        </p:nvSpPr>
        <p:spPr>
          <a:xfrm>
            <a:off x="4582080" y="2797920"/>
            <a:ext cx="3027240" cy="3186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600" b="1" u="none" strike="noStrike">
                <a:solidFill>
                  <a:srgbClr val="16262E"/>
                </a:solidFill>
                <a:effectLst/>
                <a:uFillTx/>
                <a:latin typeface="Arial"/>
                <a:ea typeface="Arial"/>
              </a:rPr>
              <a:t>Una cuenta con varias cifras</a:t>
            </a:r>
            <a:endParaRPr lang="en-US" sz="1600" b="0" u="none" strike="noStrike">
              <a:solidFill>
                <a:srgbClr val="000000"/>
              </a:solidFill>
              <a:effectLst/>
              <a:uFillTx/>
              <a:latin typeface="Arial"/>
            </a:endParaRPr>
          </a:p>
        </p:txBody>
      </p:sp>
      <p:sp>
        <p:nvSpPr>
          <p:cNvPr id="256" name="Text 11"/>
          <p:cNvSpPr/>
          <p:nvPr/>
        </p:nvSpPr>
        <p:spPr>
          <a:xfrm>
            <a:off x="4582080" y="3263400"/>
            <a:ext cx="3027240" cy="161856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300" b="0" u="none" strike="noStrike">
                <a:solidFill>
                  <a:srgbClr val="16262E"/>
                </a:solidFill>
                <a:effectLst/>
                <a:uFillTx/>
                <a:latin typeface="Calibri"/>
                <a:ea typeface="Calibri"/>
              </a:rPr>
              <a:t>La comprobamos en Excel y no cuadra.</a:t>
            </a:r>
            <a:endParaRPr lang="en-US" sz="1300" b="0" u="none" strike="noStrike">
              <a:solidFill>
                <a:srgbClr val="000000"/>
              </a:solidFill>
              <a:effectLst/>
              <a:uFillTx/>
              <a:latin typeface="Arial"/>
            </a:endParaRPr>
          </a:p>
          <a:p>
            <a:pPr defTabSz="914400">
              <a:lnSpc>
                <a:spcPct val="110000"/>
              </a:lnSpc>
              <a:tabLst>
                <a:tab pos="0" algn="l"/>
              </a:tabLst>
            </a:pPr>
            <a:endParaRPr lang="en-US" sz="1300" b="0" u="none" strike="noStrike">
              <a:solidFill>
                <a:srgbClr val="000000"/>
              </a:solidFill>
              <a:effectLst/>
              <a:uFillTx/>
              <a:latin typeface="Arial"/>
            </a:endParaRPr>
          </a:p>
          <a:p>
            <a:pPr defTabSz="914400">
              <a:lnSpc>
                <a:spcPct val="110000"/>
              </a:lnSpc>
              <a:tabLst>
                <a:tab pos="0" algn="l"/>
              </a:tabLst>
            </a:pPr>
            <a:r>
              <a:rPr lang="en-US" sz="1300" b="0" u="none" strike="noStrike">
                <a:solidFill>
                  <a:srgbClr val="16262E"/>
                </a:solidFill>
                <a:effectLst/>
                <a:uFillTx/>
                <a:latin typeface="Calibri"/>
                <a:ea typeface="Calibri"/>
              </a:rPr>
              <a:t>Lección: el modelo no calcula. Escribe algo que se parece a un cálculo. Por eso existe el Módulo III.</a:t>
            </a:r>
            <a:endParaRPr lang="en-US" sz="1300" b="0" u="none" strike="noStrike">
              <a:solidFill>
                <a:srgbClr val="000000"/>
              </a:solidFill>
              <a:effectLst/>
              <a:uFillTx/>
              <a:latin typeface="Arial"/>
            </a:endParaRPr>
          </a:p>
        </p:txBody>
      </p:sp>
      <p:sp>
        <p:nvSpPr>
          <p:cNvPr id="257" name="Shape 12"/>
          <p:cNvSpPr/>
          <p:nvPr/>
        </p:nvSpPr>
        <p:spPr>
          <a:xfrm>
            <a:off x="8121600" y="2011680"/>
            <a:ext cx="3502800" cy="3071160"/>
          </a:xfrm>
          <a:prstGeom prst="roundRect">
            <a:avLst>
              <a:gd name="adj" fmla="val 2382"/>
            </a:avLst>
          </a:prstGeom>
          <a:solidFill>
            <a:srgbClr val="F7E4D8"/>
          </a:solidFill>
          <a:ln w="12700">
            <a:solidFill>
              <a:srgbClr val="F7E4D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58" name="Shape 13"/>
          <p:cNvSpPr/>
          <p:nvPr/>
        </p:nvSpPr>
        <p:spPr>
          <a:xfrm>
            <a:off x="8359560" y="2231280"/>
            <a:ext cx="420120" cy="420120"/>
          </a:xfrm>
          <a:prstGeom prst="ellipse">
            <a:avLst/>
          </a:prstGeom>
          <a:solidFill>
            <a:srgbClr val="C85A28"/>
          </a:solidFill>
          <a:ln w="12700">
            <a:solidFill>
              <a:srgbClr val="C85A2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59" name="Text 14"/>
          <p:cNvSpPr/>
          <p:nvPr/>
        </p:nvSpPr>
        <p:spPr>
          <a:xfrm>
            <a:off x="8359560" y="2231280"/>
            <a:ext cx="420120" cy="420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3</a:t>
            </a:r>
            <a:endParaRPr lang="en-US" sz="1400" b="0" u="none" strike="noStrike">
              <a:solidFill>
                <a:srgbClr val="000000"/>
              </a:solidFill>
              <a:effectLst/>
              <a:uFillTx/>
              <a:latin typeface="Arial"/>
            </a:endParaRPr>
          </a:p>
        </p:txBody>
      </p:sp>
      <p:sp>
        <p:nvSpPr>
          <p:cNvPr id="260" name="Text 15"/>
          <p:cNvSpPr/>
          <p:nvPr/>
        </p:nvSpPr>
        <p:spPr>
          <a:xfrm>
            <a:off x="8359560" y="2797920"/>
            <a:ext cx="3027240" cy="3186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600" b="1" u="none" strike="noStrike">
                <a:solidFill>
                  <a:srgbClr val="16262E"/>
                </a:solidFill>
                <a:effectLst/>
                <a:uFillTx/>
                <a:latin typeface="Arial"/>
                <a:ea typeface="Arial"/>
              </a:rPr>
              <a:t>Tres estudios sobre el tema</a:t>
            </a:r>
            <a:endParaRPr lang="en-US" sz="1600" b="0" u="none" strike="noStrike">
              <a:solidFill>
                <a:srgbClr val="000000"/>
              </a:solidFill>
              <a:effectLst/>
              <a:uFillTx/>
              <a:latin typeface="Arial"/>
            </a:endParaRPr>
          </a:p>
        </p:txBody>
      </p:sp>
      <p:sp>
        <p:nvSpPr>
          <p:cNvPr id="261" name="Text 16"/>
          <p:cNvSpPr/>
          <p:nvPr/>
        </p:nvSpPr>
        <p:spPr>
          <a:xfrm>
            <a:off x="8359560" y="3263400"/>
            <a:ext cx="3027240" cy="161856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300" b="0" u="none" strike="noStrike">
                <a:solidFill>
                  <a:srgbClr val="16262E"/>
                </a:solidFill>
                <a:effectLst/>
                <a:uFillTx/>
                <a:latin typeface="Calibri"/>
                <a:ea typeface="Calibri"/>
              </a:rPr>
              <a:t>Buscamos las referencias y al menos una no existe.</a:t>
            </a:r>
            <a:endParaRPr lang="en-US" sz="1300" b="0" u="none" strike="noStrike">
              <a:solidFill>
                <a:srgbClr val="000000"/>
              </a:solidFill>
              <a:effectLst/>
              <a:uFillTx/>
              <a:latin typeface="Arial"/>
            </a:endParaRPr>
          </a:p>
          <a:p>
            <a:pPr defTabSz="914400">
              <a:lnSpc>
                <a:spcPct val="110000"/>
              </a:lnSpc>
              <a:tabLst>
                <a:tab pos="0" algn="l"/>
              </a:tabLst>
            </a:pPr>
            <a:endParaRPr lang="en-US" sz="1300" b="0" u="none" strike="noStrike">
              <a:solidFill>
                <a:srgbClr val="000000"/>
              </a:solidFill>
              <a:effectLst/>
              <a:uFillTx/>
              <a:latin typeface="Arial"/>
            </a:endParaRPr>
          </a:p>
          <a:p>
            <a:pPr defTabSz="914400">
              <a:lnSpc>
                <a:spcPct val="110000"/>
              </a:lnSpc>
              <a:tabLst>
                <a:tab pos="0" algn="l"/>
              </a:tabLst>
            </a:pPr>
            <a:r>
              <a:rPr lang="en-US" sz="1300" b="0" u="none" strike="noStrike">
                <a:solidFill>
                  <a:srgbClr val="16262E"/>
                </a:solidFill>
                <a:effectLst/>
                <a:uFillTx/>
                <a:latin typeface="Calibri"/>
                <a:ea typeface="Calibri"/>
              </a:rPr>
              <a:t>Lección: el modelo escribe lo que suena creíble, no lo que es cierto. Por eso existe la sesión del jueves.</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6262E"/>
        </a:solidFill>
      </p:bgPr>
    </p:bg>
    <p:spTree>
      <p:nvGrpSpPr>
        <p:cNvPr id="1" name=""/>
        <p:cNvGrpSpPr/>
        <p:nvPr/>
      </p:nvGrpSpPr>
      <p:grpSpPr>
        <a:xfrm>
          <a:off x="0" y="0"/>
          <a:ext cx="0" cy="0"/>
          <a:chOff x="0" y="0"/>
          <a:chExt cx="0" cy="0"/>
        </a:xfrm>
      </p:grpSpPr>
      <p:sp>
        <p:nvSpPr>
          <p:cNvPr id="262" name="Shape 0"/>
          <p:cNvSpPr/>
          <p:nvPr/>
        </p:nvSpPr>
        <p:spPr>
          <a:xfrm>
            <a:off x="567000" y="2331720"/>
            <a:ext cx="1371240" cy="1371240"/>
          </a:xfrm>
          <a:prstGeom prst="ellipse">
            <a:avLst/>
          </a:prstGeom>
          <a:solidFill>
            <a:srgbClr val="C85A28"/>
          </a:solidFill>
          <a:ln w="12700">
            <a:solidFill>
              <a:srgbClr val="C85A2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63" name="Text 1"/>
          <p:cNvSpPr/>
          <p:nvPr/>
        </p:nvSpPr>
        <p:spPr>
          <a:xfrm>
            <a:off x="567000" y="2331720"/>
            <a:ext cx="1371240" cy="13712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4400" b="1" u="none" strike="noStrike">
                <a:solidFill>
                  <a:srgbClr val="FFFFFF"/>
                </a:solidFill>
                <a:effectLst/>
                <a:uFillTx/>
                <a:latin typeface="Arial"/>
                <a:ea typeface="Arial"/>
              </a:rPr>
              <a:t>2</a:t>
            </a:r>
            <a:endParaRPr lang="en-US" sz="4400" b="0" u="none" strike="noStrike">
              <a:solidFill>
                <a:srgbClr val="FFFFFF"/>
              </a:solidFill>
              <a:effectLst/>
              <a:uFillTx/>
              <a:latin typeface="Arial"/>
            </a:endParaRPr>
          </a:p>
        </p:txBody>
      </p:sp>
      <p:sp>
        <p:nvSpPr>
          <p:cNvPr id="264" name="Text 2"/>
          <p:cNvSpPr/>
          <p:nvPr/>
        </p:nvSpPr>
        <p:spPr>
          <a:xfrm>
            <a:off x="2487240" y="2331720"/>
            <a:ext cx="877788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pc="201" strike="noStrike">
                <a:solidFill>
                  <a:srgbClr val="D7E7E7"/>
                </a:solidFill>
                <a:effectLst/>
                <a:uFillTx/>
                <a:latin typeface="Calibri"/>
                <a:ea typeface="Calibri"/>
              </a:rPr>
              <a:t>USO ÉTICO DE LA IA EN LA FUNCIÓN PÚBLICA</a:t>
            </a:r>
            <a:endParaRPr lang="en-US" sz="1400" b="0" u="none" strike="noStrike">
              <a:solidFill>
                <a:srgbClr val="FFFFFF"/>
              </a:solidFill>
              <a:effectLst/>
              <a:uFillTx/>
              <a:latin typeface="Arial"/>
            </a:endParaRPr>
          </a:p>
        </p:txBody>
      </p:sp>
      <p:sp>
        <p:nvSpPr>
          <p:cNvPr id="265" name="Text 3"/>
          <p:cNvSpPr/>
          <p:nvPr/>
        </p:nvSpPr>
        <p:spPr>
          <a:xfrm>
            <a:off x="2487240" y="2697480"/>
            <a:ext cx="8960760" cy="118836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3400" b="1" u="none" strike="noStrike">
                <a:solidFill>
                  <a:srgbClr val="FFFFFF"/>
                </a:solidFill>
                <a:effectLst/>
                <a:uFillTx/>
                <a:latin typeface="Arial"/>
                <a:ea typeface="Arial"/>
              </a:rPr>
              <a:t>Tres principios que aquí no son opcionales</a:t>
            </a:r>
            <a:endParaRPr lang="en-US" sz="3400" b="0" u="none" strike="noStrike">
              <a:solidFill>
                <a:srgbClr val="FFFFFF"/>
              </a:solidFill>
              <a:effectLst/>
              <a:uFillTx/>
              <a:latin typeface="Arial"/>
            </a:endParaRPr>
          </a:p>
        </p:txBody>
      </p:sp>
      <p:sp>
        <p:nvSpPr>
          <p:cNvPr id="266" name="Shape 4"/>
          <p:cNvSpPr/>
          <p:nvPr/>
        </p:nvSpPr>
        <p:spPr>
          <a:xfrm>
            <a:off x="9484920" y="457200"/>
            <a:ext cx="2139480" cy="347040"/>
          </a:xfrm>
          <a:prstGeom prst="roundRect">
            <a:avLst>
              <a:gd name="adj" fmla="val 50000"/>
            </a:avLst>
          </a:prstGeom>
          <a:solidFill>
            <a:srgbClr val="24404E"/>
          </a:solidFill>
          <a:ln w="12700">
            <a:solidFill>
              <a:srgbClr val="24404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67" name="Text 5"/>
          <p:cNvSpPr/>
          <p:nvPr/>
        </p:nvSpPr>
        <p:spPr>
          <a:xfrm>
            <a:off x="9484920" y="457200"/>
            <a:ext cx="2139480" cy="347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1" u="none" strike="noStrike">
                <a:solidFill>
                  <a:srgbClr val="FFFFFF"/>
                </a:solidFill>
                <a:effectLst/>
                <a:uFillTx/>
                <a:latin typeface="Calibri"/>
                <a:ea typeface="Calibri"/>
              </a:rPr>
              <a:t>9:50 a 10:22</a:t>
            </a:r>
            <a:endParaRPr lang="en-US" sz="12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8" name="Text 0"/>
          <p:cNvSpPr/>
          <p:nvPr/>
        </p:nvSpPr>
        <p:spPr>
          <a:xfrm>
            <a:off x="567000" y="402480"/>
            <a:ext cx="9228600" cy="7495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3200" b="1" u="none" strike="noStrike">
                <a:solidFill>
                  <a:srgbClr val="16262E"/>
                </a:solidFill>
                <a:effectLst/>
                <a:uFillTx/>
                <a:latin typeface="Arial"/>
                <a:ea typeface="Arial"/>
              </a:rPr>
              <a:t>Los tres principios</a:t>
            </a:r>
            <a:endParaRPr lang="en-US" sz="3200" b="0" u="none" strike="noStrike">
              <a:solidFill>
                <a:srgbClr val="000000"/>
              </a:solidFill>
              <a:effectLst/>
              <a:uFillTx/>
              <a:latin typeface="Arial"/>
            </a:endParaRPr>
          </a:p>
        </p:txBody>
      </p:sp>
      <p:sp>
        <p:nvSpPr>
          <p:cNvPr id="269" name="Text 1"/>
          <p:cNvSpPr/>
          <p:nvPr/>
        </p:nvSpPr>
        <p:spPr>
          <a:xfrm>
            <a:off x="567000" y="1280160"/>
            <a:ext cx="9960120" cy="3654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500" b="0" u="none" strike="noStrike">
                <a:solidFill>
                  <a:srgbClr val="5A6B73"/>
                </a:solidFill>
                <a:effectLst/>
                <a:uFillTx/>
                <a:latin typeface="Calibri"/>
                <a:ea typeface="Calibri"/>
              </a:rPr>
              <a:t>En una empresa son buenas prácticas. Aquí son obligaciones, porque tu producto sostiene decisiones públicas.</a:t>
            </a:r>
            <a:endParaRPr lang="en-US" sz="1500" b="0" u="none" strike="noStrike">
              <a:solidFill>
                <a:srgbClr val="000000"/>
              </a:solidFill>
              <a:effectLst/>
              <a:uFillTx/>
              <a:latin typeface="Arial"/>
            </a:endParaRPr>
          </a:p>
        </p:txBody>
      </p:sp>
      <p:sp>
        <p:nvSpPr>
          <p:cNvPr id="270" name="Shape 2"/>
          <p:cNvSpPr/>
          <p:nvPr/>
        </p:nvSpPr>
        <p:spPr>
          <a:xfrm>
            <a:off x="567000" y="2011680"/>
            <a:ext cx="3502800" cy="2493360"/>
          </a:xfrm>
          <a:prstGeom prst="roundRect">
            <a:avLst>
              <a:gd name="adj" fmla="val 2933"/>
            </a:avLst>
          </a:prstGeom>
          <a:solidFill>
            <a:srgbClr val="D7E7E7"/>
          </a:solidFill>
          <a:ln w="12700">
            <a:solidFill>
              <a:srgbClr val="D7E7E7"/>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71" name="Shape 3"/>
          <p:cNvSpPr/>
          <p:nvPr/>
        </p:nvSpPr>
        <p:spPr>
          <a:xfrm>
            <a:off x="804600" y="2231280"/>
            <a:ext cx="420120" cy="420120"/>
          </a:xfrm>
          <a:prstGeom prst="ellipse">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72" name="Text 4"/>
          <p:cNvSpPr/>
          <p:nvPr/>
        </p:nvSpPr>
        <p:spPr>
          <a:xfrm>
            <a:off x="804600" y="2231280"/>
            <a:ext cx="420120" cy="420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1</a:t>
            </a:r>
            <a:endParaRPr lang="en-US" sz="1400" b="0" u="none" strike="noStrike">
              <a:solidFill>
                <a:srgbClr val="000000"/>
              </a:solidFill>
              <a:effectLst/>
              <a:uFillTx/>
              <a:latin typeface="Arial"/>
            </a:endParaRPr>
          </a:p>
        </p:txBody>
      </p:sp>
      <p:sp>
        <p:nvSpPr>
          <p:cNvPr id="273" name="Text 5"/>
          <p:cNvSpPr/>
          <p:nvPr/>
        </p:nvSpPr>
        <p:spPr>
          <a:xfrm>
            <a:off x="804600" y="2797920"/>
            <a:ext cx="3027240" cy="3186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600" b="1" u="none" strike="noStrike">
                <a:solidFill>
                  <a:srgbClr val="16262E"/>
                </a:solidFill>
                <a:effectLst/>
                <a:uFillTx/>
                <a:latin typeface="Arial"/>
                <a:ea typeface="Arial"/>
              </a:rPr>
              <a:t>Transparencia</a:t>
            </a:r>
            <a:endParaRPr lang="en-US" sz="1600" b="0" u="none" strike="noStrike">
              <a:solidFill>
                <a:srgbClr val="000000"/>
              </a:solidFill>
              <a:effectLst/>
              <a:uFillTx/>
              <a:latin typeface="Arial"/>
            </a:endParaRPr>
          </a:p>
        </p:txBody>
      </p:sp>
      <p:sp>
        <p:nvSpPr>
          <p:cNvPr id="274" name="Text 6"/>
          <p:cNvSpPr/>
          <p:nvPr/>
        </p:nvSpPr>
        <p:spPr>
          <a:xfrm>
            <a:off x="804600" y="3263400"/>
            <a:ext cx="3027240" cy="104040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300" b="0" u="none" strike="noStrike">
                <a:solidFill>
                  <a:srgbClr val="16262E"/>
                </a:solidFill>
                <a:effectLst/>
                <a:uFillTx/>
                <a:latin typeface="Calibri"/>
                <a:ea typeface="Calibri"/>
              </a:rPr>
              <a:t>Quien recibe tu trabajo tiene derecho a saber que usaste IA y cómo llegaste al resultado.</a:t>
            </a:r>
            <a:endParaRPr lang="en-US" sz="1300" b="0" u="none" strike="noStrike">
              <a:solidFill>
                <a:srgbClr val="000000"/>
              </a:solidFill>
              <a:effectLst/>
              <a:uFillTx/>
              <a:latin typeface="Arial"/>
            </a:endParaRPr>
          </a:p>
        </p:txBody>
      </p:sp>
      <p:sp>
        <p:nvSpPr>
          <p:cNvPr id="275" name="Shape 7"/>
          <p:cNvSpPr/>
          <p:nvPr/>
        </p:nvSpPr>
        <p:spPr>
          <a:xfrm>
            <a:off x="4344480" y="2011680"/>
            <a:ext cx="3502800" cy="2493360"/>
          </a:xfrm>
          <a:prstGeom prst="roundRect">
            <a:avLst>
              <a:gd name="adj" fmla="val 2933"/>
            </a:avLst>
          </a:prstGeom>
          <a:solidFill>
            <a:srgbClr val="D7E7E7"/>
          </a:solidFill>
          <a:ln w="12700">
            <a:solidFill>
              <a:srgbClr val="D7E7E7"/>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76" name="Shape 8"/>
          <p:cNvSpPr/>
          <p:nvPr/>
        </p:nvSpPr>
        <p:spPr>
          <a:xfrm>
            <a:off x="4582080" y="2231280"/>
            <a:ext cx="420120" cy="420120"/>
          </a:xfrm>
          <a:prstGeom prst="ellipse">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77" name="Text 9"/>
          <p:cNvSpPr/>
          <p:nvPr/>
        </p:nvSpPr>
        <p:spPr>
          <a:xfrm>
            <a:off x="4582080" y="2231280"/>
            <a:ext cx="420120" cy="420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2</a:t>
            </a:r>
            <a:endParaRPr lang="en-US" sz="1400" b="0" u="none" strike="noStrike">
              <a:solidFill>
                <a:srgbClr val="000000"/>
              </a:solidFill>
              <a:effectLst/>
              <a:uFillTx/>
              <a:latin typeface="Arial"/>
            </a:endParaRPr>
          </a:p>
        </p:txBody>
      </p:sp>
      <p:sp>
        <p:nvSpPr>
          <p:cNvPr id="278" name="Text 10"/>
          <p:cNvSpPr/>
          <p:nvPr/>
        </p:nvSpPr>
        <p:spPr>
          <a:xfrm>
            <a:off x="4582080" y="2797920"/>
            <a:ext cx="3027240" cy="3186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600" b="1" u="none" strike="noStrike">
                <a:solidFill>
                  <a:srgbClr val="16262E"/>
                </a:solidFill>
                <a:effectLst/>
                <a:uFillTx/>
                <a:latin typeface="Arial"/>
                <a:ea typeface="Arial"/>
              </a:rPr>
              <a:t>Gobierno de datos</a:t>
            </a:r>
            <a:endParaRPr lang="en-US" sz="1600" b="0" u="none" strike="noStrike">
              <a:solidFill>
                <a:srgbClr val="000000"/>
              </a:solidFill>
              <a:effectLst/>
              <a:uFillTx/>
              <a:latin typeface="Arial"/>
            </a:endParaRPr>
          </a:p>
        </p:txBody>
      </p:sp>
      <p:sp>
        <p:nvSpPr>
          <p:cNvPr id="279" name="Text 11"/>
          <p:cNvSpPr/>
          <p:nvPr/>
        </p:nvSpPr>
        <p:spPr>
          <a:xfrm>
            <a:off x="4582080" y="3263400"/>
            <a:ext cx="3027240" cy="104040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300" b="0" u="none" strike="noStrike">
                <a:solidFill>
                  <a:srgbClr val="16262E"/>
                </a:solidFill>
                <a:effectLst/>
                <a:uFillTx/>
                <a:latin typeface="Calibri"/>
                <a:ea typeface="Calibri"/>
              </a:rPr>
              <a:t>Saber qué información entra a qué herramienta, bajo qué contrato, y quién responde si algo sale mal.</a:t>
            </a:r>
            <a:endParaRPr lang="en-US" sz="1300" b="0" u="none" strike="noStrike">
              <a:solidFill>
                <a:srgbClr val="000000"/>
              </a:solidFill>
              <a:effectLst/>
              <a:uFillTx/>
              <a:latin typeface="Arial"/>
            </a:endParaRPr>
          </a:p>
        </p:txBody>
      </p:sp>
      <p:sp>
        <p:nvSpPr>
          <p:cNvPr id="280" name="Shape 12"/>
          <p:cNvSpPr/>
          <p:nvPr/>
        </p:nvSpPr>
        <p:spPr>
          <a:xfrm>
            <a:off x="8121600" y="2011680"/>
            <a:ext cx="3502800" cy="2493360"/>
          </a:xfrm>
          <a:prstGeom prst="roundRect">
            <a:avLst>
              <a:gd name="adj" fmla="val 2933"/>
            </a:avLst>
          </a:prstGeom>
          <a:solidFill>
            <a:srgbClr val="F7E4D8"/>
          </a:solidFill>
          <a:ln w="12700">
            <a:solidFill>
              <a:srgbClr val="F7E4D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81" name="Shape 13"/>
          <p:cNvSpPr/>
          <p:nvPr/>
        </p:nvSpPr>
        <p:spPr>
          <a:xfrm>
            <a:off x="8359560" y="2231280"/>
            <a:ext cx="420120" cy="420120"/>
          </a:xfrm>
          <a:prstGeom prst="ellipse">
            <a:avLst/>
          </a:prstGeom>
          <a:solidFill>
            <a:srgbClr val="C85A28"/>
          </a:solidFill>
          <a:ln w="12700">
            <a:solidFill>
              <a:srgbClr val="C85A2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82" name="Text 14"/>
          <p:cNvSpPr/>
          <p:nvPr/>
        </p:nvSpPr>
        <p:spPr>
          <a:xfrm>
            <a:off x="8359560" y="2231280"/>
            <a:ext cx="420120" cy="420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3</a:t>
            </a:r>
            <a:endParaRPr lang="en-US" sz="1400" b="0" u="none" strike="noStrike">
              <a:solidFill>
                <a:srgbClr val="000000"/>
              </a:solidFill>
              <a:effectLst/>
              <a:uFillTx/>
              <a:latin typeface="Arial"/>
            </a:endParaRPr>
          </a:p>
        </p:txBody>
      </p:sp>
      <p:sp>
        <p:nvSpPr>
          <p:cNvPr id="283" name="Text 15"/>
          <p:cNvSpPr/>
          <p:nvPr/>
        </p:nvSpPr>
        <p:spPr>
          <a:xfrm>
            <a:off x="8359560" y="2797920"/>
            <a:ext cx="3027240" cy="3186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600" b="1" u="none" strike="noStrike">
                <a:solidFill>
                  <a:srgbClr val="16262E"/>
                </a:solidFill>
                <a:effectLst/>
                <a:uFillTx/>
                <a:latin typeface="Arial"/>
                <a:ea typeface="Arial"/>
              </a:rPr>
              <a:t>Disminución de sesgos</a:t>
            </a:r>
            <a:endParaRPr lang="en-US" sz="1600" b="0" u="none" strike="noStrike">
              <a:solidFill>
                <a:srgbClr val="000000"/>
              </a:solidFill>
              <a:effectLst/>
              <a:uFillTx/>
              <a:latin typeface="Arial"/>
            </a:endParaRPr>
          </a:p>
        </p:txBody>
      </p:sp>
      <p:sp>
        <p:nvSpPr>
          <p:cNvPr id="284" name="Text 16"/>
          <p:cNvSpPr/>
          <p:nvPr/>
        </p:nvSpPr>
        <p:spPr>
          <a:xfrm>
            <a:off x="8359560" y="3263400"/>
            <a:ext cx="3027240" cy="104040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300" b="0" u="none" strike="noStrike">
                <a:solidFill>
                  <a:srgbClr val="16262E"/>
                </a:solidFill>
                <a:effectLst/>
                <a:uFillTx/>
                <a:latin typeface="Calibri"/>
                <a:ea typeface="Calibri"/>
              </a:rPr>
              <a:t>Los modelos aprendieron de textos que ya traían sesgos. En evaluación social eso cambia cómo se describe a la gente.</a:t>
            </a:r>
            <a:endParaRPr lang="en-US" sz="1300" b="0" u="none" strike="noStrike">
              <a:solidFill>
                <a:srgbClr val="000000"/>
              </a:solidFill>
              <a:effectLst/>
              <a:uFillTx/>
              <a:latin typeface="Arial"/>
            </a:endParaRPr>
          </a:p>
        </p:txBody>
      </p:sp>
      <p:sp>
        <p:nvSpPr>
          <p:cNvPr id="285" name="Text 17"/>
          <p:cNvSpPr/>
          <p:nvPr/>
        </p:nvSpPr>
        <p:spPr>
          <a:xfrm>
            <a:off x="567000" y="6327720"/>
            <a:ext cx="11057400" cy="292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00" b="0" u="none" strike="noStrike">
                <a:solidFill>
                  <a:srgbClr val="5A6B73"/>
                </a:solidFill>
                <a:effectLst/>
                <a:uFillTx/>
                <a:latin typeface="Calibri"/>
                <a:ea typeface="Calibri"/>
              </a:rPr>
              <a:t>Vemos uno por uno. Cada principio trae qué es, cómo lo cumples en la práctica, y un caso real de qué pasa cuando no se cumple.</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6" name="Text 0"/>
          <p:cNvSpPr/>
          <p:nvPr/>
        </p:nvSpPr>
        <p:spPr>
          <a:xfrm>
            <a:off x="567000" y="402480"/>
            <a:ext cx="9228600" cy="7495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3200" b="1" u="none" strike="noStrike">
                <a:solidFill>
                  <a:srgbClr val="16262E"/>
                </a:solidFill>
                <a:effectLst/>
                <a:uFillTx/>
                <a:latin typeface="Arial"/>
                <a:ea typeface="Arial"/>
              </a:rPr>
              <a:t>Principio 1. Transparencia</a:t>
            </a:r>
            <a:endParaRPr lang="en-US" sz="3200" b="0" u="none" strike="noStrike">
              <a:solidFill>
                <a:srgbClr val="000000"/>
              </a:solidFill>
              <a:effectLst/>
              <a:uFillTx/>
              <a:latin typeface="Arial"/>
            </a:endParaRPr>
          </a:p>
        </p:txBody>
      </p:sp>
      <p:sp>
        <p:nvSpPr>
          <p:cNvPr id="287" name="Shape 1"/>
          <p:cNvSpPr/>
          <p:nvPr/>
        </p:nvSpPr>
        <p:spPr>
          <a:xfrm>
            <a:off x="567000" y="1408320"/>
            <a:ext cx="3515040" cy="4370400"/>
          </a:xfrm>
          <a:prstGeom prst="roundRect">
            <a:avLst>
              <a:gd name="adj" fmla="val 2341"/>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88" name="Shape 2"/>
          <p:cNvSpPr/>
          <p:nvPr/>
        </p:nvSpPr>
        <p:spPr>
          <a:xfrm>
            <a:off x="567000" y="1408320"/>
            <a:ext cx="3515040" cy="621360"/>
          </a:xfrm>
          <a:prstGeom prst="roundRect">
            <a:avLst>
              <a:gd name="adj" fmla="val 13235"/>
            </a:avLst>
          </a:prstGeom>
          <a:solidFill>
            <a:srgbClr val="16262E"/>
          </a:solidFill>
          <a:ln w="12700">
            <a:solidFill>
              <a:srgbClr val="16262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89" name="Shape 3"/>
          <p:cNvSpPr/>
          <p:nvPr/>
        </p:nvSpPr>
        <p:spPr>
          <a:xfrm>
            <a:off x="567000" y="1755720"/>
            <a:ext cx="3515040" cy="273960"/>
          </a:xfrm>
          <a:prstGeom prst="rect">
            <a:avLst/>
          </a:prstGeom>
          <a:solidFill>
            <a:srgbClr val="16262E"/>
          </a:solidFill>
          <a:ln w="12700">
            <a:solidFill>
              <a:srgbClr val="16262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90" name="Text 4"/>
          <p:cNvSpPr/>
          <p:nvPr/>
        </p:nvSpPr>
        <p:spPr>
          <a:xfrm>
            <a:off x="804600" y="1408320"/>
            <a:ext cx="3039480" cy="6213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FFFFFF"/>
                </a:solidFill>
                <a:effectLst/>
                <a:uFillTx/>
                <a:latin typeface="Arial"/>
                <a:ea typeface="Arial"/>
              </a:rPr>
              <a:t>Qué es</a:t>
            </a:r>
            <a:endParaRPr lang="en-US" sz="1500" b="0" u="none" strike="noStrike">
              <a:solidFill>
                <a:srgbClr val="000000"/>
              </a:solidFill>
              <a:effectLst/>
              <a:uFillTx/>
              <a:latin typeface="Arial"/>
            </a:endParaRPr>
          </a:p>
        </p:txBody>
      </p:sp>
      <p:sp>
        <p:nvSpPr>
          <p:cNvPr id="291" name="Text 5"/>
          <p:cNvSpPr/>
          <p:nvPr/>
        </p:nvSpPr>
        <p:spPr>
          <a:xfrm>
            <a:off x="804600" y="2231280"/>
            <a:ext cx="3039480" cy="3364560"/>
          </a:xfrm>
          <a:prstGeom prst="rect">
            <a:avLst/>
          </a:prstGeom>
          <a:noFill/>
          <a:ln w="0">
            <a:noFill/>
          </a:ln>
        </p:spPr>
        <p:style>
          <a:lnRef idx="0"/>
          <a:fillRef idx="0"/>
          <a:effectRef idx="0"/>
          <a:fontRef idx="minor"/>
        </p:style>
        <p:txBody>
          <a:bodyPr lIns="0" tIns="0" rIns="0" bIns="0" anchor="t">
            <a:noAutofit/>
          </a:bodyPr>
          <a:p>
            <a:pPr defTabSz="914400">
              <a:lnSpc>
                <a:spcPct val="114000"/>
              </a:lnSpc>
              <a:spcAft>
                <a:spcPts val="601"/>
              </a:spcAft>
              <a:tabLst>
                <a:tab pos="0" algn="l"/>
              </a:tabLst>
            </a:pPr>
            <a:r>
              <a:rPr lang="en-US" sz="1300" b="0" u="none" strike="noStrike">
                <a:solidFill>
                  <a:srgbClr val="16262E"/>
                </a:solidFill>
                <a:effectLst/>
                <a:uFillTx/>
                <a:latin typeface="Calibri"/>
                <a:ea typeface="Calibri"/>
              </a:rPr>
              <a:t>Quien lee tu informe tiene derecho a saber que se usó IA para hacerlo.</a:t>
            </a:r>
            <a:endParaRPr lang="en-US" sz="1300" b="0" u="none" strike="noStrike">
              <a:solidFill>
                <a:srgbClr val="000000"/>
              </a:solidFill>
              <a:effectLst/>
              <a:uFillTx/>
              <a:latin typeface="Arial"/>
            </a:endParaRPr>
          </a:p>
          <a:p>
            <a:pPr defTabSz="914400">
              <a:lnSpc>
                <a:spcPct val="114000"/>
              </a:lnSpc>
              <a:spcAft>
                <a:spcPts val="601"/>
              </a:spcAft>
              <a:tabLst>
                <a:tab pos="0" algn="l"/>
              </a:tabLst>
            </a:pPr>
            <a:r>
              <a:rPr lang="en-US" sz="1300" b="0" u="none" strike="noStrike">
                <a:solidFill>
                  <a:srgbClr val="16262E"/>
                </a:solidFill>
                <a:effectLst/>
                <a:uFillTx/>
                <a:latin typeface="Calibri"/>
                <a:ea typeface="Calibri"/>
              </a:rPr>
              <a:t>Y tiene derecho a que le puedas explicar cómo llegaste al resultado, sin que la respuesta sea "lo escribió la IA".</a:t>
            </a:r>
            <a:endParaRPr lang="en-US" sz="1300" b="0" u="none" strike="noStrike">
              <a:solidFill>
                <a:srgbClr val="000000"/>
              </a:solidFill>
              <a:effectLst/>
              <a:uFillTx/>
              <a:latin typeface="Arial"/>
            </a:endParaRPr>
          </a:p>
          <a:p>
            <a:pPr defTabSz="914400">
              <a:lnSpc>
                <a:spcPct val="114000"/>
              </a:lnSpc>
              <a:spcAft>
                <a:spcPts val="601"/>
              </a:spcAft>
              <a:tabLst>
                <a:tab pos="0" algn="l"/>
              </a:tabLst>
            </a:pPr>
            <a:r>
              <a:rPr lang="en-US" sz="1300" b="0" u="none" strike="noStrike">
                <a:solidFill>
                  <a:srgbClr val="16262E"/>
                </a:solidFill>
                <a:effectLst/>
                <a:uFillTx/>
                <a:latin typeface="Calibri"/>
                <a:ea typeface="Calibri"/>
              </a:rPr>
              <a:t>No es una formalidad. Es lo que permite que alguien revise tu trabajo.</a:t>
            </a:r>
            <a:endParaRPr lang="en-US" sz="1300" b="0" u="none" strike="noStrike">
              <a:solidFill>
                <a:srgbClr val="000000"/>
              </a:solidFill>
              <a:effectLst/>
              <a:uFillTx/>
              <a:latin typeface="Arial"/>
            </a:endParaRPr>
          </a:p>
        </p:txBody>
      </p:sp>
      <p:sp>
        <p:nvSpPr>
          <p:cNvPr id="292" name="Shape 6"/>
          <p:cNvSpPr/>
          <p:nvPr/>
        </p:nvSpPr>
        <p:spPr>
          <a:xfrm>
            <a:off x="4338360" y="1408320"/>
            <a:ext cx="3515040" cy="4370400"/>
          </a:xfrm>
          <a:prstGeom prst="roundRect">
            <a:avLst>
              <a:gd name="adj" fmla="val 2341"/>
            </a:avLst>
          </a:prstGeom>
          <a:solidFill>
            <a:srgbClr val="D7E7E7"/>
          </a:solidFill>
          <a:ln w="12700">
            <a:solidFill>
              <a:srgbClr val="D7E7E7"/>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93" name="Shape 7"/>
          <p:cNvSpPr/>
          <p:nvPr/>
        </p:nvSpPr>
        <p:spPr>
          <a:xfrm>
            <a:off x="4338360" y="1408320"/>
            <a:ext cx="3515040" cy="621360"/>
          </a:xfrm>
          <a:prstGeom prst="roundRect">
            <a:avLst>
              <a:gd name="adj" fmla="val 13235"/>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94" name="Shape 8"/>
          <p:cNvSpPr/>
          <p:nvPr/>
        </p:nvSpPr>
        <p:spPr>
          <a:xfrm>
            <a:off x="4338360" y="1755720"/>
            <a:ext cx="3515040" cy="273960"/>
          </a:xfrm>
          <a:prstGeom prst="rect">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95" name="Text 9"/>
          <p:cNvSpPr/>
          <p:nvPr/>
        </p:nvSpPr>
        <p:spPr>
          <a:xfrm>
            <a:off x="4575960" y="1408320"/>
            <a:ext cx="3039480" cy="6213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FFFFFF"/>
                </a:solidFill>
                <a:effectLst/>
                <a:uFillTx/>
                <a:latin typeface="Arial"/>
                <a:ea typeface="Arial"/>
              </a:rPr>
              <a:t>Cómo lo cumples aquí</a:t>
            </a:r>
            <a:endParaRPr lang="en-US" sz="1500" b="0" u="none" strike="noStrike">
              <a:solidFill>
                <a:srgbClr val="000000"/>
              </a:solidFill>
              <a:effectLst/>
              <a:uFillTx/>
              <a:latin typeface="Arial"/>
            </a:endParaRPr>
          </a:p>
        </p:txBody>
      </p:sp>
      <p:sp>
        <p:nvSpPr>
          <p:cNvPr id="296" name="Text 10"/>
          <p:cNvSpPr/>
          <p:nvPr/>
        </p:nvSpPr>
        <p:spPr>
          <a:xfrm>
            <a:off x="4575960" y="2231280"/>
            <a:ext cx="3039480" cy="3364560"/>
          </a:xfrm>
          <a:prstGeom prst="rect">
            <a:avLst/>
          </a:prstGeom>
          <a:noFill/>
          <a:ln w="0">
            <a:noFill/>
          </a:ln>
        </p:spPr>
        <p:style>
          <a:lnRef idx="0"/>
          <a:fillRef idx="0"/>
          <a:effectRef idx="0"/>
          <a:fontRef idx="minor"/>
        </p:style>
        <p:txBody>
          <a:bodyPr lIns="0" tIns="0" rIns="0" bIns="0" anchor="t">
            <a:noAutofit/>
          </a:bodyPr>
          <a:p>
            <a:pPr defTabSz="914400">
              <a:lnSpc>
                <a:spcPct val="114000"/>
              </a:lnSpc>
              <a:spcAft>
                <a:spcPts val="601"/>
              </a:spcAft>
              <a:tabLst>
                <a:tab pos="0" algn="l"/>
              </a:tabLst>
            </a:pPr>
            <a:r>
              <a:rPr lang="en-US" sz="1300" b="0" u="none" strike="noStrike">
                <a:solidFill>
                  <a:srgbClr val="16262E"/>
                </a:solidFill>
                <a:effectLst/>
                <a:uFillTx/>
                <a:latin typeface="Calibri"/>
                <a:ea typeface="Calibri"/>
              </a:rPr>
              <a:t>Declaras el uso de IA en el producto. Una línea basta.</a:t>
            </a:r>
            <a:endParaRPr lang="en-US" sz="1300" b="0" u="none" strike="noStrike">
              <a:solidFill>
                <a:srgbClr val="000000"/>
              </a:solidFill>
              <a:effectLst/>
              <a:uFillTx/>
              <a:latin typeface="Arial"/>
            </a:endParaRPr>
          </a:p>
          <a:p>
            <a:pPr defTabSz="914400">
              <a:lnSpc>
                <a:spcPct val="114000"/>
              </a:lnSpc>
              <a:spcAft>
                <a:spcPts val="601"/>
              </a:spcAft>
              <a:tabLst>
                <a:tab pos="0" algn="l"/>
              </a:tabLst>
            </a:pPr>
            <a:r>
              <a:rPr lang="en-US" sz="1300" b="0" u="none" strike="noStrike">
                <a:solidFill>
                  <a:srgbClr val="16262E"/>
                </a:solidFill>
                <a:effectLst/>
                <a:uFillTx/>
                <a:latin typeface="Calibri"/>
                <a:ea typeface="Calibri"/>
              </a:rPr>
              <a:t>Llevas tu bitácora: qué pediste y qué te devolvió.</a:t>
            </a:r>
            <a:endParaRPr lang="en-US" sz="1300" b="0" u="none" strike="noStrike">
              <a:solidFill>
                <a:srgbClr val="000000"/>
              </a:solidFill>
              <a:effectLst/>
              <a:uFillTx/>
              <a:latin typeface="Arial"/>
            </a:endParaRPr>
          </a:p>
          <a:p>
            <a:pPr defTabSz="914400">
              <a:lnSpc>
                <a:spcPct val="114000"/>
              </a:lnSpc>
              <a:spcAft>
                <a:spcPts val="601"/>
              </a:spcAft>
              <a:tabLst>
                <a:tab pos="0" algn="l"/>
              </a:tabLst>
            </a:pPr>
            <a:r>
              <a:rPr lang="en-US" sz="1300" b="0" u="none" strike="noStrike">
                <a:solidFill>
                  <a:srgbClr val="16262E"/>
                </a:solidFill>
                <a:effectLst/>
                <a:uFillTx/>
                <a:latin typeface="Calibri"/>
                <a:ea typeface="Calibri"/>
              </a:rPr>
              <a:t>Guardas los borradores intermedios.</a:t>
            </a:r>
            <a:endParaRPr lang="en-US" sz="1300" b="0" u="none" strike="noStrike">
              <a:solidFill>
                <a:srgbClr val="000000"/>
              </a:solidFill>
              <a:effectLst/>
              <a:uFillTx/>
              <a:latin typeface="Arial"/>
            </a:endParaRPr>
          </a:p>
          <a:p>
            <a:pPr defTabSz="914400">
              <a:lnSpc>
                <a:spcPct val="114000"/>
              </a:lnSpc>
              <a:spcAft>
                <a:spcPts val="601"/>
              </a:spcAft>
              <a:tabLst>
                <a:tab pos="0" algn="l"/>
              </a:tabLst>
            </a:pPr>
            <a:r>
              <a:rPr lang="en-US" sz="1300" b="0" u="none" strike="noStrike">
                <a:solidFill>
                  <a:srgbClr val="16262E"/>
                </a:solidFill>
                <a:effectLst/>
                <a:uFillTx/>
                <a:latin typeface="Calibri"/>
                <a:ea typeface="Calibri"/>
              </a:rPr>
              <a:t>Pides que cada dato venga con la sección del documento de donde salió.</a:t>
            </a:r>
            <a:endParaRPr lang="en-US" sz="1300" b="0" u="none" strike="noStrike">
              <a:solidFill>
                <a:srgbClr val="000000"/>
              </a:solidFill>
              <a:effectLst/>
              <a:uFillTx/>
              <a:latin typeface="Arial"/>
            </a:endParaRPr>
          </a:p>
          <a:p>
            <a:pPr defTabSz="914400">
              <a:lnSpc>
                <a:spcPct val="114000"/>
              </a:lnSpc>
              <a:spcAft>
                <a:spcPts val="601"/>
              </a:spcAft>
              <a:tabLst>
                <a:tab pos="0" algn="l"/>
              </a:tabLst>
            </a:pPr>
            <a:r>
              <a:rPr lang="en-US" sz="1300" b="0" u="none" strike="noStrike">
                <a:solidFill>
                  <a:srgbClr val="16262E"/>
                </a:solidFill>
                <a:effectLst/>
                <a:uFillTx/>
                <a:latin typeface="Calibri"/>
                <a:ea typeface="Calibri"/>
              </a:rPr>
              <a:t>Los cuatro pasos son el marco de trazabilidad que vemos en un rato.</a:t>
            </a:r>
            <a:endParaRPr lang="en-US" sz="1300" b="0" u="none" strike="noStrike">
              <a:solidFill>
                <a:srgbClr val="000000"/>
              </a:solidFill>
              <a:effectLst/>
              <a:uFillTx/>
              <a:latin typeface="Arial"/>
            </a:endParaRPr>
          </a:p>
        </p:txBody>
      </p:sp>
      <p:sp>
        <p:nvSpPr>
          <p:cNvPr id="297" name="Shape 11"/>
          <p:cNvSpPr/>
          <p:nvPr/>
        </p:nvSpPr>
        <p:spPr>
          <a:xfrm>
            <a:off x="8109360" y="1408320"/>
            <a:ext cx="3515040" cy="4370400"/>
          </a:xfrm>
          <a:prstGeom prst="roundRect">
            <a:avLst>
              <a:gd name="adj" fmla="val 2341"/>
            </a:avLst>
          </a:prstGeom>
          <a:solidFill>
            <a:srgbClr val="F7E4D8"/>
          </a:solidFill>
          <a:ln w="12700">
            <a:solidFill>
              <a:srgbClr val="F7E4D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98" name="Shape 12"/>
          <p:cNvSpPr/>
          <p:nvPr/>
        </p:nvSpPr>
        <p:spPr>
          <a:xfrm>
            <a:off x="8109360" y="1408320"/>
            <a:ext cx="3515040" cy="621360"/>
          </a:xfrm>
          <a:prstGeom prst="roundRect">
            <a:avLst>
              <a:gd name="adj" fmla="val 13235"/>
            </a:avLst>
          </a:prstGeom>
          <a:solidFill>
            <a:srgbClr val="C85A28"/>
          </a:solidFill>
          <a:ln w="12700">
            <a:solidFill>
              <a:srgbClr val="C85A2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99" name="Shape 13"/>
          <p:cNvSpPr/>
          <p:nvPr/>
        </p:nvSpPr>
        <p:spPr>
          <a:xfrm>
            <a:off x="8109360" y="1755720"/>
            <a:ext cx="3515040" cy="273960"/>
          </a:xfrm>
          <a:prstGeom prst="rect">
            <a:avLst/>
          </a:prstGeom>
          <a:solidFill>
            <a:srgbClr val="C85A28"/>
          </a:solidFill>
          <a:ln w="12700">
            <a:solidFill>
              <a:srgbClr val="C85A2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00" name="Text 14"/>
          <p:cNvSpPr/>
          <p:nvPr/>
        </p:nvSpPr>
        <p:spPr>
          <a:xfrm>
            <a:off x="8347320" y="1408320"/>
            <a:ext cx="3039480" cy="6213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FFFFFF"/>
                </a:solidFill>
                <a:effectLst/>
                <a:uFillTx/>
                <a:latin typeface="Arial"/>
                <a:ea typeface="Arial"/>
              </a:rPr>
              <a:t>Qué pasa si no</a:t>
            </a:r>
            <a:endParaRPr lang="en-US" sz="1500" b="0" u="none" strike="noStrike">
              <a:solidFill>
                <a:srgbClr val="000000"/>
              </a:solidFill>
              <a:effectLst/>
              <a:uFillTx/>
              <a:latin typeface="Arial"/>
            </a:endParaRPr>
          </a:p>
        </p:txBody>
      </p:sp>
      <p:sp>
        <p:nvSpPr>
          <p:cNvPr id="301" name="Text 15"/>
          <p:cNvSpPr/>
          <p:nvPr/>
        </p:nvSpPr>
        <p:spPr>
          <a:xfrm>
            <a:off x="8347320" y="2231280"/>
            <a:ext cx="3039480" cy="3364560"/>
          </a:xfrm>
          <a:prstGeom prst="rect">
            <a:avLst/>
          </a:prstGeom>
          <a:noFill/>
          <a:ln w="0">
            <a:noFill/>
          </a:ln>
        </p:spPr>
        <p:style>
          <a:lnRef idx="0"/>
          <a:fillRef idx="0"/>
          <a:effectRef idx="0"/>
          <a:fontRef idx="minor"/>
        </p:style>
        <p:txBody>
          <a:bodyPr lIns="0" tIns="0" rIns="0" bIns="0" anchor="t">
            <a:noAutofit/>
          </a:bodyPr>
          <a:p>
            <a:pPr defTabSz="914400">
              <a:lnSpc>
                <a:spcPct val="114000"/>
              </a:lnSpc>
              <a:spcAft>
                <a:spcPts val="601"/>
              </a:spcAft>
              <a:tabLst>
                <a:tab pos="0" algn="l"/>
              </a:tabLst>
            </a:pPr>
            <a:r>
              <a:rPr lang="en-US" sz="1300" b="0" u="none" strike="noStrike">
                <a:solidFill>
                  <a:srgbClr val="16262E"/>
                </a:solidFill>
                <a:effectLst/>
                <a:uFillTx/>
                <a:latin typeface="Calibri"/>
                <a:ea typeface="Calibri"/>
              </a:rPr>
              <a:t>Nueva York, 2023. Un despacho presentó ante un tribunal federal un escrito con seis precedentes judiciales que el modelo se había inventado.</a:t>
            </a:r>
            <a:endParaRPr lang="en-US" sz="1300" b="0" u="none" strike="noStrike">
              <a:solidFill>
                <a:srgbClr val="000000"/>
              </a:solidFill>
              <a:effectLst/>
              <a:uFillTx/>
              <a:latin typeface="Arial"/>
            </a:endParaRPr>
          </a:p>
          <a:p>
            <a:pPr defTabSz="914400">
              <a:lnSpc>
                <a:spcPct val="114000"/>
              </a:lnSpc>
              <a:spcAft>
                <a:spcPts val="601"/>
              </a:spcAft>
              <a:tabLst>
                <a:tab pos="0" algn="l"/>
              </a:tabLst>
            </a:pPr>
            <a:r>
              <a:rPr lang="en-US" sz="1300" b="0" u="none" strike="noStrike">
                <a:solidFill>
                  <a:srgbClr val="16262E"/>
                </a:solidFill>
                <a:effectLst/>
                <a:uFillTx/>
                <a:latin typeface="Calibri"/>
                <a:ea typeface="Calibri"/>
              </a:rPr>
              <a:t>Nadie verificó. Y nadie declaró que se había usado IA.</a:t>
            </a:r>
            <a:endParaRPr lang="en-US" sz="1300" b="0" u="none" strike="noStrike">
              <a:solidFill>
                <a:srgbClr val="000000"/>
              </a:solidFill>
              <a:effectLst/>
              <a:uFillTx/>
              <a:latin typeface="Arial"/>
            </a:endParaRPr>
          </a:p>
          <a:p>
            <a:pPr defTabSz="914400">
              <a:lnSpc>
                <a:spcPct val="114000"/>
              </a:lnSpc>
              <a:spcAft>
                <a:spcPts val="601"/>
              </a:spcAft>
              <a:tabLst>
                <a:tab pos="0" algn="l"/>
              </a:tabLst>
            </a:pPr>
            <a:r>
              <a:rPr lang="en-US" sz="1300" b="0" u="none" strike="noStrike">
                <a:solidFill>
                  <a:srgbClr val="16262E"/>
                </a:solidFill>
                <a:effectLst/>
                <a:uFillTx/>
                <a:latin typeface="Calibri"/>
                <a:ea typeface="Calibri"/>
              </a:rPr>
              <a:t>El juez impuso sanción de cinco mil dólares y obligó a notificar a cada juez que aparecía como autor de las sentencias falsas.</a:t>
            </a:r>
            <a:endParaRPr lang="en-US" sz="1300" b="0" u="none" strike="noStrike">
              <a:solidFill>
                <a:srgbClr val="000000"/>
              </a:solidFill>
              <a:effectLst/>
              <a:uFillTx/>
              <a:latin typeface="Arial"/>
            </a:endParaRPr>
          </a:p>
          <a:p>
            <a:pPr defTabSz="914400">
              <a:lnSpc>
                <a:spcPct val="114000"/>
              </a:lnSpc>
              <a:spcAft>
                <a:spcPts val="601"/>
              </a:spcAft>
              <a:tabLst>
                <a:tab pos="0" algn="l"/>
              </a:tabLst>
            </a:pPr>
            <a:r>
              <a:rPr lang="en-US" sz="1300" b="0" u="none" strike="noStrike">
                <a:solidFill>
                  <a:srgbClr val="16262E"/>
                </a:solidFill>
                <a:effectLst/>
                <a:uFillTx/>
                <a:latin typeface="Calibri"/>
                <a:ea typeface="Calibri"/>
              </a:rPr>
              <a:t>El juez fue explícito: usar la herramienta no fue el problema.</a:t>
            </a:r>
            <a:endParaRPr lang="en-US" sz="1300" b="0" u="none" strike="noStrike">
              <a:solidFill>
                <a:srgbClr val="000000"/>
              </a:solidFill>
              <a:effectLst/>
              <a:uFillTx/>
              <a:latin typeface="Arial"/>
            </a:endParaRPr>
          </a:p>
        </p:txBody>
      </p:sp>
      <p:sp>
        <p:nvSpPr>
          <p:cNvPr id="302" name="Shape 16"/>
          <p:cNvSpPr/>
          <p:nvPr/>
        </p:nvSpPr>
        <p:spPr>
          <a:xfrm>
            <a:off x="567000" y="5906880"/>
            <a:ext cx="11057400" cy="475200"/>
          </a:xfrm>
          <a:prstGeom prst="roundRect">
            <a:avLst>
              <a:gd name="adj" fmla="val 11538"/>
            </a:avLst>
          </a:prstGeom>
          <a:solidFill>
            <a:srgbClr val="16262E"/>
          </a:solidFill>
          <a:ln w="12700">
            <a:solidFill>
              <a:srgbClr val="16262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03" name="Text 17"/>
          <p:cNvSpPr/>
          <p:nvPr/>
        </p:nvSpPr>
        <p:spPr>
          <a:xfrm>
            <a:off x="804600" y="5943600"/>
            <a:ext cx="10581840" cy="200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0" u="none" strike="noStrike">
                <a:solidFill>
                  <a:srgbClr val="FFFFFF"/>
                </a:solidFill>
                <a:effectLst/>
                <a:uFillTx/>
                <a:latin typeface="Calibri"/>
                <a:ea typeface="Calibri"/>
              </a:rPr>
              <a:t>Mata v. Avianca, Inc., No. 1:22-cv-01461 (S.D.N.Y.). Opinión y orden de sanciones del juez P. Kevin Castel, 22 de junio de 2023.</a:t>
            </a:r>
            <a:endParaRPr lang="en-US" sz="1100" b="0" u="none" strike="noStrike">
              <a:solidFill>
                <a:srgbClr val="000000"/>
              </a:solidFill>
              <a:effectLst/>
              <a:uFillTx/>
              <a:latin typeface="Arial"/>
            </a:endParaRPr>
          </a:p>
        </p:txBody>
      </p:sp>
      <p:sp>
        <p:nvSpPr>
          <p:cNvPr id="304" name="Text 18">
            <a:hlinkClick r:id="rId1"/>
          </p:cNvPr>
          <p:cNvSpPr/>
          <p:nvPr/>
        </p:nvSpPr>
        <p:spPr>
          <a:xfrm>
            <a:off x="804600" y="6144840"/>
            <a:ext cx="10581840" cy="200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sng" strike="noStrike">
                <a:solidFill>
                  <a:srgbClr val="D7E7E7"/>
                </a:solidFill>
                <a:effectLst/>
                <a:uFillTx/>
                <a:latin typeface="Courier New"/>
                <a:ea typeface="Courier New"/>
                <a:hlinkClick r:id="rId2"/>
              </a:rPr>
              <a:t>https://www.law.berkeley.edu/wp-content/uploads/archive/2025/12/Mata-v-Avianca-Inc.pdf</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5" name="Text 0"/>
          <p:cNvSpPr/>
          <p:nvPr/>
        </p:nvSpPr>
        <p:spPr>
          <a:xfrm>
            <a:off x="567000" y="402480"/>
            <a:ext cx="9228600" cy="7495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3200" b="1" u="none" strike="noStrike">
                <a:solidFill>
                  <a:srgbClr val="16262E"/>
                </a:solidFill>
                <a:effectLst/>
                <a:uFillTx/>
                <a:latin typeface="Arial"/>
                <a:ea typeface="Arial"/>
              </a:rPr>
              <a:t>Principio 2. Gobierno de datos</a:t>
            </a:r>
            <a:endParaRPr lang="en-US" sz="3200" b="0" u="none" strike="noStrike">
              <a:solidFill>
                <a:srgbClr val="000000"/>
              </a:solidFill>
              <a:effectLst/>
              <a:uFillTx/>
              <a:latin typeface="Arial"/>
            </a:endParaRPr>
          </a:p>
        </p:txBody>
      </p:sp>
      <p:sp>
        <p:nvSpPr>
          <p:cNvPr id="306" name="Shape 1"/>
          <p:cNvSpPr/>
          <p:nvPr/>
        </p:nvSpPr>
        <p:spPr>
          <a:xfrm>
            <a:off x="567000" y="1408320"/>
            <a:ext cx="3515040" cy="4370400"/>
          </a:xfrm>
          <a:prstGeom prst="roundRect">
            <a:avLst>
              <a:gd name="adj" fmla="val 2341"/>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07" name="Shape 2"/>
          <p:cNvSpPr/>
          <p:nvPr/>
        </p:nvSpPr>
        <p:spPr>
          <a:xfrm>
            <a:off x="567000" y="1408320"/>
            <a:ext cx="3515040" cy="621360"/>
          </a:xfrm>
          <a:prstGeom prst="roundRect">
            <a:avLst>
              <a:gd name="adj" fmla="val 13235"/>
            </a:avLst>
          </a:prstGeom>
          <a:solidFill>
            <a:srgbClr val="16262E"/>
          </a:solidFill>
          <a:ln w="12700">
            <a:solidFill>
              <a:srgbClr val="16262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08" name="Shape 3"/>
          <p:cNvSpPr/>
          <p:nvPr/>
        </p:nvSpPr>
        <p:spPr>
          <a:xfrm>
            <a:off x="567000" y="1755720"/>
            <a:ext cx="3515040" cy="273960"/>
          </a:xfrm>
          <a:prstGeom prst="rect">
            <a:avLst/>
          </a:prstGeom>
          <a:solidFill>
            <a:srgbClr val="16262E"/>
          </a:solidFill>
          <a:ln w="12700">
            <a:solidFill>
              <a:srgbClr val="16262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09" name="Text 4"/>
          <p:cNvSpPr/>
          <p:nvPr/>
        </p:nvSpPr>
        <p:spPr>
          <a:xfrm>
            <a:off x="804600" y="1408320"/>
            <a:ext cx="3039480" cy="6213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FFFFFF"/>
                </a:solidFill>
                <a:effectLst/>
                <a:uFillTx/>
                <a:latin typeface="Arial"/>
                <a:ea typeface="Arial"/>
              </a:rPr>
              <a:t>Qué es</a:t>
            </a:r>
            <a:endParaRPr lang="en-US" sz="1500" b="0" u="none" strike="noStrike">
              <a:solidFill>
                <a:srgbClr val="000000"/>
              </a:solidFill>
              <a:effectLst/>
              <a:uFillTx/>
              <a:latin typeface="Arial"/>
            </a:endParaRPr>
          </a:p>
        </p:txBody>
      </p:sp>
      <p:sp>
        <p:nvSpPr>
          <p:cNvPr id="310" name="Text 5"/>
          <p:cNvSpPr/>
          <p:nvPr/>
        </p:nvSpPr>
        <p:spPr>
          <a:xfrm>
            <a:off x="804600" y="2231280"/>
            <a:ext cx="3039480" cy="3364560"/>
          </a:xfrm>
          <a:prstGeom prst="rect">
            <a:avLst/>
          </a:prstGeom>
          <a:noFill/>
          <a:ln w="0">
            <a:noFill/>
          </a:ln>
        </p:spPr>
        <p:style>
          <a:lnRef idx="0"/>
          <a:fillRef idx="0"/>
          <a:effectRef idx="0"/>
          <a:fontRef idx="minor"/>
        </p:style>
        <p:txBody>
          <a:bodyPr lIns="0" tIns="0" rIns="0" bIns="0" anchor="t">
            <a:noAutofit/>
          </a:bodyPr>
          <a:p>
            <a:pPr defTabSz="914400">
              <a:lnSpc>
                <a:spcPct val="114000"/>
              </a:lnSpc>
              <a:spcAft>
                <a:spcPts val="601"/>
              </a:spcAft>
              <a:tabLst>
                <a:tab pos="0" algn="l"/>
              </a:tabLst>
            </a:pPr>
            <a:r>
              <a:rPr lang="en-US" sz="1300" b="0" u="none" strike="noStrike">
                <a:solidFill>
                  <a:srgbClr val="16262E"/>
                </a:solidFill>
                <a:effectLst/>
                <a:uFillTx/>
                <a:latin typeface="Calibri"/>
                <a:ea typeface="Calibri"/>
              </a:rPr>
              <a:t>Saber qué información entra a qué herramienta.</a:t>
            </a:r>
            <a:endParaRPr lang="en-US" sz="1300" b="0" u="none" strike="noStrike">
              <a:solidFill>
                <a:srgbClr val="000000"/>
              </a:solidFill>
              <a:effectLst/>
              <a:uFillTx/>
              <a:latin typeface="Arial"/>
            </a:endParaRPr>
          </a:p>
          <a:p>
            <a:pPr defTabSz="914400">
              <a:lnSpc>
                <a:spcPct val="114000"/>
              </a:lnSpc>
              <a:spcAft>
                <a:spcPts val="601"/>
              </a:spcAft>
              <a:tabLst>
                <a:tab pos="0" algn="l"/>
              </a:tabLst>
            </a:pPr>
            <a:r>
              <a:rPr lang="en-US" sz="1300" b="0" u="none" strike="noStrike">
                <a:solidFill>
                  <a:srgbClr val="16262E"/>
                </a:solidFill>
                <a:effectLst/>
                <a:uFillTx/>
                <a:latin typeface="Calibri"/>
                <a:ea typeface="Calibri"/>
              </a:rPr>
              <a:t>Bajo qué contrato se procesa esa información y dónde se queda guardada.</a:t>
            </a:r>
            <a:endParaRPr lang="en-US" sz="1300" b="0" u="none" strike="noStrike">
              <a:solidFill>
                <a:srgbClr val="000000"/>
              </a:solidFill>
              <a:effectLst/>
              <a:uFillTx/>
              <a:latin typeface="Arial"/>
            </a:endParaRPr>
          </a:p>
          <a:p>
            <a:pPr defTabSz="914400">
              <a:lnSpc>
                <a:spcPct val="114000"/>
              </a:lnSpc>
              <a:spcAft>
                <a:spcPts val="601"/>
              </a:spcAft>
              <a:tabLst>
                <a:tab pos="0" algn="l"/>
              </a:tabLst>
            </a:pPr>
            <a:r>
              <a:rPr lang="en-US" sz="1300" b="0" u="none" strike="noStrike">
                <a:solidFill>
                  <a:srgbClr val="16262E"/>
                </a:solidFill>
                <a:effectLst/>
                <a:uFillTx/>
                <a:latin typeface="Calibri"/>
                <a:ea typeface="Calibri"/>
              </a:rPr>
              <a:t>Y quién responde si algo sale mal.</a:t>
            </a:r>
            <a:endParaRPr lang="en-US" sz="1300" b="0" u="none" strike="noStrike">
              <a:solidFill>
                <a:srgbClr val="000000"/>
              </a:solidFill>
              <a:effectLst/>
              <a:uFillTx/>
              <a:latin typeface="Arial"/>
            </a:endParaRPr>
          </a:p>
          <a:p>
            <a:pPr defTabSz="914400">
              <a:lnSpc>
                <a:spcPct val="114000"/>
              </a:lnSpc>
              <a:spcAft>
                <a:spcPts val="601"/>
              </a:spcAft>
              <a:tabLst>
                <a:tab pos="0" algn="l"/>
              </a:tabLst>
            </a:pPr>
            <a:r>
              <a:rPr lang="en-US" sz="1300" b="0" u="none" strike="noStrike">
                <a:solidFill>
                  <a:srgbClr val="16262E"/>
                </a:solidFill>
                <a:effectLst/>
                <a:uFillTx/>
                <a:latin typeface="Calibri"/>
                <a:ea typeface="Calibri"/>
              </a:rPr>
              <a:t>No es un tema de tecnología. Es de responsabilidad institucional.</a:t>
            </a:r>
            <a:endParaRPr lang="en-US" sz="1300" b="0" u="none" strike="noStrike">
              <a:solidFill>
                <a:srgbClr val="000000"/>
              </a:solidFill>
              <a:effectLst/>
              <a:uFillTx/>
              <a:latin typeface="Arial"/>
            </a:endParaRPr>
          </a:p>
        </p:txBody>
      </p:sp>
      <p:sp>
        <p:nvSpPr>
          <p:cNvPr id="311" name="Shape 6"/>
          <p:cNvSpPr/>
          <p:nvPr/>
        </p:nvSpPr>
        <p:spPr>
          <a:xfrm>
            <a:off x="4338360" y="1408320"/>
            <a:ext cx="3515040" cy="4370400"/>
          </a:xfrm>
          <a:prstGeom prst="roundRect">
            <a:avLst>
              <a:gd name="adj" fmla="val 2341"/>
            </a:avLst>
          </a:prstGeom>
          <a:solidFill>
            <a:srgbClr val="D7E7E7"/>
          </a:solidFill>
          <a:ln w="12700">
            <a:solidFill>
              <a:srgbClr val="D7E7E7"/>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12" name="Shape 7"/>
          <p:cNvSpPr/>
          <p:nvPr/>
        </p:nvSpPr>
        <p:spPr>
          <a:xfrm>
            <a:off x="4338360" y="1408320"/>
            <a:ext cx="3515040" cy="621360"/>
          </a:xfrm>
          <a:prstGeom prst="roundRect">
            <a:avLst>
              <a:gd name="adj" fmla="val 13235"/>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13" name="Shape 8"/>
          <p:cNvSpPr/>
          <p:nvPr/>
        </p:nvSpPr>
        <p:spPr>
          <a:xfrm>
            <a:off x="4338360" y="1755720"/>
            <a:ext cx="3515040" cy="273960"/>
          </a:xfrm>
          <a:prstGeom prst="rect">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14" name="Text 9"/>
          <p:cNvSpPr/>
          <p:nvPr/>
        </p:nvSpPr>
        <p:spPr>
          <a:xfrm>
            <a:off x="4575960" y="1408320"/>
            <a:ext cx="3039480" cy="6213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FFFFFF"/>
                </a:solidFill>
                <a:effectLst/>
                <a:uFillTx/>
                <a:latin typeface="Arial"/>
                <a:ea typeface="Arial"/>
              </a:rPr>
              <a:t>Cómo lo cumples aquí</a:t>
            </a:r>
            <a:endParaRPr lang="en-US" sz="1500" b="0" u="none" strike="noStrike">
              <a:solidFill>
                <a:srgbClr val="000000"/>
              </a:solidFill>
              <a:effectLst/>
              <a:uFillTx/>
              <a:latin typeface="Arial"/>
            </a:endParaRPr>
          </a:p>
        </p:txBody>
      </p:sp>
      <p:sp>
        <p:nvSpPr>
          <p:cNvPr id="315" name="Text 10"/>
          <p:cNvSpPr/>
          <p:nvPr/>
        </p:nvSpPr>
        <p:spPr>
          <a:xfrm>
            <a:off x="4575960" y="2231280"/>
            <a:ext cx="3039480" cy="3364560"/>
          </a:xfrm>
          <a:prstGeom prst="rect">
            <a:avLst/>
          </a:prstGeom>
          <a:noFill/>
          <a:ln w="0">
            <a:noFill/>
          </a:ln>
        </p:spPr>
        <p:style>
          <a:lnRef idx="0"/>
          <a:fillRef idx="0"/>
          <a:effectRef idx="0"/>
          <a:fontRef idx="minor"/>
        </p:style>
        <p:txBody>
          <a:bodyPr lIns="0" tIns="0" rIns="0" bIns="0" anchor="t">
            <a:noAutofit/>
          </a:bodyPr>
          <a:p>
            <a:pPr defTabSz="914400">
              <a:lnSpc>
                <a:spcPct val="114000"/>
              </a:lnSpc>
              <a:spcAft>
                <a:spcPts val="601"/>
              </a:spcAft>
              <a:tabLst>
                <a:tab pos="0" algn="l"/>
              </a:tabLst>
            </a:pPr>
            <a:r>
              <a:rPr lang="en-US" sz="1300" b="0" u="none" strike="noStrike">
                <a:solidFill>
                  <a:srgbClr val="16262E"/>
                </a:solidFill>
                <a:effectLst/>
                <a:uFillTx/>
                <a:latin typeface="Calibri"/>
                <a:ea typeface="Calibri"/>
              </a:rPr>
              <a:t>Clasificas la información antes de pegarla. Es el semáforo que vemos después del receso.</a:t>
            </a:r>
            <a:endParaRPr lang="en-US" sz="1300" b="0" u="none" strike="noStrike">
              <a:solidFill>
                <a:srgbClr val="000000"/>
              </a:solidFill>
              <a:effectLst/>
              <a:uFillTx/>
              <a:latin typeface="Arial"/>
            </a:endParaRPr>
          </a:p>
          <a:p>
            <a:pPr defTabSz="914400">
              <a:lnSpc>
                <a:spcPct val="114000"/>
              </a:lnSpc>
              <a:spcAft>
                <a:spcPts val="601"/>
              </a:spcAft>
              <a:tabLst>
                <a:tab pos="0" algn="l"/>
              </a:tabLst>
            </a:pPr>
            <a:r>
              <a:rPr lang="en-US" sz="1300" b="0" u="none" strike="noStrike">
                <a:solidFill>
                  <a:srgbClr val="16262E"/>
                </a:solidFill>
                <a:effectLst/>
                <a:uFillTx/>
                <a:latin typeface="Calibri"/>
                <a:ea typeface="Calibri"/>
              </a:rPr>
              <a:t>Información interna solo en Copilot, que es la única herramienta con contrato del Instituto.</a:t>
            </a:r>
            <a:endParaRPr lang="en-US" sz="1300" b="0" u="none" strike="noStrike">
              <a:solidFill>
                <a:srgbClr val="000000"/>
              </a:solidFill>
              <a:effectLst/>
              <a:uFillTx/>
              <a:latin typeface="Arial"/>
            </a:endParaRPr>
          </a:p>
          <a:p>
            <a:pPr defTabSz="914400">
              <a:lnSpc>
                <a:spcPct val="114000"/>
              </a:lnSpc>
              <a:spcAft>
                <a:spcPts val="601"/>
              </a:spcAft>
              <a:tabLst>
                <a:tab pos="0" algn="l"/>
              </a:tabLst>
            </a:pPr>
            <a:r>
              <a:rPr lang="en-US" sz="1300" b="0" u="none" strike="noStrike">
                <a:solidFill>
                  <a:srgbClr val="16262E"/>
                </a:solidFill>
                <a:effectLst/>
                <a:uFillTx/>
                <a:latin typeface="Calibri"/>
                <a:ea typeface="Calibri"/>
              </a:rPr>
              <a:t>Información confidencial, en ninguna: primero la enmascaras.</a:t>
            </a:r>
            <a:endParaRPr lang="en-US" sz="1300" b="0" u="none" strike="noStrike">
              <a:solidFill>
                <a:srgbClr val="000000"/>
              </a:solidFill>
              <a:effectLst/>
              <a:uFillTx/>
              <a:latin typeface="Arial"/>
            </a:endParaRPr>
          </a:p>
          <a:p>
            <a:pPr defTabSz="914400">
              <a:lnSpc>
                <a:spcPct val="114000"/>
              </a:lnSpc>
              <a:spcAft>
                <a:spcPts val="601"/>
              </a:spcAft>
              <a:tabLst>
                <a:tab pos="0" algn="l"/>
              </a:tabLst>
            </a:pPr>
            <a:r>
              <a:rPr lang="en-US" sz="1300" b="0" u="none" strike="noStrike">
                <a:solidFill>
                  <a:srgbClr val="16262E"/>
                </a:solidFill>
                <a:effectLst/>
                <a:uFillTx/>
                <a:latin typeface="Calibri"/>
                <a:ea typeface="Calibri"/>
              </a:rPr>
              <a:t>Y apagas el entrenamiento en cada herramienta gratuita que abras.</a:t>
            </a:r>
            <a:endParaRPr lang="en-US" sz="1300" b="0" u="none" strike="noStrike">
              <a:solidFill>
                <a:srgbClr val="000000"/>
              </a:solidFill>
              <a:effectLst/>
              <a:uFillTx/>
              <a:latin typeface="Arial"/>
            </a:endParaRPr>
          </a:p>
        </p:txBody>
      </p:sp>
      <p:sp>
        <p:nvSpPr>
          <p:cNvPr id="316" name="Shape 11"/>
          <p:cNvSpPr/>
          <p:nvPr/>
        </p:nvSpPr>
        <p:spPr>
          <a:xfrm>
            <a:off x="8109360" y="1408320"/>
            <a:ext cx="3515040" cy="4370400"/>
          </a:xfrm>
          <a:prstGeom prst="roundRect">
            <a:avLst>
              <a:gd name="adj" fmla="val 2341"/>
            </a:avLst>
          </a:prstGeom>
          <a:solidFill>
            <a:srgbClr val="F7E4D8"/>
          </a:solidFill>
          <a:ln w="12700">
            <a:solidFill>
              <a:srgbClr val="F7E4D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17" name="Shape 12"/>
          <p:cNvSpPr/>
          <p:nvPr/>
        </p:nvSpPr>
        <p:spPr>
          <a:xfrm>
            <a:off x="8109360" y="1408320"/>
            <a:ext cx="3515040" cy="621360"/>
          </a:xfrm>
          <a:prstGeom prst="roundRect">
            <a:avLst>
              <a:gd name="adj" fmla="val 13235"/>
            </a:avLst>
          </a:prstGeom>
          <a:solidFill>
            <a:srgbClr val="C85A28"/>
          </a:solidFill>
          <a:ln w="12700">
            <a:solidFill>
              <a:srgbClr val="C85A2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18" name="Shape 13"/>
          <p:cNvSpPr/>
          <p:nvPr/>
        </p:nvSpPr>
        <p:spPr>
          <a:xfrm>
            <a:off x="8109360" y="1755720"/>
            <a:ext cx="3515040" cy="273960"/>
          </a:xfrm>
          <a:prstGeom prst="rect">
            <a:avLst/>
          </a:prstGeom>
          <a:solidFill>
            <a:srgbClr val="C85A28"/>
          </a:solidFill>
          <a:ln w="12700">
            <a:solidFill>
              <a:srgbClr val="C85A2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19" name="Text 14"/>
          <p:cNvSpPr/>
          <p:nvPr/>
        </p:nvSpPr>
        <p:spPr>
          <a:xfrm>
            <a:off x="8347320" y="1408320"/>
            <a:ext cx="3039480" cy="6213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FFFFFF"/>
                </a:solidFill>
                <a:effectLst/>
                <a:uFillTx/>
                <a:latin typeface="Arial"/>
                <a:ea typeface="Arial"/>
              </a:rPr>
              <a:t>Qué pasa si no</a:t>
            </a:r>
            <a:endParaRPr lang="en-US" sz="1500" b="0" u="none" strike="noStrike">
              <a:solidFill>
                <a:srgbClr val="000000"/>
              </a:solidFill>
              <a:effectLst/>
              <a:uFillTx/>
              <a:latin typeface="Arial"/>
            </a:endParaRPr>
          </a:p>
        </p:txBody>
      </p:sp>
      <p:sp>
        <p:nvSpPr>
          <p:cNvPr id="320" name="Text 15"/>
          <p:cNvSpPr/>
          <p:nvPr/>
        </p:nvSpPr>
        <p:spPr>
          <a:xfrm>
            <a:off x="8347320" y="2231280"/>
            <a:ext cx="3039480" cy="3364560"/>
          </a:xfrm>
          <a:prstGeom prst="rect">
            <a:avLst/>
          </a:prstGeom>
          <a:noFill/>
          <a:ln w="0">
            <a:noFill/>
          </a:ln>
        </p:spPr>
        <p:style>
          <a:lnRef idx="0"/>
          <a:fillRef idx="0"/>
          <a:effectRef idx="0"/>
          <a:fontRef idx="minor"/>
        </p:style>
        <p:txBody>
          <a:bodyPr lIns="0" tIns="0" rIns="0" bIns="0" anchor="t">
            <a:noAutofit/>
          </a:bodyPr>
          <a:p>
            <a:pPr defTabSz="914400">
              <a:lnSpc>
                <a:spcPct val="114000"/>
              </a:lnSpc>
              <a:spcAft>
                <a:spcPts val="601"/>
              </a:spcAft>
              <a:tabLst>
                <a:tab pos="0" algn="l"/>
              </a:tabLst>
            </a:pPr>
            <a:r>
              <a:rPr lang="en-US" sz="1300" b="0" u="none" strike="noStrike">
                <a:solidFill>
                  <a:srgbClr val="16262E"/>
                </a:solidFill>
                <a:effectLst/>
                <a:uFillTx/>
                <a:latin typeface="Calibri"/>
                <a:ea typeface="Calibri"/>
              </a:rPr>
              <a:t>Samsung, 2023. La empresa permitió usar ChatGPT en marzo.</a:t>
            </a:r>
            <a:endParaRPr lang="en-US" sz="1300" b="0" u="none" strike="noStrike">
              <a:solidFill>
                <a:srgbClr val="000000"/>
              </a:solidFill>
              <a:effectLst/>
              <a:uFillTx/>
              <a:latin typeface="Arial"/>
            </a:endParaRPr>
          </a:p>
          <a:p>
            <a:pPr defTabSz="914400">
              <a:lnSpc>
                <a:spcPct val="114000"/>
              </a:lnSpc>
              <a:spcAft>
                <a:spcPts val="601"/>
              </a:spcAft>
              <a:tabLst>
                <a:tab pos="0" algn="l"/>
              </a:tabLst>
            </a:pPr>
            <a:r>
              <a:rPr lang="en-US" sz="1300" b="0" u="none" strike="noStrike">
                <a:solidFill>
                  <a:srgbClr val="16262E"/>
                </a:solidFill>
                <a:effectLst/>
                <a:uFillTx/>
                <a:latin typeface="Calibri"/>
                <a:ea typeface="Calibri"/>
              </a:rPr>
              <a:t>En menos de tres semanas hubo tres fugas: código fuente de una base de datos, datos de rendimiento de equipo, y la transcripción de una junta interna convertida en minuta.</a:t>
            </a:r>
            <a:endParaRPr lang="en-US" sz="1300" b="0" u="none" strike="noStrike">
              <a:solidFill>
                <a:srgbClr val="000000"/>
              </a:solidFill>
              <a:effectLst/>
              <a:uFillTx/>
              <a:latin typeface="Arial"/>
            </a:endParaRPr>
          </a:p>
          <a:p>
            <a:pPr defTabSz="914400">
              <a:lnSpc>
                <a:spcPct val="114000"/>
              </a:lnSpc>
              <a:spcAft>
                <a:spcPts val="601"/>
              </a:spcAft>
              <a:tabLst>
                <a:tab pos="0" algn="l"/>
              </a:tabLst>
            </a:pPr>
            <a:r>
              <a:rPr lang="en-US" sz="1300" b="0" u="none" strike="noStrike">
                <a:solidFill>
                  <a:srgbClr val="16262E"/>
                </a:solidFill>
                <a:effectLst/>
                <a:uFillTx/>
                <a:latin typeface="Calibri"/>
                <a:ea typeface="Calibri"/>
              </a:rPr>
              <a:t>El primero de mayo la empresa prohibió estas herramientas por completo.</a:t>
            </a:r>
            <a:endParaRPr lang="en-US" sz="1300" b="0" u="none" strike="noStrike">
              <a:solidFill>
                <a:srgbClr val="000000"/>
              </a:solidFill>
              <a:effectLst/>
              <a:uFillTx/>
              <a:latin typeface="Arial"/>
            </a:endParaRPr>
          </a:p>
          <a:p>
            <a:pPr defTabSz="914400">
              <a:lnSpc>
                <a:spcPct val="114000"/>
              </a:lnSpc>
              <a:spcAft>
                <a:spcPts val="601"/>
              </a:spcAft>
              <a:tabLst>
                <a:tab pos="0" algn="l"/>
              </a:tabLst>
            </a:pPr>
            <a:r>
              <a:rPr lang="en-US" sz="1300" b="0" u="none" strike="noStrike">
                <a:solidFill>
                  <a:srgbClr val="16262E"/>
                </a:solidFill>
                <a:effectLst/>
                <a:uFillTx/>
                <a:latin typeface="Calibri"/>
                <a:ea typeface="Calibri"/>
              </a:rPr>
              <a:t>Eran ingenieros de una de las empresas de tecnología más grandes del mundo. Nadie actuó de mala fe.</a:t>
            </a:r>
            <a:endParaRPr lang="en-US" sz="1300" b="0" u="none" strike="noStrike">
              <a:solidFill>
                <a:srgbClr val="000000"/>
              </a:solidFill>
              <a:effectLst/>
              <a:uFillTx/>
              <a:latin typeface="Arial"/>
            </a:endParaRPr>
          </a:p>
        </p:txBody>
      </p:sp>
      <p:sp>
        <p:nvSpPr>
          <p:cNvPr id="321" name="Shape 16"/>
          <p:cNvSpPr/>
          <p:nvPr/>
        </p:nvSpPr>
        <p:spPr>
          <a:xfrm>
            <a:off x="567000" y="5906880"/>
            <a:ext cx="11057400" cy="475200"/>
          </a:xfrm>
          <a:prstGeom prst="roundRect">
            <a:avLst>
              <a:gd name="adj" fmla="val 11538"/>
            </a:avLst>
          </a:prstGeom>
          <a:solidFill>
            <a:srgbClr val="16262E"/>
          </a:solidFill>
          <a:ln w="12700">
            <a:solidFill>
              <a:srgbClr val="16262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22" name="Text 17"/>
          <p:cNvSpPr/>
          <p:nvPr/>
        </p:nvSpPr>
        <p:spPr>
          <a:xfrm>
            <a:off x="804600" y="5943600"/>
            <a:ext cx="10581840" cy="200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0" u="none" strike="noStrike">
                <a:solidFill>
                  <a:srgbClr val="FFFFFF"/>
                </a:solidFill>
                <a:effectLst/>
                <a:uFillTx/>
                <a:latin typeface="Calibri"/>
                <a:ea typeface="Calibri"/>
              </a:rPr>
              <a:t>Siladitya Ray, Forbes, 2 de mayo de 2023. La nota original es de Mark Gurman en Bloomberg, de la misma fecha.</a:t>
            </a:r>
            <a:endParaRPr lang="en-US" sz="1100" b="0" u="none" strike="noStrike">
              <a:solidFill>
                <a:srgbClr val="000000"/>
              </a:solidFill>
              <a:effectLst/>
              <a:uFillTx/>
              <a:latin typeface="Arial"/>
            </a:endParaRPr>
          </a:p>
        </p:txBody>
      </p:sp>
      <p:sp>
        <p:nvSpPr>
          <p:cNvPr id="323" name="Text 18">
            <a:hlinkClick r:id="rId1"/>
          </p:cNvPr>
          <p:cNvSpPr/>
          <p:nvPr/>
        </p:nvSpPr>
        <p:spPr>
          <a:xfrm>
            <a:off x="804600" y="6144840"/>
            <a:ext cx="10581840" cy="200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sng" strike="noStrike">
                <a:solidFill>
                  <a:srgbClr val="D7E7E7"/>
                </a:solidFill>
                <a:effectLst/>
                <a:uFillTx/>
                <a:latin typeface="Courier New"/>
                <a:ea typeface="Courier New"/>
                <a:hlinkClick r:id="rId2"/>
              </a:rPr>
              <a:t>https://www.forbes.com/sites/siladityaray/2023/05/02/samsung-bans-chatgpt-and-other-chatbots-for-employees-after-sensitive-code-leak/</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4" name="Text 0"/>
          <p:cNvSpPr/>
          <p:nvPr/>
        </p:nvSpPr>
        <p:spPr>
          <a:xfrm>
            <a:off x="567000" y="402480"/>
            <a:ext cx="9228600" cy="7495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3200" b="1" u="none" strike="noStrike">
                <a:solidFill>
                  <a:srgbClr val="16262E"/>
                </a:solidFill>
                <a:effectLst/>
                <a:uFillTx/>
                <a:latin typeface="Arial"/>
                <a:ea typeface="Arial"/>
              </a:rPr>
              <a:t>Principio 3. Disminución de sesgos</a:t>
            </a:r>
            <a:endParaRPr lang="en-US" sz="3200" b="0" u="none" strike="noStrike">
              <a:solidFill>
                <a:srgbClr val="000000"/>
              </a:solidFill>
              <a:effectLst/>
              <a:uFillTx/>
              <a:latin typeface="Arial"/>
            </a:endParaRPr>
          </a:p>
        </p:txBody>
      </p:sp>
      <p:sp>
        <p:nvSpPr>
          <p:cNvPr id="325" name="Shape 1"/>
          <p:cNvSpPr/>
          <p:nvPr/>
        </p:nvSpPr>
        <p:spPr>
          <a:xfrm>
            <a:off x="567000" y="1408320"/>
            <a:ext cx="3515040" cy="4809240"/>
          </a:xfrm>
          <a:prstGeom prst="roundRect">
            <a:avLst>
              <a:gd name="adj" fmla="val 2341"/>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26" name="Shape 2"/>
          <p:cNvSpPr/>
          <p:nvPr/>
        </p:nvSpPr>
        <p:spPr>
          <a:xfrm>
            <a:off x="567000" y="1408320"/>
            <a:ext cx="3515040" cy="621360"/>
          </a:xfrm>
          <a:prstGeom prst="roundRect">
            <a:avLst>
              <a:gd name="adj" fmla="val 13235"/>
            </a:avLst>
          </a:prstGeom>
          <a:solidFill>
            <a:srgbClr val="16262E"/>
          </a:solidFill>
          <a:ln w="12700">
            <a:solidFill>
              <a:srgbClr val="16262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27" name="Shape 3"/>
          <p:cNvSpPr/>
          <p:nvPr/>
        </p:nvSpPr>
        <p:spPr>
          <a:xfrm>
            <a:off x="567000" y="1755720"/>
            <a:ext cx="3515040" cy="273960"/>
          </a:xfrm>
          <a:prstGeom prst="rect">
            <a:avLst/>
          </a:prstGeom>
          <a:solidFill>
            <a:srgbClr val="16262E"/>
          </a:solidFill>
          <a:ln w="12700">
            <a:solidFill>
              <a:srgbClr val="16262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28" name="Text 4"/>
          <p:cNvSpPr/>
          <p:nvPr/>
        </p:nvSpPr>
        <p:spPr>
          <a:xfrm>
            <a:off x="804600" y="1408320"/>
            <a:ext cx="3039480" cy="6213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FFFFFF"/>
                </a:solidFill>
                <a:effectLst/>
                <a:uFillTx/>
                <a:latin typeface="Arial"/>
                <a:ea typeface="Arial"/>
              </a:rPr>
              <a:t>Qué es</a:t>
            </a:r>
            <a:endParaRPr lang="en-US" sz="1500" b="0" u="none" strike="noStrike">
              <a:solidFill>
                <a:srgbClr val="000000"/>
              </a:solidFill>
              <a:effectLst/>
              <a:uFillTx/>
              <a:latin typeface="Arial"/>
            </a:endParaRPr>
          </a:p>
        </p:txBody>
      </p:sp>
      <p:sp>
        <p:nvSpPr>
          <p:cNvPr id="329" name="Text 5"/>
          <p:cNvSpPr/>
          <p:nvPr/>
        </p:nvSpPr>
        <p:spPr>
          <a:xfrm>
            <a:off x="804600" y="2231280"/>
            <a:ext cx="3039480" cy="3803400"/>
          </a:xfrm>
          <a:prstGeom prst="rect">
            <a:avLst/>
          </a:prstGeom>
          <a:noFill/>
          <a:ln w="0">
            <a:noFill/>
          </a:ln>
        </p:spPr>
        <p:style>
          <a:lnRef idx="0"/>
          <a:fillRef idx="0"/>
          <a:effectRef idx="0"/>
          <a:fontRef idx="minor"/>
        </p:style>
        <p:txBody>
          <a:bodyPr lIns="0" tIns="0" rIns="0" bIns="0" anchor="t">
            <a:noAutofit/>
          </a:bodyPr>
          <a:p>
            <a:pPr defTabSz="914400">
              <a:lnSpc>
                <a:spcPct val="114000"/>
              </a:lnSpc>
              <a:spcAft>
                <a:spcPts val="601"/>
              </a:spcAft>
              <a:tabLst>
                <a:tab pos="0" algn="l"/>
              </a:tabLst>
            </a:pPr>
            <a:r>
              <a:rPr lang="en-US" sz="1300" b="0" u="none" strike="noStrike">
                <a:solidFill>
                  <a:srgbClr val="16262E"/>
                </a:solidFill>
                <a:effectLst/>
                <a:uFillTx/>
                <a:latin typeface="Calibri"/>
                <a:ea typeface="Calibri"/>
              </a:rPr>
              <a:t>El modelo aprendió de textos escritos por personas, y esos textos ya traían sesgos.</a:t>
            </a:r>
            <a:endParaRPr lang="en-US" sz="1300" b="0" u="none" strike="noStrike">
              <a:solidFill>
                <a:srgbClr val="000000"/>
              </a:solidFill>
              <a:effectLst/>
              <a:uFillTx/>
              <a:latin typeface="Arial"/>
            </a:endParaRPr>
          </a:p>
          <a:p>
            <a:pPr defTabSz="914400">
              <a:lnSpc>
                <a:spcPct val="114000"/>
              </a:lnSpc>
              <a:spcAft>
                <a:spcPts val="601"/>
              </a:spcAft>
              <a:tabLst>
                <a:tab pos="0" algn="l"/>
              </a:tabLst>
            </a:pPr>
            <a:r>
              <a:rPr lang="en-US" sz="1300" b="0" u="none" strike="noStrike">
                <a:solidFill>
                  <a:srgbClr val="16262E"/>
                </a:solidFill>
                <a:effectLst/>
                <a:uFillTx/>
                <a:latin typeface="Calibri"/>
                <a:ea typeface="Calibri"/>
              </a:rPr>
              <a:t>Cuando le pides que describa a una población, que agrupe quejas o que clasifique testimonios, esos sesgos entran en tu análisis.</a:t>
            </a:r>
            <a:endParaRPr lang="en-US" sz="1300" b="0" u="none" strike="noStrike">
              <a:solidFill>
                <a:srgbClr val="000000"/>
              </a:solidFill>
              <a:effectLst/>
              <a:uFillTx/>
              <a:latin typeface="Arial"/>
            </a:endParaRPr>
          </a:p>
          <a:p>
            <a:pPr defTabSz="914400">
              <a:lnSpc>
                <a:spcPct val="114000"/>
              </a:lnSpc>
              <a:spcAft>
                <a:spcPts val="601"/>
              </a:spcAft>
              <a:tabLst>
                <a:tab pos="0" algn="l"/>
              </a:tabLst>
            </a:pPr>
            <a:r>
              <a:rPr lang="en-US" sz="1300" b="0" u="none" strike="noStrike">
                <a:solidFill>
                  <a:srgbClr val="16262E"/>
                </a:solidFill>
                <a:effectLst/>
                <a:uFillTx/>
                <a:latin typeface="Calibri"/>
                <a:ea typeface="Calibri"/>
              </a:rPr>
              <a:t>En evaluación de política social eso no es un detalle: cambia cómo queda descrita la gente a la que atiende el programa.</a:t>
            </a:r>
            <a:endParaRPr lang="en-US" sz="1300" b="0" u="none" strike="noStrike">
              <a:solidFill>
                <a:srgbClr val="000000"/>
              </a:solidFill>
              <a:effectLst/>
              <a:uFillTx/>
              <a:latin typeface="Arial"/>
            </a:endParaRPr>
          </a:p>
          <a:p>
            <a:pPr defTabSz="914400">
              <a:lnSpc>
                <a:spcPct val="114000"/>
              </a:lnSpc>
              <a:spcAft>
                <a:spcPts val="601"/>
              </a:spcAft>
              <a:tabLst>
                <a:tab pos="0" algn="l"/>
              </a:tabLst>
            </a:pPr>
            <a:r>
              <a:rPr lang="en-US" sz="1300" b="0" u="none" strike="noStrike">
                <a:solidFill>
                  <a:srgbClr val="16262E"/>
                </a:solidFill>
                <a:effectLst/>
                <a:uFillTx/>
                <a:latin typeface="Calibri"/>
                <a:ea typeface="Calibri"/>
              </a:rPr>
              <a:t>No se eliminan con un prompt. Se disminuyen.</a:t>
            </a:r>
            <a:endParaRPr lang="en-US" sz="1300" b="0" u="none" strike="noStrike">
              <a:solidFill>
                <a:srgbClr val="000000"/>
              </a:solidFill>
              <a:effectLst/>
              <a:uFillTx/>
              <a:latin typeface="Arial"/>
            </a:endParaRPr>
          </a:p>
        </p:txBody>
      </p:sp>
      <p:sp>
        <p:nvSpPr>
          <p:cNvPr id="330" name="Shape 6"/>
          <p:cNvSpPr/>
          <p:nvPr/>
        </p:nvSpPr>
        <p:spPr>
          <a:xfrm>
            <a:off x="4338360" y="1408320"/>
            <a:ext cx="3515040" cy="4809240"/>
          </a:xfrm>
          <a:prstGeom prst="roundRect">
            <a:avLst>
              <a:gd name="adj" fmla="val 2341"/>
            </a:avLst>
          </a:prstGeom>
          <a:solidFill>
            <a:srgbClr val="D7E7E7"/>
          </a:solidFill>
          <a:ln w="12700">
            <a:solidFill>
              <a:srgbClr val="D7E7E7"/>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31" name="Shape 7"/>
          <p:cNvSpPr/>
          <p:nvPr/>
        </p:nvSpPr>
        <p:spPr>
          <a:xfrm>
            <a:off x="4338360" y="1408320"/>
            <a:ext cx="3515040" cy="621360"/>
          </a:xfrm>
          <a:prstGeom prst="roundRect">
            <a:avLst>
              <a:gd name="adj" fmla="val 13235"/>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32" name="Shape 8"/>
          <p:cNvSpPr/>
          <p:nvPr/>
        </p:nvSpPr>
        <p:spPr>
          <a:xfrm>
            <a:off x="4338360" y="1755720"/>
            <a:ext cx="3515040" cy="273960"/>
          </a:xfrm>
          <a:prstGeom prst="rect">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33" name="Text 9"/>
          <p:cNvSpPr/>
          <p:nvPr/>
        </p:nvSpPr>
        <p:spPr>
          <a:xfrm>
            <a:off x="4575960" y="1408320"/>
            <a:ext cx="3039480" cy="6213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FFFFFF"/>
                </a:solidFill>
                <a:effectLst/>
                <a:uFillTx/>
                <a:latin typeface="Arial"/>
                <a:ea typeface="Arial"/>
              </a:rPr>
              <a:t>Cómo los disminuyes aquí</a:t>
            </a:r>
            <a:endParaRPr lang="en-US" sz="1500" b="0" u="none" strike="noStrike">
              <a:solidFill>
                <a:srgbClr val="000000"/>
              </a:solidFill>
              <a:effectLst/>
              <a:uFillTx/>
              <a:latin typeface="Arial"/>
            </a:endParaRPr>
          </a:p>
        </p:txBody>
      </p:sp>
      <p:sp>
        <p:nvSpPr>
          <p:cNvPr id="334" name="Text 10"/>
          <p:cNvSpPr/>
          <p:nvPr/>
        </p:nvSpPr>
        <p:spPr>
          <a:xfrm>
            <a:off x="4575960" y="2231280"/>
            <a:ext cx="3039480" cy="3803400"/>
          </a:xfrm>
          <a:prstGeom prst="rect">
            <a:avLst/>
          </a:prstGeom>
          <a:noFill/>
          <a:ln w="0">
            <a:noFill/>
          </a:ln>
        </p:spPr>
        <p:style>
          <a:lnRef idx="0"/>
          <a:fillRef idx="0"/>
          <a:effectRef idx="0"/>
          <a:fontRef idx="minor"/>
        </p:style>
        <p:txBody>
          <a:bodyPr lIns="0" tIns="0" rIns="0" bIns="0" anchor="t">
            <a:noAutofit/>
          </a:bodyPr>
          <a:p>
            <a:pPr defTabSz="914400">
              <a:lnSpc>
                <a:spcPct val="114000"/>
              </a:lnSpc>
              <a:spcAft>
                <a:spcPts val="601"/>
              </a:spcAft>
              <a:tabLst>
                <a:tab pos="0" algn="l"/>
              </a:tabLst>
            </a:pPr>
            <a:r>
              <a:rPr lang="en-US" sz="1300" b="0" u="none" strike="noStrike">
                <a:solidFill>
                  <a:srgbClr val="16262E"/>
                </a:solidFill>
                <a:effectLst/>
                <a:uFillTx/>
                <a:latin typeface="Calibri"/>
                <a:ea typeface="Calibri"/>
              </a:rPr>
              <a:t>Nunca dejas que el modelo describa a una población sin contrastar contra los datos reales del programa.</a:t>
            </a:r>
            <a:endParaRPr lang="en-US" sz="1300" b="0" u="none" strike="noStrike">
              <a:solidFill>
                <a:srgbClr val="000000"/>
              </a:solidFill>
              <a:effectLst/>
              <a:uFillTx/>
              <a:latin typeface="Arial"/>
            </a:endParaRPr>
          </a:p>
          <a:p>
            <a:pPr defTabSz="914400">
              <a:lnSpc>
                <a:spcPct val="114000"/>
              </a:lnSpc>
              <a:spcAft>
                <a:spcPts val="601"/>
              </a:spcAft>
              <a:tabLst>
                <a:tab pos="0" algn="l"/>
              </a:tabLst>
            </a:pPr>
            <a:r>
              <a:rPr lang="en-US" sz="1300" b="0" u="none" strike="noStrike">
                <a:solidFill>
                  <a:srgbClr val="16262E"/>
                </a:solidFill>
                <a:effectLst/>
                <a:uFillTx/>
                <a:latin typeface="Calibri"/>
                <a:ea typeface="Calibri"/>
              </a:rPr>
              <a:t>Revisas a mano todo lo que haya clasificado como "otros".</a:t>
            </a:r>
            <a:endParaRPr lang="en-US" sz="1300" b="0" u="none" strike="noStrike">
              <a:solidFill>
                <a:srgbClr val="000000"/>
              </a:solidFill>
              <a:effectLst/>
              <a:uFillTx/>
              <a:latin typeface="Arial"/>
            </a:endParaRPr>
          </a:p>
          <a:p>
            <a:pPr defTabSz="914400">
              <a:lnSpc>
                <a:spcPct val="114000"/>
              </a:lnSpc>
              <a:spcAft>
                <a:spcPts val="601"/>
              </a:spcAft>
              <a:tabLst>
                <a:tab pos="0" algn="l"/>
              </a:tabLst>
            </a:pPr>
            <a:r>
              <a:rPr lang="en-US" sz="1300" b="0" u="none" strike="noStrike">
                <a:solidFill>
                  <a:srgbClr val="16262E"/>
                </a:solidFill>
                <a:effectLst/>
                <a:uFillTx/>
                <a:latin typeface="Calibri"/>
                <a:ea typeface="Calibri"/>
              </a:rPr>
              <a:t>No pones tu conclusión dentro del prompt.</a:t>
            </a:r>
            <a:endParaRPr lang="en-US" sz="1300" b="0" u="none" strike="noStrike">
              <a:solidFill>
                <a:srgbClr val="000000"/>
              </a:solidFill>
              <a:effectLst/>
              <a:uFillTx/>
              <a:latin typeface="Arial"/>
            </a:endParaRPr>
          </a:p>
          <a:p>
            <a:pPr defTabSz="914400">
              <a:lnSpc>
                <a:spcPct val="114000"/>
              </a:lnSpc>
              <a:spcAft>
                <a:spcPts val="601"/>
              </a:spcAft>
              <a:tabLst>
                <a:tab pos="0" algn="l"/>
              </a:tabLst>
            </a:pPr>
            <a:r>
              <a:rPr lang="en-US" sz="1300" b="0" u="none" strike="noStrike">
                <a:solidFill>
                  <a:srgbClr val="16262E"/>
                </a:solidFill>
                <a:effectLst/>
                <a:uFillTx/>
                <a:latin typeface="Calibri"/>
                <a:ea typeface="Calibri"/>
              </a:rPr>
              <a:t>Revisas los registros peor redactados, que son los que peor se clasifican.</a:t>
            </a:r>
            <a:endParaRPr lang="en-US" sz="1300" b="0" u="none" strike="noStrike">
              <a:solidFill>
                <a:srgbClr val="000000"/>
              </a:solidFill>
              <a:effectLst/>
              <a:uFillTx/>
              <a:latin typeface="Arial"/>
            </a:endParaRPr>
          </a:p>
          <a:p>
            <a:pPr defTabSz="914400">
              <a:lnSpc>
                <a:spcPct val="114000"/>
              </a:lnSpc>
              <a:spcAft>
                <a:spcPts val="601"/>
              </a:spcAft>
              <a:tabLst>
                <a:tab pos="0" algn="l"/>
              </a:tabLst>
            </a:pPr>
            <a:r>
              <a:rPr lang="en-US" sz="1300" b="0" u="none" strike="noStrike">
                <a:solidFill>
                  <a:srgbClr val="16262E"/>
                </a:solidFill>
                <a:effectLst/>
                <a:uFillTx/>
                <a:latin typeface="Calibri"/>
                <a:ea typeface="Calibri"/>
              </a:rPr>
              <a:t>Los cuatro son ejercicios de estas dos semanas.</a:t>
            </a:r>
            <a:endParaRPr lang="en-US" sz="1300" b="0" u="none" strike="noStrike">
              <a:solidFill>
                <a:srgbClr val="000000"/>
              </a:solidFill>
              <a:effectLst/>
              <a:uFillTx/>
              <a:latin typeface="Arial"/>
            </a:endParaRPr>
          </a:p>
        </p:txBody>
      </p:sp>
      <p:sp>
        <p:nvSpPr>
          <p:cNvPr id="335" name="Shape 11"/>
          <p:cNvSpPr/>
          <p:nvPr/>
        </p:nvSpPr>
        <p:spPr>
          <a:xfrm>
            <a:off x="8109360" y="1408320"/>
            <a:ext cx="3515040" cy="4809240"/>
          </a:xfrm>
          <a:prstGeom prst="roundRect">
            <a:avLst>
              <a:gd name="adj" fmla="val 2341"/>
            </a:avLst>
          </a:prstGeom>
          <a:solidFill>
            <a:srgbClr val="F7E4D8"/>
          </a:solidFill>
          <a:ln w="12700">
            <a:solidFill>
              <a:srgbClr val="F7E4D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36" name="Shape 12"/>
          <p:cNvSpPr/>
          <p:nvPr/>
        </p:nvSpPr>
        <p:spPr>
          <a:xfrm>
            <a:off x="8109360" y="1408320"/>
            <a:ext cx="3515040" cy="621360"/>
          </a:xfrm>
          <a:prstGeom prst="roundRect">
            <a:avLst>
              <a:gd name="adj" fmla="val 13235"/>
            </a:avLst>
          </a:prstGeom>
          <a:solidFill>
            <a:srgbClr val="C85A28"/>
          </a:solidFill>
          <a:ln w="12700">
            <a:solidFill>
              <a:srgbClr val="C85A2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37" name="Shape 13"/>
          <p:cNvSpPr/>
          <p:nvPr/>
        </p:nvSpPr>
        <p:spPr>
          <a:xfrm>
            <a:off x="8109360" y="1755720"/>
            <a:ext cx="3515040" cy="273960"/>
          </a:xfrm>
          <a:prstGeom prst="rect">
            <a:avLst/>
          </a:prstGeom>
          <a:solidFill>
            <a:srgbClr val="C85A28"/>
          </a:solidFill>
          <a:ln w="12700">
            <a:solidFill>
              <a:srgbClr val="C85A2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38" name="Text 14"/>
          <p:cNvSpPr/>
          <p:nvPr/>
        </p:nvSpPr>
        <p:spPr>
          <a:xfrm>
            <a:off x="8347320" y="1408320"/>
            <a:ext cx="3039480" cy="6213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FFFFFF"/>
                </a:solidFill>
                <a:effectLst/>
                <a:uFillTx/>
                <a:latin typeface="Arial"/>
                <a:ea typeface="Arial"/>
              </a:rPr>
              <a:t>Cuatro formas de sesgo</a:t>
            </a:r>
            <a:endParaRPr lang="en-US" sz="1500" b="0" u="none" strike="noStrike">
              <a:solidFill>
                <a:srgbClr val="000000"/>
              </a:solidFill>
              <a:effectLst/>
              <a:uFillTx/>
              <a:latin typeface="Arial"/>
            </a:endParaRPr>
          </a:p>
        </p:txBody>
      </p:sp>
      <p:sp>
        <p:nvSpPr>
          <p:cNvPr id="339" name="Text 15"/>
          <p:cNvSpPr/>
          <p:nvPr/>
        </p:nvSpPr>
        <p:spPr>
          <a:xfrm>
            <a:off x="8347320" y="2231280"/>
            <a:ext cx="3039480" cy="3803400"/>
          </a:xfrm>
          <a:prstGeom prst="rect">
            <a:avLst/>
          </a:prstGeom>
          <a:noFill/>
          <a:ln w="0">
            <a:noFill/>
          </a:ln>
        </p:spPr>
        <p:style>
          <a:lnRef idx="0"/>
          <a:fillRef idx="0"/>
          <a:effectRef idx="0"/>
          <a:fontRef idx="minor"/>
        </p:style>
        <p:txBody>
          <a:bodyPr lIns="0" tIns="0" rIns="0" bIns="0" anchor="t">
            <a:noAutofit/>
          </a:bodyPr>
          <a:p>
            <a:pPr defTabSz="914400">
              <a:lnSpc>
                <a:spcPct val="114000"/>
              </a:lnSpc>
              <a:spcAft>
                <a:spcPts val="601"/>
              </a:spcAft>
              <a:tabLst>
                <a:tab pos="0" algn="l"/>
              </a:tabLst>
            </a:pPr>
            <a:r>
              <a:rPr lang="en-US" sz="1300" b="0" u="none" strike="noStrike">
                <a:solidFill>
                  <a:srgbClr val="16262E"/>
                </a:solidFill>
                <a:effectLst/>
                <a:uFillTx/>
                <a:latin typeface="Calibri"/>
                <a:ea typeface="Calibri"/>
              </a:rPr>
              <a:t>Los sesgos no llegan de una sola manera. En evaluación aparecen principalmente de cuatro.</a:t>
            </a:r>
            <a:endParaRPr lang="en-US" sz="1300" b="0" u="none" strike="noStrike">
              <a:solidFill>
                <a:srgbClr val="000000"/>
              </a:solidFill>
              <a:effectLst/>
              <a:uFillTx/>
              <a:latin typeface="Arial"/>
            </a:endParaRPr>
          </a:p>
          <a:p>
            <a:pPr defTabSz="914400">
              <a:lnSpc>
                <a:spcPct val="114000"/>
              </a:lnSpc>
              <a:spcAft>
                <a:spcPts val="601"/>
              </a:spcAft>
              <a:tabLst>
                <a:tab pos="0" algn="l"/>
              </a:tabLst>
            </a:pPr>
            <a:r>
              <a:rPr lang="en-US" sz="1300" b="0" u="none" strike="noStrike">
                <a:solidFill>
                  <a:srgbClr val="16262E"/>
                </a:solidFill>
                <a:effectLst/>
                <a:uFillTx/>
                <a:latin typeface="Calibri"/>
                <a:ea typeface="Calibri"/>
              </a:rPr>
              <a:t>Representación. Mayoría. Complacencia. Lingüístico.</a:t>
            </a:r>
            <a:endParaRPr lang="en-US" sz="1300" b="0" u="none" strike="noStrike">
              <a:solidFill>
                <a:srgbClr val="000000"/>
              </a:solidFill>
              <a:effectLst/>
              <a:uFillTx/>
              <a:latin typeface="Arial"/>
            </a:endParaRPr>
          </a:p>
          <a:p>
            <a:pPr defTabSz="914400">
              <a:lnSpc>
                <a:spcPct val="114000"/>
              </a:lnSpc>
              <a:spcAft>
                <a:spcPts val="601"/>
              </a:spcAft>
              <a:tabLst>
                <a:tab pos="0" algn="l"/>
              </a:tabLst>
            </a:pPr>
            <a:r>
              <a:rPr lang="en-US" sz="1300" b="0" u="none" strike="noStrike">
                <a:solidFill>
                  <a:srgbClr val="16262E"/>
                </a:solidFill>
                <a:effectLst/>
                <a:uFillTx/>
                <a:latin typeface="Calibri"/>
                <a:ea typeface="Calibri"/>
              </a:rPr>
              <a:t>Vemos cada uno con un caso real, cómo lo disminuyes, y qué cambió en la industria después.</a:t>
            </a:r>
            <a:endParaRPr lang="en-US" sz="1300" b="0" u="none" strike="noStrike">
              <a:solidFill>
                <a:srgbClr val="000000"/>
              </a:solidFill>
              <a:effectLst/>
              <a:uFillTx/>
              <a:latin typeface="Arial"/>
            </a:endParaRPr>
          </a:p>
          <a:p>
            <a:pPr defTabSz="914400">
              <a:lnSpc>
                <a:spcPct val="114000"/>
              </a:lnSpc>
              <a:spcAft>
                <a:spcPts val="601"/>
              </a:spcAft>
              <a:tabLst>
                <a:tab pos="0" algn="l"/>
              </a:tabLst>
            </a:pPr>
            <a:r>
              <a:rPr lang="en-US" sz="1300" b="0" u="none" strike="noStrike">
                <a:solidFill>
                  <a:srgbClr val="16262E"/>
                </a:solidFill>
                <a:effectLst/>
                <a:uFillTx/>
                <a:latin typeface="Calibri"/>
                <a:ea typeface="Calibri"/>
              </a:rPr>
              <a:t>Ninguno de los cuatro casos es de México.</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0" name="Text 0"/>
          <p:cNvSpPr/>
          <p:nvPr/>
        </p:nvSpPr>
        <p:spPr>
          <a:xfrm>
            <a:off x="567000" y="402480"/>
            <a:ext cx="9228600" cy="7495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3200" b="1" u="none" strike="noStrike">
                <a:solidFill>
                  <a:srgbClr val="16262E"/>
                </a:solidFill>
                <a:effectLst/>
                <a:uFillTx/>
                <a:latin typeface="Arial"/>
                <a:ea typeface="Arial"/>
              </a:rPr>
              <a:t>Sesgo 1. Representación</a:t>
            </a:r>
            <a:endParaRPr lang="en-US" sz="3200" b="0" u="none" strike="noStrike">
              <a:solidFill>
                <a:srgbClr val="000000"/>
              </a:solidFill>
              <a:effectLst/>
              <a:uFillTx/>
              <a:latin typeface="Arial"/>
            </a:endParaRPr>
          </a:p>
        </p:txBody>
      </p:sp>
      <p:sp>
        <p:nvSpPr>
          <p:cNvPr id="341" name="Text 1"/>
          <p:cNvSpPr/>
          <p:nvPr/>
        </p:nvSpPr>
        <p:spPr>
          <a:xfrm>
            <a:off x="567000" y="1280160"/>
            <a:ext cx="9960120" cy="3654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500" b="0" u="none" strike="noStrike">
                <a:solidFill>
                  <a:srgbClr val="5A6B73"/>
                </a:solidFill>
                <a:effectLst/>
                <a:uFillTx/>
                <a:latin typeface="Calibri"/>
                <a:ea typeface="Calibri"/>
              </a:rPr>
              <a:t>El modelo describe a un grupo con los supuestos que traía de sus datos de entrenamiento.</a:t>
            </a:r>
            <a:endParaRPr lang="en-US" sz="1500" b="0" u="none" strike="noStrike">
              <a:solidFill>
                <a:srgbClr val="000000"/>
              </a:solidFill>
              <a:effectLst/>
              <a:uFillTx/>
              <a:latin typeface="Arial"/>
            </a:endParaRPr>
          </a:p>
        </p:txBody>
      </p:sp>
      <p:sp>
        <p:nvSpPr>
          <p:cNvPr id="342" name="Shape 2"/>
          <p:cNvSpPr/>
          <p:nvPr/>
        </p:nvSpPr>
        <p:spPr>
          <a:xfrm>
            <a:off x="567000" y="1810440"/>
            <a:ext cx="2599560" cy="4004640"/>
          </a:xfrm>
          <a:prstGeom prst="roundRect">
            <a:avLst>
              <a:gd name="adj" fmla="val 3165"/>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43" name="Shape 3"/>
          <p:cNvSpPr/>
          <p:nvPr/>
        </p:nvSpPr>
        <p:spPr>
          <a:xfrm>
            <a:off x="567000" y="1810440"/>
            <a:ext cx="2599560" cy="548280"/>
          </a:xfrm>
          <a:prstGeom prst="roundRect">
            <a:avLst>
              <a:gd name="adj" fmla="val 15000"/>
            </a:avLst>
          </a:prstGeom>
          <a:solidFill>
            <a:srgbClr val="16262E"/>
          </a:solidFill>
          <a:ln w="12700">
            <a:solidFill>
              <a:srgbClr val="16262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44" name="Shape 4"/>
          <p:cNvSpPr/>
          <p:nvPr/>
        </p:nvSpPr>
        <p:spPr>
          <a:xfrm>
            <a:off x="567000" y="2103120"/>
            <a:ext cx="2599560" cy="255600"/>
          </a:xfrm>
          <a:prstGeom prst="rect">
            <a:avLst/>
          </a:prstGeom>
          <a:solidFill>
            <a:srgbClr val="16262E"/>
          </a:solidFill>
          <a:ln w="12700">
            <a:solidFill>
              <a:srgbClr val="16262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45" name="Text 5"/>
          <p:cNvSpPr/>
          <p:nvPr/>
        </p:nvSpPr>
        <p:spPr>
          <a:xfrm>
            <a:off x="768240" y="1810440"/>
            <a:ext cx="219708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1" u="none" strike="noStrike">
                <a:solidFill>
                  <a:srgbClr val="FFFFFF"/>
                </a:solidFill>
                <a:effectLst/>
                <a:uFillTx/>
                <a:latin typeface="Arial"/>
                <a:ea typeface="Arial"/>
              </a:rPr>
              <a:t>¿Qué es?</a:t>
            </a:r>
            <a:endParaRPr lang="en-US" sz="1350" b="0" u="none" strike="noStrike">
              <a:solidFill>
                <a:srgbClr val="000000"/>
              </a:solidFill>
              <a:effectLst/>
              <a:uFillTx/>
              <a:latin typeface="Arial"/>
            </a:endParaRPr>
          </a:p>
        </p:txBody>
      </p:sp>
      <p:sp>
        <p:nvSpPr>
          <p:cNvPr id="346" name="Text 6"/>
          <p:cNvSpPr/>
          <p:nvPr/>
        </p:nvSpPr>
        <p:spPr>
          <a:xfrm>
            <a:off x="768240" y="2523600"/>
            <a:ext cx="2197080" cy="3108600"/>
          </a:xfrm>
          <a:prstGeom prst="rect">
            <a:avLst/>
          </a:prstGeom>
          <a:noFill/>
          <a:ln w="0">
            <a:noFill/>
          </a:ln>
        </p:spPr>
        <p:style>
          <a:lnRef idx="0"/>
          <a:fillRef idx="0"/>
          <a:effectRef idx="0"/>
          <a:fontRef idx="minor"/>
        </p:style>
        <p:txBody>
          <a:bodyPr lIns="0" tIns="0" rIns="0" bIns="0" anchor="t">
            <a:noAutofit/>
          </a:bodyPr>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Le pides que describa a una población y te devuelve lo que sus datos traían, no lo que tu programa atiende.</a:t>
            </a:r>
            <a:endParaRPr lang="en-US" sz="1200" b="0" u="none" strike="noStrike">
              <a:solidFill>
                <a:srgbClr val="000000"/>
              </a:solidFill>
              <a:effectLst/>
              <a:uFillTx/>
              <a:latin typeface="Arial"/>
            </a:endParaRPr>
          </a:p>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Prueba a pedirle el perfil de "una beneficiaria típica" y fíjate qué da por hecho sin que nadie se lo haya dicho.</a:t>
            </a:r>
            <a:endParaRPr lang="en-US" sz="1200" b="0" u="none" strike="noStrike">
              <a:solidFill>
                <a:srgbClr val="000000"/>
              </a:solidFill>
              <a:effectLst/>
              <a:uFillTx/>
              <a:latin typeface="Arial"/>
            </a:endParaRPr>
          </a:p>
        </p:txBody>
      </p:sp>
      <p:sp>
        <p:nvSpPr>
          <p:cNvPr id="347" name="Shape 7"/>
          <p:cNvSpPr/>
          <p:nvPr/>
        </p:nvSpPr>
        <p:spPr>
          <a:xfrm>
            <a:off x="3386160" y="1810440"/>
            <a:ext cx="2599560" cy="4004640"/>
          </a:xfrm>
          <a:prstGeom prst="roundRect">
            <a:avLst>
              <a:gd name="adj" fmla="val 3165"/>
            </a:avLst>
          </a:prstGeom>
          <a:solidFill>
            <a:srgbClr val="F7E4D8"/>
          </a:solidFill>
          <a:ln w="12700">
            <a:solidFill>
              <a:srgbClr val="F7E4D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48" name="Shape 8"/>
          <p:cNvSpPr/>
          <p:nvPr/>
        </p:nvSpPr>
        <p:spPr>
          <a:xfrm>
            <a:off x="3386160" y="1810440"/>
            <a:ext cx="2599560" cy="548280"/>
          </a:xfrm>
          <a:prstGeom prst="roundRect">
            <a:avLst>
              <a:gd name="adj" fmla="val 15000"/>
            </a:avLst>
          </a:prstGeom>
          <a:solidFill>
            <a:srgbClr val="C85A28"/>
          </a:solidFill>
          <a:ln w="12700">
            <a:solidFill>
              <a:srgbClr val="C85A2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49" name="Shape 9"/>
          <p:cNvSpPr/>
          <p:nvPr/>
        </p:nvSpPr>
        <p:spPr>
          <a:xfrm>
            <a:off x="3386160" y="2103120"/>
            <a:ext cx="2599560" cy="255600"/>
          </a:xfrm>
          <a:prstGeom prst="rect">
            <a:avLst/>
          </a:prstGeom>
          <a:solidFill>
            <a:srgbClr val="C85A28"/>
          </a:solidFill>
          <a:ln w="12700">
            <a:solidFill>
              <a:srgbClr val="C85A2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50" name="Text 10"/>
          <p:cNvSpPr/>
          <p:nvPr/>
        </p:nvSpPr>
        <p:spPr>
          <a:xfrm>
            <a:off x="3587400" y="1810440"/>
            <a:ext cx="219708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1" u="none" strike="noStrike">
                <a:solidFill>
                  <a:srgbClr val="FFFFFF"/>
                </a:solidFill>
                <a:effectLst/>
                <a:uFillTx/>
                <a:latin typeface="Arial"/>
                <a:ea typeface="Arial"/>
              </a:rPr>
              <a:t>Caso real</a:t>
            </a:r>
            <a:endParaRPr lang="en-US" sz="1350" b="0" u="none" strike="noStrike">
              <a:solidFill>
                <a:srgbClr val="000000"/>
              </a:solidFill>
              <a:effectLst/>
              <a:uFillTx/>
              <a:latin typeface="Arial"/>
            </a:endParaRPr>
          </a:p>
        </p:txBody>
      </p:sp>
      <p:sp>
        <p:nvSpPr>
          <p:cNvPr id="351" name="Text 11"/>
          <p:cNvSpPr/>
          <p:nvPr/>
        </p:nvSpPr>
        <p:spPr>
          <a:xfrm>
            <a:off x="3587400" y="2523600"/>
            <a:ext cx="2197080" cy="3108600"/>
          </a:xfrm>
          <a:prstGeom prst="rect">
            <a:avLst/>
          </a:prstGeom>
          <a:noFill/>
          <a:ln w="0">
            <a:noFill/>
          </a:ln>
        </p:spPr>
        <p:style>
          <a:lnRef idx="0"/>
          <a:fillRef idx="0"/>
          <a:effectRef idx="0"/>
          <a:fontRef idx="minor"/>
        </p:style>
        <p:txBody>
          <a:bodyPr lIns="0" tIns="0" rIns="0" bIns="0" anchor="t">
            <a:noAutofit/>
          </a:bodyPr>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Amazon, 2018.</a:t>
            </a:r>
            <a:endParaRPr lang="en-US" sz="1200" b="0" u="none" strike="noStrike">
              <a:solidFill>
                <a:srgbClr val="000000"/>
              </a:solidFill>
              <a:effectLst/>
              <a:uFillTx/>
              <a:latin typeface="Arial"/>
            </a:endParaRPr>
          </a:p>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Un sistema de reclutamiento entrenado con diez años de currículos, casi todos de hombres.</a:t>
            </a:r>
            <a:endParaRPr lang="en-US" sz="1200" b="0" u="none" strike="noStrike">
              <a:solidFill>
                <a:srgbClr val="000000"/>
              </a:solidFill>
              <a:effectLst/>
              <a:uFillTx/>
              <a:latin typeface="Arial"/>
            </a:endParaRPr>
          </a:p>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Aprendió a bajar de calificación los currículos que decían "mujer", como en "capitana del club de ajedrez femenil".</a:t>
            </a:r>
            <a:endParaRPr lang="en-US" sz="1200" b="0" u="none" strike="noStrike">
              <a:solidFill>
                <a:srgbClr val="000000"/>
              </a:solidFill>
              <a:effectLst/>
              <a:uFillTx/>
              <a:latin typeface="Arial"/>
            </a:endParaRPr>
          </a:p>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La empresa lo descartó.</a:t>
            </a:r>
            <a:endParaRPr lang="en-US" sz="1200" b="0" u="none" strike="noStrike">
              <a:solidFill>
                <a:srgbClr val="000000"/>
              </a:solidFill>
              <a:effectLst/>
              <a:uFillTx/>
              <a:latin typeface="Arial"/>
            </a:endParaRPr>
          </a:p>
        </p:txBody>
      </p:sp>
      <p:sp>
        <p:nvSpPr>
          <p:cNvPr id="352" name="Shape 12"/>
          <p:cNvSpPr/>
          <p:nvPr/>
        </p:nvSpPr>
        <p:spPr>
          <a:xfrm>
            <a:off x="6205680" y="1810440"/>
            <a:ext cx="2599560" cy="4004640"/>
          </a:xfrm>
          <a:prstGeom prst="roundRect">
            <a:avLst>
              <a:gd name="adj" fmla="val 3165"/>
            </a:avLst>
          </a:prstGeom>
          <a:solidFill>
            <a:srgbClr val="D7E7E7"/>
          </a:solidFill>
          <a:ln w="12700">
            <a:solidFill>
              <a:srgbClr val="D7E7E7"/>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53" name="Shape 13"/>
          <p:cNvSpPr/>
          <p:nvPr/>
        </p:nvSpPr>
        <p:spPr>
          <a:xfrm>
            <a:off x="6205680" y="1810440"/>
            <a:ext cx="2599560" cy="548280"/>
          </a:xfrm>
          <a:prstGeom prst="roundRect">
            <a:avLst>
              <a:gd name="adj" fmla="val 15000"/>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54" name="Shape 14"/>
          <p:cNvSpPr/>
          <p:nvPr/>
        </p:nvSpPr>
        <p:spPr>
          <a:xfrm>
            <a:off x="6205680" y="2103120"/>
            <a:ext cx="2599560" cy="255600"/>
          </a:xfrm>
          <a:prstGeom prst="rect">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55" name="Text 15"/>
          <p:cNvSpPr/>
          <p:nvPr/>
        </p:nvSpPr>
        <p:spPr>
          <a:xfrm>
            <a:off x="6406920" y="1810440"/>
            <a:ext cx="219708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1" u="none" strike="noStrike">
                <a:solidFill>
                  <a:srgbClr val="FFFFFF"/>
                </a:solidFill>
                <a:effectLst/>
                <a:uFillTx/>
                <a:latin typeface="Arial"/>
                <a:ea typeface="Arial"/>
              </a:rPr>
              <a:t>Cómo lo disminuyes</a:t>
            </a:r>
            <a:endParaRPr lang="en-US" sz="1350" b="0" u="none" strike="noStrike">
              <a:solidFill>
                <a:srgbClr val="000000"/>
              </a:solidFill>
              <a:effectLst/>
              <a:uFillTx/>
              <a:latin typeface="Arial"/>
            </a:endParaRPr>
          </a:p>
        </p:txBody>
      </p:sp>
      <p:sp>
        <p:nvSpPr>
          <p:cNvPr id="356" name="Text 16"/>
          <p:cNvSpPr/>
          <p:nvPr/>
        </p:nvSpPr>
        <p:spPr>
          <a:xfrm>
            <a:off x="6406920" y="2523600"/>
            <a:ext cx="2197080" cy="3108600"/>
          </a:xfrm>
          <a:prstGeom prst="rect">
            <a:avLst/>
          </a:prstGeom>
          <a:noFill/>
          <a:ln w="0">
            <a:noFill/>
          </a:ln>
        </p:spPr>
        <p:style>
          <a:lnRef idx="0"/>
          <a:fillRef idx="0"/>
          <a:effectRef idx="0"/>
          <a:fontRef idx="minor"/>
        </p:style>
        <p:txBody>
          <a:bodyPr lIns="0" tIns="0" rIns="0" bIns="0" anchor="t">
            <a:noAutofit/>
          </a:bodyPr>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No dejes que el modelo caracterice a una población. Que solo extraiga lo que dice el documento.</a:t>
            </a:r>
            <a:endParaRPr lang="en-US" sz="1200" b="0" u="none" strike="noStrike">
              <a:solidFill>
                <a:srgbClr val="000000"/>
              </a:solidFill>
              <a:effectLst/>
              <a:uFillTx/>
              <a:latin typeface="Arial"/>
            </a:endParaRPr>
          </a:p>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Contrasta cualquier descripción contra los datos reales de tu padrón.</a:t>
            </a:r>
            <a:endParaRPr lang="en-US" sz="1200" b="0" u="none" strike="noStrike">
              <a:solidFill>
                <a:srgbClr val="000000"/>
              </a:solidFill>
              <a:effectLst/>
              <a:uFillTx/>
              <a:latin typeface="Arial"/>
            </a:endParaRPr>
          </a:p>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Si le pides un perfil, pídele también que diga en qué se basó.</a:t>
            </a:r>
            <a:endParaRPr lang="en-US" sz="1200" b="0" u="none" strike="noStrike">
              <a:solidFill>
                <a:srgbClr val="000000"/>
              </a:solidFill>
              <a:effectLst/>
              <a:uFillTx/>
              <a:latin typeface="Arial"/>
            </a:endParaRPr>
          </a:p>
        </p:txBody>
      </p:sp>
      <p:sp>
        <p:nvSpPr>
          <p:cNvPr id="357" name="Shape 17"/>
          <p:cNvSpPr/>
          <p:nvPr/>
        </p:nvSpPr>
        <p:spPr>
          <a:xfrm>
            <a:off x="9024840" y="1810440"/>
            <a:ext cx="2599560" cy="4004640"/>
          </a:xfrm>
          <a:prstGeom prst="roundRect">
            <a:avLst>
              <a:gd name="adj" fmla="val 3165"/>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58" name="Shape 18"/>
          <p:cNvSpPr/>
          <p:nvPr/>
        </p:nvSpPr>
        <p:spPr>
          <a:xfrm>
            <a:off x="9024840" y="1810440"/>
            <a:ext cx="2599560" cy="548280"/>
          </a:xfrm>
          <a:prstGeom prst="roundRect">
            <a:avLst>
              <a:gd name="adj" fmla="val 15000"/>
            </a:avLst>
          </a:prstGeom>
          <a:solidFill>
            <a:srgbClr val="5A6B73"/>
          </a:solidFill>
          <a:ln w="12700">
            <a:solidFill>
              <a:srgbClr val="5A6B73"/>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59" name="Shape 19"/>
          <p:cNvSpPr/>
          <p:nvPr/>
        </p:nvSpPr>
        <p:spPr>
          <a:xfrm>
            <a:off x="9024840" y="2103120"/>
            <a:ext cx="2599560" cy="255600"/>
          </a:xfrm>
          <a:prstGeom prst="rect">
            <a:avLst/>
          </a:prstGeom>
          <a:solidFill>
            <a:srgbClr val="5A6B73"/>
          </a:solidFill>
          <a:ln w="12700">
            <a:solidFill>
              <a:srgbClr val="5A6B73"/>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60" name="Text 20"/>
          <p:cNvSpPr/>
          <p:nvPr/>
        </p:nvSpPr>
        <p:spPr>
          <a:xfrm>
            <a:off x="9226080" y="1810440"/>
            <a:ext cx="219708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1" u="none" strike="noStrike">
                <a:solidFill>
                  <a:srgbClr val="FFFFFF"/>
                </a:solidFill>
                <a:effectLst/>
                <a:uFillTx/>
                <a:latin typeface="Arial"/>
                <a:ea typeface="Arial"/>
              </a:rPr>
              <a:t>Qué pasó después</a:t>
            </a:r>
            <a:endParaRPr lang="en-US" sz="1350" b="0" u="none" strike="noStrike">
              <a:solidFill>
                <a:srgbClr val="000000"/>
              </a:solidFill>
              <a:effectLst/>
              <a:uFillTx/>
              <a:latin typeface="Arial"/>
            </a:endParaRPr>
          </a:p>
        </p:txBody>
      </p:sp>
      <p:sp>
        <p:nvSpPr>
          <p:cNvPr id="361" name="Text 21"/>
          <p:cNvSpPr/>
          <p:nvPr/>
        </p:nvSpPr>
        <p:spPr>
          <a:xfrm>
            <a:off x="9226080" y="2523600"/>
            <a:ext cx="2197080" cy="3108600"/>
          </a:xfrm>
          <a:prstGeom prst="rect">
            <a:avLst/>
          </a:prstGeom>
          <a:noFill/>
          <a:ln w="0">
            <a:noFill/>
          </a:ln>
        </p:spPr>
        <p:style>
          <a:lnRef idx="0"/>
          <a:fillRef idx="0"/>
          <a:effectRef idx="0"/>
          <a:fontRef idx="minor"/>
        </p:style>
        <p:txBody>
          <a:bodyPr lIns="0" tIns="0" rIns="0" bIns="0" anchor="t">
            <a:noAutofit/>
          </a:bodyPr>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El caso puso el sesgo algorítmico en la agenda de recursos humanos.</a:t>
            </a:r>
            <a:endParaRPr lang="en-US" sz="1200" b="0" u="none" strike="noStrike">
              <a:solidFill>
                <a:srgbClr val="000000"/>
              </a:solidFill>
              <a:effectLst/>
              <a:uFillTx/>
              <a:latin typeface="Arial"/>
            </a:endParaRPr>
          </a:p>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Hoy hay regulación. Nueva York exige desde julio de 2023 una auditoría de sesgo anual e independiente para las herramientas automatizadas de contratación, publicar el resumen y avisar al candidato.</a:t>
            </a:r>
            <a:endParaRPr lang="en-US" sz="1200" b="0" u="none" strike="noStrike">
              <a:solidFill>
                <a:srgbClr val="000000"/>
              </a:solidFill>
              <a:effectLst/>
              <a:uFillTx/>
              <a:latin typeface="Arial"/>
            </a:endParaRPr>
          </a:p>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Otros estados siguieron el mismo camino.</a:t>
            </a:r>
            <a:endParaRPr lang="en-US" sz="1200" b="0" u="none" strike="noStrike">
              <a:solidFill>
                <a:srgbClr val="000000"/>
              </a:solidFill>
              <a:effectLst/>
              <a:uFillTx/>
              <a:latin typeface="Arial"/>
            </a:endParaRPr>
          </a:p>
        </p:txBody>
      </p:sp>
      <p:sp>
        <p:nvSpPr>
          <p:cNvPr id="362" name="Shape 22"/>
          <p:cNvSpPr/>
          <p:nvPr/>
        </p:nvSpPr>
        <p:spPr>
          <a:xfrm>
            <a:off x="567000" y="5943600"/>
            <a:ext cx="11057400" cy="475200"/>
          </a:xfrm>
          <a:prstGeom prst="roundRect">
            <a:avLst>
              <a:gd name="adj" fmla="val 11538"/>
            </a:avLst>
          </a:prstGeom>
          <a:solidFill>
            <a:srgbClr val="16262E"/>
          </a:solidFill>
          <a:ln w="12700">
            <a:solidFill>
              <a:srgbClr val="16262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63" name="Text 23"/>
          <p:cNvSpPr/>
          <p:nvPr/>
        </p:nvSpPr>
        <p:spPr>
          <a:xfrm>
            <a:off x="804600" y="5970960"/>
            <a:ext cx="10581840" cy="200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50" b="0" u="none" strike="noStrike">
                <a:solidFill>
                  <a:srgbClr val="FFFFFF"/>
                </a:solidFill>
                <a:effectLst/>
                <a:uFillTx/>
                <a:latin typeface="Calibri"/>
                <a:ea typeface="Calibri"/>
              </a:rPr>
              <a:t>Jeffrey Dastin, Reuters, 10 de octubre de 2018. Sobre la regulación posterior: Ley Local 144 de Nueva York, vigente desde el 1 de enero de 2023, en vigor desde el 5 de julio de 2023.</a:t>
            </a:r>
            <a:endParaRPr lang="en-US" sz="1050" b="0" u="none" strike="noStrike">
              <a:solidFill>
                <a:srgbClr val="000000"/>
              </a:solidFill>
              <a:effectLst/>
              <a:uFillTx/>
              <a:latin typeface="Arial"/>
            </a:endParaRPr>
          </a:p>
        </p:txBody>
      </p:sp>
      <p:sp>
        <p:nvSpPr>
          <p:cNvPr id="364" name="Text 24">
            <a:hlinkClick r:id="rId1"/>
          </p:cNvPr>
          <p:cNvSpPr/>
          <p:nvPr/>
        </p:nvSpPr>
        <p:spPr>
          <a:xfrm>
            <a:off x="804600" y="6172200"/>
            <a:ext cx="10581840" cy="200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sng" strike="noStrike">
                <a:solidFill>
                  <a:srgbClr val="D7E7E7"/>
                </a:solidFill>
                <a:effectLst/>
                <a:uFillTx/>
                <a:latin typeface="Courier New"/>
                <a:ea typeface="Courier New"/>
                <a:hlinkClick r:id="rId2"/>
              </a:rPr>
              <a:t>https://www.nyc.gov/site/dca/about/automated-employment-decision-tools.page</a:t>
            </a:r>
            <a:endParaRPr lang="en-US" sz="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5" name="Text 0"/>
          <p:cNvSpPr/>
          <p:nvPr/>
        </p:nvSpPr>
        <p:spPr>
          <a:xfrm>
            <a:off x="567000" y="402480"/>
            <a:ext cx="9228600" cy="7495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3200" b="1" u="none" strike="noStrike">
                <a:solidFill>
                  <a:srgbClr val="16262E"/>
                </a:solidFill>
                <a:effectLst/>
                <a:uFillTx/>
                <a:latin typeface="Arial"/>
                <a:ea typeface="Arial"/>
              </a:rPr>
              <a:t>Sesgo 2. Mayoría</a:t>
            </a:r>
            <a:endParaRPr lang="en-US" sz="3200" b="0" u="none" strike="noStrike">
              <a:solidFill>
                <a:srgbClr val="000000"/>
              </a:solidFill>
              <a:effectLst/>
              <a:uFillTx/>
              <a:latin typeface="Arial"/>
            </a:endParaRPr>
          </a:p>
        </p:txBody>
      </p:sp>
      <p:sp>
        <p:nvSpPr>
          <p:cNvPr id="366" name="Text 1"/>
          <p:cNvSpPr/>
          <p:nvPr/>
        </p:nvSpPr>
        <p:spPr>
          <a:xfrm>
            <a:off x="567000" y="1280160"/>
            <a:ext cx="9960120" cy="3654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500" b="0" u="none" strike="noStrike">
                <a:solidFill>
                  <a:srgbClr val="5A6B73"/>
                </a:solidFill>
                <a:effectLst/>
                <a:uFillTx/>
                <a:latin typeface="Calibri"/>
                <a:ea typeface="Calibri"/>
              </a:rPr>
              <a:t>El sistema funciona bien para el caso frecuente y mal para el que no lo es.</a:t>
            </a:r>
            <a:endParaRPr lang="en-US" sz="1500" b="0" u="none" strike="noStrike">
              <a:solidFill>
                <a:srgbClr val="000000"/>
              </a:solidFill>
              <a:effectLst/>
              <a:uFillTx/>
              <a:latin typeface="Arial"/>
            </a:endParaRPr>
          </a:p>
        </p:txBody>
      </p:sp>
      <p:sp>
        <p:nvSpPr>
          <p:cNvPr id="367" name="Shape 2"/>
          <p:cNvSpPr/>
          <p:nvPr/>
        </p:nvSpPr>
        <p:spPr>
          <a:xfrm>
            <a:off x="567000" y="1810440"/>
            <a:ext cx="2599560" cy="4004640"/>
          </a:xfrm>
          <a:prstGeom prst="roundRect">
            <a:avLst>
              <a:gd name="adj" fmla="val 3165"/>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68" name="Shape 3"/>
          <p:cNvSpPr/>
          <p:nvPr/>
        </p:nvSpPr>
        <p:spPr>
          <a:xfrm>
            <a:off x="567000" y="1810440"/>
            <a:ext cx="2599560" cy="548280"/>
          </a:xfrm>
          <a:prstGeom prst="roundRect">
            <a:avLst>
              <a:gd name="adj" fmla="val 15000"/>
            </a:avLst>
          </a:prstGeom>
          <a:solidFill>
            <a:srgbClr val="16262E"/>
          </a:solidFill>
          <a:ln w="12700">
            <a:solidFill>
              <a:srgbClr val="16262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69" name="Shape 4"/>
          <p:cNvSpPr/>
          <p:nvPr/>
        </p:nvSpPr>
        <p:spPr>
          <a:xfrm>
            <a:off x="567000" y="2103120"/>
            <a:ext cx="2599560" cy="255600"/>
          </a:xfrm>
          <a:prstGeom prst="rect">
            <a:avLst/>
          </a:prstGeom>
          <a:solidFill>
            <a:srgbClr val="16262E"/>
          </a:solidFill>
          <a:ln w="12700">
            <a:solidFill>
              <a:srgbClr val="16262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70" name="Text 5"/>
          <p:cNvSpPr/>
          <p:nvPr/>
        </p:nvSpPr>
        <p:spPr>
          <a:xfrm>
            <a:off x="768240" y="1810440"/>
            <a:ext cx="219708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1" u="none" strike="noStrike">
                <a:solidFill>
                  <a:srgbClr val="FFFFFF"/>
                </a:solidFill>
                <a:effectLst/>
                <a:uFillTx/>
                <a:latin typeface="Arial"/>
                <a:ea typeface="Arial"/>
              </a:rPr>
              <a:t>¿Qué es?</a:t>
            </a:r>
            <a:endParaRPr lang="en-US" sz="1350" b="0" u="none" strike="noStrike">
              <a:solidFill>
                <a:srgbClr val="000000"/>
              </a:solidFill>
              <a:effectLst/>
              <a:uFillTx/>
              <a:latin typeface="Arial"/>
            </a:endParaRPr>
          </a:p>
        </p:txBody>
      </p:sp>
      <p:sp>
        <p:nvSpPr>
          <p:cNvPr id="371" name="Text 6"/>
          <p:cNvSpPr/>
          <p:nvPr/>
        </p:nvSpPr>
        <p:spPr>
          <a:xfrm>
            <a:off x="768240" y="2523600"/>
            <a:ext cx="2197080" cy="3108600"/>
          </a:xfrm>
          <a:prstGeom prst="rect">
            <a:avLst/>
          </a:prstGeom>
          <a:noFill/>
          <a:ln w="0">
            <a:noFill/>
          </a:ln>
        </p:spPr>
        <p:style>
          <a:lnRef idx="0"/>
          <a:fillRef idx="0"/>
          <a:effectRef idx="0"/>
          <a:fontRef idx="minor"/>
        </p:style>
        <p:txBody>
          <a:bodyPr lIns="0" tIns="0" rIns="0" bIns="0" anchor="t">
            <a:noAutofit/>
          </a:bodyPr>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Cuando agrupas textos por tema, el modelo arma las categorías con lo más repetido y manda lo demás a una bolsa de "otros".</a:t>
            </a:r>
            <a:endParaRPr lang="en-US" sz="1200" b="0" u="none" strike="noStrike">
              <a:solidFill>
                <a:srgbClr val="000000"/>
              </a:solidFill>
              <a:effectLst/>
              <a:uFillTx/>
              <a:latin typeface="Arial"/>
            </a:endParaRPr>
          </a:p>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Las voces que menos aparecen suelen ser las que una evaluación más necesita ver.</a:t>
            </a:r>
            <a:endParaRPr lang="en-US" sz="1200" b="0" u="none" strike="noStrike">
              <a:solidFill>
                <a:srgbClr val="000000"/>
              </a:solidFill>
              <a:effectLst/>
              <a:uFillTx/>
              <a:latin typeface="Arial"/>
            </a:endParaRPr>
          </a:p>
        </p:txBody>
      </p:sp>
      <p:sp>
        <p:nvSpPr>
          <p:cNvPr id="372" name="Shape 7"/>
          <p:cNvSpPr/>
          <p:nvPr/>
        </p:nvSpPr>
        <p:spPr>
          <a:xfrm>
            <a:off x="3386160" y="1810440"/>
            <a:ext cx="2599560" cy="4004640"/>
          </a:xfrm>
          <a:prstGeom prst="roundRect">
            <a:avLst>
              <a:gd name="adj" fmla="val 3165"/>
            </a:avLst>
          </a:prstGeom>
          <a:solidFill>
            <a:srgbClr val="F7E4D8"/>
          </a:solidFill>
          <a:ln w="12700">
            <a:solidFill>
              <a:srgbClr val="F7E4D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73" name="Shape 8"/>
          <p:cNvSpPr/>
          <p:nvPr/>
        </p:nvSpPr>
        <p:spPr>
          <a:xfrm>
            <a:off x="3386160" y="1810440"/>
            <a:ext cx="2599560" cy="548280"/>
          </a:xfrm>
          <a:prstGeom prst="roundRect">
            <a:avLst>
              <a:gd name="adj" fmla="val 15000"/>
            </a:avLst>
          </a:prstGeom>
          <a:solidFill>
            <a:srgbClr val="C85A28"/>
          </a:solidFill>
          <a:ln w="12700">
            <a:solidFill>
              <a:srgbClr val="C85A2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74" name="Shape 9"/>
          <p:cNvSpPr/>
          <p:nvPr/>
        </p:nvSpPr>
        <p:spPr>
          <a:xfrm>
            <a:off x="3386160" y="2103120"/>
            <a:ext cx="2599560" cy="255600"/>
          </a:xfrm>
          <a:prstGeom prst="rect">
            <a:avLst/>
          </a:prstGeom>
          <a:solidFill>
            <a:srgbClr val="C85A28"/>
          </a:solidFill>
          <a:ln w="12700">
            <a:solidFill>
              <a:srgbClr val="C85A2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75" name="Text 10"/>
          <p:cNvSpPr/>
          <p:nvPr/>
        </p:nvSpPr>
        <p:spPr>
          <a:xfrm>
            <a:off x="3587400" y="1810440"/>
            <a:ext cx="219708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1" u="none" strike="noStrike">
                <a:solidFill>
                  <a:srgbClr val="FFFFFF"/>
                </a:solidFill>
                <a:effectLst/>
                <a:uFillTx/>
                <a:latin typeface="Arial"/>
                <a:ea typeface="Arial"/>
              </a:rPr>
              <a:t>Caso real</a:t>
            </a:r>
            <a:endParaRPr lang="en-US" sz="1350" b="0" u="none" strike="noStrike">
              <a:solidFill>
                <a:srgbClr val="000000"/>
              </a:solidFill>
              <a:effectLst/>
              <a:uFillTx/>
              <a:latin typeface="Arial"/>
            </a:endParaRPr>
          </a:p>
        </p:txBody>
      </p:sp>
      <p:sp>
        <p:nvSpPr>
          <p:cNvPr id="376" name="Text 11"/>
          <p:cNvSpPr/>
          <p:nvPr/>
        </p:nvSpPr>
        <p:spPr>
          <a:xfrm>
            <a:off x="3587400" y="2523600"/>
            <a:ext cx="2197080" cy="3108600"/>
          </a:xfrm>
          <a:prstGeom prst="rect">
            <a:avLst/>
          </a:prstGeom>
          <a:noFill/>
          <a:ln w="0">
            <a:noFill/>
          </a:ln>
        </p:spPr>
        <p:style>
          <a:lnRef idx="0"/>
          <a:fillRef idx="0"/>
          <a:effectRef idx="0"/>
          <a:fontRef idx="minor"/>
        </p:style>
        <p:txBody>
          <a:bodyPr lIns="0" tIns="0" rIns="0" bIns="0" anchor="t">
            <a:noAutofit/>
          </a:bodyPr>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Hospitales de Estados Unidos, 2019.</a:t>
            </a:r>
            <a:endParaRPr lang="en-US" sz="1200" b="0" u="none" strike="noStrike">
              <a:solidFill>
                <a:srgbClr val="000000"/>
              </a:solidFill>
              <a:effectLst/>
              <a:uFillTx/>
              <a:latin typeface="Arial"/>
            </a:endParaRPr>
          </a:p>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Un algoritmo asignaba cuidados adicionales usando el gasto médico previo como medida de necesidad.</a:t>
            </a:r>
            <a:endParaRPr lang="en-US" sz="1200" b="0" u="none" strike="noStrike">
              <a:solidFill>
                <a:srgbClr val="000000"/>
              </a:solidFill>
              <a:effectLst/>
              <a:uFillTx/>
              <a:latin typeface="Arial"/>
            </a:endParaRPr>
          </a:p>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Como históricamente se gastaba menos en pacientes negros con la misma enfermedad, el sistema los calificaba como más sanos de lo que estaban.</a:t>
            </a:r>
            <a:endParaRPr lang="en-US" sz="1200" b="0" u="none" strike="noStrike">
              <a:solidFill>
                <a:srgbClr val="000000"/>
              </a:solidFill>
              <a:effectLst/>
              <a:uFillTx/>
              <a:latin typeface="Arial"/>
            </a:endParaRPr>
          </a:p>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Corregir la medida más que duplicó su acceso: de 17.7 a 46.5 por ciento.</a:t>
            </a:r>
            <a:endParaRPr lang="en-US" sz="1200" b="0" u="none" strike="noStrike">
              <a:solidFill>
                <a:srgbClr val="000000"/>
              </a:solidFill>
              <a:effectLst/>
              <a:uFillTx/>
              <a:latin typeface="Arial"/>
            </a:endParaRPr>
          </a:p>
        </p:txBody>
      </p:sp>
      <p:sp>
        <p:nvSpPr>
          <p:cNvPr id="377" name="Shape 12"/>
          <p:cNvSpPr/>
          <p:nvPr/>
        </p:nvSpPr>
        <p:spPr>
          <a:xfrm>
            <a:off x="6205680" y="1810440"/>
            <a:ext cx="2599560" cy="4004640"/>
          </a:xfrm>
          <a:prstGeom prst="roundRect">
            <a:avLst>
              <a:gd name="adj" fmla="val 3165"/>
            </a:avLst>
          </a:prstGeom>
          <a:solidFill>
            <a:srgbClr val="D7E7E7"/>
          </a:solidFill>
          <a:ln w="12700">
            <a:solidFill>
              <a:srgbClr val="D7E7E7"/>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78" name="Shape 13"/>
          <p:cNvSpPr/>
          <p:nvPr/>
        </p:nvSpPr>
        <p:spPr>
          <a:xfrm>
            <a:off x="6205680" y="1810440"/>
            <a:ext cx="2599560" cy="548280"/>
          </a:xfrm>
          <a:prstGeom prst="roundRect">
            <a:avLst>
              <a:gd name="adj" fmla="val 15000"/>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79" name="Shape 14"/>
          <p:cNvSpPr/>
          <p:nvPr/>
        </p:nvSpPr>
        <p:spPr>
          <a:xfrm>
            <a:off x="6205680" y="2103120"/>
            <a:ext cx="2599560" cy="255600"/>
          </a:xfrm>
          <a:prstGeom prst="rect">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80" name="Text 15"/>
          <p:cNvSpPr/>
          <p:nvPr/>
        </p:nvSpPr>
        <p:spPr>
          <a:xfrm>
            <a:off x="6406920" y="1810440"/>
            <a:ext cx="219708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1" u="none" strike="noStrike">
                <a:solidFill>
                  <a:srgbClr val="FFFFFF"/>
                </a:solidFill>
                <a:effectLst/>
                <a:uFillTx/>
                <a:latin typeface="Arial"/>
                <a:ea typeface="Arial"/>
              </a:rPr>
              <a:t>Cómo lo disminuyes</a:t>
            </a:r>
            <a:endParaRPr lang="en-US" sz="1350" b="0" u="none" strike="noStrike">
              <a:solidFill>
                <a:srgbClr val="000000"/>
              </a:solidFill>
              <a:effectLst/>
              <a:uFillTx/>
              <a:latin typeface="Arial"/>
            </a:endParaRPr>
          </a:p>
        </p:txBody>
      </p:sp>
      <p:sp>
        <p:nvSpPr>
          <p:cNvPr id="381" name="Text 16"/>
          <p:cNvSpPr/>
          <p:nvPr/>
        </p:nvSpPr>
        <p:spPr>
          <a:xfrm>
            <a:off x="6406920" y="2523600"/>
            <a:ext cx="2197080" cy="3108600"/>
          </a:xfrm>
          <a:prstGeom prst="rect">
            <a:avLst/>
          </a:prstGeom>
          <a:noFill/>
          <a:ln w="0">
            <a:noFill/>
          </a:ln>
        </p:spPr>
        <p:style>
          <a:lnRef idx="0"/>
          <a:fillRef idx="0"/>
          <a:effectRef idx="0"/>
          <a:fontRef idx="minor"/>
        </p:style>
        <p:txBody>
          <a:bodyPr lIns="0" tIns="0" rIns="0" bIns="0" anchor="t">
            <a:noAutofit/>
          </a:bodyPr>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Revisa a mano todo lo que quedó en "otros". Ahí está lo interesante.</a:t>
            </a:r>
            <a:endParaRPr lang="en-US" sz="1200" b="0" u="none" strike="noStrike">
              <a:solidFill>
                <a:srgbClr val="000000"/>
              </a:solidFill>
              <a:effectLst/>
              <a:uFillTx/>
              <a:latin typeface="Arial"/>
            </a:endParaRPr>
          </a:p>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Pregúntate siempre si la variable que usas mide lo que crees que mide.</a:t>
            </a:r>
            <a:endParaRPr lang="en-US" sz="1200" b="0" u="none" strike="noStrike">
              <a:solidFill>
                <a:srgbClr val="000000"/>
              </a:solidFill>
              <a:effectLst/>
              <a:uFillTx/>
              <a:latin typeface="Arial"/>
            </a:endParaRPr>
          </a:p>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Gasto no es lo mismo que necesidad. Quejas no es lo mismo que problemas.</a:t>
            </a:r>
            <a:endParaRPr lang="en-US" sz="1200" b="0" u="none" strike="noStrike">
              <a:solidFill>
                <a:srgbClr val="000000"/>
              </a:solidFill>
              <a:effectLst/>
              <a:uFillTx/>
              <a:latin typeface="Arial"/>
            </a:endParaRPr>
          </a:p>
        </p:txBody>
      </p:sp>
      <p:sp>
        <p:nvSpPr>
          <p:cNvPr id="382" name="Shape 17"/>
          <p:cNvSpPr/>
          <p:nvPr/>
        </p:nvSpPr>
        <p:spPr>
          <a:xfrm>
            <a:off x="9024840" y="1810440"/>
            <a:ext cx="2599560" cy="4004640"/>
          </a:xfrm>
          <a:prstGeom prst="roundRect">
            <a:avLst>
              <a:gd name="adj" fmla="val 3165"/>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83" name="Shape 18"/>
          <p:cNvSpPr/>
          <p:nvPr/>
        </p:nvSpPr>
        <p:spPr>
          <a:xfrm>
            <a:off x="9024840" y="1810440"/>
            <a:ext cx="2599560" cy="548280"/>
          </a:xfrm>
          <a:prstGeom prst="roundRect">
            <a:avLst>
              <a:gd name="adj" fmla="val 15000"/>
            </a:avLst>
          </a:prstGeom>
          <a:solidFill>
            <a:srgbClr val="5A6B73"/>
          </a:solidFill>
          <a:ln w="12700">
            <a:solidFill>
              <a:srgbClr val="5A6B73"/>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84" name="Shape 19"/>
          <p:cNvSpPr/>
          <p:nvPr/>
        </p:nvSpPr>
        <p:spPr>
          <a:xfrm>
            <a:off x="9024840" y="2103120"/>
            <a:ext cx="2599560" cy="255600"/>
          </a:xfrm>
          <a:prstGeom prst="rect">
            <a:avLst/>
          </a:prstGeom>
          <a:solidFill>
            <a:srgbClr val="5A6B73"/>
          </a:solidFill>
          <a:ln w="12700">
            <a:solidFill>
              <a:srgbClr val="5A6B73"/>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85" name="Text 20"/>
          <p:cNvSpPr/>
          <p:nvPr/>
        </p:nvSpPr>
        <p:spPr>
          <a:xfrm>
            <a:off x="9226080" y="1810440"/>
            <a:ext cx="219708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1" u="none" strike="noStrike">
                <a:solidFill>
                  <a:srgbClr val="FFFFFF"/>
                </a:solidFill>
                <a:effectLst/>
                <a:uFillTx/>
                <a:latin typeface="Arial"/>
                <a:ea typeface="Arial"/>
              </a:rPr>
              <a:t>Qué pasó después</a:t>
            </a:r>
            <a:endParaRPr lang="en-US" sz="1350" b="0" u="none" strike="noStrike">
              <a:solidFill>
                <a:srgbClr val="000000"/>
              </a:solidFill>
              <a:effectLst/>
              <a:uFillTx/>
              <a:latin typeface="Arial"/>
            </a:endParaRPr>
          </a:p>
        </p:txBody>
      </p:sp>
      <p:sp>
        <p:nvSpPr>
          <p:cNvPr id="386" name="Text 21"/>
          <p:cNvSpPr/>
          <p:nvPr/>
        </p:nvSpPr>
        <p:spPr>
          <a:xfrm>
            <a:off x="9226080" y="2523600"/>
            <a:ext cx="2197080" cy="3108600"/>
          </a:xfrm>
          <a:prstGeom prst="rect">
            <a:avLst/>
          </a:prstGeom>
          <a:noFill/>
          <a:ln w="0">
            <a:noFill/>
          </a:ln>
        </p:spPr>
        <p:style>
          <a:lnRef idx="0"/>
          <a:fillRef idx="0"/>
          <a:effectRef idx="0"/>
          <a:fontRef idx="minor"/>
        </p:style>
        <p:txBody>
          <a:bodyPr lIns="0" tIns="0" rIns="0" bIns="0" anchor="t">
            <a:noAutofit/>
          </a:bodyPr>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El error no estaba en el algoritmo sino en la variable elegida como sustituto.</a:t>
            </a:r>
            <a:endParaRPr lang="en-US" sz="1200" b="0" u="none" strike="noStrike">
              <a:solidFill>
                <a:srgbClr val="000000"/>
              </a:solidFill>
              <a:effectLst/>
              <a:uFillTx/>
              <a:latin typeface="Arial"/>
            </a:endParaRPr>
          </a:p>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Desde entonces, "usar el costo como sustituto de la necesidad" es el ejemplo de manual de este tipo de sesgo.</a:t>
            </a:r>
            <a:endParaRPr lang="en-US" sz="1200" b="0" u="none" strike="noStrike">
              <a:solidFill>
                <a:srgbClr val="000000"/>
              </a:solidFill>
              <a:effectLst/>
              <a:uFillTx/>
              <a:latin typeface="Arial"/>
            </a:endParaRPr>
          </a:p>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Cambió la forma en que se revisan los algoritmos clínicos y de asignación de recursos.</a:t>
            </a:r>
            <a:endParaRPr lang="en-US" sz="1200" b="0" u="none" strike="noStrike">
              <a:solidFill>
                <a:srgbClr val="000000"/>
              </a:solidFill>
              <a:effectLst/>
              <a:uFillTx/>
              <a:latin typeface="Arial"/>
            </a:endParaRPr>
          </a:p>
        </p:txBody>
      </p:sp>
      <p:sp>
        <p:nvSpPr>
          <p:cNvPr id="387" name="Shape 22"/>
          <p:cNvSpPr/>
          <p:nvPr/>
        </p:nvSpPr>
        <p:spPr>
          <a:xfrm>
            <a:off x="567000" y="5943600"/>
            <a:ext cx="11057400" cy="475200"/>
          </a:xfrm>
          <a:prstGeom prst="roundRect">
            <a:avLst>
              <a:gd name="adj" fmla="val 11538"/>
            </a:avLst>
          </a:prstGeom>
          <a:solidFill>
            <a:srgbClr val="16262E"/>
          </a:solidFill>
          <a:ln w="12700">
            <a:solidFill>
              <a:srgbClr val="16262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88" name="Text 23"/>
          <p:cNvSpPr/>
          <p:nvPr/>
        </p:nvSpPr>
        <p:spPr>
          <a:xfrm>
            <a:off x="804600" y="5970960"/>
            <a:ext cx="10581840" cy="200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50" b="0" u="none" strike="noStrike">
                <a:solidFill>
                  <a:srgbClr val="FFFFFF"/>
                </a:solidFill>
                <a:effectLst/>
                <a:uFillTx/>
                <a:latin typeface="Calibri"/>
                <a:ea typeface="Calibri"/>
              </a:rPr>
              <a:t>Obermeyer, Powers, Vogeli y Mullainathan, Science 366(6464), páginas 447 a 453, 25 de octubre de 2019.</a:t>
            </a:r>
            <a:endParaRPr lang="en-US" sz="1050" b="0" u="none" strike="noStrike">
              <a:solidFill>
                <a:srgbClr val="000000"/>
              </a:solidFill>
              <a:effectLst/>
              <a:uFillTx/>
              <a:latin typeface="Arial"/>
            </a:endParaRPr>
          </a:p>
        </p:txBody>
      </p:sp>
      <p:sp>
        <p:nvSpPr>
          <p:cNvPr id="389" name="Text 24">
            <a:hlinkClick r:id="rId1"/>
          </p:cNvPr>
          <p:cNvSpPr/>
          <p:nvPr/>
        </p:nvSpPr>
        <p:spPr>
          <a:xfrm>
            <a:off x="804600" y="6172200"/>
            <a:ext cx="10581840" cy="200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sng" strike="noStrike">
                <a:solidFill>
                  <a:srgbClr val="D7E7E7"/>
                </a:solidFill>
                <a:effectLst/>
                <a:uFillTx/>
                <a:latin typeface="Courier New"/>
                <a:ea typeface="Courier New"/>
                <a:hlinkClick r:id="rId2"/>
              </a:rPr>
              <a:t>https://www.science.org/doi/10.1126/science.aax2342</a:t>
            </a:r>
            <a:endParaRPr lang="en-US" sz="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0" name="Text 0"/>
          <p:cNvSpPr/>
          <p:nvPr/>
        </p:nvSpPr>
        <p:spPr>
          <a:xfrm>
            <a:off x="567000" y="402480"/>
            <a:ext cx="9228600" cy="7495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3200" b="1" u="none" strike="noStrike">
                <a:solidFill>
                  <a:srgbClr val="16262E"/>
                </a:solidFill>
                <a:effectLst/>
                <a:uFillTx/>
                <a:latin typeface="Arial"/>
                <a:ea typeface="Arial"/>
              </a:rPr>
              <a:t>Sesgo 3. Complacencia</a:t>
            </a:r>
            <a:endParaRPr lang="en-US" sz="3200" b="0" u="none" strike="noStrike">
              <a:solidFill>
                <a:srgbClr val="000000"/>
              </a:solidFill>
              <a:effectLst/>
              <a:uFillTx/>
              <a:latin typeface="Arial"/>
            </a:endParaRPr>
          </a:p>
        </p:txBody>
      </p:sp>
      <p:sp>
        <p:nvSpPr>
          <p:cNvPr id="391" name="Text 1"/>
          <p:cNvSpPr/>
          <p:nvPr/>
        </p:nvSpPr>
        <p:spPr>
          <a:xfrm>
            <a:off x="567000" y="1280160"/>
            <a:ext cx="9960120" cy="3654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500" b="0" u="none" strike="noStrike">
                <a:solidFill>
                  <a:srgbClr val="5A6B73"/>
                </a:solidFill>
                <a:effectLst/>
                <a:uFillTx/>
                <a:latin typeface="Calibri"/>
                <a:ea typeface="Calibri"/>
              </a:rPr>
              <a:t>El modelo tiende a darte la razón, aunque tu premisa sea falsa.</a:t>
            </a:r>
            <a:endParaRPr lang="en-US" sz="1500" b="0" u="none" strike="noStrike">
              <a:solidFill>
                <a:srgbClr val="000000"/>
              </a:solidFill>
              <a:effectLst/>
              <a:uFillTx/>
              <a:latin typeface="Arial"/>
            </a:endParaRPr>
          </a:p>
        </p:txBody>
      </p:sp>
      <p:sp>
        <p:nvSpPr>
          <p:cNvPr id="392" name="Shape 2"/>
          <p:cNvSpPr/>
          <p:nvPr/>
        </p:nvSpPr>
        <p:spPr>
          <a:xfrm>
            <a:off x="567000" y="1810440"/>
            <a:ext cx="2599560" cy="4004640"/>
          </a:xfrm>
          <a:prstGeom prst="roundRect">
            <a:avLst>
              <a:gd name="adj" fmla="val 3165"/>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93" name="Shape 3"/>
          <p:cNvSpPr/>
          <p:nvPr/>
        </p:nvSpPr>
        <p:spPr>
          <a:xfrm>
            <a:off x="567000" y="1810440"/>
            <a:ext cx="2599560" cy="548280"/>
          </a:xfrm>
          <a:prstGeom prst="roundRect">
            <a:avLst>
              <a:gd name="adj" fmla="val 15000"/>
            </a:avLst>
          </a:prstGeom>
          <a:solidFill>
            <a:srgbClr val="16262E"/>
          </a:solidFill>
          <a:ln w="12700">
            <a:solidFill>
              <a:srgbClr val="16262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94" name="Shape 4"/>
          <p:cNvSpPr/>
          <p:nvPr/>
        </p:nvSpPr>
        <p:spPr>
          <a:xfrm>
            <a:off x="567000" y="2103120"/>
            <a:ext cx="2599560" cy="255600"/>
          </a:xfrm>
          <a:prstGeom prst="rect">
            <a:avLst/>
          </a:prstGeom>
          <a:solidFill>
            <a:srgbClr val="16262E"/>
          </a:solidFill>
          <a:ln w="12700">
            <a:solidFill>
              <a:srgbClr val="16262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95" name="Text 5"/>
          <p:cNvSpPr/>
          <p:nvPr/>
        </p:nvSpPr>
        <p:spPr>
          <a:xfrm>
            <a:off x="768240" y="1810440"/>
            <a:ext cx="219708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1" u="none" strike="noStrike">
                <a:solidFill>
                  <a:srgbClr val="FFFFFF"/>
                </a:solidFill>
                <a:effectLst/>
                <a:uFillTx/>
                <a:latin typeface="Arial"/>
                <a:ea typeface="Arial"/>
              </a:rPr>
              <a:t>¿Qué es?</a:t>
            </a:r>
            <a:endParaRPr lang="en-US" sz="1350" b="0" u="none" strike="noStrike">
              <a:solidFill>
                <a:srgbClr val="000000"/>
              </a:solidFill>
              <a:effectLst/>
              <a:uFillTx/>
              <a:latin typeface="Arial"/>
            </a:endParaRPr>
          </a:p>
        </p:txBody>
      </p:sp>
      <p:sp>
        <p:nvSpPr>
          <p:cNvPr id="396" name="Text 6"/>
          <p:cNvSpPr/>
          <p:nvPr/>
        </p:nvSpPr>
        <p:spPr>
          <a:xfrm>
            <a:off x="768240" y="2523600"/>
            <a:ext cx="2197080" cy="3108600"/>
          </a:xfrm>
          <a:prstGeom prst="rect">
            <a:avLst/>
          </a:prstGeom>
          <a:noFill/>
          <a:ln w="0">
            <a:noFill/>
          </a:ln>
        </p:spPr>
        <p:style>
          <a:lnRef idx="0"/>
          <a:fillRef idx="0"/>
          <a:effectRef idx="0"/>
          <a:fontRef idx="minor"/>
        </p:style>
        <p:txBody>
          <a:bodyPr lIns="0" tIns="0" rIns="0" bIns="0" anchor="t">
            <a:noAutofit/>
          </a:bodyPr>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Si tu instrucción ya trae la conclusión adentro, el modelo busca la evidencia que la confirma y deja fuera la que no.</a:t>
            </a:r>
            <a:endParaRPr lang="en-US" sz="1200" b="0" u="none" strike="noStrike">
              <a:solidFill>
                <a:srgbClr val="000000"/>
              </a:solidFill>
              <a:effectLst/>
              <a:uFillTx/>
              <a:latin typeface="Arial"/>
            </a:endParaRPr>
          </a:p>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No te miente. Elige.</a:t>
            </a:r>
            <a:endParaRPr lang="en-US" sz="1200" b="0" u="none" strike="noStrike">
              <a:solidFill>
                <a:srgbClr val="000000"/>
              </a:solidFill>
              <a:effectLst/>
              <a:uFillTx/>
              <a:latin typeface="Arial"/>
            </a:endParaRPr>
          </a:p>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Es el sesgo más fácil de provocar sin querer.</a:t>
            </a:r>
            <a:endParaRPr lang="en-US" sz="1200" b="0" u="none" strike="noStrike">
              <a:solidFill>
                <a:srgbClr val="000000"/>
              </a:solidFill>
              <a:effectLst/>
              <a:uFillTx/>
              <a:latin typeface="Arial"/>
            </a:endParaRPr>
          </a:p>
        </p:txBody>
      </p:sp>
      <p:sp>
        <p:nvSpPr>
          <p:cNvPr id="397" name="Shape 7"/>
          <p:cNvSpPr/>
          <p:nvPr/>
        </p:nvSpPr>
        <p:spPr>
          <a:xfrm>
            <a:off x="3386160" y="1810440"/>
            <a:ext cx="2599560" cy="4004640"/>
          </a:xfrm>
          <a:prstGeom prst="roundRect">
            <a:avLst>
              <a:gd name="adj" fmla="val 3165"/>
            </a:avLst>
          </a:prstGeom>
          <a:solidFill>
            <a:srgbClr val="F7E4D8"/>
          </a:solidFill>
          <a:ln w="12700">
            <a:solidFill>
              <a:srgbClr val="F7E4D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98" name="Shape 8"/>
          <p:cNvSpPr/>
          <p:nvPr/>
        </p:nvSpPr>
        <p:spPr>
          <a:xfrm>
            <a:off x="3386160" y="1810440"/>
            <a:ext cx="2599560" cy="548280"/>
          </a:xfrm>
          <a:prstGeom prst="roundRect">
            <a:avLst>
              <a:gd name="adj" fmla="val 15000"/>
            </a:avLst>
          </a:prstGeom>
          <a:solidFill>
            <a:srgbClr val="C85A28"/>
          </a:solidFill>
          <a:ln w="12700">
            <a:solidFill>
              <a:srgbClr val="C85A2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99" name="Shape 9"/>
          <p:cNvSpPr/>
          <p:nvPr/>
        </p:nvSpPr>
        <p:spPr>
          <a:xfrm>
            <a:off x="3386160" y="2103120"/>
            <a:ext cx="2599560" cy="255600"/>
          </a:xfrm>
          <a:prstGeom prst="rect">
            <a:avLst/>
          </a:prstGeom>
          <a:solidFill>
            <a:srgbClr val="C85A28"/>
          </a:solidFill>
          <a:ln w="12700">
            <a:solidFill>
              <a:srgbClr val="C85A2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00" name="Text 10"/>
          <p:cNvSpPr/>
          <p:nvPr/>
        </p:nvSpPr>
        <p:spPr>
          <a:xfrm>
            <a:off x="3587400" y="1810440"/>
            <a:ext cx="219708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1" u="none" strike="noStrike">
                <a:solidFill>
                  <a:srgbClr val="FFFFFF"/>
                </a:solidFill>
                <a:effectLst/>
                <a:uFillTx/>
                <a:latin typeface="Arial"/>
                <a:ea typeface="Arial"/>
              </a:rPr>
              <a:t>Caso real</a:t>
            </a:r>
            <a:endParaRPr lang="en-US" sz="1350" b="0" u="none" strike="noStrike">
              <a:solidFill>
                <a:srgbClr val="000000"/>
              </a:solidFill>
              <a:effectLst/>
              <a:uFillTx/>
              <a:latin typeface="Arial"/>
            </a:endParaRPr>
          </a:p>
        </p:txBody>
      </p:sp>
      <p:sp>
        <p:nvSpPr>
          <p:cNvPr id="401" name="Text 11"/>
          <p:cNvSpPr/>
          <p:nvPr/>
        </p:nvSpPr>
        <p:spPr>
          <a:xfrm>
            <a:off x="3587400" y="2523600"/>
            <a:ext cx="2197080" cy="3108600"/>
          </a:xfrm>
          <a:prstGeom prst="rect">
            <a:avLst/>
          </a:prstGeom>
          <a:noFill/>
          <a:ln w="0">
            <a:noFill/>
          </a:ln>
        </p:spPr>
        <p:style>
          <a:lnRef idx="0"/>
          <a:fillRef idx="0"/>
          <a:effectRef idx="0"/>
          <a:fontRef idx="minor"/>
        </p:style>
        <p:txBody>
          <a:bodyPr lIns="0" tIns="0" rIns="0" bIns="0" anchor="t">
            <a:noAutofit/>
          </a:bodyPr>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OpenAI, abril de 2025.</a:t>
            </a:r>
            <a:endParaRPr lang="en-US" sz="1200" b="0" u="none" strike="noStrike">
              <a:solidFill>
                <a:srgbClr val="000000"/>
              </a:solidFill>
              <a:effectLst/>
              <a:uFillTx/>
              <a:latin typeface="Arial"/>
            </a:endParaRPr>
          </a:p>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La empresa lanzó una actualización el 25 de abril y empezó a revertirla el 28.</a:t>
            </a:r>
            <a:endParaRPr lang="en-US" sz="1200" b="0" u="none" strike="noStrike">
              <a:solidFill>
                <a:srgbClr val="000000"/>
              </a:solidFill>
              <a:effectLst/>
              <a:uFillTx/>
              <a:latin typeface="Arial"/>
            </a:endParaRPr>
          </a:p>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El modelo se había vuelto demasiado complaciente: validaba ideas malas y le daba la razón al usuario en cosas donde no la tenía.</a:t>
            </a:r>
            <a:endParaRPr lang="en-US" sz="1200" b="0" u="none" strike="noStrike">
              <a:solidFill>
                <a:srgbClr val="000000"/>
              </a:solidFill>
              <a:effectLst/>
              <a:uFillTx/>
              <a:latin typeface="Arial"/>
            </a:endParaRPr>
          </a:p>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La propia empresa publicó dos análisis del error.</a:t>
            </a:r>
            <a:endParaRPr lang="en-US" sz="1200" b="0" u="none" strike="noStrike">
              <a:solidFill>
                <a:srgbClr val="000000"/>
              </a:solidFill>
              <a:effectLst/>
              <a:uFillTx/>
              <a:latin typeface="Arial"/>
            </a:endParaRPr>
          </a:p>
        </p:txBody>
      </p:sp>
      <p:sp>
        <p:nvSpPr>
          <p:cNvPr id="402" name="Shape 12"/>
          <p:cNvSpPr/>
          <p:nvPr/>
        </p:nvSpPr>
        <p:spPr>
          <a:xfrm>
            <a:off x="6205680" y="1810440"/>
            <a:ext cx="2599560" cy="4004640"/>
          </a:xfrm>
          <a:prstGeom prst="roundRect">
            <a:avLst>
              <a:gd name="adj" fmla="val 3165"/>
            </a:avLst>
          </a:prstGeom>
          <a:solidFill>
            <a:srgbClr val="D7E7E7"/>
          </a:solidFill>
          <a:ln w="12700">
            <a:solidFill>
              <a:srgbClr val="D7E7E7"/>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03" name="Shape 13"/>
          <p:cNvSpPr/>
          <p:nvPr/>
        </p:nvSpPr>
        <p:spPr>
          <a:xfrm>
            <a:off x="6205680" y="1810440"/>
            <a:ext cx="2599560" cy="548280"/>
          </a:xfrm>
          <a:prstGeom prst="roundRect">
            <a:avLst>
              <a:gd name="adj" fmla="val 15000"/>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04" name="Shape 14"/>
          <p:cNvSpPr/>
          <p:nvPr/>
        </p:nvSpPr>
        <p:spPr>
          <a:xfrm>
            <a:off x="6205680" y="2103120"/>
            <a:ext cx="2599560" cy="255600"/>
          </a:xfrm>
          <a:prstGeom prst="rect">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05" name="Text 15"/>
          <p:cNvSpPr/>
          <p:nvPr/>
        </p:nvSpPr>
        <p:spPr>
          <a:xfrm>
            <a:off x="6406920" y="1810440"/>
            <a:ext cx="219708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1" u="none" strike="noStrike">
                <a:solidFill>
                  <a:srgbClr val="FFFFFF"/>
                </a:solidFill>
                <a:effectLst/>
                <a:uFillTx/>
                <a:latin typeface="Arial"/>
                <a:ea typeface="Arial"/>
              </a:rPr>
              <a:t>Cómo lo disminuyes</a:t>
            </a:r>
            <a:endParaRPr lang="en-US" sz="1350" b="0" u="none" strike="noStrike">
              <a:solidFill>
                <a:srgbClr val="000000"/>
              </a:solidFill>
              <a:effectLst/>
              <a:uFillTx/>
              <a:latin typeface="Arial"/>
            </a:endParaRPr>
          </a:p>
        </p:txBody>
      </p:sp>
      <p:sp>
        <p:nvSpPr>
          <p:cNvPr id="406" name="Text 16"/>
          <p:cNvSpPr/>
          <p:nvPr/>
        </p:nvSpPr>
        <p:spPr>
          <a:xfrm>
            <a:off x="6406920" y="2523600"/>
            <a:ext cx="2197080" cy="3108600"/>
          </a:xfrm>
          <a:prstGeom prst="rect">
            <a:avLst/>
          </a:prstGeom>
          <a:noFill/>
          <a:ln w="0">
            <a:noFill/>
          </a:ln>
        </p:spPr>
        <p:style>
          <a:lnRef idx="0"/>
          <a:fillRef idx="0"/>
          <a:effectRef idx="0"/>
          <a:fontRef idx="minor"/>
        </p:style>
        <p:txBody>
          <a:bodyPr lIns="0" tIns="0" rIns="0" bIns="0" anchor="t">
            <a:noAutofit/>
          </a:bodyPr>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Nunca pongas tu conclusión en el prompt. No preguntes "confírmame que el programa fue exitoso".</a:t>
            </a:r>
            <a:endParaRPr lang="en-US" sz="1200" b="0" u="none" strike="noStrike">
              <a:solidFill>
                <a:srgbClr val="000000"/>
              </a:solidFill>
              <a:effectLst/>
              <a:uFillTx/>
              <a:latin typeface="Arial"/>
            </a:endParaRPr>
          </a:p>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Pide por separado la evidencia a favor y la evidencia en contra.</a:t>
            </a:r>
            <a:endParaRPr lang="en-US" sz="1200" b="0" u="none" strike="noStrike">
              <a:solidFill>
                <a:srgbClr val="000000"/>
              </a:solidFill>
              <a:effectLst/>
              <a:uFillTx/>
              <a:latin typeface="Arial"/>
            </a:endParaRPr>
          </a:p>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Y pide que te diga explícitamente si alguna de las dos listas quedó vacía.</a:t>
            </a:r>
            <a:endParaRPr lang="en-US" sz="1200" b="0" u="none" strike="noStrike">
              <a:solidFill>
                <a:srgbClr val="000000"/>
              </a:solidFill>
              <a:effectLst/>
              <a:uFillTx/>
              <a:latin typeface="Arial"/>
            </a:endParaRPr>
          </a:p>
        </p:txBody>
      </p:sp>
      <p:sp>
        <p:nvSpPr>
          <p:cNvPr id="407" name="Shape 17"/>
          <p:cNvSpPr/>
          <p:nvPr/>
        </p:nvSpPr>
        <p:spPr>
          <a:xfrm>
            <a:off x="9024840" y="1810440"/>
            <a:ext cx="2599560" cy="4004640"/>
          </a:xfrm>
          <a:prstGeom prst="roundRect">
            <a:avLst>
              <a:gd name="adj" fmla="val 3165"/>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08" name="Shape 18"/>
          <p:cNvSpPr/>
          <p:nvPr/>
        </p:nvSpPr>
        <p:spPr>
          <a:xfrm>
            <a:off x="9024840" y="1810440"/>
            <a:ext cx="2599560" cy="548280"/>
          </a:xfrm>
          <a:prstGeom prst="roundRect">
            <a:avLst>
              <a:gd name="adj" fmla="val 15000"/>
            </a:avLst>
          </a:prstGeom>
          <a:solidFill>
            <a:srgbClr val="5A6B73"/>
          </a:solidFill>
          <a:ln w="12700">
            <a:solidFill>
              <a:srgbClr val="5A6B73"/>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09" name="Shape 19"/>
          <p:cNvSpPr/>
          <p:nvPr/>
        </p:nvSpPr>
        <p:spPr>
          <a:xfrm>
            <a:off x="9024840" y="2103120"/>
            <a:ext cx="2599560" cy="255600"/>
          </a:xfrm>
          <a:prstGeom prst="rect">
            <a:avLst/>
          </a:prstGeom>
          <a:solidFill>
            <a:srgbClr val="5A6B73"/>
          </a:solidFill>
          <a:ln w="12700">
            <a:solidFill>
              <a:srgbClr val="5A6B73"/>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10" name="Text 20"/>
          <p:cNvSpPr/>
          <p:nvPr/>
        </p:nvSpPr>
        <p:spPr>
          <a:xfrm>
            <a:off x="9226080" y="1810440"/>
            <a:ext cx="219708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1" u="none" strike="noStrike">
                <a:solidFill>
                  <a:srgbClr val="FFFFFF"/>
                </a:solidFill>
                <a:effectLst/>
                <a:uFillTx/>
                <a:latin typeface="Arial"/>
                <a:ea typeface="Arial"/>
              </a:rPr>
              <a:t>Qué pasó después</a:t>
            </a:r>
            <a:endParaRPr lang="en-US" sz="1350" b="0" u="none" strike="noStrike">
              <a:solidFill>
                <a:srgbClr val="000000"/>
              </a:solidFill>
              <a:effectLst/>
              <a:uFillTx/>
              <a:latin typeface="Arial"/>
            </a:endParaRPr>
          </a:p>
        </p:txBody>
      </p:sp>
      <p:sp>
        <p:nvSpPr>
          <p:cNvPr id="411" name="Text 21"/>
          <p:cNvSpPr/>
          <p:nvPr/>
        </p:nvSpPr>
        <p:spPr>
          <a:xfrm>
            <a:off x="9226080" y="2523600"/>
            <a:ext cx="2197080" cy="3108600"/>
          </a:xfrm>
          <a:prstGeom prst="rect">
            <a:avLst/>
          </a:prstGeom>
          <a:noFill/>
          <a:ln w="0">
            <a:noFill/>
          </a:ln>
        </p:spPr>
        <p:style>
          <a:lnRef idx="0"/>
          <a:fillRef idx="0"/>
          <a:effectRef idx="0"/>
          <a:fontRef idx="minor"/>
        </p:style>
        <p:txBody>
          <a:bodyPr lIns="0" tIns="0" rIns="0" bIns="0" anchor="t">
            <a:noAutofit/>
          </a:bodyPr>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La empresa cambió su proceso de revisión: ahora el comportamiento del modelo puede bloquear un lanzamiento, no solo las métricas.</a:t>
            </a:r>
            <a:endParaRPr lang="en-US" sz="1200" b="0" u="none" strike="noStrike">
              <a:solidFill>
                <a:srgbClr val="000000"/>
              </a:solidFill>
              <a:effectLst/>
              <a:uFillTx/>
              <a:latin typeface="Arial"/>
            </a:endParaRPr>
          </a:p>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Cuando el propio fabricante lo documenta, deja de ser anécdota.</a:t>
            </a:r>
            <a:endParaRPr lang="en-US" sz="1200" b="0" u="none" strike="noStrike">
              <a:solidFill>
                <a:srgbClr val="000000"/>
              </a:solidFill>
              <a:effectLst/>
              <a:uFillTx/>
              <a:latin typeface="Arial"/>
            </a:endParaRPr>
          </a:p>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Es una propiedad del sistema que tienes que vigilar tú.</a:t>
            </a:r>
            <a:endParaRPr lang="en-US" sz="1200" b="0" u="none" strike="noStrike">
              <a:solidFill>
                <a:srgbClr val="000000"/>
              </a:solidFill>
              <a:effectLst/>
              <a:uFillTx/>
              <a:latin typeface="Arial"/>
            </a:endParaRPr>
          </a:p>
        </p:txBody>
      </p:sp>
      <p:sp>
        <p:nvSpPr>
          <p:cNvPr id="412" name="Shape 22"/>
          <p:cNvSpPr/>
          <p:nvPr/>
        </p:nvSpPr>
        <p:spPr>
          <a:xfrm>
            <a:off x="567000" y="5943600"/>
            <a:ext cx="11057400" cy="475200"/>
          </a:xfrm>
          <a:prstGeom prst="roundRect">
            <a:avLst>
              <a:gd name="adj" fmla="val 11538"/>
            </a:avLst>
          </a:prstGeom>
          <a:solidFill>
            <a:srgbClr val="16262E"/>
          </a:solidFill>
          <a:ln w="12700">
            <a:solidFill>
              <a:srgbClr val="16262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13" name="Text 23"/>
          <p:cNvSpPr/>
          <p:nvPr/>
        </p:nvSpPr>
        <p:spPr>
          <a:xfrm>
            <a:off x="804600" y="5970960"/>
            <a:ext cx="10581840" cy="200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50" b="0" u="none" strike="noStrike">
                <a:solidFill>
                  <a:srgbClr val="FFFFFF"/>
                </a:solidFill>
                <a:effectLst/>
                <a:uFillTx/>
                <a:latin typeface="Calibri"/>
                <a:ea typeface="Calibri"/>
              </a:rPr>
              <a:t>Análisis publicados por OpenAI el 29 de abril y el 2 de mayo de 2025.</a:t>
            </a:r>
            <a:endParaRPr lang="en-US" sz="1050" b="0" u="none" strike="noStrike">
              <a:solidFill>
                <a:srgbClr val="000000"/>
              </a:solidFill>
              <a:effectLst/>
              <a:uFillTx/>
              <a:latin typeface="Arial"/>
            </a:endParaRPr>
          </a:p>
        </p:txBody>
      </p:sp>
      <p:sp>
        <p:nvSpPr>
          <p:cNvPr id="414" name="Text 24">
            <a:hlinkClick r:id="rId1"/>
          </p:cNvPr>
          <p:cNvSpPr/>
          <p:nvPr/>
        </p:nvSpPr>
        <p:spPr>
          <a:xfrm>
            <a:off x="804600" y="6172200"/>
            <a:ext cx="10581840" cy="200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sng" strike="noStrike">
                <a:solidFill>
                  <a:srgbClr val="D7E7E7"/>
                </a:solidFill>
                <a:effectLst/>
                <a:uFillTx/>
                <a:latin typeface="Courier New"/>
                <a:ea typeface="Courier New"/>
                <a:hlinkClick r:id="rId2"/>
              </a:rPr>
              <a:t>https://openai.com/index/expanding-on-sycophancy/</a:t>
            </a:r>
            <a:endParaRPr lang="en-US" sz="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5" name="Text 0"/>
          <p:cNvSpPr/>
          <p:nvPr/>
        </p:nvSpPr>
        <p:spPr>
          <a:xfrm>
            <a:off x="567000" y="402480"/>
            <a:ext cx="9228600" cy="7495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3200" b="1" u="none" strike="noStrike">
                <a:solidFill>
                  <a:srgbClr val="16262E"/>
                </a:solidFill>
                <a:effectLst/>
                <a:uFillTx/>
                <a:latin typeface="Arial"/>
                <a:ea typeface="Arial"/>
              </a:rPr>
              <a:t>Sesgo 4. Lingüístico</a:t>
            </a:r>
            <a:endParaRPr lang="en-US" sz="3200" b="0" u="none" strike="noStrike">
              <a:solidFill>
                <a:srgbClr val="000000"/>
              </a:solidFill>
              <a:effectLst/>
              <a:uFillTx/>
              <a:latin typeface="Arial"/>
            </a:endParaRPr>
          </a:p>
        </p:txBody>
      </p:sp>
      <p:sp>
        <p:nvSpPr>
          <p:cNvPr id="416" name="Text 1"/>
          <p:cNvSpPr/>
          <p:nvPr/>
        </p:nvSpPr>
        <p:spPr>
          <a:xfrm>
            <a:off x="567000" y="1280160"/>
            <a:ext cx="9960120" cy="3654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500" b="0" u="none" strike="noStrike">
                <a:solidFill>
                  <a:srgbClr val="5A6B73"/>
                </a:solidFill>
                <a:effectLst/>
                <a:uFillTx/>
                <a:latin typeface="Calibri"/>
                <a:ea typeface="Calibri"/>
              </a:rPr>
              <a:t>El modelo funciona peor con lenguas y variantes que estaban poco representadas.</a:t>
            </a:r>
            <a:endParaRPr lang="en-US" sz="1500" b="0" u="none" strike="noStrike">
              <a:solidFill>
                <a:srgbClr val="000000"/>
              </a:solidFill>
              <a:effectLst/>
              <a:uFillTx/>
              <a:latin typeface="Arial"/>
            </a:endParaRPr>
          </a:p>
        </p:txBody>
      </p:sp>
      <p:sp>
        <p:nvSpPr>
          <p:cNvPr id="417" name="Shape 2"/>
          <p:cNvSpPr/>
          <p:nvPr/>
        </p:nvSpPr>
        <p:spPr>
          <a:xfrm>
            <a:off x="567000" y="1810440"/>
            <a:ext cx="2599560" cy="4004640"/>
          </a:xfrm>
          <a:prstGeom prst="roundRect">
            <a:avLst>
              <a:gd name="adj" fmla="val 3165"/>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18" name="Shape 3"/>
          <p:cNvSpPr/>
          <p:nvPr/>
        </p:nvSpPr>
        <p:spPr>
          <a:xfrm>
            <a:off x="567000" y="1810440"/>
            <a:ext cx="2599560" cy="548280"/>
          </a:xfrm>
          <a:prstGeom prst="roundRect">
            <a:avLst>
              <a:gd name="adj" fmla="val 15000"/>
            </a:avLst>
          </a:prstGeom>
          <a:solidFill>
            <a:srgbClr val="16262E"/>
          </a:solidFill>
          <a:ln w="12700">
            <a:solidFill>
              <a:srgbClr val="16262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19" name="Shape 4"/>
          <p:cNvSpPr/>
          <p:nvPr/>
        </p:nvSpPr>
        <p:spPr>
          <a:xfrm>
            <a:off x="567000" y="2103120"/>
            <a:ext cx="2599560" cy="255600"/>
          </a:xfrm>
          <a:prstGeom prst="rect">
            <a:avLst/>
          </a:prstGeom>
          <a:solidFill>
            <a:srgbClr val="16262E"/>
          </a:solidFill>
          <a:ln w="12700">
            <a:solidFill>
              <a:srgbClr val="16262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20" name="Text 5"/>
          <p:cNvSpPr/>
          <p:nvPr/>
        </p:nvSpPr>
        <p:spPr>
          <a:xfrm>
            <a:off x="768240" y="1810440"/>
            <a:ext cx="219708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1" u="none" strike="noStrike">
                <a:solidFill>
                  <a:srgbClr val="FFFFFF"/>
                </a:solidFill>
                <a:effectLst/>
                <a:uFillTx/>
                <a:latin typeface="Arial"/>
                <a:ea typeface="Arial"/>
              </a:rPr>
              <a:t>¿Qué es?</a:t>
            </a:r>
            <a:endParaRPr lang="en-US" sz="1350" b="0" u="none" strike="noStrike">
              <a:solidFill>
                <a:srgbClr val="000000"/>
              </a:solidFill>
              <a:effectLst/>
              <a:uFillTx/>
              <a:latin typeface="Arial"/>
            </a:endParaRPr>
          </a:p>
        </p:txBody>
      </p:sp>
      <p:sp>
        <p:nvSpPr>
          <p:cNvPr id="421" name="Text 6"/>
          <p:cNvSpPr/>
          <p:nvPr/>
        </p:nvSpPr>
        <p:spPr>
          <a:xfrm>
            <a:off x="768240" y="2523600"/>
            <a:ext cx="2197080" cy="3108600"/>
          </a:xfrm>
          <a:prstGeom prst="rect">
            <a:avLst/>
          </a:prstGeom>
          <a:noFill/>
          <a:ln w="0">
            <a:noFill/>
          </a:ln>
        </p:spPr>
        <p:style>
          <a:lnRef idx="0"/>
          <a:fillRef idx="0"/>
          <a:effectRef idx="0"/>
          <a:fontRef idx="minor"/>
        </p:style>
        <p:txBody>
          <a:bodyPr lIns="0" tIns="0" rIns="0" bIns="0" anchor="t">
            <a:noAutofit/>
          </a:bodyPr>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Funciona mejor en español estándar y peor con variantes regionales, con textos mal escritos o con lenguas indígenas.</a:t>
            </a:r>
            <a:endParaRPr lang="en-US" sz="1200" b="0" u="none" strike="noStrike">
              <a:solidFill>
                <a:srgbClr val="000000"/>
              </a:solidFill>
              <a:effectLst/>
              <a:uFillTx/>
              <a:latin typeface="Arial"/>
            </a:endParaRPr>
          </a:p>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Un registro de atención ciudadana con faltas de ortografía se clasifica peor que uno bien redactado, aunque diga algo más importante.</a:t>
            </a:r>
            <a:endParaRPr lang="en-US" sz="1200" b="0" u="none" strike="noStrike">
              <a:solidFill>
                <a:srgbClr val="000000"/>
              </a:solidFill>
              <a:effectLst/>
              <a:uFillTx/>
              <a:latin typeface="Arial"/>
            </a:endParaRPr>
          </a:p>
        </p:txBody>
      </p:sp>
      <p:sp>
        <p:nvSpPr>
          <p:cNvPr id="422" name="Shape 7"/>
          <p:cNvSpPr/>
          <p:nvPr/>
        </p:nvSpPr>
        <p:spPr>
          <a:xfrm>
            <a:off x="3386160" y="1810440"/>
            <a:ext cx="2599560" cy="4004640"/>
          </a:xfrm>
          <a:prstGeom prst="roundRect">
            <a:avLst>
              <a:gd name="adj" fmla="val 3165"/>
            </a:avLst>
          </a:prstGeom>
          <a:solidFill>
            <a:srgbClr val="F7E4D8"/>
          </a:solidFill>
          <a:ln w="12700">
            <a:solidFill>
              <a:srgbClr val="F7E4D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23" name="Shape 8"/>
          <p:cNvSpPr/>
          <p:nvPr/>
        </p:nvSpPr>
        <p:spPr>
          <a:xfrm>
            <a:off x="3386160" y="1810440"/>
            <a:ext cx="2599560" cy="548280"/>
          </a:xfrm>
          <a:prstGeom prst="roundRect">
            <a:avLst>
              <a:gd name="adj" fmla="val 15000"/>
            </a:avLst>
          </a:prstGeom>
          <a:solidFill>
            <a:srgbClr val="C85A28"/>
          </a:solidFill>
          <a:ln w="12700">
            <a:solidFill>
              <a:srgbClr val="C85A2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24" name="Shape 9"/>
          <p:cNvSpPr/>
          <p:nvPr/>
        </p:nvSpPr>
        <p:spPr>
          <a:xfrm>
            <a:off x="3386160" y="2103120"/>
            <a:ext cx="2599560" cy="255600"/>
          </a:xfrm>
          <a:prstGeom prst="rect">
            <a:avLst/>
          </a:prstGeom>
          <a:solidFill>
            <a:srgbClr val="C85A28"/>
          </a:solidFill>
          <a:ln w="12700">
            <a:solidFill>
              <a:srgbClr val="C85A2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25" name="Text 10"/>
          <p:cNvSpPr/>
          <p:nvPr/>
        </p:nvSpPr>
        <p:spPr>
          <a:xfrm>
            <a:off x="3587400" y="1810440"/>
            <a:ext cx="219708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1" u="none" strike="noStrike">
                <a:solidFill>
                  <a:srgbClr val="FFFFFF"/>
                </a:solidFill>
                <a:effectLst/>
                <a:uFillTx/>
                <a:latin typeface="Arial"/>
                <a:ea typeface="Arial"/>
              </a:rPr>
              <a:t>Caso real</a:t>
            </a:r>
            <a:endParaRPr lang="en-US" sz="1350" b="0" u="none" strike="noStrike">
              <a:solidFill>
                <a:srgbClr val="000000"/>
              </a:solidFill>
              <a:effectLst/>
              <a:uFillTx/>
              <a:latin typeface="Arial"/>
            </a:endParaRPr>
          </a:p>
        </p:txBody>
      </p:sp>
      <p:sp>
        <p:nvSpPr>
          <p:cNvPr id="426" name="Text 11"/>
          <p:cNvSpPr/>
          <p:nvPr/>
        </p:nvSpPr>
        <p:spPr>
          <a:xfrm>
            <a:off x="3587400" y="2523600"/>
            <a:ext cx="2197080" cy="3108600"/>
          </a:xfrm>
          <a:prstGeom prst="rect">
            <a:avLst/>
          </a:prstGeom>
          <a:noFill/>
          <a:ln w="0">
            <a:noFill/>
          </a:ln>
        </p:spPr>
        <p:style>
          <a:lnRef idx="0"/>
          <a:fillRef idx="0"/>
          <a:effectRef idx="0"/>
          <a:fontRef idx="minor"/>
        </p:style>
        <p:txBody>
          <a:bodyPr lIns="0" tIns="0" rIns="0" bIns="0" anchor="t">
            <a:noAutofit/>
          </a:bodyPr>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Israel, 2017.</a:t>
            </a:r>
            <a:endParaRPr lang="en-US" sz="1200" b="0" u="none" strike="noStrike">
              <a:solidFill>
                <a:srgbClr val="000000"/>
              </a:solidFill>
              <a:effectLst/>
              <a:uFillTx/>
              <a:latin typeface="Arial"/>
            </a:endParaRPr>
          </a:p>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Un albañil publicó "buenos días" en árabe junto a una foto suya.</a:t>
            </a:r>
            <a:endParaRPr lang="en-US" sz="1200" b="0" u="none" strike="noStrike">
              <a:solidFill>
                <a:srgbClr val="000000"/>
              </a:solidFill>
              <a:effectLst/>
              <a:uFillTx/>
              <a:latin typeface="Arial"/>
            </a:endParaRPr>
          </a:p>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El traductor automático de la red social lo tradujo como "atáquenlos".</a:t>
            </a:r>
            <a:endParaRPr lang="en-US" sz="1200" b="0" u="none" strike="noStrike">
              <a:solidFill>
                <a:srgbClr val="000000"/>
              </a:solidFill>
              <a:effectLst/>
              <a:uFillTx/>
              <a:latin typeface="Arial"/>
            </a:endParaRPr>
          </a:p>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Fue detenido, interrogado y liberado horas después. Ningún hablante de árabe revisó la traducción antes de que actuara la policía.</a:t>
            </a:r>
            <a:endParaRPr lang="en-US" sz="1200" b="0" u="none" strike="noStrike">
              <a:solidFill>
                <a:srgbClr val="000000"/>
              </a:solidFill>
              <a:effectLst/>
              <a:uFillTx/>
              <a:latin typeface="Arial"/>
            </a:endParaRPr>
          </a:p>
        </p:txBody>
      </p:sp>
      <p:sp>
        <p:nvSpPr>
          <p:cNvPr id="427" name="Shape 12"/>
          <p:cNvSpPr/>
          <p:nvPr/>
        </p:nvSpPr>
        <p:spPr>
          <a:xfrm>
            <a:off x="6205680" y="1810440"/>
            <a:ext cx="2599560" cy="4004640"/>
          </a:xfrm>
          <a:prstGeom prst="roundRect">
            <a:avLst>
              <a:gd name="adj" fmla="val 3165"/>
            </a:avLst>
          </a:prstGeom>
          <a:solidFill>
            <a:srgbClr val="D7E7E7"/>
          </a:solidFill>
          <a:ln w="12700">
            <a:solidFill>
              <a:srgbClr val="D7E7E7"/>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28" name="Shape 13"/>
          <p:cNvSpPr/>
          <p:nvPr/>
        </p:nvSpPr>
        <p:spPr>
          <a:xfrm>
            <a:off x="6205680" y="1810440"/>
            <a:ext cx="2599560" cy="548280"/>
          </a:xfrm>
          <a:prstGeom prst="roundRect">
            <a:avLst>
              <a:gd name="adj" fmla="val 15000"/>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29" name="Shape 14"/>
          <p:cNvSpPr/>
          <p:nvPr/>
        </p:nvSpPr>
        <p:spPr>
          <a:xfrm>
            <a:off x="6205680" y="2103120"/>
            <a:ext cx="2599560" cy="255600"/>
          </a:xfrm>
          <a:prstGeom prst="rect">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30" name="Text 15"/>
          <p:cNvSpPr/>
          <p:nvPr/>
        </p:nvSpPr>
        <p:spPr>
          <a:xfrm>
            <a:off x="6406920" y="1810440"/>
            <a:ext cx="219708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1" u="none" strike="noStrike">
                <a:solidFill>
                  <a:srgbClr val="FFFFFF"/>
                </a:solidFill>
                <a:effectLst/>
                <a:uFillTx/>
                <a:latin typeface="Arial"/>
                <a:ea typeface="Arial"/>
              </a:rPr>
              <a:t>Cómo lo disminuyes</a:t>
            </a:r>
            <a:endParaRPr lang="en-US" sz="1350" b="0" u="none" strike="noStrike">
              <a:solidFill>
                <a:srgbClr val="000000"/>
              </a:solidFill>
              <a:effectLst/>
              <a:uFillTx/>
              <a:latin typeface="Arial"/>
            </a:endParaRPr>
          </a:p>
        </p:txBody>
      </p:sp>
      <p:sp>
        <p:nvSpPr>
          <p:cNvPr id="431" name="Text 16"/>
          <p:cNvSpPr/>
          <p:nvPr/>
        </p:nvSpPr>
        <p:spPr>
          <a:xfrm>
            <a:off x="6406920" y="2523600"/>
            <a:ext cx="2197080" cy="3108600"/>
          </a:xfrm>
          <a:prstGeom prst="rect">
            <a:avLst/>
          </a:prstGeom>
          <a:noFill/>
          <a:ln w="0">
            <a:noFill/>
          </a:ln>
        </p:spPr>
        <p:style>
          <a:lnRef idx="0"/>
          <a:fillRef idx="0"/>
          <a:effectRef idx="0"/>
          <a:fontRef idx="minor"/>
        </p:style>
        <p:txBody>
          <a:bodyPr lIns="0" tIns="0" rIns="0" bIns="0" anchor="t">
            <a:noAutofit/>
          </a:bodyPr>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Saca una muestra de los registros peor redactados y revisa a mano cómo los clasificó.</a:t>
            </a:r>
            <a:endParaRPr lang="en-US" sz="1200" b="0" u="none" strike="noStrike">
              <a:solidFill>
                <a:srgbClr val="000000"/>
              </a:solidFill>
              <a:effectLst/>
              <a:uFillTx/>
              <a:latin typeface="Arial"/>
            </a:endParaRPr>
          </a:p>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Si tu material incluye lenguas indígenas, no delegues la interpretación.</a:t>
            </a:r>
            <a:endParaRPr lang="en-US" sz="1200" b="0" u="none" strike="noStrike">
              <a:solidFill>
                <a:srgbClr val="000000"/>
              </a:solidFill>
              <a:effectLst/>
              <a:uFillTx/>
              <a:latin typeface="Arial"/>
            </a:endParaRPr>
          </a:p>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Y nunca dejes que una traducción automática sostenga una decisión sin que la revise una persona que hable el idioma.</a:t>
            </a:r>
            <a:endParaRPr lang="en-US" sz="1200" b="0" u="none" strike="noStrike">
              <a:solidFill>
                <a:srgbClr val="000000"/>
              </a:solidFill>
              <a:effectLst/>
              <a:uFillTx/>
              <a:latin typeface="Arial"/>
            </a:endParaRPr>
          </a:p>
        </p:txBody>
      </p:sp>
      <p:sp>
        <p:nvSpPr>
          <p:cNvPr id="432" name="Shape 17"/>
          <p:cNvSpPr/>
          <p:nvPr/>
        </p:nvSpPr>
        <p:spPr>
          <a:xfrm>
            <a:off x="9024840" y="1810440"/>
            <a:ext cx="2599560" cy="4004640"/>
          </a:xfrm>
          <a:prstGeom prst="roundRect">
            <a:avLst>
              <a:gd name="adj" fmla="val 3165"/>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33" name="Shape 18"/>
          <p:cNvSpPr/>
          <p:nvPr/>
        </p:nvSpPr>
        <p:spPr>
          <a:xfrm>
            <a:off x="9024840" y="1810440"/>
            <a:ext cx="2599560" cy="548280"/>
          </a:xfrm>
          <a:prstGeom prst="roundRect">
            <a:avLst>
              <a:gd name="adj" fmla="val 15000"/>
            </a:avLst>
          </a:prstGeom>
          <a:solidFill>
            <a:srgbClr val="5A6B73"/>
          </a:solidFill>
          <a:ln w="12700">
            <a:solidFill>
              <a:srgbClr val="5A6B73"/>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34" name="Shape 19"/>
          <p:cNvSpPr/>
          <p:nvPr/>
        </p:nvSpPr>
        <p:spPr>
          <a:xfrm>
            <a:off x="9024840" y="2103120"/>
            <a:ext cx="2599560" cy="255600"/>
          </a:xfrm>
          <a:prstGeom prst="rect">
            <a:avLst/>
          </a:prstGeom>
          <a:solidFill>
            <a:srgbClr val="5A6B73"/>
          </a:solidFill>
          <a:ln w="12700">
            <a:solidFill>
              <a:srgbClr val="5A6B73"/>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35" name="Text 20"/>
          <p:cNvSpPr/>
          <p:nvPr/>
        </p:nvSpPr>
        <p:spPr>
          <a:xfrm>
            <a:off x="9226080" y="1810440"/>
            <a:ext cx="219708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1" u="none" strike="noStrike">
                <a:solidFill>
                  <a:srgbClr val="FFFFFF"/>
                </a:solidFill>
                <a:effectLst/>
                <a:uFillTx/>
                <a:latin typeface="Arial"/>
                <a:ea typeface="Arial"/>
              </a:rPr>
              <a:t>Qué pasó después</a:t>
            </a:r>
            <a:endParaRPr lang="en-US" sz="1350" b="0" u="none" strike="noStrike">
              <a:solidFill>
                <a:srgbClr val="000000"/>
              </a:solidFill>
              <a:effectLst/>
              <a:uFillTx/>
              <a:latin typeface="Arial"/>
            </a:endParaRPr>
          </a:p>
        </p:txBody>
      </p:sp>
      <p:sp>
        <p:nvSpPr>
          <p:cNvPr id="436" name="Text 21"/>
          <p:cNvSpPr/>
          <p:nvPr/>
        </p:nvSpPr>
        <p:spPr>
          <a:xfrm>
            <a:off x="9226080" y="2523600"/>
            <a:ext cx="2197080" cy="3108600"/>
          </a:xfrm>
          <a:prstGeom prst="rect">
            <a:avLst/>
          </a:prstGeom>
          <a:noFill/>
          <a:ln w="0">
            <a:noFill/>
          </a:ln>
        </p:spPr>
        <p:style>
          <a:lnRef idx="0"/>
          <a:fillRef idx="0"/>
          <a:effectRef idx="0"/>
          <a:fontRef idx="minor"/>
        </p:style>
        <p:txBody>
          <a:bodyPr lIns="0" tIns="0" rIns="0" bIns="0" anchor="t">
            <a:noAutofit/>
          </a:bodyPr>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No fue un caso aislado.</a:t>
            </a:r>
            <a:endParaRPr lang="en-US" sz="1200" b="0" u="none" strike="noStrike">
              <a:solidFill>
                <a:srgbClr val="000000"/>
              </a:solidFill>
              <a:effectLst/>
              <a:uFillTx/>
              <a:latin typeface="Arial"/>
            </a:endParaRPr>
          </a:p>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Un estudio de 2020 midió cinco sistemas comerciales de reconocimiento de voz: 35 por ciento de error para hablantes negros contra 19 por ciento para blancos.</a:t>
            </a:r>
            <a:endParaRPr lang="en-US" sz="1200" b="0" u="none" strike="noStrike">
              <a:solidFill>
                <a:srgbClr val="000000"/>
              </a:solidFill>
              <a:effectLst/>
              <a:uFillTx/>
              <a:latin typeface="Arial"/>
            </a:endParaRPr>
          </a:p>
          <a:p>
            <a:pPr defTabSz="914400">
              <a:lnSpc>
                <a:spcPct val="112000"/>
              </a:lnSpc>
              <a:spcAft>
                <a:spcPts val="601"/>
              </a:spcAft>
              <a:tabLst>
                <a:tab pos="0" algn="l"/>
              </a:tabLst>
            </a:pPr>
            <a:r>
              <a:rPr lang="en-US" sz="1200" b="0" u="none" strike="noStrike">
                <a:solidFill>
                  <a:srgbClr val="16262E"/>
                </a:solidFill>
                <a:effectLst/>
                <a:uFillTx/>
                <a:latin typeface="Calibri"/>
                <a:ea typeface="Calibri"/>
              </a:rPr>
              <a:t>Desde entonces se construyen corpus de habla diversa para reducir esa brecha.</a:t>
            </a:r>
            <a:endParaRPr lang="en-US" sz="1200" b="0" u="none" strike="noStrike">
              <a:solidFill>
                <a:srgbClr val="000000"/>
              </a:solidFill>
              <a:effectLst/>
              <a:uFillTx/>
              <a:latin typeface="Arial"/>
            </a:endParaRPr>
          </a:p>
        </p:txBody>
      </p:sp>
      <p:sp>
        <p:nvSpPr>
          <p:cNvPr id="437" name="Shape 22"/>
          <p:cNvSpPr/>
          <p:nvPr/>
        </p:nvSpPr>
        <p:spPr>
          <a:xfrm>
            <a:off x="567000" y="5943600"/>
            <a:ext cx="11057400" cy="475200"/>
          </a:xfrm>
          <a:prstGeom prst="roundRect">
            <a:avLst>
              <a:gd name="adj" fmla="val 11538"/>
            </a:avLst>
          </a:prstGeom>
          <a:solidFill>
            <a:srgbClr val="16262E"/>
          </a:solidFill>
          <a:ln w="12700">
            <a:solidFill>
              <a:srgbClr val="16262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38" name="Text 23"/>
          <p:cNvSpPr/>
          <p:nvPr/>
        </p:nvSpPr>
        <p:spPr>
          <a:xfrm>
            <a:off x="804600" y="5970960"/>
            <a:ext cx="10581840" cy="200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50" b="0" u="none" strike="noStrike">
                <a:solidFill>
                  <a:srgbClr val="FFFFFF"/>
                </a:solidFill>
                <a:effectLst/>
                <a:uFillTx/>
                <a:latin typeface="Calibri"/>
                <a:ea typeface="Calibri"/>
              </a:rPr>
              <a:t>Haaretz, 22 de octubre de 2017. La cifra es de Koenecke y coautores, PNAS 117(14), 2020.</a:t>
            </a:r>
            <a:endParaRPr lang="en-US" sz="1050" b="0" u="none" strike="noStrike">
              <a:solidFill>
                <a:srgbClr val="000000"/>
              </a:solidFill>
              <a:effectLst/>
              <a:uFillTx/>
              <a:latin typeface="Arial"/>
            </a:endParaRPr>
          </a:p>
        </p:txBody>
      </p:sp>
      <p:sp>
        <p:nvSpPr>
          <p:cNvPr id="439" name="Text 24">
            <a:hlinkClick r:id="rId1"/>
          </p:cNvPr>
          <p:cNvSpPr/>
          <p:nvPr/>
        </p:nvSpPr>
        <p:spPr>
          <a:xfrm>
            <a:off x="804600" y="6172200"/>
            <a:ext cx="10581840" cy="200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sng" strike="noStrike">
                <a:solidFill>
                  <a:srgbClr val="D7E7E7"/>
                </a:solidFill>
                <a:effectLst/>
                <a:uFillTx/>
                <a:latin typeface="Courier New"/>
                <a:ea typeface="Courier New"/>
                <a:hlinkClick r:id="rId2"/>
              </a:rPr>
              <a:t>https://www.pnas.org/doi/10.1073/pnas.1915768117</a:t>
            </a:r>
            <a:endParaRPr lang="en-US" sz="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6262E"/>
        </a:solidFill>
      </p:bgPr>
    </p:bg>
    <p:spTree>
      <p:nvGrpSpPr>
        <p:cNvPr id="1" name=""/>
        <p:cNvGrpSpPr/>
        <p:nvPr/>
      </p:nvGrpSpPr>
      <p:grpSpPr>
        <a:xfrm>
          <a:off x="0" y="0"/>
          <a:ext cx="0" cy="0"/>
          <a:chOff x="0" y="0"/>
          <a:chExt cx="0" cy="0"/>
        </a:xfrm>
      </p:grpSpPr>
      <p:sp>
        <p:nvSpPr>
          <p:cNvPr id="440" name="Shape 0"/>
          <p:cNvSpPr/>
          <p:nvPr/>
        </p:nvSpPr>
        <p:spPr>
          <a:xfrm>
            <a:off x="567000" y="2331720"/>
            <a:ext cx="1371240" cy="1371240"/>
          </a:xfrm>
          <a:prstGeom prst="ellipse">
            <a:avLst/>
          </a:prstGeom>
          <a:solidFill>
            <a:srgbClr val="C85A28"/>
          </a:solidFill>
          <a:ln w="12700">
            <a:solidFill>
              <a:srgbClr val="C85A2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41" name="Text 1"/>
          <p:cNvSpPr/>
          <p:nvPr/>
        </p:nvSpPr>
        <p:spPr>
          <a:xfrm>
            <a:off x="567000" y="2331720"/>
            <a:ext cx="1371240" cy="13712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4400" b="1" u="none" strike="noStrike">
                <a:solidFill>
                  <a:srgbClr val="FFFFFF"/>
                </a:solidFill>
                <a:effectLst/>
                <a:uFillTx/>
                <a:latin typeface="Arial"/>
                <a:ea typeface="Arial"/>
              </a:rPr>
              <a:t>3</a:t>
            </a:r>
            <a:endParaRPr lang="en-US" sz="4400" b="0" u="none" strike="noStrike">
              <a:solidFill>
                <a:srgbClr val="FFFFFF"/>
              </a:solidFill>
              <a:effectLst/>
              <a:uFillTx/>
              <a:latin typeface="Arial"/>
            </a:endParaRPr>
          </a:p>
        </p:txBody>
      </p:sp>
      <p:sp>
        <p:nvSpPr>
          <p:cNvPr id="442" name="Text 2"/>
          <p:cNvSpPr/>
          <p:nvPr/>
        </p:nvSpPr>
        <p:spPr>
          <a:xfrm>
            <a:off x="2487240" y="2331720"/>
            <a:ext cx="877788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pc="201" strike="noStrike">
                <a:solidFill>
                  <a:srgbClr val="D7E7E7"/>
                </a:solidFill>
                <a:effectLst/>
                <a:uFillTx/>
                <a:latin typeface="Calibri"/>
                <a:ea typeface="Calibri"/>
              </a:rPr>
              <a:t>GOBIERNO DE DATOS EN LA PRÁCTICA</a:t>
            </a:r>
            <a:endParaRPr lang="en-US" sz="1400" b="0" u="none" strike="noStrike">
              <a:solidFill>
                <a:srgbClr val="FFFFFF"/>
              </a:solidFill>
              <a:effectLst/>
              <a:uFillTx/>
              <a:latin typeface="Arial"/>
            </a:endParaRPr>
          </a:p>
        </p:txBody>
      </p:sp>
      <p:sp>
        <p:nvSpPr>
          <p:cNvPr id="443" name="Text 3"/>
          <p:cNvSpPr/>
          <p:nvPr/>
        </p:nvSpPr>
        <p:spPr>
          <a:xfrm>
            <a:off x="2487240" y="2697480"/>
            <a:ext cx="8960760" cy="118836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3400" b="1" u="none" strike="noStrike">
                <a:solidFill>
                  <a:srgbClr val="FFFFFF"/>
                </a:solidFill>
                <a:effectLst/>
                <a:uFillTx/>
                <a:latin typeface="Arial"/>
                <a:ea typeface="Arial"/>
              </a:rPr>
              <a:t>El semáforo de datos</a:t>
            </a:r>
            <a:endParaRPr lang="en-US" sz="3400" b="0" u="none" strike="noStrike">
              <a:solidFill>
                <a:srgbClr val="FFFFFF"/>
              </a:solidFill>
              <a:effectLst/>
              <a:uFillTx/>
              <a:latin typeface="Arial"/>
            </a:endParaRPr>
          </a:p>
        </p:txBody>
      </p:sp>
      <p:sp>
        <p:nvSpPr>
          <p:cNvPr id="444" name="Shape 4"/>
          <p:cNvSpPr/>
          <p:nvPr/>
        </p:nvSpPr>
        <p:spPr>
          <a:xfrm>
            <a:off x="9338760" y="457200"/>
            <a:ext cx="2285640" cy="347040"/>
          </a:xfrm>
          <a:prstGeom prst="roundRect">
            <a:avLst>
              <a:gd name="adj" fmla="val 50000"/>
            </a:avLst>
          </a:prstGeom>
          <a:solidFill>
            <a:srgbClr val="24404E"/>
          </a:solidFill>
          <a:ln w="12700">
            <a:solidFill>
              <a:srgbClr val="24404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45" name="Text 5"/>
          <p:cNvSpPr/>
          <p:nvPr/>
        </p:nvSpPr>
        <p:spPr>
          <a:xfrm>
            <a:off x="9338760" y="457200"/>
            <a:ext cx="2285640" cy="347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1" u="none" strike="noStrike">
                <a:solidFill>
                  <a:srgbClr val="FFFFFF"/>
                </a:solidFill>
                <a:effectLst/>
                <a:uFillTx/>
                <a:latin typeface="Calibri"/>
                <a:ea typeface="Calibri"/>
              </a:rPr>
              <a:t>10:32 a 10:44</a:t>
            </a:r>
            <a:endParaRPr lang="en-US" sz="12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6" name="Text 0"/>
          <p:cNvSpPr/>
          <p:nvPr/>
        </p:nvSpPr>
        <p:spPr>
          <a:xfrm>
            <a:off x="567000" y="402480"/>
            <a:ext cx="9960120" cy="7495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3200" b="1" u="none" strike="noStrike">
                <a:solidFill>
                  <a:srgbClr val="16262E"/>
                </a:solidFill>
                <a:effectLst/>
                <a:uFillTx/>
                <a:latin typeface="Arial"/>
                <a:ea typeface="Arial"/>
              </a:rPr>
              <a:t>Antes de pegar algo, clasifícalo</a:t>
            </a:r>
            <a:endParaRPr lang="en-US" sz="3200" b="0" u="none" strike="noStrike">
              <a:solidFill>
                <a:srgbClr val="000000"/>
              </a:solidFill>
              <a:effectLst/>
              <a:uFillTx/>
              <a:latin typeface="Arial"/>
            </a:endParaRPr>
          </a:p>
        </p:txBody>
      </p:sp>
      <p:sp>
        <p:nvSpPr>
          <p:cNvPr id="447" name="Text 1"/>
          <p:cNvSpPr/>
          <p:nvPr/>
        </p:nvSpPr>
        <p:spPr>
          <a:xfrm>
            <a:off x="567000" y="1280160"/>
            <a:ext cx="9960120" cy="3654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500" b="0" u="none" strike="noStrike">
                <a:solidFill>
                  <a:srgbClr val="5A6B73"/>
                </a:solidFill>
                <a:effectLst/>
                <a:uFillTx/>
                <a:latin typeface="Calibri"/>
                <a:ea typeface="Calibri"/>
              </a:rPr>
              <a:t>Es la regla más importante del curso y cabe en tres colores.</a:t>
            </a:r>
            <a:endParaRPr lang="en-US" sz="1500" b="0" u="none" strike="noStrike">
              <a:solidFill>
                <a:srgbClr val="000000"/>
              </a:solidFill>
              <a:effectLst/>
              <a:uFillTx/>
              <a:latin typeface="Arial"/>
            </a:endParaRPr>
          </a:p>
        </p:txBody>
      </p:sp>
      <p:sp>
        <p:nvSpPr>
          <p:cNvPr id="448" name="Shape 2"/>
          <p:cNvSpPr/>
          <p:nvPr/>
        </p:nvSpPr>
        <p:spPr>
          <a:xfrm>
            <a:off x="887040" y="1901880"/>
            <a:ext cx="1371240" cy="3702960"/>
          </a:xfrm>
          <a:prstGeom prst="roundRect">
            <a:avLst>
              <a:gd name="adj" fmla="val 14667"/>
            </a:avLst>
          </a:prstGeom>
          <a:solidFill>
            <a:srgbClr val="16262E"/>
          </a:solidFill>
          <a:ln w="12700">
            <a:solidFill>
              <a:srgbClr val="16262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49" name="Shape 3"/>
          <p:cNvSpPr/>
          <p:nvPr/>
        </p:nvSpPr>
        <p:spPr>
          <a:xfrm>
            <a:off x="1161360" y="2194560"/>
            <a:ext cx="822600" cy="822600"/>
          </a:xfrm>
          <a:prstGeom prst="ellipse">
            <a:avLst/>
          </a:prstGeom>
          <a:solidFill>
            <a:srgbClr val="3F7A4E"/>
          </a:solidFill>
          <a:ln w="12700">
            <a:solidFill>
              <a:srgbClr val="3F7A4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50" name="Shape 4"/>
          <p:cNvSpPr/>
          <p:nvPr/>
        </p:nvSpPr>
        <p:spPr>
          <a:xfrm>
            <a:off x="1161360" y="3310200"/>
            <a:ext cx="822600" cy="822600"/>
          </a:xfrm>
          <a:prstGeom prst="ellipse">
            <a:avLst/>
          </a:prstGeom>
          <a:solidFill>
            <a:srgbClr val="B8862B"/>
          </a:solidFill>
          <a:ln w="12700">
            <a:solidFill>
              <a:srgbClr val="B8862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51" name="Shape 5"/>
          <p:cNvSpPr/>
          <p:nvPr/>
        </p:nvSpPr>
        <p:spPr>
          <a:xfrm>
            <a:off x="1161360" y="4425840"/>
            <a:ext cx="822600" cy="822600"/>
          </a:xfrm>
          <a:prstGeom prst="ellipse">
            <a:avLst/>
          </a:prstGeom>
          <a:solidFill>
            <a:srgbClr val="A33A3A"/>
          </a:solidFill>
          <a:ln w="12700">
            <a:solidFill>
              <a:srgbClr val="A33A3A"/>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52" name="Shape 6"/>
          <p:cNvSpPr/>
          <p:nvPr/>
        </p:nvSpPr>
        <p:spPr>
          <a:xfrm>
            <a:off x="2670120" y="1901880"/>
            <a:ext cx="8954280" cy="1173240"/>
          </a:xfrm>
          <a:prstGeom prst="roundRect">
            <a:avLst>
              <a:gd name="adj" fmla="val 6234"/>
            </a:avLst>
          </a:prstGeom>
          <a:solidFill>
            <a:srgbClr val="DCEBE0"/>
          </a:solidFill>
          <a:ln w="12700">
            <a:solidFill>
              <a:srgbClr val="DCEBE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53" name="Text 7"/>
          <p:cNvSpPr/>
          <p:nvPr/>
        </p:nvSpPr>
        <p:spPr>
          <a:xfrm>
            <a:off x="2926080" y="2048400"/>
            <a:ext cx="8442360" cy="310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16262E"/>
                </a:solidFill>
                <a:effectLst/>
                <a:uFillTx/>
                <a:latin typeface="Arial"/>
                <a:ea typeface="Arial"/>
              </a:rPr>
              <a:t>Verde. Ya es público</a:t>
            </a:r>
            <a:endParaRPr lang="en-US" sz="1500" b="0" u="none" strike="noStrike">
              <a:solidFill>
                <a:srgbClr val="000000"/>
              </a:solidFill>
              <a:effectLst/>
              <a:uFillTx/>
              <a:latin typeface="Arial"/>
            </a:endParaRPr>
          </a:p>
        </p:txBody>
      </p:sp>
      <p:sp>
        <p:nvSpPr>
          <p:cNvPr id="454" name="Text 8"/>
          <p:cNvSpPr/>
          <p:nvPr/>
        </p:nvSpPr>
        <p:spPr>
          <a:xfrm>
            <a:off x="2926080" y="2395800"/>
            <a:ext cx="8442360" cy="51480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250" b="0" u="none" strike="noStrike">
                <a:solidFill>
                  <a:srgbClr val="16262E"/>
                </a:solidFill>
                <a:effectLst/>
                <a:uFillTx/>
                <a:latin typeface="Calibri"/>
                <a:ea typeface="Calibri"/>
              </a:rPr>
              <a:t>Reglas de operación del Diario Oficial, informes publicados, normatividad, microdatos públicos anonimizados. Lo puedes usar en Copilot y en las siete herramientas gratuitas del curso.</a:t>
            </a:r>
            <a:endParaRPr lang="en-US" sz="1250" b="0" u="none" strike="noStrike">
              <a:solidFill>
                <a:srgbClr val="000000"/>
              </a:solidFill>
              <a:effectLst/>
              <a:uFillTx/>
              <a:latin typeface="Arial"/>
            </a:endParaRPr>
          </a:p>
        </p:txBody>
      </p:sp>
      <p:sp>
        <p:nvSpPr>
          <p:cNvPr id="455" name="Shape 9"/>
          <p:cNvSpPr/>
          <p:nvPr/>
        </p:nvSpPr>
        <p:spPr>
          <a:xfrm>
            <a:off x="2670120" y="3166920"/>
            <a:ext cx="8954280" cy="1173240"/>
          </a:xfrm>
          <a:prstGeom prst="roundRect">
            <a:avLst>
              <a:gd name="adj" fmla="val 6234"/>
            </a:avLst>
          </a:prstGeom>
          <a:solidFill>
            <a:srgbClr val="F7EDD6"/>
          </a:solidFill>
          <a:ln w="12700">
            <a:solidFill>
              <a:srgbClr val="F7EDD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56" name="Text 10"/>
          <p:cNvSpPr/>
          <p:nvPr/>
        </p:nvSpPr>
        <p:spPr>
          <a:xfrm>
            <a:off x="2926080" y="3313080"/>
            <a:ext cx="8442360" cy="310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16262E"/>
                </a:solidFill>
                <a:effectLst/>
                <a:uFillTx/>
                <a:latin typeface="Arial"/>
                <a:ea typeface="Arial"/>
              </a:rPr>
              <a:t>Amarillo. Interno de trabajo</a:t>
            </a:r>
            <a:endParaRPr lang="en-US" sz="1500" b="0" u="none" strike="noStrike">
              <a:solidFill>
                <a:srgbClr val="000000"/>
              </a:solidFill>
              <a:effectLst/>
              <a:uFillTx/>
              <a:latin typeface="Arial"/>
            </a:endParaRPr>
          </a:p>
        </p:txBody>
      </p:sp>
      <p:sp>
        <p:nvSpPr>
          <p:cNvPr id="457" name="Text 11"/>
          <p:cNvSpPr/>
          <p:nvPr/>
        </p:nvSpPr>
        <p:spPr>
          <a:xfrm>
            <a:off x="2926080" y="3660480"/>
            <a:ext cx="8442360" cy="51480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250" b="0" u="none" strike="noStrike">
                <a:solidFill>
                  <a:srgbClr val="16262E"/>
                </a:solidFill>
                <a:effectLst/>
                <a:uFillTx/>
                <a:latin typeface="Calibri"/>
                <a:ea typeface="Calibri"/>
              </a:rPr>
              <a:t>Borradores, minutas, notas, análisis preliminares. Sin datos personales ni información reservada. Solo en Copilot: es la única con contrato del Instituto.</a:t>
            </a:r>
            <a:endParaRPr lang="en-US" sz="1250" b="0" u="none" strike="noStrike">
              <a:solidFill>
                <a:srgbClr val="000000"/>
              </a:solidFill>
              <a:effectLst/>
              <a:uFillTx/>
              <a:latin typeface="Arial"/>
            </a:endParaRPr>
          </a:p>
        </p:txBody>
      </p:sp>
      <p:sp>
        <p:nvSpPr>
          <p:cNvPr id="458" name="Shape 12"/>
          <p:cNvSpPr/>
          <p:nvPr/>
        </p:nvSpPr>
        <p:spPr>
          <a:xfrm>
            <a:off x="2670120" y="4431960"/>
            <a:ext cx="8954280" cy="1173240"/>
          </a:xfrm>
          <a:prstGeom prst="roundRect">
            <a:avLst>
              <a:gd name="adj" fmla="val 6234"/>
            </a:avLst>
          </a:prstGeom>
          <a:solidFill>
            <a:srgbClr val="F2DEDE"/>
          </a:solidFill>
          <a:ln w="12700">
            <a:solidFill>
              <a:srgbClr val="F2DED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59" name="Text 13"/>
          <p:cNvSpPr/>
          <p:nvPr/>
        </p:nvSpPr>
        <p:spPr>
          <a:xfrm>
            <a:off x="2926080" y="4578120"/>
            <a:ext cx="8442360" cy="310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16262E"/>
                </a:solidFill>
                <a:effectLst/>
                <a:uFillTx/>
                <a:latin typeface="Arial"/>
                <a:ea typeface="Arial"/>
              </a:rPr>
              <a:t>Rojo. Confidencial o personal</a:t>
            </a:r>
            <a:endParaRPr lang="en-US" sz="1500" b="0" u="none" strike="noStrike">
              <a:solidFill>
                <a:srgbClr val="000000"/>
              </a:solidFill>
              <a:effectLst/>
              <a:uFillTx/>
              <a:latin typeface="Arial"/>
            </a:endParaRPr>
          </a:p>
        </p:txBody>
      </p:sp>
      <p:sp>
        <p:nvSpPr>
          <p:cNvPr id="460" name="Text 14"/>
          <p:cNvSpPr/>
          <p:nvPr/>
        </p:nvSpPr>
        <p:spPr>
          <a:xfrm>
            <a:off x="2926080" y="4925520"/>
            <a:ext cx="8442360" cy="51480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250" b="0" u="none" strike="noStrike">
                <a:solidFill>
                  <a:srgbClr val="16262E"/>
                </a:solidFill>
                <a:effectLst/>
                <a:uFillTx/>
                <a:latin typeface="Calibri"/>
                <a:ea typeface="Calibri"/>
              </a:rPr>
              <a:t>Padrones con nombres o CURP, microdatos identificables, información bajo reserva. Ni en Copilot ni en las gratuitas. Si lo necesitas, primero lo enmascaras.</a:t>
            </a:r>
            <a:endParaRPr lang="en-US" sz="1250" b="0" u="none" strike="noStrike">
              <a:solidFill>
                <a:srgbClr val="000000"/>
              </a:solidFill>
              <a:effectLst/>
              <a:uFillTx/>
              <a:latin typeface="Arial"/>
            </a:endParaRPr>
          </a:p>
        </p:txBody>
      </p:sp>
      <p:sp>
        <p:nvSpPr>
          <p:cNvPr id="461" name="Text 15"/>
          <p:cNvSpPr/>
          <p:nvPr/>
        </p:nvSpPr>
        <p:spPr>
          <a:xfrm>
            <a:off x="567000" y="6327720"/>
            <a:ext cx="11057400" cy="292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00" b="0" u="none" strike="noStrike">
                <a:solidFill>
                  <a:srgbClr val="5A6B73"/>
                </a:solidFill>
                <a:effectLst/>
                <a:uFillTx/>
                <a:latin typeface="Calibri"/>
                <a:ea typeface="Calibri"/>
              </a:rPr>
              <a:t>El Instituto todavía no tiene lineamientos propios sobre uso de IA. Mientras no los haya, esta es la regla del curso.</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2" name="Text 0"/>
          <p:cNvSpPr/>
          <p:nvPr/>
        </p:nvSpPr>
        <p:spPr>
          <a:xfrm>
            <a:off x="567000" y="402480"/>
            <a:ext cx="9228600" cy="7495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3200" b="1" u="none" strike="noStrike">
                <a:solidFill>
                  <a:srgbClr val="16262E"/>
                </a:solidFill>
                <a:effectLst/>
                <a:uFillTx/>
                <a:latin typeface="Arial"/>
                <a:ea typeface="Arial"/>
              </a:rPr>
              <a:t>Qué hace cada herramienta con lo que le das</a:t>
            </a:r>
            <a:endParaRPr lang="en-US" sz="3200" b="0" u="none" strike="noStrike">
              <a:solidFill>
                <a:srgbClr val="000000"/>
              </a:solidFill>
              <a:effectLst/>
              <a:uFillTx/>
              <a:latin typeface="Arial"/>
            </a:endParaRPr>
          </a:p>
        </p:txBody>
      </p:sp>
      <p:sp>
        <p:nvSpPr>
          <p:cNvPr id="463" name="Text 1"/>
          <p:cNvSpPr/>
          <p:nvPr/>
        </p:nvSpPr>
        <p:spPr>
          <a:xfrm>
            <a:off x="567000" y="1280160"/>
            <a:ext cx="9960120" cy="3654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500" b="0" u="none" strike="noStrike">
                <a:solidFill>
                  <a:srgbClr val="5A6B73"/>
                </a:solidFill>
                <a:effectLst/>
                <a:uFillTx/>
                <a:latin typeface="Calibri"/>
                <a:ea typeface="Calibri"/>
              </a:rPr>
              <a:t>La diferencia entre las ocho no es de calidad. Es de contrato.</a:t>
            </a:r>
            <a:endParaRPr lang="en-US" sz="1500" b="0" u="none" strike="noStrike">
              <a:solidFill>
                <a:srgbClr val="000000"/>
              </a:solidFill>
              <a:effectLst/>
              <a:uFillTx/>
              <a:latin typeface="Arial"/>
            </a:endParaRPr>
          </a:p>
        </p:txBody>
      </p:sp>
      <p:sp>
        <p:nvSpPr>
          <p:cNvPr id="464" name="Shape 2"/>
          <p:cNvSpPr/>
          <p:nvPr/>
        </p:nvSpPr>
        <p:spPr>
          <a:xfrm>
            <a:off x="567000" y="1810440"/>
            <a:ext cx="5364000" cy="4133160"/>
          </a:xfrm>
          <a:prstGeom prst="roundRect">
            <a:avLst>
              <a:gd name="adj" fmla="val 2156"/>
            </a:avLst>
          </a:prstGeom>
          <a:solidFill>
            <a:srgbClr val="D7E7E7"/>
          </a:solidFill>
          <a:ln w="12700">
            <a:solidFill>
              <a:srgbClr val="D7E7E7"/>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65" name="Shape 3"/>
          <p:cNvSpPr/>
          <p:nvPr/>
        </p:nvSpPr>
        <p:spPr>
          <a:xfrm>
            <a:off x="567000" y="1810440"/>
            <a:ext cx="5364000" cy="658080"/>
          </a:xfrm>
          <a:prstGeom prst="roundRect">
            <a:avLst>
              <a:gd name="adj" fmla="val 11111"/>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66" name="Shape 4"/>
          <p:cNvSpPr/>
          <p:nvPr/>
        </p:nvSpPr>
        <p:spPr>
          <a:xfrm>
            <a:off x="567000" y="2176200"/>
            <a:ext cx="5364000" cy="292320"/>
          </a:xfrm>
          <a:prstGeom prst="rect">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67" name="Text 5"/>
          <p:cNvSpPr/>
          <p:nvPr/>
        </p:nvSpPr>
        <p:spPr>
          <a:xfrm>
            <a:off x="822960" y="1810440"/>
            <a:ext cx="4852080" cy="6580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FFFFFF"/>
                </a:solidFill>
                <a:effectLst/>
                <a:uFillTx/>
                <a:latin typeface="Arial"/>
                <a:ea typeface="Arial"/>
              </a:rPr>
              <a:t>Copilot: no hay nada que apagar</a:t>
            </a:r>
            <a:endParaRPr lang="en-US" sz="1700" b="0" u="none" strike="noStrike">
              <a:solidFill>
                <a:srgbClr val="000000"/>
              </a:solidFill>
              <a:effectLst/>
              <a:uFillTx/>
              <a:latin typeface="Arial"/>
            </a:endParaRPr>
          </a:p>
        </p:txBody>
      </p:sp>
      <p:sp>
        <p:nvSpPr>
          <p:cNvPr id="468" name="Text 6"/>
          <p:cNvSpPr/>
          <p:nvPr/>
        </p:nvSpPr>
        <p:spPr>
          <a:xfrm>
            <a:off x="822960" y="2679120"/>
            <a:ext cx="4852080" cy="2294640"/>
          </a:xfrm>
          <a:prstGeom prst="rect">
            <a:avLst/>
          </a:prstGeom>
          <a:noFill/>
          <a:ln w="0">
            <a:noFill/>
          </a:ln>
        </p:spPr>
        <p:style>
          <a:lnRef idx="0"/>
          <a:fillRef idx="0"/>
          <a:effectRef idx="0"/>
          <a:fontRef idx="minor"/>
        </p:style>
        <p:txBody>
          <a:bodyPr lIns="0" tIns="0" rIns="0" bIns="0" anchor="t">
            <a:noAutofit/>
          </a:bodyPr>
          <a:p>
            <a:pPr defTabSz="914400">
              <a:lnSpc>
                <a:spcPct val="115000"/>
              </a:lnSpc>
              <a:spcAft>
                <a:spcPts val="601"/>
              </a:spcAft>
              <a:tabLst>
                <a:tab pos="0" algn="l"/>
              </a:tabLst>
            </a:pPr>
            <a:r>
              <a:rPr lang="en-US" sz="1400" b="0" u="none" strike="noStrike">
                <a:solidFill>
                  <a:srgbClr val="16262E"/>
                </a:solidFill>
                <a:effectLst/>
                <a:uFillTx/>
                <a:latin typeface="Calibri"/>
                <a:ea typeface="Calibri"/>
              </a:rPr>
              <a:t>Microsoft 365 Copilot es la única con contrato del Instituto.</a:t>
            </a:r>
            <a:endParaRPr lang="en-US" sz="1400" b="0" u="none" strike="noStrike">
              <a:solidFill>
                <a:srgbClr val="000000"/>
              </a:solidFill>
              <a:effectLst/>
              <a:uFillTx/>
              <a:latin typeface="Arial"/>
            </a:endParaRPr>
          </a:p>
          <a:p>
            <a:pPr defTabSz="914400">
              <a:lnSpc>
                <a:spcPct val="115000"/>
              </a:lnSpc>
              <a:spcAft>
                <a:spcPts val="601"/>
              </a:spcAft>
              <a:tabLst>
                <a:tab pos="0" algn="l"/>
              </a:tabLst>
            </a:pPr>
            <a:r>
              <a:rPr lang="en-US" sz="1400" b="0" u="none" strike="noStrike">
                <a:solidFill>
                  <a:srgbClr val="16262E"/>
                </a:solidFill>
                <a:effectLst/>
                <a:uFillTx/>
                <a:latin typeface="Calibri"/>
                <a:ea typeface="Calibri"/>
              </a:rPr>
              <a:t>Microsoft se compromete por escrito a que tus prompts, sus respuestas y los archivos que Copilot lee no se usan para entrenar sus modelos. No es una opción que puedas prender o apagar: viene en el contrato.</a:t>
            </a:r>
            <a:endParaRPr lang="en-US" sz="1400" b="0" u="none" strike="noStrike">
              <a:solidFill>
                <a:srgbClr val="000000"/>
              </a:solidFill>
              <a:effectLst/>
              <a:uFillTx/>
              <a:latin typeface="Arial"/>
            </a:endParaRPr>
          </a:p>
          <a:p>
            <a:pPr defTabSz="914400">
              <a:lnSpc>
                <a:spcPct val="115000"/>
              </a:lnSpc>
              <a:spcAft>
                <a:spcPts val="601"/>
              </a:spcAft>
              <a:tabLst>
                <a:tab pos="0" algn="l"/>
              </a:tabLst>
            </a:pPr>
            <a:r>
              <a:rPr lang="en-US" sz="1400" b="0" u="none" strike="noStrike">
                <a:solidFill>
                  <a:srgbClr val="16262E"/>
                </a:solidFill>
                <a:effectLst/>
                <a:uFillTx/>
                <a:latin typeface="Calibri"/>
                <a:ea typeface="Calibri"/>
              </a:rPr>
              <a:t>Con una condición, y es la que importa: eso aplica solo mientras estés dentro de tu cuenta institucional. Si abres Copilot sin iniciar sesión con tu cuenta del INEGI, sales del contrato.</a:t>
            </a:r>
            <a:endParaRPr lang="en-US" sz="1400" b="0" u="none" strike="noStrike">
              <a:solidFill>
                <a:srgbClr val="000000"/>
              </a:solidFill>
              <a:effectLst/>
              <a:uFillTx/>
              <a:latin typeface="Arial"/>
            </a:endParaRPr>
          </a:p>
          <a:p>
            <a:pPr defTabSz="914400">
              <a:lnSpc>
                <a:spcPct val="115000"/>
              </a:lnSpc>
              <a:spcAft>
                <a:spcPts val="601"/>
              </a:spcAft>
              <a:tabLst>
                <a:tab pos="0" algn="l"/>
              </a:tabLst>
            </a:pPr>
            <a:r>
              <a:rPr lang="en-US" sz="1400" b="0" u="none" strike="noStrike">
                <a:solidFill>
                  <a:srgbClr val="16262E"/>
                </a:solidFill>
                <a:effectLst/>
                <a:uFillTx/>
                <a:latin typeface="Calibri"/>
                <a:ea typeface="Calibri"/>
              </a:rPr>
              <a:t>Tu tarea de hoy: verificar que entraste con tu cuenta del Instituto.</a:t>
            </a:r>
            <a:endParaRPr lang="en-US" sz="1400" b="0" u="none" strike="noStrike">
              <a:solidFill>
                <a:srgbClr val="000000"/>
              </a:solidFill>
              <a:effectLst/>
              <a:uFillTx/>
              <a:latin typeface="Arial"/>
            </a:endParaRPr>
          </a:p>
        </p:txBody>
      </p:sp>
      <p:sp>
        <p:nvSpPr>
          <p:cNvPr id="469" name="Shape 7"/>
          <p:cNvSpPr/>
          <p:nvPr/>
        </p:nvSpPr>
        <p:spPr>
          <a:xfrm>
            <a:off x="6260400" y="1810440"/>
            <a:ext cx="5364000" cy="4133160"/>
          </a:xfrm>
          <a:prstGeom prst="roundRect">
            <a:avLst>
              <a:gd name="adj" fmla="val 2156"/>
            </a:avLst>
          </a:prstGeom>
          <a:solidFill>
            <a:srgbClr val="F7E4D8"/>
          </a:solidFill>
          <a:ln w="12700">
            <a:solidFill>
              <a:srgbClr val="F7E4D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70" name="Shape 8"/>
          <p:cNvSpPr/>
          <p:nvPr/>
        </p:nvSpPr>
        <p:spPr>
          <a:xfrm>
            <a:off x="6260400" y="1810440"/>
            <a:ext cx="5364000" cy="658080"/>
          </a:xfrm>
          <a:prstGeom prst="roundRect">
            <a:avLst>
              <a:gd name="adj" fmla="val 11111"/>
            </a:avLst>
          </a:prstGeom>
          <a:solidFill>
            <a:srgbClr val="C85A28"/>
          </a:solidFill>
          <a:ln w="12700">
            <a:solidFill>
              <a:srgbClr val="C85A2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71" name="Shape 9"/>
          <p:cNvSpPr/>
          <p:nvPr/>
        </p:nvSpPr>
        <p:spPr>
          <a:xfrm>
            <a:off x="6260400" y="2176200"/>
            <a:ext cx="5364000" cy="292320"/>
          </a:xfrm>
          <a:prstGeom prst="rect">
            <a:avLst/>
          </a:prstGeom>
          <a:solidFill>
            <a:srgbClr val="C85A28"/>
          </a:solidFill>
          <a:ln w="12700">
            <a:solidFill>
              <a:srgbClr val="C85A2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72" name="Text 10"/>
          <p:cNvSpPr/>
          <p:nvPr/>
        </p:nvSpPr>
        <p:spPr>
          <a:xfrm>
            <a:off x="6516360" y="1810440"/>
            <a:ext cx="4852080" cy="6580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FFFFFF"/>
                </a:solidFill>
                <a:effectLst/>
                <a:uFillTx/>
                <a:latin typeface="Arial"/>
                <a:ea typeface="Arial"/>
              </a:rPr>
              <a:t>Las otras siete: sí hay que apagarlo</a:t>
            </a:r>
            <a:endParaRPr lang="en-US" sz="1700" b="0" u="none" strike="noStrike">
              <a:solidFill>
                <a:srgbClr val="000000"/>
              </a:solidFill>
              <a:effectLst/>
              <a:uFillTx/>
              <a:latin typeface="Arial"/>
            </a:endParaRPr>
          </a:p>
        </p:txBody>
      </p:sp>
      <p:sp>
        <p:nvSpPr>
          <p:cNvPr id="473" name="Text 11"/>
          <p:cNvSpPr/>
          <p:nvPr/>
        </p:nvSpPr>
        <p:spPr>
          <a:xfrm>
            <a:off x="6516360" y="2679120"/>
            <a:ext cx="4852080" cy="2294640"/>
          </a:xfrm>
          <a:prstGeom prst="rect">
            <a:avLst/>
          </a:prstGeom>
          <a:noFill/>
          <a:ln w="0">
            <a:noFill/>
          </a:ln>
        </p:spPr>
        <p:style>
          <a:lnRef idx="0"/>
          <a:fillRef idx="0"/>
          <a:effectRef idx="0"/>
          <a:fontRef idx="minor"/>
        </p:style>
        <p:txBody>
          <a:bodyPr lIns="0" tIns="0" rIns="0" bIns="0" anchor="t">
            <a:noAutofit/>
          </a:bodyPr>
          <a:p>
            <a:pPr defTabSz="914400">
              <a:lnSpc>
                <a:spcPct val="115000"/>
              </a:lnSpc>
              <a:spcAft>
                <a:spcPts val="601"/>
              </a:spcAft>
              <a:tabLst>
                <a:tab pos="0" algn="l"/>
              </a:tabLst>
            </a:pPr>
            <a:r>
              <a:rPr lang="en-US" sz="1400" b="0" u="none" strike="noStrike">
                <a:solidFill>
                  <a:srgbClr val="16262E"/>
                </a:solidFill>
                <a:effectLst/>
                <a:uFillTx/>
                <a:latin typeface="Calibri"/>
                <a:ea typeface="Calibri"/>
              </a:rPr>
              <a:t>ChatGPT, Claude, Gemini, Perplexity, You.com, Elicit y Consensus.</a:t>
            </a:r>
            <a:endParaRPr lang="en-US" sz="1400" b="0" u="none" strike="noStrike">
              <a:solidFill>
                <a:srgbClr val="000000"/>
              </a:solidFill>
              <a:effectLst/>
              <a:uFillTx/>
              <a:latin typeface="Arial"/>
            </a:endParaRPr>
          </a:p>
          <a:p>
            <a:pPr defTabSz="914400">
              <a:lnSpc>
                <a:spcPct val="115000"/>
              </a:lnSpc>
              <a:spcAft>
                <a:spcPts val="601"/>
              </a:spcAft>
              <a:tabLst>
                <a:tab pos="0" algn="l"/>
              </a:tabLst>
            </a:pPr>
            <a:r>
              <a:rPr lang="en-US" sz="1400" b="0" u="none" strike="noStrike">
                <a:solidFill>
                  <a:srgbClr val="16262E"/>
                </a:solidFill>
                <a:effectLst/>
                <a:uFillTx/>
                <a:latin typeface="Calibri"/>
                <a:ea typeface="Calibri"/>
              </a:rPr>
              <a:t>Ninguna tiene contrato con el Instituto. Todas las vas a usar con su plan gratuito.</a:t>
            </a:r>
            <a:endParaRPr lang="en-US" sz="1400" b="0" u="none" strike="noStrike">
              <a:solidFill>
                <a:srgbClr val="000000"/>
              </a:solidFill>
              <a:effectLst/>
              <a:uFillTx/>
              <a:latin typeface="Arial"/>
            </a:endParaRPr>
          </a:p>
          <a:p>
            <a:pPr defTabSz="914400">
              <a:lnSpc>
                <a:spcPct val="115000"/>
              </a:lnSpc>
              <a:spcAft>
                <a:spcPts val="601"/>
              </a:spcAft>
              <a:tabLst>
                <a:tab pos="0" algn="l"/>
              </a:tabLst>
            </a:pPr>
            <a:r>
              <a:rPr lang="en-US" sz="1400" b="0" u="none" strike="noStrike">
                <a:solidFill>
                  <a:srgbClr val="16262E"/>
                </a:solidFill>
                <a:effectLst/>
                <a:uFillTx/>
                <a:latin typeface="Calibri"/>
                <a:ea typeface="Calibri"/>
              </a:rPr>
              <a:t>En plan gratuito, estas herramientas usan tus conversaciones para entrenar sus modelos, salvo que tú lo apagues. Viene prendido de fábrica.</a:t>
            </a:r>
            <a:endParaRPr lang="en-US" sz="1400" b="0" u="none" strike="noStrike">
              <a:solidFill>
                <a:srgbClr val="000000"/>
              </a:solidFill>
              <a:effectLst/>
              <a:uFillTx/>
              <a:latin typeface="Arial"/>
            </a:endParaRPr>
          </a:p>
          <a:p>
            <a:pPr defTabSz="914400">
              <a:lnSpc>
                <a:spcPct val="115000"/>
              </a:lnSpc>
              <a:spcAft>
                <a:spcPts val="601"/>
              </a:spcAft>
              <a:tabLst>
                <a:tab pos="0" algn="l"/>
              </a:tabLst>
            </a:pPr>
            <a:r>
              <a:rPr lang="en-US" sz="1400" b="0" u="none" strike="noStrike">
                <a:solidFill>
                  <a:srgbClr val="16262E"/>
                </a:solidFill>
                <a:effectLst/>
                <a:uFillTx/>
                <a:latin typeface="Calibri"/>
                <a:ea typeface="Calibri"/>
              </a:rPr>
              <a:t>Tu tarea: apagarlo en cada una, el día que la abras por primera vez.</a:t>
            </a:r>
            <a:endParaRPr lang="en-US" sz="1400" b="0" u="none" strike="noStrike">
              <a:solidFill>
                <a:srgbClr val="000000"/>
              </a:solidFill>
              <a:effectLst/>
              <a:uFillTx/>
              <a:latin typeface="Arial"/>
            </a:endParaRPr>
          </a:p>
        </p:txBody>
      </p:sp>
      <p:sp>
        <p:nvSpPr>
          <p:cNvPr id="474" name="Text 12"/>
          <p:cNvSpPr/>
          <p:nvPr/>
        </p:nvSpPr>
        <p:spPr>
          <a:xfrm>
            <a:off x="567000" y="6327720"/>
            <a:ext cx="11057400" cy="292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00" b="0" u="none" strike="noStrike">
                <a:solidFill>
                  <a:srgbClr val="5A6B73"/>
                </a:solidFill>
                <a:effectLst/>
                <a:uFillTx/>
                <a:latin typeface="Calibri"/>
                <a:ea typeface="Calibri"/>
              </a:rPr>
              <a:t>Aunque apagues el entrenamiento, esas siete siguen siendo solo para información verde. Apagarlo reduce un riesgo, no cambia el semáforo.</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D7E7E7"/>
        </a:solidFill>
      </p:bgPr>
    </p:bg>
    <p:spTree>
      <p:nvGrpSpPr>
        <p:cNvPr id="1" name=""/>
        <p:cNvGrpSpPr/>
        <p:nvPr/>
      </p:nvGrpSpPr>
      <p:grpSpPr>
        <a:xfrm>
          <a:off x="0" y="0"/>
          <a:ext cx="0" cy="0"/>
          <a:chOff x="0" y="0"/>
          <a:chExt cx="0" cy="0"/>
        </a:xfrm>
      </p:grpSpPr>
      <p:sp>
        <p:nvSpPr>
          <p:cNvPr id="475" name="Shape 0"/>
          <p:cNvSpPr/>
          <p:nvPr/>
        </p:nvSpPr>
        <p:spPr>
          <a:xfrm>
            <a:off x="567000" y="457200"/>
            <a:ext cx="2788560" cy="456840"/>
          </a:xfrm>
          <a:prstGeom prst="roundRect">
            <a:avLst>
              <a:gd name="adj" fmla="val 50000"/>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76" name="Text 1"/>
          <p:cNvSpPr/>
          <p:nvPr/>
        </p:nvSpPr>
        <p:spPr>
          <a:xfrm>
            <a:off x="567000" y="457200"/>
            <a:ext cx="2788560" cy="45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pc="201" strike="noStrike">
                <a:solidFill>
                  <a:srgbClr val="FFFFFF"/>
                </a:solidFill>
                <a:effectLst/>
                <a:uFillTx/>
                <a:latin typeface="Arial"/>
                <a:ea typeface="Arial"/>
              </a:rPr>
              <a:t>TU TURNO</a:t>
            </a:r>
            <a:endParaRPr lang="en-US" sz="1300" b="0" u="none" strike="noStrike">
              <a:solidFill>
                <a:srgbClr val="000000"/>
              </a:solidFill>
              <a:effectLst/>
              <a:uFillTx/>
              <a:latin typeface="Arial"/>
            </a:endParaRPr>
          </a:p>
        </p:txBody>
      </p:sp>
      <p:sp>
        <p:nvSpPr>
          <p:cNvPr id="477" name="Shape 2"/>
          <p:cNvSpPr/>
          <p:nvPr/>
        </p:nvSpPr>
        <p:spPr>
          <a:xfrm>
            <a:off x="9704520" y="457200"/>
            <a:ext cx="1919880" cy="456840"/>
          </a:xfrm>
          <a:prstGeom prst="roundRect">
            <a:avLst>
              <a:gd name="adj" fmla="val 50000"/>
            </a:avLst>
          </a:prstGeom>
          <a:solidFill>
            <a:srgbClr val="C85A28"/>
          </a:solidFill>
          <a:ln w="12700">
            <a:solidFill>
              <a:srgbClr val="C85A2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78" name="Text 3"/>
          <p:cNvSpPr/>
          <p:nvPr/>
        </p:nvSpPr>
        <p:spPr>
          <a:xfrm>
            <a:off x="9704520" y="457200"/>
            <a:ext cx="1919880" cy="45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Arial"/>
                <a:ea typeface="Arial"/>
              </a:rPr>
              <a:t>5 minutos</a:t>
            </a:r>
            <a:endParaRPr lang="en-US" sz="1300" b="0" u="none" strike="noStrike">
              <a:solidFill>
                <a:srgbClr val="000000"/>
              </a:solidFill>
              <a:effectLst/>
              <a:uFillTx/>
              <a:latin typeface="Arial"/>
            </a:endParaRPr>
          </a:p>
        </p:txBody>
      </p:sp>
      <p:sp>
        <p:nvSpPr>
          <p:cNvPr id="479" name="Text 4"/>
          <p:cNvSpPr/>
          <p:nvPr/>
        </p:nvSpPr>
        <p:spPr>
          <a:xfrm>
            <a:off x="567000" y="1078920"/>
            <a:ext cx="11057400" cy="685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900" b="1" u="none" strike="noStrike">
                <a:solidFill>
                  <a:srgbClr val="16262E"/>
                </a:solidFill>
                <a:effectLst/>
                <a:uFillTx/>
                <a:latin typeface="Arial"/>
                <a:ea typeface="Arial"/>
              </a:rPr>
              <a:t>Apaga el entrenamiento antes de subir nada</a:t>
            </a:r>
            <a:endParaRPr lang="en-US" sz="2900" b="0" u="none" strike="noStrike">
              <a:solidFill>
                <a:srgbClr val="000000"/>
              </a:solidFill>
              <a:effectLst/>
              <a:uFillTx/>
              <a:latin typeface="Arial"/>
            </a:endParaRPr>
          </a:p>
        </p:txBody>
      </p:sp>
      <p:sp>
        <p:nvSpPr>
          <p:cNvPr id="480" name="Shape 5"/>
          <p:cNvSpPr/>
          <p:nvPr/>
        </p:nvSpPr>
        <p:spPr>
          <a:xfrm>
            <a:off x="567000" y="1920240"/>
            <a:ext cx="11057400" cy="628200"/>
          </a:xfrm>
          <a:prstGeom prst="roundRect">
            <a:avLst>
              <a:gd name="adj" fmla="val 10182"/>
            </a:avLst>
          </a:prstGeom>
          <a:solidFill>
            <a:srgbClr val="FFFFFF"/>
          </a:solidFill>
          <a:ln w="12700">
            <a:solidFill>
              <a:srgbClr val="FFFFFF"/>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81" name="Shape 6"/>
          <p:cNvSpPr/>
          <p:nvPr/>
        </p:nvSpPr>
        <p:spPr>
          <a:xfrm>
            <a:off x="786240" y="2024280"/>
            <a:ext cx="420120" cy="420120"/>
          </a:xfrm>
          <a:prstGeom prst="ellipse">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82" name="Text 7"/>
          <p:cNvSpPr/>
          <p:nvPr/>
        </p:nvSpPr>
        <p:spPr>
          <a:xfrm>
            <a:off x="786240" y="2024280"/>
            <a:ext cx="420120" cy="420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1</a:t>
            </a:r>
            <a:endParaRPr lang="en-US" sz="1400" b="0" u="none" strike="noStrike">
              <a:solidFill>
                <a:srgbClr val="000000"/>
              </a:solidFill>
              <a:effectLst/>
              <a:uFillTx/>
              <a:latin typeface="Arial"/>
            </a:endParaRPr>
          </a:p>
        </p:txBody>
      </p:sp>
      <p:sp>
        <p:nvSpPr>
          <p:cNvPr id="483" name="Text 8"/>
          <p:cNvSpPr/>
          <p:nvPr/>
        </p:nvSpPr>
        <p:spPr>
          <a:xfrm>
            <a:off x="1408320" y="2011680"/>
            <a:ext cx="9960120" cy="445320"/>
          </a:xfrm>
          <a:prstGeom prst="rect">
            <a:avLst/>
          </a:prstGeom>
          <a:noFill/>
          <a:ln w="0">
            <a:noFill/>
          </a:ln>
        </p:spPr>
        <p:style>
          <a:lnRef idx="0"/>
          <a:fillRef idx="0"/>
          <a:effectRef idx="0"/>
          <a:fontRef idx="minor"/>
        </p:style>
        <p:txBody>
          <a:bodyPr lIns="0" tIns="0" rIns="0" bIns="0" anchor="ctr">
            <a:noAutofit/>
          </a:bodyPr>
          <a:p>
            <a:pPr defTabSz="914400">
              <a:lnSpc>
                <a:spcPct val="110000"/>
              </a:lnSpc>
              <a:tabLst>
                <a:tab pos="0" algn="l"/>
              </a:tabLst>
            </a:pPr>
            <a:r>
              <a:rPr lang="en-US" sz="1450" b="0" u="none" strike="noStrike">
                <a:solidFill>
                  <a:srgbClr val="16262E"/>
                </a:solidFill>
                <a:effectLst/>
                <a:uFillTx/>
                <a:latin typeface="Calibri"/>
                <a:ea typeface="Calibri"/>
              </a:rPr>
              <a:t>Primero Copilot: solo verifica que entraste con tu cuenta del Instituto. Ahí no hay nada que apagar.</a:t>
            </a:r>
            <a:endParaRPr lang="en-US" sz="1450" b="0" u="none" strike="noStrike">
              <a:solidFill>
                <a:srgbClr val="000000"/>
              </a:solidFill>
              <a:effectLst/>
              <a:uFillTx/>
              <a:latin typeface="Arial"/>
            </a:endParaRPr>
          </a:p>
        </p:txBody>
      </p:sp>
      <p:sp>
        <p:nvSpPr>
          <p:cNvPr id="484" name="Shape 9"/>
          <p:cNvSpPr/>
          <p:nvPr/>
        </p:nvSpPr>
        <p:spPr>
          <a:xfrm>
            <a:off x="567000" y="2731680"/>
            <a:ext cx="11057400" cy="628200"/>
          </a:xfrm>
          <a:prstGeom prst="roundRect">
            <a:avLst>
              <a:gd name="adj" fmla="val 10182"/>
            </a:avLst>
          </a:prstGeom>
          <a:solidFill>
            <a:srgbClr val="FFFFFF"/>
          </a:solidFill>
          <a:ln w="12700">
            <a:solidFill>
              <a:srgbClr val="FFFFFF"/>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85" name="Shape 10"/>
          <p:cNvSpPr/>
          <p:nvPr/>
        </p:nvSpPr>
        <p:spPr>
          <a:xfrm>
            <a:off x="786240" y="2835720"/>
            <a:ext cx="420120" cy="420120"/>
          </a:xfrm>
          <a:prstGeom prst="ellipse">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86" name="Text 11"/>
          <p:cNvSpPr/>
          <p:nvPr/>
        </p:nvSpPr>
        <p:spPr>
          <a:xfrm>
            <a:off x="786240" y="2835720"/>
            <a:ext cx="420120" cy="420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2</a:t>
            </a:r>
            <a:endParaRPr lang="en-US" sz="1400" b="0" u="none" strike="noStrike">
              <a:solidFill>
                <a:srgbClr val="000000"/>
              </a:solidFill>
              <a:effectLst/>
              <a:uFillTx/>
              <a:latin typeface="Arial"/>
            </a:endParaRPr>
          </a:p>
        </p:txBody>
      </p:sp>
      <p:sp>
        <p:nvSpPr>
          <p:cNvPr id="487" name="Text 12"/>
          <p:cNvSpPr/>
          <p:nvPr/>
        </p:nvSpPr>
        <p:spPr>
          <a:xfrm>
            <a:off x="1408320" y="2823120"/>
            <a:ext cx="9960120" cy="445320"/>
          </a:xfrm>
          <a:prstGeom prst="rect">
            <a:avLst/>
          </a:prstGeom>
          <a:noFill/>
          <a:ln w="0">
            <a:noFill/>
          </a:ln>
        </p:spPr>
        <p:style>
          <a:lnRef idx="0"/>
          <a:fillRef idx="0"/>
          <a:effectRef idx="0"/>
          <a:fontRef idx="minor"/>
        </p:style>
        <p:txBody>
          <a:bodyPr lIns="0" tIns="0" rIns="0" bIns="0" anchor="ctr">
            <a:noAutofit/>
          </a:bodyPr>
          <a:p>
            <a:pPr defTabSz="914400">
              <a:lnSpc>
                <a:spcPct val="110000"/>
              </a:lnSpc>
              <a:tabLst>
                <a:tab pos="0" algn="l"/>
              </a:tabLst>
            </a:pPr>
            <a:r>
              <a:rPr lang="en-US" sz="1450" b="0" u="none" strike="noStrike">
                <a:solidFill>
                  <a:srgbClr val="16262E"/>
                </a:solidFill>
                <a:effectLst/>
                <a:uFillTx/>
                <a:latin typeface="Calibri"/>
                <a:ea typeface="Calibri"/>
              </a:rPr>
              <a:t>Ahora ChatGPT, que es la que más vas a usar de las siete. Entra a su configuración y busca la sección de datos, privacidad o controles de datos.</a:t>
            </a:r>
            <a:endParaRPr lang="en-US" sz="1450" b="0" u="none" strike="noStrike">
              <a:solidFill>
                <a:srgbClr val="000000"/>
              </a:solidFill>
              <a:effectLst/>
              <a:uFillTx/>
              <a:latin typeface="Arial"/>
            </a:endParaRPr>
          </a:p>
        </p:txBody>
      </p:sp>
      <p:sp>
        <p:nvSpPr>
          <p:cNvPr id="488" name="Shape 13"/>
          <p:cNvSpPr/>
          <p:nvPr/>
        </p:nvSpPr>
        <p:spPr>
          <a:xfrm>
            <a:off x="567000" y="3543480"/>
            <a:ext cx="11057400" cy="628200"/>
          </a:xfrm>
          <a:prstGeom prst="roundRect">
            <a:avLst>
              <a:gd name="adj" fmla="val 10182"/>
            </a:avLst>
          </a:prstGeom>
          <a:solidFill>
            <a:srgbClr val="FFFFFF"/>
          </a:solidFill>
          <a:ln w="12700">
            <a:solidFill>
              <a:srgbClr val="FFFFFF"/>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89" name="Shape 14"/>
          <p:cNvSpPr/>
          <p:nvPr/>
        </p:nvSpPr>
        <p:spPr>
          <a:xfrm>
            <a:off x="786240" y="3647160"/>
            <a:ext cx="420120" cy="420120"/>
          </a:xfrm>
          <a:prstGeom prst="ellipse">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90" name="Text 15"/>
          <p:cNvSpPr/>
          <p:nvPr/>
        </p:nvSpPr>
        <p:spPr>
          <a:xfrm>
            <a:off x="786240" y="3647160"/>
            <a:ext cx="420120" cy="420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3</a:t>
            </a:r>
            <a:endParaRPr lang="en-US" sz="1400" b="0" u="none" strike="noStrike">
              <a:solidFill>
                <a:srgbClr val="000000"/>
              </a:solidFill>
              <a:effectLst/>
              <a:uFillTx/>
              <a:latin typeface="Arial"/>
            </a:endParaRPr>
          </a:p>
        </p:txBody>
      </p:sp>
      <p:sp>
        <p:nvSpPr>
          <p:cNvPr id="491" name="Text 16"/>
          <p:cNvSpPr/>
          <p:nvPr/>
        </p:nvSpPr>
        <p:spPr>
          <a:xfrm>
            <a:off x="1408320" y="3634920"/>
            <a:ext cx="9960120" cy="445320"/>
          </a:xfrm>
          <a:prstGeom prst="rect">
            <a:avLst/>
          </a:prstGeom>
          <a:noFill/>
          <a:ln w="0">
            <a:noFill/>
          </a:ln>
        </p:spPr>
        <p:style>
          <a:lnRef idx="0"/>
          <a:fillRef idx="0"/>
          <a:effectRef idx="0"/>
          <a:fontRef idx="minor"/>
        </p:style>
        <p:txBody>
          <a:bodyPr lIns="0" tIns="0" rIns="0" bIns="0" anchor="ctr">
            <a:noAutofit/>
          </a:bodyPr>
          <a:p>
            <a:pPr defTabSz="914400">
              <a:lnSpc>
                <a:spcPct val="110000"/>
              </a:lnSpc>
              <a:tabLst>
                <a:tab pos="0" algn="l"/>
              </a:tabLst>
            </a:pPr>
            <a:r>
              <a:rPr lang="en-US" sz="1450" b="0" u="none" strike="noStrike">
                <a:solidFill>
                  <a:srgbClr val="16262E"/>
                </a:solidFill>
                <a:effectLst/>
                <a:uFillTx/>
                <a:latin typeface="Calibri"/>
                <a:ea typeface="Calibri"/>
              </a:rPr>
              <a:t>Apaga la opción de mejorar el modelo. El nombre del menú cambia entre herramientas y cambia seguido, pero la opción es siempre la misma.</a:t>
            </a:r>
            <a:endParaRPr lang="en-US" sz="1450" b="0" u="none" strike="noStrike">
              <a:solidFill>
                <a:srgbClr val="000000"/>
              </a:solidFill>
              <a:effectLst/>
              <a:uFillTx/>
              <a:latin typeface="Arial"/>
            </a:endParaRPr>
          </a:p>
        </p:txBody>
      </p:sp>
      <p:sp>
        <p:nvSpPr>
          <p:cNvPr id="492" name="Shape 17"/>
          <p:cNvSpPr/>
          <p:nvPr/>
        </p:nvSpPr>
        <p:spPr>
          <a:xfrm>
            <a:off x="567000" y="4354920"/>
            <a:ext cx="11057400" cy="628200"/>
          </a:xfrm>
          <a:prstGeom prst="roundRect">
            <a:avLst>
              <a:gd name="adj" fmla="val 10182"/>
            </a:avLst>
          </a:prstGeom>
          <a:solidFill>
            <a:srgbClr val="FFFFFF"/>
          </a:solidFill>
          <a:ln w="12700">
            <a:solidFill>
              <a:srgbClr val="FFFFFF"/>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93" name="Shape 18"/>
          <p:cNvSpPr/>
          <p:nvPr/>
        </p:nvSpPr>
        <p:spPr>
          <a:xfrm>
            <a:off x="786240" y="4458960"/>
            <a:ext cx="420120" cy="420120"/>
          </a:xfrm>
          <a:prstGeom prst="ellipse">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94" name="Text 19"/>
          <p:cNvSpPr/>
          <p:nvPr/>
        </p:nvSpPr>
        <p:spPr>
          <a:xfrm>
            <a:off x="786240" y="4458960"/>
            <a:ext cx="420120" cy="420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4</a:t>
            </a:r>
            <a:endParaRPr lang="en-US" sz="1400" b="0" u="none" strike="noStrike">
              <a:solidFill>
                <a:srgbClr val="000000"/>
              </a:solidFill>
              <a:effectLst/>
              <a:uFillTx/>
              <a:latin typeface="Arial"/>
            </a:endParaRPr>
          </a:p>
        </p:txBody>
      </p:sp>
      <p:sp>
        <p:nvSpPr>
          <p:cNvPr id="495" name="Text 20"/>
          <p:cNvSpPr/>
          <p:nvPr/>
        </p:nvSpPr>
        <p:spPr>
          <a:xfrm>
            <a:off x="1408320" y="4446360"/>
            <a:ext cx="9960120" cy="445320"/>
          </a:xfrm>
          <a:prstGeom prst="rect">
            <a:avLst/>
          </a:prstGeom>
          <a:noFill/>
          <a:ln w="0">
            <a:noFill/>
          </a:ln>
        </p:spPr>
        <p:style>
          <a:lnRef idx="0"/>
          <a:fillRef idx="0"/>
          <a:effectRef idx="0"/>
          <a:fontRef idx="minor"/>
        </p:style>
        <p:txBody>
          <a:bodyPr lIns="0" tIns="0" rIns="0" bIns="0" anchor="ctr">
            <a:noAutofit/>
          </a:bodyPr>
          <a:p>
            <a:pPr defTabSz="914400">
              <a:lnSpc>
                <a:spcPct val="110000"/>
              </a:lnSpc>
              <a:tabLst>
                <a:tab pos="0" algn="l"/>
              </a:tabLst>
            </a:pPr>
            <a:r>
              <a:rPr lang="en-US" sz="1450" b="0" u="none" strike="noStrike">
                <a:solidFill>
                  <a:srgbClr val="16262E"/>
                </a:solidFill>
                <a:effectLst/>
                <a:uFillTx/>
                <a:latin typeface="Calibri"/>
                <a:ea typeface="Calibri"/>
              </a:rPr>
              <a:t>Con las otras seis, hazlo el día que las abras por primera vez. Anota en tu bitácora cuál apagaste y cuándo.</a:t>
            </a:r>
            <a:endParaRPr lang="en-US" sz="1450" b="0" u="none" strike="noStrike">
              <a:solidFill>
                <a:srgbClr val="000000"/>
              </a:solidFill>
              <a:effectLst/>
              <a:uFillTx/>
              <a:latin typeface="Arial"/>
            </a:endParaRPr>
          </a:p>
        </p:txBody>
      </p:sp>
      <p:sp>
        <p:nvSpPr>
          <p:cNvPr id="496" name="Shape 21"/>
          <p:cNvSpPr/>
          <p:nvPr/>
        </p:nvSpPr>
        <p:spPr>
          <a:xfrm>
            <a:off x="567000" y="5193720"/>
            <a:ext cx="11057400" cy="776880"/>
          </a:xfrm>
          <a:prstGeom prst="roundRect">
            <a:avLst>
              <a:gd name="adj" fmla="val 8235"/>
            </a:avLst>
          </a:prstGeom>
          <a:solidFill>
            <a:srgbClr val="16262E"/>
          </a:solidFill>
          <a:ln w="12700">
            <a:solidFill>
              <a:srgbClr val="16262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97" name="Text 22"/>
          <p:cNvSpPr/>
          <p:nvPr/>
        </p:nvSpPr>
        <p:spPr>
          <a:xfrm>
            <a:off x="841320" y="5193720"/>
            <a:ext cx="10508760" cy="776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0" u="none" strike="noStrike">
                <a:solidFill>
                  <a:srgbClr val="FFFFFF"/>
                </a:solidFill>
                <a:effectLst/>
                <a:uFillTx/>
                <a:latin typeface="Calibri"/>
                <a:ea typeface="Calibri"/>
              </a:rPr>
              <a:t>Si en alguna no encuentras la opción, anótalo y no subas nada a esa herramienta hasta encontrarla.</a:t>
            </a:r>
            <a:endParaRPr lang="en-US" sz="13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6262E"/>
        </a:solidFill>
      </p:bgPr>
    </p:bg>
    <p:spTree>
      <p:nvGrpSpPr>
        <p:cNvPr id="1" name=""/>
        <p:cNvGrpSpPr/>
        <p:nvPr/>
      </p:nvGrpSpPr>
      <p:grpSpPr>
        <a:xfrm>
          <a:off x="0" y="0"/>
          <a:ext cx="0" cy="0"/>
          <a:chOff x="0" y="0"/>
          <a:chExt cx="0" cy="0"/>
        </a:xfrm>
      </p:grpSpPr>
      <p:sp>
        <p:nvSpPr>
          <p:cNvPr id="498" name="Shape 0"/>
          <p:cNvSpPr/>
          <p:nvPr/>
        </p:nvSpPr>
        <p:spPr>
          <a:xfrm>
            <a:off x="567000" y="2331720"/>
            <a:ext cx="1371240" cy="1371240"/>
          </a:xfrm>
          <a:prstGeom prst="ellipse">
            <a:avLst/>
          </a:prstGeom>
          <a:solidFill>
            <a:srgbClr val="C85A28"/>
          </a:solidFill>
          <a:ln w="12700">
            <a:solidFill>
              <a:srgbClr val="C85A2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99" name="Text 1"/>
          <p:cNvSpPr/>
          <p:nvPr/>
        </p:nvSpPr>
        <p:spPr>
          <a:xfrm>
            <a:off x="567000" y="2331720"/>
            <a:ext cx="1371240" cy="13712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4400" b="1" u="none" strike="noStrike">
                <a:solidFill>
                  <a:srgbClr val="FFFFFF"/>
                </a:solidFill>
                <a:effectLst/>
                <a:uFillTx/>
                <a:latin typeface="Arial"/>
                <a:ea typeface="Arial"/>
              </a:rPr>
              <a:t>4</a:t>
            </a:r>
            <a:endParaRPr lang="en-US" sz="4400" b="0" u="none" strike="noStrike">
              <a:solidFill>
                <a:srgbClr val="FFFFFF"/>
              </a:solidFill>
              <a:effectLst/>
              <a:uFillTx/>
              <a:latin typeface="Arial"/>
            </a:endParaRPr>
          </a:p>
        </p:txBody>
      </p:sp>
      <p:sp>
        <p:nvSpPr>
          <p:cNvPr id="500" name="Text 2"/>
          <p:cNvSpPr/>
          <p:nvPr/>
        </p:nvSpPr>
        <p:spPr>
          <a:xfrm>
            <a:off x="2487240" y="2331720"/>
            <a:ext cx="877788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pc="201" strike="noStrike">
                <a:solidFill>
                  <a:srgbClr val="D7E7E7"/>
                </a:solidFill>
                <a:effectLst/>
                <a:uFillTx/>
                <a:latin typeface="Calibri"/>
                <a:ea typeface="Calibri"/>
              </a:rPr>
              <a:t>MARCO DE TRAZABILIDAD</a:t>
            </a:r>
            <a:endParaRPr lang="en-US" sz="1400" b="0" u="none" strike="noStrike">
              <a:solidFill>
                <a:srgbClr val="FFFFFF"/>
              </a:solidFill>
              <a:effectLst/>
              <a:uFillTx/>
              <a:latin typeface="Arial"/>
            </a:endParaRPr>
          </a:p>
        </p:txBody>
      </p:sp>
      <p:sp>
        <p:nvSpPr>
          <p:cNvPr id="501" name="Text 3"/>
          <p:cNvSpPr/>
          <p:nvPr/>
        </p:nvSpPr>
        <p:spPr>
          <a:xfrm>
            <a:off x="2487240" y="2697480"/>
            <a:ext cx="8960760" cy="118836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3400" b="1" u="none" strike="noStrike">
                <a:solidFill>
                  <a:srgbClr val="FFFFFF"/>
                </a:solidFill>
                <a:effectLst/>
                <a:uFillTx/>
                <a:latin typeface="Arial"/>
                <a:ea typeface="Arial"/>
              </a:rPr>
              <a:t>De dónde salió esto</a:t>
            </a:r>
            <a:endParaRPr lang="en-US" sz="3400" b="0" u="none" strike="noStrike">
              <a:solidFill>
                <a:srgbClr val="FFFFFF"/>
              </a:solidFill>
              <a:effectLst/>
              <a:uFillTx/>
              <a:latin typeface="Arial"/>
            </a:endParaRPr>
          </a:p>
        </p:txBody>
      </p:sp>
      <p:sp>
        <p:nvSpPr>
          <p:cNvPr id="502" name="Shape 4"/>
          <p:cNvSpPr/>
          <p:nvPr/>
        </p:nvSpPr>
        <p:spPr>
          <a:xfrm>
            <a:off x="9338760" y="457200"/>
            <a:ext cx="2285640" cy="347040"/>
          </a:xfrm>
          <a:prstGeom prst="roundRect">
            <a:avLst>
              <a:gd name="adj" fmla="val 50000"/>
            </a:avLst>
          </a:prstGeom>
          <a:solidFill>
            <a:srgbClr val="24404E"/>
          </a:solidFill>
          <a:ln w="12700">
            <a:solidFill>
              <a:srgbClr val="24404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03" name="Text 5"/>
          <p:cNvSpPr/>
          <p:nvPr/>
        </p:nvSpPr>
        <p:spPr>
          <a:xfrm>
            <a:off x="9338760" y="457200"/>
            <a:ext cx="2285640" cy="347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1" u="none" strike="noStrike">
                <a:solidFill>
                  <a:srgbClr val="FFFFFF"/>
                </a:solidFill>
                <a:effectLst/>
                <a:uFillTx/>
                <a:latin typeface="Calibri"/>
                <a:ea typeface="Calibri"/>
              </a:rPr>
              <a:t>10:44 a 10:56</a:t>
            </a:r>
            <a:endParaRPr lang="en-US" sz="12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4" name="Text 0"/>
          <p:cNvSpPr/>
          <p:nvPr/>
        </p:nvSpPr>
        <p:spPr>
          <a:xfrm>
            <a:off x="567000" y="402480"/>
            <a:ext cx="9228600" cy="7495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3200" b="1" u="none" strike="noStrike">
                <a:solidFill>
                  <a:srgbClr val="16262E"/>
                </a:solidFill>
                <a:effectLst/>
                <a:uFillTx/>
                <a:latin typeface="Arial"/>
                <a:ea typeface="Arial"/>
              </a:rPr>
              <a:t>Tres piezas, una sola pregunta</a:t>
            </a:r>
            <a:endParaRPr lang="en-US" sz="3200" b="0" u="none" strike="noStrike">
              <a:solidFill>
                <a:srgbClr val="000000"/>
              </a:solidFill>
              <a:effectLst/>
              <a:uFillTx/>
              <a:latin typeface="Arial"/>
            </a:endParaRPr>
          </a:p>
        </p:txBody>
      </p:sp>
      <p:sp>
        <p:nvSpPr>
          <p:cNvPr id="505" name="Text 1"/>
          <p:cNvSpPr/>
          <p:nvPr/>
        </p:nvSpPr>
        <p:spPr>
          <a:xfrm>
            <a:off x="567000" y="1280160"/>
            <a:ext cx="9960120" cy="3654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500" b="0" u="none" strike="noStrike">
                <a:solidFill>
                  <a:srgbClr val="5A6B73"/>
                </a:solidFill>
                <a:effectLst/>
                <a:uFillTx/>
                <a:latin typeface="Calibri"/>
                <a:ea typeface="Calibri"/>
              </a:rPr>
              <a:t>Es la parte de la transparencia que te toca a ti como quien produce el trabajo.</a:t>
            </a:r>
            <a:endParaRPr lang="en-US" sz="1500" b="0" u="none" strike="noStrike">
              <a:solidFill>
                <a:srgbClr val="000000"/>
              </a:solidFill>
              <a:effectLst/>
              <a:uFillTx/>
              <a:latin typeface="Arial"/>
            </a:endParaRPr>
          </a:p>
        </p:txBody>
      </p:sp>
      <p:sp>
        <p:nvSpPr>
          <p:cNvPr id="506" name="Shape 2"/>
          <p:cNvSpPr/>
          <p:nvPr/>
        </p:nvSpPr>
        <p:spPr>
          <a:xfrm>
            <a:off x="567000" y="2011680"/>
            <a:ext cx="3502800" cy="2724480"/>
          </a:xfrm>
          <a:prstGeom prst="roundRect">
            <a:avLst>
              <a:gd name="adj" fmla="val 2685"/>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07" name="Shape 3"/>
          <p:cNvSpPr/>
          <p:nvPr/>
        </p:nvSpPr>
        <p:spPr>
          <a:xfrm>
            <a:off x="804600" y="2231280"/>
            <a:ext cx="420120" cy="420120"/>
          </a:xfrm>
          <a:prstGeom prst="ellipse">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08" name="Text 4"/>
          <p:cNvSpPr/>
          <p:nvPr/>
        </p:nvSpPr>
        <p:spPr>
          <a:xfrm>
            <a:off x="804600" y="2231280"/>
            <a:ext cx="420120" cy="420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1</a:t>
            </a:r>
            <a:endParaRPr lang="en-US" sz="1400" b="0" u="none" strike="noStrike">
              <a:solidFill>
                <a:srgbClr val="000000"/>
              </a:solidFill>
              <a:effectLst/>
              <a:uFillTx/>
              <a:latin typeface="Arial"/>
            </a:endParaRPr>
          </a:p>
        </p:txBody>
      </p:sp>
      <p:sp>
        <p:nvSpPr>
          <p:cNvPr id="509" name="Text 5"/>
          <p:cNvSpPr/>
          <p:nvPr/>
        </p:nvSpPr>
        <p:spPr>
          <a:xfrm>
            <a:off x="804600" y="2797920"/>
            <a:ext cx="3027240" cy="3186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600" b="1" u="none" strike="noStrike">
                <a:solidFill>
                  <a:srgbClr val="16262E"/>
                </a:solidFill>
                <a:effectLst/>
                <a:uFillTx/>
                <a:latin typeface="Arial"/>
                <a:ea typeface="Arial"/>
              </a:rPr>
              <a:t>Registro de lo que pediste</a:t>
            </a:r>
            <a:endParaRPr lang="en-US" sz="1600" b="0" u="none" strike="noStrike">
              <a:solidFill>
                <a:srgbClr val="000000"/>
              </a:solidFill>
              <a:effectLst/>
              <a:uFillTx/>
              <a:latin typeface="Arial"/>
            </a:endParaRPr>
          </a:p>
        </p:txBody>
      </p:sp>
      <p:sp>
        <p:nvSpPr>
          <p:cNvPr id="510" name="Text 6"/>
          <p:cNvSpPr/>
          <p:nvPr/>
        </p:nvSpPr>
        <p:spPr>
          <a:xfrm>
            <a:off x="804600" y="3263400"/>
            <a:ext cx="3027240" cy="127152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300" b="0" u="none" strike="noStrike">
                <a:solidFill>
                  <a:srgbClr val="16262E"/>
                </a:solidFill>
                <a:effectLst/>
                <a:uFillTx/>
                <a:latin typeface="Calibri"/>
                <a:ea typeface="Calibri"/>
              </a:rPr>
              <a:t>Tu bitácora: qué le pediste al modelo y qué te contestó. Como no repite, sin bitácora no puedes reconstruir nada.</a:t>
            </a:r>
            <a:endParaRPr lang="en-US" sz="1300" b="0" u="none" strike="noStrike">
              <a:solidFill>
                <a:srgbClr val="000000"/>
              </a:solidFill>
              <a:effectLst/>
              <a:uFillTx/>
              <a:latin typeface="Arial"/>
            </a:endParaRPr>
          </a:p>
        </p:txBody>
      </p:sp>
      <p:sp>
        <p:nvSpPr>
          <p:cNvPr id="511" name="Shape 7"/>
          <p:cNvSpPr/>
          <p:nvPr/>
        </p:nvSpPr>
        <p:spPr>
          <a:xfrm>
            <a:off x="4344480" y="2011680"/>
            <a:ext cx="3502800" cy="2724480"/>
          </a:xfrm>
          <a:prstGeom prst="roundRect">
            <a:avLst>
              <a:gd name="adj" fmla="val 2685"/>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12" name="Shape 8"/>
          <p:cNvSpPr/>
          <p:nvPr/>
        </p:nvSpPr>
        <p:spPr>
          <a:xfrm>
            <a:off x="4582080" y="2231280"/>
            <a:ext cx="420120" cy="420120"/>
          </a:xfrm>
          <a:prstGeom prst="ellipse">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13" name="Text 9"/>
          <p:cNvSpPr/>
          <p:nvPr/>
        </p:nvSpPr>
        <p:spPr>
          <a:xfrm>
            <a:off x="4582080" y="2231280"/>
            <a:ext cx="420120" cy="420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2</a:t>
            </a:r>
            <a:endParaRPr lang="en-US" sz="1400" b="0" u="none" strike="noStrike">
              <a:solidFill>
                <a:srgbClr val="000000"/>
              </a:solidFill>
              <a:effectLst/>
              <a:uFillTx/>
              <a:latin typeface="Arial"/>
            </a:endParaRPr>
          </a:p>
        </p:txBody>
      </p:sp>
      <p:sp>
        <p:nvSpPr>
          <p:cNvPr id="514" name="Text 10"/>
          <p:cNvSpPr/>
          <p:nvPr/>
        </p:nvSpPr>
        <p:spPr>
          <a:xfrm>
            <a:off x="4582080" y="2797920"/>
            <a:ext cx="3027240" cy="3186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600" b="1" u="none" strike="noStrike">
                <a:solidFill>
                  <a:srgbClr val="16262E"/>
                </a:solidFill>
                <a:effectLst/>
                <a:uFillTx/>
                <a:latin typeface="Arial"/>
                <a:ea typeface="Arial"/>
              </a:rPr>
              <a:t>Control de versiones</a:t>
            </a:r>
            <a:endParaRPr lang="en-US" sz="1600" b="0" u="none" strike="noStrike">
              <a:solidFill>
                <a:srgbClr val="000000"/>
              </a:solidFill>
              <a:effectLst/>
              <a:uFillTx/>
              <a:latin typeface="Arial"/>
            </a:endParaRPr>
          </a:p>
        </p:txBody>
      </p:sp>
      <p:sp>
        <p:nvSpPr>
          <p:cNvPr id="515" name="Text 11"/>
          <p:cNvSpPr/>
          <p:nvPr/>
        </p:nvSpPr>
        <p:spPr>
          <a:xfrm>
            <a:off x="4582080" y="3263400"/>
            <a:ext cx="3027240" cy="127152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300" b="0" u="none" strike="noStrike">
                <a:solidFill>
                  <a:srgbClr val="16262E"/>
                </a:solidFill>
                <a:effectLst/>
                <a:uFillTx/>
                <a:latin typeface="Calibri"/>
                <a:ea typeface="Calibri"/>
              </a:rPr>
              <a:t>Guardas los borradores intermedios. Así puedes ver en qué paso se metió un error.</a:t>
            </a:r>
            <a:endParaRPr lang="en-US" sz="1300" b="0" u="none" strike="noStrike">
              <a:solidFill>
                <a:srgbClr val="000000"/>
              </a:solidFill>
              <a:effectLst/>
              <a:uFillTx/>
              <a:latin typeface="Arial"/>
            </a:endParaRPr>
          </a:p>
        </p:txBody>
      </p:sp>
      <p:sp>
        <p:nvSpPr>
          <p:cNvPr id="516" name="Shape 12"/>
          <p:cNvSpPr/>
          <p:nvPr/>
        </p:nvSpPr>
        <p:spPr>
          <a:xfrm>
            <a:off x="8121600" y="2011680"/>
            <a:ext cx="3502800" cy="2724480"/>
          </a:xfrm>
          <a:prstGeom prst="roundRect">
            <a:avLst>
              <a:gd name="adj" fmla="val 2685"/>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17" name="Shape 13"/>
          <p:cNvSpPr/>
          <p:nvPr/>
        </p:nvSpPr>
        <p:spPr>
          <a:xfrm>
            <a:off x="8359560" y="2231280"/>
            <a:ext cx="420120" cy="420120"/>
          </a:xfrm>
          <a:prstGeom prst="ellipse">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18" name="Text 14"/>
          <p:cNvSpPr/>
          <p:nvPr/>
        </p:nvSpPr>
        <p:spPr>
          <a:xfrm>
            <a:off x="8359560" y="2231280"/>
            <a:ext cx="420120" cy="420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3</a:t>
            </a:r>
            <a:endParaRPr lang="en-US" sz="1400" b="0" u="none" strike="noStrike">
              <a:solidFill>
                <a:srgbClr val="000000"/>
              </a:solidFill>
              <a:effectLst/>
              <a:uFillTx/>
              <a:latin typeface="Arial"/>
            </a:endParaRPr>
          </a:p>
        </p:txBody>
      </p:sp>
      <p:sp>
        <p:nvSpPr>
          <p:cNvPr id="519" name="Text 15"/>
          <p:cNvSpPr/>
          <p:nvPr/>
        </p:nvSpPr>
        <p:spPr>
          <a:xfrm>
            <a:off x="8359560" y="2797920"/>
            <a:ext cx="3027240" cy="3186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600" b="1" u="none" strike="noStrike">
                <a:solidFill>
                  <a:srgbClr val="16262E"/>
                </a:solidFill>
                <a:effectLst/>
                <a:uFillTx/>
                <a:latin typeface="Arial"/>
                <a:ea typeface="Arial"/>
              </a:rPr>
              <a:t>Linaje del dato</a:t>
            </a:r>
            <a:endParaRPr lang="en-US" sz="1600" b="0" u="none" strike="noStrike">
              <a:solidFill>
                <a:srgbClr val="000000"/>
              </a:solidFill>
              <a:effectLst/>
              <a:uFillTx/>
              <a:latin typeface="Arial"/>
            </a:endParaRPr>
          </a:p>
        </p:txBody>
      </p:sp>
      <p:sp>
        <p:nvSpPr>
          <p:cNvPr id="520" name="Text 16"/>
          <p:cNvSpPr/>
          <p:nvPr/>
        </p:nvSpPr>
        <p:spPr>
          <a:xfrm>
            <a:off x="8359560" y="3263400"/>
            <a:ext cx="3027240" cy="127152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300" b="0" u="none" strike="noStrike">
                <a:solidFill>
                  <a:srgbClr val="16262E"/>
                </a:solidFill>
                <a:effectLst/>
                <a:uFillTx/>
                <a:latin typeface="Calibri"/>
                <a:ea typeface="Calibri"/>
              </a:rPr>
              <a:t>Qué documento y qué sección sostienen cada afirmación. Y si enmascaraste algo, cómo lo hiciste. Lo construyes completo en la sesión 6.</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D7E7E7"/>
        </a:solidFill>
      </p:bgPr>
    </p:bg>
    <p:spTree>
      <p:nvGrpSpPr>
        <p:cNvPr id="1" name=""/>
        <p:cNvGrpSpPr/>
        <p:nvPr/>
      </p:nvGrpSpPr>
      <p:grpSpPr>
        <a:xfrm>
          <a:off x="0" y="0"/>
          <a:ext cx="0" cy="0"/>
          <a:chOff x="0" y="0"/>
          <a:chExt cx="0" cy="0"/>
        </a:xfrm>
      </p:grpSpPr>
      <p:sp>
        <p:nvSpPr>
          <p:cNvPr id="521" name="Shape 0"/>
          <p:cNvSpPr/>
          <p:nvPr/>
        </p:nvSpPr>
        <p:spPr>
          <a:xfrm>
            <a:off x="567000" y="457200"/>
            <a:ext cx="2788560" cy="456840"/>
          </a:xfrm>
          <a:prstGeom prst="roundRect">
            <a:avLst>
              <a:gd name="adj" fmla="val 50000"/>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22" name="Text 1"/>
          <p:cNvSpPr/>
          <p:nvPr/>
        </p:nvSpPr>
        <p:spPr>
          <a:xfrm>
            <a:off x="567000" y="457200"/>
            <a:ext cx="2788560" cy="45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pc="201" strike="noStrike">
                <a:solidFill>
                  <a:srgbClr val="FFFFFF"/>
                </a:solidFill>
                <a:effectLst/>
                <a:uFillTx/>
                <a:latin typeface="Arial"/>
                <a:ea typeface="Arial"/>
              </a:rPr>
              <a:t>TU TURNO</a:t>
            </a:r>
            <a:endParaRPr lang="en-US" sz="1300" b="0" u="none" strike="noStrike">
              <a:solidFill>
                <a:srgbClr val="000000"/>
              </a:solidFill>
              <a:effectLst/>
              <a:uFillTx/>
              <a:latin typeface="Arial"/>
            </a:endParaRPr>
          </a:p>
        </p:txBody>
      </p:sp>
      <p:sp>
        <p:nvSpPr>
          <p:cNvPr id="523" name="Shape 2"/>
          <p:cNvSpPr/>
          <p:nvPr/>
        </p:nvSpPr>
        <p:spPr>
          <a:xfrm>
            <a:off x="9704520" y="457200"/>
            <a:ext cx="1919880" cy="456840"/>
          </a:xfrm>
          <a:prstGeom prst="roundRect">
            <a:avLst>
              <a:gd name="adj" fmla="val 50000"/>
            </a:avLst>
          </a:prstGeom>
          <a:solidFill>
            <a:srgbClr val="C85A28"/>
          </a:solidFill>
          <a:ln w="12700">
            <a:solidFill>
              <a:srgbClr val="C85A2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24" name="Text 3"/>
          <p:cNvSpPr/>
          <p:nvPr/>
        </p:nvSpPr>
        <p:spPr>
          <a:xfrm>
            <a:off x="9704520" y="457200"/>
            <a:ext cx="1919880" cy="45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Arial"/>
                <a:ea typeface="Arial"/>
              </a:rPr>
              <a:t>5 minutos</a:t>
            </a:r>
            <a:endParaRPr lang="en-US" sz="1300" b="0" u="none" strike="noStrike">
              <a:solidFill>
                <a:srgbClr val="000000"/>
              </a:solidFill>
              <a:effectLst/>
              <a:uFillTx/>
              <a:latin typeface="Arial"/>
            </a:endParaRPr>
          </a:p>
        </p:txBody>
      </p:sp>
      <p:sp>
        <p:nvSpPr>
          <p:cNvPr id="525" name="Text 4"/>
          <p:cNvSpPr/>
          <p:nvPr/>
        </p:nvSpPr>
        <p:spPr>
          <a:xfrm>
            <a:off x="567000" y="1078920"/>
            <a:ext cx="11057400" cy="685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900" b="1" u="none" strike="noStrike">
                <a:solidFill>
                  <a:srgbClr val="16262E"/>
                </a:solidFill>
                <a:effectLst/>
                <a:uFillTx/>
                <a:latin typeface="Arial"/>
                <a:ea typeface="Arial"/>
              </a:rPr>
              <a:t>Enmascara un archivo con datos personales</a:t>
            </a:r>
            <a:endParaRPr lang="en-US" sz="2900" b="0" u="none" strike="noStrike">
              <a:solidFill>
                <a:srgbClr val="000000"/>
              </a:solidFill>
              <a:effectLst/>
              <a:uFillTx/>
              <a:latin typeface="Arial"/>
            </a:endParaRPr>
          </a:p>
        </p:txBody>
      </p:sp>
      <p:sp>
        <p:nvSpPr>
          <p:cNvPr id="526" name="Shape 5"/>
          <p:cNvSpPr/>
          <p:nvPr/>
        </p:nvSpPr>
        <p:spPr>
          <a:xfrm>
            <a:off x="567000" y="1920240"/>
            <a:ext cx="11057400" cy="628200"/>
          </a:xfrm>
          <a:prstGeom prst="roundRect">
            <a:avLst>
              <a:gd name="adj" fmla="val 10182"/>
            </a:avLst>
          </a:prstGeom>
          <a:solidFill>
            <a:srgbClr val="FFFFFF"/>
          </a:solidFill>
          <a:ln w="12700">
            <a:solidFill>
              <a:srgbClr val="FFFFFF"/>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27" name="Shape 6"/>
          <p:cNvSpPr/>
          <p:nvPr/>
        </p:nvSpPr>
        <p:spPr>
          <a:xfrm>
            <a:off x="786240" y="2024280"/>
            <a:ext cx="420120" cy="420120"/>
          </a:xfrm>
          <a:prstGeom prst="ellipse">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28" name="Text 7"/>
          <p:cNvSpPr/>
          <p:nvPr/>
        </p:nvSpPr>
        <p:spPr>
          <a:xfrm>
            <a:off x="786240" y="2024280"/>
            <a:ext cx="420120" cy="420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1</a:t>
            </a:r>
            <a:endParaRPr lang="en-US" sz="1400" b="0" u="none" strike="noStrike">
              <a:solidFill>
                <a:srgbClr val="000000"/>
              </a:solidFill>
              <a:effectLst/>
              <a:uFillTx/>
              <a:latin typeface="Arial"/>
            </a:endParaRPr>
          </a:p>
        </p:txBody>
      </p:sp>
      <p:sp>
        <p:nvSpPr>
          <p:cNvPr id="529" name="Text 8"/>
          <p:cNvSpPr/>
          <p:nvPr/>
        </p:nvSpPr>
        <p:spPr>
          <a:xfrm>
            <a:off x="1408320" y="2011680"/>
            <a:ext cx="9960120" cy="445320"/>
          </a:xfrm>
          <a:prstGeom prst="rect">
            <a:avLst/>
          </a:prstGeom>
          <a:noFill/>
          <a:ln w="0">
            <a:noFill/>
          </a:ln>
        </p:spPr>
        <p:style>
          <a:lnRef idx="0"/>
          <a:fillRef idx="0"/>
          <a:effectRef idx="0"/>
          <a:fontRef idx="minor"/>
        </p:style>
        <p:txBody>
          <a:bodyPr lIns="0" tIns="0" rIns="0" bIns="0" anchor="ctr">
            <a:noAutofit/>
          </a:bodyPr>
          <a:p>
            <a:pPr defTabSz="914400">
              <a:lnSpc>
                <a:spcPct val="110000"/>
              </a:lnSpc>
              <a:tabLst>
                <a:tab pos="0" algn="l"/>
              </a:tabLst>
            </a:pPr>
            <a:r>
              <a:rPr lang="en-US" sz="1450" b="0" u="none" strike="noStrike">
                <a:solidFill>
                  <a:srgbClr val="16262E"/>
                </a:solidFill>
                <a:effectLst/>
                <a:uFillTx/>
                <a:latin typeface="Calibri"/>
                <a:ea typeface="Calibri"/>
              </a:rPr>
              <a:t>Abre la hoja Padron_sintetico. Tiene nombres, CURP, domicilios, teléfonos y correos.</a:t>
            </a:r>
            <a:endParaRPr lang="en-US" sz="1450" b="0" u="none" strike="noStrike">
              <a:solidFill>
                <a:srgbClr val="000000"/>
              </a:solidFill>
              <a:effectLst/>
              <a:uFillTx/>
              <a:latin typeface="Arial"/>
            </a:endParaRPr>
          </a:p>
        </p:txBody>
      </p:sp>
      <p:sp>
        <p:nvSpPr>
          <p:cNvPr id="530" name="Shape 9"/>
          <p:cNvSpPr/>
          <p:nvPr/>
        </p:nvSpPr>
        <p:spPr>
          <a:xfrm>
            <a:off x="567000" y="2731680"/>
            <a:ext cx="11057400" cy="628200"/>
          </a:xfrm>
          <a:prstGeom prst="roundRect">
            <a:avLst>
              <a:gd name="adj" fmla="val 10182"/>
            </a:avLst>
          </a:prstGeom>
          <a:solidFill>
            <a:srgbClr val="FFFFFF"/>
          </a:solidFill>
          <a:ln w="12700">
            <a:solidFill>
              <a:srgbClr val="FFFFFF"/>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31" name="Shape 10"/>
          <p:cNvSpPr/>
          <p:nvPr/>
        </p:nvSpPr>
        <p:spPr>
          <a:xfrm>
            <a:off x="786240" y="2835720"/>
            <a:ext cx="420120" cy="420120"/>
          </a:xfrm>
          <a:prstGeom prst="ellipse">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32" name="Text 11"/>
          <p:cNvSpPr/>
          <p:nvPr/>
        </p:nvSpPr>
        <p:spPr>
          <a:xfrm>
            <a:off x="786240" y="2835720"/>
            <a:ext cx="420120" cy="420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2</a:t>
            </a:r>
            <a:endParaRPr lang="en-US" sz="1400" b="0" u="none" strike="noStrike">
              <a:solidFill>
                <a:srgbClr val="000000"/>
              </a:solidFill>
              <a:effectLst/>
              <a:uFillTx/>
              <a:latin typeface="Arial"/>
            </a:endParaRPr>
          </a:p>
        </p:txBody>
      </p:sp>
      <p:sp>
        <p:nvSpPr>
          <p:cNvPr id="533" name="Text 12"/>
          <p:cNvSpPr/>
          <p:nvPr/>
        </p:nvSpPr>
        <p:spPr>
          <a:xfrm>
            <a:off x="1408320" y="2823120"/>
            <a:ext cx="9960120" cy="445320"/>
          </a:xfrm>
          <a:prstGeom prst="rect">
            <a:avLst/>
          </a:prstGeom>
          <a:noFill/>
          <a:ln w="0">
            <a:noFill/>
          </a:ln>
        </p:spPr>
        <p:style>
          <a:lnRef idx="0"/>
          <a:fillRef idx="0"/>
          <a:effectRef idx="0"/>
          <a:fontRef idx="minor"/>
        </p:style>
        <p:txBody>
          <a:bodyPr lIns="0" tIns="0" rIns="0" bIns="0" anchor="ctr">
            <a:noAutofit/>
          </a:bodyPr>
          <a:p>
            <a:pPr defTabSz="914400">
              <a:lnSpc>
                <a:spcPct val="110000"/>
              </a:lnSpc>
              <a:tabLst>
                <a:tab pos="0" algn="l"/>
              </a:tabLst>
            </a:pPr>
            <a:r>
              <a:rPr lang="en-US" sz="1450" b="0" u="none" strike="noStrike">
                <a:solidFill>
                  <a:srgbClr val="16262E"/>
                </a:solidFill>
                <a:effectLst/>
                <a:uFillTx/>
                <a:latin typeface="Calibri"/>
                <a:ea typeface="Calibri"/>
              </a:rPr>
              <a:t>Cambia la columna de nombre por un número secuencial. La equivalencia se queda en un archivo aparte que nunca sube a ninguna herramienta.</a:t>
            </a:r>
            <a:endParaRPr lang="en-US" sz="1450" b="0" u="none" strike="noStrike">
              <a:solidFill>
                <a:srgbClr val="000000"/>
              </a:solidFill>
              <a:effectLst/>
              <a:uFillTx/>
              <a:latin typeface="Arial"/>
            </a:endParaRPr>
          </a:p>
        </p:txBody>
      </p:sp>
      <p:sp>
        <p:nvSpPr>
          <p:cNvPr id="534" name="Shape 13"/>
          <p:cNvSpPr/>
          <p:nvPr/>
        </p:nvSpPr>
        <p:spPr>
          <a:xfrm>
            <a:off x="567000" y="3543480"/>
            <a:ext cx="11057400" cy="628200"/>
          </a:xfrm>
          <a:prstGeom prst="roundRect">
            <a:avLst>
              <a:gd name="adj" fmla="val 10182"/>
            </a:avLst>
          </a:prstGeom>
          <a:solidFill>
            <a:srgbClr val="FFFFFF"/>
          </a:solidFill>
          <a:ln w="12700">
            <a:solidFill>
              <a:srgbClr val="FFFFFF"/>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35" name="Shape 14"/>
          <p:cNvSpPr/>
          <p:nvPr/>
        </p:nvSpPr>
        <p:spPr>
          <a:xfrm>
            <a:off x="786240" y="3647160"/>
            <a:ext cx="420120" cy="420120"/>
          </a:xfrm>
          <a:prstGeom prst="ellipse">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36" name="Text 15"/>
          <p:cNvSpPr/>
          <p:nvPr/>
        </p:nvSpPr>
        <p:spPr>
          <a:xfrm>
            <a:off x="786240" y="3647160"/>
            <a:ext cx="420120" cy="420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3</a:t>
            </a:r>
            <a:endParaRPr lang="en-US" sz="1400" b="0" u="none" strike="noStrike">
              <a:solidFill>
                <a:srgbClr val="000000"/>
              </a:solidFill>
              <a:effectLst/>
              <a:uFillTx/>
              <a:latin typeface="Arial"/>
            </a:endParaRPr>
          </a:p>
        </p:txBody>
      </p:sp>
      <p:sp>
        <p:nvSpPr>
          <p:cNvPr id="537" name="Text 16"/>
          <p:cNvSpPr/>
          <p:nvPr/>
        </p:nvSpPr>
        <p:spPr>
          <a:xfrm>
            <a:off x="1408320" y="3634920"/>
            <a:ext cx="9960120" cy="445320"/>
          </a:xfrm>
          <a:prstGeom prst="rect">
            <a:avLst/>
          </a:prstGeom>
          <a:noFill/>
          <a:ln w="0">
            <a:noFill/>
          </a:ln>
        </p:spPr>
        <p:style>
          <a:lnRef idx="0"/>
          <a:fillRef idx="0"/>
          <a:effectRef idx="0"/>
          <a:fontRef idx="minor"/>
        </p:style>
        <p:txBody>
          <a:bodyPr lIns="0" tIns="0" rIns="0" bIns="0" anchor="ctr">
            <a:noAutofit/>
          </a:bodyPr>
          <a:p>
            <a:pPr defTabSz="914400">
              <a:lnSpc>
                <a:spcPct val="110000"/>
              </a:lnSpc>
              <a:tabLst>
                <a:tab pos="0" algn="l"/>
              </a:tabLst>
            </a:pPr>
            <a:r>
              <a:rPr lang="en-US" sz="1450" b="0" u="none" strike="noStrike">
                <a:solidFill>
                  <a:srgbClr val="16262E"/>
                </a:solidFill>
                <a:effectLst/>
                <a:uFillTx/>
                <a:latin typeface="Calibri"/>
                <a:ea typeface="Calibri"/>
              </a:rPr>
              <a:t>Deja solo el año de nacimiento, y solo el municipio y la entidad. Borra CURP, teléfono y correo.</a:t>
            </a:r>
            <a:endParaRPr lang="en-US" sz="1450" b="0" u="none" strike="noStrike">
              <a:solidFill>
                <a:srgbClr val="000000"/>
              </a:solidFill>
              <a:effectLst/>
              <a:uFillTx/>
              <a:latin typeface="Arial"/>
            </a:endParaRPr>
          </a:p>
        </p:txBody>
      </p:sp>
      <p:sp>
        <p:nvSpPr>
          <p:cNvPr id="538" name="Shape 17"/>
          <p:cNvSpPr/>
          <p:nvPr/>
        </p:nvSpPr>
        <p:spPr>
          <a:xfrm>
            <a:off x="567000" y="4354920"/>
            <a:ext cx="11057400" cy="628200"/>
          </a:xfrm>
          <a:prstGeom prst="roundRect">
            <a:avLst>
              <a:gd name="adj" fmla="val 10182"/>
            </a:avLst>
          </a:prstGeom>
          <a:solidFill>
            <a:srgbClr val="FFFFFF"/>
          </a:solidFill>
          <a:ln w="12700">
            <a:solidFill>
              <a:srgbClr val="FFFFFF"/>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39" name="Shape 18"/>
          <p:cNvSpPr/>
          <p:nvPr/>
        </p:nvSpPr>
        <p:spPr>
          <a:xfrm>
            <a:off x="786240" y="4458960"/>
            <a:ext cx="420120" cy="420120"/>
          </a:xfrm>
          <a:prstGeom prst="ellipse">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40" name="Text 19"/>
          <p:cNvSpPr/>
          <p:nvPr/>
        </p:nvSpPr>
        <p:spPr>
          <a:xfrm>
            <a:off x="786240" y="4458960"/>
            <a:ext cx="420120" cy="420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4</a:t>
            </a:r>
            <a:endParaRPr lang="en-US" sz="1400" b="0" u="none" strike="noStrike">
              <a:solidFill>
                <a:srgbClr val="000000"/>
              </a:solidFill>
              <a:effectLst/>
              <a:uFillTx/>
              <a:latin typeface="Arial"/>
            </a:endParaRPr>
          </a:p>
        </p:txBody>
      </p:sp>
      <p:sp>
        <p:nvSpPr>
          <p:cNvPr id="541" name="Text 20"/>
          <p:cNvSpPr/>
          <p:nvPr/>
        </p:nvSpPr>
        <p:spPr>
          <a:xfrm>
            <a:off x="1408320" y="4446360"/>
            <a:ext cx="9960120" cy="445320"/>
          </a:xfrm>
          <a:prstGeom prst="rect">
            <a:avLst/>
          </a:prstGeom>
          <a:noFill/>
          <a:ln w="0">
            <a:noFill/>
          </a:ln>
        </p:spPr>
        <p:style>
          <a:lnRef idx="0"/>
          <a:fillRef idx="0"/>
          <a:effectRef idx="0"/>
          <a:fontRef idx="minor"/>
        </p:style>
        <p:txBody>
          <a:bodyPr lIns="0" tIns="0" rIns="0" bIns="0" anchor="ctr">
            <a:noAutofit/>
          </a:bodyPr>
          <a:p>
            <a:pPr defTabSz="914400">
              <a:lnSpc>
                <a:spcPct val="110000"/>
              </a:lnSpc>
              <a:tabLst>
                <a:tab pos="0" algn="l"/>
              </a:tabLst>
            </a:pPr>
            <a:r>
              <a:rPr lang="en-US" sz="1450" b="0" u="none" strike="noStrike">
                <a:solidFill>
                  <a:srgbClr val="16262E"/>
                </a:solidFill>
                <a:effectLst/>
                <a:uFillTx/>
                <a:latin typeface="Calibri"/>
                <a:ea typeface="Calibri"/>
              </a:rPr>
              <a:t>Lo que queda es una versión verde de un archivo rojo. Y tu linaje registra qué le hiciste.</a:t>
            </a:r>
            <a:endParaRPr lang="en-US" sz="1450" b="0" u="none" strike="noStrike">
              <a:solidFill>
                <a:srgbClr val="000000"/>
              </a:solidFill>
              <a:effectLst/>
              <a:uFillTx/>
              <a:latin typeface="Arial"/>
            </a:endParaRPr>
          </a:p>
        </p:txBody>
      </p:sp>
      <p:sp>
        <p:nvSpPr>
          <p:cNvPr id="542" name="Shape 21"/>
          <p:cNvSpPr/>
          <p:nvPr/>
        </p:nvSpPr>
        <p:spPr>
          <a:xfrm>
            <a:off x="567000" y="5193720"/>
            <a:ext cx="11057400" cy="776880"/>
          </a:xfrm>
          <a:prstGeom prst="roundRect">
            <a:avLst>
              <a:gd name="adj" fmla="val 8235"/>
            </a:avLst>
          </a:prstGeom>
          <a:solidFill>
            <a:srgbClr val="16262E"/>
          </a:solidFill>
          <a:ln w="12700">
            <a:solidFill>
              <a:srgbClr val="16262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43" name="Text 22"/>
          <p:cNvSpPr/>
          <p:nvPr/>
        </p:nvSpPr>
        <p:spPr>
          <a:xfrm>
            <a:off x="841320" y="5193720"/>
            <a:ext cx="10508760" cy="776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0" u="none" strike="noStrike">
                <a:solidFill>
                  <a:srgbClr val="FFFFFF"/>
                </a:solidFill>
                <a:effectLst/>
                <a:uFillTx/>
                <a:latin typeface="Calibri"/>
                <a:ea typeface="Calibri"/>
              </a:rPr>
              <a:t>Archivo: Registros_atencion_ciudadana_PARTICIPANTE.xlsx, hoja Padron_sintetico.</a:t>
            </a:r>
            <a:endParaRPr lang="en-US" sz="13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6262E"/>
        </a:solidFill>
      </p:bgPr>
    </p:bg>
    <p:spTree>
      <p:nvGrpSpPr>
        <p:cNvPr id="1" name=""/>
        <p:cNvGrpSpPr/>
        <p:nvPr/>
      </p:nvGrpSpPr>
      <p:grpSpPr>
        <a:xfrm>
          <a:off x="0" y="0"/>
          <a:ext cx="0" cy="0"/>
          <a:chOff x="0" y="0"/>
          <a:chExt cx="0" cy="0"/>
        </a:xfrm>
      </p:grpSpPr>
      <p:sp>
        <p:nvSpPr>
          <p:cNvPr id="544" name="Shape 0"/>
          <p:cNvSpPr/>
          <p:nvPr/>
        </p:nvSpPr>
        <p:spPr>
          <a:xfrm>
            <a:off x="567000" y="2331720"/>
            <a:ext cx="1371240" cy="1371240"/>
          </a:xfrm>
          <a:prstGeom prst="ellipse">
            <a:avLst/>
          </a:prstGeom>
          <a:solidFill>
            <a:srgbClr val="C85A28"/>
          </a:solidFill>
          <a:ln w="12700">
            <a:solidFill>
              <a:srgbClr val="C85A2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45" name="Text 1"/>
          <p:cNvSpPr/>
          <p:nvPr/>
        </p:nvSpPr>
        <p:spPr>
          <a:xfrm>
            <a:off x="567000" y="2331720"/>
            <a:ext cx="1371240" cy="13712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4400" b="1" u="none" strike="noStrike">
                <a:solidFill>
                  <a:srgbClr val="FFFFFF"/>
                </a:solidFill>
                <a:effectLst/>
                <a:uFillTx/>
                <a:latin typeface="Arial"/>
                <a:ea typeface="Arial"/>
              </a:rPr>
              <a:t>5</a:t>
            </a:r>
            <a:endParaRPr lang="en-US" sz="4400" b="0" u="none" strike="noStrike">
              <a:solidFill>
                <a:srgbClr val="FFFFFF"/>
              </a:solidFill>
              <a:effectLst/>
              <a:uFillTx/>
              <a:latin typeface="Arial"/>
            </a:endParaRPr>
          </a:p>
        </p:txBody>
      </p:sp>
      <p:sp>
        <p:nvSpPr>
          <p:cNvPr id="546" name="Text 2"/>
          <p:cNvSpPr/>
          <p:nvPr/>
        </p:nvSpPr>
        <p:spPr>
          <a:xfrm>
            <a:off x="2487240" y="2331720"/>
            <a:ext cx="877788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pc="201" strike="noStrike">
                <a:solidFill>
                  <a:srgbClr val="D7E7E7"/>
                </a:solidFill>
                <a:effectLst/>
                <a:uFillTx/>
                <a:latin typeface="Calibri"/>
                <a:ea typeface="Calibri"/>
              </a:rPr>
              <a:t>JUSTIFICACIÓN TÉCNICA DEL USO DE IA</a:t>
            </a:r>
            <a:endParaRPr lang="en-US" sz="1400" b="0" u="none" strike="noStrike">
              <a:solidFill>
                <a:srgbClr val="FFFFFF"/>
              </a:solidFill>
              <a:effectLst/>
              <a:uFillTx/>
              <a:latin typeface="Arial"/>
            </a:endParaRPr>
          </a:p>
        </p:txBody>
      </p:sp>
      <p:sp>
        <p:nvSpPr>
          <p:cNvPr id="547" name="Text 3"/>
          <p:cNvSpPr/>
          <p:nvPr/>
        </p:nvSpPr>
        <p:spPr>
          <a:xfrm>
            <a:off x="2487240" y="2697480"/>
            <a:ext cx="8960760" cy="118836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3400" b="1" u="none" strike="noStrike">
                <a:solidFill>
                  <a:srgbClr val="FFFFFF"/>
                </a:solidFill>
                <a:effectLst/>
                <a:uFillTx/>
                <a:latin typeface="Arial"/>
                <a:ea typeface="Arial"/>
              </a:rPr>
              <a:t>Tres preguntas que tienes que poder contestar</a:t>
            </a:r>
            <a:endParaRPr lang="en-US" sz="3400" b="0" u="none" strike="noStrike">
              <a:solidFill>
                <a:srgbClr val="FFFFFF"/>
              </a:solidFill>
              <a:effectLst/>
              <a:uFillTx/>
              <a:latin typeface="Arial"/>
            </a:endParaRPr>
          </a:p>
        </p:txBody>
      </p:sp>
      <p:sp>
        <p:nvSpPr>
          <p:cNvPr id="548" name="Shape 4"/>
          <p:cNvSpPr/>
          <p:nvPr/>
        </p:nvSpPr>
        <p:spPr>
          <a:xfrm>
            <a:off x="9338760" y="457200"/>
            <a:ext cx="2285640" cy="347040"/>
          </a:xfrm>
          <a:prstGeom prst="roundRect">
            <a:avLst>
              <a:gd name="adj" fmla="val 50000"/>
            </a:avLst>
          </a:prstGeom>
          <a:solidFill>
            <a:srgbClr val="24404E"/>
          </a:solidFill>
          <a:ln w="12700">
            <a:solidFill>
              <a:srgbClr val="24404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49" name="Text 5"/>
          <p:cNvSpPr/>
          <p:nvPr/>
        </p:nvSpPr>
        <p:spPr>
          <a:xfrm>
            <a:off x="9338760" y="457200"/>
            <a:ext cx="2285640" cy="347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1" u="none" strike="noStrike">
                <a:solidFill>
                  <a:srgbClr val="FFFFFF"/>
                </a:solidFill>
                <a:effectLst/>
                <a:uFillTx/>
                <a:latin typeface="Calibri"/>
                <a:ea typeface="Calibri"/>
              </a:rPr>
              <a:t>10:56 a 11:14</a:t>
            </a:r>
            <a:endParaRPr lang="en-US" sz="12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6262E"/>
        </a:solidFill>
      </p:bgPr>
    </p:bg>
    <p:spTree>
      <p:nvGrpSpPr>
        <p:cNvPr id="1" name=""/>
        <p:cNvGrpSpPr/>
        <p:nvPr/>
      </p:nvGrpSpPr>
      <p:grpSpPr>
        <a:xfrm>
          <a:off x="0" y="0"/>
          <a:ext cx="0" cy="0"/>
          <a:chOff x="0" y="0"/>
          <a:chExt cx="0" cy="0"/>
        </a:xfrm>
      </p:grpSpPr>
      <p:sp>
        <p:nvSpPr>
          <p:cNvPr id="550" name="Shape 0"/>
          <p:cNvSpPr/>
          <p:nvPr/>
        </p:nvSpPr>
        <p:spPr>
          <a:xfrm>
            <a:off x="10058400" y="-1463040"/>
            <a:ext cx="4023000" cy="4023000"/>
          </a:xfrm>
          <a:prstGeom prst="ellipse">
            <a:avLst/>
          </a:prstGeom>
          <a:solidFill>
            <a:srgbClr val="24404E"/>
          </a:solidFill>
          <a:ln w="12700">
            <a:solidFill>
              <a:srgbClr val="24404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51" name="Text 1"/>
          <p:cNvSpPr/>
          <p:nvPr/>
        </p:nvSpPr>
        <p:spPr>
          <a:xfrm>
            <a:off x="932760" y="1371600"/>
            <a:ext cx="1042380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pc="201" strike="noStrike">
                <a:solidFill>
                  <a:srgbClr val="C85A28"/>
                </a:solidFill>
                <a:effectLst/>
                <a:uFillTx/>
                <a:latin typeface="Calibri"/>
                <a:ea typeface="Calibri"/>
              </a:rPr>
              <a:t>POR QUÉ SE LLAMA JUSTIFICACIÓN Y NO DECISIÓN</a:t>
            </a:r>
            <a:endParaRPr lang="en-US" sz="1400" b="0" u="none" strike="noStrike">
              <a:solidFill>
                <a:srgbClr val="FFFFFF"/>
              </a:solidFill>
              <a:effectLst/>
              <a:uFillTx/>
              <a:latin typeface="Arial"/>
            </a:endParaRPr>
          </a:p>
        </p:txBody>
      </p:sp>
      <p:sp>
        <p:nvSpPr>
          <p:cNvPr id="552" name="Text 2"/>
          <p:cNvSpPr/>
          <p:nvPr/>
        </p:nvSpPr>
        <p:spPr>
          <a:xfrm>
            <a:off x="932760" y="1828800"/>
            <a:ext cx="10240920" cy="2377080"/>
          </a:xfrm>
          <a:prstGeom prst="rect">
            <a:avLst/>
          </a:prstGeom>
          <a:noFill/>
          <a:ln w="0">
            <a:noFill/>
          </a:ln>
        </p:spPr>
        <p:style>
          <a:lnRef idx="0"/>
          <a:fillRef idx="0"/>
          <a:effectRef idx="0"/>
          <a:fontRef idx="minor"/>
        </p:style>
        <p:txBody>
          <a:bodyPr lIns="0" tIns="0" rIns="0" bIns="0" anchor="t">
            <a:noAutofit/>
          </a:bodyPr>
          <a:p>
            <a:pPr defTabSz="914400">
              <a:lnSpc>
                <a:spcPct val="112000"/>
              </a:lnSpc>
              <a:tabLst>
                <a:tab pos="0" algn="l"/>
              </a:tabLst>
            </a:pPr>
            <a:r>
              <a:rPr lang="en-US" sz="2800" b="1" u="none" strike="noStrike">
                <a:solidFill>
                  <a:srgbClr val="FFFFFF"/>
                </a:solidFill>
                <a:effectLst/>
                <a:uFillTx/>
                <a:latin typeface="Arial"/>
                <a:ea typeface="Arial"/>
              </a:rPr>
              <a:t>Aquí no basta con haber decidido bien. Tienes que poder mostrar por qué decidiste así, a alguien que no estuvo ahí.</a:t>
            </a:r>
            <a:endParaRPr lang="en-US" sz="2800" b="0" u="none" strike="noStrike">
              <a:solidFill>
                <a:srgbClr val="FFFFFF"/>
              </a:solidFill>
              <a:effectLst/>
              <a:uFillTx/>
              <a:latin typeface="Arial"/>
            </a:endParaRPr>
          </a:p>
        </p:txBody>
      </p:sp>
      <p:sp>
        <p:nvSpPr>
          <p:cNvPr id="553" name="Text 3"/>
          <p:cNvSpPr/>
          <p:nvPr/>
        </p:nvSpPr>
        <p:spPr>
          <a:xfrm>
            <a:off x="932760" y="4343400"/>
            <a:ext cx="10058040" cy="1371240"/>
          </a:xfrm>
          <a:prstGeom prst="rect">
            <a:avLst/>
          </a:prstGeom>
          <a:noFill/>
          <a:ln w="0">
            <a:noFill/>
          </a:ln>
        </p:spPr>
        <p:style>
          <a:lnRef idx="0"/>
          <a:fillRef idx="0"/>
          <a:effectRef idx="0"/>
          <a:fontRef idx="minor"/>
        </p:style>
        <p:txBody>
          <a:bodyPr lIns="0" tIns="0" rIns="0" bIns="0" anchor="t">
            <a:noAutofit/>
          </a:bodyPr>
          <a:p>
            <a:pPr defTabSz="914400">
              <a:lnSpc>
                <a:spcPct val="115000"/>
              </a:lnSpc>
              <a:tabLst>
                <a:tab pos="0" algn="l"/>
              </a:tabLst>
            </a:pPr>
            <a:r>
              <a:rPr lang="en-US" sz="1600" b="0" u="none" strike="noStrike">
                <a:solidFill>
                  <a:srgbClr val="D7E7E7"/>
                </a:solidFill>
                <a:effectLst/>
                <a:uFillTx/>
                <a:latin typeface="Calibri"/>
                <a:ea typeface="Calibri"/>
              </a:rPr>
              <a:t>Las tres preguntas que siguen son las que te va a hacer un órgano de control, una auditoría o un comité de evaluación sobre cualquier producto hecho con IA. Conviene tener la respuesta escrita antes de que te la pregunten.</a:t>
            </a:r>
            <a:endParaRPr lang="en-US" sz="16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4" name="Text 0"/>
          <p:cNvSpPr/>
          <p:nvPr/>
        </p:nvSpPr>
        <p:spPr>
          <a:xfrm>
            <a:off x="567000" y="402480"/>
            <a:ext cx="9228600" cy="7495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3200" b="1" u="none" strike="noStrike">
                <a:solidFill>
                  <a:srgbClr val="16262E"/>
                </a:solidFill>
                <a:effectLst/>
                <a:uFillTx/>
                <a:latin typeface="Arial"/>
                <a:ea typeface="Arial"/>
              </a:rPr>
              <a:t>1. ¿Se justifica usar IA para esta tarea?</a:t>
            </a:r>
            <a:endParaRPr lang="en-US" sz="3200" b="0" u="none" strike="noStrike">
              <a:solidFill>
                <a:srgbClr val="000000"/>
              </a:solidFill>
              <a:effectLst/>
              <a:uFillTx/>
              <a:latin typeface="Arial"/>
            </a:endParaRPr>
          </a:p>
        </p:txBody>
      </p:sp>
      <p:sp>
        <p:nvSpPr>
          <p:cNvPr id="555" name="Text 1"/>
          <p:cNvSpPr/>
          <p:nvPr/>
        </p:nvSpPr>
        <p:spPr>
          <a:xfrm>
            <a:off x="567000" y="1280160"/>
            <a:ext cx="9960120" cy="3654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500" b="0" u="none" strike="noStrike">
                <a:solidFill>
                  <a:srgbClr val="5A6B73"/>
                </a:solidFill>
                <a:effectLst/>
                <a:uFillTx/>
                <a:latin typeface="Calibri"/>
                <a:ea typeface="Calibri"/>
              </a:rPr>
              <a:t>Tres condiciones que se cumplen juntas. Y una que las anula.</a:t>
            </a:r>
            <a:endParaRPr lang="en-US" sz="1500" b="0" u="none" strike="noStrike">
              <a:solidFill>
                <a:srgbClr val="000000"/>
              </a:solidFill>
              <a:effectLst/>
              <a:uFillTx/>
              <a:latin typeface="Arial"/>
            </a:endParaRPr>
          </a:p>
        </p:txBody>
      </p:sp>
      <p:sp>
        <p:nvSpPr>
          <p:cNvPr id="556" name="Shape 2"/>
          <p:cNvSpPr/>
          <p:nvPr/>
        </p:nvSpPr>
        <p:spPr>
          <a:xfrm>
            <a:off x="567000" y="2011680"/>
            <a:ext cx="2558520" cy="2671200"/>
          </a:xfrm>
          <a:prstGeom prst="roundRect">
            <a:avLst>
              <a:gd name="adj" fmla="val 2859"/>
            </a:avLst>
          </a:prstGeom>
          <a:solidFill>
            <a:srgbClr val="D7E7E7"/>
          </a:solidFill>
          <a:ln w="12700">
            <a:solidFill>
              <a:srgbClr val="D7E7E7"/>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57" name="Text 3"/>
          <p:cNvSpPr/>
          <p:nvPr/>
        </p:nvSpPr>
        <p:spPr>
          <a:xfrm>
            <a:off x="804600" y="2249280"/>
            <a:ext cx="2082960" cy="3186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600" b="1" u="none" strike="noStrike">
                <a:solidFill>
                  <a:srgbClr val="16262E"/>
                </a:solidFill>
                <a:effectLst/>
                <a:uFillTx/>
                <a:latin typeface="Arial"/>
                <a:ea typeface="Arial"/>
              </a:rPr>
              <a:t>Te ahorra escala</a:t>
            </a:r>
            <a:endParaRPr lang="en-US" sz="1600" b="0" u="none" strike="noStrike">
              <a:solidFill>
                <a:srgbClr val="000000"/>
              </a:solidFill>
              <a:effectLst/>
              <a:uFillTx/>
              <a:latin typeface="Arial"/>
            </a:endParaRPr>
          </a:p>
        </p:txBody>
      </p:sp>
      <p:sp>
        <p:nvSpPr>
          <p:cNvPr id="558" name="Text 4"/>
          <p:cNvSpPr/>
          <p:nvPr/>
        </p:nvSpPr>
        <p:spPr>
          <a:xfrm>
            <a:off x="804600" y="2714760"/>
            <a:ext cx="2082960" cy="176688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300" b="0" u="none" strike="noStrike">
                <a:solidFill>
                  <a:srgbClr val="16262E"/>
                </a:solidFill>
                <a:effectLst/>
                <a:uFillTx/>
                <a:latin typeface="Calibri"/>
                <a:ea typeface="Calibri"/>
              </a:rPr>
              <a:t>Se justifica cuando hay más texto del que tu equipo puede leer en el tiempo que tiene. Cuatro mil registros, sí. Cuarenta, no: se leen.</a:t>
            </a:r>
            <a:endParaRPr lang="en-US" sz="1300" b="0" u="none" strike="noStrike">
              <a:solidFill>
                <a:srgbClr val="000000"/>
              </a:solidFill>
              <a:effectLst/>
              <a:uFillTx/>
              <a:latin typeface="Arial"/>
            </a:endParaRPr>
          </a:p>
        </p:txBody>
      </p:sp>
      <p:sp>
        <p:nvSpPr>
          <p:cNvPr id="559" name="Shape 5"/>
          <p:cNvSpPr/>
          <p:nvPr/>
        </p:nvSpPr>
        <p:spPr>
          <a:xfrm>
            <a:off x="3399840" y="2011680"/>
            <a:ext cx="2558520" cy="2671200"/>
          </a:xfrm>
          <a:prstGeom prst="roundRect">
            <a:avLst>
              <a:gd name="adj" fmla="val 2859"/>
            </a:avLst>
          </a:prstGeom>
          <a:solidFill>
            <a:srgbClr val="D7E7E7"/>
          </a:solidFill>
          <a:ln w="12700">
            <a:solidFill>
              <a:srgbClr val="D7E7E7"/>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60" name="Text 6"/>
          <p:cNvSpPr/>
          <p:nvPr/>
        </p:nvSpPr>
        <p:spPr>
          <a:xfrm>
            <a:off x="3637800" y="2249280"/>
            <a:ext cx="2082960" cy="58284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600" b="1" u="none" strike="noStrike">
                <a:solidFill>
                  <a:srgbClr val="16262E"/>
                </a:solidFill>
                <a:effectLst/>
                <a:uFillTx/>
                <a:latin typeface="Arial"/>
                <a:ea typeface="Arial"/>
              </a:rPr>
              <a:t>La tarea es repetitiva</a:t>
            </a:r>
            <a:endParaRPr lang="en-US" sz="1600" b="0" u="none" strike="noStrike">
              <a:solidFill>
                <a:srgbClr val="000000"/>
              </a:solidFill>
              <a:effectLst/>
              <a:uFillTx/>
              <a:latin typeface="Arial"/>
            </a:endParaRPr>
          </a:p>
        </p:txBody>
      </p:sp>
      <p:sp>
        <p:nvSpPr>
          <p:cNvPr id="561" name="Text 7"/>
          <p:cNvSpPr/>
          <p:nvPr/>
        </p:nvSpPr>
        <p:spPr>
          <a:xfrm>
            <a:off x="3637800" y="2979000"/>
            <a:ext cx="2082960" cy="150264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300" b="0" u="none" strike="noStrike">
                <a:solidFill>
                  <a:srgbClr val="16262E"/>
                </a:solidFill>
                <a:effectLst/>
                <a:uFillTx/>
                <a:latin typeface="Calibri"/>
                <a:ea typeface="Calibri"/>
              </a:rPr>
              <a:t>Se justifica si vas a sacar los mismos cinco datos de treinta documentos. No si cada documento pide un juicio distinto.</a:t>
            </a:r>
            <a:endParaRPr lang="en-US" sz="1300" b="0" u="none" strike="noStrike">
              <a:solidFill>
                <a:srgbClr val="000000"/>
              </a:solidFill>
              <a:effectLst/>
              <a:uFillTx/>
              <a:latin typeface="Arial"/>
            </a:endParaRPr>
          </a:p>
        </p:txBody>
      </p:sp>
      <p:sp>
        <p:nvSpPr>
          <p:cNvPr id="562" name="Shape 8"/>
          <p:cNvSpPr/>
          <p:nvPr/>
        </p:nvSpPr>
        <p:spPr>
          <a:xfrm>
            <a:off x="6233040" y="2011680"/>
            <a:ext cx="2558520" cy="2671200"/>
          </a:xfrm>
          <a:prstGeom prst="roundRect">
            <a:avLst>
              <a:gd name="adj" fmla="val 2859"/>
            </a:avLst>
          </a:prstGeom>
          <a:solidFill>
            <a:srgbClr val="D7E7E7"/>
          </a:solidFill>
          <a:ln w="12700">
            <a:solidFill>
              <a:srgbClr val="D7E7E7"/>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63" name="Text 9"/>
          <p:cNvSpPr/>
          <p:nvPr/>
        </p:nvSpPr>
        <p:spPr>
          <a:xfrm>
            <a:off x="6470640" y="2249280"/>
            <a:ext cx="2082960" cy="3186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600" b="1" u="none" strike="noStrike">
                <a:solidFill>
                  <a:srgbClr val="16262E"/>
                </a:solidFill>
                <a:effectLst/>
                <a:uFillTx/>
                <a:latin typeface="Arial"/>
                <a:ea typeface="Arial"/>
              </a:rPr>
              <a:t>Alguien va a revisar</a:t>
            </a:r>
            <a:endParaRPr lang="en-US" sz="1600" b="0" u="none" strike="noStrike">
              <a:solidFill>
                <a:srgbClr val="000000"/>
              </a:solidFill>
              <a:effectLst/>
              <a:uFillTx/>
              <a:latin typeface="Arial"/>
            </a:endParaRPr>
          </a:p>
        </p:txBody>
      </p:sp>
      <p:sp>
        <p:nvSpPr>
          <p:cNvPr id="564" name="Text 10"/>
          <p:cNvSpPr/>
          <p:nvPr/>
        </p:nvSpPr>
        <p:spPr>
          <a:xfrm>
            <a:off x="6470640" y="2714760"/>
            <a:ext cx="2082960" cy="176688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300" b="0" u="none" strike="noStrike">
                <a:solidFill>
                  <a:srgbClr val="16262E"/>
                </a:solidFill>
                <a:effectLst/>
                <a:uFillTx/>
                <a:latin typeface="Calibri"/>
                <a:ea typeface="Calibri"/>
              </a:rPr>
              <a:t>La IA no sustituye a la persona. Si nadie va a revisar la salida, no se justifica: nadie respondería por ella.</a:t>
            </a:r>
            <a:endParaRPr lang="en-US" sz="1300" b="0" u="none" strike="noStrike">
              <a:solidFill>
                <a:srgbClr val="000000"/>
              </a:solidFill>
              <a:effectLst/>
              <a:uFillTx/>
              <a:latin typeface="Arial"/>
            </a:endParaRPr>
          </a:p>
        </p:txBody>
      </p:sp>
      <p:sp>
        <p:nvSpPr>
          <p:cNvPr id="565" name="Shape 11"/>
          <p:cNvSpPr/>
          <p:nvPr/>
        </p:nvSpPr>
        <p:spPr>
          <a:xfrm>
            <a:off x="9065880" y="2011680"/>
            <a:ext cx="2558520" cy="2671200"/>
          </a:xfrm>
          <a:prstGeom prst="roundRect">
            <a:avLst>
              <a:gd name="adj" fmla="val 2859"/>
            </a:avLst>
          </a:prstGeom>
          <a:solidFill>
            <a:srgbClr val="F2DEDE"/>
          </a:solidFill>
          <a:ln w="12700">
            <a:solidFill>
              <a:srgbClr val="F2DED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66" name="Text 12"/>
          <p:cNvSpPr/>
          <p:nvPr/>
        </p:nvSpPr>
        <p:spPr>
          <a:xfrm>
            <a:off x="9303840" y="2249280"/>
            <a:ext cx="2082960" cy="3186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600" b="1" u="none" strike="noStrike">
                <a:solidFill>
                  <a:srgbClr val="16262E"/>
                </a:solidFill>
                <a:effectLst/>
                <a:uFillTx/>
                <a:latin typeface="Arial"/>
                <a:ea typeface="Arial"/>
              </a:rPr>
              <a:t>Lo que lo anula</a:t>
            </a:r>
            <a:endParaRPr lang="en-US" sz="1600" b="0" u="none" strike="noStrike">
              <a:solidFill>
                <a:srgbClr val="000000"/>
              </a:solidFill>
              <a:effectLst/>
              <a:uFillTx/>
              <a:latin typeface="Arial"/>
            </a:endParaRPr>
          </a:p>
        </p:txBody>
      </p:sp>
      <p:sp>
        <p:nvSpPr>
          <p:cNvPr id="567" name="Text 13"/>
          <p:cNvSpPr/>
          <p:nvPr/>
        </p:nvSpPr>
        <p:spPr>
          <a:xfrm>
            <a:off x="9303840" y="2714760"/>
            <a:ext cx="2082960" cy="176688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300" b="0" u="none" strike="noStrike">
                <a:solidFill>
                  <a:srgbClr val="16262E"/>
                </a:solidFill>
                <a:effectLst/>
                <a:uFillTx/>
                <a:latin typeface="Calibri"/>
                <a:ea typeface="Calibri"/>
              </a:rPr>
              <a:t>Si el resultado tiene efectos jurídicos o necesita un número exacto, no se justifica aunque cumpla las otras tres.</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8" name="Text 0"/>
          <p:cNvSpPr/>
          <p:nvPr/>
        </p:nvSpPr>
        <p:spPr>
          <a:xfrm>
            <a:off x="567000" y="402480"/>
            <a:ext cx="9228600" cy="7495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3200" b="1" u="none" strike="noStrike">
                <a:solidFill>
                  <a:srgbClr val="16262E"/>
                </a:solidFill>
                <a:effectLst/>
                <a:uFillTx/>
                <a:latin typeface="Arial"/>
                <a:ea typeface="Arial"/>
              </a:rPr>
              <a:t>2. ¿Por qué esta herramienta y no otra?</a:t>
            </a:r>
            <a:endParaRPr lang="en-US" sz="3200" b="0" u="none" strike="noStrike">
              <a:solidFill>
                <a:srgbClr val="000000"/>
              </a:solidFill>
              <a:effectLst/>
              <a:uFillTx/>
              <a:latin typeface="Arial"/>
            </a:endParaRPr>
          </a:p>
        </p:txBody>
      </p:sp>
      <p:sp>
        <p:nvSpPr>
          <p:cNvPr id="569" name="Shape 1"/>
          <p:cNvSpPr/>
          <p:nvPr/>
        </p:nvSpPr>
        <p:spPr>
          <a:xfrm>
            <a:off x="567000" y="1609200"/>
            <a:ext cx="3502800" cy="2522520"/>
          </a:xfrm>
          <a:prstGeom prst="roundRect">
            <a:avLst>
              <a:gd name="adj" fmla="val 2899"/>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70" name="Text 2"/>
          <p:cNvSpPr/>
          <p:nvPr/>
        </p:nvSpPr>
        <p:spPr>
          <a:xfrm>
            <a:off x="804600" y="1847160"/>
            <a:ext cx="3027240" cy="3186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600" b="1" u="none" strike="noStrike">
                <a:solidFill>
                  <a:srgbClr val="16262E"/>
                </a:solidFill>
                <a:effectLst/>
                <a:uFillTx/>
                <a:latin typeface="Arial"/>
                <a:ea typeface="Arial"/>
              </a:rPr>
              <a:t>Seguridad y privacidad</a:t>
            </a:r>
            <a:endParaRPr lang="en-US" sz="1600" b="0" u="none" strike="noStrike">
              <a:solidFill>
                <a:srgbClr val="000000"/>
              </a:solidFill>
              <a:effectLst/>
              <a:uFillTx/>
              <a:latin typeface="Arial"/>
            </a:endParaRPr>
          </a:p>
        </p:txBody>
      </p:sp>
      <p:sp>
        <p:nvSpPr>
          <p:cNvPr id="571" name="Text 3"/>
          <p:cNvSpPr/>
          <p:nvPr/>
        </p:nvSpPr>
        <p:spPr>
          <a:xfrm>
            <a:off x="804600" y="2312280"/>
            <a:ext cx="3027240" cy="161856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300" b="0" u="none" strike="noStrike">
                <a:solidFill>
                  <a:srgbClr val="16262E"/>
                </a:solidFill>
                <a:effectLst/>
                <a:uFillTx/>
                <a:latin typeface="Calibri"/>
                <a:ea typeface="Calibri"/>
              </a:rPr>
              <a:t>¿Dónde se procesa la información y bajo qué contrato? ¿La herramienta usa lo que le das para entrenarse?</a:t>
            </a:r>
            <a:endParaRPr lang="en-US" sz="1300" b="0" u="none" strike="noStrike">
              <a:solidFill>
                <a:srgbClr val="000000"/>
              </a:solidFill>
              <a:effectLst/>
              <a:uFillTx/>
              <a:latin typeface="Arial"/>
            </a:endParaRPr>
          </a:p>
          <a:p>
            <a:pPr defTabSz="914400">
              <a:lnSpc>
                <a:spcPct val="110000"/>
              </a:lnSpc>
              <a:tabLst>
                <a:tab pos="0" algn="l"/>
              </a:tabLst>
            </a:pPr>
            <a:endParaRPr lang="en-US" sz="1300" b="0" u="none" strike="noStrike">
              <a:solidFill>
                <a:srgbClr val="000000"/>
              </a:solidFill>
              <a:effectLst/>
              <a:uFillTx/>
              <a:latin typeface="Arial"/>
            </a:endParaRPr>
          </a:p>
          <a:p>
            <a:pPr defTabSz="914400">
              <a:lnSpc>
                <a:spcPct val="110000"/>
              </a:lnSpc>
              <a:tabLst>
                <a:tab pos="0" algn="l"/>
              </a:tabLst>
            </a:pPr>
            <a:r>
              <a:rPr lang="en-US" sz="1300" b="0" u="none" strike="noStrike">
                <a:solidFill>
                  <a:srgbClr val="16262E"/>
                </a:solidFill>
                <a:effectLst/>
                <a:uFillTx/>
                <a:latin typeface="Calibri"/>
                <a:ea typeface="Calibri"/>
              </a:rPr>
              <a:t>Es el semáforo visto desde el lado de la herramienta.</a:t>
            </a:r>
            <a:endParaRPr lang="en-US" sz="1300" b="0" u="none" strike="noStrike">
              <a:solidFill>
                <a:srgbClr val="000000"/>
              </a:solidFill>
              <a:effectLst/>
              <a:uFillTx/>
              <a:latin typeface="Arial"/>
            </a:endParaRPr>
          </a:p>
        </p:txBody>
      </p:sp>
      <p:sp>
        <p:nvSpPr>
          <p:cNvPr id="572" name="Shape 4"/>
          <p:cNvSpPr/>
          <p:nvPr/>
        </p:nvSpPr>
        <p:spPr>
          <a:xfrm>
            <a:off x="4344480" y="1609200"/>
            <a:ext cx="3502800" cy="2522520"/>
          </a:xfrm>
          <a:prstGeom prst="roundRect">
            <a:avLst>
              <a:gd name="adj" fmla="val 2899"/>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73" name="Text 5"/>
          <p:cNvSpPr/>
          <p:nvPr/>
        </p:nvSpPr>
        <p:spPr>
          <a:xfrm>
            <a:off x="4582080" y="1847160"/>
            <a:ext cx="3027240" cy="3186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600" b="1" u="none" strike="noStrike">
                <a:solidFill>
                  <a:srgbClr val="16262E"/>
                </a:solidFill>
                <a:effectLst/>
                <a:uFillTx/>
                <a:latin typeface="Arial"/>
                <a:ea typeface="Arial"/>
              </a:rPr>
              <a:t>Se integra con tu trabajo</a:t>
            </a:r>
            <a:endParaRPr lang="en-US" sz="1600" b="0" u="none" strike="noStrike">
              <a:solidFill>
                <a:srgbClr val="000000"/>
              </a:solidFill>
              <a:effectLst/>
              <a:uFillTx/>
              <a:latin typeface="Arial"/>
            </a:endParaRPr>
          </a:p>
        </p:txBody>
      </p:sp>
      <p:sp>
        <p:nvSpPr>
          <p:cNvPr id="574" name="Text 6"/>
          <p:cNvSpPr/>
          <p:nvPr/>
        </p:nvSpPr>
        <p:spPr>
          <a:xfrm>
            <a:off x="4582080" y="2312280"/>
            <a:ext cx="3027240" cy="161856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300" b="0" u="none" strike="noStrike">
                <a:solidFill>
                  <a:srgbClr val="16262E"/>
                </a:solidFill>
                <a:effectLst/>
                <a:uFillTx/>
                <a:latin typeface="Calibri"/>
                <a:ea typeface="Calibri"/>
              </a:rPr>
              <a:t>¿La herramienta trabaja donde ya está el documento, o tienes que sacarlo?</a:t>
            </a:r>
            <a:endParaRPr lang="en-US" sz="1300" b="0" u="none" strike="noStrike">
              <a:solidFill>
                <a:srgbClr val="000000"/>
              </a:solidFill>
              <a:effectLst/>
              <a:uFillTx/>
              <a:latin typeface="Arial"/>
            </a:endParaRPr>
          </a:p>
          <a:p>
            <a:pPr defTabSz="914400">
              <a:lnSpc>
                <a:spcPct val="110000"/>
              </a:lnSpc>
              <a:tabLst>
                <a:tab pos="0" algn="l"/>
              </a:tabLst>
            </a:pPr>
            <a:endParaRPr lang="en-US" sz="1300" b="0" u="none" strike="noStrike">
              <a:solidFill>
                <a:srgbClr val="000000"/>
              </a:solidFill>
              <a:effectLst/>
              <a:uFillTx/>
              <a:latin typeface="Arial"/>
            </a:endParaRPr>
          </a:p>
          <a:p>
            <a:pPr defTabSz="914400">
              <a:lnSpc>
                <a:spcPct val="110000"/>
              </a:lnSpc>
              <a:tabLst>
                <a:tab pos="0" algn="l"/>
              </a:tabLst>
            </a:pPr>
            <a:r>
              <a:rPr lang="en-US" sz="1300" b="0" u="none" strike="noStrike">
                <a:solidFill>
                  <a:srgbClr val="16262E"/>
                </a:solidFill>
                <a:effectLst/>
                <a:uFillTx/>
                <a:latin typeface="Calibri"/>
                <a:ea typeface="Calibri"/>
              </a:rPr>
              <a:t>Cada vez que mueves un archivo, es un paso más y un riesgo más.</a:t>
            </a:r>
            <a:endParaRPr lang="en-US" sz="1300" b="0" u="none" strike="noStrike">
              <a:solidFill>
                <a:srgbClr val="000000"/>
              </a:solidFill>
              <a:effectLst/>
              <a:uFillTx/>
              <a:latin typeface="Arial"/>
            </a:endParaRPr>
          </a:p>
        </p:txBody>
      </p:sp>
      <p:sp>
        <p:nvSpPr>
          <p:cNvPr id="575" name="Shape 7"/>
          <p:cNvSpPr/>
          <p:nvPr/>
        </p:nvSpPr>
        <p:spPr>
          <a:xfrm>
            <a:off x="8121600" y="1609200"/>
            <a:ext cx="3502800" cy="2522520"/>
          </a:xfrm>
          <a:prstGeom prst="roundRect">
            <a:avLst>
              <a:gd name="adj" fmla="val 2899"/>
            </a:avLst>
          </a:prstGeom>
          <a:solidFill>
            <a:srgbClr val="F7E4D8"/>
          </a:solidFill>
          <a:ln w="12700">
            <a:solidFill>
              <a:srgbClr val="F7E4D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76" name="Text 8"/>
          <p:cNvSpPr/>
          <p:nvPr/>
        </p:nvSpPr>
        <p:spPr>
          <a:xfrm>
            <a:off x="8359560" y="1847160"/>
            <a:ext cx="3027240" cy="3186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600" b="1" u="none" strike="noStrike">
                <a:solidFill>
                  <a:srgbClr val="16262E"/>
                </a:solidFill>
                <a:effectLst/>
                <a:uFillTx/>
                <a:latin typeface="Arial"/>
                <a:ea typeface="Arial"/>
              </a:rPr>
              <a:t>¿Sirve para esta tarea?</a:t>
            </a:r>
            <a:endParaRPr lang="en-US" sz="1600" b="0" u="none" strike="noStrike">
              <a:solidFill>
                <a:srgbClr val="000000"/>
              </a:solidFill>
              <a:effectLst/>
              <a:uFillTx/>
              <a:latin typeface="Arial"/>
            </a:endParaRPr>
          </a:p>
        </p:txBody>
      </p:sp>
      <p:sp>
        <p:nvSpPr>
          <p:cNvPr id="577" name="Text 9"/>
          <p:cNvSpPr/>
          <p:nvPr/>
        </p:nvSpPr>
        <p:spPr>
          <a:xfrm>
            <a:off x="8359560" y="2312280"/>
            <a:ext cx="3027240" cy="161856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300" b="0" u="none" strike="noStrike">
                <a:solidFill>
                  <a:srgbClr val="16262E"/>
                </a:solidFill>
                <a:effectLst/>
                <a:uFillTx/>
                <a:latin typeface="Calibri"/>
                <a:ea typeface="Calibri"/>
              </a:rPr>
              <a:t>La pregunta concreta: ¿necesitas Python para calcular algo?</a:t>
            </a:r>
            <a:endParaRPr lang="en-US" sz="1300" b="0" u="none" strike="noStrike">
              <a:solidFill>
                <a:srgbClr val="000000"/>
              </a:solidFill>
              <a:effectLst/>
              <a:uFillTx/>
              <a:latin typeface="Arial"/>
            </a:endParaRPr>
          </a:p>
          <a:p>
            <a:pPr defTabSz="914400">
              <a:lnSpc>
                <a:spcPct val="110000"/>
              </a:lnSpc>
              <a:tabLst>
                <a:tab pos="0" algn="l"/>
              </a:tabLst>
            </a:pPr>
            <a:endParaRPr lang="en-US" sz="1300" b="0" u="none" strike="noStrike">
              <a:solidFill>
                <a:srgbClr val="000000"/>
              </a:solidFill>
              <a:effectLst/>
              <a:uFillTx/>
              <a:latin typeface="Arial"/>
            </a:endParaRPr>
          </a:p>
          <a:p>
            <a:pPr defTabSz="914400">
              <a:lnSpc>
                <a:spcPct val="110000"/>
              </a:lnSpc>
              <a:tabLst>
                <a:tab pos="0" algn="l"/>
              </a:tabLst>
            </a:pPr>
            <a:r>
              <a:rPr lang="en-US" sz="1300" b="0" u="none" strike="noStrike">
                <a:solidFill>
                  <a:srgbClr val="16262E"/>
                </a:solidFill>
                <a:effectLst/>
                <a:uFillTx/>
                <a:latin typeface="Calibri"/>
                <a:ea typeface="Calibri"/>
              </a:rPr>
              <a:t>Si la respuesta es sí, el chat no te sirve: necesitas un entorno de código. Esta sola pregunta te manda al Módulo III.</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8" name="Text 0"/>
          <p:cNvSpPr/>
          <p:nvPr/>
        </p:nvSpPr>
        <p:spPr>
          <a:xfrm>
            <a:off x="567000" y="402480"/>
            <a:ext cx="9228600" cy="7495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3200" b="1" u="none" strike="noStrike">
                <a:solidFill>
                  <a:srgbClr val="16262E"/>
                </a:solidFill>
                <a:effectLst/>
                <a:uFillTx/>
                <a:latin typeface="Arial"/>
                <a:ea typeface="Arial"/>
              </a:rPr>
              <a:t>3. ¿Qué no puede hacer esta herramienta?</a:t>
            </a:r>
            <a:endParaRPr lang="en-US" sz="3200" b="0" u="none" strike="noStrike">
              <a:solidFill>
                <a:srgbClr val="000000"/>
              </a:solidFill>
              <a:effectLst/>
              <a:uFillTx/>
              <a:latin typeface="Arial"/>
            </a:endParaRPr>
          </a:p>
        </p:txBody>
      </p:sp>
      <p:sp>
        <p:nvSpPr>
          <p:cNvPr id="579" name="Text 1"/>
          <p:cNvSpPr/>
          <p:nvPr/>
        </p:nvSpPr>
        <p:spPr>
          <a:xfrm>
            <a:off x="567000" y="1280160"/>
            <a:ext cx="9960120" cy="3654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500" b="0" u="none" strike="noStrike">
                <a:solidFill>
                  <a:srgbClr val="5A6B73"/>
                </a:solidFill>
                <a:effectLst/>
                <a:uFillTx/>
                <a:latin typeface="Calibri"/>
                <a:ea typeface="Calibri"/>
              </a:rPr>
              <a:t>Lo declaras por escrito en cada producto. No es un deslinde: es la parte de la transparencia que te toca.</a:t>
            </a:r>
            <a:endParaRPr lang="en-US" sz="1500" b="0" u="none" strike="noStrike">
              <a:solidFill>
                <a:srgbClr val="000000"/>
              </a:solidFill>
              <a:effectLst/>
              <a:uFillTx/>
              <a:latin typeface="Arial"/>
            </a:endParaRPr>
          </a:p>
        </p:txBody>
      </p:sp>
      <p:sp>
        <p:nvSpPr>
          <p:cNvPr id="580" name="Shape 2"/>
          <p:cNvSpPr/>
          <p:nvPr/>
        </p:nvSpPr>
        <p:spPr>
          <a:xfrm>
            <a:off x="567000" y="2011680"/>
            <a:ext cx="2558520" cy="2671200"/>
          </a:xfrm>
          <a:prstGeom prst="roundRect">
            <a:avLst>
              <a:gd name="adj" fmla="val 2859"/>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81" name="Text 3"/>
          <p:cNvSpPr/>
          <p:nvPr/>
        </p:nvSpPr>
        <p:spPr>
          <a:xfrm>
            <a:off x="804600" y="2249280"/>
            <a:ext cx="2082960" cy="3186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600" b="1" u="none" strike="noStrike">
                <a:solidFill>
                  <a:srgbClr val="16262E"/>
                </a:solidFill>
                <a:effectLst/>
                <a:uFillTx/>
                <a:latin typeface="Arial"/>
                <a:ea typeface="Arial"/>
              </a:rPr>
              <a:t>Puede inventar</a:t>
            </a:r>
            <a:endParaRPr lang="en-US" sz="1600" b="0" u="none" strike="noStrike">
              <a:solidFill>
                <a:srgbClr val="000000"/>
              </a:solidFill>
              <a:effectLst/>
              <a:uFillTx/>
              <a:latin typeface="Arial"/>
            </a:endParaRPr>
          </a:p>
        </p:txBody>
      </p:sp>
      <p:sp>
        <p:nvSpPr>
          <p:cNvPr id="582" name="Text 4"/>
          <p:cNvSpPr/>
          <p:nvPr/>
        </p:nvSpPr>
        <p:spPr>
          <a:xfrm>
            <a:off x="804600" y="2714760"/>
            <a:ext cx="2082960" cy="176688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300" b="0" u="none" strike="noStrike">
                <a:solidFill>
                  <a:srgbClr val="16262E"/>
                </a:solidFill>
                <a:effectLst/>
                <a:uFillTx/>
                <a:latin typeface="Calibri"/>
                <a:ea typeface="Calibri"/>
              </a:rPr>
              <a:t>El modelo escribe cosas creíbles que pueden ser falsas. Lo viste hace una hora con las referencias. Toda salida es un borrador hasta que alguien la verifica.</a:t>
            </a:r>
            <a:endParaRPr lang="en-US" sz="1300" b="0" u="none" strike="noStrike">
              <a:solidFill>
                <a:srgbClr val="000000"/>
              </a:solidFill>
              <a:effectLst/>
              <a:uFillTx/>
              <a:latin typeface="Arial"/>
            </a:endParaRPr>
          </a:p>
        </p:txBody>
      </p:sp>
      <p:sp>
        <p:nvSpPr>
          <p:cNvPr id="583" name="Shape 5"/>
          <p:cNvSpPr/>
          <p:nvPr/>
        </p:nvSpPr>
        <p:spPr>
          <a:xfrm>
            <a:off x="3399840" y="2011680"/>
            <a:ext cx="2558520" cy="2671200"/>
          </a:xfrm>
          <a:prstGeom prst="roundRect">
            <a:avLst>
              <a:gd name="adj" fmla="val 2859"/>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84" name="Text 6"/>
          <p:cNvSpPr/>
          <p:nvPr/>
        </p:nvSpPr>
        <p:spPr>
          <a:xfrm>
            <a:off x="3637800" y="2249280"/>
            <a:ext cx="2082960" cy="3186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600" b="1" u="none" strike="noStrike">
                <a:solidFill>
                  <a:srgbClr val="16262E"/>
                </a:solidFill>
                <a:effectLst/>
                <a:uFillTx/>
                <a:latin typeface="Arial"/>
                <a:ea typeface="Arial"/>
              </a:rPr>
              <a:t>Trae sesgos</a:t>
            </a:r>
            <a:endParaRPr lang="en-US" sz="1600" b="0" u="none" strike="noStrike">
              <a:solidFill>
                <a:srgbClr val="000000"/>
              </a:solidFill>
              <a:effectLst/>
              <a:uFillTx/>
              <a:latin typeface="Arial"/>
            </a:endParaRPr>
          </a:p>
        </p:txBody>
      </p:sp>
      <p:sp>
        <p:nvSpPr>
          <p:cNvPr id="585" name="Text 7"/>
          <p:cNvSpPr/>
          <p:nvPr/>
        </p:nvSpPr>
        <p:spPr>
          <a:xfrm>
            <a:off x="3637800" y="2714760"/>
            <a:ext cx="2082960" cy="176688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300" b="0" u="none" strike="noStrike">
                <a:solidFill>
                  <a:srgbClr val="16262E"/>
                </a:solidFill>
                <a:effectLst/>
                <a:uFillTx/>
                <a:latin typeface="Calibri"/>
                <a:ea typeface="Calibri"/>
              </a:rPr>
              <a:t>Los heredó de sus datos. No se quitan con un prompt. Se disminuyen revisando lo que el modelo dejó al margen.</a:t>
            </a:r>
            <a:endParaRPr lang="en-US" sz="1300" b="0" u="none" strike="noStrike">
              <a:solidFill>
                <a:srgbClr val="000000"/>
              </a:solidFill>
              <a:effectLst/>
              <a:uFillTx/>
              <a:latin typeface="Arial"/>
            </a:endParaRPr>
          </a:p>
        </p:txBody>
      </p:sp>
      <p:sp>
        <p:nvSpPr>
          <p:cNvPr id="586" name="Shape 8"/>
          <p:cNvSpPr/>
          <p:nvPr/>
        </p:nvSpPr>
        <p:spPr>
          <a:xfrm>
            <a:off x="6233040" y="2011680"/>
            <a:ext cx="2558520" cy="2671200"/>
          </a:xfrm>
          <a:prstGeom prst="roundRect">
            <a:avLst>
              <a:gd name="adj" fmla="val 2859"/>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87" name="Text 9"/>
          <p:cNvSpPr/>
          <p:nvPr/>
        </p:nvSpPr>
        <p:spPr>
          <a:xfrm>
            <a:off x="6470640" y="2249280"/>
            <a:ext cx="2082960" cy="58284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600" b="1" u="none" strike="noStrike">
                <a:solidFill>
                  <a:srgbClr val="16262E"/>
                </a:solidFill>
                <a:effectLst/>
                <a:uFillTx/>
                <a:latin typeface="Arial"/>
                <a:ea typeface="Arial"/>
              </a:rPr>
              <a:t>Tiene un límite de lectura</a:t>
            </a:r>
            <a:endParaRPr lang="en-US" sz="1600" b="0" u="none" strike="noStrike">
              <a:solidFill>
                <a:srgbClr val="000000"/>
              </a:solidFill>
              <a:effectLst/>
              <a:uFillTx/>
              <a:latin typeface="Arial"/>
            </a:endParaRPr>
          </a:p>
        </p:txBody>
      </p:sp>
      <p:sp>
        <p:nvSpPr>
          <p:cNvPr id="588" name="Text 10"/>
          <p:cNvSpPr/>
          <p:nvPr/>
        </p:nvSpPr>
        <p:spPr>
          <a:xfrm>
            <a:off x="6470640" y="2979000"/>
            <a:ext cx="2082960" cy="150264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300" b="0" u="none" strike="noStrike">
                <a:solidFill>
                  <a:srgbClr val="16262E"/>
                </a:solidFill>
                <a:effectLst/>
                <a:uFillTx/>
                <a:latin typeface="Calibri"/>
                <a:ea typeface="Calibri"/>
              </a:rPr>
              <a:t>Cada modelo lee hasta cierta cantidad de texto. Lo que no cabe, no lo ve, y no te avisa. El resumen igual suena completo.</a:t>
            </a:r>
            <a:endParaRPr lang="en-US" sz="1300" b="0" u="none" strike="noStrike">
              <a:solidFill>
                <a:srgbClr val="000000"/>
              </a:solidFill>
              <a:effectLst/>
              <a:uFillTx/>
              <a:latin typeface="Arial"/>
            </a:endParaRPr>
          </a:p>
        </p:txBody>
      </p:sp>
      <p:sp>
        <p:nvSpPr>
          <p:cNvPr id="589" name="Shape 11"/>
          <p:cNvSpPr/>
          <p:nvPr/>
        </p:nvSpPr>
        <p:spPr>
          <a:xfrm>
            <a:off x="9065880" y="2011680"/>
            <a:ext cx="2558520" cy="2671200"/>
          </a:xfrm>
          <a:prstGeom prst="roundRect">
            <a:avLst>
              <a:gd name="adj" fmla="val 2859"/>
            </a:avLst>
          </a:prstGeom>
          <a:solidFill>
            <a:srgbClr val="F7E4D8"/>
          </a:solidFill>
          <a:ln w="12700">
            <a:solidFill>
              <a:srgbClr val="F7E4D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90" name="Text 12"/>
          <p:cNvSpPr/>
          <p:nvPr/>
        </p:nvSpPr>
        <p:spPr>
          <a:xfrm>
            <a:off x="9303840" y="2249280"/>
            <a:ext cx="2082960" cy="3186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600" b="1" u="none" strike="noStrike">
                <a:solidFill>
                  <a:srgbClr val="16262E"/>
                </a:solidFill>
                <a:effectLst/>
                <a:uFillTx/>
                <a:latin typeface="Arial"/>
                <a:ea typeface="Arial"/>
              </a:rPr>
              <a:t>No sabe qué importa</a:t>
            </a:r>
            <a:endParaRPr lang="en-US" sz="1600" b="0" u="none" strike="noStrike">
              <a:solidFill>
                <a:srgbClr val="000000"/>
              </a:solidFill>
              <a:effectLst/>
              <a:uFillTx/>
              <a:latin typeface="Arial"/>
            </a:endParaRPr>
          </a:p>
        </p:txBody>
      </p:sp>
      <p:sp>
        <p:nvSpPr>
          <p:cNvPr id="591" name="Text 13"/>
          <p:cNvSpPr/>
          <p:nvPr/>
        </p:nvSpPr>
        <p:spPr>
          <a:xfrm>
            <a:off x="9303840" y="2714760"/>
            <a:ext cx="2082960" cy="1766880"/>
          </a:xfrm>
          <a:prstGeom prst="rect">
            <a:avLst/>
          </a:prstGeom>
          <a:noFill/>
          <a:ln w="0">
            <a:noFill/>
          </a:ln>
        </p:spPr>
        <p:style>
          <a:lnRef idx="0"/>
          <a:fillRef idx="0"/>
          <a:effectRef idx="0"/>
          <a:fontRef idx="minor"/>
        </p:style>
        <p:txBody>
          <a:bodyPr lIns="0" tIns="0" rIns="0" bIns="0" anchor="t">
            <a:noAutofit/>
          </a:bodyPr>
          <a:p>
            <a:pPr defTabSz="914400">
              <a:lnSpc>
                <a:spcPct val="110000"/>
              </a:lnSpc>
              <a:tabLst>
                <a:tab pos="0" algn="l"/>
              </a:tabLst>
            </a:pPr>
            <a:r>
              <a:rPr lang="en-US" sz="1300" b="0" u="none" strike="noStrike">
                <a:solidFill>
                  <a:srgbClr val="16262E"/>
                </a:solidFill>
                <a:effectLst/>
                <a:uFillTx/>
                <a:latin typeface="Calibri"/>
                <a:ea typeface="Calibri"/>
              </a:rPr>
              <a:t>El modelo puede resumir cien páginas y dejar fuera el hallazgo central porque ocupaba una frase. Decidir qué importa te toca a ti.</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6262E"/>
        </a:solidFill>
      </p:bgPr>
    </p:bg>
    <p:spTree>
      <p:nvGrpSpPr>
        <p:cNvPr id="1" name=""/>
        <p:cNvGrpSpPr/>
        <p:nvPr/>
      </p:nvGrpSpPr>
      <p:grpSpPr>
        <a:xfrm>
          <a:off x="0" y="0"/>
          <a:ext cx="0" cy="0"/>
          <a:chOff x="0" y="0"/>
          <a:chExt cx="0" cy="0"/>
        </a:xfrm>
      </p:grpSpPr>
      <p:sp>
        <p:nvSpPr>
          <p:cNvPr id="592" name="Shape 0"/>
          <p:cNvSpPr/>
          <p:nvPr/>
        </p:nvSpPr>
        <p:spPr>
          <a:xfrm>
            <a:off x="567000" y="2331720"/>
            <a:ext cx="1371240" cy="1371240"/>
          </a:xfrm>
          <a:prstGeom prst="ellipse">
            <a:avLst/>
          </a:prstGeom>
          <a:solidFill>
            <a:srgbClr val="C85A28"/>
          </a:solidFill>
          <a:ln w="12700">
            <a:solidFill>
              <a:srgbClr val="C85A2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93" name="Text 1"/>
          <p:cNvSpPr/>
          <p:nvPr/>
        </p:nvSpPr>
        <p:spPr>
          <a:xfrm>
            <a:off x="567000" y="2331720"/>
            <a:ext cx="1371240" cy="13712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4400" b="1" u="none" strike="noStrike">
                <a:solidFill>
                  <a:srgbClr val="FFFFFF"/>
                </a:solidFill>
                <a:effectLst/>
                <a:uFillTx/>
                <a:latin typeface="Arial"/>
                <a:ea typeface="Arial"/>
              </a:rPr>
              <a:t>6</a:t>
            </a:r>
            <a:endParaRPr lang="en-US" sz="4400" b="0" u="none" strike="noStrike">
              <a:solidFill>
                <a:srgbClr val="FFFFFF"/>
              </a:solidFill>
              <a:effectLst/>
              <a:uFillTx/>
              <a:latin typeface="Arial"/>
            </a:endParaRPr>
          </a:p>
        </p:txBody>
      </p:sp>
      <p:sp>
        <p:nvSpPr>
          <p:cNvPr id="594" name="Text 2"/>
          <p:cNvSpPr/>
          <p:nvPr/>
        </p:nvSpPr>
        <p:spPr>
          <a:xfrm>
            <a:off x="2487240" y="2331720"/>
            <a:ext cx="877788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pc="201" strike="noStrike">
                <a:solidFill>
                  <a:srgbClr val="D7E7E7"/>
                </a:solidFill>
                <a:effectLst/>
                <a:uFillTx/>
                <a:latin typeface="Calibri"/>
                <a:ea typeface="Calibri"/>
              </a:rPr>
              <a:t>EJERCICIO GUIADO</a:t>
            </a:r>
            <a:endParaRPr lang="en-US" sz="1400" b="0" u="none" strike="noStrike">
              <a:solidFill>
                <a:srgbClr val="FFFFFF"/>
              </a:solidFill>
              <a:effectLst/>
              <a:uFillTx/>
              <a:latin typeface="Arial"/>
            </a:endParaRPr>
          </a:p>
        </p:txBody>
      </p:sp>
      <p:sp>
        <p:nvSpPr>
          <p:cNvPr id="595" name="Text 3"/>
          <p:cNvSpPr/>
          <p:nvPr/>
        </p:nvSpPr>
        <p:spPr>
          <a:xfrm>
            <a:off x="2487240" y="2697480"/>
            <a:ext cx="8960760" cy="118836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3400" b="1" u="none" strike="noStrike">
                <a:solidFill>
                  <a:srgbClr val="FFFFFF"/>
                </a:solidFill>
                <a:effectLst/>
                <a:uFillTx/>
                <a:latin typeface="Arial"/>
                <a:ea typeface="Arial"/>
              </a:rPr>
              <a:t>Tu ficha de idoneidad</a:t>
            </a:r>
            <a:endParaRPr lang="en-US" sz="3400" b="0" u="none" strike="noStrike">
              <a:solidFill>
                <a:srgbClr val="FFFFFF"/>
              </a:solidFill>
              <a:effectLst/>
              <a:uFillTx/>
              <a:latin typeface="Arial"/>
            </a:endParaRPr>
          </a:p>
        </p:txBody>
      </p:sp>
      <p:sp>
        <p:nvSpPr>
          <p:cNvPr id="596" name="Shape 4"/>
          <p:cNvSpPr/>
          <p:nvPr/>
        </p:nvSpPr>
        <p:spPr>
          <a:xfrm>
            <a:off x="9338760" y="457200"/>
            <a:ext cx="2285640" cy="347040"/>
          </a:xfrm>
          <a:prstGeom prst="roundRect">
            <a:avLst>
              <a:gd name="adj" fmla="val 50000"/>
            </a:avLst>
          </a:prstGeom>
          <a:solidFill>
            <a:srgbClr val="24404E"/>
          </a:solidFill>
          <a:ln w="12700">
            <a:solidFill>
              <a:srgbClr val="24404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97" name="Text 5"/>
          <p:cNvSpPr/>
          <p:nvPr/>
        </p:nvSpPr>
        <p:spPr>
          <a:xfrm>
            <a:off x="9338760" y="457200"/>
            <a:ext cx="2285640" cy="347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1" u="none" strike="noStrike">
                <a:solidFill>
                  <a:srgbClr val="FFFFFF"/>
                </a:solidFill>
                <a:effectLst/>
                <a:uFillTx/>
                <a:latin typeface="Calibri"/>
                <a:ea typeface="Calibri"/>
              </a:rPr>
              <a:t>11:14 a 11:26</a:t>
            </a:r>
            <a:endParaRPr lang="en-US" sz="12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D7E7E7"/>
        </a:solidFill>
      </p:bgPr>
    </p:bg>
    <p:spTree>
      <p:nvGrpSpPr>
        <p:cNvPr id="1" name=""/>
        <p:cNvGrpSpPr/>
        <p:nvPr/>
      </p:nvGrpSpPr>
      <p:grpSpPr>
        <a:xfrm>
          <a:off x="0" y="0"/>
          <a:ext cx="0" cy="0"/>
          <a:chOff x="0" y="0"/>
          <a:chExt cx="0" cy="0"/>
        </a:xfrm>
      </p:grpSpPr>
      <p:sp>
        <p:nvSpPr>
          <p:cNvPr id="598" name="Shape 0"/>
          <p:cNvSpPr/>
          <p:nvPr/>
        </p:nvSpPr>
        <p:spPr>
          <a:xfrm>
            <a:off x="567000" y="457200"/>
            <a:ext cx="2788560" cy="456840"/>
          </a:xfrm>
          <a:prstGeom prst="roundRect">
            <a:avLst>
              <a:gd name="adj" fmla="val 50000"/>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99" name="Text 1"/>
          <p:cNvSpPr/>
          <p:nvPr/>
        </p:nvSpPr>
        <p:spPr>
          <a:xfrm>
            <a:off x="567000" y="457200"/>
            <a:ext cx="2788560" cy="45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pc="201" strike="noStrike">
                <a:solidFill>
                  <a:srgbClr val="FFFFFF"/>
                </a:solidFill>
                <a:effectLst/>
                <a:uFillTx/>
                <a:latin typeface="Arial"/>
                <a:ea typeface="Arial"/>
              </a:rPr>
              <a:t>TU TURNO</a:t>
            </a:r>
            <a:endParaRPr lang="en-US" sz="1300" b="0" u="none" strike="noStrike">
              <a:solidFill>
                <a:srgbClr val="000000"/>
              </a:solidFill>
              <a:effectLst/>
              <a:uFillTx/>
              <a:latin typeface="Arial"/>
            </a:endParaRPr>
          </a:p>
        </p:txBody>
      </p:sp>
      <p:sp>
        <p:nvSpPr>
          <p:cNvPr id="600" name="Shape 2"/>
          <p:cNvSpPr/>
          <p:nvPr/>
        </p:nvSpPr>
        <p:spPr>
          <a:xfrm>
            <a:off x="9704520" y="457200"/>
            <a:ext cx="1919880" cy="456840"/>
          </a:xfrm>
          <a:prstGeom prst="roundRect">
            <a:avLst>
              <a:gd name="adj" fmla="val 50000"/>
            </a:avLst>
          </a:prstGeom>
          <a:solidFill>
            <a:srgbClr val="C85A28"/>
          </a:solidFill>
          <a:ln w="12700">
            <a:solidFill>
              <a:srgbClr val="C85A2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601" name="Text 3"/>
          <p:cNvSpPr/>
          <p:nvPr/>
        </p:nvSpPr>
        <p:spPr>
          <a:xfrm>
            <a:off x="9704520" y="457200"/>
            <a:ext cx="1919880" cy="45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Arial"/>
                <a:ea typeface="Arial"/>
              </a:rPr>
              <a:t>12 minutos</a:t>
            </a:r>
            <a:endParaRPr lang="en-US" sz="1300" b="0" u="none" strike="noStrike">
              <a:solidFill>
                <a:srgbClr val="000000"/>
              </a:solidFill>
              <a:effectLst/>
              <a:uFillTx/>
              <a:latin typeface="Arial"/>
            </a:endParaRPr>
          </a:p>
        </p:txBody>
      </p:sp>
      <p:sp>
        <p:nvSpPr>
          <p:cNvPr id="602" name="Text 4"/>
          <p:cNvSpPr/>
          <p:nvPr/>
        </p:nvSpPr>
        <p:spPr>
          <a:xfrm>
            <a:off x="567000" y="1078920"/>
            <a:ext cx="11057400" cy="685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900" b="1" u="none" strike="noStrike">
                <a:solidFill>
                  <a:srgbClr val="16262E"/>
                </a:solidFill>
                <a:effectLst/>
                <a:uFillTx/>
                <a:latin typeface="Arial"/>
                <a:ea typeface="Arial"/>
              </a:rPr>
              <a:t>Llena tu ficha y deja que la critiquen</a:t>
            </a:r>
            <a:endParaRPr lang="en-US" sz="2900" b="0" u="none" strike="noStrike">
              <a:solidFill>
                <a:srgbClr val="000000"/>
              </a:solidFill>
              <a:effectLst/>
              <a:uFillTx/>
              <a:latin typeface="Arial"/>
            </a:endParaRPr>
          </a:p>
        </p:txBody>
      </p:sp>
      <p:sp>
        <p:nvSpPr>
          <p:cNvPr id="603" name="Shape 5"/>
          <p:cNvSpPr/>
          <p:nvPr/>
        </p:nvSpPr>
        <p:spPr>
          <a:xfrm>
            <a:off x="567000" y="1920240"/>
            <a:ext cx="11057400" cy="628200"/>
          </a:xfrm>
          <a:prstGeom prst="roundRect">
            <a:avLst>
              <a:gd name="adj" fmla="val 10182"/>
            </a:avLst>
          </a:prstGeom>
          <a:solidFill>
            <a:srgbClr val="FFFFFF"/>
          </a:solidFill>
          <a:ln w="12700">
            <a:solidFill>
              <a:srgbClr val="FFFFFF"/>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04" name="Shape 6"/>
          <p:cNvSpPr/>
          <p:nvPr/>
        </p:nvSpPr>
        <p:spPr>
          <a:xfrm>
            <a:off x="786240" y="2024280"/>
            <a:ext cx="420120" cy="420120"/>
          </a:xfrm>
          <a:prstGeom prst="ellipse">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605" name="Text 7"/>
          <p:cNvSpPr/>
          <p:nvPr/>
        </p:nvSpPr>
        <p:spPr>
          <a:xfrm>
            <a:off x="786240" y="2024280"/>
            <a:ext cx="420120" cy="420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1</a:t>
            </a:r>
            <a:endParaRPr lang="en-US" sz="1400" b="0" u="none" strike="noStrike">
              <a:solidFill>
                <a:srgbClr val="000000"/>
              </a:solidFill>
              <a:effectLst/>
              <a:uFillTx/>
              <a:latin typeface="Arial"/>
            </a:endParaRPr>
          </a:p>
        </p:txBody>
      </p:sp>
      <p:sp>
        <p:nvSpPr>
          <p:cNvPr id="606" name="Text 8"/>
          <p:cNvSpPr/>
          <p:nvPr/>
        </p:nvSpPr>
        <p:spPr>
          <a:xfrm>
            <a:off x="1408320" y="2011680"/>
            <a:ext cx="9960120" cy="445320"/>
          </a:xfrm>
          <a:prstGeom prst="rect">
            <a:avLst/>
          </a:prstGeom>
          <a:noFill/>
          <a:ln w="0">
            <a:noFill/>
          </a:ln>
        </p:spPr>
        <p:style>
          <a:lnRef idx="0"/>
          <a:fillRef idx="0"/>
          <a:effectRef idx="0"/>
          <a:fontRef idx="minor"/>
        </p:style>
        <p:txBody>
          <a:bodyPr lIns="0" tIns="0" rIns="0" bIns="0" anchor="ctr">
            <a:noAutofit/>
          </a:bodyPr>
          <a:p>
            <a:pPr defTabSz="914400">
              <a:lnSpc>
                <a:spcPct val="110000"/>
              </a:lnSpc>
              <a:tabLst>
                <a:tab pos="0" algn="l"/>
              </a:tabLst>
            </a:pPr>
            <a:r>
              <a:rPr lang="en-US" sz="1450" b="0" u="none" strike="noStrike">
                <a:solidFill>
                  <a:srgbClr val="16262E"/>
                </a:solidFill>
                <a:effectLst/>
                <a:uFillTx/>
                <a:latin typeface="Calibri"/>
                <a:ea typeface="Calibri"/>
              </a:rPr>
              <a:t>Seis minutos. Elige una tarea real de tu trabajo, de esta semana, y llena la ficha a mano. Sin abrir ninguna herramienta.</a:t>
            </a:r>
            <a:endParaRPr lang="en-US" sz="1450" b="0" u="none" strike="noStrike">
              <a:solidFill>
                <a:srgbClr val="000000"/>
              </a:solidFill>
              <a:effectLst/>
              <a:uFillTx/>
              <a:latin typeface="Arial"/>
            </a:endParaRPr>
          </a:p>
        </p:txBody>
      </p:sp>
      <p:sp>
        <p:nvSpPr>
          <p:cNvPr id="607" name="Shape 9"/>
          <p:cNvSpPr/>
          <p:nvPr/>
        </p:nvSpPr>
        <p:spPr>
          <a:xfrm>
            <a:off x="567000" y="2731680"/>
            <a:ext cx="11057400" cy="628200"/>
          </a:xfrm>
          <a:prstGeom prst="roundRect">
            <a:avLst>
              <a:gd name="adj" fmla="val 10182"/>
            </a:avLst>
          </a:prstGeom>
          <a:solidFill>
            <a:srgbClr val="FFFFFF"/>
          </a:solidFill>
          <a:ln w="12700">
            <a:solidFill>
              <a:srgbClr val="FFFFFF"/>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08" name="Shape 10"/>
          <p:cNvSpPr/>
          <p:nvPr/>
        </p:nvSpPr>
        <p:spPr>
          <a:xfrm>
            <a:off x="786240" y="2835720"/>
            <a:ext cx="420120" cy="420120"/>
          </a:xfrm>
          <a:prstGeom prst="ellipse">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609" name="Text 11"/>
          <p:cNvSpPr/>
          <p:nvPr/>
        </p:nvSpPr>
        <p:spPr>
          <a:xfrm>
            <a:off x="786240" y="2835720"/>
            <a:ext cx="420120" cy="420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2</a:t>
            </a:r>
            <a:endParaRPr lang="en-US" sz="1400" b="0" u="none" strike="noStrike">
              <a:solidFill>
                <a:srgbClr val="000000"/>
              </a:solidFill>
              <a:effectLst/>
              <a:uFillTx/>
              <a:latin typeface="Arial"/>
            </a:endParaRPr>
          </a:p>
        </p:txBody>
      </p:sp>
      <p:sp>
        <p:nvSpPr>
          <p:cNvPr id="610" name="Text 12"/>
          <p:cNvSpPr/>
          <p:nvPr/>
        </p:nvSpPr>
        <p:spPr>
          <a:xfrm>
            <a:off x="1408320" y="2823120"/>
            <a:ext cx="9960120" cy="445320"/>
          </a:xfrm>
          <a:prstGeom prst="rect">
            <a:avLst/>
          </a:prstGeom>
          <a:noFill/>
          <a:ln w="0">
            <a:noFill/>
          </a:ln>
        </p:spPr>
        <p:style>
          <a:lnRef idx="0"/>
          <a:fillRef idx="0"/>
          <a:effectRef idx="0"/>
          <a:fontRef idx="minor"/>
        </p:style>
        <p:txBody>
          <a:bodyPr lIns="0" tIns="0" rIns="0" bIns="0" anchor="ctr">
            <a:noAutofit/>
          </a:bodyPr>
          <a:p>
            <a:pPr defTabSz="914400">
              <a:lnSpc>
                <a:spcPct val="110000"/>
              </a:lnSpc>
              <a:tabLst>
                <a:tab pos="0" algn="l"/>
              </a:tabLst>
            </a:pPr>
            <a:r>
              <a:rPr lang="en-US" sz="1450" b="0" u="none" strike="noStrike">
                <a:solidFill>
                  <a:srgbClr val="16262E"/>
                </a:solidFill>
                <a:effectLst/>
                <a:uFillTx/>
                <a:latin typeface="Calibri"/>
                <a:ea typeface="Calibri"/>
              </a:rPr>
              <a:t>Cuatro minutos. Pídele a Copilot que la critique: "actúa como evaluador metodológico y señala los puntos débiles de esta ficha, sin reescribirla".</a:t>
            </a:r>
            <a:endParaRPr lang="en-US" sz="1450" b="0" u="none" strike="noStrike">
              <a:solidFill>
                <a:srgbClr val="000000"/>
              </a:solidFill>
              <a:effectLst/>
              <a:uFillTx/>
              <a:latin typeface="Arial"/>
            </a:endParaRPr>
          </a:p>
        </p:txBody>
      </p:sp>
      <p:sp>
        <p:nvSpPr>
          <p:cNvPr id="611" name="Shape 13"/>
          <p:cNvSpPr/>
          <p:nvPr/>
        </p:nvSpPr>
        <p:spPr>
          <a:xfrm>
            <a:off x="567000" y="3543480"/>
            <a:ext cx="11057400" cy="628200"/>
          </a:xfrm>
          <a:prstGeom prst="roundRect">
            <a:avLst>
              <a:gd name="adj" fmla="val 10182"/>
            </a:avLst>
          </a:prstGeom>
          <a:solidFill>
            <a:srgbClr val="FFFFFF"/>
          </a:solidFill>
          <a:ln w="12700">
            <a:solidFill>
              <a:srgbClr val="FFFFFF"/>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12" name="Shape 14"/>
          <p:cNvSpPr/>
          <p:nvPr/>
        </p:nvSpPr>
        <p:spPr>
          <a:xfrm>
            <a:off x="786240" y="3647160"/>
            <a:ext cx="420120" cy="420120"/>
          </a:xfrm>
          <a:prstGeom prst="ellipse">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613" name="Text 15"/>
          <p:cNvSpPr/>
          <p:nvPr/>
        </p:nvSpPr>
        <p:spPr>
          <a:xfrm>
            <a:off x="786240" y="3647160"/>
            <a:ext cx="420120" cy="420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3</a:t>
            </a:r>
            <a:endParaRPr lang="en-US" sz="1400" b="0" u="none" strike="noStrike">
              <a:solidFill>
                <a:srgbClr val="000000"/>
              </a:solidFill>
              <a:effectLst/>
              <a:uFillTx/>
              <a:latin typeface="Arial"/>
            </a:endParaRPr>
          </a:p>
        </p:txBody>
      </p:sp>
      <p:sp>
        <p:nvSpPr>
          <p:cNvPr id="614" name="Text 16"/>
          <p:cNvSpPr/>
          <p:nvPr/>
        </p:nvSpPr>
        <p:spPr>
          <a:xfrm>
            <a:off x="1408320" y="3634920"/>
            <a:ext cx="9960120" cy="445320"/>
          </a:xfrm>
          <a:prstGeom prst="rect">
            <a:avLst/>
          </a:prstGeom>
          <a:noFill/>
          <a:ln w="0">
            <a:noFill/>
          </a:ln>
        </p:spPr>
        <p:style>
          <a:lnRef idx="0"/>
          <a:fillRef idx="0"/>
          <a:effectRef idx="0"/>
          <a:fontRef idx="minor"/>
        </p:style>
        <p:txBody>
          <a:bodyPr lIns="0" tIns="0" rIns="0" bIns="0" anchor="ctr">
            <a:noAutofit/>
          </a:bodyPr>
          <a:p>
            <a:pPr defTabSz="914400">
              <a:lnSpc>
                <a:spcPct val="110000"/>
              </a:lnSpc>
              <a:tabLst>
                <a:tab pos="0" algn="l"/>
              </a:tabLst>
            </a:pPr>
            <a:r>
              <a:rPr lang="en-US" sz="1450" b="0" u="none" strike="noStrike">
                <a:solidFill>
                  <a:srgbClr val="16262E"/>
                </a:solidFill>
                <a:effectLst/>
                <a:uFillTx/>
                <a:latin typeface="Calibri"/>
                <a:ea typeface="Calibri"/>
              </a:rPr>
              <a:t>Dos minutos. Decide qué partes de la crítica aceptas y cuáles no, y anota por qué. Esta parte es la que se califica.</a:t>
            </a:r>
            <a:endParaRPr lang="en-US" sz="1450" b="0" u="none" strike="noStrike">
              <a:solidFill>
                <a:srgbClr val="000000"/>
              </a:solidFill>
              <a:effectLst/>
              <a:uFillTx/>
              <a:latin typeface="Arial"/>
            </a:endParaRPr>
          </a:p>
        </p:txBody>
      </p:sp>
      <p:sp>
        <p:nvSpPr>
          <p:cNvPr id="615" name="Shape 17"/>
          <p:cNvSpPr/>
          <p:nvPr/>
        </p:nvSpPr>
        <p:spPr>
          <a:xfrm>
            <a:off x="567000" y="4354920"/>
            <a:ext cx="11057400" cy="628200"/>
          </a:xfrm>
          <a:prstGeom prst="roundRect">
            <a:avLst>
              <a:gd name="adj" fmla="val 10182"/>
            </a:avLst>
          </a:prstGeom>
          <a:solidFill>
            <a:srgbClr val="FFFFFF"/>
          </a:solidFill>
          <a:ln w="12700">
            <a:solidFill>
              <a:srgbClr val="FFFFFF"/>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16" name="Shape 18"/>
          <p:cNvSpPr/>
          <p:nvPr/>
        </p:nvSpPr>
        <p:spPr>
          <a:xfrm>
            <a:off x="786240" y="4458960"/>
            <a:ext cx="420120" cy="420120"/>
          </a:xfrm>
          <a:prstGeom prst="ellipse">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617" name="Text 19"/>
          <p:cNvSpPr/>
          <p:nvPr/>
        </p:nvSpPr>
        <p:spPr>
          <a:xfrm>
            <a:off x="786240" y="4458960"/>
            <a:ext cx="420120" cy="420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4</a:t>
            </a:r>
            <a:endParaRPr lang="en-US" sz="1400" b="0" u="none" strike="noStrike">
              <a:solidFill>
                <a:srgbClr val="000000"/>
              </a:solidFill>
              <a:effectLst/>
              <a:uFillTx/>
              <a:latin typeface="Arial"/>
            </a:endParaRPr>
          </a:p>
        </p:txBody>
      </p:sp>
      <p:sp>
        <p:nvSpPr>
          <p:cNvPr id="618" name="Text 20"/>
          <p:cNvSpPr/>
          <p:nvPr/>
        </p:nvSpPr>
        <p:spPr>
          <a:xfrm>
            <a:off x="1408320" y="4446360"/>
            <a:ext cx="9960120" cy="445320"/>
          </a:xfrm>
          <a:prstGeom prst="rect">
            <a:avLst/>
          </a:prstGeom>
          <a:noFill/>
          <a:ln w="0">
            <a:noFill/>
          </a:ln>
        </p:spPr>
        <p:style>
          <a:lnRef idx="0"/>
          <a:fillRef idx="0"/>
          <a:effectRef idx="0"/>
          <a:fontRef idx="minor"/>
        </p:style>
        <p:txBody>
          <a:bodyPr lIns="0" tIns="0" rIns="0" bIns="0" anchor="ctr">
            <a:noAutofit/>
          </a:bodyPr>
          <a:p>
            <a:pPr defTabSz="914400">
              <a:lnSpc>
                <a:spcPct val="110000"/>
              </a:lnSpc>
              <a:tabLst>
                <a:tab pos="0" algn="l"/>
              </a:tabLst>
            </a:pPr>
            <a:r>
              <a:rPr lang="en-US" sz="1450" b="0" u="none" strike="noStrike">
                <a:solidFill>
                  <a:srgbClr val="16262E"/>
                </a:solidFill>
                <a:effectLst/>
                <a:uFillTx/>
                <a:latin typeface="Calibri"/>
                <a:ea typeface="Calibri"/>
              </a:rPr>
              <a:t>Si concluyes que para tu tarea no conviene usar IA, tu ficha vale igual. El criterio es cómo lo justificas, no el entusiasmo.</a:t>
            </a:r>
            <a:endParaRPr lang="en-US" sz="1450" b="0" u="none" strike="noStrike">
              <a:solidFill>
                <a:srgbClr val="000000"/>
              </a:solidFill>
              <a:effectLst/>
              <a:uFillTx/>
              <a:latin typeface="Arial"/>
            </a:endParaRPr>
          </a:p>
        </p:txBody>
      </p:sp>
      <p:sp>
        <p:nvSpPr>
          <p:cNvPr id="619" name="Shape 21"/>
          <p:cNvSpPr/>
          <p:nvPr/>
        </p:nvSpPr>
        <p:spPr>
          <a:xfrm>
            <a:off x="567000" y="5193720"/>
            <a:ext cx="11057400" cy="776880"/>
          </a:xfrm>
          <a:prstGeom prst="roundRect">
            <a:avLst>
              <a:gd name="adj" fmla="val 8235"/>
            </a:avLst>
          </a:prstGeom>
          <a:solidFill>
            <a:srgbClr val="16262E"/>
          </a:solidFill>
          <a:ln w="12700">
            <a:solidFill>
              <a:srgbClr val="16262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620" name="Text 22"/>
          <p:cNvSpPr/>
          <p:nvPr/>
        </p:nvSpPr>
        <p:spPr>
          <a:xfrm>
            <a:off x="841320" y="5193720"/>
            <a:ext cx="10508760" cy="776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0" u="none" strike="noStrike">
                <a:solidFill>
                  <a:srgbClr val="FFFFFF"/>
                </a:solidFill>
                <a:effectLst/>
                <a:uFillTx/>
                <a:latin typeface="Calibri"/>
                <a:ea typeface="Calibri"/>
              </a:rPr>
              <a:t>Formato 2 del archivo Formatos_de_trabajo_curso_IA.docx. Los apartados 2, 3 y 5 son las tres preguntas que acabas de ver.</a:t>
            </a:r>
            <a:endParaRPr lang="en-US" sz="13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6262E"/>
        </a:solidFill>
      </p:bgPr>
    </p:bg>
    <p:spTree>
      <p:nvGrpSpPr>
        <p:cNvPr id="1" name=""/>
        <p:cNvGrpSpPr/>
        <p:nvPr/>
      </p:nvGrpSpPr>
      <p:grpSpPr>
        <a:xfrm>
          <a:off x="0" y="0"/>
          <a:ext cx="0" cy="0"/>
          <a:chOff x="0" y="0"/>
          <a:chExt cx="0" cy="0"/>
        </a:xfrm>
      </p:grpSpPr>
      <p:sp>
        <p:nvSpPr>
          <p:cNvPr id="621" name="Shape 0"/>
          <p:cNvSpPr/>
          <p:nvPr/>
        </p:nvSpPr>
        <p:spPr>
          <a:xfrm>
            <a:off x="-1737360" y="3931920"/>
            <a:ext cx="4754520" cy="4754520"/>
          </a:xfrm>
          <a:prstGeom prst="ellipse">
            <a:avLst/>
          </a:prstGeom>
          <a:solidFill>
            <a:srgbClr val="24404E"/>
          </a:solidFill>
          <a:ln w="12700">
            <a:solidFill>
              <a:srgbClr val="24404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622" name="Text 1"/>
          <p:cNvSpPr/>
          <p:nvPr/>
        </p:nvSpPr>
        <p:spPr>
          <a:xfrm>
            <a:off x="567000" y="685800"/>
            <a:ext cx="1042380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pc="201" strike="noStrike">
                <a:solidFill>
                  <a:srgbClr val="C85A28"/>
                </a:solidFill>
                <a:effectLst/>
                <a:uFillTx/>
                <a:latin typeface="Calibri"/>
                <a:ea typeface="Calibri"/>
              </a:rPr>
              <a:t>AL SALIR DE HOY</a:t>
            </a:r>
            <a:endParaRPr lang="en-US" sz="1400" b="0" u="none" strike="noStrike">
              <a:solidFill>
                <a:srgbClr val="FFFFFF"/>
              </a:solidFill>
              <a:effectLst/>
              <a:uFillTx/>
              <a:latin typeface="Arial"/>
            </a:endParaRPr>
          </a:p>
        </p:txBody>
      </p:sp>
      <p:sp>
        <p:nvSpPr>
          <p:cNvPr id="623" name="Text 2"/>
          <p:cNvSpPr/>
          <p:nvPr/>
        </p:nvSpPr>
        <p:spPr>
          <a:xfrm>
            <a:off x="567000" y="1097280"/>
            <a:ext cx="1060668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FFFFFF"/>
                </a:solidFill>
                <a:effectLst/>
                <a:uFillTx/>
                <a:latin typeface="Arial"/>
                <a:ea typeface="Arial"/>
              </a:rPr>
              <a:t>Lo que entregas y lo que traes mañana</a:t>
            </a:r>
            <a:endParaRPr lang="en-US" sz="3000" b="0" u="none" strike="noStrike">
              <a:solidFill>
                <a:srgbClr val="FFFFFF"/>
              </a:solidFill>
              <a:effectLst/>
              <a:uFillTx/>
              <a:latin typeface="Arial"/>
            </a:endParaRPr>
          </a:p>
        </p:txBody>
      </p:sp>
      <p:sp>
        <p:nvSpPr>
          <p:cNvPr id="624" name="Shape 3"/>
          <p:cNvSpPr/>
          <p:nvPr/>
        </p:nvSpPr>
        <p:spPr>
          <a:xfrm>
            <a:off x="567000" y="2011680"/>
            <a:ext cx="11057400" cy="648720"/>
          </a:xfrm>
          <a:prstGeom prst="roundRect">
            <a:avLst>
              <a:gd name="adj" fmla="val 9859"/>
            </a:avLst>
          </a:prstGeom>
          <a:solidFill>
            <a:srgbClr val="24404E"/>
          </a:solidFill>
          <a:ln w="12700">
            <a:solidFill>
              <a:srgbClr val="24404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625" name="Shape 4"/>
          <p:cNvSpPr/>
          <p:nvPr/>
        </p:nvSpPr>
        <p:spPr>
          <a:xfrm>
            <a:off x="804600" y="2135160"/>
            <a:ext cx="402120" cy="402120"/>
          </a:xfrm>
          <a:prstGeom prst="ellipse">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626" name="Text 5"/>
          <p:cNvSpPr/>
          <p:nvPr/>
        </p:nvSpPr>
        <p:spPr>
          <a:xfrm>
            <a:off x="804600" y="2135160"/>
            <a:ext cx="402120" cy="402120"/>
          </a:xfrm>
          <a:prstGeom prst="rect">
            <a:avLst/>
          </a:prstGeom>
          <a:noFill/>
          <a:ln w="0">
            <a:noFill/>
          </a:ln>
        </p:spPr>
        <p:style>
          <a:lnRef idx="0"/>
          <a:fillRef idx="0"/>
          <a:effectRef idx="0"/>
          <a:fontRef idx="minor"/>
        </p:style>
        <p:txBody>
          <a:bodyPr lIns="0" tIns="0" rIns="0" bIns="0" anchor="ctr">
            <a:noAutofit/>
          </a:bodyPr>
          <a:p>
            <a:endParaRPr lang="en-US" sz="1200" b="0" u="none" strike="noStrike">
              <a:solidFill>
                <a:schemeClr val="dk1"/>
              </a:solidFill>
              <a:effectLst/>
              <a:uFillTx/>
              <a:latin typeface="Calibri"/>
            </a:endParaRPr>
          </a:p>
        </p:txBody>
      </p:sp>
      <p:sp>
        <p:nvSpPr>
          <p:cNvPr id="627" name="Text 6"/>
          <p:cNvSpPr/>
          <p:nvPr/>
        </p:nvSpPr>
        <p:spPr>
          <a:xfrm>
            <a:off x="1426320" y="2084760"/>
            <a:ext cx="9960120" cy="502560"/>
          </a:xfrm>
          <a:prstGeom prst="rect">
            <a:avLst/>
          </a:prstGeom>
          <a:noFill/>
          <a:ln w="0">
            <a:noFill/>
          </a:ln>
        </p:spPr>
        <p:style>
          <a:lnRef idx="0"/>
          <a:fillRef idx="0"/>
          <a:effectRef idx="0"/>
          <a:fontRef idx="minor"/>
        </p:style>
        <p:txBody>
          <a:bodyPr lIns="0" tIns="0" rIns="0" bIns="0" anchor="ctr">
            <a:noAutofit/>
          </a:bodyPr>
          <a:p>
            <a:pPr defTabSz="914400">
              <a:lnSpc>
                <a:spcPct val="110000"/>
              </a:lnSpc>
              <a:tabLst>
                <a:tab pos="0" algn="l"/>
              </a:tabLst>
            </a:pPr>
            <a:r>
              <a:rPr lang="en-US" sz="1450" b="0" u="none" strike="noStrike">
                <a:solidFill>
                  <a:srgbClr val="FFFFFF"/>
                </a:solidFill>
                <a:effectLst/>
                <a:uFillTx/>
                <a:latin typeface="Calibri"/>
                <a:ea typeface="Calibri"/>
              </a:rPr>
              <a:t>Tu ficha de idoneidad. La mandas por correo como S01_ApellidoNombre_FichaIdoneidad.docx, con el asunto igual al nombre del archivo.</a:t>
            </a:r>
            <a:endParaRPr lang="en-US" sz="1450" b="0" u="none" strike="noStrike">
              <a:solidFill>
                <a:srgbClr val="FFFFFF"/>
              </a:solidFill>
              <a:effectLst/>
              <a:uFillTx/>
              <a:latin typeface="Arial"/>
            </a:endParaRPr>
          </a:p>
        </p:txBody>
      </p:sp>
      <p:sp>
        <p:nvSpPr>
          <p:cNvPr id="628" name="Shape 7"/>
          <p:cNvSpPr/>
          <p:nvPr/>
        </p:nvSpPr>
        <p:spPr>
          <a:xfrm>
            <a:off x="567000" y="2843640"/>
            <a:ext cx="11057400" cy="648720"/>
          </a:xfrm>
          <a:prstGeom prst="roundRect">
            <a:avLst>
              <a:gd name="adj" fmla="val 9859"/>
            </a:avLst>
          </a:prstGeom>
          <a:solidFill>
            <a:srgbClr val="24404E"/>
          </a:solidFill>
          <a:ln w="12700">
            <a:solidFill>
              <a:srgbClr val="24404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629" name="Shape 8"/>
          <p:cNvSpPr/>
          <p:nvPr/>
        </p:nvSpPr>
        <p:spPr>
          <a:xfrm>
            <a:off x="804600" y="2967120"/>
            <a:ext cx="402120" cy="402120"/>
          </a:xfrm>
          <a:prstGeom prst="ellipse">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630" name="Text 9"/>
          <p:cNvSpPr/>
          <p:nvPr/>
        </p:nvSpPr>
        <p:spPr>
          <a:xfrm>
            <a:off x="804600" y="2967120"/>
            <a:ext cx="402120" cy="402120"/>
          </a:xfrm>
          <a:prstGeom prst="rect">
            <a:avLst/>
          </a:prstGeom>
          <a:noFill/>
          <a:ln w="0">
            <a:noFill/>
          </a:ln>
        </p:spPr>
        <p:style>
          <a:lnRef idx="0"/>
          <a:fillRef idx="0"/>
          <a:effectRef idx="0"/>
          <a:fontRef idx="minor"/>
        </p:style>
        <p:txBody>
          <a:bodyPr lIns="0" tIns="0" rIns="0" bIns="0" anchor="ctr">
            <a:noAutofit/>
          </a:bodyPr>
          <a:p>
            <a:endParaRPr lang="en-US" sz="1200" b="0" u="none" strike="noStrike">
              <a:solidFill>
                <a:schemeClr val="dk1"/>
              </a:solidFill>
              <a:effectLst/>
              <a:uFillTx/>
              <a:latin typeface="Calibri"/>
            </a:endParaRPr>
          </a:p>
        </p:txBody>
      </p:sp>
      <p:sp>
        <p:nvSpPr>
          <p:cNvPr id="631" name="Text 10"/>
          <p:cNvSpPr/>
          <p:nvPr/>
        </p:nvSpPr>
        <p:spPr>
          <a:xfrm>
            <a:off x="1426320" y="2917080"/>
            <a:ext cx="9960120" cy="502560"/>
          </a:xfrm>
          <a:prstGeom prst="rect">
            <a:avLst/>
          </a:prstGeom>
          <a:noFill/>
          <a:ln w="0">
            <a:noFill/>
          </a:ln>
        </p:spPr>
        <p:style>
          <a:lnRef idx="0"/>
          <a:fillRef idx="0"/>
          <a:effectRef idx="0"/>
          <a:fontRef idx="minor"/>
        </p:style>
        <p:txBody>
          <a:bodyPr lIns="0" tIns="0" rIns="0" bIns="0" anchor="ctr">
            <a:noAutofit/>
          </a:bodyPr>
          <a:p>
            <a:pPr defTabSz="914400">
              <a:lnSpc>
                <a:spcPct val="110000"/>
              </a:lnSpc>
              <a:tabLst>
                <a:tab pos="0" algn="l"/>
              </a:tabLst>
            </a:pPr>
            <a:r>
              <a:rPr lang="en-US" sz="1450" b="0" u="none" strike="noStrike">
                <a:solidFill>
                  <a:srgbClr val="FFFFFF"/>
                </a:solidFill>
                <a:effectLst/>
                <a:uFillTx/>
                <a:latin typeface="Calibri"/>
                <a:ea typeface="Calibri"/>
              </a:rPr>
              <a:t>Todo el material del curso está en </a:t>
            </a:r>
            <a:r>
              <a:rPr lang="en-US" sz="1450" b="0" u="none" strike="noStrike">
                <a:solidFill>
                  <a:srgbClr val="729FCF"/>
                </a:solidFill>
                <a:effectLst/>
                <a:uFillTx/>
                <a:latin typeface="Calibri"/>
                <a:ea typeface="Calibri"/>
                <a:hlinkClick r:id="rId1"/>
              </a:rPr>
              <a:t>github.com/xuxoramos/curso-inegi-gen-ai</a:t>
            </a:r>
            <a:r>
              <a:rPr lang="en-US" sz="1450" b="0" u="none" strike="noStrike">
                <a:solidFill>
                  <a:srgbClr val="FFFFFF"/>
                </a:solidFill>
                <a:effectLst/>
                <a:uFillTx/>
                <a:latin typeface="Calibri"/>
                <a:ea typeface="Calibri"/>
              </a:rPr>
              <a:t>. Ábrelo hoy y avisa si no puedes entrar.</a:t>
            </a:r>
            <a:endParaRPr lang="en-US" sz="1450" b="0" u="none" strike="noStrike">
              <a:solidFill>
                <a:srgbClr val="FFFFFF"/>
              </a:solidFill>
              <a:effectLst/>
              <a:uFillTx/>
              <a:latin typeface="Arial"/>
            </a:endParaRPr>
          </a:p>
        </p:txBody>
      </p:sp>
      <p:sp>
        <p:nvSpPr>
          <p:cNvPr id="632" name="Shape 11"/>
          <p:cNvSpPr/>
          <p:nvPr/>
        </p:nvSpPr>
        <p:spPr>
          <a:xfrm>
            <a:off x="567000" y="3675960"/>
            <a:ext cx="11057400" cy="648720"/>
          </a:xfrm>
          <a:prstGeom prst="roundRect">
            <a:avLst>
              <a:gd name="adj" fmla="val 9859"/>
            </a:avLst>
          </a:prstGeom>
          <a:solidFill>
            <a:srgbClr val="24404E"/>
          </a:solidFill>
          <a:ln w="12700">
            <a:solidFill>
              <a:srgbClr val="24404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633" name="Shape 12"/>
          <p:cNvSpPr/>
          <p:nvPr/>
        </p:nvSpPr>
        <p:spPr>
          <a:xfrm>
            <a:off x="804600" y="3799440"/>
            <a:ext cx="402120" cy="402120"/>
          </a:xfrm>
          <a:prstGeom prst="ellipse">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634" name="Text 13"/>
          <p:cNvSpPr/>
          <p:nvPr/>
        </p:nvSpPr>
        <p:spPr>
          <a:xfrm>
            <a:off x="804600" y="3799440"/>
            <a:ext cx="402120" cy="402120"/>
          </a:xfrm>
          <a:prstGeom prst="rect">
            <a:avLst/>
          </a:prstGeom>
          <a:noFill/>
          <a:ln w="0">
            <a:noFill/>
          </a:ln>
        </p:spPr>
        <p:style>
          <a:lnRef idx="0"/>
          <a:fillRef idx="0"/>
          <a:effectRef idx="0"/>
          <a:fontRef idx="minor"/>
        </p:style>
        <p:txBody>
          <a:bodyPr lIns="0" tIns="0" rIns="0" bIns="0" anchor="ctr">
            <a:noAutofit/>
          </a:bodyPr>
          <a:p>
            <a:endParaRPr lang="en-US" sz="1200" b="0" u="none" strike="noStrike">
              <a:solidFill>
                <a:schemeClr val="dk1"/>
              </a:solidFill>
              <a:effectLst/>
              <a:uFillTx/>
              <a:latin typeface="Calibri"/>
            </a:endParaRPr>
          </a:p>
        </p:txBody>
      </p:sp>
      <p:sp>
        <p:nvSpPr>
          <p:cNvPr id="635" name="Text 14"/>
          <p:cNvSpPr/>
          <p:nvPr/>
        </p:nvSpPr>
        <p:spPr>
          <a:xfrm>
            <a:off x="1426320" y="3749040"/>
            <a:ext cx="9960120" cy="502560"/>
          </a:xfrm>
          <a:prstGeom prst="rect">
            <a:avLst/>
          </a:prstGeom>
          <a:noFill/>
          <a:ln w="0">
            <a:noFill/>
          </a:ln>
        </p:spPr>
        <p:style>
          <a:lnRef idx="0"/>
          <a:fillRef idx="0"/>
          <a:effectRef idx="0"/>
          <a:fontRef idx="minor"/>
        </p:style>
        <p:txBody>
          <a:bodyPr lIns="0" tIns="0" rIns="0" bIns="0" anchor="ctr">
            <a:noAutofit/>
          </a:bodyPr>
          <a:p>
            <a:pPr defTabSz="914400">
              <a:lnSpc>
                <a:spcPct val="110000"/>
              </a:lnSpc>
              <a:tabLst>
                <a:tab pos="0" algn="l"/>
              </a:tabLst>
            </a:pPr>
            <a:r>
              <a:rPr lang="en-US" sz="1450" b="0" u="none" strike="noStrike">
                <a:solidFill>
                  <a:srgbClr val="FFFFFF"/>
                </a:solidFill>
                <a:effectLst/>
                <a:uFillTx/>
                <a:latin typeface="Calibri"/>
                <a:ea typeface="Calibri"/>
              </a:rPr>
              <a:t>Tu bitácora creada, con al menos tres entradas de las demostraciones de hoy.</a:t>
            </a:r>
            <a:endParaRPr lang="en-US" sz="1450" b="0" u="none" strike="noStrike">
              <a:solidFill>
                <a:srgbClr val="FFFFFF"/>
              </a:solidFill>
              <a:effectLst/>
              <a:uFillTx/>
              <a:latin typeface="Arial"/>
            </a:endParaRPr>
          </a:p>
        </p:txBody>
      </p:sp>
      <p:sp>
        <p:nvSpPr>
          <p:cNvPr id="636" name="Shape 15"/>
          <p:cNvSpPr/>
          <p:nvPr/>
        </p:nvSpPr>
        <p:spPr>
          <a:xfrm>
            <a:off x="567000" y="4507920"/>
            <a:ext cx="11057400" cy="648720"/>
          </a:xfrm>
          <a:prstGeom prst="roundRect">
            <a:avLst>
              <a:gd name="adj" fmla="val 9859"/>
            </a:avLst>
          </a:prstGeom>
          <a:solidFill>
            <a:srgbClr val="24404E"/>
          </a:solidFill>
          <a:ln w="12700">
            <a:solidFill>
              <a:srgbClr val="24404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637" name="Shape 16"/>
          <p:cNvSpPr/>
          <p:nvPr/>
        </p:nvSpPr>
        <p:spPr>
          <a:xfrm>
            <a:off x="804600" y="4631400"/>
            <a:ext cx="402120" cy="402120"/>
          </a:xfrm>
          <a:prstGeom prst="ellipse">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638" name="Text 17"/>
          <p:cNvSpPr/>
          <p:nvPr/>
        </p:nvSpPr>
        <p:spPr>
          <a:xfrm>
            <a:off x="804600" y="4631400"/>
            <a:ext cx="402120" cy="402120"/>
          </a:xfrm>
          <a:prstGeom prst="rect">
            <a:avLst/>
          </a:prstGeom>
          <a:noFill/>
          <a:ln w="0">
            <a:noFill/>
          </a:ln>
        </p:spPr>
        <p:style>
          <a:lnRef idx="0"/>
          <a:fillRef idx="0"/>
          <a:effectRef idx="0"/>
          <a:fontRef idx="minor"/>
        </p:style>
        <p:txBody>
          <a:bodyPr lIns="0" tIns="0" rIns="0" bIns="0" anchor="ctr">
            <a:noAutofit/>
          </a:bodyPr>
          <a:p>
            <a:endParaRPr lang="en-US" sz="1200" b="0" u="none" strike="noStrike">
              <a:solidFill>
                <a:schemeClr val="dk1"/>
              </a:solidFill>
              <a:effectLst/>
              <a:uFillTx/>
              <a:latin typeface="Calibri"/>
            </a:endParaRPr>
          </a:p>
        </p:txBody>
      </p:sp>
      <p:sp>
        <p:nvSpPr>
          <p:cNvPr id="639" name="Text 18"/>
          <p:cNvSpPr/>
          <p:nvPr/>
        </p:nvSpPr>
        <p:spPr>
          <a:xfrm>
            <a:off x="1426320" y="4581000"/>
            <a:ext cx="9960120" cy="502560"/>
          </a:xfrm>
          <a:prstGeom prst="rect">
            <a:avLst/>
          </a:prstGeom>
          <a:noFill/>
          <a:ln w="0">
            <a:noFill/>
          </a:ln>
        </p:spPr>
        <p:style>
          <a:lnRef idx="0"/>
          <a:fillRef idx="0"/>
          <a:effectRef idx="0"/>
          <a:fontRef idx="minor"/>
        </p:style>
        <p:txBody>
          <a:bodyPr lIns="0" tIns="0" rIns="0" bIns="0" anchor="ctr">
            <a:noAutofit/>
          </a:bodyPr>
          <a:p>
            <a:pPr defTabSz="914400">
              <a:lnSpc>
                <a:spcPct val="110000"/>
              </a:lnSpc>
              <a:tabLst>
                <a:tab pos="0" algn="l"/>
              </a:tabLst>
            </a:pPr>
            <a:r>
              <a:rPr lang="en-US" sz="1450" b="0" u="none" strike="noStrike">
                <a:solidFill>
                  <a:srgbClr val="FFFFFF"/>
                </a:solidFill>
                <a:effectLst/>
                <a:uFillTx/>
                <a:latin typeface="Calibri"/>
                <a:ea typeface="Calibri"/>
              </a:rPr>
              <a:t>Para mañana: baja un documento normativo público que te interese, de preferencia unas reglas de operación del Diario Oficial, y tráelo abierto.</a:t>
            </a:r>
            <a:endParaRPr lang="en-US" sz="1450" b="0" u="none" strike="noStrike">
              <a:solidFill>
                <a:srgbClr val="FFFFFF"/>
              </a:solidFill>
              <a:effectLst/>
              <a:uFillTx/>
              <a:latin typeface="Arial"/>
            </a:endParaRPr>
          </a:p>
        </p:txBody>
      </p:sp>
      <p:sp>
        <p:nvSpPr>
          <p:cNvPr id="640" name="Shape 19"/>
          <p:cNvSpPr/>
          <p:nvPr/>
        </p:nvSpPr>
        <p:spPr>
          <a:xfrm>
            <a:off x="567000" y="5340240"/>
            <a:ext cx="11057400" cy="648720"/>
          </a:xfrm>
          <a:prstGeom prst="roundRect">
            <a:avLst>
              <a:gd name="adj" fmla="val 9859"/>
            </a:avLst>
          </a:prstGeom>
          <a:solidFill>
            <a:srgbClr val="24404E"/>
          </a:solidFill>
          <a:ln w="12700">
            <a:solidFill>
              <a:srgbClr val="24404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641" name="Shape 20"/>
          <p:cNvSpPr/>
          <p:nvPr/>
        </p:nvSpPr>
        <p:spPr>
          <a:xfrm>
            <a:off x="804600" y="5463720"/>
            <a:ext cx="402120" cy="402120"/>
          </a:xfrm>
          <a:prstGeom prst="ellipse">
            <a:avLst/>
          </a:prstGeom>
          <a:solidFill>
            <a:srgbClr val="2E7D7D"/>
          </a:solidFill>
          <a:ln w="12700">
            <a:solidFill>
              <a:srgbClr val="2E7D7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642" name="Text 21"/>
          <p:cNvSpPr/>
          <p:nvPr/>
        </p:nvSpPr>
        <p:spPr>
          <a:xfrm>
            <a:off x="804600" y="5463720"/>
            <a:ext cx="402120" cy="402120"/>
          </a:xfrm>
          <a:prstGeom prst="rect">
            <a:avLst/>
          </a:prstGeom>
          <a:noFill/>
          <a:ln w="0">
            <a:noFill/>
          </a:ln>
        </p:spPr>
        <p:style>
          <a:lnRef idx="0"/>
          <a:fillRef idx="0"/>
          <a:effectRef idx="0"/>
          <a:fontRef idx="minor"/>
        </p:style>
        <p:txBody>
          <a:bodyPr lIns="0" tIns="0" rIns="0" bIns="0" anchor="ctr">
            <a:noAutofit/>
          </a:bodyPr>
          <a:p>
            <a:endParaRPr lang="en-US" sz="1200" b="0" u="none" strike="noStrike">
              <a:solidFill>
                <a:schemeClr val="dk1"/>
              </a:solidFill>
              <a:effectLst/>
              <a:uFillTx/>
              <a:latin typeface="Calibri"/>
            </a:endParaRPr>
          </a:p>
        </p:txBody>
      </p:sp>
      <p:sp>
        <p:nvSpPr>
          <p:cNvPr id="643" name="Text 22"/>
          <p:cNvSpPr/>
          <p:nvPr/>
        </p:nvSpPr>
        <p:spPr>
          <a:xfrm>
            <a:off x="1426320" y="5413320"/>
            <a:ext cx="9960120" cy="502560"/>
          </a:xfrm>
          <a:prstGeom prst="rect">
            <a:avLst/>
          </a:prstGeom>
          <a:noFill/>
          <a:ln w="0">
            <a:noFill/>
          </a:ln>
        </p:spPr>
        <p:style>
          <a:lnRef idx="0"/>
          <a:fillRef idx="0"/>
          <a:effectRef idx="0"/>
          <a:fontRef idx="minor"/>
        </p:style>
        <p:txBody>
          <a:bodyPr lIns="0" tIns="0" rIns="0" bIns="0" anchor="ctr">
            <a:noAutofit/>
          </a:bodyPr>
          <a:p>
            <a:pPr defTabSz="914400">
              <a:lnSpc>
                <a:spcPct val="110000"/>
              </a:lnSpc>
              <a:tabLst>
                <a:tab pos="0" algn="l"/>
              </a:tabLst>
            </a:pPr>
            <a:r>
              <a:rPr lang="en-US" sz="1450" b="0" u="none" strike="noStrike">
                <a:solidFill>
                  <a:srgbClr val="FFFFFF"/>
                </a:solidFill>
                <a:effectLst/>
                <a:uFillTx/>
                <a:latin typeface="Calibri"/>
                <a:ea typeface="Calibri"/>
              </a:rPr>
              <a:t>No actives todavía la prueba de Elicit. Son siete días y se usa hasta el lunes 21. Lo mismo con cualquier prueba gratuita: actívala el día que se usa.</a:t>
            </a:r>
            <a:endParaRPr lang="en-US" sz="1450" b="0" u="none" strike="noStrike">
              <a:solidFill>
                <a:srgbClr val="FFFFFF"/>
              </a:solidFill>
              <a:effectLst/>
              <a:uFillTx/>
              <a:latin typeface="Arial"/>
            </a:endParaRPr>
          </a:p>
        </p:txBody>
      </p:sp>
      <p:sp>
        <p:nvSpPr>
          <p:cNvPr id="644" name="Text 23"/>
          <p:cNvSpPr/>
          <p:nvPr/>
        </p:nvSpPr>
        <p:spPr>
          <a:xfrm>
            <a:off x="567000" y="6172200"/>
            <a:ext cx="11057400" cy="41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i="1" u="none" strike="noStrike">
                <a:solidFill>
                  <a:srgbClr val="D7E7E7"/>
                </a:solidFill>
                <a:effectLst/>
                <a:uFillTx/>
                <a:latin typeface="Calibri"/>
                <a:ea typeface="Calibri"/>
              </a:rPr>
              <a:t>Sesión 2, martes 15 de septiembre: Microsoft Copilot y cómo escribir mejores instrucciones.</a:t>
            </a:r>
            <a:endParaRPr lang="en-US" sz="13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45" name="Text 0"/>
          <p:cNvSpPr/>
          <p:nvPr/>
        </p:nvSpPr>
        <p:spPr>
          <a:xfrm>
            <a:off x="567000" y="402480"/>
            <a:ext cx="9228600" cy="7495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3200" b="1" u="none" strike="noStrike">
                <a:solidFill>
                  <a:srgbClr val="16262E"/>
                </a:solidFill>
                <a:effectLst/>
                <a:uFillTx/>
                <a:latin typeface="Arial"/>
                <a:ea typeface="Arial"/>
              </a:rPr>
              <a:t>Fuentes de los casos de hoy</a:t>
            </a:r>
            <a:endParaRPr lang="en-US" sz="3200" b="0" u="none" strike="noStrike">
              <a:solidFill>
                <a:srgbClr val="000000"/>
              </a:solidFill>
              <a:effectLst/>
              <a:uFillTx/>
              <a:latin typeface="Arial"/>
            </a:endParaRPr>
          </a:p>
        </p:txBody>
      </p:sp>
      <p:sp>
        <p:nvSpPr>
          <p:cNvPr id="646" name="Text 1"/>
          <p:cNvSpPr/>
          <p:nvPr/>
        </p:nvSpPr>
        <p:spPr>
          <a:xfrm>
            <a:off x="567000" y="1280160"/>
            <a:ext cx="9960120" cy="3654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500" b="0" u="none" strike="noStrike">
                <a:solidFill>
                  <a:srgbClr val="5A6B73"/>
                </a:solidFill>
                <a:effectLst/>
                <a:uFillTx/>
                <a:latin typeface="Calibri"/>
                <a:ea typeface="Calibri"/>
              </a:rPr>
              <a:t>Los siete casos son verificables. Compruébalos tú mismo: es exactamente lo que este curso te va a pedir que hagas con todo lo demás.</a:t>
            </a:r>
            <a:endParaRPr lang="en-US" sz="1500" b="0" u="none" strike="noStrike">
              <a:solidFill>
                <a:srgbClr val="000000"/>
              </a:solidFill>
              <a:effectLst/>
              <a:uFillTx/>
              <a:latin typeface="Arial"/>
            </a:endParaRPr>
          </a:p>
        </p:txBody>
      </p:sp>
      <p:sp>
        <p:nvSpPr>
          <p:cNvPr id="647" name="Shape 2"/>
          <p:cNvSpPr/>
          <p:nvPr/>
        </p:nvSpPr>
        <p:spPr>
          <a:xfrm>
            <a:off x="567000" y="1810440"/>
            <a:ext cx="11057400" cy="493560"/>
          </a:xfrm>
          <a:prstGeom prst="roundRect">
            <a:avLst>
              <a:gd name="adj" fmla="val 11111"/>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48" name="Text 3"/>
          <p:cNvSpPr/>
          <p:nvPr/>
        </p:nvSpPr>
        <p:spPr>
          <a:xfrm>
            <a:off x="749880" y="1810440"/>
            <a:ext cx="1965600" cy="493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trike="noStrike">
                <a:solidFill>
                  <a:srgbClr val="16262E"/>
                </a:solidFill>
                <a:effectLst/>
                <a:uFillTx/>
                <a:latin typeface="Arial"/>
                <a:ea typeface="Arial"/>
              </a:rPr>
              <a:t>Transparencia.</a:t>
            </a:r>
            <a:endParaRPr lang="en-US" sz="1200" b="0" u="none" strike="noStrike">
              <a:solidFill>
                <a:srgbClr val="000000"/>
              </a:solidFill>
              <a:effectLst/>
              <a:uFillTx/>
              <a:latin typeface="Arial"/>
            </a:endParaRPr>
          </a:p>
          <a:p>
            <a:pPr defTabSz="914400">
              <a:lnSpc>
                <a:spcPct val="100000"/>
              </a:lnSpc>
              <a:tabLst>
                <a:tab pos="0" algn="l"/>
              </a:tabLst>
            </a:pPr>
            <a:r>
              <a:rPr lang="en-US" sz="1200" b="1" u="none" strike="noStrike">
                <a:solidFill>
                  <a:srgbClr val="16262E"/>
                </a:solidFill>
                <a:effectLst/>
                <a:uFillTx/>
                <a:latin typeface="Arial"/>
                <a:ea typeface="Arial"/>
              </a:rPr>
              <a:t>Nueva York, 2023</a:t>
            </a:r>
            <a:endParaRPr lang="en-US" sz="1200" b="0" u="none" strike="noStrike">
              <a:solidFill>
                <a:srgbClr val="000000"/>
              </a:solidFill>
              <a:effectLst/>
              <a:uFillTx/>
              <a:latin typeface="Arial"/>
            </a:endParaRPr>
          </a:p>
        </p:txBody>
      </p:sp>
      <p:sp>
        <p:nvSpPr>
          <p:cNvPr id="649" name="Text 4"/>
          <p:cNvSpPr/>
          <p:nvPr/>
        </p:nvSpPr>
        <p:spPr>
          <a:xfrm>
            <a:off x="2944440" y="1901880"/>
            <a:ext cx="8497080" cy="256320"/>
          </a:xfrm>
          <a:prstGeom prst="rect">
            <a:avLst/>
          </a:prstGeom>
          <a:noFill/>
          <a:ln w="0">
            <a:noFill/>
          </a:ln>
        </p:spPr>
        <p:style>
          <a:lnRef idx="0"/>
          <a:fillRef idx="0"/>
          <a:effectRef idx="0"/>
          <a:fontRef idx="minor"/>
        </p:style>
        <p:txBody>
          <a:bodyPr lIns="0" tIns="0" rIns="0" bIns="0" anchor="t">
            <a:noAutofit/>
          </a:bodyPr>
          <a:p>
            <a:pPr defTabSz="914400">
              <a:lnSpc>
                <a:spcPct val="106000"/>
              </a:lnSpc>
              <a:tabLst>
                <a:tab pos="0" algn="l"/>
              </a:tabLst>
            </a:pPr>
            <a:r>
              <a:rPr lang="en-US" sz="1200" b="0" u="none" strike="noStrike">
                <a:solidFill>
                  <a:srgbClr val="16262E"/>
                </a:solidFill>
                <a:effectLst/>
                <a:uFillTx/>
                <a:latin typeface="Calibri"/>
                <a:ea typeface="Calibri"/>
              </a:rPr>
              <a:t>Mata v. Avianca, Inc., No. 1:22-cv-01461 (S.D.N.Y.). Sanciones del juez P. Kevin Castel, 22 de junio de 2023. Cita: 678 F. Supp. 3d 443.</a:t>
            </a:r>
            <a:endParaRPr lang="en-US" sz="1200" b="0" u="none" strike="noStrike">
              <a:solidFill>
                <a:srgbClr val="000000"/>
              </a:solidFill>
              <a:effectLst/>
              <a:uFillTx/>
              <a:latin typeface="Arial"/>
            </a:endParaRPr>
          </a:p>
        </p:txBody>
      </p:sp>
      <p:sp>
        <p:nvSpPr>
          <p:cNvPr id="650" name="Text 5">
            <a:hlinkClick r:id="rId1"/>
          </p:cNvPr>
          <p:cNvSpPr/>
          <p:nvPr/>
        </p:nvSpPr>
        <p:spPr>
          <a:xfrm>
            <a:off x="2944440" y="2140560"/>
            <a:ext cx="8497080" cy="207000"/>
          </a:xfrm>
          <a:prstGeom prst="rect">
            <a:avLst/>
          </a:prstGeom>
          <a:noFill/>
          <a:ln w="0">
            <a:noFill/>
          </a:ln>
        </p:spPr>
        <p:style>
          <a:lnRef idx="0"/>
          <a:fillRef idx="0"/>
          <a:effectRef idx="0"/>
          <a:fontRef idx="minor"/>
        </p:style>
        <p:txBody>
          <a:bodyPr lIns="0" tIns="0" rIns="0" bIns="0" anchor="t">
            <a:noAutofit/>
          </a:bodyPr>
          <a:p>
            <a:pPr defTabSz="914400">
              <a:lnSpc>
                <a:spcPct val="105000"/>
              </a:lnSpc>
              <a:tabLst>
                <a:tab pos="0" algn="l"/>
              </a:tabLst>
            </a:pPr>
            <a:r>
              <a:rPr lang="en-US" sz="850" b="0" u="sng" strike="noStrike">
                <a:solidFill>
                  <a:srgbClr val="2E7D7D"/>
                </a:solidFill>
                <a:effectLst/>
                <a:uFillTx/>
                <a:latin typeface="Courier New"/>
                <a:ea typeface="Courier New"/>
                <a:hlinkClick r:id="rId2"/>
              </a:rPr>
              <a:t>https://www.law.berkeley.edu/wp-content/uploads/archive/2025/12/Mata-v-Avianca-Inc.pdf</a:t>
            </a:r>
            <a:endParaRPr lang="en-US" sz="850" b="0" u="none" strike="noStrike">
              <a:solidFill>
                <a:srgbClr val="000000"/>
              </a:solidFill>
              <a:effectLst/>
              <a:uFillTx/>
              <a:latin typeface="Arial"/>
            </a:endParaRPr>
          </a:p>
        </p:txBody>
      </p:sp>
      <p:sp>
        <p:nvSpPr>
          <p:cNvPr id="651" name="Shape 6"/>
          <p:cNvSpPr/>
          <p:nvPr/>
        </p:nvSpPr>
        <p:spPr>
          <a:xfrm>
            <a:off x="567000" y="2395800"/>
            <a:ext cx="11057400" cy="493560"/>
          </a:xfrm>
          <a:prstGeom prst="roundRect">
            <a:avLst>
              <a:gd name="adj" fmla="val 11111"/>
            </a:avLst>
          </a:prstGeom>
          <a:solidFill>
            <a:srgbClr val="FFFFFF"/>
          </a:solidFill>
          <a:ln w="12700">
            <a:solidFill>
              <a:srgbClr val="EDF1F2"/>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52" name="Text 7"/>
          <p:cNvSpPr/>
          <p:nvPr/>
        </p:nvSpPr>
        <p:spPr>
          <a:xfrm>
            <a:off x="749880" y="2395800"/>
            <a:ext cx="1965600" cy="493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trike="noStrike">
                <a:solidFill>
                  <a:srgbClr val="16262E"/>
                </a:solidFill>
                <a:effectLst/>
                <a:uFillTx/>
                <a:latin typeface="Arial"/>
                <a:ea typeface="Arial"/>
              </a:rPr>
              <a:t>Gobierno de datos.</a:t>
            </a:r>
            <a:endParaRPr lang="en-US" sz="1200" b="0" u="none" strike="noStrike">
              <a:solidFill>
                <a:srgbClr val="000000"/>
              </a:solidFill>
              <a:effectLst/>
              <a:uFillTx/>
              <a:latin typeface="Arial"/>
            </a:endParaRPr>
          </a:p>
          <a:p>
            <a:pPr defTabSz="914400">
              <a:lnSpc>
                <a:spcPct val="100000"/>
              </a:lnSpc>
              <a:tabLst>
                <a:tab pos="0" algn="l"/>
              </a:tabLst>
            </a:pPr>
            <a:r>
              <a:rPr lang="en-US" sz="1200" b="1" u="none" strike="noStrike">
                <a:solidFill>
                  <a:srgbClr val="16262E"/>
                </a:solidFill>
                <a:effectLst/>
                <a:uFillTx/>
                <a:latin typeface="Arial"/>
                <a:ea typeface="Arial"/>
              </a:rPr>
              <a:t>Samsung, 2023</a:t>
            </a:r>
            <a:endParaRPr lang="en-US" sz="1200" b="0" u="none" strike="noStrike">
              <a:solidFill>
                <a:srgbClr val="000000"/>
              </a:solidFill>
              <a:effectLst/>
              <a:uFillTx/>
              <a:latin typeface="Arial"/>
            </a:endParaRPr>
          </a:p>
        </p:txBody>
      </p:sp>
      <p:sp>
        <p:nvSpPr>
          <p:cNvPr id="653" name="Text 8"/>
          <p:cNvSpPr/>
          <p:nvPr/>
        </p:nvSpPr>
        <p:spPr>
          <a:xfrm>
            <a:off x="2944440" y="2487240"/>
            <a:ext cx="8497080" cy="256320"/>
          </a:xfrm>
          <a:prstGeom prst="rect">
            <a:avLst/>
          </a:prstGeom>
          <a:noFill/>
          <a:ln w="0">
            <a:noFill/>
          </a:ln>
        </p:spPr>
        <p:style>
          <a:lnRef idx="0"/>
          <a:fillRef idx="0"/>
          <a:effectRef idx="0"/>
          <a:fontRef idx="minor"/>
        </p:style>
        <p:txBody>
          <a:bodyPr lIns="0" tIns="0" rIns="0" bIns="0" anchor="t">
            <a:noAutofit/>
          </a:bodyPr>
          <a:p>
            <a:pPr defTabSz="914400">
              <a:lnSpc>
                <a:spcPct val="106000"/>
              </a:lnSpc>
              <a:tabLst>
                <a:tab pos="0" algn="l"/>
              </a:tabLst>
            </a:pPr>
            <a:r>
              <a:rPr lang="en-US" sz="1200" b="0" u="none" strike="noStrike">
                <a:solidFill>
                  <a:srgbClr val="16262E"/>
                </a:solidFill>
                <a:effectLst/>
                <a:uFillTx/>
                <a:latin typeface="Calibri"/>
                <a:ea typeface="Calibri"/>
              </a:rPr>
              <a:t>Siladitya Ray, Forbes, 2 de mayo de 2023. La nota original es de Mark Gurman en Bloomberg.</a:t>
            </a:r>
            <a:endParaRPr lang="en-US" sz="1200" b="0" u="none" strike="noStrike">
              <a:solidFill>
                <a:srgbClr val="000000"/>
              </a:solidFill>
              <a:effectLst/>
              <a:uFillTx/>
              <a:latin typeface="Arial"/>
            </a:endParaRPr>
          </a:p>
        </p:txBody>
      </p:sp>
      <p:sp>
        <p:nvSpPr>
          <p:cNvPr id="654" name="Text 9">
            <a:hlinkClick r:id="rId3"/>
          </p:cNvPr>
          <p:cNvSpPr/>
          <p:nvPr/>
        </p:nvSpPr>
        <p:spPr>
          <a:xfrm>
            <a:off x="2944440" y="2725560"/>
            <a:ext cx="8497080" cy="207000"/>
          </a:xfrm>
          <a:prstGeom prst="rect">
            <a:avLst/>
          </a:prstGeom>
          <a:noFill/>
          <a:ln w="0">
            <a:noFill/>
          </a:ln>
        </p:spPr>
        <p:style>
          <a:lnRef idx="0"/>
          <a:fillRef idx="0"/>
          <a:effectRef idx="0"/>
          <a:fontRef idx="minor"/>
        </p:style>
        <p:txBody>
          <a:bodyPr lIns="0" tIns="0" rIns="0" bIns="0" anchor="t">
            <a:noAutofit/>
          </a:bodyPr>
          <a:p>
            <a:pPr defTabSz="914400">
              <a:lnSpc>
                <a:spcPct val="105000"/>
              </a:lnSpc>
              <a:tabLst>
                <a:tab pos="0" algn="l"/>
              </a:tabLst>
            </a:pPr>
            <a:r>
              <a:rPr lang="en-US" sz="850" b="0" u="sng" strike="noStrike">
                <a:solidFill>
                  <a:srgbClr val="2E7D7D"/>
                </a:solidFill>
                <a:effectLst/>
                <a:uFillTx/>
                <a:latin typeface="Courier New"/>
                <a:ea typeface="Courier New"/>
                <a:hlinkClick r:id="rId4"/>
              </a:rPr>
              <a:t>https://www.forbes.com/sites/siladityaray/2023/05/02/samsung-bans-chatgpt-and-other-chatbots-for-employees-after-sensitive-code-leak/</a:t>
            </a:r>
            <a:endParaRPr lang="en-US" sz="850" b="0" u="none" strike="noStrike">
              <a:solidFill>
                <a:srgbClr val="000000"/>
              </a:solidFill>
              <a:effectLst/>
              <a:uFillTx/>
              <a:latin typeface="Arial"/>
            </a:endParaRPr>
          </a:p>
        </p:txBody>
      </p:sp>
      <p:sp>
        <p:nvSpPr>
          <p:cNvPr id="655" name="Shape 10"/>
          <p:cNvSpPr/>
          <p:nvPr/>
        </p:nvSpPr>
        <p:spPr>
          <a:xfrm>
            <a:off x="567000" y="2980800"/>
            <a:ext cx="11057400" cy="493560"/>
          </a:xfrm>
          <a:prstGeom prst="roundRect">
            <a:avLst>
              <a:gd name="adj" fmla="val 11111"/>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56" name="Text 11"/>
          <p:cNvSpPr/>
          <p:nvPr/>
        </p:nvSpPr>
        <p:spPr>
          <a:xfrm>
            <a:off x="749880" y="2980800"/>
            <a:ext cx="1965600" cy="493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trike="noStrike">
                <a:solidFill>
                  <a:srgbClr val="16262E"/>
                </a:solidFill>
                <a:effectLst/>
                <a:uFillTx/>
                <a:latin typeface="Arial"/>
                <a:ea typeface="Arial"/>
              </a:rPr>
              <a:t>Sesgos.</a:t>
            </a:r>
            <a:endParaRPr lang="en-US" sz="1200" b="0" u="none" strike="noStrike">
              <a:solidFill>
                <a:srgbClr val="000000"/>
              </a:solidFill>
              <a:effectLst/>
              <a:uFillTx/>
              <a:latin typeface="Arial"/>
            </a:endParaRPr>
          </a:p>
          <a:p>
            <a:pPr defTabSz="914400">
              <a:lnSpc>
                <a:spcPct val="100000"/>
              </a:lnSpc>
              <a:tabLst>
                <a:tab pos="0" algn="l"/>
              </a:tabLst>
            </a:pPr>
            <a:r>
              <a:rPr lang="en-US" sz="1200" b="1" u="none" strike="noStrike">
                <a:solidFill>
                  <a:srgbClr val="16262E"/>
                </a:solidFill>
                <a:effectLst/>
                <a:uFillTx/>
                <a:latin typeface="Arial"/>
                <a:ea typeface="Arial"/>
              </a:rPr>
              <a:t>Países Bajos</a:t>
            </a:r>
            <a:endParaRPr lang="en-US" sz="1200" b="0" u="none" strike="noStrike">
              <a:solidFill>
                <a:srgbClr val="000000"/>
              </a:solidFill>
              <a:effectLst/>
              <a:uFillTx/>
              <a:latin typeface="Arial"/>
            </a:endParaRPr>
          </a:p>
        </p:txBody>
      </p:sp>
      <p:sp>
        <p:nvSpPr>
          <p:cNvPr id="657" name="Text 12"/>
          <p:cNvSpPr/>
          <p:nvPr/>
        </p:nvSpPr>
        <p:spPr>
          <a:xfrm>
            <a:off x="2944440" y="3072240"/>
            <a:ext cx="8497080" cy="256320"/>
          </a:xfrm>
          <a:prstGeom prst="rect">
            <a:avLst/>
          </a:prstGeom>
          <a:noFill/>
          <a:ln w="0">
            <a:noFill/>
          </a:ln>
        </p:spPr>
        <p:style>
          <a:lnRef idx="0"/>
          <a:fillRef idx="0"/>
          <a:effectRef idx="0"/>
          <a:fontRef idx="minor"/>
        </p:style>
        <p:txBody>
          <a:bodyPr lIns="0" tIns="0" rIns="0" bIns="0" anchor="t">
            <a:noAutofit/>
          </a:bodyPr>
          <a:p>
            <a:pPr defTabSz="914400">
              <a:lnSpc>
                <a:spcPct val="106000"/>
              </a:lnSpc>
              <a:tabLst>
                <a:tab pos="0" algn="l"/>
              </a:tabLst>
            </a:pPr>
            <a:r>
              <a:rPr lang="en-US" sz="1200" b="0" u="none" strike="noStrike">
                <a:solidFill>
                  <a:srgbClr val="16262E"/>
                </a:solidFill>
                <a:effectLst/>
                <a:uFillTx/>
                <a:latin typeface="Calibri"/>
                <a:ea typeface="Calibri"/>
              </a:rPr>
              <a:t>Amnistía Internacional, "Xenophobic Machines", octubre de 2021. Un sistema de riesgo del subsidio de guardería usaba la nacionalidad como indicador; el gabinete renunció en enero de 2021.</a:t>
            </a:r>
            <a:endParaRPr lang="en-US" sz="1200" b="0" u="none" strike="noStrike">
              <a:solidFill>
                <a:srgbClr val="000000"/>
              </a:solidFill>
              <a:effectLst/>
              <a:uFillTx/>
              <a:latin typeface="Arial"/>
            </a:endParaRPr>
          </a:p>
        </p:txBody>
      </p:sp>
      <p:sp>
        <p:nvSpPr>
          <p:cNvPr id="658" name="Text 13">
            <a:hlinkClick r:id="rId5"/>
          </p:cNvPr>
          <p:cNvSpPr/>
          <p:nvPr/>
        </p:nvSpPr>
        <p:spPr>
          <a:xfrm>
            <a:off x="2944440" y="3310920"/>
            <a:ext cx="8497080" cy="207000"/>
          </a:xfrm>
          <a:prstGeom prst="rect">
            <a:avLst/>
          </a:prstGeom>
          <a:noFill/>
          <a:ln w="0">
            <a:noFill/>
          </a:ln>
        </p:spPr>
        <p:style>
          <a:lnRef idx="0"/>
          <a:fillRef idx="0"/>
          <a:effectRef idx="0"/>
          <a:fontRef idx="minor"/>
        </p:style>
        <p:txBody>
          <a:bodyPr lIns="0" tIns="0" rIns="0" bIns="0" anchor="t">
            <a:noAutofit/>
          </a:bodyPr>
          <a:p>
            <a:pPr defTabSz="914400">
              <a:lnSpc>
                <a:spcPct val="105000"/>
              </a:lnSpc>
              <a:tabLst>
                <a:tab pos="0" algn="l"/>
              </a:tabLst>
            </a:pPr>
            <a:r>
              <a:rPr lang="en-US" sz="850" b="0" u="sng" strike="noStrike">
                <a:solidFill>
                  <a:srgbClr val="2E7D7D"/>
                </a:solidFill>
                <a:effectLst/>
                <a:uFillTx/>
                <a:latin typeface="Courier New"/>
                <a:ea typeface="Courier New"/>
                <a:hlinkClick r:id="rId6"/>
              </a:rPr>
              <a:t>https://www.amnesty.org/en/latest/news/2021/10/xenophobic-machines-dutch-child-benefit-scandal/</a:t>
            </a:r>
            <a:endParaRPr lang="en-US" sz="850" b="0" u="none" strike="noStrike">
              <a:solidFill>
                <a:srgbClr val="000000"/>
              </a:solidFill>
              <a:effectLst/>
              <a:uFillTx/>
              <a:latin typeface="Arial"/>
            </a:endParaRPr>
          </a:p>
        </p:txBody>
      </p:sp>
      <p:sp>
        <p:nvSpPr>
          <p:cNvPr id="659" name="Shape 14"/>
          <p:cNvSpPr/>
          <p:nvPr/>
        </p:nvSpPr>
        <p:spPr>
          <a:xfrm>
            <a:off x="567000" y="3566160"/>
            <a:ext cx="11057400" cy="493560"/>
          </a:xfrm>
          <a:prstGeom prst="roundRect">
            <a:avLst>
              <a:gd name="adj" fmla="val 11111"/>
            </a:avLst>
          </a:prstGeom>
          <a:solidFill>
            <a:srgbClr val="FFFFFF"/>
          </a:solidFill>
          <a:ln w="12700">
            <a:solidFill>
              <a:srgbClr val="EDF1F2"/>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60" name="Text 15"/>
          <p:cNvSpPr/>
          <p:nvPr/>
        </p:nvSpPr>
        <p:spPr>
          <a:xfrm>
            <a:off x="749880" y="3566160"/>
            <a:ext cx="1965600" cy="493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trike="noStrike">
                <a:solidFill>
                  <a:srgbClr val="16262E"/>
                </a:solidFill>
                <a:effectLst/>
                <a:uFillTx/>
                <a:latin typeface="Arial"/>
                <a:ea typeface="Arial"/>
              </a:rPr>
              <a:t>Representación.</a:t>
            </a:r>
            <a:endParaRPr lang="en-US" sz="1200" b="0" u="none" strike="noStrike">
              <a:solidFill>
                <a:srgbClr val="000000"/>
              </a:solidFill>
              <a:effectLst/>
              <a:uFillTx/>
              <a:latin typeface="Arial"/>
            </a:endParaRPr>
          </a:p>
          <a:p>
            <a:pPr defTabSz="914400">
              <a:lnSpc>
                <a:spcPct val="100000"/>
              </a:lnSpc>
              <a:tabLst>
                <a:tab pos="0" algn="l"/>
              </a:tabLst>
            </a:pPr>
            <a:r>
              <a:rPr lang="en-US" sz="1200" b="1" u="none" strike="noStrike">
                <a:solidFill>
                  <a:srgbClr val="16262E"/>
                </a:solidFill>
                <a:effectLst/>
                <a:uFillTx/>
                <a:latin typeface="Arial"/>
                <a:ea typeface="Arial"/>
              </a:rPr>
              <a:t>Amazon, 2018</a:t>
            </a:r>
            <a:endParaRPr lang="en-US" sz="1200" b="0" u="none" strike="noStrike">
              <a:solidFill>
                <a:srgbClr val="000000"/>
              </a:solidFill>
              <a:effectLst/>
              <a:uFillTx/>
              <a:latin typeface="Arial"/>
            </a:endParaRPr>
          </a:p>
        </p:txBody>
      </p:sp>
      <p:sp>
        <p:nvSpPr>
          <p:cNvPr id="661" name="Text 16"/>
          <p:cNvSpPr/>
          <p:nvPr/>
        </p:nvSpPr>
        <p:spPr>
          <a:xfrm>
            <a:off x="2944440" y="3657600"/>
            <a:ext cx="8497080" cy="256320"/>
          </a:xfrm>
          <a:prstGeom prst="rect">
            <a:avLst/>
          </a:prstGeom>
          <a:noFill/>
          <a:ln w="0">
            <a:noFill/>
          </a:ln>
        </p:spPr>
        <p:style>
          <a:lnRef idx="0"/>
          <a:fillRef idx="0"/>
          <a:effectRef idx="0"/>
          <a:fontRef idx="minor"/>
        </p:style>
        <p:txBody>
          <a:bodyPr lIns="0" tIns="0" rIns="0" bIns="0" anchor="t">
            <a:noAutofit/>
          </a:bodyPr>
          <a:p>
            <a:pPr defTabSz="914400">
              <a:lnSpc>
                <a:spcPct val="106000"/>
              </a:lnSpc>
              <a:tabLst>
                <a:tab pos="0" algn="l"/>
              </a:tabLst>
            </a:pPr>
            <a:r>
              <a:rPr lang="en-US" sz="1200" b="0" u="none" strike="noStrike">
                <a:solidFill>
                  <a:srgbClr val="16262E"/>
                </a:solidFill>
                <a:effectLst/>
                <a:uFillTx/>
                <a:latin typeface="Calibri"/>
                <a:ea typeface="Calibri"/>
              </a:rPr>
              <a:t>Jeffrey Dastin, Reuters, 10 de octubre de 2018.</a:t>
            </a:r>
            <a:endParaRPr lang="en-US" sz="1200" b="0" u="none" strike="noStrike">
              <a:solidFill>
                <a:srgbClr val="000000"/>
              </a:solidFill>
              <a:effectLst/>
              <a:uFillTx/>
              <a:latin typeface="Arial"/>
            </a:endParaRPr>
          </a:p>
        </p:txBody>
      </p:sp>
      <p:sp>
        <p:nvSpPr>
          <p:cNvPr id="662" name="Text 17">
            <a:hlinkClick r:id="rId7"/>
          </p:cNvPr>
          <p:cNvSpPr/>
          <p:nvPr/>
        </p:nvSpPr>
        <p:spPr>
          <a:xfrm>
            <a:off x="2944440" y="3895920"/>
            <a:ext cx="8497080" cy="207000"/>
          </a:xfrm>
          <a:prstGeom prst="rect">
            <a:avLst/>
          </a:prstGeom>
          <a:noFill/>
          <a:ln w="0">
            <a:noFill/>
          </a:ln>
        </p:spPr>
        <p:style>
          <a:lnRef idx="0"/>
          <a:fillRef idx="0"/>
          <a:effectRef idx="0"/>
          <a:fontRef idx="minor"/>
        </p:style>
        <p:txBody>
          <a:bodyPr lIns="0" tIns="0" rIns="0" bIns="0" anchor="t">
            <a:noAutofit/>
          </a:bodyPr>
          <a:p>
            <a:pPr defTabSz="914400">
              <a:lnSpc>
                <a:spcPct val="105000"/>
              </a:lnSpc>
              <a:tabLst>
                <a:tab pos="0" algn="l"/>
              </a:tabLst>
            </a:pPr>
            <a:r>
              <a:rPr lang="en-US" sz="850" b="0" u="sng" strike="noStrike">
                <a:solidFill>
                  <a:srgbClr val="2E7D7D"/>
                </a:solidFill>
                <a:effectLst/>
                <a:uFillTx/>
                <a:latin typeface="Courier New"/>
                <a:ea typeface="Courier New"/>
                <a:hlinkClick r:id="rId8"/>
              </a:rPr>
              <a:t>https://www.reuters.com/article/us-amazon-com-jobs-automation-insight/amazon-scraps-secret-ai-recruiting-tool-that-showed-bias-against-women-idUSKCN1MK08G</a:t>
            </a:r>
            <a:endParaRPr lang="en-US" sz="850" b="0" u="none" strike="noStrike">
              <a:solidFill>
                <a:srgbClr val="000000"/>
              </a:solidFill>
              <a:effectLst/>
              <a:uFillTx/>
              <a:latin typeface="Arial"/>
            </a:endParaRPr>
          </a:p>
        </p:txBody>
      </p:sp>
      <p:sp>
        <p:nvSpPr>
          <p:cNvPr id="663" name="Shape 18"/>
          <p:cNvSpPr/>
          <p:nvPr/>
        </p:nvSpPr>
        <p:spPr>
          <a:xfrm>
            <a:off x="567000" y="4151520"/>
            <a:ext cx="11057400" cy="493560"/>
          </a:xfrm>
          <a:prstGeom prst="roundRect">
            <a:avLst>
              <a:gd name="adj" fmla="val 11111"/>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64" name="Text 19"/>
          <p:cNvSpPr/>
          <p:nvPr/>
        </p:nvSpPr>
        <p:spPr>
          <a:xfrm>
            <a:off x="749880" y="4151520"/>
            <a:ext cx="1965600" cy="493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trike="noStrike">
                <a:solidFill>
                  <a:srgbClr val="16262E"/>
                </a:solidFill>
                <a:effectLst/>
                <a:uFillTx/>
                <a:latin typeface="Arial"/>
                <a:ea typeface="Arial"/>
              </a:rPr>
              <a:t>Mayoría.</a:t>
            </a:r>
            <a:endParaRPr lang="en-US" sz="1200" b="0" u="none" strike="noStrike">
              <a:solidFill>
                <a:srgbClr val="000000"/>
              </a:solidFill>
              <a:effectLst/>
              <a:uFillTx/>
              <a:latin typeface="Arial"/>
            </a:endParaRPr>
          </a:p>
          <a:p>
            <a:pPr defTabSz="914400">
              <a:lnSpc>
                <a:spcPct val="100000"/>
              </a:lnSpc>
              <a:tabLst>
                <a:tab pos="0" algn="l"/>
              </a:tabLst>
            </a:pPr>
            <a:r>
              <a:rPr lang="en-US" sz="1200" b="1" u="none" strike="noStrike">
                <a:solidFill>
                  <a:srgbClr val="16262E"/>
                </a:solidFill>
                <a:effectLst/>
                <a:uFillTx/>
                <a:latin typeface="Arial"/>
                <a:ea typeface="Arial"/>
              </a:rPr>
              <a:t>Hospitales, 2019</a:t>
            </a:r>
            <a:endParaRPr lang="en-US" sz="1200" b="0" u="none" strike="noStrike">
              <a:solidFill>
                <a:srgbClr val="000000"/>
              </a:solidFill>
              <a:effectLst/>
              <a:uFillTx/>
              <a:latin typeface="Arial"/>
            </a:endParaRPr>
          </a:p>
        </p:txBody>
      </p:sp>
      <p:sp>
        <p:nvSpPr>
          <p:cNvPr id="665" name="Text 20"/>
          <p:cNvSpPr/>
          <p:nvPr/>
        </p:nvSpPr>
        <p:spPr>
          <a:xfrm>
            <a:off x="2944440" y="4242960"/>
            <a:ext cx="8497080" cy="256320"/>
          </a:xfrm>
          <a:prstGeom prst="rect">
            <a:avLst/>
          </a:prstGeom>
          <a:noFill/>
          <a:ln w="0">
            <a:noFill/>
          </a:ln>
        </p:spPr>
        <p:style>
          <a:lnRef idx="0"/>
          <a:fillRef idx="0"/>
          <a:effectRef idx="0"/>
          <a:fontRef idx="minor"/>
        </p:style>
        <p:txBody>
          <a:bodyPr lIns="0" tIns="0" rIns="0" bIns="0" anchor="t">
            <a:noAutofit/>
          </a:bodyPr>
          <a:p>
            <a:pPr defTabSz="914400">
              <a:lnSpc>
                <a:spcPct val="106000"/>
              </a:lnSpc>
              <a:tabLst>
                <a:tab pos="0" algn="l"/>
              </a:tabLst>
            </a:pPr>
            <a:r>
              <a:rPr lang="en-US" sz="1200" b="0" u="none" strike="noStrike">
                <a:solidFill>
                  <a:srgbClr val="16262E"/>
                </a:solidFill>
                <a:effectLst/>
                <a:uFillTx/>
                <a:latin typeface="Calibri"/>
                <a:ea typeface="Calibri"/>
              </a:rPr>
              <a:t>Obermeyer, Powers, Vogeli y Mullainathan, Science 366(6464), páginas 447 a 453, 25 de octubre de 2019.</a:t>
            </a:r>
            <a:endParaRPr lang="en-US" sz="1200" b="0" u="none" strike="noStrike">
              <a:solidFill>
                <a:srgbClr val="000000"/>
              </a:solidFill>
              <a:effectLst/>
              <a:uFillTx/>
              <a:latin typeface="Arial"/>
            </a:endParaRPr>
          </a:p>
        </p:txBody>
      </p:sp>
      <p:sp>
        <p:nvSpPr>
          <p:cNvPr id="666" name="Text 21">
            <a:hlinkClick r:id="rId9"/>
          </p:cNvPr>
          <p:cNvSpPr/>
          <p:nvPr/>
        </p:nvSpPr>
        <p:spPr>
          <a:xfrm>
            <a:off x="2944440" y="4481280"/>
            <a:ext cx="8497080" cy="207000"/>
          </a:xfrm>
          <a:prstGeom prst="rect">
            <a:avLst/>
          </a:prstGeom>
          <a:noFill/>
          <a:ln w="0">
            <a:noFill/>
          </a:ln>
        </p:spPr>
        <p:style>
          <a:lnRef idx="0"/>
          <a:fillRef idx="0"/>
          <a:effectRef idx="0"/>
          <a:fontRef idx="minor"/>
        </p:style>
        <p:txBody>
          <a:bodyPr lIns="0" tIns="0" rIns="0" bIns="0" anchor="t">
            <a:noAutofit/>
          </a:bodyPr>
          <a:p>
            <a:pPr defTabSz="914400">
              <a:lnSpc>
                <a:spcPct val="105000"/>
              </a:lnSpc>
              <a:tabLst>
                <a:tab pos="0" algn="l"/>
              </a:tabLst>
            </a:pPr>
            <a:r>
              <a:rPr lang="en-US" sz="850" b="0" u="sng" strike="noStrike">
                <a:solidFill>
                  <a:srgbClr val="2E7D7D"/>
                </a:solidFill>
                <a:effectLst/>
                <a:uFillTx/>
                <a:latin typeface="Courier New"/>
                <a:ea typeface="Courier New"/>
                <a:hlinkClick r:id="rId10"/>
              </a:rPr>
              <a:t>https://www.science.org/doi/10.1126/science.aax2342</a:t>
            </a:r>
            <a:endParaRPr lang="en-US" sz="850" b="0" u="none" strike="noStrike">
              <a:solidFill>
                <a:srgbClr val="000000"/>
              </a:solidFill>
              <a:effectLst/>
              <a:uFillTx/>
              <a:latin typeface="Arial"/>
            </a:endParaRPr>
          </a:p>
        </p:txBody>
      </p:sp>
      <p:sp>
        <p:nvSpPr>
          <p:cNvPr id="667" name="Shape 22"/>
          <p:cNvSpPr/>
          <p:nvPr/>
        </p:nvSpPr>
        <p:spPr>
          <a:xfrm>
            <a:off x="567000" y="4736520"/>
            <a:ext cx="11057400" cy="493560"/>
          </a:xfrm>
          <a:prstGeom prst="roundRect">
            <a:avLst>
              <a:gd name="adj" fmla="val 11111"/>
            </a:avLst>
          </a:prstGeom>
          <a:solidFill>
            <a:srgbClr val="FFFFFF"/>
          </a:solidFill>
          <a:ln w="12700">
            <a:solidFill>
              <a:srgbClr val="EDF1F2"/>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68" name="Text 23"/>
          <p:cNvSpPr/>
          <p:nvPr/>
        </p:nvSpPr>
        <p:spPr>
          <a:xfrm>
            <a:off x="749880" y="4736520"/>
            <a:ext cx="1965600" cy="493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trike="noStrike">
                <a:solidFill>
                  <a:srgbClr val="16262E"/>
                </a:solidFill>
                <a:effectLst/>
                <a:uFillTx/>
                <a:latin typeface="Arial"/>
                <a:ea typeface="Arial"/>
              </a:rPr>
              <a:t>Complacencia.</a:t>
            </a:r>
            <a:endParaRPr lang="en-US" sz="1200" b="0" u="none" strike="noStrike">
              <a:solidFill>
                <a:srgbClr val="000000"/>
              </a:solidFill>
              <a:effectLst/>
              <a:uFillTx/>
              <a:latin typeface="Arial"/>
            </a:endParaRPr>
          </a:p>
          <a:p>
            <a:pPr defTabSz="914400">
              <a:lnSpc>
                <a:spcPct val="100000"/>
              </a:lnSpc>
              <a:tabLst>
                <a:tab pos="0" algn="l"/>
              </a:tabLst>
            </a:pPr>
            <a:r>
              <a:rPr lang="en-US" sz="1200" b="1" u="none" strike="noStrike">
                <a:solidFill>
                  <a:srgbClr val="16262E"/>
                </a:solidFill>
                <a:effectLst/>
                <a:uFillTx/>
                <a:latin typeface="Arial"/>
                <a:ea typeface="Arial"/>
              </a:rPr>
              <a:t>OpenAI, 2025</a:t>
            </a:r>
            <a:endParaRPr lang="en-US" sz="1200" b="0" u="none" strike="noStrike">
              <a:solidFill>
                <a:srgbClr val="000000"/>
              </a:solidFill>
              <a:effectLst/>
              <a:uFillTx/>
              <a:latin typeface="Arial"/>
            </a:endParaRPr>
          </a:p>
        </p:txBody>
      </p:sp>
      <p:sp>
        <p:nvSpPr>
          <p:cNvPr id="669" name="Text 24"/>
          <p:cNvSpPr/>
          <p:nvPr/>
        </p:nvSpPr>
        <p:spPr>
          <a:xfrm>
            <a:off x="2944440" y="4827960"/>
            <a:ext cx="8497080" cy="256320"/>
          </a:xfrm>
          <a:prstGeom prst="rect">
            <a:avLst/>
          </a:prstGeom>
          <a:noFill/>
          <a:ln w="0">
            <a:noFill/>
          </a:ln>
        </p:spPr>
        <p:style>
          <a:lnRef idx="0"/>
          <a:fillRef idx="0"/>
          <a:effectRef idx="0"/>
          <a:fontRef idx="minor"/>
        </p:style>
        <p:txBody>
          <a:bodyPr lIns="0" tIns="0" rIns="0" bIns="0" anchor="t">
            <a:noAutofit/>
          </a:bodyPr>
          <a:p>
            <a:pPr defTabSz="914400">
              <a:lnSpc>
                <a:spcPct val="106000"/>
              </a:lnSpc>
              <a:tabLst>
                <a:tab pos="0" algn="l"/>
              </a:tabLst>
            </a:pPr>
            <a:r>
              <a:rPr lang="en-US" sz="1200" b="0" u="none" strike="noStrike">
                <a:solidFill>
                  <a:srgbClr val="16262E"/>
                </a:solidFill>
                <a:effectLst/>
                <a:uFillTx/>
                <a:latin typeface="Calibri"/>
                <a:ea typeface="Calibri"/>
              </a:rPr>
              <a:t>Análisis publicados por la propia empresa el 29 de abril y el 2 de mayo de 2025.</a:t>
            </a:r>
            <a:endParaRPr lang="en-US" sz="1200" b="0" u="none" strike="noStrike">
              <a:solidFill>
                <a:srgbClr val="000000"/>
              </a:solidFill>
              <a:effectLst/>
              <a:uFillTx/>
              <a:latin typeface="Arial"/>
            </a:endParaRPr>
          </a:p>
        </p:txBody>
      </p:sp>
      <p:sp>
        <p:nvSpPr>
          <p:cNvPr id="670" name="Text 25">
            <a:hlinkClick r:id="rId11"/>
          </p:cNvPr>
          <p:cNvSpPr/>
          <p:nvPr/>
        </p:nvSpPr>
        <p:spPr>
          <a:xfrm>
            <a:off x="2944440" y="5066640"/>
            <a:ext cx="8497080" cy="207000"/>
          </a:xfrm>
          <a:prstGeom prst="rect">
            <a:avLst/>
          </a:prstGeom>
          <a:noFill/>
          <a:ln w="0">
            <a:noFill/>
          </a:ln>
        </p:spPr>
        <p:style>
          <a:lnRef idx="0"/>
          <a:fillRef idx="0"/>
          <a:effectRef idx="0"/>
          <a:fontRef idx="minor"/>
        </p:style>
        <p:txBody>
          <a:bodyPr lIns="0" tIns="0" rIns="0" bIns="0" anchor="t">
            <a:noAutofit/>
          </a:bodyPr>
          <a:p>
            <a:pPr defTabSz="914400">
              <a:lnSpc>
                <a:spcPct val="105000"/>
              </a:lnSpc>
              <a:tabLst>
                <a:tab pos="0" algn="l"/>
              </a:tabLst>
            </a:pPr>
            <a:r>
              <a:rPr lang="en-US" sz="850" b="0" u="sng" strike="noStrike">
                <a:solidFill>
                  <a:srgbClr val="2E7D7D"/>
                </a:solidFill>
                <a:effectLst/>
                <a:uFillTx/>
                <a:latin typeface="Courier New"/>
                <a:ea typeface="Courier New"/>
                <a:hlinkClick r:id="rId12"/>
              </a:rPr>
              <a:t>https://openai.com/index/expanding-on-sycophancy/</a:t>
            </a:r>
            <a:endParaRPr lang="en-US" sz="850" b="0" u="none" strike="noStrike">
              <a:solidFill>
                <a:srgbClr val="000000"/>
              </a:solidFill>
              <a:effectLst/>
              <a:uFillTx/>
              <a:latin typeface="Arial"/>
            </a:endParaRPr>
          </a:p>
        </p:txBody>
      </p:sp>
      <p:sp>
        <p:nvSpPr>
          <p:cNvPr id="671" name="Shape 26"/>
          <p:cNvSpPr/>
          <p:nvPr/>
        </p:nvSpPr>
        <p:spPr>
          <a:xfrm>
            <a:off x="567000" y="5321880"/>
            <a:ext cx="11057400" cy="493560"/>
          </a:xfrm>
          <a:prstGeom prst="roundRect">
            <a:avLst>
              <a:gd name="adj" fmla="val 11111"/>
            </a:avLst>
          </a:prstGeom>
          <a:solidFill>
            <a:srgbClr val="F2F5F6"/>
          </a:solidFill>
          <a:ln w="12700">
            <a:solidFill>
              <a:srgbClr val="F2F5F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72" name="Text 27"/>
          <p:cNvSpPr/>
          <p:nvPr/>
        </p:nvSpPr>
        <p:spPr>
          <a:xfrm>
            <a:off x="749880" y="5321880"/>
            <a:ext cx="1965600" cy="493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trike="noStrike">
                <a:solidFill>
                  <a:srgbClr val="16262E"/>
                </a:solidFill>
                <a:effectLst/>
                <a:uFillTx/>
                <a:latin typeface="Arial"/>
                <a:ea typeface="Arial"/>
              </a:rPr>
              <a:t>Lingüístico.</a:t>
            </a:r>
            <a:endParaRPr lang="en-US" sz="1200" b="0" u="none" strike="noStrike">
              <a:solidFill>
                <a:srgbClr val="000000"/>
              </a:solidFill>
              <a:effectLst/>
              <a:uFillTx/>
              <a:latin typeface="Arial"/>
            </a:endParaRPr>
          </a:p>
          <a:p>
            <a:pPr defTabSz="914400">
              <a:lnSpc>
                <a:spcPct val="100000"/>
              </a:lnSpc>
              <a:tabLst>
                <a:tab pos="0" algn="l"/>
              </a:tabLst>
            </a:pPr>
            <a:r>
              <a:rPr lang="en-US" sz="1200" b="1" u="none" strike="noStrike">
                <a:solidFill>
                  <a:srgbClr val="16262E"/>
                </a:solidFill>
                <a:effectLst/>
                <a:uFillTx/>
                <a:latin typeface="Arial"/>
                <a:ea typeface="Arial"/>
              </a:rPr>
              <a:t>Israel, 2017</a:t>
            </a:r>
            <a:endParaRPr lang="en-US" sz="1200" b="0" u="none" strike="noStrike">
              <a:solidFill>
                <a:srgbClr val="000000"/>
              </a:solidFill>
              <a:effectLst/>
              <a:uFillTx/>
              <a:latin typeface="Arial"/>
            </a:endParaRPr>
          </a:p>
        </p:txBody>
      </p:sp>
      <p:sp>
        <p:nvSpPr>
          <p:cNvPr id="673" name="Text 28"/>
          <p:cNvSpPr/>
          <p:nvPr/>
        </p:nvSpPr>
        <p:spPr>
          <a:xfrm>
            <a:off x="2944440" y="5413320"/>
            <a:ext cx="8497080" cy="256320"/>
          </a:xfrm>
          <a:prstGeom prst="rect">
            <a:avLst/>
          </a:prstGeom>
          <a:noFill/>
          <a:ln w="0">
            <a:noFill/>
          </a:ln>
        </p:spPr>
        <p:style>
          <a:lnRef idx="0"/>
          <a:fillRef idx="0"/>
          <a:effectRef idx="0"/>
          <a:fontRef idx="minor"/>
        </p:style>
        <p:txBody>
          <a:bodyPr lIns="0" tIns="0" rIns="0" bIns="0" anchor="t">
            <a:noAutofit/>
          </a:bodyPr>
          <a:p>
            <a:pPr defTabSz="914400">
              <a:lnSpc>
                <a:spcPct val="106000"/>
              </a:lnSpc>
              <a:tabLst>
                <a:tab pos="0" algn="l"/>
              </a:tabLst>
            </a:pPr>
            <a:r>
              <a:rPr lang="en-US" sz="1200" b="0" u="none" strike="noStrike">
                <a:solidFill>
                  <a:srgbClr val="16262E"/>
                </a:solidFill>
                <a:effectLst/>
                <a:uFillTx/>
                <a:latin typeface="Calibri"/>
                <a:ea typeface="Calibri"/>
              </a:rPr>
              <a:t>Haaretz, 22 de octubre de 2017. La cifra de reconocimiento de voz es de Koenecke y coautores, PNAS 117(14), 2020.</a:t>
            </a:r>
            <a:endParaRPr lang="en-US" sz="1200" b="0" u="none" strike="noStrike">
              <a:solidFill>
                <a:srgbClr val="000000"/>
              </a:solidFill>
              <a:effectLst/>
              <a:uFillTx/>
              <a:latin typeface="Arial"/>
            </a:endParaRPr>
          </a:p>
        </p:txBody>
      </p:sp>
      <p:sp>
        <p:nvSpPr>
          <p:cNvPr id="674" name="Text 29">
            <a:hlinkClick r:id="rId13"/>
          </p:cNvPr>
          <p:cNvSpPr/>
          <p:nvPr/>
        </p:nvSpPr>
        <p:spPr>
          <a:xfrm>
            <a:off x="2944440" y="5651640"/>
            <a:ext cx="8497080" cy="207000"/>
          </a:xfrm>
          <a:prstGeom prst="rect">
            <a:avLst/>
          </a:prstGeom>
          <a:noFill/>
          <a:ln w="0">
            <a:noFill/>
          </a:ln>
        </p:spPr>
        <p:style>
          <a:lnRef idx="0"/>
          <a:fillRef idx="0"/>
          <a:effectRef idx="0"/>
          <a:fontRef idx="minor"/>
        </p:style>
        <p:txBody>
          <a:bodyPr lIns="0" tIns="0" rIns="0" bIns="0" anchor="t">
            <a:noAutofit/>
          </a:bodyPr>
          <a:p>
            <a:pPr defTabSz="914400">
              <a:lnSpc>
                <a:spcPct val="105000"/>
              </a:lnSpc>
              <a:tabLst>
                <a:tab pos="0" algn="l"/>
              </a:tabLst>
            </a:pPr>
            <a:r>
              <a:rPr lang="en-US" sz="850" b="0" u="sng" strike="noStrike">
                <a:solidFill>
                  <a:srgbClr val="2E7D7D"/>
                </a:solidFill>
                <a:effectLst/>
                <a:uFillTx/>
                <a:latin typeface="Courier New"/>
                <a:ea typeface="Courier New"/>
                <a:hlinkClick r:id="rId14"/>
              </a:rPr>
              <a:t>https://www.pnas.org/doi/10.1073/pnas.1915768117</a:t>
            </a:r>
            <a:endParaRPr lang="en-US" sz="850" b="0" u="none" strike="noStrike">
              <a:solidFill>
                <a:srgbClr val="000000"/>
              </a:solidFill>
              <a:effectLst/>
              <a:uFillTx/>
              <a:latin typeface="Arial"/>
            </a:endParaRPr>
          </a:p>
        </p:txBody>
      </p:sp>
      <p:sp>
        <p:nvSpPr>
          <p:cNvPr id="675" name="Shape 30"/>
          <p:cNvSpPr/>
          <p:nvPr/>
        </p:nvSpPr>
        <p:spPr>
          <a:xfrm>
            <a:off x="567000" y="5980320"/>
            <a:ext cx="11057400" cy="475200"/>
          </a:xfrm>
          <a:prstGeom prst="roundRect">
            <a:avLst>
              <a:gd name="adj" fmla="val 11538"/>
            </a:avLst>
          </a:prstGeom>
          <a:solidFill>
            <a:srgbClr val="F7E4D8"/>
          </a:solidFill>
          <a:ln w="12700">
            <a:solidFill>
              <a:srgbClr val="F7E4D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76" name="Text 31"/>
          <p:cNvSpPr/>
          <p:nvPr/>
        </p:nvSpPr>
        <p:spPr>
          <a:xfrm>
            <a:off x="786240" y="5980320"/>
            <a:ext cx="10618560" cy="4752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50" b="1" u="none" strike="noStrike">
                <a:solidFill>
                  <a:srgbClr val="16262E"/>
                </a:solidFill>
                <a:effectLst/>
                <a:uFillTx/>
                <a:latin typeface="Calibri"/>
                <a:ea typeface="Calibri"/>
              </a:rPr>
              <a:t>Ligas verificadas el 12 de septiembre de 2026. Si alguna deja de servir, la referencia basta para encontrar la fuente.</a:t>
            </a:r>
            <a:endParaRPr lang="en-US" sz="11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78</TotalTime>
  <Application>LibreOffice/26.2.5.2$Linux_X86_64 LibreOffice_project/30643f3b95f81f04449dc87ba649cc313a42270e</Application>
  <AppVersion>15.0000</AppVersion>
  <Words>0</Words>
  <Paragraphs>0</Paragraphs>
  <Company>PptxGenJS</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2026-09-13T23:55:48Z</dcterms:created>
  <dc:creator>Curso de Inteligencia Artificial Aplicada</dc:creator>
  <dc:description/>
  <dc:language>en-US</dc:language>
  <cp:lastModifiedBy/>
  <dcterms:modified xsi:type="dcterms:W3CDTF">2026-09-14T00:25:14Z</dcterms:modified>
  <cp:revision>4</cp:revision>
  <dc:subject>PptxGenJS Presentation</dc:subject>
  <dc:title>PptxGenJS Presentation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37</vt:i4>
  </property>
  <property fmtid="{D5CDD505-2E9C-101B-9397-08002B2CF9AE}" pid="3" name="PresentationFormat">
    <vt:lpwstr>On-screen Show (16:9)</vt:lpwstr>
  </property>
  <property fmtid="{D5CDD505-2E9C-101B-9397-08002B2CF9AE}" pid="4" name="Slides">
    <vt:i4>37</vt:i4>
  </property>
</Properties>
</file>