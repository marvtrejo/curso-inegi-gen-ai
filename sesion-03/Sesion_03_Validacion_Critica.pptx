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1" r:id="rId22"/>
    <p:sldId id="272" r:id="rId23"/>
    <p:sldId id="258" r:id="rId4"/>
    <p:sldId id="259" r:id="rId5"/>
    <p:sldId id="260" r:id="rId6"/>
    <p:sldId id="261" r:id="rId7"/>
    <p:sldId id="262" r:id="rId8"/>
    <p:sldId id="263" r:id="rId9"/>
    <p:sldId id="264" r:id="rId10"/>
    <p:sldId id="273" r:id="rId24"/>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listos: las salas de trabajo probadas, el informe sintético distribuido, la clave abierta en tu segunda pantalla, y un documento normativo limpio de respaldo para el calentamiento. Los equipos se forman en el receso: reparte a quienes han usado IA para programar, uno por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una premisa falsa pero creíble, por ejemplo que un programa amplió su cobertura en un año en que la redujo. Después pídele que cite la evidencia y observa qué hace.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equipos de cuatro. Recorre las salas. No reveles cuántos errores hay hasta la puesta en común: saber el número cambia cómo buscan.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Demuestra el primer minuto en pantalla: adjuntar el archivo, pegar el prompt, aparece la tabla. Después suéltalos.</a:t>
            </a:r>
          </a:p>
          <a:p>
            <a:r>
              <a:rPr lang="en-US" dirty="0"/>
              <a:t>A quien saque tres de tres, pídele que verifique otras tres.</a:t>
            </a:r>
          </a:p>
          <a:p>
            <a:r>
              <a:rPr lang="en-US" dirty="0"/>
              <a:t>Ten un documento limpio de respaldo para quien traiga un PDF escaneado que Copilot no pueda leer.</a:t>
            </a:r>
          </a:p>
          <a:p>
            <a:r>
              <a:rPr lang="en-US" dirty="0"/>
              <a:t>El cierre es el argumento de toda la sesión: pregunta en voz alta cuántos encontraron al menos un error y cuenta las manos. Ese número justifica los seis errores, el protocolo y el laboratorio.</a:t>
            </a:r>
          </a:p>
        </p:txBody>
      </p:sp>
      <p:sp>
        <p:nvSpPr>
          <p:cNvPr id="4" name="Slide Number Placeholder 3"/>
          <p:cNvSpPr>
            <a:spLocks noGrp="1"/>
          </p:cNvSpPr>
          <p:nvPr>
            <p:ph type="sldNum" sz="quarter" idx="10"/>
          </p:nvPr>
        </p:nvSpPr>
        <p:spPr/>
        <p:txBody>
          <a:bodyPr/>
          <a:lstStyle/>
          <a:p>
            <a:fld id="{D8735456-4A55-4D3E-9F52-D9D46D1F5B3C}" type="slidenum">
              <a:rPr lang="en-US"/>
              <a:t>4</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Mecánica de dos minutos: mano alzada de quienes han usado IA para programar y se reparten uno por equipo; el resto se acomoda libre.</a:t>
            </a:r>
          </a:p>
          <a:p>
            <a:r>
              <a:rPr lang="en-US" dirty="0"/>
              <a:t>Anuncia las salas de trabajo de cada equipo antes de soltar al receso.</a:t>
            </a:r>
          </a:p>
        </p:txBody>
      </p:sp>
      <p:sp>
        <p:nvSpPr>
          <p:cNvPr id="4" name="Slide Number Placeholder 3"/>
          <p:cNvSpPr>
            <a:spLocks noGrp="1"/>
          </p:cNvSpPr>
          <p:nvPr>
            <p:ph type="sldNum" sz="quarter" idx="10"/>
          </p:nvPr>
        </p:nvSpPr>
        <p:spPr/>
        <p:txBody>
          <a:bodyPr/>
          <a:lstStyle/>
          <a:p>
            <a:fld id="{D8735456-4A55-4D3E-9F52-D9D46D1F5B3C}" type="slidenum">
              <a:rPr lang="en-US"/>
              <a:t>12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 FUNDAMENTOS, ÉTICA Y COPILOT INSTITUCIONAL</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3</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Cómo detectar los errores de la IA y el Laboratorio Práctico 1</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Jueves 17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CC BY-NC-SA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p:cNvSpPr/>
          <p:nvPr/>
        </p:nvSpPr>
        <p:spPr>
          <a:xfrm>
            <a:off x="566928" y="1408176"/>
            <a:ext cx="5364328" cy="1081278"/>
          </a:xfrm>
          <a:prstGeom prst="roundRect">
            <a:avLst>
              <a:gd name="adj" fmla="val 5000"/>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El mapa corregido: dónde vive Copilot en el INEGI</a:t>
            </a:r>
            <a:endParaRPr lang="en-US" sz="1350" dirty="0"/>
          </a:p>
        </p:txBody>
      </p:sp>
      <p:sp>
        <p:nvSpPr>
          <p:cNvPr id="8" name="Shape"/>
          <p:cNvSpPr/>
          <p:nvPr/>
        </p:nvSpPr>
        <p:spPr>
          <a:xfrm>
            <a:off x="566928" y="2635758"/>
            <a:ext cx="5364328" cy="1081278"/>
          </a:xfrm>
          <a:prstGeom prst="roundRect">
            <a:avLst>
              <a:gd name="adj" fmla="val 5000"/>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9:05</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Tu turno: tu documento, tu tabla, tu verificación</a:t>
            </a:r>
            <a:endParaRPr lang="en-US" sz="1350" dirty="0"/>
          </a:p>
        </p:txBody>
      </p:sp>
      <p:sp>
        <p:nvSpPr>
          <p:cNvPr id="11" name="Shape"/>
          <p:cNvSpPr/>
          <p:nvPr/>
        </p:nvSpPr>
        <p:spPr>
          <a:xfrm>
            <a:off x="566928" y="3863340"/>
            <a:ext cx="5364328" cy="1081278"/>
          </a:xfrm>
          <a:prstGeom prst="roundRect">
            <a:avLst>
              <a:gd name="adj" fmla="val 5000"/>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9:23</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Los seis errores típicos, con ejemplos de estas sesiones</a:t>
            </a:r>
            <a:endParaRPr lang="en-US" sz="1350" dirty="0"/>
          </a:p>
        </p:txBody>
      </p:sp>
      <p:sp>
        <p:nvSpPr>
          <p:cNvPr id="14" name="Shape"/>
          <p:cNvSpPr/>
          <p:nvPr/>
        </p:nvSpPr>
        <p:spPr>
          <a:xfrm>
            <a:off x="566928" y="5090922"/>
            <a:ext cx="5364328" cy="1081278"/>
          </a:xfrm>
          <a:prstGeom prst="roundRect">
            <a:avLst>
              <a:gd name="adj" fmla="val 5000"/>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9:42</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El protocolo de verificación en cuatro pasos</a:t>
            </a:r>
            <a:endParaRPr lang="en-US" sz="1350" dirty="0"/>
          </a:p>
        </p:txBody>
      </p:sp>
      <p:sp>
        <p:nvSpPr>
          <p:cNvPr id="17" name="Shape"/>
          <p:cNvSpPr/>
          <p:nvPr/>
        </p:nvSpPr>
        <p:spPr>
          <a:xfrm>
            <a:off x="6260440" y="1408176"/>
            <a:ext cx="5364328" cy="1081278"/>
          </a:xfrm>
          <a:prstGeom prst="roundRect">
            <a:avLst>
              <a:gd name="adj" fmla="val 5000"/>
            </a:avLst>
          </a:prstGeom>
          <a:solidFill>
            <a:srgbClr val="F7E4D8"/>
          </a:solidFill>
          <a:ln w="12700">
            <a:solidFill>
              <a:srgbClr val="F7E4D8"/>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9:55</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Receso y formación de los seis equipos</a:t>
            </a:r>
            <a:endParaRPr lang="en-US" sz="1350" dirty="0"/>
          </a:p>
        </p:txBody>
      </p:sp>
      <p:sp>
        <p:nvSpPr>
          <p:cNvPr id="20" name="Shape"/>
          <p:cNvSpPr/>
          <p:nvPr/>
        </p:nvSpPr>
        <p:spPr>
          <a:xfrm>
            <a:off x="6260440" y="2635758"/>
            <a:ext cx="5364328" cy="1081278"/>
          </a:xfrm>
          <a:prstGeom prst="roundRect">
            <a:avLst>
              <a:gd name="adj" fmla="val 5000"/>
            </a:avLst>
          </a:prstGeom>
          <a:solidFill>
            <a:srgbClr val="F2F5F6"/>
          </a:solidFill>
          <a:ln w="12700">
            <a:solidFill>
              <a:srgbClr val="F2F5F6"/>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10:05</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Laboratorio Práctico 1: tu equipo hace un dictamen</a:t>
            </a:r>
            <a:endParaRPr lang="en-US" sz="1350" dirty="0"/>
          </a:p>
        </p:txBody>
      </p:sp>
      <p:sp>
        <p:nvSpPr>
          <p:cNvPr id="23" name="Shape"/>
          <p:cNvSpPr/>
          <p:nvPr/>
        </p:nvSpPr>
        <p:spPr>
          <a:xfrm>
            <a:off x="6260440" y="3863340"/>
            <a:ext cx="5364328" cy="1081278"/>
          </a:xfrm>
          <a:prstGeom prst="roundRect">
            <a:avLst>
              <a:gd name="adj" fmla="val 5000"/>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11:10</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Puesta en común y rúbrica</a:t>
            </a:r>
            <a:endParaRPr lang="en-US" sz="1350" dirty="0"/>
          </a:p>
        </p:txBody>
      </p:sp>
      <p:sp>
        <p:nvSpPr>
          <p:cNvPr id="26" name="Shape"/>
          <p:cNvSpPr/>
          <p:nvPr/>
        </p:nvSpPr>
        <p:spPr>
          <a:xfrm>
            <a:off x="6260440" y="5090922"/>
            <a:ext cx="5364328" cy="1081278"/>
          </a:xfrm>
          <a:prstGeom prst="roundRect">
            <a:avLst>
              <a:gd name="adj" fmla="val 5000"/>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10000"/>
              </a:lnSpc>
              <a:buNone/>
            </a:pPr>
            <a:r>
              <a:rPr lang="en-US" sz="1350" dirty="0">
                <a:solidFill>
                  <a:srgbClr val="16262E"/>
                </a:solidFill>
                <a:latin typeface="Calibri" pitchFamily="34" charset="0"/>
                <a:ea typeface="Calibri" pitchFamily="34" charset="-122"/>
                <a:cs typeface="Calibri" pitchFamily="34" charset="-120"/>
              </a:rPr>
              <a:t>Cierre y entregables</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Hoy trabajas unos 85 minutos con las manos en el teclado, 65 de ellos en equipo. Los equipos se forman en el receso.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PRIMER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Los seis errores típicos</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9:23 a 9:42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que ves cuando los buscas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Los tres ya te pasaron entre el lunes y el calentamiento de hoy. Ahora tienen nombre.</a:t>
            </a:r>
            <a:endParaRPr lang="en-US" sz="1500" dirty="0"/>
          </a:p>
        </p:txBody>
      </p:sp>
      <p:sp>
        <p:nvSpPr>
          <p:cNvPr id="4" name="Shape 2"/>
          <p:cNvSpPr/>
          <p:nvPr/>
        </p:nvSpPr>
        <p:spPr>
          <a:xfrm>
            <a:off x="566928" y="2011680"/>
            <a:ext cx="3503066" cy="3302762"/>
          </a:xfrm>
          <a:prstGeom prst="roundRect">
            <a:avLst>
              <a:gd name="adj" fmla="val 2215"/>
            </a:avLst>
          </a:prstGeom>
          <a:solidFill>
            <a:srgbClr val="F2DEDE"/>
          </a:solidFill>
          <a:ln w="12700">
            <a:solidFill>
              <a:srgbClr val="F2DEDE"/>
            </a:solidFill>
            <a:prstDash val="solid"/>
          </a:ln>
        </p:spPr>
      </p:sp>
      <p:sp>
        <p:nvSpPr>
          <p:cNvPr id="5" name="Shape 3"/>
          <p:cNvSpPr/>
          <p:nvPr/>
        </p:nvSpPr>
        <p:spPr>
          <a:xfrm>
            <a:off x="804672" y="2231136"/>
            <a:ext cx="420624" cy="420624"/>
          </a:xfrm>
          <a:prstGeom prst="ellipse">
            <a:avLst/>
          </a:prstGeom>
          <a:solidFill>
            <a:srgbClr val="A33A3A"/>
          </a:solidFill>
          <a:ln w="12700">
            <a:solidFill>
              <a:srgbClr val="A33A3A"/>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Inventa fuentes</a:t>
            </a:r>
            <a:endParaRPr lang="en-US" sz="1600" dirty="0"/>
          </a:p>
        </p:txBody>
      </p:sp>
      <p:sp>
        <p:nvSpPr>
          <p:cNvPr id="8" name="Text 6"/>
          <p:cNvSpPr txBox="1"/>
          <p:nvPr/>
        </p:nvSpPr>
        <p:spPr>
          <a:xfrm>
            <a:off x="804672" y="3263392"/>
            <a:ext cx="3027578" cy="184988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saca de la manga un estudio, un autor o un número de artículo que suena bien. La descripción es creíble y la referencia no existe.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cachas buscando la fuente. Casi nadie revisa la bibliografía.</a:t>
            </a:r>
            <a:endParaRPr lang="en-US" sz="1300" dirty="0"/>
          </a:p>
        </p:txBody>
      </p:sp>
      <p:sp>
        <p:nvSpPr>
          <p:cNvPr id="9" name="Shape 7"/>
          <p:cNvSpPr/>
          <p:nvPr/>
        </p:nvSpPr>
        <p:spPr>
          <a:xfrm>
            <a:off x="4344314" y="2011680"/>
            <a:ext cx="3503066" cy="3302762"/>
          </a:xfrm>
          <a:prstGeom prst="roundRect">
            <a:avLst>
              <a:gd name="adj" fmla="val 2215"/>
            </a:avLst>
          </a:prstGeom>
          <a:solidFill>
            <a:srgbClr val="F2DEDE"/>
          </a:solidFill>
          <a:ln w="12700">
            <a:solidFill>
              <a:srgbClr val="F2DEDE"/>
            </a:solidFill>
            <a:prstDash val="solid"/>
          </a:ln>
        </p:spPr>
      </p:sp>
      <p:sp>
        <p:nvSpPr>
          <p:cNvPr id="10" name="Shape 8"/>
          <p:cNvSpPr/>
          <p:nvPr/>
        </p:nvSpPr>
        <p:spPr>
          <a:xfrm>
            <a:off x="4582058" y="2231136"/>
            <a:ext cx="420624" cy="420624"/>
          </a:xfrm>
          <a:prstGeom prst="ellipse">
            <a:avLst/>
          </a:prstGeom>
          <a:solidFill>
            <a:srgbClr val="A33A3A"/>
          </a:solidFill>
          <a:ln w="12700">
            <a:solidFill>
              <a:srgbClr val="A33A3A"/>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Inventa cifras</a:t>
            </a:r>
            <a:endParaRPr lang="en-US" sz="1600" dirty="0"/>
          </a:p>
        </p:txBody>
      </p:sp>
      <p:sp>
        <p:nvSpPr>
          <p:cNvPr id="13" name="Text 11"/>
          <p:cNvSpPr txBox="1"/>
          <p:nvPr/>
        </p:nvSpPr>
        <p:spPr>
          <a:xfrm>
            <a:off x="4582058" y="3263392"/>
            <a:ext cx="3027578" cy="184988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Pasa sobre todo cuando intenta completar una tabla donde falta información. El hueco le incomoda más que el error.</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cachas recalculando.</a:t>
            </a:r>
            <a:endParaRPr lang="en-US" sz="1300" dirty="0"/>
          </a:p>
        </p:txBody>
      </p:sp>
      <p:sp>
        <p:nvSpPr>
          <p:cNvPr id="14" name="Shape 12"/>
          <p:cNvSpPr/>
          <p:nvPr/>
        </p:nvSpPr>
        <p:spPr>
          <a:xfrm>
            <a:off x="8121701" y="2011680"/>
            <a:ext cx="3503066" cy="3302762"/>
          </a:xfrm>
          <a:prstGeom prst="roundRect">
            <a:avLst>
              <a:gd name="adj" fmla="val 2215"/>
            </a:avLst>
          </a:prstGeom>
          <a:solidFill>
            <a:srgbClr val="F2DEDE"/>
          </a:solidFill>
          <a:ln w="12700">
            <a:solidFill>
              <a:srgbClr val="F2DEDE"/>
            </a:solidFill>
            <a:prstDash val="solid"/>
          </a:ln>
        </p:spPr>
      </p:sp>
      <p:sp>
        <p:nvSpPr>
          <p:cNvPr id="15" name="Shape 13"/>
          <p:cNvSpPr/>
          <p:nvPr/>
        </p:nvSpPr>
        <p:spPr>
          <a:xfrm>
            <a:off x="8359445" y="2231136"/>
            <a:ext cx="420624" cy="420624"/>
          </a:xfrm>
          <a:prstGeom prst="ellipse">
            <a:avLst/>
          </a:prstGeom>
          <a:solidFill>
            <a:srgbClr val="A33A3A"/>
          </a:solidFill>
          <a:ln w="12700">
            <a:solidFill>
              <a:srgbClr val="A33A3A"/>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Mezcla años</a:t>
            </a:r>
            <a:endParaRPr lang="en-US" sz="1600" dirty="0"/>
          </a:p>
        </p:txBody>
      </p:sp>
      <p:sp>
        <p:nvSpPr>
          <p:cNvPr id="18" name="Text 16"/>
          <p:cNvSpPr txBox="1"/>
          <p:nvPr/>
        </p:nvSpPr>
        <p:spPr>
          <a:xfrm>
            <a:off x="8359445" y="3263392"/>
            <a:ext cx="3027578" cy="184988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Junta datos de periodos distintos sin avisar, o presenta como línea base valores de ejercicios diferentes.</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cachas leyendo la metodología antes que los resultados.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que solo ves si sabes que existen</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Estos son los caros. Nada de lo que está escrito es falso.</a:t>
            </a:r>
            <a:endParaRPr lang="en-US" sz="1500" dirty="0"/>
          </a:p>
        </p:txBody>
      </p:sp>
      <p:sp>
        <p:nvSpPr>
          <p:cNvPr id="4" name="Shape 2"/>
          <p:cNvSpPr/>
          <p:nvPr/>
        </p:nvSpPr>
        <p:spPr>
          <a:xfrm>
            <a:off x="566928" y="2011680"/>
            <a:ext cx="3503066" cy="3302762"/>
          </a:xfrm>
          <a:prstGeom prst="roundRect">
            <a:avLst>
              <a:gd name="adj" fmla="val 2215"/>
            </a:avLst>
          </a:prstGeom>
          <a:solidFill>
            <a:srgbClr val="F7E4D8"/>
          </a:solidFill>
          <a:ln w="12700">
            <a:solidFill>
              <a:srgbClr val="F7E4D8"/>
            </a:solidFill>
            <a:prstDash val="solid"/>
          </a:ln>
        </p:spPr>
      </p:sp>
      <p:sp>
        <p:nvSpPr>
          <p:cNvPr id="5" name="Shape 3"/>
          <p:cNvSpPr/>
          <p:nvPr/>
        </p:nvSpPr>
        <p:spPr>
          <a:xfrm>
            <a:off x="804672" y="2231136"/>
            <a:ext cx="420624" cy="420624"/>
          </a:xfrm>
          <a:prstGeom prst="ellipse">
            <a:avLst/>
          </a:prstGeom>
          <a:solidFill>
            <a:srgbClr val="C85A28"/>
          </a:solidFill>
          <a:ln w="12700">
            <a:solidFill>
              <a:srgbClr val="C85A28"/>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7" name="Text 5"/>
          <p:cNvSpPr txBox="1"/>
          <p:nvPr/>
        </p:nvSpPr>
        <p:spPr>
          <a:xfrm>
            <a:off x="804672"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Te da la razón</a:t>
            </a:r>
            <a:endParaRPr lang="en-US" sz="1600" dirty="0"/>
          </a:p>
        </p:txBody>
      </p:sp>
      <p:sp>
        <p:nvSpPr>
          <p:cNvPr id="8" name="Text 6"/>
          <p:cNvSpPr txBox="1"/>
          <p:nvPr/>
        </p:nvSpPr>
        <p:spPr>
          <a:xfrm>
            <a:off x="804672" y="3263392"/>
            <a:ext cx="3027578" cy="184988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Tiende a confirmar lo que tú ya afirmaste, aunque tu premisa sea falsa.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te miente: elige la evidencia que confirma lo que le dijiste que querías oír.</a:t>
            </a:r>
            <a:endParaRPr lang="en-US" sz="1300" dirty="0"/>
          </a:p>
        </p:txBody>
      </p:sp>
      <p:sp>
        <p:nvSpPr>
          <p:cNvPr id="9" name="Shape 7"/>
          <p:cNvSpPr/>
          <p:nvPr/>
        </p:nvSpPr>
        <p:spPr>
          <a:xfrm>
            <a:off x="4344314" y="2011680"/>
            <a:ext cx="3503066" cy="3302762"/>
          </a:xfrm>
          <a:prstGeom prst="roundRect">
            <a:avLst>
              <a:gd name="adj" fmla="val 2215"/>
            </a:avLst>
          </a:prstGeom>
          <a:solidFill>
            <a:srgbClr val="F7E4D8"/>
          </a:solidFill>
          <a:ln w="12700">
            <a:solidFill>
              <a:srgbClr val="F7E4D8"/>
            </a:solidFill>
            <a:prstDash val="solid"/>
          </a:ln>
        </p:spPr>
      </p:sp>
      <p:sp>
        <p:nvSpPr>
          <p:cNvPr id="10" name="Shape 8"/>
          <p:cNvSpPr/>
          <p:nvPr/>
        </p:nvSpPr>
        <p:spPr>
          <a:xfrm>
            <a:off x="4582058" y="2231136"/>
            <a:ext cx="420624" cy="420624"/>
          </a:xfrm>
          <a:prstGeom prst="ellipse">
            <a:avLst/>
          </a:prstGeom>
          <a:solidFill>
            <a:srgbClr val="C85A28"/>
          </a:solidFill>
          <a:ln w="12700">
            <a:solidFill>
              <a:srgbClr val="C85A28"/>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Generaliza de más</a:t>
            </a:r>
            <a:endParaRPr lang="en-US" sz="1600" dirty="0"/>
          </a:p>
        </p:txBody>
      </p:sp>
      <p:sp>
        <p:nvSpPr>
          <p:cNvPr id="13" name="Text 11"/>
          <p:cNvSpPr txBox="1"/>
          <p:nvPr/>
        </p:nvSpPr>
        <p:spPr>
          <a:xfrm>
            <a:off x="4582058" y="3263392"/>
            <a:ext cx="3027578" cy="184988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Extiende a todos los casos una conclusión que valía para uno. O concluye sobre algo que nunca midió.</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 cachas preguntando dónde está el dato que sostiene la frase.</a:t>
            </a:r>
            <a:endParaRPr lang="en-US" sz="1300" dirty="0"/>
          </a:p>
        </p:txBody>
      </p:sp>
      <p:sp>
        <p:nvSpPr>
          <p:cNvPr id="14" name="Shape 12"/>
          <p:cNvSpPr/>
          <p:nvPr/>
        </p:nvSpPr>
        <p:spPr>
          <a:xfrm>
            <a:off x="8121701" y="2011680"/>
            <a:ext cx="3503066" cy="3302762"/>
          </a:xfrm>
          <a:prstGeom prst="roundRect">
            <a:avLst>
              <a:gd name="adj" fmla="val 2215"/>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17" name="Text 15"/>
          <p:cNvSpPr txBox="1"/>
          <p:nvPr/>
        </p:nvSpPr>
        <p:spPr>
          <a:xfrm>
            <a:off x="8359445"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Omite sin avisar</a:t>
            </a:r>
            <a:endParaRPr lang="en-US" sz="1600" dirty="0"/>
          </a:p>
        </p:txBody>
      </p:sp>
      <p:sp>
        <p:nvSpPr>
          <p:cNvPr id="18" name="Text 16"/>
          <p:cNvSpPr txBox="1"/>
          <p:nvPr/>
        </p:nvSpPr>
        <p:spPr>
          <a:xfrm>
            <a:off x="8359445" y="3263392"/>
            <a:ext cx="3027578" cy="184988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más peligroso de los seis. Deja fuera información importante sin decir que la dejó fuera.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hay nada escrito que sea falso. Solo falta algo. Por eso es tan difícil de 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DEMOSTRACIÓN EN VIVO</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Le voy a decir al modelo algo falso sobre un programa social. Fíjense si lo acepta y lo desarrolla.</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Esta es la demostración del error número 4, el de darte la razón. Es la que más molesta y la que más se recuerda. Lo que hay que observar no es que se equivoque, sino que se equivoque con seguridad y con argumentos bien redactados.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SEGUNDO BLOQUE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protocolo de verificación</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9:42 a 9:55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Cuatro pasos, siempre en este orden</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el protocolo que vas a usar el resto del curso. Saltarte pasos no es negociable.</a:t>
            </a:r>
            <a:endParaRPr lang="en-US" sz="1500" dirty="0"/>
          </a:p>
        </p:txBody>
      </p:sp>
      <p:sp>
        <p:nvSpPr>
          <p:cNvPr id="4" name="Shape 2"/>
          <p:cNvSpPr/>
          <p:nvPr/>
        </p:nvSpPr>
        <p:spPr>
          <a:xfrm>
            <a:off x="566928" y="1810512"/>
            <a:ext cx="2448992" cy="3950208"/>
          </a:xfrm>
          <a:prstGeom prst="roundRect">
            <a:avLst>
              <a:gd name="adj" fmla="val 3360"/>
            </a:avLst>
          </a:prstGeom>
          <a:solidFill>
            <a:srgbClr val="D7E7E7"/>
          </a:solidFill>
          <a:ln w="12700">
            <a:solidFill>
              <a:srgbClr val="D7E7E7"/>
            </a:solidFill>
            <a:prstDash val="solid"/>
          </a:ln>
        </p:spPr>
      </p:sp>
      <p:sp>
        <p:nvSpPr>
          <p:cNvPr id="5" name="Shape 3"/>
          <p:cNvSpPr/>
          <p:nvPr/>
        </p:nvSpPr>
        <p:spPr>
          <a:xfrm>
            <a:off x="1507960" y="2066544"/>
            <a:ext cx="566928" cy="566928"/>
          </a:xfrm>
          <a:prstGeom prst="ellipse">
            <a:avLst/>
          </a:prstGeom>
          <a:solidFill>
            <a:srgbClr val="2E7D7D"/>
          </a:solidFill>
          <a:ln w="12700">
            <a:solidFill>
              <a:srgbClr val="2E7D7D"/>
            </a:solidFill>
            <a:prstDash val="solid"/>
          </a:ln>
        </p:spPr>
      </p:sp>
      <p:sp>
        <p:nvSpPr>
          <p:cNvPr id="6" name="Text 4"/>
          <p:cNvSpPr txBox="1"/>
          <p:nvPr/>
        </p:nvSpPr>
        <p:spPr>
          <a:xfrm>
            <a:off x="1507960" y="206654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749808" y="2743200"/>
            <a:ext cx="2083232" cy="457200"/>
          </a:xfrm>
          <a:prstGeom prst="rect">
            <a:avLst/>
          </a:prstGeom>
          <a:noFill/>
          <a:ln/>
        </p:spPr>
        <p:txBody>
          <a:bodyPr wrap="square" lIns="0" tIns="0" rIns="0" bIns="0" rtlCol="0" anchor="t"/>
          <a:lstStyle/>
          <a:p>
            <a:pPr algn="ctr" indent="0" marL="0">
              <a:buNone/>
            </a:pPr>
            <a:r>
              <a:rPr lang="en-US" sz="1600" b="1" dirty="0">
                <a:solidFill>
                  <a:srgbClr val="16262E"/>
                </a:solidFill>
                <a:latin typeface="Arial" pitchFamily="34" charset="0"/>
                <a:ea typeface="Arial" pitchFamily="34" charset="-122"/>
                <a:cs typeface="Arial" pitchFamily="34" charset="-120"/>
              </a:rPr>
              <a:t>Traza</a:t>
            </a:r>
            <a:endParaRPr lang="en-US" sz="1600" dirty="0"/>
          </a:p>
        </p:txBody>
      </p:sp>
      <p:sp>
        <p:nvSpPr>
          <p:cNvPr id="8" name="Text 6"/>
          <p:cNvSpPr txBox="1"/>
          <p:nvPr/>
        </p:nvSpPr>
        <p:spPr>
          <a:xfrm>
            <a:off x="786384" y="3273552"/>
            <a:ext cx="2010080" cy="2304288"/>
          </a:xfrm>
          <a:prstGeom prst="rect">
            <a:avLst/>
          </a:prstGeom>
          <a:noFill/>
          <a:ln/>
        </p:spPr>
        <p:txBody>
          <a:bodyPr wrap="square" lIns="0" tIns="0" rIns="0" bIns="0" rtlCol="0" anchor="t"/>
          <a:lstStyle/>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Cada afirmación tiene que poder señalar el documento y la sección de donde salió.</a:t>
            </a:r>
            <a:endParaRPr lang="en-US" sz="1250" dirty="0"/>
          </a:p>
          <a:p>
            <a:pPr indent="0" marL="0">
              <a:lnSpc>
                <a:spcPct val="112000"/>
              </a:lnSpc>
              <a:buNone/>
            </a:pPr>
            <a:endParaRPr lang="en-US" sz="1250" dirty="0"/>
          </a:p>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Lo que no puedas trazar, márcalo e investígalo aparte.</a:t>
            </a:r>
            <a:endParaRPr lang="en-US" sz="1250" dirty="0"/>
          </a:p>
        </p:txBody>
      </p:sp>
      <p:sp>
        <p:nvSpPr>
          <p:cNvPr id="9" name="Shape 7"/>
          <p:cNvSpPr/>
          <p:nvPr/>
        </p:nvSpPr>
        <p:spPr>
          <a:xfrm>
            <a:off x="3089072" y="2194560"/>
            <a:ext cx="274320" cy="310896"/>
          </a:xfrm>
          <a:prstGeom prst="rightArrow">
            <a:avLst/>
          </a:prstGeom>
          <a:solidFill>
            <a:srgbClr val="5A6B73"/>
          </a:solidFill>
          <a:ln w="12700">
            <a:solidFill>
              <a:srgbClr val="5A6B73"/>
            </a:solidFill>
            <a:prstDash val="solid"/>
          </a:ln>
        </p:spPr>
      </p:sp>
      <p:sp>
        <p:nvSpPr>
          <p:cNvPr id="10" name="Shape 8"/>
          <p:cNvSpPr/>
          <p:nvPr/>
        </p:nvSpPr>
        <p:spPr>
          <a:xfrm>
            <a:off x="3436544" y="1810512"/>
            <a:ext cx="2448992" cy="3950208"/>
          </a:xfrm>
          <a:prstGeom prst="roundRect">
            <a:avLst>
              <a:gd name="adj" fmla="val 3360"/>
            </a:avLst>
          </a:prstGeom>
          <a:solidFill>
            <a:srgbClr val="D7E7E7"/>
          </a:solidFill>
          <a:ln w="12700">
            <a:solidFill>
              <a:srgbClr val="D7E7E7"/>
            </a:solidFill>
            <a:prstDash val="solid"/>
          </a:ln>
        </p:spPr>
      </p:sp>
      <p:sp>
        <p:nvSpPr>
          <p:cNvPr id="11" name="Shape 9"/>
          <p:cNvSpPr/>
          <p:nvPr/>
        </p:nvSpPr>
        <p:spPr>
          <a:xfrm>
            <a:off x="4377576" y="2066544"/>
            <a:ext cx="566928" cy="566928"/>
          </a:xfrm>
          <a:prstGeom prst="ellipse">
            <a:avLst/>
          </a:prstGeom>
          <a:solidFill>
            <a:srgbClr val="2E7D7D"/>
          </a:solidFill>
          <a:ln w="12700">
            <a:solidFill>
              <a:srgbClr val="2E7D7D"/>
            </a:solidFill>
            <a:prstDash val="solid"/>
          </a:ln>
        </p:spPr>
      </p:sp>
      <p:sp>
        <p:nvSpPr>
          <p:cNvPr id="12" name="Text 10"/>
          <p:cNvSpPr txBox="1"/>
          <p:nvPr/>
        </p:nvSpPr>
        <p:spPr>
          <a:xfrm>
            <a:off x="4377576" y="206654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3" name="Text 11"/>
          <p:cNvSpPr txBox="1"/>
          <p:nvPr/>
        </p:nvSpPr>
        <p:spPr>
          <a:xfrm>
            <a:off x="3619424" y="2743200"/>
            <a:ext cx="2083232" cy="457200"/>
          </a:xfrm>
          <a:prstGeom prst="rect">
            <a:avLst/>
          </a:prstGeom>
          <a:noFill/>
          <a:ln/>
        </p:spPr>
        <p:txBody>
          <a:bodyPr wrap="square" lIns="0" tIns="0" rIns="0" bIns="0" rtlCol="0" anchor="t"/>
          <a:lstStyle/>
          <a:p>
            <a:pPr algn="ctr" indent="0" marL="0">
              <a:buNone/>
            </a:pPr>
            <a:r>
              <a:rPr lang="en-US" sz="1600" b="1" dirty="0">
                <a:solidFill>
                  <a:srgbClr val="16262E"/>
                </a:solidFill>
                <a:latin typeface="Arial" pitchFamily="34" charset="0"/>
                <a:ea typeface="Arial" pitchFamily="34" charset="-122"/>
                <a:cs typeface="Arial" pitchFamily="34" charset="-120"/>
              </a:rPr>
              <a:t>Recalcula</a:t>
            </a:r>
            <a:endParaRPr lang="en-US" sz="1600" dirty="0"/>
          </a:p>
        </p:txBody>
      </p:sp>
      <p:sp>
        <p:nvSpPr>
          <p:cNvPr id="14" name="Text 12"/>
          <p:cNvSpPr txBox="1"/>
          <p:nvPr/>
        </p:nvSpPr>
        <p:spPr>
          <a:xfrm>
            <a:off x="3656000" y="3273552"/>
            <a:ext cx="2010080" cy="2304288"/>
          </a:xfrm>
          <a:prstGeom prst="rect">
            <a:avLst/>
          </a:prstGeom>
          <a:noFill/>
          <a:ln/>
        </p:spPr>
        <p:txBody>
          <a:bodyPr wrap="square" lIns="0" tIns="0" rIns="0" bIns="0" rtlCol="0" anchor="t"/>
          <a:lstStyle/>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Comprueba toda cifra a mano o en Excel.</a:t>
            </a:r>
            <a:endParaRPr lang="en-US" sz="1250" dirty="0"/>
          </a:p>
          <a:p>
            <a:pPr indent="0" marL="0">
              <a:lnSpc>
                <a:spcPct val="112000"/>
              </a:lnSpc>
              <a:buNone/>
            </a:pPr>
            <a:endParaRPr lang="en-US" sz="1250" dirty="0"/>
          </a:p>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Revisa sobre todo que los porcentajes sumen y que los totales cuadren con sus partes.</a:t>
            </a:r>
            <a:endParaRPr lang="en-US" sz="1250" dirty="0"/>
          </a:p>
        </p:txBody>
      </p:sp>
      <p:sp>
        <p:nvSpPr>
          <p:cNvPr id="15" name="Shape 13"/>
          <p:cNvSpPr/>
          <p:nvPr/>
        </p:nvSpPr>
        <p:spPr>
          <a:xfrm>
            <a:off x="5958688" y="2194560"/>
            <a:ext cx="274320" cy="310896"/>
          </a:xfrm>
          <a:prstGeom prst="rightArrow">
            <a:avLst/>
          </a:prstGeom>
          <a:solidFill>
            <a:srgbClr val="5A6B73"/>
          </a:solidFill>
          <a:ln w="12700">
            <a:solidFill>
              <a:srgbClr val="5A6B73"/>
            </a:solidFill>
            <a:prstDash val="solid"/>
          </a:ln>
        </p:spPr>
      </p:sp>
      <p:sp>
        <p:nvSpPr>
          <p:cNvPr id="16" name="Shape 14"/>
          <p:cNvSpPr/>
          <p:nvPr/>
        </p:nvSpPr>
        <p:spPr>
          <a:xfrm>
            <a:off x="6306160" y="1810512"/>
            <a:ext cx="2448992" cy="3950208"/>
          </a:xfrm>
          <a:prstGeom prst="roundRect">
            <a:avLst>
              <a:gd name="adj" fmla="val 3360"/>
            </a:avLst>
          </a:prstGeom>
          <a:solidFill>
            <a:srgbClr val="D7E7E7"/>
          </a:solidFill>
          <a:ln w="12700">
            <a:solidFill>
              <a:srgbClr val="D7E7E7"/>
            </a:solidFill>
            <a:prstDash val="solid"/>
          </a:ln>
        </p:spPr>
      </p:sp>
      <p:sp>
        <p:nvSpPr>
          <p:cNvPr id="17" name="Shape 15"/>
          <p:cNvSpPr/>
          <p:nvPr/>
        </p:nvSpPr>
        <p:spPr>
          <a:xfrm>
            <a:off x="7247191" y="2066544"/>
            <a:ext cx="566928" cy="566928"/>
          </a:xfrm>
          <a:prstGeom prst="ellipse">
            <a:avLst/>
          </a:prstGeom>
          <a:solidFill>
            <a:srgbClr val="2E7D7D"/>
          </a:solidFill>
          <a:ln w="12700">
            <a:solidFill>
              <a:srgbClr val="2E7D7D"/>
            </a:solidFill>
            <a:prstDash val="solid"/>
          </a:ln>
        </p:spPr>
      </p:sp>
      <p:sp>
        <p:nvSpPr>
          <p:cNvPr id="18" name="Text 16"/>
          <p:cNvSpPr txBox="1"/>
          <p:nvPr/>
        </p:nvSpPr>
        <p:spPr>
          <a:xfrm>
            <a:off x="7247191" y="206654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9" name="Text 17"/>
          <p:cNvSpPr txBox="1"/>
          <p:nvPr/>
        </p:nvSpPr>
        <p:spPr>
          <a:xfrm>
            <a:off x="6489040" y="2743200"/>
            <a:ext cx="2083232" cy="457200"/>
          </a:xfrm>
          <a:prstGeom prst="rect">
            <a:avLst/>
          </a:prstGeom>
          <a:noFill/>
          <a:ln/>
        </p:spPr>
        <p:txBody>
          <a:bodyPr wrap="square" lIns="0" tIns="0" rIns="0" bIns="0" rtlCol="0" anchor="t"/>
          <a:lstStyle/>
          <a:p>
            <a:pPr algn="ctr" indent="0" marL="0">
              <a:buNone/>
            </a:pPr>
            <a:r>
              <a:rPr lang="en-US" sz="1600" b="1" dirty="0">
                <a:solidFill>
                  <a:srgbClr val="16262E"/>
                </a:solidFill>
                <a:latin typeface="Arial" pitchFamily="34" charset="0"/>
                <a:ea typeface="Arial" pitchFamily="34" charset="-122"/>
                <a:cs typeface="Arial" pitchFamily="34" charset="-120"/>
              </a:rPr>
              <a:t>Contrapregunta</a:t>
            </a:r>
            <a:endParaRPr lang="en-US" sz="1600" dirty="0"/>
          </a:p>
        </p:txBody>
      </p:sp>
      <p:sp>
        <p:nvSpPr>
          <p:cNvPr id="20" name="Text 18"/>
          <p:cNvSpPr txBox="1"/>
          <p:nvPr/>
        </p:nvSpPr>
        <p:spPr>
          <a:xfrm>
            <a:off x="6525616" y="3273552"/>
            <a:ext cx="2010080" cy="2304288"/>
          </a:xfrm>
          <a:prstGeom prst="rect">
            <a:avLst/>
          </a:prstGeom>
          <a:noFill/>
          <a:ln/>
        </p:spPr>
        <p:txBody>
          <a:bodyPr wrap="square" lIns="0" tIns="0" rIns="0" bIns="0" rtlCol="0" anchor="t"/>
          <a:lstStyle/>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Regrésale la pregunta al modelo: que señale qué parte del documento sostiene cada afirmación.</a:t>
            </a:r>
            <a:endParaRPr lang="en-US" sz="1250" dirty="0"/>
          </a:p>
          <a:p>
            <a:pPr indent="0" marL="0">
              <a:lnSpc>
                <a:spcPct val="112000"/>
              </a:lnSpc>
              <a:buNone/>
            </a:pPr>
            <a:endParaRPr lang="en-US" sz="1250" dirty="0"/>
          </a:p>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Cuando no puede señalarla, casi siempre es porque la inventó.</a:t>
            </a:r>
            <a:endParaRPr lang="en-US" sz="1250" dirty="0"/>
          </a:p>
        </p:txBody>
      </p:sp>
      <p:sp>
        <p:nvSpPr>
          <p:cNvPr id="21" name="Shape 19"/>
          <p:cNvSpPr/>
          <p:nvPr/>
        </p:nvSpPr>
        <p:spPr>
          <a:xfrm>
            <a:off x="8828303" y="2194560"/>
            <a:ext cx="274320" cy="310896"/>
          </a:xfrm>
          <a:prstGeom prst="rightArrow">
            <a:avLst/>
          </a:prstGeom>
          <a:solidFill>
            <a:srgbClr val="5A6B73"/>
          </a:solidFill>
          <a:ln w="12700">
            <a:solidFill>
              <a:srgbClr val="5A6B73"/>
            </a:solidFill>
            <a:prstDash val="solid"/>
          </a:ln>
        </p:spPr>
      </p:sp>
      <p:sp>
        <p:nvSpPr>
          <p:cNvPr id="22" name="Shape 20"/>
          <p:cNvSpPr/>
          <p:nvPr/>
        </p:nvSpPr>
        <p:spPr>
          <a:xfrm>
            <a:off x="9175775" y="1810512"/>
            <a:ext cx="2448992" cy="3950208"/>
          </a:xfrm>
          <a:prstGeom prst="roundRect">
            <a:avLst>
              <a:gd name="adj" fmla="val 3360"/>
            </a:avLst>
          </a:prstGeom>
          <a:solidFill>
            <a:srgbClr val="F7E4D8"/>
          </a:solidFill>
          <a:ln w="12700">
            <a:solidFill>
              <a:srgbClr val="F7E4D8"/>
            </a:solidFill>
            <a:prstDash val="solid"/>
          </a:ln>
        </p:spPr>
      </p:sp>
      <p:sp>
        <p:nvSpPr>
          <p:cNvPr id="23" name="Shape 21"/>
          <p:cNvSpPr/>
          <p:nvPr/>
        </p:nvSpPr>
        <p:spPr>
          <a:xfrm>
            <a:off x="10116807" y="2066544"/>
            <a:ext cx="566928" cy="566928"/>
          </a:xfrm>
          <a:prstGeom prst="ellipse">
            <a:avLst/>
          </a:prstGeom>
          <a:solidFill>
            <a:srgbClr val="C85A28"/>
          </a:solidFill>
          <a:ln w="12700">
            <a:solidFill>
              <a:srgbClr val="C85A28"/>
            </a:solidFill>
            <a:prstDash val="solid"/>
          </a:ln>
        </p:spPr>
      </p:sp>
      <p:sp>
        <p:nvSpPr>
          <p:cNvPr id="24" name="Text 22"/>
          <p:cNvSpPr txBox="1"/>
          <p:nvPr/>
        </p:nvSpPr>
        <p:spPr>
          <a:xfrm>
            <a:off x="10116807" y="206654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3"/>
          <p:cNvSpPr txBox="1"/>
          <p:nvPr/>
        </p:nvSpPr>
        <p:spPr>
          <a:xfrm>
            <a:off x="9358655" y="2743200"/>
            <a:ext cx="2083232" cy="457200"/>
          </a:xfrm>
          <a:prstGeom prst="rect">
            <a:avLst/>
          </a:prstGeom>
          <a:noFill/>
          <a:ln/>
        </p:spPr>
        <p:txBody>
          <a:bodyPr wrap="square" lIns="0" tIns="0" rIns="0" bIns="0" rtlCol="0" anchor="t"/>
          <a:lstStyle/>
          <a:p>
            <a:pPr algn="ctr" indent="0" marL="0">
              <a:buNone/>
            </a:pPr>
            <a:r>
              <a:rPr lang="en-US" sz="1600" b="1" dirty="0">
                <a:solidFill>
                  <a:srgbClr val="16262E"/>
                </a:solidFill>
                <a:latin typeface="Arial" pitchFamily="34" charset="0"/>
                <a:ea typeface="Arial" pitchFamily="34" charset="-122"/>
                <a:cs typeface="Arial" pitchFamily="34" charset="-120"/>
              </a:rPr>
              <a:t>Triangula</a:t>
            </a:r>
            <a:endParaRPr lang="en-US" sz="1600" dirty="0"/>
          </a:p>
        </p:txBody>
      </p:sp>
      <p:sp>
        <p:nvSpPr>
          <p:cNvPr id="26" name="Text 24"/>
          <p:cNvSpPr txBox="1"/>
          <p:nvPr/>
        </p:nvSpPr>
        <p:spPr>
          <a:xfrm>
            <a:off x="9395231" y="3273552"/>
            <a:ext cx="2010080" cy="2304288"/>
          </a:xfrm>
          <a:prstGeom prst="rect">
            <a:avLst/>
          </a:prstGeom>
          <a:noFill/>
          <a:ln/>
        </p:spPr>
        <p:txBody>
          <a:bodyPr wrap="square" lIns="0" tIns="0" rIns="0" bIns="0" rtlCol="0" anchor="t"/>
          <a:lstStyle/>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Haz la misma pregunta en dos herramientas más. Tienes ChatGPT, Claude y Gemini.</a:t>
            </a:r>
            <a:endParaRPr lang="en-US" sz="1250" dirty="0"/>
          </a:p>
          <a:p>
            <a:pPr indent="0" marL="0">
              <a:lnSpc>
                <a:spcPct val="112000"/>
              </a:lnSpc>
              <a:buNone/>
            </a:pPr>
            <a:endParaRPr lang="en-US" sz="1250" dirty="0"/>
          </a:p>
          <a:p>
            <a:pPr indent="0" marL="0">
              <a:lnSpc>
                <a:spcPct val="112000"/>
              </a:lnSpc>
              <a:buNone/>
            </a:pPr>
            <a:r>
              <a:rPr lang="en-US" sz="1250" dirty="0">
                <a:solidFill>
                  <a:srgbClr val="16262E"/>
                </a:solidFill>
                <a:latin typeface="Calibri" pitchFamily="34" charset="0"/>
                <a:ea typeface="Calibri" pitchFamily="34" charset="-122"/>
                <a:cs typeface="Calibri" pitchFamily="34" charset="-120"/>
              </a:rPr>
              <a:t>Si las tres coinciden, tu confianza sube. Si discrepan, esa discrepancia te dice dónde ir a la fuente.</a:t>
            </a:r>
            <a:endParaRPr lang="en-US" sz="1250" dirty="0"/>
          </a:p>
        </p:txBody>
      </p:sp>
      <p:sp>
        <p:nvSpPr>
          <p:cNvPr id="27" name="Shape 25"/>
          <p:cNvSpPr/>
          <p:nvPr/>
        </p:nvSpPr>
        <p:spPr>
          <a:xfrm>
            <a:off x="566928" y="5870448"/>
            <a:ext cx="11057839" cy="493776"/>
          </a:xfrm>
          <a:prstGeom prst="roundRect">
            <a:avLst>
              <a:gd name="adj" fmla="val 11111"/>
            </a:avLst>
          </a:prstGeom>
          <a:solidFill>
            <a:srgbClr val="F7E4D8"/>
          </a:solidFill>
          <a:ln w="12700">
            <a:solidFill>
              <a:srgbClr val="F7E4D8"/>
            </a:solidFill>
            <a:prstDash val="solid"/>
          </a:ln>
        </p:spPr>
      </p:sp>
      <p:sp>
        <p:nvSpPr>
          <p:cNvPr id="28" name="Text 26"/>
          <p:cNvSpPr txBox="1"/>
          <p:nvPr/>
        </p:nvSpPr>
        <p:spPr>
          <a:xfrm>
            <a:off x="804672" y="5870448"/>
            <a:ext cx="10582351" cy="493776"/>
          </a:xfrm>
          <a:prstGeom prst="rect">
            <a:avLst/>
          </a:prstGeom>
          <a:noFill/>
          <a:ln/>
        </p:spPr>
        <p:txBody>
          <a:bodyPr wrap="square" lIns="0" tIns="0" rIns="0" bIns="0" rtlCol="0" anchor="ctr"/>
          <a:lstStyle/>
          <a:p>
            <a:pPr indent="0" marL="0">
              <a:buNone/>
            </a:pPr>
            <a:r>
              <a:rPr lang="en-US" sz="1300" b="1" dirty="0">
                <a:solidFill>
                  <a:srgbClr val="16262E"/>
                </a:solidFill>
                <a:latin typeface="Calibri" pitchFamily="34" charset="0"/>
                <a:ea typeface="Calibri" pitchFamily="34" charset="-122"/>
                <a:cs typeface="Calibri" pitchFamily="34" charset="-120"/>
              </a:rPr>
              <a:t>El paso 4 solo funciona con información verde. El informe de hoy lo es. En tu trabajo real, no puedes triangular un borrador interno.</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paso 3 en detalle: la contrapregunta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el paso que más rinde y el que menos gente usa.</a:t>
            </a:r>
            <a:endParaRPr lang="en-US" sz="1500" dirty="0"/>
          </a:p>
        </p:txBody>
      </p:sp>
      <p:sp>
        <p:nvSpPr>
          <p:cNvPr id="4" name="Shape 2"/>
          <p:cNvSpPr/>
          <p:nvPr/>
        </p:nvSpPr>
        <p:spPr>
          <a:xfrm>
            <a:off x="566928" y="1810512"/>
            <a:ext cx="11057839" cy="1828800"/>
          </a:xfrm>
          <a:prstGeom prst="roundRect">
            <a:avLst>
              <a:gd name="adj" fmla="val 4000"/>
            </a:avLst>
          </a:prstGeom>
          <a:solidFill>
            <a:srgbClr val="16262E"/>
          </a:solidFill>
          <a:ln w="12700">
            <a:solidFill>
              <a:srgbClr val="16262E"/>
            </a:solidFill>
            <a:prstDash val="solid"/>
          </a:ln>
        </p:spPr>
      </p:sp>
      <p:sp>
        <p:nvSpPr>
          <p:cNvPr id="5" name="Text 3"/>
          <p:cNvSpPr txBox="1"/>
          <p:nvPr/>
        </p:nvSpPr>
        <p:spPr>
          <a:xfrm>
            <a:off x="886968" y="2066544"/>
            <a:ext cx="10417759" cy="1316736"/>
          </a:xfrm>
          <a:prstGeom prst="rect">
            <a:avLst/>
          </a:prstGeom>
          <a:noFill/>
          <a:ln/>
        </p:spPr>
        <p:txBody>
          <a:bodyPr wrap="square" lIns="0" tIns="0" rIns="0" bIns="0" rtlCol="0" anchor="t"/>
          <a:lstStyle/>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Para cada una de las afirmaciones que acabas de hacer, indica la sección exacta</a:t>
            </a:r>
            <a:endParaRPr lang="en-US" sz="1300" dirty="0"/>
          </a:p>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del documento que la sostiene y transcribe la frase textual correspondiente.</a:t>
            </a:r>
            <a:endParaRPr lang="en-US" sz="1300" dirty="0"/>
          </a:p>
          <a:p>
            <a:pPr indent="0" marL="0">
              <a:lnSpc>
                <a:spcPct val="120000"/>
              </a:lnSpc>
              <a:buNone/>
            </a:pPr>
            <a:endParaRPr lang="en-US" sz="1300" dirty="0"/>
          </a:p>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Si alguna afirmación no se apoya en una frase concreta del documento, dilo</a:t>
            </a:r>
            <a:endParaRPr lang="en-US" sz="1300" dirty="0"/>
          </a:p>
          <a:p>
            <a:pPr indent="0" marL="0">
              <a:lnSpc>
                <a:spcPct val="120000"/>
              </a:lnSpc>
              <a:buNone/>
            </a:pPr>
            <a:r>
              <a:rPr lang="en-US" sz="1300" dirty="0">
                <a:solidFill>
                  <a:srgbClr val="FFFFFF"/>
                </a:solidFill>
                <a:latin typeface="Courier New" pitchFamily="34" charset="0"/>
                <a:ea typeface="Courier New" pitchFamily="34" charset="-122"/>
                <a:cs typeface="Courier New" pitchFamily="34" charset="-120"/>
              </a:rPr>
              <a:t>explícitamente en lugar de buscar una aproximada.</a:t>
            </a:r>
            <a:endParaRPr lang="en-US" sz="1300" dirty="0"/>
          </a:p>
        </p:txBody>
      </p:sp>
      <p:sp>
        <p:nvSpPr>
          <p:cNvPr id="6" name="Shape 4"/>
          <p:cNvSpPr/>
          <p:nvPr/>
        </p:nvSpPr>
        <p:spPr>
          <a:xfrm>
            <a:off x="566928" y="3840480"/>
            <a:ext cx="11057839" cy="749808"/>
          </a:xfrm>
          <a:prstGeom prst="roundRect">
            <a:avLst>
              <a:gd name="adj" fmla="val 9756"/>
            </a:avLst>
          </a:prstGeom>
          <a:solidFill>
            <a:srgbClr val="F7E4D8"/>
          </a:solidFill>
          <a:ln w="12700">
            <a:solidFill>
              <a:srgbClr val="F7E4D8"/>
            </a:solidFill>
            <a:prstDash val="solid"/>
          </a:ln>
        </p:spPr>
      </p:sp>
      <p:sp>
        <p:nvSpPr>
          <p:cNvPr id="7" name="Text 5"/>
          <p:cNvSpPr txBox="1"/>
          <p:nvPr/>
        </p:nvSpPr>
        <p:spPr>
          <a:xfrm>
            <a:off x="841248" y="3840480"/>
            <a:ext cx="10509199" cy="749808"/>
          </a:xfrm>
          <a:prstGeom prst="rect">
            <a:avLst/>
          </a:prstGeom>
          <a:noFill/>
          <a:ln/>
        </p:spPr>
        <p:txBody>
          <a:bodyPr wrap="square" lIns="0" tIns="0" rIns="0" bIns="0" rtlCol="0" anchor="ctr"/>
          <a:lstStyle/>
          <a:p>
            <a:pPr indent="0" marL="0">
              <a:buNone/>
            </a:pPr>
            <a:r>
              <a:rPr lang="en-US" sz="1400" b="1" dirty="0">
                <a:solidFill>
                  <a:srgbClr val="16262E"/>
                </a:solidFill>
                <a:latin typeface="Calibri" pitchFamily="34" charset="0"/>
                <a:ea typeface="Calibri" pitchFamily="34" charset="-122"/>
                <a:cs typeface="Calibri" pitchFamily="34" charset="-120"/>
              </a:rPr>
              <a:t>Cuando el modelo no puede señalar la frase, casi siempre es porque la inventó.</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1</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Encuentra lo que está mal en este informe</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10:05 a 11:10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Tu equipo hace un dictamen de validación</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Reciben un informe de evaluación de un programa de desarrollo social, de ocho páginas, hecho con IA. Tiene errores puestos a propósito.</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Los primeros diez minutos son de lectura humana. No abras ninguna herramienta todavía.</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Después aplica el protocolo de cuatro pasos. Los cuatro, en orden, y dejando registro de cada uno.</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Llena el dictamen. Por cada hallazgo: dónde está, qué tipo de error es, la evidencia de que es un error, y cómo debería decir.</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Archivos: Informe_sintetico_LAB1.docx y el Formato 3 de Formatos_de_trabajo_curso_IA.docx.</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85A28"/>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ANTES DE QUE EMPIECES, UNA ADVERTENCIA</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Si le pides a Copilot Chat, o a cualquiera de las gratuitas, que encuentre los errores, el modelo va a encontrar algunos, va a inventar otros, y va a pasar por alto casi todos los de omisión.</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Eso está bien y es parte del ejercicio. Cada error que el modelo te reporte lo tiene que verificar una persona de tu equipo antes de entrar al dictamen. Un hallazgo inventado por el modelo te baja puntos. Anotar los que descartaste te sube.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se califica tu dictamen</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Se aplica en vivo durante la puesta en común, contigo viéndola.</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901952"/>
          <a:ext cx="11057839" cy="914400"/>
        </p:xfrm>
        <a:graphic>
          <a:graphicData uri="http://schemas.openxmlformats.org/drawingml/2006/table">
            <a:tbl>
              <a:tblPr/>
              <a:tblGrid>
                <a:gridCol w="2834640"/>
                <a:gridCol w="914400"/>
                <a:gridCol w="7315200"/>
              </a:tblGrid>
              <a:tr h="621792">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Criterio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Peso</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Qué se evalúa</a:t>
                      </a:r>
                      <a:endParaRPr lang="en-US" sz="1300" dirty="0">
                        <a:latin typeface="Arial" charset="0"/>
                        <a:ea typeface="Arial" charset="0"/>
                        <a:cs typeface="Arial"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16262E"/>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Errores detectados</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35%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Cuántos de los errores puestos a propósito encontró tu equipo y si los clasificó bien.</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Uso del protocolo</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Si aplicaste los cuatro pasos y si quedó registro de cada uno en tu bitácora.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Calidad de la evidencia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Si cada hallazgo está sostenido con una referencia concreta que otra persona pueda repetir.</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2F5F6"/>
                    </a:solidFill>
                  </a:tcPr>
                </a:tc>
              </a:tr>
              <a:tr h="621792">
                <a:tc>
                  <a:txBody>
                    <a:bodyPr/>
                    <a:lstStyle/>
                    <a:p>
                      <a:pPr algn="l" indent="0" marL="0">
                        <a:buNone/>
                      </a:pPr>
                      <a:r>
                        <a:rPr lang="en-US" sz="1250" b="1" dirty="0">
                          <a:solidFill>
                            <a:srgbClr val="16262E"/>
                          </a:solidFill>
                          <a:latin typeface="Calibri" pitchFamily="34" charset="0"/>
                          <a:ea typeface="Calibri" pitchFamily="34" charset="-122"/>
                          <a:cs typeface="Calibri" pitchFamily="34" charset="-120"/>
                        </a:rPr>
                        <a:t>Corrección propuesta</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E"/>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6262E"/>
                          </a:solidFill>
                          <a:latin typeface="Calibri" pitchFamily="34" charset="0"/>
                          <a:ea typeface="Calibri" pitchFamily="34" charset="-122"/>
                          <a:cs typeface="Calibri" pitchFamily="34" charset="-120"/>
                        </a:rPr>
                        <a:t>Si la corrección es viable y está escrita con claridad.</a:t>
                      </a:r>
                      <a:endParaRPr lang="en-US" sz="1250" dirty="0">
                        <a:latin typeface="Calibri" charset="0"/>
                        <a:ea typeface="Calibri" charset="0"/>
                        <a:cs typeface="Calibri" charset="0"/>
                      </a:endParaRPr>
                    </a:p>
                  </a:txBody>
                  <a:tcPr marL="76200" marR="76200" marT="76200" marB="76200" anchor="ctr">
                    <a:lnL w="12700" cap="flat" cmpd="sng" algn="ctr">
                      <a:solidFill>
                        <a:srgbClr val="D5DDE0"/>
                      </a:solidFill>
                      <a:prstDash val="solid"/>
                      <a:round/>
                      <a:headEnd type="none" w="med" len="med"/>
                      <a:tailEnd type="none" w="med" len="med"/>
                    </a:lnL>
                    <a:lnR w="12700" cap="flat" cmpd="sng" algn="ctr">
                      <a:solidFill>
                        <a:srgbClr val="D5DDE0"/>
                      </a:solidFill>
                      <a:prstDash val="solid"/>
                      <a:round/>
                      <a:headEnd type="none" w="med" len="med"/>
                      <a:tailEnd type="none" w="med" len="med"/>
                    </a:lnR>
                    <a:lnT w="12700" cap="flat" cmpd="sng" algn="ctr">
                      <a:solidFill>
                        <a:srgbClr val="D5DDE0"/>
                      </a:solidFill>
                      <a:prstDash val="solid"/>
                      <a:round/>
                      <a:headEnd type="none" w="med" len="med"/>
                      <a:tailEnd type="none" w="med" len="med"/>
                    </a:lnT>
                    <a:lnB w="12700" cap="flat" cmpd="sng" algn="ctr">
                      <a:solidFill>
                        <a:srgbClr val="D5DD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preguntas para cerrar</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Después de que cada equipo presente su hallazgo y de que revelemos la lista completa.</a:t>
            </a:r>
            <a:endParaRPr lang="en-US" sz="1500" dirty="0"/>
          </a:p>
        </p:txBody>
      </p:sp>
      <p:sp>
        <p:nvSpPr>
          <p:cNvPr id="4" name="Shape 2"/>
          <p:cNvSpPr/>
          <p:nvPr/>
        </p:nvSpPr>
        <p:spPr>
          <a:xfrm>
            <a:off x="566928" y="2011680"/>
            <a:ext cx="3503066" cy="2757932"/>
          </a:xfrm>
          <a:prstGeom prst="roundRect">
            <a:avLst>
              <a:gd name="adj" fmla="val 2652"/>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error habría hecho más daño?</a:t>
            </a:r>
            <a:endParaRPr lang="en-US" sz="1600" dirty="0"/>
          </a:p>
        </p:txBody>
      </p:sp>
      <p:sp>
        <p:nvSpPr>
          <p:cNvPr id="8" name="Text 6"/>
          <p:cNvSpPr txBox="1"/>
          <p:nvPr/>
        </p:nvSpPr>
        <p:spPr>
          <a:xfrm>
            <a:off x="804672"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el informe se publica tal cual. Piénsalo en términos de qué decisión se habría tomado mal.</a:t>
            </a:r>
            <a:endParaRPr lang="en-US" sz="1300" dirty="0"/>
          </a:p>
        </p:txBody>
      </p:sp>
      <p:sp>
        <p:nvSpPr>
          <p:cNvPr id="9" name="Shape 7"/>
          <p:cNvSpPr/>
          <p:nvPr/>
        </p:nvSpPr>
        <p:spPr>
          <a:xfrm>
            <a:off x="4344314" y="2011680"/>
            <a:ext cx="3503066" cy="2757932"/>
          </a:xfrm>
          <a:prstGeom prst="roundRect">
            <a:avLst>
              <a:gd name="adj" fmla="val 2652"/>
            </a:avLst>
          </a:prstGeom>
          <a:solidFill>
            <a:srgbClr val="F2F5F6"/>
          </a:solidFill>
          <a:ln w="12700">
            <a:solidFill>
              <a:srgbClr val="F2F5F6"/>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¿Cuántos equipos revisaron la bibliografía?</a:t>
            </a:r>
            <a:endParaRPr lang="en-US" sz="1600" dirty="0"/>
          </a:p>
        </p:txBody>
      </p:sp>
      <p:sp>
        <p:nvSpPr>
          <p:cNvPr id="13" name="Text 11"/>
          <p:cNvSpPr txBox="1"/>
          <p:nvPr/>
        </p:nvSpPr>
        <p:spPr>
          <a:xfrm>
            <a:off x="4582058"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Normalmente son muy pocos. Ese solo dato justifica la sesión completa.</a:t>
            </a:r>
            <a:endParaRPr lang="en-US" sz="1300" dirty="0"/>
          </a:p>
        </p:txBody>
      </p:sp>
      <p:sp>
        <p:nvSpPr>
          <p:cNvPr id="14" name="Shape 12"/>
          <p:cNvSpPr/>
          <p:nvPr/>
        </p:nvSpPr>
        <p:spPr>
          <a:xfrm>
            <a:off x="8121701" y="2011680"/>
            <a:ext cx="3503066" cy="2757932"/>
          </a:xfrm>
          <a:prstGeom prst="roundRect">
            <a:avLst>
              <a:gd name="adj" fmla="val 2652"/>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de los cuatro pasos te rindió más?</a:t>
            </a:r>
            <a:endParaRPr lang="en-US" sz="1600" dirty="0"/>
          </a:p>
        </p:txBody>
      </p:sp>
      <p:sp>
        <p:nvSpPr>
          <p:cNvPr id="18" name="Text 16"/>
          <p:cNvSpPr txBox="1"/>
          <p:nvPr/>
        </p:nvSpPr>
        <p:spPr>
          <a:xfrm>
            <a:off x="8359445" y="352755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 ahí sale la regla práctica que te llevas a tu escritorio.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62E"/>
        </a:solidFill>
      </p:bgPr>
    </p:bg>
    <p:spTree>
      <p:nvGrpSpPr>
        <p:cNvPr id="2" name=""/>
        <p:cNvGrpSpPr/>
        <p:nvPr/>
      </p:nvGrpSpPr>
      <p:grpSpPr>
        <a:xfrm>
          <a:off x="0" y="0"/>
          <a:ext cx="0" cy="0"/>
          <a:chOff x="0" y="0"/>
          <a:chExt cx="0" cy="0"/>
        </a:xfrm>
      </p:grpSpPr>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Lo que entregas hoy</a:t>
            </a:r>
            <a:endParaRPr lang="en-US" sz="3000" dirty="0"/>
          </a:p>
        </p:txBody>
      </p:sp>
      <p:sp>
        <p:nvSpPr>
          <p:cNvPr id="5" name="Shape 3"/>
          <p:cNvSpPr/>
          <p:nvPr/>
        </p:nvSpPr>
        <p:spPr>
          <a:xfrm>
            <a:off x="566928" y="1885950"/>
            <a:ext cx="11057839" cy="63000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1999782"/>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1999782"/>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194949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El dictamen de validación de tu equipo, con todos los hallazgos verificados. Por correo: S03_Equipo##_Dictamen.docx, lo manda una sola persona.</a:t>
            </a:r>
            <a:endParaRPr lang="en-US" sz="1450" dirty="0"/>
          </a:p>
        </p:txBody>
      </p:sp>
      <p:sp>
        <p:nvSpPr>
          <p:cNvPr id="9" name="Shape 3"/>
          <p:cNvSpPr/>
          <p:nvPr/>
        </p:nvSpPr>
        <p:spPr>
          <a:xfrm>
            <a:off x="566928" y="2600950"/>
            <a:ext cx="11057839" cy="630000"/>
          </a:xfrm>
          <a:prstGeom prst="roundRect">
            <a:avLst>
              <a:gd name="adj" fmla="val 7467"/>
            </a:avLst>
          </a:prstGeom>
          <a:solidFill>
            <a:srgbClr val="24404E"/>
          </a:solidFill>
          <a:ln w="12700">
            <a:solidFill>
              <a:srgbClr val="24404E"/>
            </a:solidFill>
            <a:prstDash val="solid"/>
          </a:ln>
        </p:spPr>
      </p:sp>
      <p:sp>
        <p:nvSpPr>
          <p:cNvPr id="10" name="Shape 4"/>
          <p:cNvSpPr/>
          <p:nvPr/>
        </p:nvSpPr>
        <p:spPr>
          <a:xfrm>
            <a:off x="804672" y="2714782"/>
            <a:ext cx="402336" cy="402336"/>
          </a:xfrm>
          <a:prstGeom prst="ellipse">
            <a:avLst/>
          </a:prstGeom>
          <a:solidFill>
            <a:srgbClr val="2E7D7D"/>
          </a:solidFill>
          <a:ln w="12700">
            <a:solidFill>
              <a:srgbClr val="2E7D7D"/>
            </a:solidFill>
            <a:prstDash val="solid"/>
          </a:ln>
        </p:spPr>
      </p:sp>
      <p:sp>
        <p:nvSpPr>
          <p:cNvPr id="11" name="Text 5"/>
          <p:cNvSpPr txBox="1"/>
          <p:nvPr/>
        </p:nvSpPr>
        <p:spPr>
          <a:xfrm>
            <a:off x="804672" y="2714782"/>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6"/>
          <p:cNvSpPr txBox="1"/>
          <p:nvPr/>
        </p:nvSpPr>
        <p:spPr>
          <a:xfrm>
            <a:off x="1426464" y="266449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lista de hallazgos que el modelo reportó y que tu equipo descartó, con la razón. Esa lista cuenta a favor.</a:t>
            </a:r>
            <a:endParaRPr lang="en-US" sz="1450" dirty="0"/>
          </a:p>
        </p:txBody>
      </p:sp>
      <p:sp>
        <p:nvSpPr>
          <p:cNvPr id="13" name="Shape 3"/>
          <p:cNvSpPr/>
          <p:nvPr/>
        </p:nvSpPr>
        <p:spPr>
          <a:xfrm>
            <a:off x="566928" y="3315950"/>
            <a:ext cx="11057839" cy="630000"/>
          </a:xfrm>
          <a:prstGeom prst="roundRect">
            <a:avLst>
              <a:gd name="adj" fmla="val 7467"/>
            </a:avLst>
          </a:prstGeom>
          <a:solidFill>
            <a:srgbClr val="24404E"/>
          </a:solidFill>
          <a:ln w="12700">
            <a:solidFill>
              <a:srgbClr val="24404E"/>
            </a:solidFill>
            <a:prstDash val="solid"/>
          </a:ln>
        </p:spPr>
      </p:sp>
      <p:sp>
        <p:nvSpPr>
          <p:cNvPr id="14" name="Shape 4"/>
          <p:cNvSpPr/>
          <p:nvPr/>
        </p:nvSpPr>
        <p:spPr>
          <a:xfrm>
            <a:off x="804672" y="3429782"/>
            <a:ext cx="402336" cy="402336"/>
          </a:xfrm>
          <a:prstGeom prst="ellipse">
            <a:avLst/>
          </a:prstGeom>
          <a:solidFill>
            <a:srgbClr val="2E7D7D"/>
          </a:solidFill>
          <a:ln w="12700">
            <a:solidFill>
              <a:srgbClr val="2E7D7D"/>
            </a:solidFill>
            <a:prstDash val="solid"/>
          </a:ln>
        </p:spPr>
      </p:sp>
      <p:sp>
        <p:nvSpPr>
          <p:cNvPr id="15" name="Text 5"/>
          <p:cNvSpPr txBox="1"/>
          <p:nvPr/>
        </p:nvSpPr>
        <p:spPr>
          <a:xfrm>
            <a:off x="804672" y="3429782"/>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6"/>
          <p:cNvSpPr txBox="1"/>
          <p:nvPr/>
        </p:nvSpPr>
        <p:spPr>
          <a:xfrm>
            <a:off x="1426464" y="337949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Tu bitácora al día, con los prompts de verificación que usaste, incluido el del calentamiento.</a:t>
            </a:r>
            <a:endParaRPr lang="en-US" sz="1450" dirty="0"/>
          </a:p>
        </p:txBody>
      </p:sp>
      <p:sp>
        <p:nvSpPr>
          <p:cNvPr id="17" name="Shape 3"/>
          <p:cNvSpPr/>
          <p:nvPr/>
        </p:nvSpPr>
        <p:spPr>
          <a:xfrm>
            <a:off x="566928" y="4030950"/>
            <a:ext cx="11057839" cy="630000"/>
          </a:xfrm>
          <a:prstGeom prst="roundRect">
            <a:avLst>
              <a:gd name="adj" fmla="val 7467"/>
            </a:avLst>
          </a:prstGeom>
          <a:solidFill>
            <a:srgbClr val="24404E"/>
          </a:solidFill>
          <a:ln w="12700">
            <a:solidFill>
              <a:srgbClr val="24404E"/>
            </a:solidFill>
            <a:prstDash val="solid"/>
          </a:ln>
        </p:spPr>
      </p:sp>
      <p:sp>
        <p:nvSpPr>
          <p:cNvPr id="18" name="Shape 4"/>
          <p:cNvSpPr/>
          <p:nvPr/>
        </p:nvSpPr>
        <p:spPr>
          <a:xfrm>
            <a:off x="804672" y="4144782"/>
            <a:ext cx="402336" cy="402336"/>
          </a:xfrm>
          <a:prstGeom prst="ellipse">
            <a:avLst/>
          </a:prstGeom>
          <a:solidFill>
            <a:srgbClr val="2E7D7D"/>
          </a:solidFill>
          <a:ln w="12700">
            <a:solidFill>
              <a:srgbClr val="2E7D7D"/>
            </a:solidFill>
            <a:prstDash val="solid"/>
          </a:ln>
        </p:spPr>
      </p:sp>
      <p:sp>
        <p:nvSpPr>
          <p:cNvPr id="19" name="Text 5"/>
          <p:cNvSpPr txBox="1"/>
          <p:nvPr/>
        </p:nvSpPr>
        <p:spPr>
          <a:xfrm>
            <a:off x="804672" y="4144782"/>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6"/>
          <p:cNvSpPr txBox="1"/>
          <p:nvPr/>
        </p:nvSpPr>
        <p:spPr>
          <a:xfrm>
            <a:off x="1426464" y="409449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Pendiente de la sesión 2: los tres prompts de tu biblioteca se entregan el viernes antes de las 9:00, cada uno con sus dos versiones.</a:t>
            </a:r>
            <a:endParaRPr lang="en-US" sz="1450" dirty="0"/>
          </a:p>
        </p:txBody>
      </p:sp>
      <p:sp>
        <p:nvSpPr>
          <p:cNvPr id="21" name="Shape 3"/>
          <p:cNvSpPr/>
          <p:nvPr/>
        </p:nvSpPr>
        <p:spPr>
          <a:xfrm>
            <a:off x="566928" y="4745950"/>
            <a:ext cx="11057839" cy="630000"/>
          </a:xfrm>
          <a:prstGeom prst="roundRect">
            <a:avLst>
              <a:gd name="adj" fmla="val 7467"/>
            </a:avLst>
          </a:prstGeom>
          <a:solidFill>
            <a:srgbClr val="24404E"/>
          </a:solidFill>
          <a:ln w="12700">
            <a:solidFill>
              <a:srgbClr val="24404E"/>
            </a:solidFill>
            <a:prstDash val="solid"/>
          </a:ln>
        </p:spPr>
      </p:sp>
      <p:sp>
        <p:nvSpPr>
          <p:cNvPr id="22" name="Shape 4"/>
          <p:cNvSpPr/>
          <p:nvPr/>
        </p:nvSpPr>
        <p:spPr>
          <a:xfrm>
            <a:off x="804672" y="4859782"/>
            <a:ext cx="402336" cy="402336"/>
          </a:xfrm>
          <a:prstGeom prst="ellipse">
            <a:avLst/>
          </a:prstGeom>
          <a:solidFill>
            <a:srgbClr val="2E7D7D"/>
          </a:solidFill>
          <a:ln w="12700">
            <a:solidFill>
              <a:srgbClr val="2E7D7D"/>
            </a:solidFill>
            <a:prstDash val="solid"/>
          </a:ln>
        </p:spPr>
      </p:sp>
      <p:sp>
        <p:nvSpPr>
          <p:cNvPr id="23" name="Text 5"/>
          <p:cNvSpPr txBox="1"/>
          <p:nvPr/>
        </p:nvSpPr>
        <p:spPr>
          <a:xfrm>
            <a:off x="804672" y="4859782"/>
            <a:ext cx="402336" cy="402336"/>
          </a:xfrm>
          <a:prstGeom prst="rect">
            <a:avLst/>
          </a:prstGeom>
          <a:noFill/>
          <a:ln/>
        </p:spPr>
        <p:txBody>
          <a:bodyPr wrap="square" lIns="0" tIns="0" rIns="0" bIns="0" rtlCol="0" anchor="ctr"/>
          <a:lstStyle/>
          <a:p>
            <a:pPr algn="ctr" indent="0" marL="0">
              <a:buNone/>
            </a:pPr>
            <a:endParaRPr lang="en-US" sz="1200" dirty="0"/>
          </a:p>
        </p:txBody>
      </p:sp>
      <p:sp>
        <p:nvSpPr>
          <p:cNvPr id="24" name="Text 6"/>
          <p:cNvSpPr txBox="1"/>
          <p:nvPr/>
        </p:nvSpPr>
        <p:spPr>
          <a:xfrm>
            <a:off x="1426464" y="480949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También en casa: el hilo de correo y la transcripción, con la sección 3 del handout del martes como guía.</a:t>
            </a:r>
            <a:endParaRPr lang="en-US" sz="1450" dirty="0"/>
          </a:p>
        </p:txBody>
      </p:sp>
      <p:sp>
        <p:nvSpPr>
          <p:cNvPr id="25" name="Shape 3"/>
          <p:cNvSpPr/>
          <p:nvPr/>
        </p:nvSpPr>
        <p:spPr>
          <a:xfrm>
            <a:off x="566928" y="5460950"/>
            <a:ext cx="11057839" cy="630000"/>
          </a:xfrm>
          <a:prstGeom prst="roundRect">
            <a:avLst>
              <a:gd name="adj" fmla="val 7467"/>
            </a:avLst>
          </a:prstGeom>
          <a:solidFill>
            <a:srgbClr val="24404E"/>
          </a:solidFill>
          <a:ln w="12700">
            <a:solidFill>
              <a:srgbClr val="24404E"/>
            </a:solidFill>
            <a:prstDash val="solid"/>
          </a:ln>
        </p:spPr>
      </p:sp>
      <p:sp>
        <p:nvSpPr>
          <p:cNvPr id="26" name="Shape 4"/>
          <p:cNvSpPr/>
          <p:nvPr/>
        </p:nvSpPr>
        <p:spPr>
          <a:xfrm>
            <a:off x="804672" y="5574782"/>
            <a:ext cx="402336" cy="402336"/>
          </a:xfrm>
          <a:prstGeom prst="ellipse">
            <a:avLst/>
          </a:prstGeom>
          <a:solidFill>
            <a:srgbClr val="2E7D7D"/>
          </a:solidFill>
          <a:ln w="12700">
            <a:solidFill>
              <a:srgbClr val="2E7D7D"/>
            </a:solidFill>
            <a:prstDash val="solid"/>
          </a:ln>
        </p:spPr>
      </p:sp>
      <p:sp>
        <p:nvSpPr>
          <p:cNvPr id="27" name="Text 5"/>
          <p:cNvSpPr txBox="1"/>
          <p:nvPr/>
        </p:nvSpPr>
        <p:spPr>
          <a:xfrm>
            <a:off x="804672" y="5574782"/>
            <a:ext cx="402336" cy="402336"/>
          </a:xfrm>
          <a:prstGeom prst="rect">
            <a:avLst/>
          </a:prstGeom>
          <a:noFill/>
          <a:ln/>
        </p:spPr>
        <p:txBody>
          <a:bodyPr wrap="square" lIns="0" tIns="0" rIns="0" bIns="0" rtlCol="0" anchor="ctr"/>
          <a:lstStyle/>
          <a:p>
            <a:pPr algn="ctr" indent="0" marL="0">
              <a:buNone/>
            </a:pPr>
            <a:endParaRPr lang="en-US" sz="1200" dirty="0"/>
          </a:p>
        </p:txBody>
      </p:sp>
      <p:sp>
        <p:nvSpPr>
          <p:cNvPr id="28" name="Text 6"/>
          <p:cNvSpPr txBox="1"/>
          <p:nvPr/>
        </p:nvSpPr>
        <p:spPr>
          <a:xfrm>
            <a:off x="1426464" y="552449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Con esto cierra el Módulo I. Mañana empieza el trabajo cualitativo, que es donde vas a pasar la mayor parte del tiempo.</a:t>
            </a:r>
            <a:endParaRPr lang="en-US" sz="1450" dirty="0"/>
          </a:p>
        </p:txBody>
      </p:sp>
      <p:sp>
        <p:nvSpPr>
          <p:cNvPr id="29"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4, viernes 18 de septiembre: procesamiento de lenguaje natural para la gestión documental.</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Mapa corregido">
    <p:spTree>
      <p:nvGrpSpPr>
        <p:cNvPr id="1" name=""/>
        <p:cNvGrpSpPr/>
        <p:nvPr/>
      </p:nvGrpSpPr>
      <p:grpSpPr>
        <a:xfrm>
          <a:off x="0" y="0"/>
          <a:ext cx="0" cy="0"/>
          <a:chOff x="0" y="0"/>
          <a:chExt cx="0" cy="0"/>
        </a:xfrm>
      </p:grpSpPr>
      <p:sp>
        <p:nvSpPr>
          <p:cNvPr id="8"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Dónde vive Copilot en el INEGI, corregido</a:t>
            </a:r>
            <a:endParaRPr lang="en-US" sz="3200" dirty="0"/>
          </a:p>
        </p:txBody>
      </p:sp>
      <p:sp>
        <p:nvSpPr>
          <p:cNvPr id="9" name="Text"/>
          <p:cNvSpPr txBox="1"/>
          <p:nvPr/>
        </p:nvSpPr>
        <p:spPr>
          <a:xfrm>
            <a:off x="566928" y="1280160"/>
            <a:ext cx="11057839" cy="73152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Cambia dónde se trabaja, no la regla. Queda aquí como referencia para el resto del curso.</a:t>
            </a:r>
            <a:endParaRPr lang="en-US" sz="1500" dirty="0"/>
          </a:p>
        </p:txBody>
      </p:sp>
      <p:sp>
        <p:nvSpPr>
          <p:cNvPr id="2" name="Shape"/>
          <p:cNvSpPr/>
          <p:nvPr/>
        </p:nvSpPr>
        <p:spPr>
          <a:xfrm>
            <a:off x="566928" y="1810512"/>
            <a:ext cx="5460655" cy="3400000"/>
          </a:xfrm>
          <a:prstGeom prst="roundRect">
            <a:avLst>
              <a:gd name="adj" fmla="val 2933"/>
            </a:avLst>
          </a:prstGeom>
          <a:solidFill>
            <a:srgbClr val="D7E7E7"/>
          </a:solidFill>
          <a:ln w="12700">
            <a:solidFill>
              <a:srgbClr val="D7E7E7"/>
            </a:solidFill>
            <a:prstDash val="solid"/>
          </a:ln>
        </p:spPr>
      </p:sp>
      <p:sp>
        <p:nvSpPr>
          <p:cNvPr id="3" name="Text"/>
          <p:cNvSpPr txBox="1"/>
          <p:nvPr/>
        </p:nvSpPr>
        <p:spPr>
          <a:xfrm>
            <a:off x="841248" y="2029968"/>
            <a:ext cx="4912015" cy="365760"/>
          </a:xfrm>
          <a:prstGeom prst="rect">
            <a:avLst/>
          </a:prstGeom>
          <a:noFill/>
          <a:ln/>
        </p:spPr>
        <p:txBody>
          <a:bodyPr wrap="square" lIns="0" tIns="0" rIns="0" bIns="0" rtlCol="0" anchor="t"/>
          <a:lstStyle/>
          <a:p>
            <a:pPr indent="0" marL="0">
              <a:buNone/>
            </a:pPr>
            <a:r>
              <a:rPr lang="en-US" sz="1700" b="1" dirty="0">
                <a:solidFill>
                  <a:srgbClr val="2E7D7D"/>
                </a:solidFill>
                <a:latin typeface="Arial" pitchFamily="34" charset="0"/>
                <a:ea typeface="Arial" pitchFamily="34" charset="-122"/>
                <a:cs typeface="Arial" pitchFamily="34" charset="-120"/>
              </a:rPr>
              <a:t>Lo que sí tienes: Copilot Chat</a:t>
            </a:r>
            <a:endParaRPr lang="en-US" sz="1700" dirty="0"/>
          </a:p>
        </p:txBody>
      </p:sp>
      <p:sp>
        <p:nvSpPr>
          <p:cNvPr id="4" name="Text"/>
          <p:cNvSpPr txBox="1"/>
          <p:nvPr/>
        </p:nvSpPr>
        <p:spPr>
          <a:xfrm>
            <a:off x="841248" y="2560320"/>
            <a:ext cx="4912015" cy="2800000"/>
          </a:xfrm>
          <a:prstGeom prst="rect">
            <a:avLst/>
          </a:prstGeom>
          <a:noFill/>
          <a:ln/>
        </p:spPr>
        <p:txBody>
          <a:bodyPr wrap="square" lIns="0" tIns="0" rIns="0" bIns="0" rtlCol="0" anchor="t"/>
          <a:lstStyle/>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Con tu cuenta del Instituto estás dentro del contrato: tus prompts y tus archivos no entrenan modelos.</a:t>
            </a:r>
            <a:endParaRPr lang="en-US" sz="1300" dirty="0"/>
          </a:p>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Puede leer tus archivos de OneDrive: adjúntalos desde el chat o referéncialos. Lo comprobamos el martes en vivo.</a:t>
            </a:r>
            <a:endParaRPr lang="en-US" sz="1300" dirty="0"/>
          </a:p>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Es el único lugar para trabajar información amarilla.</a:t>
            </a:r>
            <a:endParaRPr lang="en-US" sz="1300" dirty="0"/>
          </a:p>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El calentamiento de hoy corre exactamente así: tu archivo adjunto y el prompt de seis casillas.</a:t>
            </a:r>
            <a:endParaRPr lang="en-US" sz="1300" dirty="0"/>
          </a:p>
        </p:txBody>
      </p:sp>
      <p:sp>
        <p:nvSpPr>
          <p:cNvPr id="5" name="Shape"/>
          <p:cNvSpPr/>
          <p:nvPr/>
        </p:nvSpPr>
        <p:spPr>
          <a:xfrm>
            <a:off x="6164511" y="1810512"/>
            <a:ext cx="5460655" cy="3400000"/>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6438831" y="2029968"/>
            <a:ext cx="4912015" cy="365760"/>
          </a:xfrm>
          <a:prstGeom prst="rect">
            <a:avLst/>
          </a:prstGeom>
          <a:noFill/>
          <a:ln/>
        </p:spPr>
        <p:txBody>
          <a:bodyPr wrap="square" lIns="0" tIns="0" rIns="0" bIns="0" rtlCol="0" anchor="t"/>
          <a:lstStyle/>
          <a:p>
            <a:pPr indent="0" marL="0">
              <a:buNone/>
            </a:pPr>
            <a:r>
              <a:rPr lang="en-US" sz="1700" b="1" dirty="0">
                <a:solidFill>
                  <a:srgbClr val="5A6B73"/>
                </a:solidFill>
                <a:latin typeface="Arial" pitchFamily="34" charset="0"/>
                <a:ea typeface="Arial" pitchFamily="34" charset="-122"/>
                <a:cs typeface="Arial" pitchFamily="34" charset="-120"/>
              </a:rPr>
              <a:t>Lo que no aparece</a:t>
            </a:r>
            <a:endParaRPr lang="en-US" sz="1700" dirty="0"/>
          </a:p>
        </p:txBody>
      </p:sp>
      <p:sp>
        <p:nvSpPr>
          <p:cNvPr id="7" name="Text"/>
          <p:cNvSpPr txBox="1"/>
          <p:nvPr/>
        </p:nvSpPr>
        <p:spPr>
          <a:xfrm>
            <a:off x="6438831" y="2560320"/>
            <a:ext cx="4912015" cy="2800000"/>
          </a:xfrm>
          <a:prstGeom prst="rect">
            <a:avLst/>
          </a:prstGeom>
          <a:noFill/>
          <a:ln/>
        </p:spPr>
        <p:txBody>
          <a:bodyPr wrap="square" lIns="0" tIns="0" rIns="0" bIns="0" rtlCol="0" anchor="t"/>
          <a:lstStyle/>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Copilot dentro de Word, Excel, Outlook y Teams no está habilitado en el Instituto.</a:t>
            </a:r>
            <a:endParaRPr lang="en-US" sz="1300" dirty="0"/>
          </a:p>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Donde una práctica del curso diga «Copilot en Word», léela como «Copilot Chat con el archivo adjunto».</a:t>
            </a:r>
            <a:endParaRPr lang="en-US" sz="1300" dirty="0"/>
          </a:p>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Sin tu cuenta institucional, Copilot queda fuera del contrato: solo información verde.</a:t>
            </a:r>
            <a:endParaRPr lang="en-US" sz="1300" dirty="0"/>
          </a:p>
          <a:p>
            <a:pPr indent="0" marL="0">
              <a:lnSpc>
                <a:spcPct val="110000"/>
              </a:lnSpc>
              <a:spcAft>
                <a:spcPts val="800"/>
              </a:spcAft>
              <a:buNone/>
            </a:pPr>
            <a:r>
              <a:rPr lang="en-US" sz="1300" dirty="0">
                <a:solidFill>
                  <a:srgbClr val="16262E"/>
                </a:solidFill>
                <a:latin typeface="Calibri" pitchFamily="34" charset="0"/>
                <a:ea typeface="Calibri" pitchFamily="34" charset="-122"/>
                <a:cs typeface="Calibri" pitchFamily="34" charset="-120"/>
              </a:rPr>
              <a:t>Outlook y Teams siguen funcionando igual que siempre: lo que no hay es el asistente adentro.</a:t>
            </a:r>
            <a:endParaRPr lang="en-US" sz="1300" dirty="0"/>
          </a:p>
        </p:txBody>
      </p:sp>
      <p:sp>
        <p:nvSpPr>
          <p:cNvPr id="10" name="Shape"/>
          <p:cNvSpPr/>
          <p:nvPr/>
        </p:nvSpPr>
        <p:spPr>
          <a:xfrm>
            <a:off x="566928" y="5824728"/>
            <a:ext cx="11057839" cy="594360"/>
          </a:xfrm>
          <a:prstGeom prst="roundRect">
            <a:avLst>
              <a:gd name="adj" fmla="val 8235"/>
            </a:avLst>
          </a:prstGeom>
          <a:solidFill>
            <a:srgbClr val="F7E4D8"/>
          </a:solidFill>
          <a:ln w="12700">
            <a:solidFill>
              <a:srgbClr val="F7E4D8"/>
            </a:solidFill>
            <a:prstDash val="solid"/>
          </a:ln>
        </p:spPr>
      </p:sp>
      <p:sp>
        <p:nvSpPr>
          <p:cNvPr id="11" name="Text"/>
          <p:cNvSpPr txBox="1"/>
          <p:nvPr/>
        </p:nvSpPr>
        <p:spPr>
          <a:xfrm>
            <a:off x="804672" y="5824728"/>
            <a:ext cx="10582351" cy="59436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semáforo no cambia: verde en cualquier herramienta, amarillo solo en Copilot Chat con tu cuenta del Instituto, y rojo en ninguna.</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Calentamiento anclaje">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Tu documento, tu tabla, tu verificación</a:t>
            </a:r>
            <a:endParaRPr lang="en-US" sz="2900" dirty="0"/>
          </a:p>
        </p:txBody>
      </p:sp>
      <p:sp>
        <p:nvSpPr>
          <p:cNvPr id="7" name="Shape"/>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Abre Copilot Chat con tu cuenta del Instituto y adjunta tu documento normativo: súbelo directo o referéncialo desde OneDrive.</a:t>
            </a:r>
            <a:endParaRPr lang="en-US" sz="1450" dirty="0"/>
          </a:p>
        </p:txBody>
      </p:sp>
      <p:sp>
        <p:nvSpPr>
          <p:cNvPr id="11" name="Shape"/>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Corre el prompt completo de la sección 2 del handout del martes: la tabla con la sección de donde salió cada dato.</a:t>
            </a:r>
            <a:endParaRPr lang="en-US" sz="1450" dirty="0"/>
          </a:p>
        </p:txBody>
      </p:sp>
      <p:sp>
        <p:nvSpPr>
          <p:cNvPr id="15" name="Shape"/>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Elige tres celdas al azar y búscalas en el documento original. Anota cuántas de las tres coincidían.</a:t>
            </a:r>
            <a:endParaRPr lang="en-US" sz="1450" dirty="0"/>
          </a:p>
        </p:txBody>
      </p:sp>
      <p:sp>
        <p:nvSpPr>
          <p:cNvPr id="19" name="Shape"/>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Registra el prompt y el resultado en tu bitácora. ¿Tres de tres? Verifica otras tres: un seis de seis es raro.</a:t>
            </a:r>
            <a:endParaRPr lang="en-US" sz="1450" dirty="0"/>
          </a:p>
        </p:txBody>
      </p:sp>
      <p:sp>
        <p:nvSpPr>
          <p:cNvPr id="23" name="Shape"/>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p:cNvSpPr txBox="1"/>
          <p:nvPr/>
        </p:nvSpPr>
        <p:spPr>
          <a:xfrm>
            <a:off x="841248" y="5193792"/>
            <a:ext cx="10509199" cy="777240"/>
          </a:xfrm>
          <a:prstGeom prst="rect">
            <a:avLst/>
          </a:prstGeom>
          <a:noFill/>
          <a:ln/>
        </p:spPr>
        <p:txBody>
          <a:bodyPr wrap="square" lIns="0" tIns="0" rIns="0" bIns="0" rtlCol="0" anchor="ctr"/>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Era la práctica pendiente del martes y es el paso Traza del protocolo de hoy, antes de ponerle nombre. Casi siempre aparece al menos un error: encontrarlo es el punto.</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Receso equipos">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2E7D7D"/>
          </a:solidFill>
          <a:ln w="12700">
            <a:solidFill>
              <a:srgbClr val="2E7D7D"/>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10</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MINUTOS DE RECESO Y EQUIPOS</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Formamos los seis equipos de cuatro</a:t>
            </a:r>
            <a:endParaRPr lang="en-US" sz="3400" dirty="0"/>
          </a:p>
        </p:txBody>
      </p:sp>
      <p:sp>
        <p:nvSpPr>
          <p:cNvPr id="6" name="Text"/>
          <p:cNvSpPr txBox="1"/>
          <p:nvPr/>
        </p:nvSpPr>
        <p:spPr>
          <a:xfrm>
            <a:off x="2487168" y="3990000"/>
            <a:ext cx="8961120" cy="731520"/>
          </a:xfrm>
          <a:prstGeom prst="rect">
            <a:avLst/>
          </a:prstGeom>
          <a:noFill/>
          <a:ln/>
        </p:spPr>
        <p:txBody>
          <a:bodyPr wrap="square" lIns="0" tIns="0" rIns="0" bIns="0" rtlCol="0" anchor="t"/>
          <a:lstStyle/>
          <a:p>
            <a:pPr indent="0" marL="0">
              <a:lnSpc>
                <a:spcPct val="110000"/>
              </a:lnSpc>
              <a:buNone/>
            </a:pPr>
            <a:r>
              <a:rPr lang="en-US" sz="1500" dirty="0">
                <a:solidFill>
                  <a:srgbClr val="D7E7E7"/>
                </a:solidFill>
                <a:latin typeface="Calibri" pitchFamily="34" charset="0"/>
                <a:ea typeface="Calibri" pitchFamily="34" charset="-122"/>
                <a:cs typeface="Calibri" pitchFamily="34" charset="-120"/>
              </a:rPr>
              <a:t>Cada equipo necesita al menos una persona que haya usado IA para programar. Según la encuesta de la sesión 1 hay al menos trece: alcanza y sobra.</a:t>
            </a:r>
            <a:endParaRPr lang="en-US" sz="1500" dirty="0"/>
          </a:p>
        </p:txBody>
      </p:sp>
      <p:sp>
        <p:nvSpPr>
          <p:cNvPr id="7"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8"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9:55 a 10:05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2026-09-13T23:31:27Z</dcterms:created>
  <dcterms:modified xsi:type="dcterms:W3CDTF">2026-09-13T23:31:27Z</dcterms:modified>
</cp:coreProperties>
</file>