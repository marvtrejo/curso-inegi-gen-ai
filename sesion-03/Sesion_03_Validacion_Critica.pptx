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listos: los seis equipos anunciados desde el martes, las salas de trabajo probadas, el informe sintético distribuido, y la clave abierta en tu segunda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 una premisa falsa pero creíble, por ejemplo que un programa amplió su cobertura en un año en que la redujo. Después pídele que cite la evidencia y observa qué hace.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equipos de cuatro. Recorre las salas. No reveles cuántos errores hay hasta la puesta en común: saber el número cambia cómo buscan.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1371600" y="-2011680"/>
            <a:ext cx="5852160" cy="5852160"/>
          </a:xfrm>
          <a:prstGeom prst="ellipse">
            <a:avLst/>
          </a:prstGeom>
          <a:solidFill>
            <a:srgbClr val="24404E"/>
          </a:solidFill>
          <a:ln w="12700">
            <a:solidFill>
              <a:srgbClr val="24404E"/>
            </a:solidFill>
            <a:prstDash val="solid"/>
          </a:ln>
        </p:spPr>
      </p:sp>
      <p:sp>
        <p:nvSpPr>
          <p:cNvPr id="3" name="Shape 1"/>
          <p:cNvSpPr/>
          <p:nvPr/>
        </p:nvSpPr>
        <p:spPr>
          <a:xfrm>
            <a:off x="9692640" y="4206240"/>
            <a:ext cx="4206240" cy="4206240"/>
          </a:xfrm>
          <a:prstGeom prst="ellipse">
            <a:avLst/>
          </a:prstGeom>
          <a:solidFill>
            <a:srgbClr val="24404E"/>
          </a:solidFill>
          <a:ln w="12700">
            <a:solidFill>
              <a:srgbClr val="24404E"/>
            </a:solidFill>
            <a:prstDash val="solid"/>
          </a:ln>
        </p:spPr>
      </p:sp>
      <p:sp>
        <p:nvSpPr>
          <p:cNvPr id="4" name="Text 2"/>
          <p:cNvSpPr txBox="1"/>
          <p:nvPr/>
        </p:nvSpPr>
        <p:spPr>
          <a:xfrm>
            <a:off x="566928" y="1417320"/>
            <a:ext cx="10424160" cy="365760"/>
          </a:xfrm>
          <a:prstGeom prst="rect">
            <a:avLst/>
          </a:prstGeom>
          <a:noFill/>
          <a:ln/>
        </p:spPr>
        <p:txBody>
          <a:bodyPr wrap="square" lIns="0" tIns="0" rIns="0" bIns="0" rtlCol="0" anchor="ctr"/>
          <a:lstStyle/>
          <a:p>
            <a:pPr indent="0" marL="0">
              <a:buNone/>
            </a:pPr>
            <a:r>
              <a:rPr lang="en-US" sz="1500" b="1" spc="200" kern="0" dirty="0">
                <a:solidFill>
                  <a:srgbClr val="D7E7E7"/>
                </a:solidFill>
                <a:latin typeface="Calibri" pitchFamily="34" charset="0"/>
                <a:ea typeface="Calibri" pitchFamily="34" charset="-122"/>
                <a:cs typeface="Calibri" pitchFamily="34" charset="-120"/>
              </a:rPr>
              <a:t>MÓDULO I. FUNDAMENTOS, ÉTICA Y COPILOT INSTITUCIONAL</a:t>
            </a:r>
            <a:endParaRPr lang="en-US" sz="1500" dirty="0"/>
          </a:p>
        </p:txBody>
      </p:sp>
      <p:sp>
        <p:nvSpPr>
          <p:cNvPr id="5" name="Text 3"/>
          <p:cNvSpPr txBox="1"/>
          <p:nvPr/>
        </p:nvSpPr>
        <p:spPr>
          <a:xfrm>
            <a:off x="566928" y="1874520"/>
            <a:ext cx="10424160" cy="640080"/>
          </a:xfrm>
          <a:prstGeom prst="rect">
            <a:avLst/>
          </a:prstGeom>
          <a:noFill/>
          <a:ln/>
        </p:spPr>
        <p:txBody>
          <a:bodyPr wrap="square" lIns="0" tIns="0" rIns="0" bIns="0" rtlCol="0" anchor="ctr"/>
          <a:lstStyle/>
          <a:p>
            <a:pPr indent="0" marL="0">
              <a:buNone/>
            </a:pPr>
            <a:r>
              <a:rPr lang="en-US" sz="4400" b="1" dirty="0">
                <a:solidFill>
                  <a:srgbClr val="C85A28"/>
                </a:solidFill>
                <a:latin typeface="Arial" pitchFamily="34" charset="0"/>
                <a:ea typeface="Arial" pitchFamily="34" charset="-122"/>
                <a:cs typeface="Arial" pitchFamily="34" charset="-120"/>
              </a:rPr>
              <a:t>Sesión 3</a:t>
            </a:r>
            <a:endParaRPr lang="en-US" sz="4400" dirty="0"/>
          </a:p>
        </p:txBody>
      </p:sp>
      <p:sp>
        <p:nvSpPr>
          <p:cNvPr id="6" name="Text 4"/>
          <p:cNvSpPr txBox="1"/>
          <p:nvPr/>
        </p:nvSpPr>
        <p:spPr>
          <a:xfrm>
            <a:off x="566928" y="2560320"/>
            <a:ext cx="10607040" cy="155448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Cómo detectar los errores de la IA y el Laboratorio Práctico 1</a:t>
            </a:r>
            <a:endParaRPr lang="en-US" sz="3400" dirty="0"/>
          </a:p>
        </p:txBody>
      </p:sp>
      <p:sp>
        <p:nvSpPr>
          <p:cNvPr id="7" name="Shape 5"/>
          <p:cNvSpPr/>
          <p:nvPr/>
        </p:nvSpPr>
        <p:spPr>
          <a:xfrm>
            <a:off x="566928" y="4480560"/>
            <a:ext cx="5120640" cy="54864"/>
          </a:xfrm>
          <a:prstGeom prst="roundRect">
            <a:avLst>
              <a:gd name="adj" fmla="val 50000"/>
            </a:avLst>
          </a:prstGeom>
          <a:solidFill>
            <a:srgbClr val="2E7D7D"/>
          </a:solidFill>
          <a:ln w="12700">
            <a:solidFill>
              <a:srgbClr val="2E7D7D"/>
            </a:solidFill>
            <a:prstDash val="solid"/>
          </a:ln>
        </p:spPr>
      </p:sp>
      <p:sp>
        <p:nvSpPr>
          <p:cNvPr id="8" name="Text 6"/>
          <p:cNvSpPr txBox="1"/>
          <p:nvPr/>
        </p:nvSpPr>
        <p:spPr>
          <a:xfrm>
            <a:off x="566928" y="4709160"/>
            <a:ext cx="1042416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Jueves 17 de septiembre de 2026, 9:00 a 11:30 horas</a:t>
            </a:r>
            <a:endParaRPr lang="en-US" sz="1600" dirty="0"/>
          </a:p>
        </p:txBody>
      </p:sp>
      <p:sp>
        <p:nvSpPr>
          <p:cNvPr id="9" name="Text 7"/>
          <p:cNvSpPr txBox="1"/>
          <p:nvPr/>
        </p:nvSpPr>
        <p:spPr>
          <a:xfrm>
            <a:off x="566928" y="5120640"/>
            <a:ext cx="10424160" cy="365760"/>
          </a:xfrm>
          <a:prstGeom prst="rect">
            <a:avLst/>
          </a:prstGeom>
          <a:noFill/>
          <a:ln/>
        </p:spPr>
        <p:txBody>
          <a:bodyPr wrap="square" lIns="0" tIns="0" rIns="0" bIns="0" rtlCol="0" anchor="ctr"/>
          <a:lstStyle/>
          <a:p>
            <a:pPr indent="0" marL="0">
              <a:buNone/>
            </a:pPr>
            <a:r>
              <a:rPr lang="en-US" sz="1300" dirty="0">
                <a:solidFill>
                  <a:srgbClr val="D7E7E7"/>
                </a:solidFill>
                <a:latin typeface="Calibri" pitchFamily="34" charset="0"/>
                <a:ea typeface="Calibri" pitchFamily="34" charset="-122"/>
                <a:cs typeface="Calibri" pitchFamily="34" charset="-120"/>
              </a:rPr>
              <a:t>Curso de Inteligencia Artificial Aplicada. INEGI 2026. CC BY-NC-SA 4.0.</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Cómo vamos a usar los 150 minutos</a:t>
            </a:r>
            <a:endParaRPr lang="en-US" sz="3200" dirty="0"/>
          </a:p>
        </p:txBody>
      </p:sp>
      <p:sp>
        <p:nvSpPr>
          <p:cNvPr id="3" name="Shape 1"/>
          <p:cNvSpPr/>
          <p:nvPr/>
        </p:nvSpPr>
        <p:spPr>
          <a:xfrm>
            <a:off x="9485071" y="457200"/>
            <a:ext cx="2139696" cy="347472"/>
          </a:xfrm>
          <a:prstGeom prst="roundRect">
            <a:avLst>
              <a:gd name="adj" fmla="val 50000"/>
            </a:avLst>
          </a:prstGeom>
          <a:solidFill>
            <a:srgbClr val="F2F5F6"/>
          </a:solidFill>
          <a:ln w="12700">
            <a:solidFill>
              <a:srgbClr val="F2F5F6"/>
            </a:solidFill>
            <a:prstDash val="solid"/>
          </a:ln>
        </p:spPr>
      </p:sp>
      <p:sp>
        <p:nvSpPr>
          <p:cNvPr id="4" name="Text 2"/>
          <p:cNvSpPr txBox="1"/>
          <p:nvPr/>
        </p:nvSpPr>
        <p:spPr>
          <a:xfrm>
            <a:off x="9485071" y="457200"/>
            <a:ext cx="2139696" cy="347472"/>
          </a:xfrm>
          <a:prstGeom prst="rect">
            <a:avLst/>
          </a:prstGeom>
          <a:noFill/>
          <a:ln/>
        </p:spPr>
        <p:txBody>
          <a:bodyPr wrap="square" lIns="0" tIns="0" rIns="0" bIns="0" rtlCol="0" anchor="ctr"/>
          <a:lstStyle/>
          <a:p>
            <a:pPr algn="ctr" indent="0" marL="0">
              <a:buNone/>
            </a:pPr>
            <a:r>
              <a:rPr lang="en-US" sz="1200" b="1" dirty="0">
                <a:solidFill>
                  <a:srgbClr val="5A6B73"/>
                </a:solidFill>
                <a:latin typeface="Calibri" pitchFamily="34" charset="0"/>
                <a:ea typeface="Calibri" pitchFamily="34" charset="-122"/>
                <a:cs typeface="Calibri" pitchFamily="34" charset="-120"/>
              </a:rPr>
              <a:t>9:00 a 11:30</a:t>
            </a:r>
            <a:endParaRPr lang="en-US" sz="1200" dirty="0"/>
          </a:p>
        </p:txBody>
      </p:sp>
      <p:sp>
        <p:nvSpPr>
          <p:cNvPr id="5" name="Shape 3"/>
          <p:cNvSpPr/>
          <p:nvPr/>
        </p:nvSpPr>
        <p:spPr>
          <a:xfrm>
            <a:off x="566928" y="1408176"/>
            <a:ext cx="5364328" cy="1490472"/>
          </a:xfrm>
          <a:prstGeom prst="roundRect">
            <a:avLst>
              <a:gd name="adj" fmla="val 4294"/>
            </a:avLst>
          </a:prstGeom>
          <a:solidFill>
            <a:srgbClr val="F2F5F6"/>
          </a:solidFill>
          <a:ln w="12700">
            <a:solidFill>
              <a:srgbClr val="F2F5F6"/>
            </a:solidFill>
            <a:prstDash val="solid"/>
          </a:ln>
        </p:spPr>
      </p:sp>
      <p:sp>
        <p:nvSpPr>
          <p:cNvPr id="6" name="Text 4"/>
          <p:cNvSpPr txBox="1"/>
          <p:nvPr/>
        </p:nvSpPr>
        <p:spPr>
          <a:xfrm>
            <a:off x="786384" y="1408176"/>
            <a:ext cx="1371600" cy="1490472"/>
          </a:xfrm>
          <a:prstGeom prst="rect">
            <a:avLst/>
          </a:prstGeom>
          <a:noFill/>
          <a:ln/>
        </p:spPr>
        <p:txBody>
          <a:bodyPr wrap="square" lIns="0" tIns="0" rIns="0" bIns="0" rtlCol="0" anchor="ctr"/>
          <a:lstStyle/>
          <a:p>
            <a:pPr indent="0" marL="0">
              <a:buNone/>
            </a:pPr>
            <a:r>
              <a:rPr lang="en-US" sz="1300" b="1" dirty="0">
                <a:solidFill>
                  <a:srgbClr val="2E7D7D"/>
                </a:solidFill>
                <a:latin typeface="Arial" pitchFamily="34" charset="0"/>
                <a:ea typeface="Arial" pitchFamily="34" charset="-122"/>
                <a:cs typeface="Arial" pitchFamily="34" charset="-120"/>
              </a:rPr>
              <a:t>9:00</a:t>
            </a:r>
            <a:endParaRPr lang="en-US" sz="1300" dirty="0"/>
          </a:p>
        </p:txBody>
      </p:sp>
      <p:sp>
        <p:nvSpPr>
          <p:cNvPr id="7" name="Text 5"/>
          <p:cNvSpPr txBox="1"/>
          <p:nvPr/>
        </p:nvSpPr>
        <p:spPr>
          <a:xfrm>
            <a:off x="2194560" y="1463040"/>
            <a:ext cx="3517240" cy="138074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Los seis errores típicos, con ejemplos de estas sesiones</a:t>
            </a:r>
            <a:endParaRPr lang="en-US" sz="1350" dirty="0"/>
          </a:p>
        </p:txBody>
      </p:sp>
      <p:sp>
        <p:nvSpPr>
          <p:cNvPr id="8" name="Shape 6"/>
          <p:cNvSpPr/>
          <p:nvPr/>
        </p:nvSpPr>
        <p:spPr>
          <a:xfrm>
            <a:off x="566928" y="3044952"/>
            <a:ext cx="5364328" cy="1490472"/>
          </a:xfrm>
          <a:prstGeom prst="roundRect">
            <a:avLst>
              <a:gd name="adj" fmla="val 4294"/>
            </a:avLst>
          </a:prstGeom>
          <a:solidFill>
            <a:srgbClr val="F2F5F6"/>
          </a:solidFill>
          <a:ln w="12700">
            <a:solidFill>
              <a:srgbClr val="F2F5F6"/>
            </a:solidFill>
            <a:prstDash val="solid"/>
          </a:ln>
        </p:spPr>
      </p:sp>
      <p:sp>
        <p:nvSpPr>
          <p:cNvPr id="9" name="Text 7"/>
          <p:cNvSpPr txBox="1"/>
          <p:nvPr/>
        </p:nvSpPr>
        <p:spPr>
          <a:xfrm>
            <a:off x="786384" y="3044952"/>
            <a:ext cx="1371600" cy="1490472"/>
          </a:xfrm>
          <a:prstGeom prst="rect">
            <a:avLst/>
          </a:prstGeom>
          <a:noFill/>
          <a:ln/>
        </p:spPr>
        <p:txBody>
          <a:bodyPr wrap="square" lIns="0" tIns="0" rIns="0" bIns="0" rtlCol="0" anchor="ctr"/>
          <a:lstStyle/>
          <a:p>
            <a:pPr indent="0" marL="0">
              <a:buNone/>
            </a:pPr>
            <a:r>
              <a:rPr lang="en-US" sz="1300" b="1" dirty="0">
                <a:solidFill>
                  <a:srgbClr val="2E7D7D"/>
                </a:solidFill>
                <a:latin typeface="Arial" pitchFamily="34" charset="0"/>
                <a:ea typeface="Arial" pitchFamily="34" charset="-122"/>
                <a:cs typeface="Arial" pitchFamily="34" charset="-120"/>
              </a:rPr>
              <a:t>9:30</a:t>
            </a:r>
            <a:endParaRPr lang="en-US" sz="1300" dirty="0"/>
          </a:p>
        </p:txBody>
      </p:sp>
      <p:sp>
        <p:nvSpPr>
          <p:cNvPr id="10" name="Text 8"/>
          <p:cNvSpPr txBox="1"/>
          <p:nvPr/>
        </p:nvSpPr>
        <p:spPr>
          <a:xfrm>
            <a:off x="2194560" y="3099816"/>
            <a:ext cx="3517240" cy="138074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El protocolo de verificación en cuatro pasos</a:t>
            </a:r>
            <a:endParaRPr lang="en-US" sz="1350" dirty="0"/>
          </a:p>
        </p:txBody>
      </p:sp>
      <p:sp>
        <p:nvSpPr>
          <p:cNvPr id="11" name="Shape 9"/>
          <p:cNvSpPr/>
          <p:nvPr/>
        </p:nvSpPr>
        <p:spPr>
          <a:xfrm>
            <a:off x="566928" y="4681728"/>
            <a:ext cx="5364328" cy="1490472"/>
          </a:xfrm>
          <a:prstGeom prst="roundRect">
            <a:avLst>
              <a:gd name="adj" fmla="val 4294"/>
            </a:avLst>
          </a:prstGeom>
          <a:solidFill>
            <a:srgbClr val="F7E4D8"/>
          </a:solidFill>
          <a:ln w="12700">
            <a:solidFill>
              <a:srgbClr val="F7E4D8"/>
            </a:solidFill>
            <a:prstDash val="solid"/>
          </a:ln>
        </p:spPr>
      </p:sp>
      <p:sp>
        <p:nvSpPr>
          <p:cNvPr id="12" name="Text 10"/>
          <p:cNvSpPr txBox="1"/>
          <p:nvPr/>
        </p:nvSpPr>
        <p:spPr>
          <a:xfrm>
            <a:off x="786384" y="4681728"/>
            <a:ext cx="1371600" cy="1490472"/>
          </a:xfrm>
          <a:prstGeom prst="rect">
            <a:avLst/>
          </a:prstGeom>
          <a:noFill/>
          <a:ln/>
        </p:spPr>
        <p:txBody>
          <a:bodyPr wrap="square" lIns="0" tIns="0" rIns="0" bIns="0" rtlCol="0" anchor="ctr"/>
          <a:lstStyle/>
          <a:p>
            <a:pPr indent="0" marL="0">
              <a:buNone/>
            </a:pPr>
            <a:r>
              <a:rPr lang="en-US" sz="1300" b="1" dirty="0">
                <a:solidFill>
                  <a:srgbClr val="C85A28"/>
                </a:solidFill>
                <a:latin typeface="Arial" pitchFamily="34" charset="0"/>
                <a:ea typeface="Arial" pitchFamily="34" charset="-122"/>
                <a:cs typeface="Arial" pitchFamily="34" charset="-120"/>
              </a:rPr>
              <a:t>9:55</a:t>
            </a:r>
            <a:endParaRPr lang="en-US" sz="1300" dirty="0"/>
          </a:p>
        </p:txBody>
      </p:sp>
      <p:sp>
        <p:nvSpPr>
          <p:cNvPr id="13" name="Text 11"/>
          <p:cNvSpPr txBox="1"/>
          <p:nvPr/>
        </p:nvSpPr>
        <p:spPr>
          <a:xfrm>
            <a:off x="2194560" y="4736592"/>
            <a:ext cx="3517240" cy="138074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Receso de diez minutos</a:t>
            </a:r>
            <a:endParaRPr lang="en-US" sz="1350" dirty="0"/>
          </a:p>
        </p:txBody>
      </p:sp>
      <p:sp>
        <p:nvSpPr>
          <p:cNvPr id="14" name="Shape 12"/>
          <p:cNvSpPr/>
          <p:nvPr/>
        </p:nvSpPr>
        <p:spPr>
          <a:xfrm>
            <a:off x="6260440" y="1408176"/>
            <a:ext cx="5364328" cy="1490472"/>
          </a:xfrm>
          <a:prstGeom prst="roundRect">
            <a:avLst>
              <a:gd name="adj" fmla="val 4294"/>
            </a:avLst>
          </a:prstGeom>
          <a:solidFill>
            <a:srgbClr val="F2F5F6"/>
          </a:solidFill>
          <a:ln w="12700">
            <a:solidFill>
              <a:srgbClr val="F2F5F6"/>
            </a:solidFill>
            <a:prstDash val="solid"/>
          </a:ln>
        </p:spPr>
      </p:sp>
      <p:sp>
        <p:nvSpPr>
          <p:cNvPr id="15" name="Text 13"/>
          <p:cNvSpPr txBox="1"/>
          <p:nvPr/>
        </p:nvSpPr>
        <p:spPr>
          <a:xfrm>
            <a:off x="6479896" y="1408176"/>
            <a:ext cx="1371600" cy="1490472"/>
          </a:xfrm>
          <a:prstGeom prst="rect">
            <a:avLst/>
          </a:prstGeom>
          <a:noFill/>
          <a:ln/>
        </p:spPr>
        <p:txBody>
          <a:bodyPr wrap="square" lIns="0" tIns="0" rIns="0" bIns="0" rtlCol="0" anchor="ctr"/>
          <a:lstStyle/>
          <a:p>
            <a:pPr indent="0" marL="0">
              <a:buNone/>
            </a:pPr>
            <a:r>
              <a:rPr lang="en-US" sz="1300" b="1" dirty="0">
                <a:solidFill>
                  <a:srgbClr val="2E7D7D"/>
                </a:solidFill>
                <a:latin typeface="Arial" pitchFamily="34" charset="0"/>
                <a:ea typeface="Arial" pitchFamily="34" charset="-122"/>
                <a:cs typeface="Arial" pitchFamily="34" charset="-120"/>
              </a:rPr>
              <a:t>10:05</a:t>
            </a:r>
            <a:endParaRPr lang="en-US" sz="1300" dirty="0"/>
          </a:p>
        </p:txBody>
      </p:sp>
      <p:sp>
        <p:nvSpPr>
          <p:cNvPr id="16" name="Text 14"/>
          <p:cNvSpPr txBox="1"/>
          <p:nvPr/>
        </p:nvSpPr>
        <p:spPr>
          <a:xfrm>
            <a:off x="7888072" y="1463040"/>
            <a:ext cx="3517240" cy="138074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Laboratorio Práctico 1: tu equipo hace un dictamen</a:t>
            </a:r>
            <a:endParaRPr lang="en-US" sz="1350" dirty="0"/>
          </a:p>
        </p:txBody>
      </p:sp>
      <p:sp>
        <p:nvSpPr>
          <p:cNvPr id="17" name="Shape 15"/>
          <p:cNvSpPr/>
          <p:nvPr/>
        </p:nvSpPr>
        <p:spPr>
          <a:xfrm>
            <a:off x="6260440" y="3044952"/>
            <a:ext cx="5364328" cy="1490472"/>
          </a:xfrm>
          <a:prstGeom prst="roundRect">
            <a:avLst>
              <a:gd name="adj" fmla="val 4294"/>
            </a:avLst>
          </a:prstGeom>
          <a:solidFill>
            <a:srgbClr val="F2F5F6"/>
          </a:solidFill>
          <a:ln w="12700">
            <a:solidFill>
              <a:srgbClr val="F2F5F6"/>
            </a:solidFill>
            <a:prstDash val="solid"/>
          </a:ln>
        </p:spPr>
      </p:sp>
      <p:sp>
        <p:nvSpPr>
          <p:cNvPr id="18" name="Text 16"/>
          <p:cNvSpPr txBox="1"/>
          <p:nvPr/>
        </p:nvSpPr>
        <p:spPr>
          <a:xfrm>
            <a:off x="6479896" y="3044952"/>
            <a:ext cx="1371600" cy="1490472"/>
          </a:xfrm>
          <a:prstGeom prst="rect">
            <a:avLst/>
          </a:prstGeom>
          <a:noFill/>
          <a:ln/>
        </p:spPr>
        <p:txBody>
          <a:bodyPr wrap="square" lIns="0" tIns="0" rIns="0" bIns="0" rtlCol="0" anchor="ctr"/>
          <a:lstStyle/>
          <a:p>
            <a:pPr indent="0" marL="0">
              <a:buNone/>
            </a:pPr>
            <a:r>
              <a:rPr lang="en-US" sz="1300" b="1" dirty="0">
                <a:solidFill>
                  <a:srgbClr val="2E7D7D"/>
                </a:solidFill>
                <a:latin typeface="Arial" pitchFamily="34" charset="0"/>
                <a:ea typeface="Arial" pitchFamily="34" charset="-122"/>
                <a:cs typeface="Arial" pitchFamily="34" charset="-120"/>
              </a:rPr>
              <a:t>11:10</a:t>
            </a:r>
            <a:endParaRPr lang="en-US" sz="1300" dirty="0"/>
          </a:p>
        </p:txBody>
      </p:sp>
      <p:sp>
        <p:nvSpPr>
          <p:cNvPr id="19" name="Text 17"/>
          <p:cNvSpPr txBox="1"/>
          <p:nvPr/>
        </p:nvSpPr>
        <p:spPr>
          <a:xfrm>
            <a:off x="7888072" y="3099816"/>
            <a:ext cx="3517240" cy="138074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Puesta en común y rúbrica</a:t>
            </a:r>
            <a:endParaRPr lang="en-US" sz="1350" dirty="0"/>
          </a:p>
        </p:txBody>
      </p:sp>
      <p:sp>
        <p:nvSpPr>
          <p:cNvPr id="20" name="Shape 18"/>
          <p:cNvSpPr/>
          <p:nvPr/>
        </p:nvSpPr>
        <p:spPr>
          <a:xfrm>
            <a:off x="6260440" y="4681728"/>
            <a:ext cx="5364328" cy="1490472"/>
          </a:xfrm>
          <a:prstGeom prst="roundRect">
            <a:avLst>
              <a:gd name="adj" fmla="val 4294"/>
            </a:avLst>
          </a:prstGeom>
          <a:solidFill>
            <a:srgbClr val="F2F5F6"/>
          </a:solidFill>
          <a:ln w="12700">
            <a:solidFill>
              <a:srgbClr val="F2F5F6"/>
            </a:solidFill>
            <a:prstDash val="solid"/>
          </a:ln>
        </p:spPr>
      </p:sp>
      <p:sp>
        <p:nvSpPr>
          <p:cNvPr id="21" name="Text 19"/>
          <p:cNvSpPr txBox="1"/>
          <p:nvPr/>
        </p:nvSpPr>
        <p:spPr>
          <a:xfrm>
            <a:off x="6479896" y="4681728"/>
            <a:ext cx="1371600" cy="1490472"/>
          </a:xfrm>
          <a:prstGeom prst="rect">
            <a:avLst/>
          </a:prstGeom>
          <a:noFill/>
          <a:ln/>
        </p:spPr>
        <p:txBody>
          <a:bodyPr wrap="square" lIns="0" tIns="0" rIns="0" bIns="0" rtlCol="0" anchor="ctr"/>
          <a:lstStyle/>
          <a:p>
            <a:pPr indent="0" marL="0">
              <a:buNone/>
            </a:pPr>
            <a:r>
              <a:rPr lang="en-US" sz="1300" b="1" dirty="0">
                <a:solidFill>
                  <a:srgbClr val="2E7D7D"/>
                </a:solidFill>
                <a:latin typeface="Arial" pitchFamily="34" charset="0"/>
                <a:ea typeface="Arial" pitchFamily="34" charset="-122"/>
                <a:cs typeface="Arial" pitchFamily="34" charset="-120"/>
              </a:rPr>
              <a:t>11:25</a:t>
            </a:r>
            <a:endParaRPr lang="en-US" sz="1300" dirty="0"/>
          </a:p>
        </p:txBody>
      </p:sp>
      <p:sp>
        <p:nvSpPr>
          <p:cNvPr id="22" name="Text 20"/>
          <p:cNvSpPr txBox="1"/>
          <p:nvPr/>
        </p:nvSpPr>
        <p:spPr>
          <a:xfrm>
            <a:off x="7888072" y="4736592"/>
            <a:ext cx="3517240" cy="138074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Cierre y entregables</a:t>
            </a:r>
            <a:endParaRPr lang="en-US" sz="1350" dirty="0"/>
          </a:p>
        </p:txBody>
      </p:sp>
      <p:sp>
        <p:nvSpPr>
          <p:cNvPr id="23" name="Text 21"/>
          <p:cNvSpPr txBox="1"/>
          <p:nvPr/>
        </p:nvSpPr>
        <p:spPr>
          <a:xfrm>
            <a:off x="566928" y="6327648"/>
            <a:ext cx="11057839" cy="292608"/>
          </a:xfrm>
          <a:prstGeom prst="rect">
            <a:avLst/>
          </a:prstGeom>
          <a:noFill/>
          <a:ln/>
        </p:spPr>
        <p:txBody>
          <a:bodyPr wrap="square" lIns="0" tIns="0" rIns="0" bIns="0" rtlCol="0" anchor="ctr"/>
          <a:lstStyle/>
          <a:p>
            <a:pPr indent="0" marL="0">
              <a:buNone/>
            </a:pPr>
            <a:r>
              <a:rPr lang="en-US" sz="1000" dirty="0">
                <a:solidFill>
                  <a:srgbClr val="5A6B73"/>
                </a:solidFill>
                <a:latin typeface="Calibri" pitchFamily="34" charset="0"/>
                <a:ea typeface="Calibri" pitchFamily="34" charset="-122"/>
                <a:cs typeface="Calibri" pitchFamily="34" charset="-120"/>
              </a:rPr>
              <a:t>Hoy trabajas 65 minutos seguidos en equipo. Forma tu equipo desde el primer minuto.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566928" y="2331720"/>
            <a:ext cx="1371600" cy="1371600"/>
          </a:xfrm>
          <a:prstGeom prst="ellipse">
            <a:avLst/>
          </a:prstGeom>
          <a:solidFill>
            <a:srgbClr val="C85A28"/>
          </a:solidFill>
          <a:ln w="12700">
            <a:solidFill>
              <a:srgbClr val="C85A28"/>
            </a:solidFill>
            <a:prstDash val="solid"/>
          </a:ln>
        </p:spPr>
      </p:sp>
      <p:sp>
        <p:nvSpPr>
          <p:cNvPr id="3" name="Text 1"/>
          <p:cNvSpPr txBox="1"/>
          <p:nvPr/>
        </p:nvSpPr>
        <p:spPr>
          <a:xfrm>
            <a:off x="566928"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1</a:t>
            </a:r>
            <a:endParaRPr lang="en-US" sz="4400" dirty="0"/>
          </a:p>
        </p:txBody>
      </p:sp>
      <p:sp>
        <p:nvSpPr>
          <p:cNvPr id="4" name="Text 2"/>
          <p:cNvSpPr txBox="1"/>
          <p:nvPr/>
        </p:nvSpPr>
        <p:spPr>
          <a:xfrm>
            <a:off x="2487168" y="2331720"/>
            <a:ext cx="8778240" cy="365760"/>
          </a:xfrm>
          <a:prstGeom prst="rect">
            <a:avLst/>
          </a:prstGeom>
          <a:noFill/>
          <a:ln/>
        </p:spPr>
        <p:txBody>
          <a:bodyPr wrap="square" lIns="0" tIns="0" rIns="0" bIns="0" rtlCol="0" anchor="ctr"/>
          <a:lstStyle/>
          <a:p>
            <a:pPr indent="0" marL="0">
              <a:buNone/>
            </a:pPr>
            <a:r>
              <a:rPr lang="en-US" sz="1400" b="1" spc="200" kern="0" dirty="0">
                <a:solidFill>
                  <a:srgbClr val="D7E7E7"/>
                </a:solidFill>
                <a:latin typeface="Calibri" pitchFamily="34" charset="0"/>
                <a:ea typeface="Calibri" pitchFamily="34" charset="-122"/>
                <a:cs typeface="Calibri" pitchFamily="34" charset="-120"/>
              </a:rPr>
              <a:t>PRIMER BLOQUE</a:t>
            </a:r>
            <a:endParaRPr lang="en-US" sz="1400" dirty="0"/>
          </a:p>
        </p:txBody>
      </p:sp>
      <p:sp>
        <p:nvSpPr>
          <p:cNvPr id="5" name="Text 3"/>
          <p:cNvSpPr txBox="1"/>
          <p:nvPr/>
        </p:nvSpPr>
        <p:spPr>
          <a:xfrm>
            <a:off x="2487168" y="2697480"/>
            <a:ext cx="8961120" cy="11887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Los seis errores típicos</a:t>
            </a:r>
            <a:endParaRPr lang="en-US" sz="3400" dirty="0"/>
          </a:p>
        </p:txBody>
      </p:sp>
      <p:sp>
        <p:nvSpPr>
          <p:cNvPr id="6" name="Shape 4"/>
          <p:cNvSpPr/>
          <p:nvPr/>
        </p:nvSpPr>
        <p:spPr>
          <a:xfrm>
            <a:off x="9631375" y="457200"/>
            <a:ext cx="1993392" cy="347472"/>
          </a:xfrm>
          <a:prstGeom prst="roundRect">
            <a:avLst>
              <a:gd name="adj" fmla="val 50000"/>
            </a:avLst>
          </a:prstGeom>
          <a:solidFill>
            <a:srgbClr val="24404E"/>
          </a:solidFill>
          <a:ln w="12700">
            <a:solidFill>
              <a:srgbClr val="24404E"/>
            </a:solidFill>
            <a:prstDash val="solid"/>
          </a:ln>
        </p:spPr>
      </p:sp>
      <p:sp>
        <p:nvSpPr>
          <p:cNvPr id="7" name="Text 5"/>
          <p:cNvSpPr txBox="1"/>
          <p:nvPr/>
        </p:nvSpPr>
        <p:spPr>
          <a:xfrm>
            <a:off x="9631375" y="457200"/>
            <a:ext cx="199339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9:00 a 9:30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Tres que ves cuando los buscas</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Los tres ya te pasaron en estas dos sesiones. Ahora tienen nombre.</a:t>
            </a:r>
            <a:endParaRPr lang="en-US" sz="1500" dirty="0"/>
          </a:p>
        </p:txBody>
      </p:sp>
      <p:sp>
        <p:nvSpPr>
          <p:cNvPr id="4" name="Shape 2"/>
          <p:cNvSpPr/>
          <p:nvPr/>
        </p:nvSpPr>
        <p:spPr>
          <a:xfrm>
            <a:off x="566928" y="2011680"/>
            <a:ext cx="3503066" cy="3302762"/>
          </a:xfrm>
          <a:prstGeom prst="roundRect">
            <a:avLst>
              <a:gd name="adj" fmla="val 2215"/>
            </a:avLst>
          </a:prstGeom>
          <a:solidFill>
            <a:srgbClr val="F2DEDE"/>
          </a:solidFill>
          <a:ln w="12700">
            <a:solidFill>
              <a:srgbClr val="F2DEDE"/>
            </a:solidFill>
            <a:prstDash val="solid"/>
          </a:ln>
        </p:spPr>
      </p:sp>
      <p:sp>
        <p:nvSpPr>
          <p:cNvPr id="5" name="Shape 3"/>
          <p:cNvSpPr/>
          <p:nvPr/>
        </p:nvSpPr>
        <p:spPr>
          <a:xfrm>
            <a:off x="804672" y="2231136"/>
            <a:ext cx="420624" cy="420624"/>
          </a:xfrm>
          <a:prstGeom prst="ellipse">
            <a:avLst/>
          </a:prstGeom>
          <a:solidFill>
            <a:srgbClr val="A33A3A"/>
          </a:solidFill>
          <a:ln w="12700">
            <a:solidFill>
              <a:srgbClr val="A33A3A"/>
            </a:solidFill>
            <a:prstDash val="solid"/>
          </a:ln>
        </p:spPr>
      </p:sp>
      <p:sp>
        <p:nvSpPr>
          <p:cNvPr id="6" name="Text 4"/>
          <p:cNvSpPr txBox="1"/>
          <p:nvPr/>
        </p:nvSpPr>
        <p:spPr>
          <a:xfrm>
            <a:off x="804672"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804672"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Inventa fuentes</a:t>
            </a:r>
            <a:endParaRPr lang="en-US" sz="1600" dirty="0"/>
          </a:p>
        </p:txBody>
      </p:sp>
      <p:sp>
        <p:nvSpPr>
          <p:cNvPr id="8" name="Text 6"/>
          <p:cNvSpPr txBox="1"/>
          <p:nvPr/>
        </p:nvSpPr>
        <p:spPr>
          <a:xfrm>
            <a:off x="804672" y="3263392"/>
            <a:ext cx="3027578" cy="184988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Se saca de la manga un estudio, un autor o un número de artículo que suena bien. La descripción es creíble y la referencia no existe.</a:t>
            </a:r>
            <a:endParaRPr lang="en-US" sz="1300" dirty="0"/>
          </a:p>
          <a:p>
            <a:pPr indent="0" marL="0">
              <a:lnSpc>
                <a:spcPct val="110000"/>
              </a:lnSpc>
              <a:buNone/>
            </a:pPr>
            <a:endParaRPr lang="en-US" sz="1300" dirty="0"/>
          </a:p>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Lo cachas buscando la fuente. Casi nadie revisa la bibliografía.</a:t>
            </a:r>
            <a:endParaRPr lang="en-US" sz="1300" dirty="0"/>
          </a:p>
        </p:txBody>
      </p:sp>
      <p:sp>
        <p:nvSpPr>
          <p:cNvPr id="9" name="Shape 7"/>
          <p:cNvSpPr/>
          <p:nvPr/>
        </p:nvSpPr>
        <p:spPr>
          <a:xfrm>
            <a:off x="4344314" y="2011680"/>
            <a:ext cx="3503066" cy="3302762"/>
          </a:xfrm>
          <a:prstGeom prst="roundRect">
            <a:avLst>
              <a:gd name="adj" fmla="val 2215"/>
            </a:avLst>
          </a:prstGeom>
          <a:solidFill>
            <a:srgbClr val="F2DEDE"/>
          </a:solidFill>
          <a:ln w="12700">
            <a:solidFill>
              <a:srgbClr val="F2DEDE"/>
            </a:solidFill>
            <a:prstDash val="solid"/>
          </a:ln>
        </p:spPr>
      </p:sp>
      <p:sp>
        <p:nvSpPr>
          <p:cNvPr id="10" name="Shape 8"/>
          <p:cNvSpPr/>
          <p:nvPr/>
        </p:nvSpPr>
        <p:spPr>
          <a:xfrm>
            <a:off x="4582058" y="2231136"/>
            <a:ext cx="420624" cy="420624"/>
          </a:xfrm>
          <a:prstGeom prst="ellipse">
            <a:avLst/>
          </a:prstGeom>
          <a:solidFill>
            <a:srgbClr val="A33A3A"/>
          </a:solidFill>
          <a:ln w="12700">
            <a:solidFill>
              <a:srgbClr val="A33A3A"/>
            </a:solidFill>
            <a:prstDash val="solid"/>
          </a:ln>
        </p:spPr>
      </p:sp>
      <p:sp>
        <p:nvSpPr>
          <p:cNvPr id="11" name="Text 9"/>
          <p:cNvSpPr txBox="1"/>
          <p:nvPr/>
        </p:nvSpPr>
        <p:spPr>
          <a:xfrm>
            <a:off x="4582058"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4582058"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Inventa cifras</a:t>
            </a:r>
            <a:endParaRPr lang="en-US" sz="1600" dirty="0"/>
          </a:p>
        </p:txBody>
      </p:sp>
      <p:sp>
        <p:nvSpPr>
          <p:cNvPr id="13" name="Text 11"/>
          <p:cNvSpPr txBox="1"/>
          <p:nvPr/>
        </p:nvSpPr>
        <p:spPr>
          <a:xfrm>
            <a:off x="4582058" y="3263392"/>
            <a:ext cx="3027578" cy="184988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Pasa sobre todo cuando intenta completar una tabla donde falta información. El hueco le incomoda más que el error.</a:t>
            </a:r>
            <a:endParaRPr lang="en-US" sz="1300" dirty="0"/>
          </a:p>
          <a:p>
            <a:pPr indent="0" marL="0">
              <a:lnSpc>
                <a:spcPct val="110000"/>
              </a:lnSpc>
              <a:buNone/>
            </a:pPr>
            <a:endParaRPr lang="en-US" sz="1300" dirty="0"/>
          </a:p>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Lo cachas recalculando.</a:t>
            </a:r>
            <a:endParaRPr lang="en-US" sz="1300" dirty="0"/>
          </a:p>
        </p:txBody>
      </p:sp>
      <p:sp>
        <p:nvSpPr>
          <p:cNvPr id="14" name="Shape 12"/>
          <p:cNvSpPr/>
          <p:nvPr/>
        </p:nvSpPr>
        <p:spPr>
          <a:xfrm>
            <a:off x="8121701" y="2011680"/>
            <a:ext cx="3503066" cy="3302762"/>
          </a:xfrm>
          <a:prstGeom prst="roundRect">
            <a:avLst>
              <a:gd name="adj" fmla="val 2215"/>
            </a:avLst>
          </a:prstGeom>
          <a:solidFill>
            <a:srgbClr val="F2DEDE"/>
          </a:solidFill>
          <a:ln w="12700">
            <a:solidFill>
              <a:srgbClr val="F2DEDE"/>
            </a:solidFill>
            <a:prstDash val="solid"/>
          </a:ln>
        </p:spPr>
      </p:sp>
      <p:sp>
        <p:nvSpPr>
          <p:cNvPr id="15" name="Shape 13"/>
          <p:cNvSpPr/>
          <p:nvPr/>
        </p:nvSpPr>
        <p:spPr>
          <a:xfrm>
            <a:off x="8359445" y="2231136"/>
            <a:ext cx="420624" cy="420624"/>
          </a:xfrm>
          <a:prstGeom prst="ellipse">
            <a:avLst/>
          </a:prstGeom>
          <a:solidFill>
            <a:srgbClr val="A33A3A"/>
          </a:solidFill>
          <a:ln w="12700">
            <a:solidFill>
              <a:srgbClr val="A33A3A"/>
            </a:solidFill>
            <a:prstDash val="solid"/>
          </a:ln>
        </p:spPr>
      </p:sp>
      <p:sp>
        <p:nvSpPr>
          <p:cNvPr id="16" name="Text 14"/>
          <p:cNvSpPr txBox="1"/>
          <p:nvPr/>
        </p:nvSpPr>
        <p:spPr>
          <a:xfrm>
            <a:off x="8359445"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8359445"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Mezcla años</a:t>
            </a:r>
            <a:endParaRPr lang="en-US" sz="1600" dirty="0"/>
          </a:p>
        </p:txBody>
      </p:sp>
      <p:sp>
        <p:nvSpPr>
          <p:cNvPr id="18" name="Text 16"/>
          <p:cNvSpPr txBox="1"/>
          <p:nvPr/>
        </p:nvSpPr>
        <p:spPr>
          <a:xfrm>
            <a:off x="8359445" y="3263392"/>
            <a:ext cx="3027578" cy="184988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Junta datos de periodos distintos sin avisar, o presenta como línea base valores de ejercicios diferentes.</a:t>
            </a:r>
            <a:endParaRPr lang="en-US" sz="1300" dirty="0"/>
          </a:p>
          <a:p>
            <a:pPr indent="0" marL="0">
              <a:lnSpc>
                <a:spcPct val="110000"/>
              </a:lnSpc>
              <a:buNone/>
            </a:pPr>
            <a:endParaRPr lang="en-US" sz="1300" dirty="0"/>
          </a:p>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Lo cachas leyendo la metodología antes que los resultados.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Tres que solo ves si sabes que existen</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Estos son los caros. Nada de lo que está escrito es falso.</a:t>
            </a:r>
            <a:endParaRPr lang="en-US" sz="1500" dirty="0"/>
          </a:p>
        </p:txBody>
      </p:sp>
      <p:sp>
        <p:nvSpPr>
          <p:cNvPr id="4" name="Shape 2"/>
          <p:cNvSpPr/>
          <p:nvPr/>
        </p:nvSpPr>
        <p:spPr>
          <a:xfrm>
            <a:off x="566928" y="2011680"/>
            <a:ext cx="3503066" cy="3302762"/>
          </a:xfrm>
          <a:prstGeom prst="roundRect">
            <a:avLst>
              <a:gd name="adj" fmla="val 2215"/>
            </a:avLst>
          </a:prstGeom>
          <a:solidFill>
            <a:srgbClr val="F7E4D8"/>
          </a:solidFill>
          <a:ln w="12700">
            <a:solidFill>
              <a:srgbClr val="F7E4D8"/>
            </a:solidFill>
            <a:prstDash val="solid"/>
          </a:ln>
        </p:spPr>
      </p:sp>
      <p:sp>
        <p:nvSpPr>
          <p:cNvPr id="5" name="Shape 3"/>
          <p:cNvSpPr/>
          <p:nvPr/>
        </p:nvSpPr>
        <p:spPr>
          <a:xfrm>
            <a:off x="804672" y="2231136"/>
            <a:ext cx="420624" cy="420624"/>
          </a:xfrm>
          <a:prstGeom prst="ellipse">
            <a:avLst/>
          </a:prstGeom>
          <a:solidFill>
            <a:srgbClr val="C85A28"/>
          </a:solidFill>
          <a:ln w="12700">
            <a:solidFill>
              <a:srgbClr val="C85A28"/>
            </a:solidFill>
            <a:prstDash val="solid"/>
          </a:ln>
        </p:spPr>
      </p:sp>
      <p:sp>
        <p:nvSpPr>
          <p:cNvPr id="6" name="Text 4"/>
          <p:cNvSpPr txBox="1"/>
          <p:nvPr/>
        </p:nvSpPr>
        <p:spPr>
          <a:xfrm>
            <a:off x="804672"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7" name="Text 5"/>
          <p:cNvSpPr txBox="1"/>
          <p:nvPr/>
        </p:nvSpPr>
        <p:spPr>
          <a:xfrm>
            <a:off x="804672"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Te da la razón</a:t>
            </a:r>
            <a:endParaRPr lang="en-US" sz="1600" dirty="0"/>
          </a:p>
        </p:txBody>
      </p:sp>
      <p:sp>
        <p:nvSpPr>
          <p:cNvPr id="8" name="Text 6"/>
          <p:cNvSpPr txBox="1"/>
          <p:nvPr/>
        </p:nvSpPr>
        <p:spPr>
          <a:xfrm>
            <a:off x="804672" y="3263392"/>
            <a:ext cx="3027578" cy="184988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Tiende a confirmar lo que tú ya afirmaste, aunque tu premisa sea falsa.</a:t>
            </a:r>
            <a:endParaRPr lang="en-US" sz="1300" dirty="0"/>
          </a:p>
          <a:p>
            <a:pPr indent="0" marL="0">
              <a:lnSpc>
                <a:spcPct val="110000"/>
              </a:lnSpc>
              <a:buNone/>
            </a:pPr>
            <a:endParaRPr lang="en-US" sz="1300" dirty="0"/>
          </a:p>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No te miente: elige la evidencia que confirma lo que le dijiste que querías oír.</a:t>
            </a:r>
            <a:endParaRPr lang="en-US" sz="1300" dirty="0"/>
          </a:p>
        </p:txBody>
      </p:sp>
      <p:sp>
        <p:nvSpPr>
          <p:cNvPr id="9" name="Shape 7"/>
          <p:cNvSpPr/>
          <p:nvPr/>
        </p:nvSpPr>
        <p:spPr>
          <a:xfrm>
            <a:off x="4344314" y="2011680"/>
            <a:ext cx="3503066" cy="3302762"/>
          </a:xfrm>
          <a:prstGeom prst="roundRect">
            <a:avLst>
              <a:gd name="adj" fmla="val 2215"/>
            </a:avLst>
          </a:prstGeom>
          <a:solidFill>
            <a:srgbClr val="F7E4D8"/>
          </a:solidFill>
          <a:ln w="12700">
            <a:solidFill>
              <a:srgbClr val="F7E4D8"/>
            </a:solidFill>
            <a:prstDash val="solid"/>
          </a:ln>
        </p:spPr>
      </p:sp>
      <p:sp>
        <p:nvSpPr>
          <p:cNvPr id="10" name="Shape 8"/>
          <p:cNvSpPr/>
          <p:nvPr/>
        </p:nvSpPr>
        <p:spPr>
          <a:xfrm>
            <a:off x="4582058" y="2231136"/>
            <a:ext cx="420624" cy="420624"/>
          </a:xfrm>
          <a:prstGeom prst="ellipse">
            <a:avLst/>
          </a:prstGeom>
          <a:solidFill>
            <a:srgbClr val="C85A28"/>
          </a:solidFill>
          <a:ln w="12700">
            <a:solidFill>
              <a:srgbClr val="C85A28"/>
            </a:solidFill>
            <a:prstDash val="solid"/>
          </a:ln>
        </p:spPr>
      </p:sp>
      <p:sp>
        <p:nvSpPr>
          <p:cNvPr id="11" name="Text 9"/>
          <p:cNvSpPr txBox="1"/>
          <p:nvPr/>
        </p:nvSpPr>
        <p:spPr>
          <a:xfrm>
            <a:off x="4582058"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2" name="Text 10"/>
          <p:cNvSpPr txBox="1"/>
          <p:nvPr/>
        </p:nvSpPr>
        <p:spPr>
          <a:xfrm>
            <a:off x="4582058"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Generaliza de más</a:t>
            </a:r>
            <a:endParaRPr lang="en-US" sz="1600" dirty="0"/>
          </a:p>
        </p:txBody>
      </p:sp>
      <p:sp>
        <p:nvSpPr>
          <p:cNvPr id="13" name="Text 11"/>
          <p:cNvSpPr txBox="1"/>
          <p:nvPr/>
        </p:nvSpPr>
        <p:spPr>
          <a:xfrm>
            <a:off x="4582058" y="3263392"/>
            <a:ext cx="3027578" cy="184988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Extiende a todos los casos una conclusión que valía para uno. O concluye sobre algo que nunca midió.</a:t>
            </a:r>
            <a:endParaRPr lang="en-US" sz="1300" dirty="0"/>
          </a:p>
          <a:p>
            <a:pPr indent="0" marL="0">
              <a:lnSpc>
                <a:spcPct val="110000"/>
              </a:lnSpc>
              <a:buNone/>
            </a:pPr>
            <a:endParaRPr lang="en-US" sz="1300" dirty="0"/>
          </a:p>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Lo cachas preguntando dónde está el dato que sostiene la frase.</a:t>
            </a:r>
            <a:endParaRPr lang="en-US" sz="1300" dirty="0"/>
          </a:p>
        </p:txBody>
      </p:sp>
      <p:sp>
        <p:nvSpPr>
          <p:cNvPr id="14" name="Shape 12"/>
          <p:cNvSpPr/>
          <p:nvPr/>
        </p:nvSpPr>
        <p:spPr>
          <a:xfrm>
            <a:off x="8121701" y="2011680"/>
            <a:ext cx="3503066" cy="3302762"/>
          </a:xfrm>
          <a:prstGeom prst="roundRect">
            <a:avLst>
              <a:gd name="adj" fmla="val 2215"/>
            </a:avLst>
          </a:prstGeom>
          <a:solidFill>
            <a:srgbClr val="F7E4D8"/>
          </a:solidFill>
          <a:ln w="12700">
            <a:solidFill>
              <a:srgbClr val="F7E4D8"/>
            </a:solidFill>
            <a:prstDash val="solid"/>
          </a:ln>
        </p:spPr>
      </p:sp>
      <p:sp>
        <p:nvSpPr>
          <p:cNvPr id="15" name="Shape 13"/>
          <p:cNvSpPr/>
          <p:nvPr/>
        </p:nvSpPr>
        <p:spPr>
          <a:xfrm>
            <a:off x="8359445" y="2231136"/>
            <a:ext cx="420624" cy="420624"/>
          </a:xfrm>
          <a:prstGeom prst="ellipse">
            <a:avLst/>
          </a:prstGeom>
          <a:solidFill>
            <a:srgbClr val="C85A28"/>
          </a:solidFill>
          <a:ln w="12700">
            <a:solidFill>
              <a:srgbClr val="C85A28"/>
            </a:solidFill>
            <a:prstDash val="solid"/>
          </a:ln>
        </p:spPr>
      </p:sp>
      <p:sp>
        <p:nvSpPr>
          <p:cNvPr id="16" name="Text 14"/>
          <p:cNvSpPr txBox="1"/>
          <p:nvPr/>
        </p:nvSpPr>
        <p:spPr>
          <a:xfrm>
            <a:off x="8359445"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17" name="Text 15"/>
          <p:cNvSpPr txBox="1"/>
          <p:nvPr/>
        </p:nvSpPr>
        <p:spPr>
          <a:xfrm>
            <a:off x="8359445"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Omite sin avisar</a:t>
            </a:r>
            <a:endParaRPr lang="en-US" sz="1600" dirty="0"/>
          </a:p>
        </p:txBody>
      </p:sp>
      <p:sp>
        <p:nvSpPr>
          <p:cNvPr id="18" name="Text 16"/>
          <p:cNvSpPr txBox="1"/>
          <p:nvPr/>
        </p:nvSpPr>
        <p:spPr>
          <a:xfrm>
            <a:off x="8359445" y="3263392"/>
            <a:ext cx="3027578" cy="184988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El más peligroso de los seis. Deja fuera información importante sin decir que la dejó fuera.</a:t>
            </a:r>
            <a:endParaRPr lang="en-US" sz="1300" dirty="0"/>
          </a:p>
          <a:p>
            <a:pPr indent="0" marL="0">
              <a:lnSpc>
                <a:spcPct val="110000"/>
              </a:lnSpc>
              <a:buNone/>
            </a:pPr>
            <a:endParaRPr lang="en-US" sz="1300" dirty="0"/>
          </a:p>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No hay nada escrito que sea falso. Solo falta algo. Por eso es tan difícil de ver.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10058400" y="-1463040"/>
            <a:ext cx="4023360" cy="4023360"/>
          </a:xfrm>
          <a:prstGeom prst="ellipse">
            <a:avLst/>
          </a:prstGeom>
          <a:solidFill>
            <a:srgbClr val="24404E"/>
          </a:solidFill>
          <a:ln w="12700">
            <a:solidFill>
              <a:srgbClr val="24404E"/>
            </a:solidFill>
            <a:prstDash val="solid"/>
          </a:ln>
        </p:spPr>
      </p:sp>
      <p:sp>
        <p:nvSpPr>
          <p:cNvPr id="3" name="Text 1"/>
          <p:cNvSpPr txBox="1"/>
          <p:nvPr/>
        </p:nvSpPr>
        <p:spPr>
          <a:xfrm>
            <a:off x="932688" y="1371600"/>
            <a:ext cx="10424160" cy="365760"/>
          </a:xfrm>
          <a:prstGeom prst="rect">
            <a:avLst/>
          </a:prstGeom>
          <a:noFill/>
          <a:ln/>
        </p:spPr>
        <p:txBody>
          <a:bodyPr wrap="square" lIns="0" tIns="0" rIns="0" bIns="0" rtlCol="0" anchor="ctr"/>
          <a:lstStyle/>
          <a:p>
            <a:pPr indent="0" marL="0">
              <a:buNone/>
            </a:pPr>
            <a:r>
              <a:rPr lang="en-US" sz="1400" b="1" spc="200" kern="0" dirty="0">
                <a:solidFill>
                  <a:srgbClr val="C85A28"/>
                </a:solidFill>
                <a:latin typeface="Calibri" pitchFamily="34" charset="0"/>
                <a:ea typeface="Calibri" pitchFamily="34" charset="-122"/>
                <a:cs typeface="Calibri" pitchFamily="34" charset="-120"/>
              </a:rPr>
              <a:t>DEMOSTRACIÓN EN VIVO</a:t>
            </a:r>
            <a:endParaRPr lang="en-US" sz="1400" dirty="0"/>
          </a:p>
        </p:txBody>
      </p:sp>
      <p:sp>
        <p:nvSpPr>
          <p:cNvPr id="4" name="Text 2"/>
          <p:cNvSpPr txBox="1"/>
          <p:nvPr/>
        </p:nvSpPr>
        <p:spPr>
          <a:xfrm>
            <a:off x="932688" y="1828800"/>
            <a:ext cx="10241280" cy="2377440"/>
          </a:xfrm>
          <a:prstGeom prst="rect">
            <a:avLst/>
          </a:prstGeom>
          <a:noFill/>
          <a:ln/>
        </p:spPr>
        <p:txBody>
          <a:bodyPr wrap="square" lIns="0" tIns="0" rIns="0" bIns="0" rtlCol="0" anchor="t"/>
          <a:lstStyle/>
          <a:p>
            <a:pPr indent="0" marL="0">
              <a:lnSpc>
                <a:spcPct val="112000"/>
              </a:lnSpc>
              <a:buNone/>
            </a:pPr>
            <a:r>
              <a:rPr lang="en-US" sz="3000" b="1" dirty="0">
                <a:solidFill>
                  <a:srgbClr val="FFFFFF"/>
                </a:solidFill>
                <a:latin typeface="Arial" pitchFamily="34" charset="0"/>
                <a:ea typeface="Arial" pitchFamily="34" charset="-122"/>
                <a:cs typeface="Arial" pitchFamily="34" charset="-120"/>
              </a:rPr>
              <a:t>Le voy a decir al modelo algo falso sobre un programa social. Fíjense si lo acepta y lo desarrolla.</a:t>
            </a:r>
            <a:endParaRPr lang="en-US" sz="3000" dirty="0"/>
          </a:p>
        </p:txBody>
      </p:sp>
      <p:sp>
        <p:nvSpPr>
          <p:cNvPr id="5" name="Text 3"/>
          <p:cNvSpPr txBox="1"/>
          <p:nvPr/>
        </p:nvSpPr>
        <p:spPr>
          <a:xfrm>
            <a:off x="932688" y="4343400"/>
            <a:ext cx="10058400" cy="1371600"/>
          </a:xfrm>
          <a:prstGeom prst="rect">
            <a:avLst/>
          </a:prstGeom>
          <a:noFill/>
          <a:ln/>
        </p:spPr>
        <p:txBody>
          <a:bodyPr wrap="square" lIns="0" tIns="0" rIns="0" bIns="0" rtlCol="0" anchor="t"/>
          <a:lstStyle/>
          <a:p>
            <a:pPr indent="0" marL="0">
              <a:lnSpc>
                <a:spcPct val="115000"/>
              </a:lnSpc>
              <a:buNone/>
            </a:pPr>
            <a:r>
              <a:rPr lang="en-US" sz="1600" dirty="0">
                <a:solidFill>
                  <a:srgbClr val="D7E7E7"/>
                </a:solidFill>
                <a:latin typeface="Calibri" pitchFamily="34" charset="0"/>
                <a:ea typeface="Calibri" pitchFamily="34" charset="-122"/>
                <a:cs typeface="Calibri" pitchFamily="34" charset="-120"/>
              </a:rPr>
              <a:t>Esta es la demostración del error número 4, el de darte la razón. Es la que más molesta y la que más se recuerda. Lo que hay que observar no es que se equivoque, sino que se equivoque con seguridad y con argumentos bien redactados.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566928" y="2331720"/>
            <a:ext cx="1371600" cy="1371600"/>
          </a:xfrm>
          <a:prstGeom prst="ellipse">
            <a:avLst/>
          </a:prstGeom>
          <a:solidFill>
            <a:srgbClr val="C85A28"/>
          </a:solidFill>
          <a:ln w="12700">
            <a:solidFill>
              <a:srgbClr val="C85A28"/>
            </a:solidFill>
            <a:prstDash val="solid"/>
          </a:ln>
        </p:spPr>
      </p:sp>
      <p:sp>
        <p:nvSpPr>
          <p:cNvPr id="3" name="Text 1"/>
          <p:cNvSpPr txBox="1"/>
          <p:nvPr/>
        </p:nvSpPr>
        <p:spPr>
          <a:xfrm>
            <a:off x="566928"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2</a:t>
            </a:r>
            <a:endParaRPr lang="en-US" sz="4400" dirty="0"/>
          </a:p>
        </p:txBody>
      </p:sp>
      <p:sp>
        <p:nvSpPr>
          <p:cNvPr id="4" name="Text 2"/>
          <p:cNvSpPr txBox="1"/>
          <p:nvPr/>
        </p:nvSpPr>
        <p:spPr>
          <a:xfrm>
            <a:off x="2487168" y="2331720"/>
            <a:ext cx="8778240" cy="365760"/>
          </a:xfrm>
          <a:prstGeom prst="rect">
            <a:avLst/>
          </a:prstGeom>
          <a:noFill/>
          <a:ln/>
        </p:spPr>
        <p:txBody>
          <a:bodyPr wrap="square" lIns="0" tIns="0" rIns="0" bIns="0" rtlCol="0" anchor="ctr"/>
          <a:lstStyle/>
          <a:p>
            <a:pPr indent="0" marL="0">
              <a:buNone/>
            </a:pPr>
            <a:r>
              <a:rPr lang="en-US" sz="1400" b="1" spc="200" kern="0" dirty="0">
                <a:solidFill>
                  <a:srgbClr val="D7E7E7"/>
                </a:solidFill>
                <a:latin typeface="Calibri" pitchFamily="34" charset="0"/>
                <a:ea typeface="Calibri" pitchFamily="34" charset="-122"/>
                <a:cs typeface="Calibri" pitchFamily="34" charset="-120"/>
              </a:rPr>
              <a:t>SEGUNDO BLOQUE</a:t>
            </a:r>
            <a:endParaRPr lang="en-US" sz="1400" dirty="0"/>
          </a:p>
        </p:txBody>
      </p:sp>
      <p:sp>
        <p:nvSpPr>
          <p:cNvPr id="5" name="Text 3"/>
          <p:cNvSpPr txBox="1"/>
          <p:nvPr/>
        </p:nvSpPr>
        <p:spPr>
          <a:xfrm>
            <a:off x="2487168" y="2697480"/>
            <a:ext cx="8961120" cy="11887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El protocolo de verificación</a:t>
            </a:r>
            <a:endParaRPr lang="en-US" sz="3400" dirty="0"/>
          </a:p>
        </p:txBody>
      </p:sp>
      <p:sp>
        <p:nvSpPr>
          <p:cNvPr id="6" name="Shape 4"/>
          <p:cNvSpPr/>
          <p:nvPr/>
        </p:nvSpPr>
        <p:spPr>
          <a:xfrm>
            <a:off x="9631375" y="457200"/>
            <a:ext cx="1993392" cy="347472"/>
          </a:xfrm>
          <a:prstGeom prst="roundRect">
            <a:avLst>
              <a:gd name="adj" fmla="val 50000"/>
            </a:avLst>
          </a:prstGeom>
          <a:solidFill>
            <a:srgbClr val="24404E"/>
          </a:solidFill>
          <a:ln w="12700">
            <a:solidFill>
              <a:srgbClr val="24404E"/>
            </a:solidFill>
            <a:prstDash val="solid"/>
          </a:ln>
        </p:spPr>
      </p:sp>
      <p:sp>
        <p:nvSpPr>
          <p:cNvPr id="7" name="Text 5"/>
          <p:cNvSpPr txBox="1"/>
          <p:nvPr/>
        </p:nvSpPr>
        <p:spPr>
          <a:xfrm>
            <a:off x="9631375" y="457200"/>
            <a:ext cx="199339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9:30 a 9:55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Cuatro pasos, siempre en este orden</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Es el protocolo que vas a usar el resto del curso. Saltarte pasos no es negociable.</a:t>
            </a:r>
            <a:endParaRPr lang="en-US" sz="1500" dirty="0"/>
          </a:p>
        </p:txBody>
      </p:sp>
      <p:sp>
        <p:nvSpPr>
          <p:cNvPr id="4" name="Shape 2"/>
          <p:cNvSpPr/>
          <p:nvPr/>
        </p:nvSpPr>
        <p:spPr>
          <a:xfrm>
            <a:off x="566928" y="1810512"/>
            <a:ext cx="2448992" cy="3950208"/>
          </a:xfrm>
          <a:prstGeom prst="roundRect">
            <a:avLst>
              <a:gd name="adj" fmla="val 3360"/>
            </a:avLst>
          </a:prstGeom>
          <a:solidFill>
            <a:srgbClr val="D7E7E7"/>
          </a:solidFill>
          <a:ln w="12700">
            <a:solidFill>
              <a:srgbClr val="D7E7E7"/>
            </a:solidFill>
            <a:prstDash val="solid"/>
          </a:ln>
        </p:spPr>
      </p:sp>
      <p:sp>
        <p:nvSpPr>
          <p:cNvPr id="5" name="Shape 3"/>
          <p:cNvSpPr/>
          <p:nvPr/>
        </p:nvSpPr>
        <p:spPr>
          <a:xfrm>
            <a:off x="1507960" y="2066544"/>
            <a:ext cx="566928" cy="566928"/>
          </a:xfrm>
          <a:prstGeom prst="ellipse">
            <a:avLst/>
          </a:prstGeom>
          <a:solidFill>
            <a:srgbClr val="2E7D7D"/>
          </a:solidFill>
          <a:ln w="12700">
            <a:solidFill>
              <a:srgbClr val="2E7D7D"/>
            </a:solidFill>
            <a:prstDash val="solid"/>
          </a:ln>
        </p:spPr>
      </p:sp>
      <p:sp>
        <p:nvSpPr>
          <p:cNvPr id="6" name="Text 4"/>
          <p:cNvSpPr txBox="1"/>
          <p:nvPr/>
        </p:nvSpPr>
        <p:spPr>
          <a:xfrm>
            <a:off x="1507960" y="206654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txBox="1"/>
          <p:nvPr/>
        </p:nvSpPr>
        <p:spPr>
          <a:xfrm>
            <a:off x="749808" y="2743200"/>
            <a:ext cx="2083232" cy="457200"/>
          </a:xfrm>
          <a:prstGeom prst="rect">
            <a:avLst/>
          </a:prstGeom>
          <a:noFill/>
          <a:ln/>
        </p:spPr>
        <p:txBody>
          <a:bodyPr wrap="square" lIns="0" tIns="0" rIns="0" bIns="0" rtlCol="0" anchor="t"/>
          <a:lstStyle/>
          <a:p>
            <a:pPr algn="ctr" indent="0" marL="0">
              <a:buNone/>
            </a:pPr>
            <a:r>
              <a:rPr lang="en-US" sz="1600" b="1" dirty="0">
                <a:solidFill>
                  <a:srgbClr val="16262E"/>
                </a:solidFill>
                <a:latin typeface="Arial" pitchFamily="34" charset="0"/>
                <a:ea typeface="Arial" pitchFamily="34" charset="-122"/>
                <a:cs typeface="Arial" pitchFamily="34" charset="-120"/>
              </a:rPr>
              <a:t>Traza</a:t>
            </a:r>
            <a:endParaRPr lang="en-US" sz="1600" dirty="0"/>
          </a:p>
        </p:txBody>
      </p:sp>
      <p:sp>
        <p:nvSpPr>
          <p:cNvPr id="8" name="Text 6"/>
          <p:cNvSpPr txBox="1"/>
          <p:nvPr/>
        </p:nvSpPr>
        <p:spPr>
          <a:xfrm>
            <a:off x="786384" y="3273552"/>
            <a:ext cx="2010080" cy="2304288"/>
          </a:xfrm>
          <a:prstGeom prst="rect">
            <a:avLst/>
          </a:prstGeom>
          <a:noFill/>
          <a:ln/>
        </p:spPr>
        <p:txBody>
          <a:bodyPr wrap="square" lIns="0" tIns="0" rIns="0" bIns="0" rtlCol="0" anchor="t"/>
          <a:lstStyle/>
          <a:p>
            <a:pPr indent="0" marL="0">
              <a:lnSpc>
                <a:spcPct val="112000"/>
              </a:lnSpc>
              <a:buNone/>
            </a:pPr>
            <a:r>
              <a:rPr lang="en-US" sz="1250" dirty="0">
                <a:solidFill>
                  <a:srgbClr val="16262E"/>
                </a:solidFill>
                <a:latin typeface="Calibri" pitchFamily="34" charset="0"/>
                <a:ea typeface="Calibri" pitchFamily="34" charset="-122"/>
                <a:cs typeface="Calibri" pitchFamily="34" charset="-120"/>
              </a:rPr>
              <a:t>Cada afirmación tiene que poder señalar el documento y la sección de donde salió.</a:t>
            </a:r>
            <a:endParaRPr lang="en-US" sz="1250" dirty="0"/>
          </a:p>
          <a:p>
            <a:pPr indent="0" marL="0">
              <a:lnSpc>
                <a:spcPct val="112000"/>
              </a:lnSpc>
              <a:buNone/>
            </a:pPr>
            <a:endParaRPr lang="en-US" sz="1250" dirty="0"/>
          </a:p>
          <a:p>
            <a:pPr indent="0" marL="0">
              <a:lnSpc>
                <a:spcPct val="112000"/>
              </a:lnSpc>
              <a:buNone/>
            </a:pPr>
            <a:r>
              <a:rPr lang="en-US" sz="1250" dirty="0">
                <a:solidFill>
                  <a:srgbClr val="16262E"/>
                </a:solidFill>
                <a:latin typeface="Calibri" pitchFamily="34" charset="0"/>
                <a:ea typeface="Calibri" pitchFamily="34" charset="-122"/>
                <a:cs typeface="Calibri" pitchFamily="34" charset="-120"/>
              </a:rPr>
              <a:t>Lo que no puedas trazar, márcalo e investígalo aparte.</a:t>
            </a:r>
            <a:endParaRPr lang="en-US" sz="1250" dirty="0"/>
          </a:p>
        </p:txBody>
      </p:sp>
      <p:sp>
        <p:nvSpPr>
          <p:cNvPr id="9" name="Shape 7"/>
          <p:cNvSpPr/>
          <p:nvPr/>
        </p:nvSpPr>
        <p:spPr>
          <a:xfrm>
            <a:off x="3089072" y="2194560"/>
            <a:ext cx="274320" cy="310896"/>
          </a:xfrm>
          <a:prstGeom prst="rightArrow">
            <a:avLst/>
          </a:prstGeom>
          <a:solidFill>
            <a:srgbClr val="5A6B73"/>
          </a:solidFill>
          <a:ln w="12700">
            <a:solidFill>
              <a:srgbClr val="5A6B73"/>
            </a:solidFill>
            <a:prstDash val="solid"/>
          </a:ln>
        </p:spPr>
      </p:sp>
      <p:sp>
        <p:nvSpPr>
          <p:cNvPr id="10" name="Shape 8"/>
          <p:cNvSpPr/>
          <p:nvPr/>
        </p:nvSpPr>
        <p:spPr>
          <a:xfrm>
            <a:off x="3436544" y="1810512"/>
            <a:ext cx="2448992" cy="3950208"/>
          </a:xfrm>
          <a:prstGeom prst="roundRect">
            <a:avLst>
              <a:gd name="adj" fmla="val 3360"/>
            </a:avLst>
          </a:prstGeom>
          <a:solidFill>
            <a:srgbClr val="D7E7E7"/>
          </a:solidFill>
          <a:ln w="12700">
            <a:solidFill>
              <a:srgbClr val="D7E7E7"/>
            </a:solidFill>
            <a:prstDash val="solid"/>
          </a:ln>
        </p:spPr>
      </p:sp>
      <p:sp>
        <p:nvSpPr>
          <p:cNvPr id="11" name="Shape 9"/>
          <p:cNvSpPr/>
          <p:nvPr/>
        </p:nvSpPr>
        <p:spPr>
          <a:xfrm>
            <a:off x="4377576" y="2066544"/>
            <a:ext cx="566928" cy="566928"/>
          </a:xfrm>
          <a:prstGeom prst="ellipse">
            <a:avLst/>
          </a:prstGeom>
          <a:solidFill>
            <a:srgbClr val="2E7D7D"/>
          </a:solidFill>
          <a:ln w="12700">
            <a:solidFill>
              <a:srgbClr val="2E7D7D"/>
            </a:solidFill>
            <a:prstDash val="solid"/>
          </a:ln>
        </p:spPr>
      </p:sp>
      <p:sp>
        <p:nvSpPr>
          <p:cNvPr id="12" name="Text 10"/>
          <p:cNvSpPr txBox="1"/>
          <p:nvPr/>
        </p:nvSpPr>
        <p:spPr>
          <a:xfrm>
            <a:off x="4377576" y="206654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1"/>
          <p:cNvSpPr txBox="1"/>
          <p:nvPr/>
        </p:nvSpPr>
        <p:spPr>
          <a:xfrm>
            <a:off x="3619424" y="2743200"/>
            <a:ext cx="2083232" cy="457200"/>
          </a:xfrm>
          <a:prstGeom prst="rect">
            <a:avLst/>
          </a:prstGeom>
          <a:noFill/>
          <a:ln/>
        </p:spPr>
        <p:txBody>
          <a:bodyPr wrap="square" lIns="0" tIns="0" rIns="0" bIns="0" rtlCol="0" anchor="t"/>
          <a:lstStyle/>
          <a:p>
            <a:pPr algn="ctr" indent="0" marL="0">
              <a:buNone/>
            </a:pPr>
            <a:r>
              <a:rPr lang="en-US" sz="1600" b="1" dirty="0">
                <a:solidFill>
                  <a:srgbClr val="16262E"/>
                </a:solidFill>
                <a:latin typeface="Arial" pitchFamily="34" charset="0"/>
                <a:ea typeface="Arial" pitchFamily="34" charset="-122"/>
                <a:cs typeface="Arial" pitchFamily="34" charset="-120"/>
              </a:rPr>
              <a:t>Recalcula</a:t>
            </a:r>
            <a:endParaRPr lang="en-US" sz="1600" dirty="0"/>
          </a:p>
        </p:txBody>
      </p:sp>
      <p:sp>
        <p:nvSpPr>
          <p:cNvPr id="14" name="Text 12"/>
          <p:cNvSpPr txBox="1"/>
          <p:nvPr/>
        </p:nvSpPr>
        <p:spPr>
          <a:xfrm>
            <a:off x="3656000" y="3273552"/>
            <a:ext cx="2010080" cy="2304288"/>
          </a:xfrm>
          <a:prstGeom prst="rect">
            <a:avLst/>
          </a:prstGeom>
          <a:noFill/>
          <a:ln/>
        </p:spPr>
        <p:txBody>
          <a:bodyPr wrap="square" lIns="0" tIns="0" rIns="0" bIns="0" rtlCol="0" anchor="t"/>
          <a:lstStyle/>
          <a:p>
            <a:pPr indent="0" marL="0">
              <a:lnSpc>
                <a:spcPct val="112000"/>
              </a:lnSpc>
              <a:buNone/>
            </a:pPr>
            <a:r>
              <a:rPr lang="en-US" sz="1250" dirty="0">
                <a:solidFill>
                  <a:srgbClr val="16262E"/>
                </a:solidFill>
                <a:latin typeface="Calibri" pitchFamily="34" charset="0"/>
                <a:ea typeface="Calibri" pitchFamily="34" charset="-122"/>
                <a:cs typeface="Calibri" pitchFamily="34" charset="-120"/>
              </a:rPr>
              <a:t>Comprueba toda cifra a mano o en Excel.</a:t>
            </a:r>
            <a:endParaRPr lang="en-US" sz="1250" dirty="0"/>
          </a:p>
          <a:p>
            <a:pPr indent="0" marL="0">
              <a:lnSpc>
                <a:spcPct val="112000"/>
              </a:lnSpc>
              <a:buNone/>
            </a:pPr>
            <a:endParaRPr lang="en-US" sz="1250" dirty="0"/>
          </a:p>
          <a:p>
            <a:pPr indent="0" marL="0">
              <a:lnSpc>
                <a:spcPct val="112000"/>
              </a:lnSpc>
              <a:buNone/>
            </a:pPr>
            <a:r>
              <a:rPr lang="en-US" sz="1250" dirty="0">
                <a:solidFill>
                  <a:srgbClr val="16262E"/>
                </a:solidFill>
                <a:latin typeface="Calibri" pitchFamily="34" charset="0"/>
                <a:ea typeface="Calibri" pitchFamily="34" charset="-122"/>
                <a:cs typeface="Calibri" pitchFamily="34" charset="-120"/>
              </a:rPr>
              <a:t>Revisa sobre todo que los porcentajes sumen y que los totales cuadren con sus partes.</a:t>
            </a:r>
            <a:endParaRPr lang="en-US" sz="1250" dirty="0"/>
          </a:p>
        </p:txBody>
      </p:sp>
      <p:sp>
        <p:nvSpPr>
          <p:cNvPr id="15" name="Shape 13"/>
          <p:cNvSpPr/>
          <p:nvPr/>
        </p:nvSpPr>
        <p:spPr>
          <a:xfrm>
            <a:off x="5958688" y="2194560"/>
            <a:ext cx="274320" cy="310896"/>
          </a:xfrm>
          <a:prstGeom prst="rightArrow">
            <a:avLst/>
          </a:prstGeom>
          <a:solidFill>
            <a:srgbClr val="5A6B73"/>
          </a:solidFill>
          <a:ln w="12700">
            <a:solidFill>
              <a:srgbClr val="5A6B73"/>
            </a:solidFill>
            <a:prstDash val="solid"/>
          </a:ln>
        </p:spPr>
      </p:sp>
      <p:sp>
        <p:nvSpPr>
          <p:cNvPr id="16" name="Shape 14"/>
          <p:cNvSpPr/>
          <p:nvPr/>
        </p:nvSpPr>
        <p:spPr>
          <a:xfrm>
            <a:off x="6306160" y="1810512"/>
            <a:ext cx="2448992" cy="3950208"/>
          </a:xfrm>
          <a:prstGeom prst="roundRect">
            <a:avLst>
              <a:gd name="adj" fmla="val 3360"/>
            </a:avLst>
          </a:prstGeom>
          <a:solidFill>
            <a:srgbClr val="D7E7E7"/>
          </a:solidFill>
          <a:ln w="12700">
            <a:solidFill>
              <a:srgbClr val="D7E7E7"/>
            </a:solidFill>
            <a:prstDash val="solid"/>
          </a:ln>
        </p:spPr>
      </p:sp>
      <p:sp>
        <p:nvSpPr>
          <p:cNvPr id="17" name="Shape 15"/>
          <p:cNvSpPr/>
          <p:nvPr/>
        </p:nvSpPr>
        <p:spPr>
          <a:xfrm>
            <a:off x="7247191" y="2066544"/>
            <a:ext cx="566928" cy="566928"/>
          </a:xfrm>
          <a:prstGeom prst="ellipse">
            <a:avLst/>
          </a:prstGeom>
          <a:solidFill>
            <a:srgbClr val="2E7D7D"/>
          </a:solidFill>
          <a:ln w="12700">
            <a:solidFill>
              <a:srgbClr val="2E7D7D"/>
            </a:solidFill>
            <a:prstDash val="solid"/>
          </a:ln>
        </p:spPr>
      </p:sp>
      <p:sp>
        <p:nvSpPr>
          <p:cNvPr id="18" name="Text 16"/>
          <p:cNvSpPr txBox="1"/>
          <p:nvPr/>
        </p:nvSpPr>
        <p:spPr>
          <a:xfrm>
            <a:off x="7247191" y="206654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9" name="Text 17"/>
          <p:cNvSpPr txBox="1"/>
          <p:nvPr/>
        </p:nvSpPr>
        <p:spPr>
          <a:xfrm>
            <a:off x="6489040" y="2743200"/>
            <a:ext cx="2083232" cy="457200"/>
          </a:xfrm>
          <a:prstGeom prst="rect">
            <a:avLst/>
          </a:prstGeom>
          <a:noFill/>
          <a:ln/>
        </p:spPr>
        <p:txBody>
          <a:bodyPr wrap="square" lIns="0" tIns="0" rIns="0" bIns="0" rtlCol="0" anchor="t"/>
          <a:lstStyle/>
          <a:p>
            <a:pPr algn="ctr" indent="0" marL="0">
              <a:buNone/>
            </a:pPr>
            <a:r>
              <a:rPr lang="en-US" sz="1600" b="1" dirty="0">
                <a:solidFill>
                  <a:srgbClr val="16262E"/>
                </a:solidFill>
                <a:latin typeface="Arial" pitchFamily="34" charset="0"/>
                <a:ea typeface="Arial" pitchFamily="34" charset="-122"/>
                <a:cs typeface="Arial" pitchFamily="34" charset="-120"/>
              </a:rPr>
              <a:t>Contrapregunta</a:t>
            </a:r>
            <a:endParaRPr lang="en-US" sz="1600" dirty="0"/>
          </a:p>
        </p:txBody>
      </p:sp>
      <p:sp>
        <p:nvSpPr>
          <p:cNvPr id="20" name="Text 18"/>
          <p:cNvSpPr txBox="1"/>
          <p:nvPr/>
        </p:nvSpPr>
        <p:spPr>
          <a:xfrm>
            <a:off x="6525616" y="3273552"/>
            <a:ext cx="2010080" cy="2304288"/>
          </a:xfrm>
          <a:prstGeom prst="rect">
            <a:avLst/>
          </a:prstGeom>
          <a:noFill/>
          <a:ln/>
        </p:spPr>
        <p:txBody>
          <a:bodyPr wrap="square" lIns="0" tIns="0" rIns="0" bIns="0" rtlCol="0" anchor="t"/>
          <a:lstStyle/>
          <a:p>
            <a:pPr indent="0" marL="0">
              <a:lnSpc>
                <a:spcPct val="112000"/>
              </a:lnSpc>
              <a:buNone/>
            </a:pPr>
            <a:r>
              <a:rPr lang="en-US" sz="1250" dirty="0">
                <a:solidFill>
                  <a:srgbClr val="16262E"/>
                </a:solidFill>
                <a:latin typeface="Calibri" pitchFamily="34" charset="0"/>
                <a:ea typeface="Calibri" pitchFamily="34" charset="-122"/>
                <a:cs typeface="Calibri" pitchFamily="34" charset="-120"/>
              </a:rPr>
              <a:t>Regrésale la pregunta al modelo: que señale qué parte del documento sostiene cada afirmación.</a:t>
            </a:r>
            <a:endParaRPr lang="en-US" sz="1250" dirty="0"/>
          </a:p>
          <a:p>
            <a:pPr indent="0" marL="0">
              <a:lnSpc>
                <a:spcPct val="112000"/>
              </a:lnSpc>
              <a:buNone/>
            </a:pPr>
            <a:endParaRPr lang="en-US" sz="1250" dirty="0"/>
          </a:p>
          <a:p>
            <a:pPr indent="0" marL="0">
              <a:lnSpc>
                <a:spcPct val="112000"/>
              </a:lnSpc>
              <a:buNone/>
            </a:pPr>
            <a:r>
              <a:rPr lang="en-US" sz="1250" dirty="0">
                <a:solidFill>
                  <a:srgbClr val="16262E"/>
                </a:solidFill>
                <a:latin typeface="Calibri" pitchFamily="34" charset="0"/>
                <a:ea typeface="Calibri" pitchFamily="34" charset="-122"/>
                <a:cs typeface="Calibri" pitchFamily="34" charset="-120"/>
              </a:rPr>
              <a:t>Cuando no puede señalarla, casi siempre es porque la inventó.</a:t>
            </a:r>
            <a:endParaRPr lang="en-US" sz="1250" dirty="0"/>
          </a:p>
        </p:txBody>
      </p:sp>
      <p:sp>
        <p:nvSpPr>
          <p:cNvPr id="21" name="Shape 19"/>
          <p:cNvSpPr/>
          <p:nvPr/>
        </p:nvSpPr>
        <p:spPr>
          <a:xfrm>
            <a:off x="8828303" y="2194560"/>
            <a:ext cx="274320" cy="310896"/>
          </a:xfrm>
          <a:prstGeom prst="rightArrow">
            <a:avLst/>
          </a:prstGeom>
          <a:solidFill>
            <a:srgbClr val="5A6B73"/>
          </a:solidFill>
          <a:ln w="12700">
            <a:solidFill>
              <a:srgbClr val="5A6B73"/>
            </a:solidFill>
            <a:prstDash val="solid"/>
          </a:ln>
        </p:spPr>
      </p:sp>
      <p:sp>
        <p:nvSpPr>
          <p:cNvPr id="22" name="Shape 20"/>
          <p:cNvSpPr/>
          <p:nvPr/>
        </p:nvSpPr>
        <p:spPr>
          <a:xfrm>
            <a:off x="9175775" y="1810512"/>
            <a:ext cx="2448992" cy="3950208"/>
          </a:xfrm>
          <a:prstGeom prst="roundRect">
            <a:avLst>
              <a:gd name="adj" fmla="val 3360"/>
            </a:avLst>
          </a:prstGeom>
          <a:solidFill>
            <a:srgbClr val="F7E4D8"/>
          </a:solidFill>
          <a:ln w="12700">
            <a:solidFill>
              <a:srgbClr val="F7E4D8"/>
            </a:solidFill>
            <a:prstDash val="solid"/>
          </a:ln>
        </p:spPr>
      </p:sp>
      <p:sp>
        <p:nvSpPr>
          <p:cNvPr id="23" name="Shape 21"/>
          <p:cNvSpPr/>
          <p:nvPr/>
        </p:nvSpPr>
        <p:spPr>
          <a:xfrm>
            <a:off x="10116807" y="2066544"/>
            <a:ext cx="566928" cy="566928"/>
          </a:xfrm>
          <a:prstGeom prst="ellipse">
            <a:avLst/>
          </a:prstGeom>
          <a:solidFill>
            <a:srgbClr val="C85A28"/>
          </a:solidFill>
          <a:ln w="12700">
            <a:solidFill>
              <a:srgbClr val="C85A28"/>
            </a:solidFill>
            <a:prstDash val="solid"/>
          </a:ln>
        </p:spPr>
      </p:sp>
      <p:sp>
        <p:nvSpPr>
          <p:cNvPr id="24" name="Text 22"/>
          <p:cNvSpPr txBox="1"/>
          <p:nvPr/>
        </p:nvSpPr>
        <p:spPr>
          <a:xfrm>
            <a:off x="10116807" y="206654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5" name="Text 23"/>
          <p:cNvSpPr txBox="1"/>
          <p:nvPr/>
        </p:nvSpPr>
        <p:spPr>
          <a:xfrm>
            <a:off x="9358655" y="2743200"/>
            <a:ext cx="2083232" cy="457200"/>
          </a:xfrm>
          <a:prstGeom prst="rect">
            <a:avLst/>
          </a:prstGeom>
          <a:noFill/>
          <a:ln/>
        </p:spPr>
        <p:txBody>
          <a:bodyPr wrap="square" lIns="0" tIns="0" rIns="0" bIns="0" rtlCol="0" anchor="t"/>
          <a:lstStyle/>
          <a:p>
            <a:pPr algn="ctr" indent="0" marL="0">
              <a:buNone/>
            </a:pPr>
            <a:r>
              <a:rPr lang="en-US" sz="1600" b="1" dirty="0">
                <a:solidFill>
                  <a:srgbClr val="16262E"/>
                </a:solidFill>
                <a:latin typeface="Arial" pitchFamily="34" charset="0"/>
                <a:ea typeface="Arial" pitchFamily="34" charset="-122"/>
                <a:cs typeface="Arial" pitchFamily="34" charset="-120"/>
              </a:rPr>
              <a:t>Triangula</a:t>
            </a:r>
            <a:endParaRPr lang="en-US" sz="1600" dirty="0"/>
          </a:p>
        </p:txBody>
      </p:sp>
      <p:sp>
        <p:nvSpPr>
          <p:cNvPr id="26" name="Text 24"/>
          <p:cNvSpPr txBox="1"/>
          <p:nvPr/>
        </p:nvSpPr>
        <p:spPr>
          <a:xfrm>
            <a:off x="9395231" y="3273552"/>
            <a:ext cx="2010080" cy="2304288"/>
          </a:xfrm>
          <a:prstGeom prst="rect">
            <a:avLst/>
          </a:prstGeom>
          <a:noFill/>
          <a:ln/>
        </p:spPr>
        <p:txBody>
          <a:bodyPr wrap="square" lIns="0" tIns="0" rIns="0" bIns="0" rtlCol="0" anchor="t"/>
          <a:lstStyle/>
          <a:p>
            <a:pPr indent="0" marL="0">
              <a:lnSpc>
                <a:spcPct val="112000"/>
              </a:lnSpc>
              <a:buNone/>
            </a:pPr>
            <a:r>
              <a:rPr lang="en-US" sz="1250" dirty="0">
                <a:solidFill>
                  <a:srgbClr val="16262E"/>
                </a:solidFill>
                <a:latin typeface="Calibri" pitchFamily="34" charset="0"/>
                <a:ea typeface="Calibri" pitchFamily="34" charset="-122"/>
                <a:cs typeface="Calibri" pitchFamily="34" charset="-120"/>
              </a:rPr>
              <a:t>Haz la misma pregunta en dos herramientas más. Tienes ChatGPT, Claude y Gemini.</a:t>
            </a:r>
            <a:endParaRPr lang="en-US" sz="1250" dirty="0"/>
          </a:p>
          <a:p>
            <a:pPr indent="0" marL="0">
              <a:lnSpc>
                <a:spcPct val="112000"/>
              </a:lnSpc>
              <a:buNone/>
            </a:pPr>
            <a:endParaRPr lang="en-US" sz="1250" dirty="0"/>
          </a:p>
          <a:p>
            <a:pPr indent="0" marL="0">
              <a:lnSpc>
                <a:spcPct val="112000"/>
              </a:lnSpc>
              <a:buNone/>
            </a:pPr>
            <a:r>
              <a:rPr lang="en-US" sz="1250" dirty="0">
                <a:solidFill>
                  <a:srgbClr val="16262E"/>
                </a:solidFill>
                <a:latin typeface="Calibri" pitchFamily="34" charset="0"/>
                <a:ea typeface="Calibri" pitchFamily="34" charset="-122"/>
                <a:cs typeface="Calibri" pitchFamily="34" charset="-120"/>
              </a:rPr>
              <a:t>Si las tres coinciden, tu confianza sube. Si discrepan, esa discrepancia te dice dónde ir a la fuente.</a:t>
            </a:r>
            <a:endParaRPr lang="en-US" sz="1250" dirty="0"/>
          </a:p>
        </p:txBody>
      </p:sp>
      <p:sp>
        <p:nvSpPr>
          <p:cNvPr id="27" name="Shape 25"/>
          <p:cNvSpPr/>
          <p:nvPr/>
        </p:nvSpPr>
        <p:spPr>
          <a:xfrm>
            <a:off x="566928" y="5870448"/>
            <a:ext cx="11057839" cy="493776"/>
          </a:xfrm>
          <a:prstGeom prst="roundRect">
            <a:avLst>
              <a:gd name="adj" fmla="val 11111"/>
            </a:avLst>
          </a:prstGeom>
          <a:solidFill>
            <a:srgbClr val="F7E4D8"/>
          </a:solidFill>
          <a:ln w="12700">
            <a:solidFill>
              <a:srgbClr val="F7E4D8"/>
            </a:solidFill>
            <a:prstDash val="solid"/>
          </a:ln>
        </p:spPr>
      </p:sp>
      <p:sp>
        <p:nvSpPr>
          <p:cNvPr id="28" name="Text 26"/>
          <p:cNvSpPr txBox="1"/>
          <p:nvPr/>
        </p:nvSpPr>
        <p:spPr>
          <a:xfrm>
            <a:off x="804672" y="5870448"/>
            <a:ext cx="10582351" cy="493776"/>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El paso 4 solo funciona con información verde. El informe de hoy lo es. En tu trabajo real, no puedes triangular un borrador interno.</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El paso 3 en detalle: la contrapregunta</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Es el paso que más rinde y el que menos gente usa.</a:t>
            </a:r>
            <a:endParaRPr lang="en-US" sz="1500" dirty="0"/>
          </a:p>
        </p:txBody>
      </p:sp>
      <p:sp>
        <p:nvSpPr>
          <p:cNvPr id="4" name="Shape 2"/>
          <p:cNvSpPr/>
          <p:nvPr/>
        </p:nvSpPr>
        <p:spPr>
          <a:xfrm>
            <a:off x="566928" y="1810512"/>
            <a:ext cx="11057839" cy="1828800"/>
          </a:xfrm>
          <a:prstGeom prst="roundRect">
            <a:avLst>
              <a:gd name="adj" fmla="val 4000"/>
            </a:avLst>
          </a:prstGeom>
          <a:solidFill>
            <a:srgbClr val="16262E"/>
          </a:solidFill>
          <a:ln w="12700">
            <a:solidFill>
              <a:srgbClr val="16262E"/>
            </a:solidFill>
            <a:prstDash val="solid"/>
          </a:ln>
        </p:spPr>
      </p:sp>
      <p:sp>
        <p:nvSpPr>
          <p:cNvPr id="5" name="Text 3"/>
          <p:cNvSpPr txBox="1"/>
          <p:nvPr/>
        </p:nvSpPr>
        <p:spPr>
          <a:xfrm>
            <a:off x="886968" y="2066544"/>
            <a:ext cx="10417759" cy="1316736"/>
          </a:xfrm>
          <a:prstGeom prst="rect">
            <a:avLst/>
          </a:prstGeom>
          <a:noFill/>
          <a:ln/>
        </p:spPr>
        <p:txBody>
          <a:bodyPr wrap="square" lIns="0" tIns="0" rIns="0" bIns="0" rtlCol="0" anchor="t"/>
          <a:lstStyle/>
          <a:p>
            <a:pPr indent="0" marL="0">
              <a:lnSpc>
                <a:spcPct val="120000"/>
              </a:lnSpc>
              <a:buNone/>
            </a:pPr>
            <a:r>
              <a:rPr lang="en-US" sz="1300" dirty="0">
                <a:solidFill>
                  <a:srgbClr val="FFFFFF"/>
                </a:solidFill>
                <a:latin typeface="Courier New" pitchFamily="34" charset="0"/>
                <a:ea typeface="Courier New" pitchFamily="34" charset="-122"/>
                <a:cs typeface="Courier New" pitchFamily="34" charset="-120"/>
              </a:rPr>
              <a:t>Para cada una de las afirmaciones que acabas de hacer, indica la sección exacta</a:t>
            </a:r>
            <a:endParaRPr lang="en-US" sz="1300" dirty="0"/>
          </a:p>
          <a:p>
            <a:pPr indent="0" marL="0">
              <a:lnSpc>
                <a:spcPct val="120000"/>
              </a:lnSpc>
              <a:buNone/>
            </a:pPr>
            <a:r>
              <a:rPr lang="en-US" sz="1300" dirty="0">
                <a:solidFill>
                  <a:srgbClr val="FFFFFF"/>
                </a:solidFill>
                <a:latin typeface="Courier New" pitchFamily="34" charset="0"/>
                <a:ea typeface="Courier New" pitchFamily="34" charset="-122"/>
                <a:cs typeface="Courier New" pitchFamily="34" charset="-120"/>
              </a:rPr>
              <a:t>del documento que la sostiene y transcribe la frase textual correspondiente.</a:t>
            </a:r>
            <a:endParaRPr lang="en-US" sz="1300" dirty="0"/>
          </a:p>
          <a:p>
            <a:pPr indent="0" marL="0">
              <a:lnSpc>
                <a:spcPct val="120000"/>
              </a:lnSpc>
              <a:buNone/>
            </a:pPr>
            <a:endParaRPr lang="en-US" sz="1300" dirty="0"/>
          </a:p>
          <a:p>
            <a:pPr indent="0" marL="0">
              <a:lnSpc>
                <a:spcPct val="120000"/>
              </a:lnSpc>
              <a:buNone/>
            </a:pPr>
            <a:r>
              <a:rPr lang="en-US" sz="1300" dirty="0">
                <a:solidFill>
                  <a:srgbClr val="FFFFFF"/>
                </a:solidFill>
                <a:latin typeface="Courier New" pitchFamily="34" charset="0"/>
                <a:ea typeface="Courier New" pitchFamily="34" charset="-122"/>
                <a:cs typeface="Courier New" pitchFamily="34" charset="-120"/>
              </a:rPr>
              <a:t>Si alguna afirmación no se apoya en una frase concreta del documento, dilo</a:t>
            </a:r>
            <a:endParaRPr lang="en-US" sz="1300" dirty="0"/>
          </a:p>
          <a:p>
            <a:pPr indent="0" marL="0">
              <a:lnSpc>
                <a:spcPct val="120000"/>
              </a:lnSpc>
              <a:buNone/>
            </a:pPr>
            <a:r>
              <a:rPr lang="en-US" sz="1300" dirty="0">
                <a:solidFill>
                  <a:srgbClr val="FFFFFF"/>
                </a:solidFill>
                <a:latin typeface="Courier New" pitchFamily="34" charset="0"/>
                <a:ea typeface="Courier New" pitchFamily="34" charset="-122"/>
                <a:cs typeface="Courier New" pitchFamily="34" charset="-120"/>
              </a:rPr>
              <a:t>explícitamente en lugar de buscar una aproximada.</a:t>
            </a:r>
            <a:endParaRPr lang="en-US" sz="1300" dirty="0"/>
          </a:p>
        </p:txBody>
      </p:sp>
      <p:sp>
        <p:nvSpPr>
          <p:cNvPr id="6" name="Shape 4"/>
          <p:cNvSpPr/>
          <p:nvPr/>
        </p:nvSpPr>
        <p:spPr>
          <a:xfrm>
            <a:off x="566928" y="3840480"/>
            <a:ext cx="11057839" cy="749808"/>
          </a:xfrm>
          <a:prstGeom prst="roundRect">
            <a:avLst>
              <a:gd name="adj" fmla="val 9756"/>
            </a:avLst>
          </a:prstGeom>
          <a:solidFill>
            <a:srgbClr val="F7E4D8"/>
          </a:solidFill>
          <a:ln w="12700">
            <a:solidFill>
              <a:srgbClr val="F7E4D8"/>
            </a:solidFill>
            <a:prstDash val="solid"/>
          </a:ln>
        </p:spPr>
      </p:sp>
      <p:sp>
        <p:nvSpPr>
          <p:cNvPr id="7" name="Text 5"/>
          <p:cNvSpPr txBox="1"/>
          <p:nvPr/>
        </p:nvSpPr>
        <p:spPr>
          <a:xfrm>
            <a:off x="841248" y="3840480"/>
            <a:ext cx="10509199" cy="749808"/>
          </a:xfrm>
          <a:prstGeom prst="rect">
            <a:avLst/>
          </a:prstGeom>
          <a:noFill/>
          <a:ln/>
        </p:spPr>
        <p:txBody>
          <a:bodyPr wrap="square" lIns="0" tIns="0" rIns="0" bIns="0" rtlCol="0" anchor="ctr"/>
          <a:lstStyle/>
          <a:p>
            <a:pPr indent="0" marL="0">
              <a:buNone/>
            </a:pPr>
            <a:r>
              <a:rPr lang="en-US" sz="1400" b="1" dirty="0">
                <a:solidFill>
                  <a:srgbClr val="16262E"/>
                </a:solidFill>
                <a:latin typeface="Calibri" pitchFamily="34" charset="0"/>
                <a:ea typeface="Calibri" pitchFamily="34" charset="-122"/>
                <a:cs typeface="Calibri" pitchFamily="34" charset="-120"/>
              </a:rPr>
              <a:t>Cuando el modelo no puede señalar la frase, casi siempre es porque la inventó.</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566928" y="2331720"/>
            <a:ext cx="1371600" cy="1371600"/>
          </a:xfrm>
          <a:prstGeom prst="ellipse">
            <a:avLst/>
          </a:prstGeom>
          <a:solidFill>
            <a:srgbClr val="C85A28"/>
          </a:solidFill>
          <a:ln w="12700">
            <a:solidFill>
              <a:srgbClr val="C85A28"/>
            </a:solidFill>
            <a:prstDash val="solid"/>
          </a:ln>
        </p:spPr>
      </p:sp>
      <p:sp>
        <p:nvSpPr>
          <p:cNvPr id="3" name="Text 1"/>
          <p:cNvSpPr txBox="1"/>
          <p:nvPr/>
        </p:nvSpPr>
        <p:spPr>
          <a:xfrm>
            <a:off x="566928"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3</a:t>
            </a:r>
            <a:endParaRPr lang="en-US" sz="4400" dirty="0"/>
          </a:p>
        </p:txBody>
      </p:sp>
      <p:sp>
        <p:nvSpPr>
          <p:cNvPr id="4" name="Text 2"/>
          <p:cNvSpPr txBox="1"/>
          <p:nvPr/>
        </p:nvSpPr>
        <p:spPr>
          <a:xfrm>
            <a:off x="2487168" y="2331720"/>
            <a:ext cx="8778240" cy="365760"/>
          </a:xfrm>
          <a:prstGeom prst="rect">
            <a:avLst/>
          </a:prstGeom>
          <a:noFill/>
          <a:ln/>
        </p:spPr>
        <p:txBody>
          <a:bodyPr wrap="square" lIns="0" tIns="0" rIns="0" bIns="0" rtlCol="0" anchor="ctr"/>
          <a:lstStyle/>
          <a:p>
            <a:pPr indent="0" marL="0">
              <a:buNone/>
            </a:pPr>
            <a:r>
              <a:rPr lang="en-US" sz="1400" b="1" spc="200" kern="0" dirty="0">
                <a:solidFill>
                  <a:srgbClr val="D7E7E7"/>
                </a:solidFill>
                <a:latin typeface="Calibri" pitchFamily="34" charset="0"/>
                <a:ea typeface="Calibri" pitchFamily="34" charset="-122"/>
                <a:cs typeface="Calibri" pitchFamily="34" charset="-120"/>
              </a:rPr>
              <a:t>LABORATORIO PRÁCTICO 1</a:t>
            </a:r>
            <a:endParaRPr lang="en-US" sz="1400" dirty="0"/>
          </a:p>
        </p:txBody>
      </p:sp>
      <p:sp>
        <p:nvSpPr>
          <p:cNvPr id="5" name="Text 3"/>
          <p:cNvSpPr txBox="1"/>
          <p:nvPr/>
        </p:nvSpPr>
        <p:spPr>
          <a:xfrm>
            <a:off x="2487168" y="2697480"/>
            <a:ext cx="8961120" cy="11887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Encuentra lo que está mal en este informe</a:t>
            </a:r>
            <a:endParaRPr lang="en-US" sz="3400" dirty="0"/>
          </a:p>
        </p:txBody>
      </p:sp>
      <p:sp>
        <p:nvSpPr>
          <p:cNvPr id="6" name="Shape 4"/>
          <p:cNvSpPr/>
          <p:nvPr/>
        </p:nvSpPr>
        <p:spPr>
          <a:xfrm>
            <a:off x="9338767" y="457200"/>
            <a:ext cx="2286000" cy="347472"/>
          </a:xfrm>
          <a:prstGeom prst="roundRect">
            <a:avLst>
              <a:gd name="adj" fmla="val 50000"/>
            </a:avLst>
          </a:prstGeom>
          <a:solidFill>
            <a:srgbClr val="24404E"/>
          </a:solidFill>
          <a:ln w="12700">
            <a:solidFill>
              <a:srgbClr val="24404E"/>
            </a:solidFill>
            <a:prstDash val="solid"/>
          </a:ln>
        </p:spPr>
      </p:sp>
      <p:sp>
        <p:nvSpPr>
          <p:cNvPr id="7" name="Text 5"/>
          <p:cNvSpPr txBox="1"/>
          <p:nvPr/>
        </p:nvSpPr>
        <p:spPr>
          <a:xfrm>
            <a:off x="9338767" y="457200"/>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10:05 a 11:10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7E7E7"/>
        </a:solidFill>
      </p:bgPr>
    </p:bg>
    <p:spTree>
      <p:nvGrpSpPr>
        <p:cNvPr id="1" name=""/>
        <p:cNvGrpSpPr/>
        <p:nvPr/>
      </p:nvGrpSpPr>
      <p:grpSpPr>
        <a:xfrm>
          <a:off x="0" y="0"/>
          <a:ext cx="0" cy="0"/>
          <a:chOff x="0" y="0"/>
          <a:chExt cx="0" cy="0"/>
        </a:xfrm>
      </p:grpSpPr>
      <p:sp>
        <p:nvSpPr>
          <p:cNvPr id="2" name="Shape 0"/>
          <p:cNvSpPr/>
          <p:nvPr/>
        </p:nvSpPr>
        <p:spPr>
          <a:xfrm>
            <a:off x="566928" y="457200"/>
            <a:ext cx="2788920" cy="457200"/>
          </a:xfrm>
          <a:prstGeom prst="roundRect">
            <a:avLst>
              <a:gd name="adj" fmla="val 50000"/>
            </a:avLst>
          </a:prstGeom>
          <a:solidFill>
            <a:srgbClr val="2E7D7D"/>
          </a:solidFill>
          <a:ln w="12700">
            <a:solidFill>
              <a:srgbClr val="2E7D7D"/>
            </a:solidFill>
            <a:prstDash val="solid"/>
          </a:ln>
        </p:spPr>
      </p:sp>
      <p:sp>
        <p:nvSpPr>
          <p:cNvPr id="3" name="Text 1"/>
          <p:cNvSpPr txBox="1"/>
          <p:nvPr/>
        </p:nvSpPr>
        <p:spPr>
          <a:xfrm>
            <a:off x="566928" y="457200"/>
            <a:ext cx="2788920" cy="457200"/>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Arial" pitchFamily="34" charset="0"/>
                <a:ea typeface="Arial" pitchFamily="34" charset="-122"/>
                <a:cs typeface="Arial" pitchFamily="34" charset="-120"/>
              </a:rPr>
              <a:t>TU TURNO</a:t>
            </a:r>
            <a:endParaRPr lang="en-US" sz="1300" dirty="0"/>
          </a:p>
        </p:txBody>
      </p:sp>
      <p:sp>
        <p:nvSpPr>
          <p:cNvPr id="4" name="Shape 2"/>
          <p:cNvSpPr/>
          <p:nvPr/>
        </p:nvSpPr>
        <p:spPr>
          <a:xfrm>
            <a:off x="9704527" y="457200"/>
            <a:ext cx="1920240" cy="457200"/>
          </a:xfrm>
          <a:prstGeom prst="roundRect">
            <a:avLst>
              <a:gd name="adj" fmla="val 50000"/>
            </a:avLst>
          </a:prstGeom>
          <a:solidFill>
            <a:srgbClr val="C85A28"/>
          </a:solidFill>
          <a:ln w="12700">
            <a:solidFill>
              <a:srgbClr val="C85A28"/>
            </a:solidFill>
            <a:prstDash val="solid"/>
          </a:ln>
        </p:spPr>
      </p:sp>
      <p:sp>
        <p:nvSpPr>
          <p:cNvPr id="5" name="Text 3"/>
          <p:cNvSpPr txBox="1"/>
          <p:nvPr/>
        </p:nvSpPr>
        <p:spPr>
          <a:xfrm>
            <a:off x="9704527" y="457200"/>
            <a:ext cx="1920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65 minutos</a:t>
            </a:r>
            <a:endParaRPr lang="en-US" sz="1300" dirty="0"/>
          </a:p>
        </p:txBody>
      </p:sp>
      <p:sp>
        <p:nvSpPr>
          <p:cNvPr id="6" name="Text 4"/>
          <p:cNvSpPr txBox="1"/>
          <p:nvPr/>
        </p:nvSpPr>
        <p:spPr>
          <a:xfrm>
            <a:off x="566928" y="1078992"/>
            <a:ext cx="11057839" cy="685800"/>
          </a:xfrm>
          <a:prstGeom prst="rect">
            <a:avLst/>
          </a:prstGeom>
          <a:noFill/>
          <a:ln/>
        </p:spPr>
        <p:txBody>
          <a:bodyPr wrap="square" lIns="0" tIns="0" rIns="0" bIns="0" rtlCol="0" anchor="ctr"/>
          <a:lstStyle/>
          <a:p>
            <a:pPr indent="0" marL="0">
              <a:buNone/>
            </a:pPr>
            <a:r>
              <a:rPr lang="en-US" sz="2900" b="1" dirty="0">
                <a:solidFill>
                  <a:srgbClr val="16262E"/>
                </a:solidFill>
                <a:latin typeface="Arial" pitchFamily="34" charset="0"/>
                <a:ea typeface="Arial" pitchFamily="34" charset="-122"/>
                <a:cs typeface="Arial" pitchFamily="34" charset="-120"/>
              </a:rPr>
              <a:t>Tu equipo hace un dictamen de validación</a:t>
            </a:r>
            <a:endParaRPr lang="en-US" sz="2900" dirty="0"/>
          </a:p>
        </p:txBody>
      </p:sp>
      <p:sp>
        <p:nvSpPr>
          <p:cNvPr id="7" name="Shape 5"/>
          <p:cNvSpPr/>
          <p:nvPr/>
        </p:nvSpPr>
        <p:spPr>
          <a:xfrm>
            <a:off x="566928" y="1920240"/>
            <a:ext cx="11057839" cy="628650"/>
          </a:xfrm>
          <a:prstGeom prst="roundRect">
            <a:avLst>
              <a:gd name="adj" fmla="val 10182"/>
            </a:avLst>
          </a:prstGeom>
          <a:solidFill>
            <a:srgbClr val="FFFFFF"/>
          </a:solidFill>
          <a:ln w="12700">
            <a:solidFill>
              <a:srgbClr val="FFFFFF"/>
            </a:solidFill>
            <a:prstDash val="solid"/>
          </a:ln>
        </p:spPr>
      </p:sp>
      <p:sp>
        <p:nvSpPr>
          <p:cNvPr id="8" name="Shape 6"/>
          <p:cNvSpPr/>
          <p:nvPr/>
        </p:nvSpPr>
        <p:spPr>
          <a:xfrm>
            <a:off x="786384" y="2024253"/>
            <a:ext cx="420624" cy="420624"/>
          </a:xfrm>
          <a:prstGeom prst="ellipse">
            <a:avLst/>
          </a:prstGeom>
          <a:solidFill>
            <a:srgbClr val="2E7D7D"/>
          </a:solidFill>
          <a:ln w="12700">
            <a:solidFill>
              <a:srgbClr val="2E7D7D"/>
            </a:solidFill>
            <a:prstDash val="solid"/>
          </a:ln>
        </p:spPr>
      </p:sp>
      <p:sp>
        <p:nvSpPr>
          <p:cNvPr id="9" name="Text 7"/>
          <p:cNvSpPr txBox="1"/>
          <p:nvPr/>
        </p:nvSpPr>
        <p:spPr>
          <a:xfrm>
            <a:off x="786384" y="202425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408176" y="201168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Reciben un informe de evaluación de un programa de desarrollo social, de ocho páginas, hecho con IA. Tiene errores puestos a propósito.</a:t>
            </a:r>
            <a:endParaRPr lang="en-US" sz="1450" dirty="0"/>
          </a:p>
        </p:txBody>
      </p:sp>
      <p:sp>
        <p:nvSpPr>
          <p:cNvPr id="11" name="Shape 9"/>
          <p:cNvSpPr/>
          <p:nvPr/>
        </p:nvSpPr>
        <p:spPr>
          <a:xfrm>
            <a:off x="566928" y="2731770"/>
            <a:ext cx="11057839" cy="628650"/>
          </a:xfrm>
          <a:prstGeom prst="roundRect">
            <a:avLst>
              <a:gd name="adj" fmla="val 10182"/>
            </a:avLst>
          </a:prstGeom>
          <a:solidFill>
            <a:srgbClr val="FFFFFF"/>
          </a:solidFill>
          <a:ln w="12700">
            <a:solidFill>
              <a:srgbClr val="FFFFFF"/>
            </a:solidFill>
            <a:prstDash val="solid"/>
          </a:ln>
        </p:spPr>
      </p:sp>
      <p:sp>
        <p:nvSpPr>
          <p:cNvPr id="12" name="Shape 10"/>
          <p:cNvSpPr/>
          <p:nvPr/>
        </p:nvSpPr>
        <p:spPr>
          <a:xfrm>
            <a:off x="786384" y="2835783"/>
            <a:ext cx="420624" cy="420624"/>
          </a:xfrm>
          <a:prstGeom prst="ellipse">
            <a:avLst/>
          </a:prstGeom>
          <a:solidFill>
            <a:srgbClr val="2E7D7D"/>
          </a:solidFill>
          <a:ln w="12700">
            <a:solidFill>
              <a:srgbClr val="2E7D7D"/>
            </a:solidFill>
            <a:prstDash val="solid"/>
          </a:ln>
        </p:spPr>
      </p:sp>
      <p:sp>
        <p:nvSpPr>
          <p:cNvPr id="13" name="Text 11"/>
          <p:cNvSpPr txBox="1"/>
          <p:nvPr/>
        </p:nvSpPr>
        <p:spPr>
          <a:xfrm>
            <a:off x="786384" y="283578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408176" y="282321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Los primeros diez minutos son de lectura humana. No abras ninguna herramienta todavía.</a:t>
            </a:r>
            <a:endParaRPr lang="en-US" sz="1450" dirty="0"/>
          </a:p>
        </p:txBody>
      </p:sp>
      <p:sp>
        <p:nvSpPr>
          <p:cNvPr id="15" name="Shape 13"/>
          <p:cNvSpPr/>
          <p:nvPr/>
        </p:nvSpPr>
        <p:spPr>
          <a:xfrm>
            <a:off x="566928" y="3543300"/>
            <a:ext cx="11057839" cy="628650"/>
          </a:xfrm>
          <a:prstGeom prst="roundRect">
            <a:avLst>
              <a:gd name="adj" fmla="val 10182"/>
            </a:avLst>
          </a:prstGeom>
          <a:solidFill>
            <a:srgbClr val="FFFFFF"/>
          </a:solidFill>
          <a:ln w="12700">
            <a:solidFill>
              <a:srgbClr val="FFFFFF"/>
            </a:solidFill>
            <a:prstDash val="solid"/>
          </a:ln>
        </p:spPr>
      </p:sp>
      <p:sp>
        <p:nvSpPr>
          <p:cNvPr id="16" name="Shape 14"/>
          <p:cNvSpPr/>
          <p:nvPr/>
        </p:nvSpPr>
        <p:spPr>
          <a:xfrm>
            <a:off x="786384" y="3647313"/>
            <a:ext cx="420624" cy="420624"/>
          </a:xfrm>
          <a:prstGeom prst="ellipse">
            <a:avLst/>
          </a:prstGeom>
          <a:solidFill>
            <a:srgbClr val="2E7D7D"/>
          </a:solidFill>
          <a:ln w="12700">
            <a:solidFill>
              <a:srgbClr val="2E7D7D"/>
            </a:solidFill>
            <a:prstDash val="solid"/>
          </a:ln>
        </p:spPr>
      </p:sp>
      <p:sp>
        <p:nvSpPr>
          <p:cNvPr id="17" name="Text 15"/>
          <p:cNvSpPr txBox="1"/>
          <p:nvPr/>
        </p:nvSpPr>
        <p:spPr>
          <a:xfrm>
            <a:off x="786384" y="364731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408176" y="363474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Después aplica el protocolo de cuatro pasos. Los cuatro, en orden, y dejando registro de cada uno.</a:t>
            </a:r>
            <a:endParaRPr lang="en-US" sz="1450" dirty="0"/>
          </a:p>
        </p:txBody>
      </p:sp>
      <p:sp>
        <p:nvSpPr>
          <p:cNvPr id="19" name="Shape 17"/>
          <p:cNvSpPr/>
          <p:nvPr/>
        </p:nvSpPr>
        <p:spPr>
          <a:xfrm>
            <a:off x="566928" y="4354830"/>
            <a:ext cx="11057839" cy="628650"/>
          </a:xfrm>
          <a:prstGeom prst="roundRect">
            <a:avLst>
              <a:gd name="adj" fmla="val 10182"/>
            </a:avLst>
          </a:prstGeom>
          <a:solidFill>
            <a:srgbClr val="FFFFFF"/>
          </a:solidFill>
          <a:ln w="12700">
            <a:solidFill>
              <a:srgbClr val="FFFFFF"/>
            </a:solidFill>
            <a:prstDash val="solid"/>
          </a:ln>
        </p:spPr>
      </p:sp>
      <p:sp>
        <p:nvSpPr>
          <p:cNvPr id="20" name="Shape 18"/>
          <p:cNvSpPr/>
          <p:nvPr/>
        </p:nvSpPr>
        <p:spPr>
          <a:xfrm>
            <a:off x="786384" y="4458843"/>
            <a:ext cx="420624" cy="420624"/>
          </a:xfrm>
          <a:prstGeom prst="ellipse">
            <a:avLst/>
          </a:prstGeom>
          <a:solidFill>
            <a:srgbClr val="2E7D7D"/>
          </a:solidFill>
          <a:ln w="12700">
            <a:solidFill>
              <a:srgbClr val="2E7D7D"/>
            </a:solidFill>
            <a:prstDash val="solid"/>
          </a:ln>
        </p:spPr>
      </p:sp>
      <p:sp>
        <p:nvSpPr>
          <p:cNvPr id="21" name="Text 19"/>
          <p:cNvSpPr txBox="1"/>
          <p:nvPr/>
        </p:nvSpPr>
        <p:spPr>
          <a:xfrm>
            <a:off x="786384" y="445884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408176" y="444627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Llena el dictamen. Por cada hallazgo: dónde está, qué tipo de error es, la evidencia de que es un error, y cómo debería decir.</a:t>
            </a:r>
            <a:endParaRPr lang="en-US" sz="1450" dirty="0"/>
          </a:p>
        </p:txBody>
      </p:sp>
      <p:sp>
        <p:nvSpPr>
          <p:cNvPr id="23" name="Shape 21"/>
          <p:cNvSpPr/>
          <p:nvPr/>
        </p:nvSpPr>
        <p:spPr>
          <a:xfrm>
            <a:off x="566928" y="5193792"/>
            <a:ext cx="11057839" cy="777240"/>
          </a:xfrm>
          <a:prstGeom prst="roundRect">
            <a:avLst>
              <a:gd name="adj" fmla="val 8235"/>
            </a:avLst>
          </a:prstGeom>
          <a:solidFill>
            <a:srgbClr val="16262E"/>
          </a:solidFill>
          <a:ln w="12700">
            <a:solidFill>
              <a:srgbClr val="16262E"/>
            </a:solidFill>
            <a:prstDash val="solid"/>
          </a:ln>
        </p:spPr>
      </p:sp>
      <p:sp>
        <p:nvSpPr>
          <p:cNvPr id="24" name="Text 22"/>
          <p:cNvSpPr txBox="1"/>
          <p:nvPr/>
        </p:nvSpPr>
        <p:spPr>
          <a:xfrm>
            <a:off x="841248" y="5193792"/>
            <a:ext cx="10509199" cy="7772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Archivos: Informe_sintetico_LAB1.docx y el Formato 3 de Formatos_de_trabajo_curso_IA.docx.</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C85A28"/>
        </a:solidFill>
      </p:bgPr>
    </p:bg>
    <p:spTree>
      <p:nvGrpSpPr>
        <p:cNvPr id="1" name=""/>
        <p:cNvGrpSpPr/>
        <p:nvPr/>
      </p:nvGrpSpPr>
      <p:grpSpPr>
        <a:xfrm>
          <a:off x="0" y="0"/>
          <a:ext cx="0" cy="0"/>
          <a:chOff x="0" y="0"/>
          <a:chExt cx="0" cy="0"/>
        </a:xfrm>
      </p:grpSpPr>
      <p:sp>
        <p:nvSpPr>
          <p:cNvPr id="2" name="Shape 0"/>
          <p:cNvSpPr/>
          <p:nvPr/>
        </p:nvSpPr>
        <p:spPr>
          <a:xfrm>
            <a:off x="10058400" y="-1463040"/>
            <a:ext cx="4023360" cy="4023360"/>
          </a:xfrm>
          <a:prstGeom prst="ellipse">
            <a:avLst/>
          </a:prstGeom>
          <a:solidFill>
            <a:srgbClr val="24404E"/>
          </a:solidFill>
          <a:ln w="12700">
            <a:solidFill>
              <a:srgbClr val="24404E"/>
            </a:solidFill>
            <a:prstDash val="solid"/>
          </a:ln>
        </p:spPr>
      </p:sp>
      <p:sp>
        <p:nvSpPr>
          <p:cNvPr id="3" name="Text 1"/>
          <p:cNvSpPr txBox="1"/>
          <p:nvPr/>
        </p:nvSpPr>
        <p:spPr>
          <a:xfrm>
            <a:off x="932688" y="1371600"/>
            <a:ext cx="10424160" cy="365760"/>
          </a:xfrm>
          <a:prstGeom prst="rect">
            <a:avLst/>
          </a:prstGeom>
          <a:noFill/>
          <a:ln/>
        </p:spPr>
        <p:txBody>
          <a:bodyPr wrap="square" lIns="0" tIns="0" rIns="0" bIns="0" rtlCol="0" anchor="ctr"/>
          <a:lstStyle/>
          <a:p>
            <a:pPr indent="0" marL="0">
              <a:buNone/>
            </a:pPr>
            <a:r>
              <a:rPr lang="en-US" sz="1400" b="1" spc="200" kern="0" dirty="0">
                <a:solidFill>
                  <a:srgbClr val="C85A28"/>
                </a:solidFill>
                <a:latin typeface="Calibri" pitchFamily="34" charset="0"/>
                <a:ea typeface="Calibri" pitchFamily="34" charset="-122"/>
                <a:cs typeface="Calibri" pitchFamily="34" charset="-120"/>
              </a:rPr>
              <a:t>ANTES DE QUE EMPIECES, UNA ADVERTENCIA</a:t>
            </a:r>
            <a:endParaRPr lang="en-US" sz="1400" dirty="0"/>
          </a:p>
        </p:txBody>
      </p:sp>
      <p:sp>
        <p:nvSpPr>
          <p:cNvPr id="4" name="Text 2"/>
          <p:cNvSpPr txBox="1"/>
          <p:nvPr/>
        </p:nvSpPr>
        <p:spPr>
          <a:xfrm>
            <a:off x="932688" y="1828800"/>
            <a:ext cx="10241280" cy="2377440"/>
          </a:xfrm>
          <a:prstGeom prst="rect">
            <a:avLst/>
          </a:prstGeom>
          <a:noFill/>
          <a:ln/>
        </p:spPr>
        <p:txBody>
          <a:bodyPr wrap="square" lIns="0" tIns="0" rIns="0" bIns="0" rtlCol="0" anchor="t"/>
          <a:lstStyle/>
          <a:p>
            <a:pPr indent="0" marL="0">
              <a:lnSpc>
                <a:spcPct val="112000"/>
              </a:lnSpc>
              <a:buNone/>
            </a:pPr>
            <a:r>
              <a:rPr lang="en-US" sz="3000" b="1" dirty="0">
                <a:solidFill>
                  <a:srgbClr val="FFFFFF"/>
                </a:solidFill>
                <a:latin typeface="Arial" pitchFamily="34" charset="0"/>
                <a:ea typeface="Arial" pitchFamily="34" charset="-122"/>
                <a:cs typeface="Arial" pitchFamily="34" charset="-120"/>
              </a:rPr>
              <a:t>Si le pides a Copilot que encuentre los errores, el modelo va a encontrar algunos, va a inventar otros, y va a pasar por alto casi todos los de omisión.</a:t>
            </a:r>
            <a:endParaRPr lang="en-US" sz="3000" dirty="0"/>
          </a:p>
        </p:txBody>
      </p:sp>
      <p:sp>
        <p:nvSpPr>
          <p:cNvPr id="5" name="Text 3"/>
          <p:cNvSpPr txBox="1"/>
          <p:nvPr/>
        </p:nvSpPr>
        <p:spPr>
          <a:xfrm>
            <a:off x="932688" y="4343400"/>
            <a:ext cx="10058400" cy="1371600"/>
          </a:xfrm>
          <a:prstGeom prst="rect">
            <a:avLst/>
          </a:prstGeom>
          <a:noFill/>
          <a:ln/>
        </p:spPr>
        <p:txBody>
          <a:bodyPr wrap="square" lIns="0" tIns="0" rIns="0" bIns="0" rtlCol="0" anchor="t"/>
          <a:lstStyle/>
          <a:p>
            <a:pPr indent="0" marL="0">
              <a:lnSpc>
                <a:spcPct val="115000"/>
              </a:lnSpc>
              <a:buNone/>
            </a:pPr>
            <a:r>
              <a:rPr lang="en-US" sz="1600" dirty="0">
                <a:solidFill>
                  <a:srgbClr val="D7E7E7"/>
                </a:solidFill>
                <a:latin typeface="Calibri" pitchFamily="34" charset="0"/>
                <a:ea typeface="Calibri" pitchFamily="34" charset="-122"/>
                <a:cs typeface="Calibri" pitchFamily="34" charset="-120"/>
              </a:rPr>
              <a:t>Eso está bien y es parte del ejercicio. Cada error que el modelo te reporte lo tiene que verificar una persona de tu equipo antes de entrar al dictamen. Un hallazgo inventado por el modelo te baja puntos. Anotar los que descartaste te sube.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Cómo se califica tu dictamen</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Se aplica en vivo durante la puesta en común, contigo viéndola.</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901952"/>
          <a:ext cx="11057839" cy="914400"/>
        </p:xfrm>
        <a:graphic>
          <a:graphicData uri="http://schemas.openxmlformats.org/drawingml/2006/table">
            <a:tbl>
              <a:tblPr/>
              <a:tblGrid>
                <a:gridCol w="2834640"/>
                <a:gridCol w="914400"/>
                <a:gridCol w="7315200"/>
              </a:tblGrid>
              <a:tr h="621792">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Criterio</a:t>
                      </a:r>
                      <a:endParaRPr lang="en-US" sz="1300" dirty="0">
                        <a:latin typeface="Arial" charset="0"/>
                        <a:ea typeface="Arial" charset="0"/>
                        <a:cs typeface="Arial"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16262E"/>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Peso</a:t>
                      </a:r>
                      <a:endParaRPr lang="en-US" sz="1300" dirty="0">
                        <a:latin typeface="Arial" charset="0"/>
                        <a:ea typeface="Arial" charset="0"/>
                        <a:cs typeface="Arial"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16262E"/>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Qué se evalúa</a:t>
                      </a:r>
                      <a:endParaRPr lang="en-US" sz="1300" dirty="0">
                        <a:latin typeface="Arial" charset="0"/>
                        <a:ea typeface="Arial" charset="0"/>
                        <a:cs typeface="Arial"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16262E"/>
                    </a:solidFill>
                  </a:tcPr>
                </a:tc>
              </a:tr>
              <a:tr h="621792">
                <a:tc>
                  <a:txBody>
                    <a:bodyPr/>
                    <a:lstStyle/>
                    <a:p>
                      <a:pPr algn="l" indent="0" marL="0">
                        <a:buNone/>
                      </a:pPr>
                      <a:r>
                        <a:rPr lang="en-US" sz="1250" b="1" dirty="0">
                          <a:solidFill>
                            <a:srgbClr val="16262E"/>
                          </a:solidFill>
                          <a:latin typeface="Calibri" pitchFamily="34" charset="0"/>
                          <a:ea typeface="Calibri" pitchFamily="34" charset="-122"/>
                          <a:cs typeface="Calibri" pitchFamily="34" charset="-120"/>
                        </a:rPr>
                        <a:t>Errores detectados</a:t>
                      </a:r>
                      <a:endParaRPr lang="en-US" sz="1250" dirty="0">
                        <a:latin typeface="Calibri" charset="0"/>
                        <a:ea typeface="Calibri" charset="0"/>
                        <a:cs typeface="Calibri"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F2F5F6"/>
                    </a:solidFill>
                  </a:tcPr>
                </a:tc>
                <a:tc>
                  <a:txBody>
                    <a:bodyPr/>
                    <a:lstStyle/>
                    <a:p>
                      <a:pPr algn="ctr" indent="0" marL="0">
                        <a:buNone/>
                      </a:pPr>
                      <a:r>
                        <a:rPr lang="en-US" sz="1250" dirty="0">
                          <a:solidFill>
                            <a:srgbClr val="16262E"/>
                          </a:solidFill>
                          <a:latin typeface="Calibri" pitchFamily="34" charset="0"/>
                          <a:ea typeface="Calibri" pitchFamily="34" charset="-122"/>
                          <a:cs typeface="Calibri" pitchFamily="34" charset="-120"/>
                        </a:rPr>
                        <a:t>35%</a:t>
                      </a:r>
                      <a:endParaRPr lang="en-US" sz="1250" dirty="0">
                        <a:latin typeface="Calibri" charset="0"/>
                        <a:ea typeface="Calibri" charset="0"/>
                        <a:cs typeface="Calibri"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F2F5F6"/>
                    </a:solidFill>
                  </a:tcPr>
                </a:tc>
                <a:tc>
                  <a:txBody>
                    <a:bodyPr/>
                    <a:lstStyle/>
                    <a:p>
                      <a:pPr algn="l" indent="0" marL="0">
                        <a:buNone/>
                      </a:pPr>
                      <a:r>
                        <a:rPr lang="en-US" sz="1250" dirty="0">
                          <a:solidFill>
                            <a:srgbClr val="16262E"/>
                          </a:solidFill>
                          <a:latin typeface="Calibri" pitchFamily="34" charset="0"/>
                          <a:ea typeface="Calibri" pitchFamily="34" charset="-122"/>
                          <a:cs typeface="Calibri" pitchFamily="34" charset="-120"/>
                        </a:rPr>
                        <a:t>Cuántos de los errores puestos a propósito encontró tu equipo y si los clasificó bien.</a:t>
                      </a:r>
                      <a:endParaRPr lang="en-US" sz="1250" dirty="0">
                        <a:latin typeface="Calibri" charset="0"/>
                        <a:ea typeface="Calibri" charset="0"/>
                        <a:cs typeface="Calibri"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F2F5F6"/>
                    </a:solidFill>
                  </a:tcPr>
                </a:tc>
              </a:tr>
              <a:tr h="621792">
                <a:tc>
                  <a:txBody>
                    <a:bodyPr/>
                    <a:lstStyle/>
                    <a:p>
                      <a:pPr algn="l" indent="0" marL="0">
                        <a:buNone/>
                      </a:pPr>
                      <a:r>
                        <a:rPr lang="en-US" sz="1250" b="1" dirty="0">
                          <a:solidFill>
                            <a:srgbClr val="16262E"/>
                          </a:solidFill>
                          <a:latin typeface="Calibri" pitchFamily="34" charset="0"/>
                          <a:ea typeface="Calibri" pitchFamily="34" charset="-122"/>
                          <a:cs typeface="Calibri" pitchFamily="34" charset="-120"/>
                        </a:rPr>
                        <a:t>Uso del protocolo</a:t>
                      </a:r>
                      <a:endParaRPr lang="en-US" sz="1250" dirty="0">
                        <a:latin typeface="Calibri" charset="0"/>
                        <a:ea typeface="Calibri" charset="0"/>
                        <a:cs typeface="Calibri"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6262E"/>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62E"/>
                          </a:solidFill>
                          <a:latin typeface="Calibri" pitchFamily="34" charset="0"/>
                          <a:ea typeface="Calibri" pitchFamily="34" charset="-122"/>
                          <a:cs typeface="Calibri" pitchFamily="34" charset="-120"/>
                        </a:rPr>
                        <a:t>Si aplicaste los cuatro pasos y si quedó registro de cada uno en tu bitácora.</a:t>
                      </a:r>
                      <a:endParaRPr lang="en-US" sz="1250" dirty="0">
                        <a:latin typeface="Calibri" charset="0"/>
                        <a:ea typeface="Calibri" charset="0"/>
                        <a:cs typeface="Calibri"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FFFFFF"/>
                    </a:solidFill>
                  </a:tcPr>
                </a:tc>
              </a:tr>
              <a:tr h="621792">
                <a:tc>
                  <a:txBody>
                    <a:bodyPr/>
                    <a:lstStyle/>
                    <a:p>
                      <a:pPr algn="l" indent="0" marL="0">
                        <a:buNone/>
                      </a:pPr>
                      <a:r>
                        <a:rPr lang="en-US" sz="1250" b="1" dirty="0">
                          <a:solidFill>
                            <a:srgbClr val="16262E"/>
                          </a:solidFill>
                          <a:latin typeface="Calibri" pitchFamily="34" charset="0"/>
                          <a:ea typeface="Calibri" pitchFamily="34" charset="-122"/>
                          <a:cs typeface="Calibri" pitchFamily="34" charset="-120"/>
                        </a:rPr>
                        <a:t>Calidad de la evidencia</a:t>
                      </a:r>
                      <a:endParaRPr lang="en-US" sz="1250" dirty="0">
                        <a:latin typeface="Calibri" charset="0"/>
                        <a:ea typeface="Calibri" charset="0"/>
                        <a:cs typeface="Calibri"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F2F5F6"/>
                    </a:solidFill>
                  </a:tcPr>
                </a:tc>
                <a:tc>
                  <a:txBody>
                    <a:bodyPr/>
                    <a:lstStyle/>
                    <a:p>
                      <a:pPr algn="ctr" indent="0" marL="0">
                        <a:buNone/>
                      </a:pPr>
                      <a:r>
                        <a:rPr lang="en-US" sz="1250" dirty="0">
                          <a:solidFill>
                            <a:srgbClr val="16262E"/>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F2F5F6"/>
                    </a:solidFill>
                  </a:tcPr>
                </a:tc>
                <a:tc>
                  <a:txBody>
                    <a:bodyPr/>
                    <a:lstStyle/>
                    <a:p>
                      <a:pPr algn="l" indent="0" marL="0">
                        <a:buNone/>
                      </a:pPr>
                      <a:r>
                        <a:rPr lang="en-US" sz="1250" dirty="0">
                          <a:solidFill>
                            <a:srgbClr val="16262E"/>
                          </a:solidFill>
                          <a:latin typeface="Calibri" pitchFamily="34" charset="0"/>
                          <a:ea typeface="Calibri" pitchFamily="34" charset="-122"/>
                          <a:cs typeface="Calibri" pitchFamily="34" charset="-120"/>
                        </a:rPr>
                        <a:t>Si cada hallazgo está sostenido con una referencia concreta que otra persona pueda repetir.</a:t>
                      </a:r>
                      <a:endParaRPr lang="en-US" sz="1250" dirty="0">
                        <a:latin typeface="Calibri" charset="0"/>
                        <a:ea typeface="Calibri" charset="0"/>
                        <a:cs typeface="Calibri"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F2F5F6"/>
                    </a:solidFill>
                  </a:tcPr>
                </a:tc>
              </a:tr>
              <a:tr h="621792">
                <a:tc>
                  <a:txBody>
                    <a:bodyPr/>
                    <a:lstStyle/>
                    <a:p>
                      <a:pPr algn="l" indent="0" marL="0">
                        <a:buNone/>
                      </a:pPr>
                      <a:r>
                        <a:rPr lang="en-US" sz="1250" b="1" dirty="0">
                          <a:solidFill>
                            <a:srgbClr val="16262E"/>
                          </a:solidFill>
                          <a:latin typeface="Calibri" pitchFamily="34" charset="0"/>
                          <a:ea typeface="Calibri" pitchFamily="34" charset="-122"/>
                          <a:cs typeface="Calibri" pitchFamily="34" charset="-120"/>
                        </a:rPr>
                        <a:t>Corrección propuesta</a:t>
                      </a:r>
                      <a:endParaRPr lang="en-US" sz="1250" dirty="0">
                        <a:latin typeface="Calibri" charset="0"/>
                        <a:ea typeface="Calibri" charset="0"/>
                        <a:cs typeface="Calibri"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6262E"/>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62E"/>
                          </a:solidFill>
                          <a:latin typeface="Calibri" pitchFamily="34" charset="0"/>
                          <a:ea typeface="Calibri" pitchFamily="34" charset="-122"/>
                          <a:cs typeface="Calibri" pitchFamily="34" charset="-120"/>
                        </a:rPr>
                        <a:t>Si la corrección es viable y está escrita con claridad.</a:t>
                      </a:r>
                      <a:endParaRPr lang="en-US" sz="1250" dirty="0">
                        <a:latin typeface="Calibri" charset="0"/>
                        <a:ea typeface="Calibri" charset="0"/>
                        <a:cs typeface="Calibri" charset="0"/>
                      </a:endParaRPr>
                    </a:p>
                  </a:txBody>
                  <a:tcPr marL="76200" marR="76200" marT="76200" marB="76200" anchor="ctr">
                    <a:lnL w="12700" cap="flat" cmpd="sng" algn="ctr">
                      <a:solidFill>
                        <a:srgbClr val="D5DDE0"/>
                      </a:solidFill>
                      <a:prstDash val="solid"/>
                      <a:round/>
                      <a:headEnd type="none" w="med" len="med"/>
                      <a:tailEnd type="none" w="med" len="med"/>
                    </a:lnL>
                    <a:lnR w="12700" cap="flat" cmpd="sng" algn="ctr">
                      <a:solidFill>
                        <a:srgbClr val="D5DDE0"/>
                      </a:solidFill>
                      <a:prstDash val="solid"/>
                      <a:round/>
                      <a:headEnd type="none" w="med" len="med"/>
                      <a:tailEnd type="none" w="med" len="med"/>
                    </a:lnR>
                    <a:lnT w="12700" cap="flat" cmpd="sng" algn="ctr">
                      <a:solidFill>
                        <a:srgbClr val="D5DDE0"/>
                      </a:solidFill>
                      <a:prstDash val="solid"/>
                      <a:round/>
                      <a:headEnd type="none" w="med" len="med"/>
                      <a:tailEnd type="none" w="med" len="med"/>
                    </a:lnT>
                    <a:lnB w="12700" cap="flat" cmpd="sng" algn="ctr">
                      <a:solidFill>
                        <a:srgbClr val="D5DD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Tres preguntas para cerrar</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Después de que cada equipo presente su hallazgo y de que revelemos la lista completa.</a:t>
            </a:r>
            <a:endParaRPr lang="en-US" sz="1500" dirty="0"/>
          </a:p>
        </p:txBody>
      </p:sp>
      <p:sp>
        <p:nvSpPr>
          <p:cNvPr id="4" name="Shape 2"/>
          <p:cNvSpPr/>
          <p:nvPr/>
        </p:nvSpPr>
        <p:spPr>
          <a:xfrm>
            <a:off x="566928" y="2011680"/>
            <a:ext cx="3503066" cy="2757932"/>
          </a:xfrm>
          <a:prstGeom prst="roundRect">
            <a:avLst>
              <a:gd name="adj" fmla="val 2652"/>
            </a:avLst>
          </a:prstGeom>
          <a:solidFill>
            <a:srgbClr val="F2F5F6"/>
          </a:solidFill>
          <a:ln w="12700">
            <a:solidFill>
              <a:srgbClr val="F2F5F6"/>
            </a:solidFill>
            <a:prstDash val="solid"/>
          </a:ln>
        </p:spPr>
      </p:sp>
      <p:sp>
        <p:nvSpPr>
          <p:cNvPr id="5" name="Shape 3"/>
          <p:cNvSpPr/>
          <p:nvPr/>
        </p:nvSpPr>
        <p:spPr>
          <a:xfrm>
            <a:off x="804672" y="2231136"/>
            <a:ext cx="420624" cy="420624"/>
          </a:xfrm>
          <a:prstGeom prst="ellipse">
            <a:avLst/>
          </a:prstGeom>
          <a:solidFill>
            <a:srgbClr val="2E7D7D"/>
          </a:solidFill>
          <a:ln w="12700">
            <a:solidFill>
              <a:srgbClr val="2E7D7D"/>
            </a:solidFill>
            <a:prstDash val="solid"/>
          </a:ln>
        </p:spPr>
      </p:sp>
      <p:sp>
        <p:nvSpPr>
          <p:cNvPr id="6" name="Text 4"/>
          <p:cNvSpPr txBox="1"/>
          <p:nvPr/>
        </p:nvSpPr>
        <p:spPr>
          <a:xfrm>
            <a:off x="804672"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804672" y="2798064"/>
            <a:ext cx="3027578" cy="58318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¿Cuál error habría hecho más daño?</a:t>
            </a:r>
            <a:endParaRPr lang="en-US" sz="1600" dirty="0"/>
          </a:p>
        </p:txBody>
      </p:sp>
      <p:sp>
        <p:nvSpPr>
          <p:cNvPr id="8" name="Text 6"/>
          <p:cNvSpPr txBox="1"/>
          <p:nvPr/>
        </p:nvSpPr>
        <p:spPr>
          <a:xfrm>
            <a:off x="804672" y="3527552"/>
            <a:ext cx="3027578" cy="104089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Si el informe se publica tal cual. Piénsalo en términos de qué decisión se habría tomado mal.</a:t>
            </a:r>
            <a:endParaRPr lang="en-US" sz="1300" dirty="0"/>
          </a:p>
        </p:txBody>
      </p:sp>
      <p:sp>
        <p:nvSpPr>
          <p:cNvPr id="9" name="Shape 7"/>
          <p:cNvSpPr/>
          <p:nvPr/>
        </p:nvSpPr>
        <p:spPr>
          <a:xfrm>
            <a:off x="4344314" y="2011680"/>
            <a:ext cx="3503066" cy="2757932"/>
          </a:xfrm>
          <a:prstGeom prst="roundRect">
            <a:avLst>
              <a:gd name="adj" fmla="val 2652"/>
            </a:avLst>
          </a:prstGeom>
          <a:solidFill>
            <a:srgbClr val="F2F5F6"/>
          </a:solidFill>
          <a:ln w="12700">
            <a:solidFill>
              <a:srgbClr val="F2F5F6"/>
            </a:solidFill>
            <a:prstDash val="solid"/>
          </a:ln>
        </p:spPr>
      </p:sp>
      <p:sp>
        <p:nvSpPr>
          <p:cNvPr id="10" name="Shape 8"/>
          <p:cNvSpPr/>
          <p:nvPr/>
        </p:nvSpPr>
        <p:spPr>
          <a:xfrm>
            <a:off x="4582058" y="2231136"/>
            <a:ext cx="420624" cy="420624"/>
          </a:xfrm>
          <a:prstGeom prst="ellipse">
            <a:avLst/>
          </a:prstGeom>
          <a:solidFill>
            <a:srgbClr val="2E7D7D"/>
          </a:solidFill>
          <a:ln w="12700">
            <a:solidFill>
              <a:srgbClr val="2E7D7D"/>
            </a:solidFill>
            <a:prstDash val="solid"/>
          </a:ln>
        </p:spPr>
      </p:sp>
      <p:sp>
        <p:nvSpPr>
          <p:cNvPr id="11" name="Text 9"/>
          <p:cNvSpPr txBox="1"/>
          <p:nvPr/>
        </p:nvSpPr>
        <p:spPr>
          <a:xfrm>
            <a:off x="4582058"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4582058" y="2798064"/>
            <a:ext cx="3027578" cy="58318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¿Cuántos equipos revisaron la bibliografía?</a:t>
            </a:r>
            <a:endParaRPr lang="en-US" sz="1600" dirty="0"/>
          </a:p>
        </p:txBody>
      </p:sp>
      <p:sp>
        <p:nvSpPr>
          <p:cNvPr id="13" name="Text 11"/>
          <p:cNvSpPr txBox="1"/>
          <p:nvPr/>
        </p:nvSpPr>
        <p:spPr>
          <a:xfrm>
            <a:off x="4582058" y="3527552"/>
            <a:ext cx="3027578" cy="104089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Normalmente son muy pocos. Ese solo dato justifica la sesión completa.</a:t>
            </a:r>
            <a:endParaRPr lang="en-US" sz="1300" dirty="0"/>
          </a:p>
        </p:txBody>
      </p:sp>
      <p:sp>
        <p:nvSpPr>
          <p:cNvPr id="14" name="Shape 12"/>
          <p:cNvSpPr/>
          <p:nvPr/>
        </p:nvSpPr>
        <p:spPr>
          <a:xfrm>
            <a:off x="8121701" y="2011680"/>
            <a:ext cx="3503066" cy="2757932"/>
          </a:xfrm>
          <a:prstGeom prst="roundRect">
            <a:avLst>
              <a:gd name="adj" fmla="val 2652"/>
            </a:avLst>
          </a:prstGeom>
          <a:solidFill>
            <a:srgbClr val="F7E4D8"/>
          </a:solidFill>
          <a:ln w="12700">
            <a:solidFill>
              <a:srgbClr val="F7E4D8"/>
            </a:solidFill>
            <a:prstDash val="solid"/>
          </a:ln>
        </p:spPr>
      </p:sp>
      <p:sp>
        <p:nvSpPr>
          <p:cNvPr id="15" name="Shape 13"/>
          <p:cNvSpPr/>
          <p:nvPr/>
        </p:nvSpPr>
        <p:spPr>
          <a:xfrm>
            <a:off x="8359445" y="2231136"/>
            <a:ext cx="420624" cy="420624"/>
          </a:xfrm>
          <a:prstGeom prst="ellipse">
            <a:avLst/>
          </a:prstGeom>
          <a:solidFill>
            <a:srgbClr val="C85A28"/>
          </a:solidFill>
          <a:ln w="12700">
            <a:solidFill>
              <a:srgbClr val="C85A28"/>
            </a:solidFill>
            <a:prstDash val="solid"/>
          </a:ln>
        </p:spPr>
      </p:sp>
      <p:sp>
        <p:nvSpPr>
          <p:cNvPr id="16" name="Text 14"/>
          <p:cNvSpPr txBox="1"/>
          <p:nvPr/>
        </p:nvSpPr>
        <p:spPr>
          <a:xfrm>
            <a:off x="8359445"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8359445" y="2798064"/>
            <a:ext cx="3027578" cy="58318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¿Cuál de los cuatro pasos te rindió más?</a:t>
            </a:r>
            <a:endParaRPr lang="en-US" sz="1600" dirty="0"/>
          </a:p>
        </p:txBody>
      </p:sp>
      <p:sp>
        <p:nvSpPr>
          <p:cNvPr id="18" name="Text 16"/>
          <p:cNvSpPr txBox="1"/>
          <p:nvPr/>
        </p:nvSpPr>
        <p:spPr>
          <a:xfrm>
            <a:off x="8359445" y="3527552"/>
            <a:ext cx="3027578" cy="104089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De ahí sale la regla práctica que te llevas a tu escritorio.</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1737360" y="3931920"/>
            <a:ext cx="4754880" cy="4754880"/>
          </a:xfrm>
          <a:prstGeom prst="ellipse">
            <a:avLst/>
          </a:prstGeom>
          <a:solidFill>
            <a:srgbClr val="24404E"/>
          </a:solidFill>
          <a:ln w="12700">
            <a:solidFill>
              <a:srgbClr val="24404E"/>
            </a:solidFill>
            <a:prstDash val="solid"/>
          </a:ln>
        </p:spPr>
      </p:sp>
      <p:sp>
        <p:nvSpPr>
          <p:cNvPr id="3" name="Text 1"/>
          <p:cNvSpPr txBox="1"/>
          <p:nvPr/>
        </p:nvSpPr>
        <p:spPr>
          <a:xfrm>
            <a:off x="566928" y="685800"/>
            <a:ext cx="10424160" cy="365760"/>
          </a:xfrm>
          <a:prstGeom prst="rect">
            <a:avLst/>
          </a:prstGeom>
          <a:noFill/>
          <a:ln/>
        </p:spPr>
        <p:txBody>
          <a:bodyPr wrap="square" lIns="0" tIns="0" rIns="0" bIns="0" rtlCol="0" anchor="ctr"/>
          <a:lstStyle/>
          <a:p>
            <a:pPr indent="0" marL="0">
              <a:buNone/>
            </a:pPr>
            <a:r>
              <a:rPr lang="en-US" sz="1400" b="1" spc="200" kern="0" dirty="0">
                <a:solidFill>
                  <a:srgbClr val="C85A28"/>
                </a:solidFill>
                <a:latin typeface="Calibri" pitchFamily="34" charset="0"/>
                <a:ea typeface="Calibri" pitchFamily="34" charset="-122"/>
                <a:cs typeface="Calibri" pitchFamily="34" charset="-120"/>
              </a:rPr>
              <a:t>AL SALIR DE HOY</a:t>
            </a:r>
            <a:endParaRPr lang="en-US" sz="1400" dirty="0"/>
          </a:p>
        </p:txBody>
      </p:sp>
      <p:sp>
        <p:nvSpPr>
          <p:cNvPr id="4" name="Text 2"/>
          <p:cNvSpPr txBox="1"/>
          <p:nvPr/>
        </p:nvSpPr>
        <p:spPr>
          <a:xfrm>
            <a:off x="566928" y="1097280"/>
            <a:ext cx="1060704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Lo que entregas hoy</a:t>
            </a:r>
            <a:endParaRPr lang="en-US" sz="3000" dirty="0"/>
          </a:p>
        </p:txBody>
      </p:sp>
      <p:sp>
        <p:nvSpPr>
          <p:cNvPr id="5" name="Shape 3"/>
          <p:cNvSpPr/>
          <p:nvPr/>
        </p:nvSpPr>
        <p:spPr>
          <a:xfrm>
            <a:off x="566928" y="2011680"/>
            <a:ext cx="11057839" cy="857250"/>
          </a:xfrm>
          <a:prstGeom prst="roundRect">
            <a:avLst>
              <a:gd name="adj" fmla="val 7467"/>
            </a:avLst>
          </a:prstGeom>
          <a:solidFill>
            <a:srgbClr val="24404E"/>
          </a:solidFill>
          <a:ln w="12700">
            <a:solidFill>
              <a:srgbClr val="24404E"/>
            </a:solidFill>
            <a:prstDash val="solid"/>
          </a:ln>
        </p:spPr>
      </p:sp>
      <p:sp>
        <p:nvSpPr>
          <p:cNvPr id="6" name="Shape 4"/>
          <p:cNvSpPr/>
          <p:nvPr/>
        </p:nvSpPr>
        <p:spPr>
          <a:xfrm>
            <a:off x="804672" y="2239137"/>
            <a:ext cx="402336" cy="402336"/>
          </a:xfrm>
          <a:prstGeom prst="ellipse">
            <a:avLst/>
          </a:prstGeom>
          <a:solidFill>
            <a:srgbClr val="2E7D7D"/>
          </a:solidFill>
          <a:ln w="12700">
            <a:solidFill>
              <a:srgbClr val="2E7D7D"/>
            </a:solidFill>
            <a:prstDash val="solid"/>
          </a:ln>
        </p:spPr>
      </p:sp>
      <p:sp>
        <p:nvSpPr>
          <p:cNvPr id="7" name="Text 5"/>
          <p:cNvSpPr txBox="1"/>
          <p:nvPr/>
        </p:nvSpPr>
        <p:spPr>
          <a:xfrm>
            <a:off x="804672" y="2239137"/>
            <a:ext cx="402336" cy="402336"/>
          </a:xfrm>
          <a:prstGeom prst="rect">
            <a:avLst/>
          </a:prstGeom>
          <a:noFill/>
          <a:ln/>
        </p:spPr>
        <p:txBody>
          <a:bodyPr wrap="square" lIns="0" tIns="0" rIns="0" bIns="0" rtlCol="0" anchor="ctr"/>
          <a:lstStyle/>
          <a:p>
            <a:pPr algn="ctr" indent="0" marL="0">
              <a:buNone/>
            </a:pPr>
            <a:endParaRPr lang="en-US" sz="1200" dirty="0"/>
          </a:p>
        </p:txBody>
      </p:sp>
      <p:sp>
        <p:nvSpPr>
          <p:cNvPr id="8" name="Text 6"/>
          <p:cNvSpPr txBox="1"/>
          <p:nvPr/>
        </p:nvSpPr>
        <p:spPr>
          <a:xfrm>
            <a:off x="1426464" y="2084832"/>
            <a:ext cx="9960559" cy="710946"/>
          </a:xfrm>
          <a:prstGeom prst="rect">
            <a:avLst/>
          </a:prstGeom>
          <a:noFill/>
          <a:ln/>
        </p:spPr>
        <p:txBody>
          <a:bodyPr wrap="square" lIns="0" tIns="0" rIns="0" bIns="0" rtlCol="0" anchor="ctr"/>
          <a:lstStyle/>
          <a:p>
            <a:pPr indent="0" marL="0">
              <a:lnSpc>
                <a:spcPct val="110000"/>
              </a:lnSpc>
              <a:buNone/>
            </a:pPr>
            <a:r>
              <a:rPr lang="en-US" sz="1450" dirty="0">
                <a:solidFill>
                  <a:srgbClr val="FFFFFF"/>
                </a:solidFill>
                <a:latin typeface="Calibri" pitchFamily="34" charset="0"/>
                <a:ea typeface="Calibri" pitchFamily="34" charset="-122"/>
                <a:cs typeface="Calibri" pitchFamily="34" charset="-120"/>
              </a:rPr>
              <a:t>El dictamen de validación de tu equipo, con todos los hallazgos verificados.</a:t>
            </a:r>
            <a:endParaRPr lang="en-US" sz="1450" dirty="0"/>
          </a:p>
        </p:txBody>
      </p:sp>
      <p:sp>
        <p:nvSpPr>
          <p:cNvPr id="9" name="Shape 7"/>
          <p:cNvSpPr/>
          <p:nvPr/>
        </p:nvSpPr>
        <p:spPr>
          <a:xfrm>
            <a:off x="566928" y="3051810"/>
            <a:ext cx="11057839" cy="857250"/>
          </a:xfrm>
          <a:prstGeom prst="roundRect">
            <a:avLst>
              <a:gd name="adj" fmla="val 7467"/>
            </a:avLst>
          </a:prstGeom>
          <a:solidFill>
            <a:srgbClr val="24404E"/>
          </a:solidFill>
          <a:ln w="12700">
            <a:solidFill>
              <a:srgbClr val="24404E"/>
            </a:solidFill>
            <a:prstDash val="solid"/>
          </a:ln>
        </p:spPr>
      </p:sp>
      <p:sp>
        <p:nvSpPr>
          <p:cNvPr id="10" name="Shape 8"/>
          <p:cNvSpPr/>
          <p:nvPr/>
        </p:nvSpPr>
        <p:spPr>
          <a:xfrm>
            <a:off x="804672" y="3279267"/>
            <a:ext cx="402336" cy="402336"/>
          </a:xfrm>
          <a:prstGeom prst="ellipse">
            <a:avLst/>
          </a:prstGeom>
          <a:solidFill>
            <a:srgbClr val="2E7D7D"/>
          </a:solidFill>
          <a:ln w="12700">
            <a:solidFill>
              <a:srgbClr val="2E7D7D"/>
            </a:solidFill>
            <a:prstDash val="solid"/>
          </a:ln>
        </p:spPr>
      </p:sp>
      <p:sp>
        <p:nvSpPr>
          <p:cNvPr id="11" name="Text 9"/>
          <p:cNvSpPr txBox="1"/>
          <p:nvPr/>
        </p:nvSpPr>
        <p:spPr>
          <a:xfrm>
            <a:off x="804672" y="3279267"/>
            <a:ext cx="402336" cy="402336"/>
          </a:xfrm>
          <a:prstGeom prst="rect">
            <a:avLst/>
          </a:prstGeom>
          <a:noFill/>
          <a:ln/>
        </p:spPr>
        <p:txBody>
          <a:bodyPr wrap="square" lIns="0" tIns="0" rIns="0" bIns="0" rtlCol="0" anchor="ctr"/>
          <a:lstStyle/>
          <a:p>
            <a:pPr algn="ctr" indent="0" marL="0">
              <a:buNone/>
            </a:pPr>
            <a:endParaRPr lang="en-US" sz="1200" dirty="0"/>
          </a:p>
        </p:txBody>
      </p:sp>
      <p:sp>
        <p:nvSpPr>
          <p:cNvPr id="12" name="Text 10"/>
          <p:cNvSpPr txBox="1"/>
          <p:nvPr/>
        </p:nvSpPr>
        <p:spPr>
          <a:xfrm>
            <a:off x="1426464" y="3124962"/>
            <a:ext cx="9960559" cy="710946"/>
          </a:xfrm>
          <a:prstGeom prst="rect">
            <a:avLst/>
          </a:prstGeom>
          <a:noFill/>
          <a:ln/>
        </p:spPr>
        <p:txBody>
          <a:bodyPr wrap="square" lIns="0" tIns="0" rIns="0" bIns="0" rtlCol="0" anchor="ctr"/>
          <a:lstStyle/>
          <a:p>
            <a:pPr indent="0" marL="0">
              <a:lnSpc>
                <a:spcPct val="110000"/>
              </a:lnSpc>
              <a:buNone/>
            </a:pPr>
            <a:r>
              <a:rPr lang="en-US" sz="1450" dirty="0">
                <a:solidFill>
                  <a:srgbClr val="FFFFFF"/>
                </a:solidFill>
                <a:latin typeface="Calibri" pitchFamily="34" charset="0"/>
                <a:ea typeface="Calibri" pitchFamily="34" charset="-122"/>
                <a:cs typeface="Calibri" pitchFamily="34" charset="-120"/>
              </a:rPr>
              <a:t>La lista de hallazgos que el modelo reportó y que tu equipo descartó, con la razón. Esa lista cuenta a favor.</a:t>
            </a:r>
            <a:endParaRPr lang="en-US" sz="1450" dirty="0"/>
          </a:p>
        </p:txBody>
      </p:sp>
      <p:sp>
        <p:nvSpPr>
          <p:cNvPr id="13" name="Shape 11"/>
          <p:cNvSpPr/>
          <p:nvPr/>
        </p:nvSpPr>
        <p:spPr>
          <a:xfrm>
            <a:off x="566928" y="4091940"/>
            <a:ext cx="11057839" cy="857250"/>
          </a:xfrm>
          <a:prstGeom prst="roundRect">
            <a:avLst>
              <a:gd name="adj" fmla="val 7467"/>
            </a:avLst>
          </a:prstGeom>
          <a:solidFill>
            <a:srgbClr val="24404E"/>
          </a:solidFill>
          <a:ln w="12700">
            <a:solidFill>
              <a:srgbClr val="24404E"/>
            </a:solidFill>
            <a:prstDash val="solid"/>
          </a:ln>
        </p:spPr>
      </p:sp>
      <p:sp>
        <p:nvSpPr>
          <p:cNvPr id="14" name="Shape 12"/>
          <p:cNvSpPr/>
          <p:nvPr/>
        </p:nvSpPr>
        <p:spPr>
          <a:xfrm>
            <a:off x="804672" y="4319397"/>
            <a:ext cx="402336" cy="402336"/>
          </a:xfrm>
          <a:prstGeom prst="ellipse">
            <a:avLst/>
          </a:prstGeom>
          <a:solidFill>
            <a:srgbClr val="2E7D7D"/>
          </a:solidFill>
          <a:ln w="12700">
            <a:solidFill>
              <a:srgbClr val="2E7D7D"/>
            </a:solidFill>
            <a:prstDash val="solid"/>
          </a:ln>
        </p:spPr>
      </p:sp>
      <p:sp>
        <p:nvSpPr>
          <p:cNvPr id="15" name="Text 13"/>
          <p:cNvSpPr txBox="1"/>
          <p:nvPr/>
        </p:nvSpPr>
        <p:spPr>
          <a:xfrm>
            <a:off x="804672" y="4319397"/>
            <a:ext cx="402336" cy="402336"/>
          </a:xfrm>
          <a:prstGeom prst="rect">
            <a:avLst/>
          </a:prstGeom>
          <a:noFill/>
          <a:ln/>
        </p:spPr>
        <p:txBody>
          <a:bodyPr wrap="square" lIns="0" tIns="0" rIns="0" bIns="0" rtlCol="0" anchor="ctr"/>
          <a:lstStyle/>
          <a:p>
            <a:pPr algn="ctr" indent="0" marL="0">
              <a:buNone/>
            </a:pPr>
            <a:endParaRPr lang="en-US" sz="1200" dirty="0"/>
          </a:p>
        </p:txBody>
      </p:sp>
      <p:sp>
        <p:nvSpPr>
          <p:cNvPr id="16" name="Text 14"/>
          <p:cNvSpPr txBox="1"/>
          <p:nvPr/>
        </p:nvSpPr>
        <p:spPr>
          <a:xfrm>
            <a:off x="1426464" y="4165092"/>
            <a:ext cx="9960559" cy="710946"/>
          </a:xfrm>
          <a:prstGeom prst="rect">
            <a:avLst/>
          </a:prstGeom>
          <a:noFill/>
          <a:ln/>
        </p:spPr>
        <p:txBody>
          <a:bodyPr wrap="square" lIns="0" tIns="0" rIns="0" bIns="0" rtlCol="0" anchor="ctr"/>
          <a:lstStyle/>
          <a:p>
            <a:pPr indent="0" marL="0">
              <a:lnSpc>
                <a:spcPct val="110000"/>
              </a:lnSpc>
              <a:buNone/>
            </a:pPr>
            <a:r>
              <a:rPr lang="en-US" sz="1450" dirty="0">
                <a:solidFill>
                  <a:srgbClr val="FFFFFF"/>
                </a:solidFill>
                <a:latin typeface="Calibri" pitchFamily="34" charset="0"/>
                <a:ea typeface="Calibri" pitchFamily="34" charset="-122"/>
                <a:cs typeface="Calibri" pitchFamily="34" charset="-120"/>
              </a:rPr>
              <a:t>Tu bitácora al día, con los prompts de verificación que usaste.</a:t>
            </a:r>
            <a:endParaRPr lang="en-US" sz="1450" dirty="0"/>
          </a:p>
        </p:txBody>
      </p:sp>
      <p:sp>
        <p:nvSpPr>
          <p:cNvPr id="17" name="Shape 15"/>
          <p:cNvSpPr/>
          <p:nvPr/>
        </p:nvSpPr>
        <p:spPr>
          <a:xfrm>
            <a:off x="566928" y="5132070"/>
            <a:ext cx="11057839" cy="857250"/>
          </a:xfrm>
          <a:prstGeom prst="roundRect">
            <a:avLst>
              <a:gd name="adj" fmla="val 7467"/>
            </a:avLst>
          </a:prstGeom>
          <a:solidFill>
            <a:srgbClr val="24404E"/>
          </a:solidFill>
          <a:ln w="12700">
            <a:solidFill>
              <a:srgbClr val="24404E"/>
            </a:solidFill>
            <a:prstDash val="solid"/>
          </a:ln>
        </p:spPr>
      </p:sp>
      <p:sp>
        <p:nvSpPr>
          <p:cNvPr id="18" name="Shape 16"/>
          <p:cNvSpPr/>
          <p:nvPr/>
        </p:nvSpPr>
        <p:spPr>
          <a:xfrm>
            <a:off x="804672" y="5359527"/>
            <a:ext cx="402336" cy="402336"/>
          </a:xfrm>
          <a:prstGeom prst="ellipse">
            <a:avLst/>
          </a:prstGeom>
          <a:solidFill>
            <a:srgbClr val="2E7D7D"/>
          </a:solidFill>
          <a:ln w="12700">
            <a:solidFill>
              <a:srgbClr val="2E7D7D"/>
            </a:solidFill>
            <a:prstDash val="solid"/>
          </a:ln>
        </p:spPr>
      </p:sp>
      <p:sp>
        <p:nvSpPr>
          <p:cNvPr id="19" name="Text 17"/>
          <p:cNvSpPr txBox="1"/>
          <p:nvPr/>
        </p:nvSpPr>
        <p:spPr>
          <a:xfrm>
            <a:off x="804672" y="5359527"/>
            <a:ext cx="402336" cy="402336"/>
          </a:xfrm>
          <a:prstGeom prst="rect">
            <a:avLst/>
          </a:prstGeom>
          <a:noFill/>
          <a:ln/>
        </p:spPr>
        <p:txBody>
          <a:bodyPr wrap="square" lIns="0" tIns="0" rIns="0" bIns="0" rtlCol="0" anchor="ctr"/>
          <a:lstStyle/>
          <a:p>
            <a:pPr algn="ctr" indent="0" marL="0">
              <a:buNone/>
            </a:pPr>
            <a:endParaRPr lang="en-US" sz="1200" dirty="0"/>
          </a:p>
        </p:txBody>
      </p:sp>
      <p:sp>
        <p:nvSpPr>
          <p:cNvPr id="20" name="Text 18"/>
          <p:cNvSpPr txBox="1"/>
          <p:nvPr/>
        </p:nvSpPr>
        <p:spPr>
          <a:xfrm>
            <a:off x="1426464" y="5205222"/>
            <a:ext cx="9960559" cy="710946"/>
          </a:xfrm>
          <a:prstGeom prst="rect">
            <a:avLst/>
          </a:prstGeom>
          <a:noFill/>
          <a:ln/>
        </p:spPr>
        <p:txBody>
          <a:bodyPr wrap="square" lIns="0" tIns="0" rIns="0" bIns="0" rtlCol="0" anchor="ctr"/>
          <a:lstStyle/>
          <a:p>
            <a:pPr indent="0" marL="0">
              <a:lnSpc>
                <a:spcPct val="110000"/>
              </a:lnSpc>
              <a:buNone/>
            </a:pPr>
            <a:r>
              <a:rPr lang="en-US" sz="1450" dirty="0">
                <a:solidFill>
                  <a:srgbClr val="FFFFFF"/>
                </a:solidFill>
                <a:latin typeface="Calibri" pitchFamily="34" charset="0"/>
                <a:ea typeface="Calibri" pitchFamily="34" charset="-122"/>
                <a:cs typeface="Calibri" pitchFamily="34" charset="-120"/>
              </a:rPr>
              <a:t>Con esto cierra el Módulo I. Mañana empieza el trabajo cualitativo, que es donde vas a pasar la mayor parte del tiempo.</a:t>
            </a:r>
            <a:endParaRPr lang="en-US" sz="1450" dirty="0"/>
          </a:p>
        </p:txBody>
      </p:sp>
      <p:sp>
        <p:nvSpPr>
          <p:cNvPr id="21" name="Text 19"/>
          <p:cNvSpPr txBox="1"/>
          <p:nvPr/>
        </p:nvSpPr>
        <p:spPr>
          <a:xfrm>
            <a:off x="566928" y="6172200"/>
            <a:ext cx="11057839" cy="411480"/>
          </a:xfrm>
          <a:prstGeom prst="rect">
            <a:avLst/>
          </a:prstGeom>
          <a:noFill/>
          <a:ln/>
        </p:spPr>
        <p:txBody>
          <a:bodyPr wrap="square" lIns="0" tIns="0" rIns="0" bIns="0" rtlCol="0" anchor="ctr"/>
          <a:lstStyle/>
          <a:p>
            <a:pPr indent="0" marL="0">
              <a:buNone/>
            </a:pPr>
            <a:r>
              <a:rPr lang="en-US" sz="1300" i="1" dirty="0">
                <a:solidFill>
                  <a:srgbClr val="D7E7E7"/>
                </a:solidFill>
                <a:latin typeface="Calibri" pitchFamily="34" charset="0"/>
                <a:ea typeface="Calibri" pitchFamily="34" charset="-122"/>
                <a:cs typeface="Calibri" pitchFamily="34" charset="-120"/>
              </a:rPr>
              <a:t>Sesión 4, viernes 18 de septiembre: procesamiento de lenguaje natural para la gestión documental.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Curso de Inteligencia Artificial Aplicada</dc:creator>
  <cp:lastModifiedBy>Curso de Inteligencia Artificial Aplicada</cp:lastModifiedBy>
  <cp:revision>1</cp:revision>
  <dcterms:created xsi:type="dcterms:W3CDTF">2026-09-13T23:31:27Z</dcterms:created>
  <dcterms:modified xsi:type="dcterms:W3CDTF">2026-09-13T23:31:27Z</dcterms:modified>
</cp:coreProperties>
</file>