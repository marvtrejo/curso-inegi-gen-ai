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una premisa falsa pero verosímil, por ejemplo que un programa amplió su cobertura en un año en que en realidad la redujo. Después pedirle que cite la evidencia y ver qué hace.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equipos de cuatro. Recorrer los equipos durante el ejercicio. No revelar cuántos errores hay hasta la puesta en común: saber el número cambia la forma en que buscan.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 FUNDAMENTOS, ÉTICA Y COPILOT INSTITUCIONAL</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3</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Razonamiento analítico, validación crítica y control de calidad</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Jueves 17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Incluye el Laboratorio Práctico 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1"/>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2"/>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5A6B73"/>
                </a:solidFill>
                <a:latin typeface="Calibri" pitchFamily="34" charset="0"/>
                <a:ea typeface="Calibri" pitchFamily="34" charset="-122"/>
                <a:cs typeface="Calibri" pitchFamily="34" charset="-120"/>
              </a:rPr>
              <a:t>9:00 a 11:30</a:t>
            </a:r>
            <a:endParaRPr lang="en-US" sz="1200" dirty="0"/>
          </a:p>
        </p:txBody>
      </p:sp>
      <p:sp>
        <p:nvSpPr>
          <p:cNvPr id="5" name="Shape 3"/>
          <p:cNvSpPr/>
          <p:nvPr/>
        </p:nvSpPr>
        <p:spPr>
          <a:xfrm>
            <a:off x="566928" y="1408176"/>
            <a:ext cx="5364328" cy="1490472"/>
          </a:xfrm>
          <a:prstGeom prst="roundRect">
            <a:avLst>
              <a:gd name="adj" fmla="val 4294"/>
            </a:avLst>
          </a:prstGeom>
          <a:solidFill>
            <a:srgbClr val="F2F5F6"/>
          </a:solidFill>
          <a:ln w="12700">
            <a:solidFill>
              <a:srgbClr val="F2F5F6"/>
            </a:solidFill>
            <a:prstDash val="solid"/>
          </a:ln>
        </p:spPr>
      </p:sp>
      <p:sp>
        <p:nvSpPr>
          <p:cNvPr id="6" name="Text 4"/>
          <p:cNvSpPr txBox="1"/>
          <p:nvPr/>
        </p:nvSpPr>
        <p:spPr>
          <a:xfrm>
            <a:off x="786384" y="1408176"/>
            <a:ext cx="1371600" cy="149047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5"/>
          <p:cNvSpPr txBox="1"/>
          <p:nvPr/>
        </p:nvSpPr>
        <p:spPr>
          <a:xfrm>
            <a:off x="2194560" y="1463040"/>
            <a:ext cx="3517240" cy="138074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Los seis errores típicos, con ejemplos de nuestras propias sesiones</a:t>
            </a:r>
            <a:endParaRPr lang="en-US" sz="1350" dirty="0"/>
          </a:p>
        </p:txBody>
      </p:sp>
      <p:sp>
        <p:nvSpPr>
          <p:cNvPr id="8" name="Shape 6"/>
          <p:cNvSpPr/>
          <p:nvPr/>
        </p:nvSpPr>
        <p:spPr>
          <a:xfrm>
            <a:off x="566928" y="3044952"/>
            <a:ext cx="5364328" cy="1490472"/>
          </a:xfrm>
          <a:prstGeom prst="roundRect">
            <a:avLst>
              <a:gd name="adj" fmla="val 4294"/>
            </a:avLst>
          </a:prstGeom>
          <a:solidFill>
            <a:srgbClr val="F2F5F6"/>
          </a:solidFill>
          <a:ln w="12700">
            <a:solidFill>
              <a:srgbClr val="F2F5F6"/>
            </a:solidFill>
            <a:prstDash val="solid"/>
          </a:ln>
        </p:spPr>
      </p:sp>
      <p:sp>
        <p:nvSpPr>
          <p:cNvPr id="9" name="Text 7"/>
          <p:cNvSpPr txBox="1"/>
          <p:nvPr/>
        </p:nvSpPr>
        <p:spPr>
          <a:xfrm>
            <a:off x="786384" y="3044952"/>
            <a:ext cx="1371600" cy="149047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9:30</a:t>
            </a:r>
            <a:endParaRPr lang="en-US" sz="1300" dirty="0"/>
          </a:p>
        </p:txBody>
      </p:sp>
      <p:sp>
        <p:nvSpPr>
          <p:cNvPr id="10" name="Text 8"/>
          <p:cNvSpPr txBox="1"/>
          <p:nvPr/>
        </p:nvSpPr>
        <p:spPr>
          <a:xfrm>
            <a:off x="2194560" y="3099816"/>
            <a:ext cx="3517240" cy="138074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protocolo de verificación en cuatro pasos</a:t>
            </a:r>
            <a:endParaRPr lang="en-US" sz="1350" dirty="0"/>
          </a:p>
        </p:txBody>
      </p:sp>
      <p:sp>
        <p:nvSpPr>
          <p:cNvPr id="11" name="Shape 9"/>
          <p:cNvSpPr/>
          <p:nvPr/>
        </p:nvSpPr>
        <p:spPr>
          <a:xfrm>
            <a:off x="566928" y="4681728"/>
            <a:ext cx="5364328" cy="1490472"/>
          </a:xfrm>
          <a:prstGeom prst="roundRect">
            <a:avLst>
              <a:gd name="adj" fmla="val 4294"/>
            </a:avLst>
          </a:prstGeom>
          <a:solidFill>
            <a:srgbClr val="F7E4D8"/>
          </a:solidFill>
          <a:ln w="12700">
            <a:solidFill>
              <a:srgbClr val="F7E4D8"/>
            </a:solidFill>
            <a:prstDash val="solid"/>
          </a:ln>
        </p:spPr>
      </p:sp>
      <p:sp>
        <p:nvSpPr>
          <p:cNvPr id="12" name="Text 10"/>
          <p:cNvSpPr txBox="1"/>
          <p:nvPr/>
        </p:nvSpPr>
        <p:spPr>
          <a:xfrm>
            <a:off x="786384" y="4681728"/>
            <a:ext cx="1371600" cy="1490472"/>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9:55</a:t>
            </a:r>
            <a:endParaRPr lang="en-US" sz="1300" dirty="0"/>
          </a:p>
        </p:txBody>
      </p:sp>
      <p:sp>
        <p:nvSpPr>
          <p:cNvPr id="13" name="Text 11"/>
          <p:cNvSpPr txBox="1"/>
          <p:nvPr/>
        </p:nvSpPr>
        <p:spPr>
          <a:xfrm>
            <a:off x="2194560" y="4736592"/>
            <a:ext cx="3517240" cy="138074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a:t>
            </a:r>
            <a:endParaRPr lang="en-US" sz="1350" dirty="0"/>
          </a:p>
        </p:txBody>
      </p:sp>
      <p:sp>
        <p:nvSpPr>
          <p:cNvPr id="14" name="Shape 12"/>
          <p:cNvSpPr/>
          <p:nvPr/>
        </p:nvSpPr>
        <p:spPr>
          <a:xfrm>
            <a:off x="6260440" y="1408176"/>
            <a:ext cx="5364328" cy="1490472"/>
          </a:xfrm>
          <a:prstGeom prst="roundRect">
            <a:avLst>
              <a:gd name="adj" fmla="val 4294"/>
            </a:avLst>
          </a:prstGeom>
          <a:solidFill>
            <a:srgbClr val="F2F5F6"/>
          </a:solidFill>
          <a:ln w="12700">
            <a:solidFill>
              <a:srgbClr val="F2F5F6"/>
            </a:solidFill>
            <a:prstDash val="solid"/>
          </a:ln>
        </p:spPr>
      </p:sp>
      <p:sp>
        <p:nvSpPr>
          <p:cNvPr id="15" name="Text 13"/>
          <p:cNvSpPr txBox="1"/>
          <p:nvPr/>
        </p:nvSpPr>
        <p:spPr>
          <a:xfrm>
            <a:off x="6479896" y="1408176"/>
            <a:ext cx="1371600" cy="149047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10:05</a:t>
            </a:r>
            <a:endParaRPr lang="en-US" sz="1300" dirty="0"/>
          </a:p>
        </p:txBody>
      </p:sp>
      <p:sp>
        <p:nvSpPr>
          <p:cNvPr id="16" name="Text 14"/>
          <p:cNvSpPr txBox="1"/>
          <p:nvPr/>
        </p:nvSpPr>
        <p:spPr>
          <a:xfrm>
            <a:off x="7888072" y="1463040"/>
            <a:ext cx="3517240" cy="138074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Laboratorio Práctico 1: dictamen de validación por equipos</a:t>
            </a:r>
            <a:endParaRPr lang="en-US" sz="1350" dirty="0"/>
          </a:p>
        </p:txBody>
      </p:sp>
      <p:sp>
        <p:nvSpPr>
          <p:cNvPr id="17" name="Shape 15"/>
          <p:cNvSpPr/>
          <p:nvPr/>
        </p:nvSpPr>
        <p:spPr>
          <a:xfrm>
            <a:off x="6260440" y="3044952"/>
            <a:ext cx="5364328" cy="1490472"/>
          </a:xfrm>
          <a:prstGeom prst="roundRect">
            <a:avLst>
              <a:gd name="adj" fmla="val 4294"/>
            </a:avLst>
          </a:prstGeom>
          <a:solidFill>
            <a:srgbClr val="F2F5F6"/>
          </a:solidFill>
          <a:ln w="12700">
            <a:solidFill>
              <a:srgbClr val="F2F5F6"/>
            </a:solidFill>
            <a:prstDash val="solid"/>
          </a:ln>
        </p:spPr>
      </p:sp>
      <p:sp>
        <p:nvSpPr>
          <p:cNvPr id="18" name="Text 16"/>
          <p:cNvSpPr txBox="1"/>
          <p:nvPr/>
        </p:nvSpPr>
        <p:spPr>
          <a:xfrm>
            <a:off x="6479896" y="3044952"/>
            <a:ext cx="1371600" cy="149047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11:10</a:t>
            </a:r>
            <a:endParaRPr lang="en-US" sz="1300" dirty="0"/>
          </a:p>
        </p:txBody>
      </p:sp>
      <p:sp>
        <p:nvSpPr>
          <p:cNvPr id="19" name="Text 17"/>
          <p:cNvSpPr txBox="1"/>
          <p:nvPr/>
        </p:nvSpPr>
        <p:spPr>
          <a:xfrm>
            <a:off x="7888072" y="3099816"/>
            <a:ext cx="3517240" cy="138074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Puesta en común y aplicación de la rúbrica</a:t>
            </a:r>
            <a:endParaRPr lang="en-US" sz="1350" dirty="0"/>
          </a:p>
        </p:txBody>
      </p:sp>
      <p:sp>
        <p:nvSpPr>
          <p:cNvPr id="20" name="Shape 18"/>
          <p:cNvSpPr/>
          <p:nvPr/>
        </p:nvSpPr>
        <p:spPr>
          <a:xfrm>
            <a:off x="6260440" y="4681728"/>
            <a:ext cx="5364328" cy="1490472"/>
          </a:xfrm>
          <a:prstGeom prst="roundRect">
            <a:avLst>
              <a:gd name="adj" fmla="val 4294"/>
            </a:avLst>
          </a:prstGeom>
          <a:solidFill>
            <a:srgbClr val="F2F5F6"/>
          </a:solidFill>
          <a:ln w="12700">
            <a:solidFill>
              <a:srgbClr val="F2F5F6"/>
            </a:solidFill>
            <a:prstDash val="solid"/>
          </a:ln>
        </p:spPr>
      </p:sp>
      <p:sp>
        <p:nvSpPr>
          <p:cNvPr id="21" name="Text 19"/>
          <p:cNvSpPr txBox="1"/>
          <p:nvPr/>
        </p:nvSpPr>
        <p:spPr>
          <a:xfrm>
            <a:off x="6479896" y="4681728"/>
            <a:ext cx="1371600" cy="149047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11:25</a:t>
            </a:r>
            <a:endParaRPr lang="en-US" sz="1300" dirty="0"/>
          </a:p>
        </p:txBody>
      </p:sp>
      <p:sp>
        <p:nvSpPr>
          <p:cNvPr id="22" name="Text 20"/>
          <p:cNvSpPr txBox="1"/>
          <p:nvPr/>
        </p:nvSpPr>
        <p:spPr>
          <a:xfrm>
            <a:off x="7888072" y="4736592"/>
            <a:ext cx="3517240" cy="138074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y entregables</a:t>
            </a:r>
            <a:endParaRPr lang="en-US" sz="1350" dirty="0"/>
          </a:p>
        </p:txBody>
      </p:sp>
      <p:sp>
        <p:nvSpPr>
          <p:cNvPr id="23" name="Text 21"/>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Hoy son 65 minutos continuos de laboratorio. Formen equipos de cuatro desde el principio.</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PRIMER BLOQUE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Los seis errores típicos</a:t>
            </a:r>
            <a:endParaRPr lang="en-US" sz="3400" dirty="0"/>
          </a:p>
        </p:txBody>
      </p:sp>
      <p:sp>
        <p:nvSpPr>
          <p:cNvPr id="6" name="Shape 4"/>
          <p:cNvSpPr/>
          <p:nvPr/>
        </p:nvSpPr>
        <p:spPr>
          <a:xfrm>
            <a:off x="9631375" y="457200"/>
            <a:ext cx="1993392"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631375" y="457200"/>
            <a:ext cx="199339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9:00 a 9:30</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que se ven cuando uno los busca</a:t>
            </a:r>
            <a:endParaRPr lang="en-US" sz="3200" dirty="0"/>
          </a:p>
        </p:txBody>
      </p:sp>
      <p:sp>
        <p:nvSpPr>
          <p:cNvPr id="3" name="Shape 1"/>
          <p:cNvSpPr/>
          <p:nvPr/>
        </p:nvSpPr>
        <p:spPr>
          <a:xfrm>
            <a:off x="566928" y="1609344"/>
            <a:ext cx="3503066" cy="2623058"/>
          </a:xfrm>
          <a:prstGeom prst="roundRect">
            <a:avLst>
              <a:gd name="adj" fmla="val 2789"/>
            </a:avLst>
          </a:prstGeom>
          <a:solidFill>
            <a:srgbClr val="F2DEDE"/>
          </a:solidFill>
          <a:ln w="12700">
            <a:solidFill>
              <a:srgbClr val="F2DEDE"/>
            </a:solidFill>
            <a:prstDash val="solid"/>
          </a:ln>
        </p:spPr>
      </p:sp>
      <p:sp>
        <p:nvSpPr>
          <p:cNvPr id="4" name="Shape 2"/>
          <p:cNvSpPr/>
          <p:nvPr/>
        </p:nvSpPr>
        <p:spPr>
          <a:xfrm>
            <a:off x="804672" y="1828800"/>
            <a:ext cx="420624" cy="420624"/>
          </a:xfrm>
          <a:prstGeom prst="ellipse">
            <a:avLst/>
          </a:prstGeom>
          <a:solidFill>
            <a:srgbClr val="A33A3A"/>
          </a:solidFill>
          <a:ln w="12700">
            <a:solidFill>
              <a:srgbClr val="A33A3A"/>
            </a:solidFill>
            <a:prstDash val="solid"/>
          </a:ln>
        </p:spPr>
      </p:sp>
      <p:sp>
        <p:nvSpPr>
          <p:cNvPr id="5" name="Text 3"/>
          <p:cNvSpPr txBox="1"/>
          <p:nvPr/>
        </p:nvSpPr>
        <p:spPr>
          <a:xfrm>
            <a:off x="804672"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804672" y="2395728"/>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Fabricación de fuentes</a:t>
            </a:r>
            <a:endParaRPr lang="en-US" sz="1600" dirty="0"/>
          </a:p>
        </p:txBody>
      </p:sp>
      <p:sp>
        <p:nvSpPr>
          <p:cNvPr id="7" name="Text 5"/>
          <p:cNvSpPr txBox="1"/>
          <p:nvPr/>
        </p:nvSpPr>
        <p:spPr>
          <a:xfrm>
            <a:off x="804672" y="2871216"/>
            <a:ext cx="3027578" cy="11234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Inventa un estudio, un autor o un número de artículo que suena correcto. La descripción es plausible y la referencia no existe.</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 detecta buscando la fuente. Casi nadie revisa la bibliografía.</a:t>
            </a:r>
            <a:endParaRPr lang="en-US" sz="1300" dirty="0"/>
          </a:p>
        </p:txBody>
      </p:sp>
      <p:sp>
        <p:nvSpPr>
          <p:cNvPr id="8" name="Shape 6"/>
          <p:cNvSpPr/>
          <p:nvPr/>
        </p:nvSpPr>
        <p:spPr>
          <a:xfrm>
            <a:off x="4344314" y="1609344"/>
            <a:ext cx="3503066" cy="2623058"/>
          </a:xfrm>
          <a:prstGeom prst="roundRect">
            <a:avLst>
              <a:gd name="adj" fmla="val 2789"/>
            </a:avLst>
          </a:prstGeom>
          <a:solidFill>
            <a:srgbClr val="F2DEDE"/>
          </a:solidFill>
          <a:ln w="12700">
            <a:solidFill>
              <a:srgbClr val="F2DEDE"/>
            </a:solidFill>
            <a:prstDash val="solid"/>
          </a:ln>
        </p:spPr>
      </p:sp>
      <p:sp>
        <p:nvSpPr>
          <p:cNvPr id="9" name="Shape 7"/>
          <p:cNvSpPr/>
          <p:nvPr/>
        </p:nvSpPr>
        <p:spPr>
          <a:xfrm>
            <a:off x="4582058" y="1828800"/>
            <a:ext cx="420624" cy="420624"/>
          </a:xfrm>
          <a:prstGeom prst="ellipse">
            <a:avLst/>
          </a:prstGeom>
          <a:solidFill>
            <a:srgbClr val="A33A3A"/>
          </a:solidFill>
          <a:ln w="12700">
            <a:solidFill>
              <a:srgbClr val="A33A3A"/>
            </a:solidFill>
            <a:prstDash val="solid"/>
          </a:ln>
        </p:spPr>
      </p:sp>
      <p:sp>
        <p:nvSpPr>
          <p:cNvPr id="10" name="Text 8"/>
          <p:cNvSpPr txBox="1"/>
          <p:nvPr/>
        </p:nvSpPr>
        <p:spPr>
          <a:xfrm>
            <a:off x="4582058"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4582058" y="2395728"/>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Invención de cifras</a:t>
            </a:r>
            <a:endParaRPr lang="en-US" sz="1600" dirty="0"/>
          </a:p>
        </p:txBody>
      </p:sp>
      <p:sp>
        <p:nvSpPr>
          <p:cNvPr id="12" name="Text 10"/>
          <p:cNvSpPr txBox="1"/>
          <p:nvPr/>
        </p:nvSpPr>
        <p:spPr>
          <a:xfrm>
            <a:off x="4582058" y="2871216"/>
            <a:ext cx="3027578" cy="11234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Aparece sobre todo cuando trata de completar una tabla donde falta información. El hueco le incomoda más que el error.</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 detecta recalculando.</a:t>
            </a:r>
            <a:endParaRPr lang="en-US" sz="1300" dirty="0"/>
          </a:p>
        </p:txBody>
      </p:sp>
      <p:sp>
        <p:nvSpPr>
          <p:cNvPr id="13" name="Shape 11"/>
          <p:cNvSpPr/>
          <p:nvPr/>
        </p:nvSpPr>
        <p:spPr>
          <a:xfrm>
            <a:off x="8121701" y="1609344"/>
            <a:ext cx="3503066" cy="2623058"/>
          </a:xfrm>
          <a:prstGeom prst="roundRect">
            <a:avLst>
              <a:gd name="adj" fmla="val 2789"/>
            </a:avLst>
          </a:prstGeom>
          <a:solidFill>
            <a:srgbClr val="F2DEDE"/>
          </a:solidFill>
          <a:ln w="12700">
            <a:solidFill>
              <a:srgbClr val="F2DEDE"/>
            </a:solidFill>
            <a:prstDash val="solid"/>
          </a:ln>
        </p:spPr>
      </p:sp>
      <p:sp>
        <p:nvSpPr>
          <p:cNvPr id="14" name="Shape 12"/>
          <p:cNvSpPr/>
          <p:nvPr/>
        </p:nvSpPr>
        <p:spPr>
          <a:xfrm>
            <a:off x="8359445" y="1828800"/>
            <a:ext cx="420624" cy="420624"/>
          </a:xfrm>
          <a:prstGeom prst="ellipse">
            <a:avLst/>
          </a:prstGeom>
          <a:solidFill>
            <a:srgbClr val="A33A3A"/>
          </a:solidFill>
          <a:ln w="12700">
            <a:solidFill>
              <a:srgbClr val="A33A3A"/>
            </a:solidFill>
            <a:prstDash val="solid"/>
          </a:ln>
        </p:spPr>
      </p:sp>
      <p:sp>
        <p:nvSpPr>
          <p:cNvPr id="15" name="Text 13"/>
          <p:cNvSpPr txBox="1"/>
          <p:nvPr/>
        </p:nvSpPr>
        <p:spPr>
          <a:xfrm>
            <a:off x="8359445"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8359445" y="2395728"/>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Confusión de periodos</a:t>
            </a:r>
            <a:endParaRPr lang="en-US" sz="1600" dirty="0"/>
          </a:p>
        </p:txBody>
      </p:sp>
      <p:sp>
        <p:nvSpPr>
          <p:cNvPr id="17" name="Text 15"/>
          <p:cNvSpPr txBox="1"/>
          <p:nvPr/>
        </p:nvSpPr>
        <p:spPr>
          <a:xfrm>
            <a:off x="8359445" y="2871216"/>
            <a:ext cx="3027578" cy="11234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Mezcla datos de años distintos sin avisar, o presenta como línea base valores de ejercicios diferentes.</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 detecta leyendo la metodología antes que los resultados.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que se ven solo si uno sabe que existen</a:t>
            </a:r>
            <a:endParaRPr lang="en-US" sz="3200" dirty="0"/>
          </a:p>
        </p:txBody>
      </p:sp>
      <p:sp>
        <p:nvSpPr>
          <p:cNvPr id="3" name="Shape 1"/>
          <p:cNvSpPr/>
          <p:nvPr/>
        </p:nvSpPr>
        <p:spPr>
          <a:xfrm>
            <a:off x="566928" y="1609344"/>
            <a:ext cx="3503066" cy="2623058"/>
          </a:xfrm>
          <a:prstGeom prst="roundRect">
            <a:avLst>
              <a:gd name="adj" fmla="val 2789"/>
            </a:avLst>
          </a:prstGeom>
          <a:solidFill>
            <a:srgbClr val="F7E4D8"/>
          </a:solidFill>
          <a:ln w="12700">
            <a:solidFill>
              <a:srgbClr val="F7E4D8"/>
            </a:solidFill>
            <a:prstDash val="solid"/>
          </a:ln>
        </p:spPr>
      </p:sp>
      <p:sp>
        <p:nvSpPr>
          <p:cNvPr id="4" name="Shape 2"/>
          <p:cNvSpPr/>
          <p:nvPr/>
        </p:nvSpPr>
        <p:spPr>
          <a:xfrm>
            <a:off x="804672" y="1828800"/>
            <a:ext cx="420624" cy="420624"/>
          </a:xfrm>
          <a:prstGeom prst="ellipse">
            <a:avLst/>
          </a:prstGeom>
          <a:solidFill>
            <a:srgbClr val="C85A28"/>
          </a:solidFill>
          <a:ln w="12700">
            <a:solidFill>
              <a:srgbClr val="C85A28"/>
            </a:solidFill>
            <a:prstDash val="solid"/>
          </a:ln>
        </p:spPr>
      </p:sp>
      <p:sp>
        <p:nvSpPr>
          <p:cNvPr id="5" name="Text 3"/>
          <p:cNvSpPr txBox="1"/>
          <p:nvPr/>
        </p:nvSpPr>
        <p:spPr>
          <a:xfrm>
            <a:off x="804672"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6" name="Text 4"/>
          <p:cNvSpPr txBox="1"/>
          <p:nvPr/>
        </p:nvSpPr>
        <p:spPr>
          <a:xfrm>
            <a:off x="804672" y="2395728"/>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Sesgo de complacencia</a:t>
            </a:r>
            <a:endParaRPr lang="en-US" sz="1600" dirty="0"/>
          </a:p>
        </p:txBody>
      </p:sp>
      <p:sp>
        <p:nvSpPr>
          <p:cNvPr id="7" name="Text 5"/>
          <p:cNvSpPr txBox="1"/>
          <p:nvPr/>
        </p:nvSpPr>
        <p:spPr>
          <a:xfrm>
            <a:off x="804672" y="2871216"/>
            <a:ext cx="3027578" cy="11234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Tiende a darle la razón a quien pregunta, incluso cuando la premisa de la pregunta es falsa.</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miente: selecciona la evidencia que confirma lo que usted ya le dijo que quería oír.</a:t>
            </a:r>
            <a:endParaRPr lang="en-US" sz="1300" dirty="0"/>
          </a:p>
        </p:txBody>
      </p:sp>
      <p:sp>
        <p:nvSpPr>
          <p:cNvPr id="8" name="Shape 6"/>
          <p:cNvSpPr/>
          <p:nvPr/>
        </p:nvSpPr>
        <p:spPr>
          <a:xfrm>
            <a:off x="4344314" y="1609344"/>
            <a:ext cx="3503066" cy="2623058"/>
          </a:xfrm>
          <a:prstGeom prst="roundRect">
            <a:avLst>
              <a:gd name="adj" fmla="val 2789"/>
            </a:avLst>
          </a:prstGeom>
          <a:solidFill>
            <a:srgbClr val="F7E4D8"/>
          </a:solidFill>
          <a:ln w="12700">
            <a:solidFill>
              <a:srgbClr val="F7E4D8"/>
            </a:solidFill>
            <a:prstDash val="solid"/>
          </a:ln>
        </p:spPr>
      </p:sp>
      <p:sp>
        <p:nvSpPr>
          <p:cNvPr id="9" name="Shape 7"/>
          <p:cNvSpPr/>
          <p:nvPr/>
        </p:nvSpPr>
        <p:spPr>
          <a:xfrm>
            <a:off x="4582058" y="1828800"/>
            <a:ext cx="420624" cy="420624"/>
          </a:xfrm>
          <a:prstGeom prst="ellipse">
            <a:avLst/>
          </a:prstGeom>
          <a:solidFill>
            <a:srgbClr val="C85A28"/>
          </a:solidFill>
          <a:ln w="12700">
            <a:solidFill>
              <a:srgbClr val="C85A28"/>
            </a:solidFill>
            <a:prstDash val="solid"/>
          </a:ln>
        </p:spPr>
      </p:sp>
      <p:sp>
        <p:nvSpPr>
          <p:cNvPr id="10" name="Text 8"/>
          <p:cNvSpPr txBox="1"/>
          <p:nvPr/>
        </p:nvSpPr>
        <p:spPr>
          <a:xfrm>
            <a:off x="4582058"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11" name="Text 9"/>
          <p:cNvSpPr txBox="1"/>
          <p:nvPr/>
        </p:nvSpPr>
        <p:spPr>
          <a:xfrm>
            <a:off x="4582058" y="2395728"/>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Generalización sin evidencia</a:t>
            </a:r>
            <a:endParaRPr lang="en-US" sz="1600" dirty="0"/>
          </a:p>
        </p:txBody>
      </p:sp>
      <p:sp>
        <p:nvSpPr>
          <p:cNvPr id="12" name="Text 10"/>
          <p:cNvSpPr txBox="1"/>
          <p:nvPr/>
        </p:nvSpPr>
        <p:spPr>
          <a:xfrm>
            <a:off x="4582058" y="2871216"/>
            <a:ext cx="3027578" cy="11234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Extiende a todos los casos una conclusión que era válida para uno. O concluye sobre algo que nunca midió.</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 detecta preguntando dónde está el dato que sostiene la frase.</a:t>
            </a:r>
            <a:endParaRPr lang="en-US" sz="1300" dirty="0"/>
          </a:p>
        </p:txBody>
      </p:sp>
      <p:sp>
        <p:nvSpPr>
          <p:cNvPr id="13" name="Shape 11"/>
          <p:cNvSpPr/>
          <p:nvPr/>
        </p:nvSpPr>
        <p:spPr>
          <a:xfrm>
            <a:off x="8121701" y="1609344"/>
            <a:ext cx="3503066" cy="2623058"/>
          </a:xfrm>
          <a:prstGeom prst="roundRect">
            <a:avLst>
              <a:gd name="adj" fmla="val 2789"/>
            </a:avLst>
          </a:prstGeom>
          <a:solidFill>
            <a:srgbClr val="F7E4D8"/>
          </a:solidFill>
          <a:ln w="12700">
            <a:solidFill>
              <a:srgbClr val="F7E4D8"/>
            </a:solidFill>
            <a:prstDash val="solid"/>
          </a:ln>
        </p:spPr>
      </p:sp>
      <p:sp>
        <p:nvSpPr>
          <p:cNvPr id="14" name="Shape 12"/>
          <p:cNvSpPr/>
          <p:nvPr/>
        </p:nvSpPr>
        <p:spPr>
          <a:xfrm>
            <a:off x="8359445" y="1828800"/>
            <a:ext cx="420624" cy="420624"/>
          </a:xfrm>
          <a:prstGeom prst="ellipse">
            <a:avLst/>
          </a:prstGeom>
          <a:solidFill>
            <a:srgbClr val="C85A28"/>
          </a:solidFill>
          <a:ln w="12700">
            <a:solidFill>
              <a:srgbClr val="C85A28"/>
            </a:solidFill>
            <a:prstDash val="solid"/>
          </a:ln>
        </p:spPr>
      </p:sp>
      <p:sp>
        <p:nvSpPr>
          <p:cNvPr id="15" name="Text 13"/>
          <p:cNvSpPr txBox="1"/>
          <p:nvPr/>
        </p:nvSpPr>
        <p:spPr>
          <a:xfrm>
            <a:off x="8359445"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16" name="Text 14"/>
          <p:cNvSpPr txBox="1"/>
          <p:nvPr/>
        </p:nvSpPr>
        <p:spPr>
          <a:xfrm>
            <a:off x="8359445" y="2395728"/>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Omisión silenciosa</a:t>
            </a:r>
            <a:endParaRPr lang="en-US" sz="1600" dirty="0"/>
          </a:p>
        </p:txBody>
      </p:sp>
      <p:sp>
        <p:nvSpPr>
          <p:cNvPr id="17" name="Text 15"/>
          <p:cNvSpPr txBox="1"/>
          <p:nvPr/>
        </p:nvSpPr>
        <p:spPr>
          <a:xfrm>
            <a:off x="8359445" y="2871216"/>
            <a:ext cx="3027578" cy="11234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más peligroso de los seis. Deja fuera información relevante sin decir que la dejó fuera.</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hay nada escrito que sea falso. Solo falta algo, y por eso es tan difícil de 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DEMOSTRACIÓN EN VIVO</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Le voy a decir al modelo algo falso sobre un programa social. Vean si lo acepta y lo desarrolla.</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Esta es la demostración del sesgo de complacencia. Es la que más molesta y la que más se recuerda. Lo que hay que observar no es que se equivoque, sino que se equivoque con seguridad y con argumentos bien redactados.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SEGUNDO BLOQUE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El protocolo de verificación en cuatro pasos</a:t>
            </a:r>
            <a:endParaRPr lang="en-US" sz="3400" dirty="0"/>
          </a:p>
        </p:txBody>
      </p:sp>
      <p:sp>
        <p:nvSpPr>
          <p:cNvPr id="6" name="Shape 4"/>
          <p:cNvSpPr/>
          <p:nvPr/>
        </p:nvSpPr>
        <p:spPr>
          <a:xfrm>
            <a:off x="9631375" y="457200"/>
            <a:ext cx="1993392"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631375" y="457200"/>
            <a:ext cx="199339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9:30 a 9:55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Cuatro pasos, siempre los cuatro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Este es el protocolo que vamos a usar el resto del curso. No es negociable saltarse pasos.</a:t>
            </a:r>
            <a:endParaRPr lang="en-US" sz="1500" dirty="0"/>
          </a:p>
        </p:txBody>
      </p:sp>
      <p:sp>
        <p:nvSpPr>
          <p:cNvPr id="4" name="Shape 2"/>
          <p:cNvSpPr/>
          <p:nvPr/>
        </p:nvSpPr>
        <p:spPr>
          <a:xfrm>
            <a:off x="566928" y="2011680"/>
            <a:ext cx="2558720" cy="2732024"/>
          </a:xfrm>
          <a:prstGeom prst="roundRect">
            <a:avLst>
              <a:gd name="adj" fmla="val 2859"/>
            </a:avLst>
          </a:prstGeom>
          <a:solidFill>
            <a:srgbClr val="D7E7E7"/>
          </a:solidFill>
          <a:ln w="12700">
            <a:solidFill>
              <a:srgbClr val="D7E7E7"/>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2083232"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Trazar</a:t>
            </a:r>
            <a:endParaRPr lang="en-US" sz="1600" dirty="0"/>
          </a:p>
        </p:txBody>
      </p:sp>
      <p:sp>
        <p:nvSpPr>
          <p:cNvPr id="8" name="Text 6"/>
          <p:cNvSpPr txBox="1"/>
          <p:nvPr/>
        </p:nvSpPr>
        <p:spPr>
          <a:xfrm>
            <a:off x="804672" y="3273552"/>
            <a:ext cx="2083232" cy="1232408"/>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Cada afirmación debe poder señalar el documento y la sección de donde salió. Lo que no se puede trazar se marca y se investiga aparte.</a:t>
            </a:r>
            <a:endParaRPr lang="en-US" sz="1300" dirty="0"/>
          </a:p>
        </p:txBody>
      </p:sp>
      <p:sp>
        <p:nvSpPr>
          <p:cNvPr id="9" name="Shape 7"/>
          <p:cNvSpPr/>
          <p:nvPr/>
        </p:nvSpPr>
        <p:spPr>
          <a:xfrm>
            <a:off x="3399968" y="2011680"/>
            <a:ext cx="2558720" cy="2732024"/>
          </a:xfrm>
          <a:prstGeom prst="roundRect">
            <a:avLst>
              <a:gd name="adj" fmla="val 2859"/>
            </a:avLst>
          </a:prstGeom>
          <a:solidFill>
            <a:srgbClr val="D7E7E7"/>
          </a:solidFill>
          <a:ln w="12700">
            <a:solidFill>
              <a:srgbClr val="D7E7E7"/>
            </a:solidFill>
            <a:prstDash val="solid"/>
          </a:ln>
        </p:spPr>
      </p:sp>
      <p:sp>
        <p:nvSpPr>
          <p:cNvPr id="10" name="Shape 8"/>
          <p:cNvSpPr/>
          <p:nvPr/>
        </p:nvSpPr>
        <p:spPr>
          <a:xfrm>
            <a:off x="3637712"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363771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3637712" y="2798064"/>
            <a:ext cx="2083232"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Recalcular</a:t>
            </a:r>
            <a:endParaRPr lang="en-US" sz="1600" dirty="0"/>
          </a:p>
        </p:txBody>
      </p:sp>
      <p:sp>
        <p:nvSpPr>
          <p:cNvPr id="13" name="Text 11"/>
          <p:cNvSpPr txBox="1"/>
          <p:nvPr/>
        </p:nvSpPr>
        <p:spPr>
          <a:xfrm>
            <a:off x="3637712" y="3273552"/>
            <a:ext cx="2083232" cy="1232408"/>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Toda cifra se comprueba a mano o en Excel. Revisen sobre todo que los porcentajes sumen y que los totales cuadren con sus partes.</a:t>
            </a:r>
            <a:endParaRPr lang="en-US" sz="1300" dirty="0"/>
          </a:p>
        </p:txBody>
      </p:sp>
      <p:sp>
        <p:nvSpPr>
          <p:cNvPr id="14" name="Shape 12"/>
          <p:cNvSpPr/>
          <p:nvPr/>
        </p:nvSpPr>
        <p:spPr>
          <a:xfrm>
            <a:off x="6233008" y="2011680"/>
            <a:ext cx="2558720" cy="2732024"/>
          </a:xfrm>
          <a:prstGeom prst="roundRect">
            <a:avLst>
              <a:gd name="adj" fmla="val 2859"/>
            </a:avLst>
          </a:prstGeom>
          <a:solidFill>
            <a:srgbClr val="D7E7E7"/>
          </a:solidFill>
          <a:ln w="12700">
            <a:solidFill>
              <a:srgbClr val="D7E7E7"/>
            </a:solidFill>
            <a:prstDash val="solid"/>
          </a:ln>
        </p:spPr>
      </p:sp>
      <p:sp>
        <p:nvSpPr>
          <p:cNvPr id="15" name="Shape 13"/>
          <p:cNvSpPr/>
          <p:nvPr/>
        </p:nvSpPr>
        <p:spPr>
          <a:xfrm>
            <a:off x="6470752" y="2231136"/>
            <a:ext cx="420624" cy="420624"/>
          </a:xfrm>
          <a:prstGeom prst="ellipse">
            <a:avLst/>
          </a:prstGeom>
          <a:solidFill>
            <a:srgbClr val="2E7D7D"/>
          </a:solidFill>
          <a:ln w="12700">
            <a:solidFill>
              <a:srgbClr val="2E7D7D"/>
            </a:solidFill>
            <a:prstDash val="solid"/>
          </a:ln>
        </p:spPr>
      </p:sp>
      <p:sp>
        <p:nvSpPr>
          <p:cNvPr id="16" name="Text 14"/>
          <p:cNvSpPr txBox="1"/>
          <p:nvPr/>
        </p:nvSpPr>
        <p:spPr>
          <a:xfrm>
            <a:off x="647075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6470752" y="2798064"/>
            <a:ext cx="2083232"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Contrapreguntar</a:t>
            </a:r>
            <a:endParaRPr lang="en-US" sz="1600" dirty="0"/>
          </a:p>
        </p:txBody>
      </p:sp>
      <p:sp>
        <p:nvSpPr>
          <p:cNvPr id="18" name="Text 16"/>
          <p:cNvSpPr txBox="1"/>
          <p:nvPr/>
        </p:nvSpPr>
        <p:spPr>
          <a:xfrm>
            <a:off x="6470752" y="3273552"/>
            <a:ext cx="2083232" cy="1232408"/>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Regrésele la pregunta al modelo pidiéndole que señale qué parte del documento sostiene cada afirmación.</a:t>
            </a:r>
            <a:endParaRPr lang="en-US" sz="1300" dirty="0"/>
          </a:p>
        </p:txBody>
      </p:sp>
      <p:sp>
        <p:nvSpPr>
          <p:cNvPr id="19" name="Shape 17"/>
          <p:cNvSpPr/>
          <p:nvPr/>
        </p:nvSpPr>
        <p:spPr>
          <a:xfrm>
            <a:off x="9066047" y="2011680"/>
            <a:ext cx="2558720" cy="2732024"/>
          </a:xfrm>
          <a:prstGeom prst="roundRect">
            <a:avLst>
              <a:gd name="adj" fmla="val 2859"/>
            </a:avLst>
          </a:prstGeom>
          <a:solidFill>
            <a:srgbClr val="D7E7E7"/>
          </a:solidFill>
          <a:ln w="12700">
            <a:solidFill>
              <a:srgbClr val="D7E7E7"/>
            </a:solidFill>
            <a:prstDash val="solid"/>
          </a:ln>
        </p:spPr>
      </p:sp>
      <p:sp>
        <p:nvSpPr>
          <p:cNvPr id="20" name="Shape 18"/>
          <p:cNvSpPr/>
          <p:nvPr/>
        </p:nvSpPr>
        <p:spPr>
          <a:xfrm>
            <a:off x="9303791" y="2231136"/>
            <a:ext cx="420624" cy="420624"/>
          </a:xfrm>
          <a:prstGeom prst="ellipse">
            <a:avLst/>
          </a:prstGeom>
          <a:solidFill>
            <a:srgbClr val="2E7D7D"/>
          </a:solidFill>
          <a:ln w="12700">
            <a:solidFill>
              <a:srgbClr val="2E7D7D"/>
            </a:solidFill>
            <a:prstDash val="solid"/>
          </a:ln>
        </p:spPr>
      </p:sp>
      <p:sp>
        <p:nvSpPr>
          <p:cNvPr id="21" name="Text 19"/>
          <p:cNvSpPr txBox="1"/>
          <p:nvPr/>
        </p:nvSpPr>
        <p:spPr>
          <a:xfrm>
            <a:off x="9303791"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9303791" y="2798064"/>
            <a:ext cx="2083232"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Triangular</a:t>
            </a:r>
            <a:endParaRPr lang="en-US" sz="1600" dirty="0"/>
          </a:p>
        </p:txBody>
      </p:sp>
      <p:sp>
        <p:nvSpPr>
          <p:cNvPr id="23" name="Text 21"/>
          <p:cNvSpPr txBox="1"/>
          <p:nvPr/>
        </p:nvSpPr>
        <p:spPr>
          <a:xfrm>
            <a:off x="9303791" y="3273552"/>
            <a:ext cx="2083232" cy="1232408"/>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Haga la misma pregunta en dos herramientas más. Tenemos ChatGPT, Claude y Gemini. Cuando las tres coinciden la confianza sube. Cuando discrepan, esa discrepancia es la señal de ir a la fuente.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paso 3 en detalle: la contrapregunta</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 el paso que más rinde y el que menos gente usa.</a:t>
            </a:r>
            <a:endParaRPr lang="en-US" sz="1500" dirty="0"/>
          </a:p>
        </p:txBody>
      </p:sp>
      <p:sp>
        <p:nvSpPr>
          <p:cNvPr id="4" name="Shape 2"/>
          <p:cNvSpPr/>
          <p:nvPr/>
        </p:nvSpPr>
        <p:spPr>
          <a:xfrm>
            <a:off x="566928" y="1810512"/>
            <a:ext cx="11057839" cy="1828800"/>
          </a:xfrm>
          <a:prstGeom prst="roundRect">
            <a:avLst>
              <a:gd name="adj" fmla="val 4000"/>
            </a:avLst>
          </a:prstGeom>
          <a:solidFill>
            <a:srgbClr val="16262E"/>
          </a:solidFill>
          <a:ln w="12700">
            <a:solidFill>
              <a:srgbClr val="16262E"/>
            </a:solidFill>
            <a:prstDash val="solid"/>
          </a:ln>
        </p:spPr>
      </p:sp>
      <p:sp>
        <p:nvSpPr>
          <p:cNvPr id="5" name="Text 3"/>
          <p:cNvSpPr txBox="1"/>
          <p:nvPr/>
        </p:nvSpPr>
        <p:spPr>
          <a:xfrm>
            <a:off x="886968" y="2066544"/>
            <a:ext cx="10417759" cy="1316736"/>
          </a:xfrm>
          <a:prstGeom prst="rect">
            <a:avLst/>
          </a:prstGeom>
          <a:noFill/>
          <a:ln/>
        </p:spPr>
        <p:txBody>
          <a:bodyPr wrap="square" lIns="0" tIns="0" rIns="0" bIns="0" rtlCol="0" anchor="t"/>
          <a:lstStyle/>
          <a:p>
            <a:pPr indent="0" marL="0">
              <a:lnSpc>
                <a:spcPct val="120000"/>
              </a:lnSpc>
              <a:buNone/>
            </a:pPr>
            <a:r>
              <a:rPr lang="en-US" sz="1300" dirty="0">
                <a:solidFill>
                  <a:srgbClr val="FFFFFF"/>
                </a:solidFill>
                <a:latin typeface="Courier New" pitchFamily="34" charset="0"/>
                <a:ea typeface="Courier New" pitchFamily="34" charset="-122"/>
                <a:cs typeface="Courier New" pitchFamily="34" charset="-120"/>
              </a:rPr>
              <a:t>Para cada una de las afirmaciones que acabas de hacer, indica la sección exacta del</a:t>
            </a:r>
            <a:endParaRPr lang="en-US" sz="1300" dirty="0"/>
          </a:p>
          <a:p>
            <a:pPr indent="0" marL="0">
              <a:lnSpc>
                <a:spcPct val="120000"/>
              </a:lnSpc>
              <a:buNone/>
            </a:pPr>
            <a:r>
              <a:rPr lang="en-US" sz="1300" dirty="0">
                <a:solidFill>
                  <a:srgbClr val="FFFFFF"/>
                </a:solidFill>
                <a:latin typeface="Courier New" pitchFamily="34" charset="0"/>
                <a:ea typeface="Courier New" pitchFamily="34" charset="-122"/>
                <a:cs typeface="Courier New" pitchFamily="34" charset="-120"/>
              </a:rPr>
              <a:t>documento que la sostiene y transcribe la frase textual correspondiente.</a:t>
            </a:r>
            <a:endParaRPr lang="en-US" sz="1300" dirty="0"/>
          </a:p>
          <a:p>
            <a:pPr indent="0" marL="0">
              <a:lnSpc>
                <a:spcPct val="120000"/>
              </a:lnSpc>
              <a:buNone/>
            </a:pPr>
            <a:endParaRPr lang="en-US" sz="1300" dirty="0"/>
          </a:p>
          <a:p>
            <a:pPr indent="0" marL="0">
              <a:lnSpc>
                <a:spcPct val="120000"/>
              </a:lnSpc>
              <a:buNone/>
            </a:pPr>
            <a:r>
              <a:rPr lang="en-US" sz="1300" dirty="0">
                <a:solidFill>
                  <a:srgbClr val="FFFFFF"/>
                </a:solidFill>
                <a:latin typeface="Courier New" pitchFamily="34" charset="0"/>
                <a:ea typeface="Courier New" pitchFamily="34" charset="-122"/>
                <a:cs typeface="Courier New" pitchFamily="34" charset="-120"/>
              </a:rPr>
              <a:t>Si alguna afirmación no se apoya en una frase concreta del documento, dilo</a:t>
            </a:r>
            <a:endParaRPr lang="en-US" sz="1300" dirty="0"/>
          </a:p>
          <a:p>
            <a:pPr indent="0" marL="0">
              <a:lnSpc>
                <a:spcPct val="120000"/>
              </a:lnSpc>
              <a:buNone/>
            </a:pPr>
            <a:r>
              <a:rPr lang="en-US" sz="1300" dirty="0">
                <a:solidFill>
                  <a:srgbClr val="FFFFFF"/>
                </a:solidFill>
                <a:latin typeface="Courier New" pitchFamily="34" charset="0"/>
                <a:ea typeface="Courier New" pitchFamily="34" charset="-122"/>
                <a:cs typeface="Courier New" pitchFamily="34" charset="-120"/>
              </a:rPr>
              <a:t>explícitamente en lugar de buscar una aproximada.</a:t>
            </a:r>
            <a:endParaRPr lang="en-US" sz="1300" dirty="0"/>
          </a:p>
        </p:txBody>
      </p:sp>
      <p:sp>
        <p:nvSpPr>
          <p:cNvPr id="6" name="Shape 4"/>
          <p:cNvSpPr/>
          <p:nvPr/>
        </p:nvSpPr>
        <p:spPr>
          <a:xfrm>
            <a:off x="566928" y="3840480"/>
            <a:ext cx="11057839" cy="749808"/>
          </a:xfrm>
          <a:prstGeom prst="roundRect">
            <a:avLst>
              <a:gd name="adj" fmla="val 9756"/>
            </a:avLst>
          </a:prstGeom>
          <a:solidFill>
            <a:srgbClr val="F7E4D8"/>
          </a:solidFill>
          <a:ln w="12700">
            <a:solidFill>
              <a:srgbClr val="F7E4D8"/>
            </a:solidFill>
            <a:prstDash val="solid"/>
          </a:ln>
        </p:spPr>
      </p:sp>
      <p:sp>
        <p:nvSpPr>
          <p:cNvPr id="7" name="Text 5"/>
          <p:cNvSpPr txBox="1"/>
          <p:nvPr/>
        </p:nvSpPr>
        <p:spPr>
          <a:xfrm>
            <a:off x="841248" y="3840480"/>
            <a:ext cx="10509199" cy="749808"/>
          </a:xfrm>
          <a:prstGeom prst="rect">
            <a:avLst/>
          </a:prstGeom>
          <a:noFill/>
          <a:ln/>
        </p:spPr>
        <p:txBody>
          <a:bodyPr wrap="square" lIns="0" tIns="0" rIns="0" bIns="0" rtlCol="0" anchor="ctr"/>
          <a:lstStyle/>
          <a:p>
            <a:pPr indent="0" marL="0">
              <a:buNone/>
            </a:pPr>
            <a:r>
              <a:rPr lang="en-US" sz="1400" b="1" dirty="0">
                <a:solidFill>
                  <a:srgbClr val="16262E"/>
                </a:solidFill>
                <a:latin typeface="Calibri" pitchFamily="34" charset="0"/>
                <a:ea typeface="Calibri" pitchFamily="34" charset="-122"/>
                <a:cs typeface="Calibri" pitchFamily="34" charset="-120"/>
              </a:rPr>
              <a:t>Cuando el modelo no puede señalar la frase, casi siempre es porque la inventó.</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3</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LABORATORIO PRÁCTICO 1</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Dictamen de validación</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10:05 a 11:10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AHORA USTEDES</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65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Encuentren lo que está mal en este informe</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Reciben un informe de evaluación de un programa de desarrollo social, de ocho páginas, generado con IA. Tiene errores plantados a propósito.</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Apliquen el protocolo de cuatro pasos. Los cuatro, en orden, y dejando registro de cada uno.</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Produzcan un dictamen de validación. Por cada hallazgo: ubicación exacta, tipo de error, la evidencia que sostiene que es un error, y la corrección propuesta.</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Elijan el hallazgo que van a presentar en la puesta en común. No el más fácil: el más interesante.</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Archivos: Informe_sintetico_LAB1.docx y Formatos_de_trabajo_curso_IA.docx, Formato 3.</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C85A28"/>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ANTES DE QUE EMPIECEN, UNA ADVERTENCIA</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Si le piden a Copilot que encuentre los errores, va a encontrar algunos, va a inventar otros, y va a pasar por alto casi todos los de omisión.</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Eso está bien y es parte del ejercicio. Cada error que la herramienta reporte tiene que ser verificado por una persona del equipo antes de entrar al dictamen. Un hallazgo inventado por la herramienta se penaliza en el criterio de calidad de la evidencia. Anotar los que descartaron cuenta a favor.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Rúbrica del Laboratorio Práctico 1</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Se aplica en vivo durante la puesta en común, con ustedes viéndola.</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901952"/>
          <a:ext cx="11057839" cy="914400"/>
        </p:xfrm>
        <a:graphic>
          <a:graphicData uri="http://schemas.openxmlformats.org/drawingml/2006/table">
            <a:tbl>
              <a:tblPr/>
              <a:tblGrid>
                <a:gridCol w="2834640"/>
                <a:gridCol w="914400"/>
                <a:gridCol w="7315200"/>
              </a:tblGrid>
              <a:tr h="621792">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Criterio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Peso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Qué se evalúa</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r>
              <a:tr h="621792">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Detección de errores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ctr" indent="0" marL="0">
                        <a:buNone/>
                      </a:pPr>
                      <a:r>
                        <a:rPr lang="en-US" sz="1250" dirty="0">
                          <a:solidFill>
                            <a:srgbClr val="16262E"/>
                          </a:solidFill>
                          <a:latin typeface="Calibri" pitchFamily="34" charset="0"/>
                          <a:ea typeface="Calibri" pitchFamily="34" charset="-122"/>
                          <a:cs typeface="Calibri" pitchFamily="34" charset="-120"/>
                        </a:rPr>
                        <a:t>35%</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Cuántos de los errores plantados encontró el equipo y si los clasificó bien.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621792">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Aplicación del protocolo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E"/>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Si se aplicaron los cuatro pasos y si quedó registro de cada uno en la bitácora.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621792">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Calidad de la evidencia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ctr" indent="0" marL="0">
                        <a:buNone/>
                      </a:pPr>
                      <a:r>
                        <a:rPr lang="en-US" sz="1250" dirty="0">
                          <a:solidFill>
                            <a:srgbClr val="16262E"/>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Si cada hallazgo está sostenido con una referencia concreta que otra persona pueda repetir.</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621792">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Corrección propuesta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E"/>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Si la corrección es viable y está redactada con claridad.</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Puesta en común: tres preguntas para cerrar</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Después de que cada equipo presente su hallazgo y de que revelemos la lista completa.</a:t>
            </a:r>
            <a:endParaRPr lang="en-US" sz="1500" dirty="0"/>
          </a:p>
        </p:txBody>
      </p:sp>
      <p:sp>
        <p:nvSpPr>
          <p:cNvPr id="4" name="Shape 2"/>
          <p:cNvSpPr/>
          <p:nvPr/>
        </p:nvSpPr>
        <p:spPr>
          <a:xfrm>
            <a:off x="566928" y="2011680"/>
            <a:ext cx="3503066" cy="2114296"/>
          </a:xfrm>
          <a:prstGeom prst="roundRect">
            <a:avLst>
              <a:gd name="adj" fmla="val 3460"/>
            </a:avLst>
          </a:prstGeom>
          <a:solidFill>
            <a:srgbClr val="F2F5F6"/>
          </a:solidFill>
          <a:ln w="12700">
            <a:solidFill>
              <a:srgbClr val="F2F5F6"/>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¿Cuál error habría causado más daño?</a:t>
            </a:r>
            <a:endParaRPr lang="en-US" sz="1600" dirty="0"/>
          </a:p>
        </p:txBody>
      </p:sp>
      <p:sp>
        <p:nvSpPr>
          <p:cNvPr id="8" name="Text 6"/>
          <p:cNvSpPr txBox="1"/>
          <p:nvPr/>
        </p:nvSpPr>
        <p:spPr>
          <a:xfrm>
            <a:off x="804672" y="3273552"/>
            <a:ext cx="3027578" cy="61468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el informe se hubiera publicado tal cual. Piénsenlo en términos de qué decisión se habría tomado mal.</a:t>
            </a:r>
            <a:endParaRPr lang="en-US" sz="1300" dirty="0"/>
          </a:p>
        </p:txBody>
      </p:sp>
      <p:sp>
        <p:nvSpPr>
          <p:cNvPr id="9" name="Shape 7"/>
          <p:cNvSpPr/>
          <p:nvPr/>
        </p:nvSpPr>
        <p:spPr>
          <a:xfrm>
            <a:off x="4344314" y="2011680"/>
            <a:ext cx="3503066" cy="2114296"/>
          </a:xfrm>
          <a:prstGeom prst="roundRect">
            <a:avLst>
              <a:gd name="adj" fmla="val 3460"/>
            </a:avLst>
          </a:prstGeom>
          <a:solidFill>
            <a:srgbClr val="F2F5F6"/>
          </a:solidFill>
          <a:ln w="12700">
            <a:solidFill>
              <a:srgbClr val="F2F5F6"/>
            </a:solidFill>
            <a:prstDash val="solid"/>
          </a:ln>
        </p:spPr>
      </p:sp>
      <p:sp>
        <p:nvSpPr>
          <p:cNvPr id="10" name="Shape 8"/>
          <p:cNvSpPr/>
          <p:nvPr/>
        </p:nvSpPr>
        <p:spPr>
          <a:xfrm>
            <a:off x="4582058"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79806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¿Cuántos equipos revisaron la bibliografía?</a:t>
            </a:r>
            <a:endParaRPr lang="en-US" sz="1600" dirty="0"/>
          </a:p>
        </p:txBody>
      </p:sp>
      <p:sp>
        <p:nvSpPr>
          <p:cNvPr id="13" name="Text 11"/>
          <p:cNvSpPr txBox="1"/>
          <p:nvPr/>
        </p:nvSpPr>
        <p:spPr>
          <a:xfrm>
            <a:off x="4582058" y="3273552"/>
            <a:ext cx="3027578" cy="61468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Normalmente son muy pocos. Ese solo hallazgo justifica la sesión completa.</a:t>
            </a:r>
            <a:endParaRPr lang="en-US" sz="1300" dirty="0"/>
          </a:p>
        </p:txBody>
      </p:sp>
      <p:sp>
        <p:nvSpPr>
          <p:cNvPr id="14" name="Shape 12"/>
          <p:cNvSpPr/>
          <p:nvPr/>
        </p:nvSpPr>
        <p:spPr>
          <a:xfrm>
            <a:off x="8121701" y="2011680"/>
            <a:ext cx="3503066" cy="2114296"/>
          </a:xfrm>
          <a:prstGeom prst="roundRect">
            <a:avLst>
              <a:gd name="adj" fmla="val 3460"/>
            </a:avLst>
          </a:prstGeom>
          <a:solidFill>
            <a:srgbClr val="F7E4D8"/>
          </a:solidFill>
          <a:ln w="12700">
            <a:solidFill>
              <a:srgbClr val="F7E4D8"/>
            </a:solidFill>
            <a:prstDash val="solid"/>
          </a:ln>
        </p:spPr>
      </p:sp>
      <p:sp>
        <p:nvSpPr>
          <p:cNvPr id="15" name="Shape 13"/>
          <p:cNvSpPr/>
          <p:nvPr/>
        </p:nvSpPr>
        <p:spPr>
          <a:xfrm>
            <a:off x="8359445" y="2231136"/>
            <a:ext cx="420624" cy="420624"/>
          </a:xfrm>
          <a:prstGeom prst="ellipse">
            <a:avLst/>
          </a:prstGeom>
          <a:solidFill>
            <a:srgbClr val="C85A28"/>
          </a:solidFill>
          <a:ln w="12700">
            <a:solidFill>
              <a:srgbClr val="C85A28"/>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79806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¿Cuál de los cuatro pasos rindió más?</a:t>
            </a:r>
            <a:endParaRPr lang="en-US" sz="1600" dirty="0"/>
          </a:p>
        </p:txBody>
      </p:sp>
      <p:sp>
        <p:nvSpPr>
          <p:cNvPr id="18" name="Text 16"/>
          <p:cNvSpPr txBox="1"/>
          <p:nvPr/>
        </p:nvSpPr>
        <p:spPr>
          <a:xfrm>
            <a:off x="8359445" y="3273552"/>
            <a:ext cx="3027578" cy="61468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 ahí sale la regla práctica que cada quien se lleva a su trabajo.</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Entregables de la sesión 3</a:t>
            </a:r>
            <a:endParaRPr lang="en-US" sz="3000" dirty="0"/>
          </a:p>
        </p:txBody>
      </p:sp>
      <p:sp>
        <p:nvSpPr>
          <p:cNvPr id="5" name="Shape 3"/>
          <p:cNvSpPr/>
          <p:nvPr/>
        </p:nvSpPr>
        <p:spPr>
          <a:xfrm>
            <a:off x="566928" y="2011680"/>
            <a:ext cx="11057839" cy="85725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2239137"/>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239137"/>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El dictamen de validación del equipo, con todos los hallazgos verificados.</a:t>
            </a:r>
            <a:endParaRPr lang="en-US" sz="1450" dirty="0"/>
          </a:p>
        </p:txBody>
      </p:sp>
      <p:sp>
        <p:nvSpPr>
          <p:cNvPr id="9" name="Shape 7"/>
          <p:cNvSpPr/>
          <p:nvPr/>
        </p:nvSpPr>
        <p:spPr>
          <a:xfrm>
            <a:off x="566928" y="3051810"/>
            <a:ext cx="11057839" cy="857250"/>
          </a:xfrm>
          <a:prstGeom prst="roundRect">
            <a:avLst>
              <a:gd name="adj" fmla="val 7467"/>
            </a:avLst>
          </a:prstGeom>
          <a:solidFill>
            <a:srgbClr val="24404E"/>
          </a:solidFill>
          <a:ln w="12700">
            <a:solidFill>
              <a:srgbClr val="24404E"/>
            </a:solidFill>
            <a:prstDash val="solid"/>
          </a:ln>
        </p:spPr>
      </p:sp>
      <p:sp>
        <p:nvSpPr>
          <p:cNvPr id="10" name="Shape 8"/>
          <p:cNvSpPr/>
          <p:nvPr/>
        </p:nvSpPr>
        <p:spPr>
          <a:xfrm>
            <a:off x="804672" y="3279267"/>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3279267"/>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312496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lista de hallazgos que la herramienta reportó y que ustedes descartaron, con la razón.</a:t>
            </a:r>
            <a:endParaRPr lang="en-US" sz="1450" dirty="0"/>
          </a:p>
        </p:txBody>
      </p:sp>
      <p:sp>
        <p:nvSpPr>
          <p:cNvPr id="13" name="Shape 11"/>
          <p:cNvSpPr/>
          <p:nvPr/>
        </p:nvSpPr>
        <p:spPr>
          <a:xfrm>
            <a:off x="566928" y="4091940"/>
            <a:ext cx="11057839" cy="857250"/>
          </a:xfrm>
          <a:prstGeom prst="roundRect">
            <a:avLst>
              <a:gd name="adj" fmla="val 7467"/>
            </a:avLst>
          </a:prstGeom>
          <a:solidFill>
            <a:srgbClr val="24404E"/>
          </a:solidFill>
          <a:ln w="12700">
            <a:solidFill>
              <a:srgbClr val="24404E"/>
            </a:solidFill>
            <a:prstDash val="solid"/>
          </a:ln>
        </p:spPr>
      </p:sp>
      <p:sp>
        <p:nvSpPr>
          <p:cNvPr id="14" name="Shape 12"/>
          <p:cNvSpPr/>
          <p:nvPr/>
        </p:nvSpPr>
        <p:spPr>
          <a:xfrm>
            <a:off x="804672" y="4319397"/>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4319397"/>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416509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bitácora individual actualizada con los prompts de verificación que usaron.</a:t>
            </a:r>
            <a:endParaRPr lang="en-US" sz="1450" dirty="0"/>
          </a:p>
        </p:txBody>
      </p:sp>
      <p:sp>
        <p:nvSpPr>
          <p:cNvPr id="17" name="Shape 15"/>
          <p:cNvSpPr/>
          <p:nvPr/>
        </p:nvSpPr>
        <p:spPr>
          <a:xfrm>
            <a:off x="566928" y="5132070"/>
            <a:ext cx="11057839" cy="857250"/>
          </a:xfrm>
          <a:prstGeom prst="roundRect">
            <a:avLst>
              <a:gd name="adj" fmla="val 7467"/>
            </a:avLst>
          </a:prstGeom>
          <a:solidFill>
            <a:srgbClr val="24404E"/>
          </a:solidFill>
          <a:ln w="12700">
            <a:solidFill>
              <a:srgbClr val="24404E"/>
            </a:solidFill>
            <a:prstDash val="solid"/>
          </a:ln>
        </p:spPr>
      </p:sp>
      <p:sp>
        <p:nvSpPr>
          <p:cNvPr id="18" name="Shape 16"/>
          <p:cNvSpPr/>
          <p:nvPr/>
        </p:nvSpPr>
        <p:spPr>
          <a:xfrm>
            <a:off x="804672" y="5359527"/>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5359527"/>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520522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Con esto cierra el Módulo I. Mañana empieza el trabajo cualitativo.</a:t>
            </a:r>
            <a:endParaRPr lang="en-US" sz="1450" dirty="0"/>
          </a:p>
        </p:txBody>
      </p:sp>
      <p:sp>
        <p:nvSpPr>
          <p:cNvPr id="21"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Sesión 4, viernes 18 de septiembre: procesamiento de lenguaje natural para la gestión documental.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2026-09-12T04:43:10Z</dcterms:created>
  <dcterms:modified xsi:type="dcterms:W3CDTF">2026-09-12T04:43:10Z</dcterms:modified>
</cp:coreProperties>
</file>