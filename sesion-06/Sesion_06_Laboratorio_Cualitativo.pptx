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45"/>
    <p:sldId id="260" r:id="rId46"/>
    <p:sldId id="261" r:id="rId47"/>
    <p:sldId id="262" r:id="rId53"/>
    <p:sldId id="263" r:id="rId48"/>
    <p:sldId id="264" r:id="rId49"/>
    <p:sldId id="265" r:id="rId50"/>
    <p:sldId id="266" r:id="rId54"/>
    <p:sldId id="267" r:id="rId6"/>
    <p:sldId id="268" r:id="rId7"/>
    <p:sldId id="269" r:id="rId8"/>
    <p:sldId id="270" r:id="rId11"/>
    <p:sldId id="271" r:id="rId12"/>
    <p:sldId id="272" r:id="rId13"/>
    <p:sldId id="273" r:id="rId14"/>
    <p:sldId id="274"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49" Type="http://schemas.openxmlformats.org/officeDocument/2006/relationships/slide" Target="slides/slide19.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dos. El encargo son seis minutos, de 10:10 a 10:16; dos minutos para abrir salas; la práctica de 10:18 a 11:06; dos minutos de regreso y cuatro de reporte en pizarra.</a:t>
            </a:r>
          </a:p>
          <a:p>
            <a:r>
              <a:rPr lang="en-US" dirty="0"/>
              <a:t>Los cortes están en la lámina como hora absoluta, no como duración, para que cada sala se autorregule.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artículo correcto. Aun así no sostiene la afirmación, porque un monto no es una medida de suficiencia. Es la confusión más común en evaluación de programas de transferencia.</a:t>
            </a:r>
          </a:p>
          <a:p>
            <a:r>
              <a:rPr lang="en-US" dirty="0"/>
              <a:t>Las dos citas salen del marco normativo común, a propósito: así ningún equipo recibe una pista sobre su propio expediente.</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Una advertencia que vale para todo el laboratorio: la cita se copia completa. Cortar una oración a la mitad y cerrarla con punto ya cambia lo que dice. Si hay que recortar, se marca con puntos suspensivos.</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No repita la distinción de la sesión 4: dé el dato que la vuelve incómoda.</a:t>
            </a:r>
          </a:p>
          <a:p>
            <a:r>
              <a:rPr lang="en-US" dirty="0"/>
              <a:t>Al anotar a mano 1,600 resúmenes extractivos, el 30.3 por ciento traía al menos un problema de correferencia, de discurso o de información engañosa. Copiar la oración y sacarla de contexto ya basta para afirmar lo que el documento no sostiene.</a:t>
            </a:r>
          </a:p>
          <a:p>
            <a:r>
              <a:rPr lang="en-US" dirty="0"/>
              <a:t>La conclusión nueva respecto de la sesión 4: la afirmación no sostenida no nace al redactar, nace al recortar. Por eso la columna de cita textual no los salva sola.</a:t>
            </a:r>
          </a:p>
          <a:p>
            <a:r>
              <a:rPr lang="en-US" dirty="0"/>
              <a:t>Aterrice aquí la regla dura, que ya no tiene lámina propia y vive dentro del encargo.</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Doce minutos. Es la lámina con la que este grupo se va a enganchar. Recorra las columnas de izquierda a derecha y deje la fórmula para el final.</a:t>
            </a:r>
          </a:p>
          <a:p>
            <a:r>
              <a:rPr lang="en-US" dirty="0"/>
              <a:t>Los números de la primera columna son de su propio corpus de foros: la clave y una reclasificación independiente coincidieron en 36 de 38 en causa raíz.</a:t>
            </a:r>
          </a:p>
          <a:p>
            <a:r>
              <a:rPr lang="en-US" dirty="0"/>
              <a:t>Diga el supuesto en voz alta, porque alguien lo va a pedir: se supone que los dos codificadores reparten las categorías en las mismas proporciones. Si lo señalan, reconózcalo, eso es pi de Scott y no kappa de Cohen en sentido estricto. El matiz que lo salva: recorriendo todas las configuraciones posibles de marginales del segundo codificador, kappa se mueve entre 0.927 y 0.929. Aquí el supuesto es inofensivo; en las otras dos columnas las marginales son justamente lo que decide todo.</a:t>
            </a:r>
          </a:p>
          <a:p>
            <a:r>
              <a:rPr lang="en-US" dirty="0"/>
              <a:t>La tercera columna es el remate. Dos personas que nunca abren el archivo y siempre escriben la categoría más común llegan al 97.4 por ciento con kappa exactamente cero, porque no hubo ninguna decisión que medir.</a:t>
            </a:r>
          </a:p>
          <a:p>
            <a:r>
              <a:rPr lang="en-US" dirty="0"/>
              <a:t>Si alguien pregunta por qué 38 y no 41: son 41 intervenciones y 3 son del moderador, que quedan fuera del conjunto clasificable. Excluirlas cambia las marginales y por lo tanto el acuerdo esperado. Es justo el tipo de decisión que se declara antes de medir.</a:t>
            </a:r>
          </a:p>
          <a:p>
            <a:r>
              <a:rPr lang="en-US" dirty="0"/>
              <a:t>La fórmula del recuadro es la que van a usar en el paso 4, con enteros. Demuestre de dónde sale: kappa es acuerdo observado menos esperado, entre uno menos el esperado; con seis filas, multiplicar arriba y abajo por 36 deja todo en enteros.</a:t>
            </a:r>
          </a:p>
          <a:p>
            <a:r>
              <a:rPr lang="en-US" dirty="0"/>
              <a:t>Las escalas de interpretación se fueron al handout a propósito. Si alguien pregunta de dónde sale que 0.61 es sustancial, la respuesta es Landis y Koch 1977, que los propios autores llamaron arbitrarios, y que además circulan en dos versiones que difieren en los extremos. En clase basta una frase: el umbral se fija antes de ver el resultado.</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11:30</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lo que el Módulo II ya sabe hacer</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9:08</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Cómo se prueba un hallazgo: las tres fallas</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9:25</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Cómo se miden: extracción y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9:40</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generalización y acuerdo</a:t>
            </a:r>
            <a:endParaRPr lang="en-US" sz="1350" dirty="0"/>
          </a:p>
        </p:txBody>
      </p:sp>
      <p:sp>
        <p:nvSpPr>
          <p:cNvPr id="17" name="Shape"/>
          <p:cNvSpPr/>
          <p:nvPr/>
        </p:nvSpPr>
        <p:spPr>
          <a:xfrm>
            <a:off x="6260440" y="1408176"/>
            <a:ext cx="5364328" cy="1081278"/>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10:00</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0" name="Shape"/>
          <p:cNvSpPr/>
          <p:nvPr/>
        </p:nvSpPr>
        <p:spPr>
          <a:xfrm>
            <a:off x="6260440" y="2635758"/>
            <a:ext cx="5364328" cy="1081278"/>
          </a:xfrm>
          <a:prstGeom prst="roundRect">
            <a:avLst>
              <a:gd name="adj" fmla="val 2933"/>
            </a:avLst>
          </a:prstGeom>
          <a:solidFill>
            <a:srgbClr val="F2F5F6"/>
          </a:solidFill>
          <a:ln w="12700">
            <a:solidFill>
              <a:srgbClr val="F2F5F6"/>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10:10</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11:12</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del bloque y enlace con el Módulo III</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Entregables y tema definitivo del proyecto</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Una sola práctica. La primera hora es para saber qué se mide y cómo, porque de eso depende que su matriz resista cuando otro equipo la revise. El reloj de cada paso está en su lámina.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10:10 a 11:12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10:28</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cita textual copiada, documento y sección, herramienta usada, quién verificó y nivel de confianza.</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10:48</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10:59</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11:04</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11:06</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118 registros,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9:08 a 10:00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del marco normativo de su expediente lista exactamente cinco requisitos documentales, y agrega que no puede exigirse documentación adicional.</a:t>
            </a:r>
            <a:endParaRPr lang="en-US" sz="1500" dirty="0"/>
          </a:p>
        </p:txBody>
      </p:sp>
      <p:sp>
        <p:nvSpPr>
          <p:cNvPr id="4" name="Text"/>
          <p:cNvSpPr txBox="1"/>
          <p:nvPr/>
        </p:nvSpPr>
        <p:spPr>
          <a:xfrm>
            <a:off x="566928" y="188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5" name="Shape"/>
          <p:cNvSpPr/>
          <p:nvPr/>
        </p:nvSpPr>
        <p:spPr>
          <a:xfrm>
            <a:off x="566928" y="2180000"/>
            <a:ext cx="1480000" cy="620000"/>
          </a:xfrm>
          <a:prstGeom prst="roundRect">
            <a:avLst>
              <a:gd name="adj" fmla="val 12000"/>
            </a:avLst>
          </a:prstGeom>
          <a:solidFill>
            <a:srgbClr val="D7E7E7"/>
          </a:solidFill>
          <a:ln w="12700">
            <a:solidFill>
              <a:srgbClr val="D7E7E7"/>
            </a:solidFill>
            <a:prstDash val="solid"/>
          </a:ln>
        </p:spPr>
      </p:sp>
      <p:sp>
        <p:nvSpPr>
          <p:cNvPr id="6" name="Text"/>
          <p:cNvSpPr txBox="1"/>
          <p:nvPr/>
        </p:nvSpPr>
        <p:spPr>
          <a:xfrm>
            <a:off x="6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7" name="Shape"/>
          <p:cNvSpPr/>
          <p:nvPr/>
        </p:nvSpPr>
        <p:spPr>
          <a:xfrm>
            <a:off x="2166928" y="2180000"/>
            <a:ext cx="1480000" cy="620000"/>
          </a:xfrm>
          <a:prstGeom prst="roundRect">
            <a:avLst>
              <a:gd name="adj" fmla="val 12000"/>
            </a:avLst>
          </a:prstGeom>
          <a:solidFill>
            <a:srgbClr val="D7E7E7"/>
          </a:solidFill>
          <a:ln w="12700">
            <a:solidFill>
              <a:srgbClr val="D7E7E7"/>
            </a:solidFill>
            <a:prstDash val="solid"/>
          </a:ln>
        </p:spPr>
      </p:sp>
      <p:sp>
        <p:nvSpPr>
          <p:cNvPr id="8" name="Text"/>
          <p:cNvSpPr txBox="1"/>
          <p:nvPr/>
        </p:nvSpPr>
        <p:spPr>
          <a:xfrm>
            <a:off x="22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9" name="Shape"/>
          <p:cNvSpPr/>
          <p:nvPr/>
        </p:nvSpPr>
        <p:spPr>
          <a:xfrm>
            <a:off x="3766928" y="2180000"/>
            <a:ext cx="1480000" cy="620000"/>
          </a:xfrm>
          <a:prstGeom prst="roundRect">
            <a:avLst>
              <a:gd name="adj" fmla="val 12000"/>
            </a:avLst>
          </a:prstGeom>
          <a:solidFill>
            <a:srgbClr val="D7E7E7"/>
          </a:solidFill>
          <a:ln w="12700">
            <a:solidFill>
              <a:srgbClr val="D7E7E7"/>
            </a:solidFill>
            <a:prstDash val="solid"/>
          </a:ln>
        </p:spPr>
      </p:sp>
      <p:sp>
        <p:nvSpPr>
          <p:cNvPr id="10" name="Text"/>
          <p:cNvSpPr txBox="1"/>
          <p:nvPr/>
        </p:nvSpPr>
        <p:spPr>
          <a:xfrm>
            <a:off x="38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1" name="Shape"/>
          <p:cNvSpPr/>
          <p:nvPr/>
        </p:nvSpPr>
        <p:spPr>
          <a:xfrm>
            <a:off x="5366928" y="2180000"/>
            <a:ext cx="1480000" cy="620000"/>
          </a:xfrm>
          <a:prstGeom prst="roundRect">
            <a:avLst>
              <a:gd name="adj" fmla="val 12000"/>
            </a:avLst>
          </a:prstGeom>
          <a:solidFill>
            <a:srgbClr val="D7E7E7"/>
          </a:solidFill>
          <a:ln w="12700">
            <a:solidFill>
              <a:srgbClr val="D7E7E7"/>
            </a:solidFill>
            <a:prstDash val="solid"/>
          </a:ln>
        </p:spPr>
      </p:sp>
      <p:sp>
        <p:nvSpPr>
          <p:cNvPr id="12" name="Text"/>
          <p:cNvSpPr txBox="1"/>
          <p:nvPr/>
        </p:nvSpPr>
        <p:spPr>
          <a:xfrm>
            <a:off x="54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3" name="Shape"/>
          <p:cNvSpPr/>
          <p:nvPr/>
        </p:nvSpPr>
        <p:spPr>
          <a:xfrm>
            <a:off x="6966928" y="2180000"/>
            <a:ext cx="1480000" cy="620000"/>
          </a:xfrm>
          <a:prstGeom prst="roundRect">
            <a:avLst>
              <a:gd name="adj" fmla="val 12000"/>
            </a:avLst>
          </a:prstGeom>
          <a:solidFill>
            <a:srgbClr val="D7E7E7"/>
          </a:solidFill>
          <a:ln w="12700">
            <a:solidFill>
              <a:srgbClr val="D7E7E7"/>
            </a:solidFill>
            <a:prstDash val="solid"/>
          </a:ln>
        </p:spPr>
      </p:sp>
      <p:sp>
        <p:nvSpPr>
          <p:cNvPr id="14" name="Text"/>
          <p:cNvSpPr txBox="1"/>
          <p:nvPr/>
        </p:nvSpPr>
        <p:spPr>
          <a:xfrm>
            <a:off x="7036928" y="21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5" name="Shape"/>
          <p:cNvSpPr/>
          <p:nvPr/>
        </p:nvSpPr>
        <p:spPr>
          <a:xfrm>
            <a:off x="8566928" y="2180000"/>
            <a:ext cx="1480000" cy="620000"/>
          </a:xfrm>
          <a:prstGeom prst="roundRect">
            <a:avLst>
              <a:gd name="adj" fmla="val 12000"/>
            </a:avLst>
          </a:prstGeom>
          <a:solidFill>
            <a:srgbClr val="F7E4D8"/>
          </a:solidFill>
          <a:ln w="12700">
            <a:solidFill>
              <a:srgbClr val="F7E4D8"/>
            </a:solidFill>
            <a:prstDash val="solid"/>
          </a:ln>
        </p:spPr>
      </p:sp>
      <p:sp>
        <p:nvSpPr>
          <p:cNvPr id="16" name="Text"/>
          <p:cNvSpPr txBox="1"/>
          <p:nvPr/>
        </p:nvSpPr>
        <p:spPr>
          <a:xfrm>
            <a:off x="8636928" y="2180000"/>
            <a:ext cx="1340000" cy="62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17" name="Text"/>
          <p:cNvSpPr txBox="1"/>
          <p:nvPr/>
        </p:nvSpPr>
        <p:spPr>
          <a:xfrm>
            <a:off x="566928" y="287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18" name="Text"/>
          <p:cNvSpPr txBox="1"/>
          <p:nvPr/>
        </p:nvSpPr>
        <p:spPr>
          <a:xfrm>
            <a:off x="566928" y="328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19" name="Shape"/>
          <p:cNvSpPr/>
          <p:nvPr/>
        </p:nvSpPr>
        <p:spPr>
          <a:xfrm>
            <a:off x="566928" y="3580000"/>
            <a:ext cx="1480000" cy="620000"/>
          </a:xfrm>
          <a:prstGeom prst="roundRect">
            <a:avLst>
              <a:gd name="adj" fmla="val 12000"/>
            </a:avLst>
          </a:prstGeom>
          <a:solidFill>
            <a:srgbClr val="D7E7E7"/>
          </a:solidFill>
          <a:ln w="12700">
            <a:solidFill>
              <a:srgbClr val="D7E7E7"/>
            </a:solidFill>
            <a:prstDash val="solid"/>
          </a:ln>
        </p:spPr>
      </p:sp>
      <p:sp>
        <p:nvSpPr>
          <p:cNvPr id="20" name="Text"/>
          <p:cNvSpPr txBox="1"/>
          <p:nvPr/>
        </p:nvSpPr>
        <p:spPr>
          <a:xfrm>
            <a:off x="6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1" name="Shape"/>
          <p:cNvSpPr/>
          <p:nvPr/>
        </p:nvSpPr>
        <p:spPr>
          <a:xfrm>
            <a:off x="2166928" y="3580000"/>
            <a:ext cx="1480000" cy="620000"/>
          </a:xfrm>
          <a:prstGeom prst="roundRect">
            <a:avLst>
              <a:gd name="adj" fmla="val 12000"/>
            </a:avLst>
          </a:prstGeom>
          <a:solidFill>
            <a:srgbClr val="D7E7E7"/>
          </a:solidFill>
          <a:ln w="12700">
            <a:solidFill>
              <a:srgbClr val="D7E7E7"/>
            </a:solidFill>
            <a:prstDash val="solid"/>
          </a:ln>
        </p:spPr>
      </p:sp>
      <p:sp>
        <p:nvSpPr>
          <p:cNvPr id="22" name="Text"/>
          <p:cNvSpPr txBox="1"/>
          <p:nvPr/>
        </p:nvSpPr>
        <p:spPr>
          <a:xfrm>
            <a:off x="22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3" name="Shape"/>
          <p:cNvSpPr/>
          <p:nvPr/>
        </p:nvSpPr>
        <p:spPr>
          <a:xfrm>
            <a:off x="3766928" y="3580000"/>
            <a:ext cx="1480000" cy="620000"/>
          </a:xfrm>
          <a:prstGeom prst="roundRect">
            <a:avLst>
              <a:gd name="adj" fmla="val 12000"/>
            </a:avLst>
          </a:prstGeom>
          <a:solidFill>
            <a:srgbClr val="D7E7E7"/>
          </a:solidFill>
          <a:ln w="12700">
            <a:solidFill>
              <a:srgbClr val="D7E7E7"/>
            </a:solidFill>
            <a:prstDash val="solid"/>
          </a:ln>
        </p:spPr>
      </p:sp>
      <p:sp>
        <p:nvSpPr>
          <p:cNvPr id="24" name="Text"/>
          <p:cNvSpPr txBox="1"/>
          <p:nvPr/>
        </p:nvSpPr>
        <p:spPr>
          <a:xfrm>
            <a:off x="38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5" name="Shape"/>
          <p:cNvSpPr/>
          <p:nvPr/>
        </p:nvSpPr>
        <p:spPr>
          <a:xfrm>
            <a:off x="5366928" y="3580000"/>
            <a:ext cx="1480000" cy="620000"/>
          </a:xfrm>
          <a:prstGeom prst="roundRect">
            <a:avLst>
              <a:gd name="adj" fmla="val 12000"/>
            </a:avLst>
          </a:prstGeom>
          <a:solidFill>
            <a:srgbClr val="D7E7E7"/>
          </a:solidFill>
          <a:ln w="12700">
            <a:solidFill>
              <a:srgbClr val="D7E7E7"/>
            </a:solidFill>
            <a:prstDash val="solid"/>
          </a:ln>
        </p:spPr>
      </p:sp>
      <p:sp>
        <p:nvSpPr>
          <p:cNvPr id="26" name="Text"/>
          <p:cNvSpPr txBox="1"/>
          <p:nvPr/>
        </p:nvSpPr>
        <p:spPr>
          <a:xfrm>
            <a:off x="54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27" name="Shape"/>
          <p:cNvSpPr/>
          <p:nvPr/>
        </p:nvSpPr>
        <p:spPr>
          <a:xfrm>
            <a:off x="6966928" y="3580000"/>
            <a:ext cx="1480000" cy="620000"/>
          </a:xfrm>
          <a:prstGeom prst="roundRect">
            <a:avLst>
              <a:gd name="adj" fmla="val 12000"/>
            </a:avLst>
          </a:prstGeom>
          <a:solidFill>
            <a:srgbClr val="D7E7E7"/>
          </a:solidFill>
          <a:ln w="12700">
            <a:solidFill>
              <a:srgbClr val="D7E7E7"/>
            </a:solidFill>
            <a:prstDash val="solid"/>
          </a:ln>
        </p:spPr>
      </p:sp>
      <p:sp>
        <p:nvSpPr>
          <p:cNvPr id="28" name="Text"/>
          <p:cNvSpPr txBox="1"/>
          <p:nvPr/>
        </p:nvSpPr>
        <p:spPr>
          <a:xfrm>
            <a:off x="7036928" y="3580000"/>
            <a:ext cx="1340000" cy="62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29" name="Shape"/>
          <p:cNvSpPr/>
          <p:nvPr/>
        </p:nvSpPr>
        <p:spPr>
          <a:xfrm>
            <a:off x="566928" y="4360000"/>
            <a:ext cx="3525946" cy="1120000"/>
          </a:xfrm>
          <a:prstGeom prst="roundRect">
            <a:avLst>
              <a:gd name="adj" fmla="val 2933"/>
            </a:avLst>
          </a:prstGeom>
          <a:solidFill>
            <a:srgbClr val="F2F5F6"/>
          </a:solidFill>
          <a:ln w="12700">
            <a:solidFill>
              <a:srgbClr val="F2F5F6"/>
            </a:solidFill>
            <a:prstDash val="solid"/>
          </a:ln>
        </p:spPr>
      </p:sp>
      <p:sp>
        <p:nvSpPr>
          <p:cNvPr id="30" name="Text"/>
          <p:cNvSpPr txBox="1"/>
          <p:nvPr/>
        </p:nvSpPr>
        <p:spPr>
          <a:xfrm>
            <a:off x="804672"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Precisión</a:t>
            </a:r>
            <a:endParaRPr lang="en-US" sz="1500" dirty="0"/>
          </a:p>
        </p:txBody>
      </p:sp>
      <p:sp>
        <p:nvSpPr>
          <p:cNvPr id="31" name="Text"/>
          <p:cNvSpPr txBox="1"/>
          <p:nvPr/>
        </p:nvSpPr>
        <p:spPr>
          <a:xfrm>
            <a:off x="804672"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5 de 6 = 0.83</a:t>
            </a:r>
            <a:endParaRPr lang="en-US" sz="1500" dirty="0"/>
          </a:p>
        </p:txBody>
      </p:sp>
      <p:sp>
        <p:nvSpPr>
          <p:cNvPr id="32" name="Text"/>
          <p:cNvSpPr txBox="1"/>
          <p:nvPr/>
        </p:nvSpPr>
        <p:spPr>
          <a:xfrm>
            <a:off x="804672"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De lo que le entregó, cuánto era cierto.</a:t>
            </a:r>
            <a:endParaRPr lang="en-US" sz="1150" dirty="0"/>
          </a:p>
        </p:txBody>
      </p:sp>
      <p:sp>
        <p:nvSpPr>
          <p:cNvPr id="33" name="Shape"/>
          <p:cNvSpPr/>
          <p:nvPr/>
        </p:nvSpPr>
        <p:spPr>
          <a:xfrm>
            <a:off x="4332874" y="4360000"/>
            <a:ext cx="3525946" cy="1120000"/>
          </a:xfrm>
          <a:prstGeom prst="roundRect">
            <a:avLst>
              <a:gd name="adj" fmla="val 2933"/>
            </a:avLst>
          </a:prstGeom>
          <a:solidFill>
            <a:srgbClr val="F2F5F6"/>
          </a:solidFill>
          <a:ln w="12700">
            <a:solidFill>
              <a:srgbClr val="F2F5F6"/>
            </a:solidFill>
            <a:prstDash val="solid"/>
          </a:ln>
        </p:spPr>
      </p:sp>
      <p:sp>
        <p:nvSpPr>
          <p:cNvPr id="34" name="Text"/>
          <p:cNvSpPr txBox="1"/>
          <p:nvPr/>
        </p:nvSpPr>
        <p:spPr>
          <a:xfrm>
            <a:off x="4570618"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Recuperación</a:t>
            </a:r>
            <a:endParaRPr lang="en-US" sz="1500" dirty="0"/>
          </a:p>
        </p:txBody>
      </p:sp>
      <p:sp>
        <p:nvSpPr>
          <p:cNvPr id="35" name="Text"/>
          <p:cNvSpPr txBox="1"/>
          <p:nvPr/>
        </p:nvSpPr>
        <p:spPr>
          <a:xfrm>
            <a:off x="4570618"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5 de 5 = 1.00</a:t>
            </a:r>
            <a:endParaRPr lang="en-US" sz="1500" dirty="0"/>
          </a:p>
        </p:txBody>
      </p:sp>
      <p:sp>
        <p:nvSpPr>
          <p:cNvPr id="36" name="Text"/>
          <p:cNvSpPr txBox="1"/>
          <p:nvPr/>
        </p:nvSpPr>
        <p:spPr>
          <a:xfrm>
            <a:off x="4570618"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De lo que había, cuánto encontró.</a:t>
            </a:r>
            <a:endParaRPr lang="en-US" sz="1150" dirty="0"/>
          </a:p>
        </p:txBody>
      </p:sp>
      <p:sp>
        <p:nvSpPr>
          <p:cNvPr id="37" name="Shape"/>
          <p:cNvSpPr/>
          <p:nvPr/>
        </p:nvSpPr>
        <p:spPr>
          <a:xfrm>
            <a:off x="8098820" y="4360000"/>
            <a:ext cx="3525946" cy="1120000"/>
          </a:xfrm>
          <a:prstGeom prst="roundRect">
            <a:avLst>
              <a:gd name="adj" fmla="val 2933"/>
            </a:avLst>
          </a:prstGeom>
          <a:solidFill>
            <a:srgbClr val="F2F5F6"/>
          </a:solidFill>
          <a:ln w="12700">
            <a:solidFill>
              <a:srgbClr val="F2F5F6"/>
            </a:solidFill>
            <a:prstDash val="solid"/>
          </a:ln>
        </p:spPr>
      </p:sp>
      <p:sp>
        <p:nvSpPr>
          <p:cNvPr id="38" name="Text"/>
          <p:cNvSpPr txBox="1"/>
          <p:nvPr/>
        </p:nvSpPr>
        <p:spPr>
          <a:xfrm>
            <a:off x="8336564" y="4500000"/>
            <a:ext cx="3050458" cy="30000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F1</a:t>
            </a:r>
            <a:endParaRPr lang="en-US" sz="1500" dirty="0"/>
          </a:p>
        </p:txBody>
      </p:sp>
      <p:sp>
        <p:nvSpPr>
          <p:cNvPr id="39" name="Text"/>
          <p:cNvSpPr txBox="1"/>
          <p:nvPr/>
        </p:nvSpPr>
        <p:spPr>
          <a:xfrm>
            <a:off x="8336564" y="4820000"/>
            <a:ext cx="3050458" cy="300000"/>
          </a:xfrm>
          <a:prstGeom prst="rect">
            <a:avLst/>
          </a:prstGeom>
          <a:noFill/>
          <a:ln/>
        </p:spPr>
        <p:txBody>
          <a:bodyPr wrap="square" lIns="0" tIns="0" rIns="0" bIns="0" rtlCol="0" anchor="t"/>
          <a:lstStyle/>
          <a:p>
            <a:pPr indent="0" marL="0">
              <a:buNone/>
            </a:pPr>
            <a:r>
              <a:rPr lang="en-US" sz="1500" b="1" dirty="0">
                <a:solidFill>
                  <a:srgbClr val="C85A28"/>
                </a:solidFill>
                <a:latin typeface="Arial" pitchFamily="34" charset="0"/>
                <a:ea typeface="Arial" pitchFamily="34" charset="-122"/>
                <a:cs typeface="Arial" pitchFamily="34" charset="-120"/>
              </a:rPr>
              <a:t>10 / 11 = 0.91</a:t>
            </a:r>
            <a:endParaRPr lang="en-US" sz="1500" dirty="0"/>
          </a:p>
        </p:txBody>
      </p:sp>
      <p:sp>
        <p:nvSpPr>
          <p:cNvPr id="40" name="Text"/>
          <p:cNvSpPr txBox="1"/>
          <p:nvPr/>
        </p:nvSpPr>
        <p:spPr>
          <a:xfrm>
            <a:off x="8336564" y="5140000"/>
            <a:ext cx="3050458" cy="280000"/>
          </a:xfrm>
          <a:prstGeom prst="rect">
            <a:avLst/>
          </a:prstGeom>
          <a:noFill/>
          <a:ln/>
        </p:spPr>
        <p:txBody>
          <a:bodyPr wrap="square" lIns="0" tIns="0" rIns="0" bIns="0" rtlCol="0" anchor="t"/>
          <a:lstStyle/>
          <a:p>
            <a:pPr indent="0" marL="0">
              <a:buNone/>
            </a:pPr>
            <a:r>
              <a:rPr lang="en-US" sz="1150" dirty="0">
                <a:solidFill>
                  <a:srgbClr val="5A6B73"/>
                </a:solidFill>
                <a:latin typeface="Calibri" pitchFamily="34" charset="0"/>
                <a:ea typeface="Calibri" pitchFamily="34" charset="-122"/>
                <a:cs typeface="Calibri" pitchFamily="34" charset="-120"/>
              </a:rPr>
              <a:t>Las dos en un solo número, por media armónica.</a:t>
            </a:r>
            <a:endParaRPr lang="en-US" sz="1150" dirty="0"/>
          </a:p>
        </p:txBody>
      </p:sp>
      <p:sp>
        <p:nvSpPr>
          <p:cNvPr id="41" name="Shape"/>
          <p:cNvSpPr/>
          <p:nvPr/>
        </p:nvSpPr>
        <p:spPr>
          <a:xfrm>
            <a:off x="566928" y="5600000"/>
            <a:ext cx="11057839" cy="640000"/>
          </a:xfrm>
          <a:prstGeom prst="roundRect">
            <a:avLst>
              <a:gd name="adj" fmla="val 8235"/>
            </a:avLst>
          </a:prstGeom>
          <a:solidFill>
            <a:srgbClr val="F7E4D8"/>
          </a:solidFill>
          <a:ln w="12700">
            <a:solidFill>
              <a:srgbClr val="F7E4D8"/>
            </a:solidFill>
            <a:prstDash val="solid"/>
          </a:ln>
        </p:spPr>
      </p:sp>
      <p:sp>
        <p:nvSpPr>
          <p:cNvPr id="42" name="Text"/>
          <p:cNvSpPr txBox="1"/>
          <p:nvPr/>
        </p:nvSpPr>
        <p:spPr>
          <a:xfrm>
            <a:off x="804672" y="5600000"/>
            <a:ext cx="10582351" cy="6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3" name="Text"/>
          <p:cNvSpPr txBox="1"/>
          <p:nvPr/>
        </p:nvSpPr>
        <p:spPr>
          <a:xfrm>
            <a:off x="566928" y="63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falla que el RAG de ayer no resuelve: recuperar el fragmento correcto y sostener la afirmación son dos cosas distintas. Las dos citas son del marco normativo que todos comparten.</a:t>
            </a:r>
            <a:endParaRPr lang="en-US" sz="1500" dirty="0"/>
          </a:p>
        </p:txBody>
      </p:sp>
      <p:sp>
        <p:nvSpPr>
          <p:cNvPr id="4" name="Shape"/>
          <p:cNvSpPr/>
          <p:nvPr/>
        </p:nvSpPr>
        <p:spPr>
          <a:xfrm>
            <a:off x="566928" y="1880000"/>
            <a:ext cx="5378919" cy="268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206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6" name="Text"/>
          <p:cNvSpPr txBox="1"/>
          <p:nvPr/>
        </p:nvSpPr>
        <p:spPr>
          <a:xfrm>
            <a:off x="804672" y="2360000"/>
            <a:ext cx="4903431" cy="32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afirmación no agrega nada</a:t>
            </a:r>
            <a:endParaRPr lang="en-US" sz="1600" dirty="0"/>
          </a:p>
        </p:txBody>
      </p:sp>
      <p:sp>
        <p:nvSpPr>
          <p:cNvPr id="7" name="Shape"/>
          <p:cNvSpPr/>
          <p:nvPr/>
        </p:nvSpPr>
        <p:spPr>
          <a:xfrm>
            <a:off x="804672" y="2760000"/>
            <a:ext cx="4903431" cy="880000"/>
          </a:xfrm>
          <a:prstGeom prst="roundRect">
            <a:avLst>
              <a:gd name="adj" fmla="val 2933"/>
            </a:avLst>
          </a:prstGeom>
          <a:solidFill>
            <a:srgbClr val="FFFFFF"/>
          </a:solidFill>
          <a:ln w="12700">
            <a:solidFill>
              <a:srgbClr val="FFFFFF"/>
            </a:solidFill>
            <a:prstDash val="solid"/>
          </a:ln>
        </p:spPr>
      </p:sp>
      <p:sp>
        <p:nvSpPr>
          <p:cNvPr id="8" name="Text"/>
          <p:cNvSpPr txBox="1"/>
          <p:nvPr/>
        </p:nvSpPr>
        <p:spPr>
          <a:xfrm>
            <a:off x="946928" y="2760000"/>
            <a:ext cx="4618919" cy="880000"/>
          </a:xfrm>
          <a:prstGeom prst="rect">
            <a:avLst/>
          </a:prstGeom>
          <a:noFill/>
          <a:ln/>
        </p:spPr>
        <p:txBody>
          <a:bodyPr wrap="square" lIns="0" tIns="0" rIns="0" bIns="0" rtlCol="0" anchor="ctr"/>
          <a:lstStyle/>
          <a:p>
            <a:pPr indent="0" marL="0">
              <a:lnSpc>
                <a:spcPct val="106000"/>
              </a:lnSpc>
              <a:buNone/>
            </a:pPr>
            <a:r>
              <a:rPr lang="en-US" sz="1200" i="1" dirty="0">
                <a:solidFill>
                  <a:srgbClr val="16262E"/>
                </a:solidFill>
                <a:latin typeface="Calibri" pitchFamily="34" charset="0"/>
                <a:ea typeface="Calibri" pitchFamily="34" charset="-122"/>
                <a:cs typeface="Calibri" pitchFamily="34" charset="-120"/>
              </a:rPr>
              <a:t>«El Programa es incompatible con otros programas federales de transferencia monetaria dirigidos a la misma persona cuidadora principal por el mismo concepto.» Artículo 11.</a:t>
            </a:r>
            <a:endParaRPr lang="en-US" sz="1200" dirty="0"/>
          </a:p>
        </p:txBody>
      </p:sp>
      <p:sp>
        <p:nvSpPr>
          <p:cNvPr id="9" name="Text"/>
          <p:cNvSpPr txBox="1"/>
          <p:nvPr/>
        </p:nvSpPr>
        <p:spPr>
          <a:xfrm>
            <a:off x="804672" y="3760000"/>
            <a:ext cx="4903431" cy="7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Afirmación: el Programa no puede concurrir con otro apoyo federal en efectivo para la misma persona cuidadora y por el mismo concepto. Quien lea solo la cita llega a lo mismo.</a:t>
            </a:r>
            <a:endParaRPr lang="en-US" sz="1250" dirty="0"/>
          </a:p>
        </p:txBody>
      </p:sp>
      <p:sp>
        <p:nvSpPr>
          <p:cNvPr id="10" name="Shape"/>
          <p:cNvSpPr/>
          <p:nvPr/>
        </p:nvSpPr>
        <p:spPr>
          <a:xfrm>
            <a:off x="6245847" y="1880000"/>
            <a:ext cx="5378919" cy="2680000"/>
          </a:xfrm>
          <a:prstGeom prst="roundRect">
            <a:avLst>
              <a:gd name="adj" fmla="val 2933"/>
            </a:avLst>
          </a:prstGeom>
          <a:solidFill>
            <a:srgbClr val="F2F5F6"/>
          </a:solidFill>
          <a:ln w="12700">
            <a:solidFill>
              <a:srgbClr val="F2F5F6"/>
            </a:solidFill>
            <a:prstDash val="solid"/>
          </a:ln>
        </p:spPr>
      </p:sp>
      <p:sp>
        <p:nvSpPr>
          <p:cNvPr id="11" name="Text"/>
          <p:cNvSpPr txBox="1"/>
          <p:nvPr/>
        </p:nvSpPr>
        <p:spPr>
          <a:xfrm>
            <a:off x="6483591" y="206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2" name="Text"/>
          <p:cNvSpPr txBox="1"/>
          <p:nvPr/>
        </p:nvSpPr>
        <p:spPr>
          <a:xfrm>
            <a:off x="6483591" y="2360000"/>
            <a:ext cx="4903431" cy="3200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afirmación salta a un juicio</a:t>
            </a:r>
            <a:endParaRPr lang="en-US" sz="1600" dirty="0"/>
          </a:p>
        </p:txBody>
      </p:sp>
      <p:sp>
        <p:nvSpPr>
          <p:cNvPr id="13" name="Shape"/>
          <p:cNvSpPr/>
          <p:nvPr/>
        </p:nvSpPr>
        <p:spPr>
          <a:xfrm>
            <a:off x="6483591" y="2760000"/>
            <a:ext cx="4903431" cy="880000"/>
          </a:xfrm>
          <a:prstGeom prst="roundRect">
            <a:avLst>
              <a:gd name="adj" fmla="val 2933"/>
            </a:avLst>
          </a:prstGeom>
          <a:solidFill>
            <a:srgbClr val="FFFFFF"/>
          </a:solidFill>
          <a:ln w="12700">
            <a:solidFill>
              <a:srgbClr val="FFFFFF"/>
            </a:solidFill>
            <a:prstDash val="solid"/>
          </a:ln>
        </p:spPr>
      </p:sp>
      <p:sp>
        <p:nvSpPr>
          <p:cNvPr id="14" name="Text"/>
          <p:cNvSpPr txBox="1"/>
          <p:nvPr/>
        </p:nvSpPr>
        <p:spPr>
          <a:xfrm>
            <a:off x="6625847" y="2760000"/>
            <a:ext cx="4618919" cy="880000"/>
          </a:xfrm>
          <a:prstGeom prst="rect">
            <a:avLst/>
          </a:prstGeom>
          <a:noFill/>
          <a:ln/>
        </p:spPr>
        <p:txBody>
          <a:bodyPr wrap="square" lIns="0" tIns="0" rIns="0" bIns="0" rtlCol="0" anchor="ctr"/>
          <a:lstStyle/>
          <a:p>
            <a:pPr indent="0" marL="0">
              <a:lnSpc>
                <a:spcPct val="106000"/>
              </a:lnSpc>
              <a:buNone/>
            </a:pPr>
            <a:r>
              <a:rPr lang="en-US" sz="1200" i="1" dirty="0">
                <a:solidFill>
                  <a:srgbClr val="16262E"/>
                </a:solidFill>
                <a:latin typeface="Calibri" pitchFamily="34" charset="0"/>
                <a:ea typeface="Calibri" pitchFamily="34" charset="-122"/>
                <a:cs typeface="Calibri" pitchFamily="34" charset="-120"/>
              </a:rPr>
              <a:t>«El monto del apoyo es de 3,100 pesos bimestrales.» Artículo 14.</a:t>
            </a:r>
            <a:endParaRPr lang="en-US" sz="1200" dirty="0"/>
          </a:p>
        </p:txBody>
      </p:sp>
      <p:sp>
        <p:nvSpPr>
          <p:cNvPr id="15" name="Text"/>
          <p:cNvSpPr txBox="1"/>
          <p:nvPr/>
        </p:nvSpPr>
        <p:spPr>
          <a:xfrm>
            <a:off x="6483591" y="3760000"/>
            <a:ext cx="4903431" cy="7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Afirmación: el monto del apoyo es suficiente para cubrir el cuidado de una persona. La cita fija una cantidad y no dice nada sobre suficiencia. La afirmación dice más que su evidencia.</a:t>
            </a:r>
            <a:endParaRPr lang="en-US" sz="1250" dirty="0"/>
          </a:p>
        </p:txBody>
      </p:sp>
      <p:sp>
        <p:nvSpPr>
          <p:cNvPr id="16" name="Shape"/>
          <p:cNvSpPr/>
          <p:nvPr/>
        </p:nvSpPr>
        <p:spPr>
          <a:xfrm>
            <a:off x="566928" y="4700000"/>
            <a:ext cx="11057839" cy="860000"/>
          </a:xfrm>
          <a:prstGeom prst="roundRect">
            <a:avLst>
              <a:gd name="adj" fmla="val 2933"/>
            </a:avLst>
          </a:prstGeom>
          <a:solidFill>
            <a:srgbClr val="F7E4D8"/>
          </a:solidFill>
          <a:ln w="12700">
            <a:solidFill>
              <a:srgbClr val="F7E4D8"/>
            </a:solidFill>
            <a:prstDash val="solid"/>
          </a:ln>
        </p:spPr>
      </p:sp>
      <p:sp>
        <p:nvSpPr>
          <p:cNvPr id="17" name="Text"/>
          <p:cNvSpPr txBox="1"/>
          <p:nvPr/>
        </p:nvSpPr>
        <p:spPr>
          <a:xfrm>
            <a:off x="804672" y="486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18" name="Text"/>
          <p:cNvSpPr txBox="1"/>
          <p:nvPr/>
        </p:nvSpPr>
        <p:spPr>
          <a:xfrm>
            <a:off x="804672" y="5140000"/>
            <a:ext cx="10582351" cy="340000"/>
          </a:xfrm>
          <a:prstGeom prst="rect">
            <a:avLst/>
          </a:prstGeom>
          <a:noFill/>
          <a:ln/>
        </p:spPr>
        <p:txBody>
          <a:bodyPr wrap="square" lIns="0" tIns="0" rIns="0" bIns="0" rtlCol="0" anchor="t"/>
          <a:lstStyle/>
          <a:p>
            <a:pPr indent="0" marL="0">
              <a:lnSpc>
                <a:spcPct val="106000"/>
              </a:lnSpc>
              <a:buNone/>
            </a:pPr>
            <a:r>
              <a:rPr lang="en-US" sz="135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50" dirty="0"/>
          </a:p>
        </p:txBody>
      </p:sp>
      <p:sp>
        <p:nvSpPr>
          <p:cNvPr id="19" name="Shape"/>
          <p:cNvSpPr/>
          <p:nvPr/>
        </p:nvSpPr>
        <p:spPr>
          <a:xfrm>
            <a:off x="566928" y="5680000"/>
            <a:ext cx="11057839" cy="560000"/>
          </a:xfrm>
          <a:prstGeom prst="roundRect">
            <a:avLst>
              <a:gd name="adj" fmla="val 8235"/>
            </a:avLst>
          </a:prstGeom>
          <a:solidFill>
            <a:srgbClr val="F7E4D8"/>
          </a:solidFill>
          <a:ln w="12700">
            <a:solidFill>
              <a:srgbClr val="F7E4D8"/>
            </a:solidFill>
            <a:prstDash val="solid"/>
          </a:ln>
        </p:spPr>
      </p:sp>
      <p:sp>
        <p:nvSpPr>
          <p:cNvPr id="20" name="Text"/>
          <p:cNvSpPr txBox="1"/>
          <p:nvPr/>
        </p:nvSpPr>
        <p:spPr>
          <a:xfrm>
            <a:off x="804672" y="5680000"/>
            <a:ext cx="10582351" cy="5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1" name="Text"/>
          <p:cNvSpPr txBox="1"/>
          <p:nvPr/>
        </p:nvSpPr>
        <p:spPr>
          <a:xfrm>
            <a:off x="566928" y="63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Generaliz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síntesis dice más de lo que la matriz sostiene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falla del final, cuando ya hay que redactar. Se disfraza de escribir bien.</a:t>
            </a:r>
            <a:endParaRPr lang="en-US" sz="1500" dirty="0"/>
          </a:p>
        </p:txBody>
      </p:sp>
      <p:sp>
        <p:nvSpPr>
          <p:cNvPr id="4" name="Shape"/>
          <p:cNvSpPr/>
          <p:nvPr/>
        </p:nvSpPr>
        <p:spPr>
          <a:xfrm>
            <a:off x="566928" y="1820000"/>
            <a:ext cx="2500000" cy="420000"/>
          </a:xfrm>
          <a:prstGeom prst="rect">
            <a:avLst/>
          </a:prstGeom>
          <a:solidFill>
            <a:srgbClr val="16262E"/>
          </a:solidFill>
          <a:ln w="9525">
            <a:solidFill>
              <a:srgbClr val="FFFFFF"/>
            </a:solidFill>
            <a:prstDash val="solid"/>
          </a:ln>
        </p:spPr>
      </p:sp>
      <p:sp>
        <p:nvSpPr>
          <p:cNvPr id="5" name="Text"/>
          <p:cNvSpPr txBox="1"/>
          <p:nvPr/>
        </p:nvSpPr>
        <p:spPr>
          <a:xfrm>
            <a:off x="686928" y="1820000"/>
            <a:ext cx="22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066928" y="1820000"/>
            <a:ext cx="4278919" cy="420000"/>
          </a:xfrm>
          <a:prstGeom prst="rect">
            <a:avLst/>
          </a:prstGeom>
          <a:solidFill>
            <a:srgbClr val="16262E"/>
          </a:solidFill>
          <a:ln w="9525">
            <a:solidFill>
              <a:srgbClr val="FFFFFF"/>
            </a:solidFill>
            <a:prstDash val="solid"/>
          </a:ln>
        </p:spPr>
      </p:sp>
      <p:sp>
        <p:nvSpPr>
          <p:cNvPr id="7" name="Text"/>
          <p:cNvSpPr txBox="1"/>
          <p:nvPr/>
        </p:nvSpPr>
        <p:spPr>
          <a:xfrm>
            <a:off x="3186928" y="1820000"/>
            <a:ext cx="403891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extractiva</a:t>
            </a:r>
            <a:endParaRPr lang="en-US" sz="1200" dirty="0"/>
          </a:p>
        </p:txBody>
      </p:sp>
      <p:sp>
        <p:nvSpPr>
          <p:cNvPr id="8" name="Shape"/>
          <p:cNvSpPr/>
          <p:nvPr/>
        </p:nvSpPr>
        <p:spPr>
          <a:xfrm>
            <a:off x="7345847" y="1820000"/>
            <a:ext cx="4278920" cy="420000"/>
          </a:xfrm>
          <a:prstGeom prst="rect">
            <a:avLst/>
          </a:prstGeom>
          <a:solidFill>
            <a:srgbClr val="16262E"/>
          </a:solidFill>
          <a:ln w="9525">
            <a:solidFill>
              <a:srgbClr val="FFFFFF"/>
            </a:solidFill>
            <a:prstDash val="solid"/>
          </a:ln>
        </p:spPr>
      </p:sp>
      <p:sp>
        <p:nvSpPr>
          <p:cNvPr id="9" name="Text"/>
          <p:cNvSpPr txBox="1"/>
          <p:nvPr/>
        </p:nvSpPr>
        <p:spPr>
          <a:xfrm>
            <a:off x="7465847" y="1820000"/>
            <a:ext cx="403892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abstractiva</a:t>
            </a:r>
            <a:endParaRPr lang="en-US" sz="1200" dirty="0"/>
          </a:p>
        </p:txBody>
      </p:sp>
      <p:sp>
        <p:nvSpPr>
          <p:cNvPr id="10" name="Shape"/>
          <p:cNvSpPr/>
          <p:nvPr/>
        </p:nvSpPr>
        <p:spPr>
          <a:xfrm>
            <a:off x="566928" y="2240000"/>
            <a:ext cx="2500000" cy="900000"/>
          </a:xfrm>
          <a:prstGeom prst="rect">
            <a:avLst/>
          </a:prstGeom>
          <a:solidFill>
            <a:srgbClr val="D7E7E7"/>
          </a:solidFill>
          <a:ln w="9525">
            <a:solidFill>
              <a:srgbClr val="D9E0E3"/>
            </a:solidFill>
            <a:prstDash val="solid"/>
          </a:ln>
        </p:spPr>
      </p:sp>
      <p:sp>
        <p:nvSpPr>
          <p:cNvPr id="11" name="Text"/>
          <p:cNvSpPr txBox="1"/>
          <p:nvPr/>
        </p:nvSpPr>
        <p:spPr>
          <a:xfrm>
            <a:off x="686928" y="22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produce el texto</a:t>
            </a:r>
            <a:endParaRPr lang="en-US" sz="1250" dirty="0"/>
          </a:p>
        </p:txBody>
      </p:sp>
      <p:sp>
        <p:nvSpPr>
          <p:cNvPr id="12" name="Shape"/>
          <p:cNvSpPr/>
          <p:nvPr/>
        </p:nvSpPr>
        <p:spPr>
          <a:xfrm>
            <a:off x="3066928" y="2240000"/>
            <a:ext cx="4278919" cy="900000"/>
          </a:xfrm>
          <a:prstGeom prst="rect">
            <a:avLst/>
          </a:prstGeom>
          <a:solidFill>
            <a:srgbClr val="F2F5F6"/>
          </a:solidFill>
          <a:ln w="9525">
            <a:solidFill>
              <a:srgbClr val="D9E0E3"/>
            </a:solidFill>
            <a:prstDash val="solid"/>
          </a:ln>
        </p:spPr>
      </p:sp>
      <p:sp>
        <p:nvSpPr>
          <p:cNvPr id="13" name="Text"/>
          <p:cNvSpPr txBox="1"/>
          <p:nvPr/>
        </p:nvSpPr>
        <p:spPr>
          <a:xfrm>
            <a:off x="3186928" y="22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Selecciona y copia oraciones que ya están en el documento.</a:t>
            </a:r>
            <a:endParaRPr lang="en-US" sz="1250" dirty="0"/>
          </a:p>
        </p:txBody>
      </p:sp>
      <p:sp>
        <p:nvSpPr>
          <p:cNvPr id="14" name="Shape"/>
          <p:cNvSpPr/>
          <p:nvPr/>
        </p:nvSpPr>
        <p:spPr>
          <a:xfrm>
            <a:off x="7345847" y="2240000"/>
            <a:ext cx="4278920" cy="900000"/>
          </a:xfrm>
          <a:prstGeom prst="rect">
            <a:avLst/>
          </a:prstGeom>
          <a:solidFill>
            <a:srgbClr val="F2F5F6"/>
          </a:solidFill>
          <a:ln w="9525">
            <a:solidFill>
              <a:srgbClr val="D9E0E3"/>
            </a:solidFill>
            <a:prstDash val="solid"/>
          </a:ln>
        </p:spPr>
      </p:sp>
      <p:sp>
        <p:nvSpPr>
          <p:cNvPr id="15" name="Text"/>
          <p:cNvSpPr txBox="1"/>
          <p:nvPr/>
        </p:nvSpPr>
        <p:spPr>
          <a:xfrm>
            <a:off x="7465847" y="22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Redacta oraciones nuevas que no aparecen en ningún documento.</a:t>
            </a:r>
            <a:endParaRPr lang="en-US" sz="1250" dirty="0"/>
          </a:p>
        </p:txBody>
      </p:sp>
      <p:sp>
        <p:nvSpPr>
          <p:cNvPr id="16" name="Shape"/>
          <p:cNvSpPr/>
          <p:nvPr/>
        </p:nvSpPr>
        <p:spPr>
          <a:xfrm>
            <a:off x="566928" y="3140000"/>
            <a:ext cx="2500000" cy="900000"/>
          </a:xfrm>
          <a:prstGeom prst="rect">
            <a:avLst/>
          </a:prstGeom>
          <a:solidFill>
            <a:srgbClr val="D7E7E7"/>
          </a:solidFill>
          <a:ln w="9525">
            <a:solidFill>
              <a:srgbClr val="D9E0E3"/>
            </a:solidFill>
            <a:prstDash val="solid"/>
          </a:ln>
        </p:spPr>
      </p:sp>
      <p:sp>
        <p:nvSpPr>
          <p:cNvPr id="17" name="Text"/>
          <p:cNvSpPr txBox="1"/>
          <p:nvPr/>
        </p:nvSpPr>
        <p:spPr>
          <a:xfrm>
            <a:off x="686928" y="31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se lee</a:t>
            </a:r>
            <a:endParaRPr lang="en-US" sz="1250" dirty="0"/>
          </a:p>
        </p:txBody>
      </p:sp>
      <p:sp>
        <p:nvSpPr>
          <p:cNvPr id="18" name="Shape"/>
          <p:cNvSpPr/>
          <p:nvPr/>
        </p:nvSpPr>
        <p:spPr>
          <a:xfrm>
            <a:off x="3066928" y="3140000"/>
            <a:ext cx="4278919" cy="900000"/>
          </a:xfrm>
          <a:prstGeom prst="rect">
            <a:avLst/>
          </a:prstGeom>
          <a:solidFill>
            <a:srgbClr val="FFFFFF"/>
          </a:solidFill>
          <a:ln w="9525">
            <a:solidFill>
              <a:srgbClr val="D9E0E3"/>
            </a:solidFill>
            <a:prstDash val="solid"/>
          </a:ln>
        </p:spPr>
      </p:sp>
      <p:sp>
        <p:nvSpPr>
          <p:cNvPr id="19" name="Text"/>
          <p:cNvSpPr txBox="1"/>
          <p:nvPr/>
        </p:nvSpPr>
        <p:spPr>
          <a:xfrm>
            <a:off x="3186928" y="31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Áspera y con saltos. Se nota que son pedazos pegados.</a:t>
            </a:r>
            <a:endParaRPr lang="en-US" sz="1250" dirty="0"/>
          </a:p>
        </p:txBody>
      </p:sp>
      <p:sp>
        <p:nvSpPr>
          <p:cNvPr id="20" name="Shape"/>
          <p:cNvSpPr/>
          <p:nvPr/>
        </p:nvSpPr>
        <p:spPr>
          <a:xfrm>
            <a:off x="7345847" y="3140000"/>
            <a:ext cx="4278920" cy="900000"/>
          </a:xfrm>
          <a:prstGeom prst="rect">
            <a:avLst/>
          </a:prstGeom>
          <a:solidFill>
            <a:srgbClr val="FFFFFF"/>
          </a:solidFill>
          <a:ln w="9525">
            <a:solidFill>
              <a:srgbClr val="D9E0E3"/>
            </a:solidFill>
            <a:prstDash val="solid"/>
          </a:ln>
        </p:spPr>
      </p:sp>
      <p:sp>
        <p:nvSpPr>
          <p:cNvPr id="21" name="Text"/>
          <p:cNvSpPr txBox="1"/>
          <p:nvPr/>
        </p:nvSpPr>
        <p:spPr>
          <a:xfrm>
            <a:off x="7465847" y="31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Fluida. Suena a informe terminado.</a:t>
            </a:r>
            <a:endParaRPr lang="en-US" sz="1250" dirty="0"/>
          </a:p>
        </p:txBody>
      </p:sp>
      <p:sp>
        <p:nvSpPr>
          <p:cNvPr id="22" name="Shape"/>
          <p:cNvSpPr/>
          <p:nvPr/>
        </p:nvSpPr>
        <p:spPr>
          <a:xfrm>
            <a:off x="566928" y="4040000"/>
            <a:ext cx="2500000" cy="900000"/>
          </a:xfrm>
          <a:prstGeom prst="rect">
            <a:avLst/>
          </a:prstGeom>
          <a:solidFill>
            <a:srgbClr val="D7E7E7"/>
          </a:solidFill>
          <a:ln w="9525">
            <a:solidFill>
              <a:srgbClr val="D9E0E3"/>
            </a:solidFill>
            <a:prstDash val="solid"/>
          </a:ln>
        </p:spPr>
      </p:sp>
      <p:sp>
        <p:nvSpPr>
          <p:cNvPr id="23" name="Text"/>
          <p:cNvSpPr txBox="1"/>
          <p:nvPr/>
        </p:nvSpPr>
        <p:spPr>
          <a:xfrm>
            <a:off x="686928" y="40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Dónde aparece lo que nadie sostiene</a:t>
            </a:r>
            <a:endParaRPr lang="en-US" sz="1250" dirty="0"/>
          </a:p>
        </p:txBody>
      </p:sp>
      <p:sp>
        <p:nvSpPr>
          <p:cNvPr id="24" name="Shape"/>
          <p:cNvSpPr/>
          <p:nvPr/>
        </p:nvSpPr>
        <p:spPr>
          <a:xfrm>
            <a:off x="3066928" y="4040000"/>
            <a:ext cx="4278919" cy="900000"/>
          </a:xfrm>
          <a:prstGeom prst="rect">
            <a:avLst/>
          </a:prstGeom>
          <a:solidFill>
            <a:srgbClr val="F2F5F6"/>
          </a:solidFill>
          <a:ln w="9525">
            <a:solidFill>
              <a:srgbClr val="D9E0E3"/>
            </a:solidFill>
            <a:prstDash val="solid"/>
          </a:ln>
        </p:spPr>
      </p:sp>
      <p:sp>
        <p:nvSpPr>
          <p:cNvPr id="25" name="Text"/>
          <p:cNvSpPr txBox="1"/>
          <p:nvPr/>
        </p:nvSpPr>
        <p:spPr>
          <a:xfrm>
            <a:off x="3186928" y="40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Menos, pero no nunca: una oración arrancada de su contexto puede cambiar de sentido. Se midió en 3 de cada 10.</a:t>
            </a:r>
            <a:endParaRPr lang="en-US" sz="1250" dirty="0"/>
          </a:p>
        </p:txBody>
      </p:sp>
      <p:sp>
        <p:nvSpPr>
          <p:cNvPr id="26" name="Shape"/>
          <p:cNvSpPr/>
          <p:nvPr/>
        </p:nvSpPr>
        <p:spPr>
          <a:xfrm>
            <a:off x="7345847" y="4040000"/>
            <a:ext cx="4278920" cy="900000"/>
          </a:xfrm>
          <a:prstGeom prst="rect">
            <a:avLst/>
          </a:prstGeom>
          <a:solidFill>
            <a:srgbClr val="F2F5F6"/>
          </a:solidFill>
          <a:ln w="9525">
            <a:solidFill>
              <a:srgbClr val="D9E0E3"/>
            </a:solidFill>
            <a:prstDash val="solid"/>
          </a:ln>
        </p:spPr>
      </p:sp>
      <p:sp>
        <p:nvSpPr>
          <p:cNvPr id="27" name="Text"/>
          <p:cNvSpPr txBox="1"/>
          <p:nvPr/>
        </p:nvSpPr>
        <p:spPr>
          <a:xfrm>
            <a:off x="7465847" y="40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Aquí sobre todo. Al unir dos hechos ciertos puede afirmar un tercero que ninguno de los dos sostiene.</a:t>
            </a:r>
            <a:endParaRPr lang="en-US" sz="1250" dirty="0"/>
          </a:p>
        </p:txBody>
      </p:sp>
      <p:sp>
        <p:nvSpPr>
          <p:cNvPr id="28" name="Shape"/>
          <p:cNvSpPr/>
          <p:nvPr/>
        </p:nvSpPr>
        <p:spPr>
          <a:xfrm>
            <a:off x="566928" y="4940000"/>
            <a:ext cx="2500000" cy="900000"/>
          </a:xfrm>
          <a:prstGeom prst="rect">
            <a:avLst/>
          </a:prstGeom>
          <a:solidFill>
            <a:srgbClr val="D7E7E7"/>
          </a:solidFill>
          <a:ln w="9525">
            <a:solidFill>
              <a:srgbClr val="D9E0E3"/>
            </a:solidFill>
            <a:prstDash val="solid"/>
          </a:ln>
        </p:spPr>
      </p:sp>
      <p:sp>
        <p:nvSpPr>
          <p:cNvPr id="29" name="Text"/>
          <p:cNvSpPr txBox="1"/>
          <p:nvPr/>
        </p:nvSpPr>
        <p:spPr>
          <a:xfrm>
            <a:off x="686928" y="49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Qué le toca verificar</a:t>
            </a:r>
            <a:endParaRPr lang="en-US" sz="1250" dirty="0"/>
          </a:p>
        </p:txBody>
      </p:sp>
      <p:sp>
        <p:nvSpPr>
          <p:cNvPr id="30" name="Shape"/>
          <p:cNvSpPr/>
          <p:nvPr/>
        </p:nvSpPr>
        <p:spPr>
          <a:xfrm>
            <a:off x="3066928" y="4940000"/>
            <a:ext cx="4278919" cy="900000"/>
          </a:xfrm>
          <a:prstGeom prst="rect">
            <a:avLst/>
          </a:prstGeom>
          <a:solidFill>
            <a:srgbClr val="FFFFFF"/>
          </a:solidFill>
          <a:ln w="9525">
            <a:solidFill>
              <a:srgbClr val="D9E0E3"/>
            </a:solidFill>
            <a:prstDash val="solid"/>
          </a:ln>
        </p:spPr>
      </p:sp>
      <p:sp>
        <p:nvSpPr>
          <p:cNvPr id="31" name="Text"/>
          <p:cNvSpPr txBox="1"/>
          <p:nvPr/>
        </p:nvSpPr>
        <p:spPr>
          <a:xfrm>
            <a:off x="3186928" y="49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Que la oración copiada siga diciendo lo mismo fuera de su contexto. Cuidado con los «este» y los «dicho programa».</a:t>
            </a:r>
            <a:endParaRPr lang="en-US" sz="1250" dirty="0"/>
          </a:p>
        </p:txBody>
      </p:sp>
      <p:sp>
        <p:nvSpPr>
          <p:cNvPr id="32" name="Shape"/>
          <p:cNvSpPr/>
          <p:nvPr/>
        </p:nvSpPr>
        <p:spPr>
          <a:xfrm>
            <a:off x="7345847" y="4940000"/>
            <a:ext cx="4278920" cy="900000"/>
          </a:xfrm>
          <a:prstGeom prst="rect">
            <a:avLst/>
          </a:prstGeom>
          <a:solidFill>
            <a:srgbClr val="FFFFFF"/>
          </a:solidFill>
          <a:ln w="9525">
            <a:solidFill>
              <a:srgbClr val="D9E0E3"/>
            </a:solidFill>
            <a:prstDash val="solid"/>
          </a:ln>
        </p:spPr>
      </p:sp>
      <p:sp>
        <p:nvSpPr>
          <p:cNvPr id="33" name="Text"/>
          <p:cNvSpPr txBox="1"/>
          <p:nvPr/>
        </p:nvSpPr>
        <p:spPr>
          <a:xfrm>
            <a:off x="7465847" y="49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Frase por frase contra la matriz. Es la regla dura del laboratorio de hoy.</a:t>
            </a:r>
            <a:endParaRPr lang="en-US" sz="1250" dirty="0"/>
          </a:p>
        </p:txBody>
      </p:sp>
      <p:sp>
        <p:nvSpPr>
          <p:cNvPr id="34" name="Shape"/>
          <p:cNvSpPr/>
          <p:nvPr/>
        </p:nvSpPr>
        <p:spPr>
          <a:xfrm>
            <a:off x="566928" y="5560000"/>
            <a:ext cx="11057839" cy="680000"/>
          </a:xfrm>
          <a:prstGeom prst="roundRect">
            <a:avLst>
              <a:gd name="adj" fmla="val 8235"/>
            </a:avLst>
          </a:prstGeom>
          <a:solidFill>
            <a:srgbClr val="F7E4D8"/>
          </a:solidFill>
          <a:ln w="12700">
            <a:solidFill>
              <a:srgbClr val="F7E4D8"/>
            </a:solidFill>
            <a:prstDash val="solid"/>
          </a:ln>
        </p:spPr>
      </p:sp>
      <p:sp>
        <p:nvSpPr>
          <p:cNvPr id="35" name="Text"/>
          <p:cNvSpPr txBox="1"/>
          <p:nvPr/>
        </p:nvSpPr>
        <p:spPr>
          <a:xfrm>
            <a:off x="804672" y="5560000"/>
            <a:ext cx="10582351" cy="6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Su síntesis de dos cuartillas es abstractiva por fuerza: nadie entrega un informe pegando oraciones sueltas. Por eso la regla dura no es una formalidad del curso, es el control de la única falla que la buena redacción esconde.</a:t>
            </a:r>
            <a:endParaRPr lang="en-US" sz="1300" dirty="0"/>
          </a:p>
        </p:txBody>
      </p:sp>
      <p:sp>
        <p:nvSpPr>
          <p:cNvPr id="36" name="Text"/>
          <p:cNvSpPr txBox="1"/>
          <p:nvPr/>
        </p:nvSpPr>
        <p:spPr>
          <a:xfrm>
            <a:off x="566928" y="633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Zhang, Wan y Bansal (2023), «Extractive is not Faithful», ACL: 30.3% de los resúmenes extractivos revisados a mano traían al menos un problema de correferencia, de discurso o de información engañosa.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codificadores coinciden en el 95 por ciento de los casos. ¿Eso es bueno? El porcentaje solo no lo dice.</a:t>
            </a:r>
            <a:endParaRPr lang="en-US" sz="1500" dirty="0"/>
          </a:p>
        </p:txBody>
      </p:sp>
      <p:sp>
        <p:nvSpPr>
          <p:cNvPr id="4" name="Shape"/>
          <p:cNvSpPr/>
          <p:nvPr/>
        </p:nvSpPr>
        <p:spPr>
          <a:xfrm>
            <a:off x="566928" y="1700000"/>
            <a:ext cx="29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466928" y="1700000"/>
            <a:ext cx="2719279" cy="420000"/>
          </a:xfrm>
          <a:prstGeom prst="rect">
            <a:avLst/>
          </a:prstGeom>
          <a:solidFill>
            <a:srgbClr val="16262E"/>
          </a:solidFill>
          <a:ln w="9525">
            <a:solidFill>
              <a:srgbClr val="FFFFFF"/>
            </a:solidFill>
            <a:prstDash val="solid"/>
          </a:ln>
        </p:spPr>
      </p:sp>
      <p:sp>
        <p:nvSpPr>
          <p:cNvPr id="7" name="Text"/>
          <p:cNvSpPr txBox="1"/>
          <p:nvPr/>
        </p:nvSpPr>
        <p:spPr>
          <a:xfrm>
            <a:off x="3586928" y="17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8" name="Shape"/>
          <p:cNvSpPr/>
          <p:nvPr/>
        </p:nvSpPr>
        <p:spPr>
          <a:xfrm>
            <a:off x="6186207" y="1700000"/>
            <a:ext cx="2719280" cy="420000"/>
          </a:xfrm>
          <a:prstGeom prst="rect">
            <a:avLst/>
          </a:prstGeom>
          <a:solidFill>
            <a:srgbClr val="16262E"/>
          </a:solidFill>
          <a:ln w="9525">
            <a:solidFill>
              <a:srgbClr val="FFFFFF"/>
            </a:solidFill>
            <a:prstDash val="solid"/>
          </a:ln>
        </p:spPr>
      </p:sp>
      <p:sp>
        <p:nvSpPr>
          <p:cNvPr id="9" name="Text"/>
          <p:cNvSpPr txBox="1"/>
          <p:nvPr/>
        </p:nvSpPr>
        <p:spPr>
          <a:xfrm>
            <a:off x="6306207" y="17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0" name="Shape"/>
          <p:cNvSpPr/>
          <p:nvPr/>
        </p:nvSpPr>
        <p:spPr>
          <a:xfrm>
            <a:off x="8905487" y="1700000"/>
            <a:ext cx="2719280" cy="420000"/>
          </a:xfrm>
          <a:prstGeom prst="rect">
            <a:avLst/>
          </a:prstGeom>
          <a:solidFill>
            <a:srgbClr val="16262E"/>
          </a:solidFill>
          <a:ln w="9525">
            <a:solidFill>
              <a:srgbClr val="FFFFFF"/>
            </a:solidFill>
            <a:prstDash val="solid"/>
          </a:ln>
        </p:spPr>
      </p:sp>
      <p:sp>
        <p:nvSpPr>
          <p:cNvPr id="11" name="Text"/>
          <p:cNvSpPr txBox="1"/>
          <p:nvPr/>
        </p:nvSpPr>
        <p:spPr>
          <a:xfrm>
            <a:off x="9025487" y="17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2" name="Shape"/>
          <p:cNvSpPr/>
          <p:nvPr/>
        </p:nvSpPr>
        <p:spPr>
          <a:xfrm>
            <a:off x="566928" y="2120000"/>
            <a:ext cx="2900000" cy="730000"/>
          </a:xfrm>
          <a:prstGeom prst="rect">
            <a:avLst/>
          </a:prstGeom>
          <a:solidFill>
            <a:srgbClr val="D7E7E7"/>
          </a:solidFill>
          <a:ln w="9525">
            <a:solidFill>
              <a:srgbClr val="D9E0E3"/>
            </a:solidFill>
            <a:prstDash val="solid"/>
          </a:ln>
        </p:spPr>
      </p:sp>
      <p:sp>
        <p:nvSpPr>
          <p:cNvPr id="13" name="Text"/>
          <p:cNvSpPr txBox="1"/>
          <p:nvPr/>
        </p:nvSpPr>
        <p:spPr>
          <a:xfrm>
            <a:off x="686928" y="212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La situación</a:t>
            </a:r>
            <a:endParaRPr lang="en-US" sz="1250" dirty="0"/>
          </a:p>
        </p:txBody>
      </p:sp>
      <p:sp>
        <p:nvSpPr>
          <p:cNvPr id="14" name="Shape"/>
          <p:cNvSpPr/>
          <p:nvPr/>
        </p:nvSpPr>
        <p:spPr>
          <a:xfrm>
            <a:off x="3466928" y="2120000"/>
            <a:ext cx="2719279" cy="730000"/>
          </a:xfrm>
          <a:prstGeom prst="rect">
            <a:avLst/>
          </a:prstGeom>
          <a:solidFill>
            <a:srgbClr val="F2F5F6"/>
          </a:solidFill>
          <a:ln w="9525">
            <a:solidFill>
              <a:srgbClr val="D9E0E3"/>
            </a:solidFill>
            <a:prstDash val="solid"/>
          </a:ln>
        </p:spPr>
      </p:sp>
      <p:sp>
        <p:nvSpPr>
          <p:cNvPr id="15" name="Text"/>
          <p:cNvSpPr txBox="1"/>
          <p:nvPr/>
        </p:nvSpPr>
        <p:spPr>
          <a:xfrm>
            <a:off x="3586928" y="212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50" dirty="0"/>
          </a:p>
        </p:txBody>
      </p:sp>
      <p:sp>
        <p:nvSpPr>
          <p:cNvPr id="16" name="Shape"/>
          <p:cNvSpPr/>
          <p:nvPr/>
        </p:nvSpPr>
        <p:spPr>
          <a:xfrm>
            <a:off x="6186207" y="2120000"/>
            <a:ext cx="2719280" cy="730000"/>
          </a:xfrm>
          <a:prstGeom prst="rect">
            <a:avLst/>
          </a:prstGeom>
          <a:solidFill>
            <a:srgbClr val="F2F5F6"/>
          </a:solidFill>
          <a:ln w="9525">
            <a:solidFill>
              <a:srgbClr val="D9E0E3"/>
            </a:solidFill>
            <a:prstDash val="solid"/>
          </a:ln>
        </p:spPr>
      </p:sp>
      <p:sp>
        <p:nvSpPr>
          <p:cNvPr id="17" name="Text"/>
          <p:cNvSpPr txBox="1"/>
          <p:nvPr/>
        </p:nvSpPr>
        <p:spPr>
          <a:xfrm>
            <a:off x="6306207" y="212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usan «gestión» 35 veces y otra categoría 3.</a:t>
            </a:r>
            <a:endParaRPr lang="en-US" sz="1250" dirty="0"/>
          </a:p>
        </p:txBody>
      </p:sp>
      <p:sp>
        <p:nvSpPr>
          <p:cNvPr id="18" name="Shape"/>
          <p:cNvSpPr/>
          <p:nvPr/>
        </p:nvSpPr>
        <p:spPr>
          <a:xfrm>
            <a:off x="8905487" y="2120000"/>
            <a:ext cx="2719280" cy="730000"/>
          </a:xfrm>
          <a:prstGeom prst="rect">
            <a:avLst/>
          </a:prstGeom>
          <a:solidFill>
            <a:srgbClr val="F2F5F6"/>
          </a:solidFill>
          <a:ln w="9525">
            <a:solidFill>
              <a:srgbClr val="D9E0E3"/>
            </a:solidFill>
            <a:prstDash val="solid"/>
          </a:ln>
        </p:spPr>
      </p:sp>
      <p:sp>
        <p:nvSpPr>
          <p:cNvPr id="19" name="Text"/>
          <p:cNvSpPr txBox="1"/>
          <p:nvPr/>
        </p:nvSpPr>
        <p:spPr>
          <a:xfrm>
            <a:off x="9025487" y="212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escriben «gestión» siempre, sin abrir el archivo.</a:t>
            </a:r>
            <a:endParaRPr lang="en-US" sz="1250" dirty="0"/>
          </a:p>
        </p:txBody>
      </p:sp>
      <p:sp>
        <p:nvSpPr>
          <p:cNvPr id="20" name="Shape"/>
          <p:cNvSpPr/>
          <p:nvPr/>
        </p:nvSpPr>
        <p:spPr>
          <a:xfrm>
            <a:off x="566928" y="2850000"/>
            <a:ext cx="2900000" cy="730000"/>
          </a:xfrm>
          <a:prstGeom prst="rect">
            <a:avLst/>
          </a:prstGeom>
          <a:solidFill>
            <a:srgbClr val="D7E7E7"/>
          </a:solidFill>
          <a:ln w="9525">
            <a:solidFill>
              <a:srgbClr val="D9E0E3"/>
            </a:solidFill>
            <a:prstDash val="solid"/>
          </a:ln>
        </p:spPr>
      </p:sp>
      <p:sp>
        <p:nvSpPr>
          <p:cNvPr id="21" name="Text"/>
          <p:cNvSpPr txBox="1"/>
          <p:nvPr/>
        </p:nvSpPr>
        <p:spPr>
          <a:xfrm>
            <a:off x="686928" y="285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Acuerdo observado</a:t>
            </a:r>
            <a:endParaRPr lang="en-US" sz="1250" dirty="0"/>
          </a:p>
        </p:txBody>
      </p:sp>
      <p:sp>
        <p:nvSpPr>
          <p:cNvPr id="22" name="Shape"/>
          <p:cNvSpPr/>
          <p:nvPr/>
        </p:nvSpPr>
        <p:spPr>
          <a:xfrm>
            <a:off x="3466928" y="2850000"/>
            <a:ext cx="2719279" cy="730000"/>
          </a:xfrm>
          <a:prstGeom prst="rect">
            <a:avLst/>
          </a:prstGeom>
          <a:solidFill>
            <a:srgbClr val="FFFFFF"/>
          </a:solidFill>
          <a:ln w="9525">
            <a:solidFill>
              <a:srgbClr val="D9E0E3"/>
            </a:solidFill>
            <a:prstDash val="solid"/>
          </a:ln>
        </p:spPr>
      </p:sp>
      <p:sp>
        <p:nvSpPr>
          <p:cNvPr id="23" name="Text"/>
          <p:cNvSpPr txBox="1"/>
          <p:nvPr/>
        </p:nvSpPr>
        <p:spPr>
          <a:xfrm>
            <a:off x="3586928" y="285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36 de 38 = 94.7%</a:t>
            </a:r>
            <a:endParaRPr lang="en-US" sz="1250" dirty="0"/>
          </a:p>
        </p:txBody>
      </p:sp>
      <p:sp>
        <p:nvSpPr>
          <p:cNvPr id="24" name="Shape"/>
          <p:cNvSpPr/>
          <p:nvPr/>
        </p:nvSpPr>
        <p:spPr>
          <a:xfrm>
            <a:off x="6186207" y="2850000"/>
            <a:ext cx="2719280" cy="730000"/>
          </a:xfrm>
          <a:prstGeom prst="rect">
            <a:avLst/>
          </a:prstGeom>
          <a:solidFill>
            <a:srgbClr val="FFFFFF"/>
          </a:solidFill>
          <a:ln w="9525">
            <a:solidFill>
              <a:srgbClr val="D9E0E3"/>
            </a:solidFill>
            <a:prstDash val="solid"/>
          </a:ln>
        </p:spPr>
      </p:sp>
      <p:sp>
        <p:nvSpPr>
          <p:cNvPr id="25" name="Text"/>
          <p:cNvSpPr txBox="1"/>
          <p:nvPr/>
        </p:nvSpPr>
        <p:spPr>
          <a:xfrm>
            <a:off x="6306207" y="285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36 de 38 = 94.7%</a:t>
            </a:r>
            <a:endParaRPr lang="en-US" sz="1250" dirty="0"/>
          </a:p>
        </p:txBody>
      </p:sp>
      <p:sp>
        <p:nvSpPr>
          <p:cNvPr id="26" name="Shape"/>
          <p:cNvSpPr/>
          <p:nvPr/>
        </p:nvSpPr>
        <p:spPr>
          <a:xfrm>
            <a:off x="8905487" y="2850000"/>
            <a:ext cx="2719280" cy="730000"/>
          </a:xfrm>
          <a:prstGeom prst="rect">
            <a:avLst/>
          </a:prstGeom>
          <a:solidFill>
            <a:srgbClr val="FFFFFF"/>
          </a:solidFill>
          <a:ln w="9525">
            <a:solidFill>
              <a:srgbClr val="D9E0E3"/>
            </a:solidFill>
            <a:prstDash val="solid"/>
          </a:ln>
        </p:spPr>
      </p:sp>
      <p:sp>
        <p:nvSpPr>
          <p:cNvPr id="27" name="Text"/>
          <p:cNvSpPr txBox="1"/>
          <p:nvPr/>
        </p:nvSpPr>
        <p:spPr>
          <a:xfrm>
            <a:off x="9025487" y="285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37 de 38 = 97.4%</a:t>
            </a:r>
            <a:endParaRPr lang="en-US" sz="1250" dirty="0"/>
          </a:p>
        </p:txBody>
      </p:sp>
      <p:sp>
        <p:nvSpPr>
          <p:cNvPr id="28" name="Shape"/>
          <p:cNvSpPr/>
          <p:nvPr/>
        </p:nvSpPr>
        <p:spPr>
          <a:xfrm>
            <a:off x="566928" y="3580000"/>
            <a:ext cx="2900000" cy="730000"/>
          </a:xfrm>
          <a:prstGeom prst="rect">
            <a:avLst/>
          </a:prstGeom>
          <a:solidFill>
            <a:srgbClr val="D7E7E7"/>
          </a:solidFill>
          <a:ln w="9525">
            <a:solidFill>
              <a:srgbClr val="D9E0E3"/>
            </a:solidFill>
            <a:prstDash val="solid"/>
          </a:ln>
        </p:spPr>
      </p:sp>
      <p:sp>
        <p:nvSpPr>
          <p:cNvPr id="29" name="Text"/>
          <p:cNvSpPr txBox="1"/>
          <p:nvPr/>
        </p:nvSpPr>
        <p:spPr>
          <a:xfrm>
            <a:off x="686928" y="358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Acuerdo esperado por azar</a:t>
            </a:r>
            <a:endParaRPr lang="en-US" sz="1250" dirty="0"/>
          </a:p>
        </p:txBody>
      </p:sp>
      <p:sp>
        <p:nvSpPr>
          <p:cNvPr id="30" name="Shape"/>
          <p:cNvSpPr/>
          <p:nvPr/>
        </p:nvSpPr>
        <p:spPr>
          <a:xfrm>
            <a:off x="3466928" y="3580000"/>
            <a:ext cx="2719279" cy="730000"/>
          </a:xfrm>
          <a:prstGeom prst="rect">
            <a:avLst/>
          </a:prstGeom>
          <a:solidFill>
            <a:srgbClr val="F2F5F6"/>
          </a:solidFill>
          <a:ln w="9525">
            <a:solidFill>
              <a:srgbClr val="D9E0E3"/>
            </a:solidFill>
            <a:prstDash val="solid"/>
          </a:ln>
        </p:spPr>
      </p:sp>
      <p:sp>
        <p:nvSpPr>
          <p:cNvPr id="31" name="Text"/>
          <p:cNvSpPr txBox="1"/>
          <p:nvPr/>
        </p:nvSpPr>
        <p:spPr>
          <a:xfrm>
            <a:off x="3586928" y="358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27.0%</a:t>
            </a:r>
            <a:endParaRPr lang="en-US" sz="1250" dirty="0"/>
          </a:p>
        </p:txBody>
      </p:sp>
      <p:sp>
        <p:nvSpPr>
          <p:cNvPr id="32" name="Shape"/>
          <p:cNvSpPr/>
          <p:nvPr/>
        </p:nvSpPr>
        <p:spPr>
          <a:xfrm>
            <a:off x="6186207" y="3580000"/>
            <a:ext cx="2719280" cy="730000"/>
          </a:xfrm>
          <a:prstGeom prst="rect">
            <a:avLst/>
          </a:prstGeom>
          <a:solidFill>
            <a:srgbClr val="F2F5F6"/>
          </a:solidFill>
          <a:ln w="9525">
            <a:solidFill>
              <a:srgbClr val="D9E0E3"/>
            </a:solidFill>
            <a:prstDash val="solid"/>
          </a:ln>
        </p:spPr>
      </p:sp>
      <p:sp>
        <p:nvSpPr>
          <p:cNvPr id="33" name="Text"/>
          <p:cNvSpPr txBox="1"/>
          <p:nvPr/>
        </p:nvSpPr>
        <p:spPr>
          <a:xfrm>
            <a:off x="6306207" y="358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85.5%</a:t>
            </a:r>
            <a:endParaRPr lang="en-US" sz="1250" dirty="0"/>
          </a:p>
        </p:txBody>
      </p:sp>
      <p:sp>
        <p:nvSpPr>
          <p:cNvPr id="34" name="Shape"/>
          <p:cNvSpPr/>
          <p:nvPr/>
        </p:nvSpPr>
        <p:spPr>
          <a:xfrm>
            <a:off x="8905487" y="3580000"/>
            <a:ext cx="2719280" cy="730000"/>
          </a:xfrm>
          <a:prstGeom prst="rect">
            <a:avLst/>
          </a:prstGeom>
          <a:solidFill>
            <a:srgbClr val="F2F5F6"/>
          </a:solidFill>
          <a:ln w="9525">
            <a:solidFill>
              <a:srgbClr val="D9E0E3"/>
            </a:solidFill>
            <a:prstDash val="solid"/>
          </a:ln>
        </p:spPr>
      </p:sp>
      <p:sp>
        <p:nvSpPr>
          <p:cNvPr id="35" name="Text"/>
          <p:cNvSpPr txBox="1"/>
          <p:nvPr/>
        </p:nvSpPr>
        <p:spPr>
          <a:xfrm>
            <a:off x="9025487" y="358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97.4%</a:t>
            </a:r>
            <a:endParaRPr lang="en-US" sz="1250" dirty="0"/>
          </a:p>
        </p:txBody>
      </p:sp>
      <p:sp>
        <p:nvSpPr>
          <p:cNvPr id="36" name="Shape"/>
          <p:cNvSpPr/>
          <p:nvPr/>
        </p:nvSpPr>
        <p:spPr>
          <a:xfrm>
            <a:off x="566928" y="4310000"/>
            <a:ext cx="2900000" cy="730000"/>
          </a:xfrm>
          <a:prstGeom prst="rect">
            <a:avLst/>
          </a:prstGeom>
          <a:solidFill>
            <a:srgbClr val="D7E7E7"/>
          </a:solidFill>
          <a:ln w="9525">
            <a:solidFill>
              <a:srgbClr val="D9E0E3"/>
            </a:solidFill>
            <a:prstDash val="solid"/>
          </a:ln>
        </p:spPr>
      </p:sp>
      <p:sp>
        <p:nvSpPr>
          <p:cNvPr id="37" name="Text"/>
          <p:cNvSpPr txBox="1"/>
          <p:nvPr/>
        </p:nvSpPr>
        <p:spPr>
          <a:xfrm>
            <a:off x="686928" y="4310000"/>
            <a:ext cx="2660000" cy="73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Kappa de Cohen</a:t>
            </a:r>
            <a:endParaRPr lang="en-US" sz="1250" dirty="0"/>
          </a:p>
        </p:txBody>
      </p:sp>
      <p:sp>
        <p:nvSpPr>
          <p:cNvPr id="38" name="Shape"/>
          <p:cNvSpPr/>
          <p:nvPr/>
        </p:nvSpPr>
        <p:spPr>
          <a:xfrm>
            <a:off x="3466928" y="4310000"/>
            <a:ext cx="2719279" cy="730000"/>
          </a:xfrm>
          <a:prstGeom prst="rect">
            <a:avLst/>
          </a:prstGeom>
          <a:solidFill>
            <a:srgbClr val="FFFFFF"/>
          </a:solidFill>
          <a:ln w="9525">
            <a:solidFill>
              <a:srgbClr val="D9E0E3"/>
            </a:solidFill>
            <a:prstDash val="solid"/>
          </a:ln>
        </p:spPr>
      </p:sp>
      <p:sp>
        <p:nvSpPr>
          <p:cNvPr id="39" name="Text"/>
          <p:cNvSpPr txBox="1"/>
          <p:nvPr/>
        </p:nvSpPr>
        <p:spPr>
          <a:xfrm>
            <a:off x="3586928" y="4310000"/>
            <a:ext cx="2479279"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0.93</a:t>
            </a:r>
            <a:endParaRPr lang="en-US" sz="1250" dirty="0"/>
          </a:p>
        </p:txBody>
      </p:sp>
      <p:sp>
        <p:nvSpPr>
          <p:cNvPr id="40" name="Shape"/>
          <p:cNvSpPr/>
          <p:nvPr/>
        </p:nvSpPr>
        <p:spPr>
          <a:xfrm>
            <a:off x="6186207" y="4310000"/>
            <a:ext cx="2719280" cy="730000"/>
          </a:xfrm>
          <a:prstGeom prst="rect">
            <a:avLst/>
          </a:prstGeom>
          <a:solidFill>
            <a:srgbClr val="FFFFFF"/>
          </a:solidFill>
          <a:ln w="9525">
            <a:solidFill>
              <a:srgbClr val="D9E0E3"/>
            </a:solidFill>
            <a:prstDash val="solid"/>
          </a:ln>
        </p:spPr>
      </p:sp>
      <p:sp>
        <p:nvSpPr>
          <p:cNvPr id="41" name="Text"/>
          <p:cNvSpPr txBox="1"/>
          <p:nvPr/>
        </p:nvSpPr>
        <p:spPr>
          <a:xfrm>
            <a:off x="6306207" y="431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0.64</a:t>
            </a:r>
            <a:endParaRPr lang="en-US" sz="1250" dirty="0"/>
          </a:p>
        </p:txBody>
      </p:sp>
      <p:sp>
        <p:nvSpPr>
          <p:cNvPr id="42" name="Shape"/>
          <p:cNvSpPr/>
          <p:nvPr/>
        </p:nvSpPr>
        <p:spPr>
          <a:xfrm>
            <a:off x="8905487" y="4310000"/>
            <a:ext cx="2719280" cy="730000"/>
          </a:xfrm>
          <a:prstGeom prst="rect">
            <a:avLst/>
          </a:prstGeom>
          <a:solidFill>
            <a:srgbClr val="FFFFFF"/>
          </a:solidFill>
          <a:ln w="9525">
            <a:solidFill>
              <a:srgbClr val="D9E0E3"/>
            </a:solidFill>
            <a:prstDash val="solid"/>
          </a:ln>
        </p:spPr>
      </p:sp>
      <p:sp>
        <p:nvSpPr>
          <p:cNvPr id="43" name="Text"/>
          <p:cNvSpPr txBox="1"/>
          <p:nvPr/>
        </p:nvSpPr>
        <p:spPr>
          <a:xfrm>
            <a:off x="9025487" y="4310000"/>
            <a:ext cx="2479280" cy="73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0.00</a:t>
            </a:r>
            <a:endParaRPr lang="en-US" sz="1250" dirty="0"/>
          </a:p>
        </p:txBody>
      </p:sp>
      <p:sp>
        <p:nvSpPr>
          <p:cNvPr id="44" name="Shape"/>
          <p:cNvSpPr/>
          <p:nvPr/>
        </p:nvSpPr>
        <p:spPr>
          <a:xfrm>
            <a:off x="566928" y="5160000"/>
            <a:ext cx="5408919" cy="860000"/>
          </a:xfrm>
          <a:prstGeom prst="roundRect">
            <a:avLst>
              <a:gd name="adj" fmla="val 2933"/>
            </a:avLst>
          </a:prstGeom>
          <a:solidFill>
            <a:srgbClr val="F7E4D8"/>
          </a:solidFill>
          <a:ln w="12700">
            <a:solidFill>
              <a:srgbClr val="F7E4D8"/>
            </a:solidFill>
            <a:prstDash val="solid"/>
          </a:ln>
        </p:spPr>
      </p:sp>
      <p:sp>
        <p:nvSpPr>
          <p:cNvPr id="45" name="Text"/>
          <p:cNvSpPr txBox="1"/>
          <p:nvPr/>
        </p:nvSpPr>
        <p:spPr>
          <a:xfrm>
            <a:off x="804672" y="528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6" name="Text"/>
          <p:cNvSpPr txBox="1"/>
          <p:nvPr/>
        </p:nvSpPr>
        <p:spPr>
          <a:xfrm>
            <a:off x="804672" y="5590000"/>
            <a:ext cx="4933431" cy="380000"/>
          </a:xfrm>
          <a:prstGeom prst="rect">
            <a:avLst/>
          </a:prstGeom>
          <a:noFill/>
          <a:ln/>
        </p:spPr>
        <p:txBody>
          <a:bodyPr wrap="square" lIns="0" tIns="0" rIns="0" bIns="0" rtlCol="0" anchor="t"/>
          <a:lstStyle/>
          <a:p>
            <a:pPr indent="0" marL="0">
              <a:lnSpc>
                <a:spcPct val="103000"/>
              </a:lnSpc>
              <a:buNone/>
            </a:pPr>
            <a:r>
              <a:rPr lang="en-US" sz="105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50" dirty="0"/>
          </a:p>
        </p:txBody>
      </p:sp>
      <p:sp>
        <p:nvSpPr>
          <p:cNvPr id="47" name="Shape"/>
          <p:cNvSpPr/>
          <p:nvPr/>
        </p:nvSpPr>
        <p:spPr>
          <a:xfrm>
            <a:off x="6215847" y="5160000"/>
            <a:ext cx="5408919" cy="860000"/>
          </a:xfrm>
          <a:prstGeom prst="roundRect">
            <a:avLst>
              <a:gd name="adj" fmla="val 2933"/>
            </a:avLst>
          </a:prstGeom>
          <a:solidFill>
            <a:srgbClr val="F2F5F6"/>
          </a:solidFill>
          <a:ln w="12700">
            <a:solidFill>
              <a:srgbClr val="F2F5F6"/>
            </a:solidFill>
            <a:prstDash val="solid"/>
          </a:ln>
        </p:spPr>
      </p:sp>
      <p:sp>
        <p:nvSpPr>
          <p:cNvPr id="48" name="Text"/>
          <p:cNvSpPr txBox="1"/>
          <p:nvPr/>
        </p:nvSpPr>
        <p:spPr>
          <a:xfrm>
            <a:off x="6453591" y="5280000"/>
            <a:ext cx="4933431" cy="62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150" dirty="0"/>
          </a:p>
        </p:txBody>
      </p:sp>
      <p:sp>
        <p:nvSpPr>
          <p:cNvPr id="49" name="Text"/>
          <p:cNvSpPr txBox="1"/>
          <p:nvPr/>
        </p:nvSpPr>
        <p:spPr>
          <a:xfrm>
            <a:off x="566928" y="61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 Cuál es peor no lo dice la fórmula: lo declara quien va a usar el resultado.</a:t>
            </a:r>
            <a:endParaRPr lang="en-US" sz="1500" dirty="0"/>
          </a:p>
        </p:txBody>
      </p:sp>
      <p:sp>
        <p:nvSpPr>
          <p:cNvPr id="4" name="Shape"/>
          <p:cNvSpPr/>
          <p:nvPr/>
        </p:nvSpPr>
        <p:spPr>
          <a:xfrm>
            <a:off x="566928" y="1800000"/>
            <a:ext cx="31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666928" y="1800000"/>
            <a:ext cx="2652613" cy="420000"/>
          </a:xfrm>
          <a:prstGeom prst="rect">
            <a:avLst/>
          </a:prstGeom>
          <a:solidFill>
            <a:srgbClr val="16262E"/>
          </a:solidFill>
          <a:ln w="9525">
            <a:solidFill>
              <a:srgbClr val="FFFFFF"/>
            </a:solidFill>
            <a:prstDash val="solid"/>
          </a:ln>
        </p:spPr>
      </p:sp>
      <p:sp>
        <p:nvSpPr>
          <p:cNvPr id="7" name="Text"/>
          <p:cNvSpPr txBox="1"/>
          <p:nvPr/>
        </p:nvSpPr>
        <p:spPr>
          <a:xfrm>
            <a:off x="3786928"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8" name="Shape"/>
          <p:cNvSpPr/>
          <p:nvPr/>
        </p:nvSpPr>
        <p:spPr>
          <a:xfrm>
            <a:off x="6319541" y="1800000"/>
            <a:ext cx="2652613" cy="420000"/>
          </a:xfrm>
          <a:prstGeom prst="rect">
            <a:avLst/>
          </a:prstGeom>
          <a:solidFill>
            <a:srgbClr val="16262E"/>
          </a:solidFill>
          <a:ln w="9525">
            <a:solidFill>
              <a:srgbClr val="FFFFFF"/>
            </a:solidFill>
            <a:prstDash val="solid"/>
          </a:ln>
        </p:spPr>
      </p:sp>
      <p:sp>
        <p:nvSpPr>
          <p:cNvPr id="9" name="Text"/>
          <p:cNvSpPr txBox="1"/>
          <p:nvPr/>
        </p:nvSpPr>
        <p:spPr>
          <a:xfrm>
            <a:off x="6439541"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0" name="Shape"/>
          <p:cNvSpPr/>
          <p:nvPr/>
        </p:nvSpPr>
        <p:spPr>
          <a:xfrm>
            <a:off x="8972154" y="1800000"/>
            <a:ext cx="2652613" cy="420000"/>
          </a:xfrm>
          <a:prstGeom prst="rect">
            <a:avLst/>
          </a:prstGeom>
          <a:solidFill>
            <a:srgbClr val="16262E"/>
          </a:solidFill>
          <a:ln w="9525">
            <a:solidFill>
              <a:srgbClr val="FFFFFF"/>
            </a:solidFill>
            <a:prstDash val="solid"/>
          </a:ln>
        </p:spPr>
      </p:sp>
      <p:sp>
        <p:nvSpPr>
          <p:cNvPr id="11" name="Text"/>
          <p:cNvSpPr txBox="1"/>
          <p:nvPr/>
        </p:nvSpPr>
        <p:spPr>
          <a:xfrm>
            <a:off x="9092154" y="18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2" name="Shape"/>
          <p:cNvSpPr/>
          <p:nvPr/>
        </p:nvSpPr>
        <p:spPr>
          <a:xfrm>
            <a:off x="566928" y="2220000"/>
            <a:ext cx="3100000" cy="780000"/>
          </a:xfrm>
          <a:prstGeom prst="rect">
            <a:avLst/>
          </a:prstGeom>
          <a:solidFill>
            <a:srgbClr val="D7E7E7"/>
          </a:solidFill>
          <a:ln w="9525">
            <a:solidFill>
              <a:srgbClr val="D9E0E3"/>
            </a:solidFill>
            <a:prstDash val="solid"/>
          </a:ln>
        </p:spPr>
      </p:sp>
      <p:sp>
        <p:nvSpPr>
          <p:cNvPr id="13" name="Text"/>
          <p:cNvSpPr txBox="1"/>
          <p:nvPr/>
        </p:nvSpPr>
        <p:spPr>
          <a:xfrm>
            <a:off x="686928" y="222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Lo que hizo</a:t>
            </a:r>
            <a:endParaRPr lang="en-US" sz="1250" dirty="0"/>
          </a:p>
        </p:txBody>
      </p:sp>
      <p:sp>
        <p:nvSpPr>
          <p:cNvPr id="14" name="Shape"/>
          <p:cNvSpPr/>
          <p:nvPr/>
        </p:nvSpPr>
        <p:spPr>
          <a:xfrm>
            <a:off x="3666928" y="2220000"/>
            <a:ext cx="2652613" cy="780000"/>
          </a:xfrm>
          <a:prstGeom prst="rect">
            <a:avLst/>
          </a:prstGeom>
          <a:solidFill>
            <a:srgbClr val="F2F5F6"/>
          </a:solidFill>
          <a:ln w="9525">
            <a:solidFill>
              <a:srgbClr val="D9E0E3"/>
            </a:solidFill>
            <a:prstDash val="solid"/>
          </a:ln>
        </p:spPr>
      </p:sp>
      <p:sp>
        <p:nvSpPr>
          <p:cNvPr id="15" name="Text"/>
          <p:cNvSpPr txBox="1"/>
          <p:nvPr/>
        </p:nvSpPr>
        <p:spPr>
          <a:xfrm>
            <a:off x="3786928"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Devuelve los 5 y agrega uno que no existe.</a:t>
            </a:r>
            <a:endParaRPr lang="en-US" sz="1250" dirty="0"/>
          </a:p>
        </p:txBody>
      </p:sp>
      <p:sp>
        <p:nvSpPr>
          <p:cNvPr id="16" name="Shape"/>
          <p:cNvSpPr/>
          <p:nvPr/>
        </p:nvSpPr>
        <p:spPr>
          <a:xfrm>
            <a:off x="6319541" y="2220000"/>
            <a:ext cx="2652613" cy="780000"/>
          </a:xfrm>
          <a:prstGeom prst="rect">
            <a:avLst/>
          </a:prstGeom>
          <a:solidFill>
            <a:srgbClr val="F2F5F6"/>
          </a:solidFill>
          <a:ln w="9525">
            <a:solidFill>
              <a:srgbClr val="D9E0E3"/>
            </a:solidFill>
            <a:prstDash val="solid"/>
          </a:ln>
        </p:spPr>
      </p:sp>
      <p:sp>
        <p:nvSpPr>
          <p:cNvPr id="17" name="Text"/>
          <p:cNvSpPr txBox="1"/>
          <p:nvPr/>
        </p:nvSpPr>
        <p:spPr>
          <a:xfrm>
            <a:off x="6439541"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Devuelve 4 correctos y se salta uno.</a:t>
            </a:r>
            <a:endParaRPr lang="en-US" sz="1250" dirty="0"/>
          </a:p>
        </p:txBody>
      </p:sp>
      <p:sp>
        <p:nvSpPr>
          <p:cNvPr id="18" name="Shape"/>
          <p:cNvSpPr/>
          <p:nvPr/>
        </p:nvSpPr>
        <p:spPr>
          <a:xfrm>
            <a:off x="8972154" y="2220000"/>
            <a:ext cx="2652613" cy="780000"/>
          </a:xfrm>
          <a:prstGeom prst="rect">
            <a:avLst/>
          </a:prstGeom>
          <a:solidFill>
            <a:srgbClr val="F2F5F6"/>
          </a:solidFill>
          <a:ln w="9525">
            <a:solidFill>
              <a:srgbClr val="D9E0E3"/>
            </a:solidFill>
            <a:prstDash val="solid"/>
          </a:ln>
        </p:spPr>
      </p:sp>
      <p:sp>
        <p:nvSpPr>
          <p:cNvPr id="19" name="Text"/>
          <p:cNvSpPr txBox="1"/>
          <p:nvPr/>
        </p:nvSpPr>
        <p:spPr>
          <a:xfrm>
            <a:off x="9092154" y="222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
            </a:r>
            <a:endParaRPr lang="en-US" sz="1250" dirty="0"/>
          </a:p>
        </p:txBody>
      </p:sp>
      <p:sp>
        <p:nvSpPr>
          <p:cNvPr id="20" name="Shape"/>
          <p:cNvSpPr/>
          <p:nvPr/>
        </p:nvSpPr>
        <p:spPr>
          <a:xfrm>
            <a:off x="566928" y="3000000"/>
            <a:ext cx="3100000" cy="780000"/>
          </a:xfrm>
          <a:prstGeom prst="rect">
            <a:avLst/>
          </a:prstGeom>
          <a:solidFill>
            <a:srgbClr val="D7E7E7"/>
          </a:solidFill>
          <a:ln w="9525">
            <a:solidFill>
              <a:srgbClr val="D9E0E3"/>
            </a:solidFill>
            <a:prstDash val="solid"/>
          </a:ln>
        </p:spPr>
      </p:sp>
      <p:sp>
        <p:nvSpPr>
          <p:cNvPr id="21" name="Text"/>
          <p:cNvSpPr txBox="1"/>
          <p:nvPr/>
        </p:nvSpPr>
        <p:spPr>
          <a:xfrm>
            <a:off x="686928" y="300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Precisión y recuperación</a:t>
            </a:r>
            <a:endParaRPr lang="en-US" sz="1250" dirty="0"/>
          </a:p>
        </p:txBody>
      </p:sp>
      <p:sp>
        <p:nvSpPr>
          <p:cNvPr id="22" name="Shape"/>
          <p:cNvSpPr/>
          <p:nvPr/>
        </p:nvSpPr>
        <p:spPr>
          <a:xfrm>
            <a:off x="3666928" y="3000000"/>
            <a:ext cx="2652613" cy="780000"/>
          </a:xfrm>
          <a:prstGeom prst="rect">
            <a:avLst/>
          </a:prstGeom>
          <a:solidFill>
            <a:srgbClr val="FFFFFF"/>
          </a:solidFill>
          <a:ln w="9525">
            <a:solidFill>
              <a:srgbClr val="D9E0E3"/>
            </a:solidFill>
            <a:prstDash val="solid"/>
          </a:ln>
        </p:spPr>
      </p:sp>
      <p:sp>
        <p:nvSpPr>
          <p:cNvPr id="23" name="Text"/>
          <p:cNvSpPr txBox="1"/>
          <p:nvPr/>
        </p:nvSpPr>
        <p:spPr>
          <a:xfrm>
            <a:off x="3786928"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 = 5/6 = 0.83   R = 5/5 = 1.00</a:t>
            </a:r>
            <a:endParaRPr lang="en-US" sz="1250" dirty="0"/>
          </a:p>
        </p:txBody>
      </p:sp>
      <p:sp>
        <p:nvSpPr>
          <p:cNvPr id="24" name="Shape"/>
          <p:cNvSpPr/>
          <p:nvPr/>
        </p:nvSpPr>
        <p:spPr>
          <a:xfrm>
            <a:off x="6319541" y="3000000"/>
            <a:ext cx="2652613" cy="780000"/>
          </a:xfrm>
          <a:prstGeom prst="rect">
            <a:avLst/>
          </a:prstGeom>
          <a:solidFill>
            <a:srgbClr val="FFFFFF"/>
          </a:solidFill>
          <a:ln w="9525">
            <a:solidFill>
              <a:srgbClr val="D9E0E3"/>
            </a:solidFill>
            <a:prstDash val="solid"/>
          </a:ln>
        </p:spPr>
      </p:sp>
      <p:sp>
        <p:nvSpPr>
          <p:cNvPr id="25" name="Text"/>
          <p:cNvSpPr txBox="1"/>
          <p:nvPr/>
        </p:nvSpPr>
        <p:spPr>
          <a:xfrm>
            <a:off x="6439541"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P = 4/4 = 1.00   R = 4/5 = 0.80</a:t>
            </a:r>
            <a:endParaRPr lang="en-US" sz="1250" dirty="0"/>
          </a:p>
        </p:txBody>
      </p:sp>
      <p:sp>
        <p:nvSpPr>
          <p:cNvPr id="26" name="Shape"/>
          <p:cNvSpPr/>
          <p:nvPr/>
        </p:nvSpPr>
        <p:spPr>
          <a:xfrm>
            <a:off x="8972154" y="3000000"/>
            <a:ext cx="2652613" cy="780000"/>
          </a:xfrm>
          <a:prstGeom prst="rect">
            <a:avLst/>
          </a:prstGeom>
          <a:solidFill>
            <a:srgbClr val="FFFFFF"/>
          </a:solidFill>
          <a:ln w="9525">
            <a:solidFill>
              <a:srgbClr val="D9E0E3"/>
            </a:solidFill>
            <a:prstDash val="solid"/>
          </a:ln>
        </p:spPr>
      </p:sp>
      <p:sp>
        <p:nvSpPr>
          <p:cNvPr id="27" name="Text"/>
          <p:cNvSpPr txBox="1"/>
          <p:nvPr/>
        </p:nvSpPr>
        <p:spPr>
          <a:xfrm>
            <a:off x="9092154" y="300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
            </a:r>
            <a:endParaRPr lang="en-US" sz="1250" dirty="0"/>
          </a:p>
        </p:txBody>
      </p:sp>
      <p:sp>
        <p:nvSpPr>
          <p:cNvPr id="28" name="Shape"/>
          <p:cNvSpPr/>
          <p:nvPr/>
        </p:nvSpPr>
        <p:spPr>
          <a:xfrm>
            <a:off x="566928" y="3780000"/>
            <a:ext cx="3100000" cy="780000"/>
          </a:xfrm>
          <a:prstGeom prst="rect">
            <a:avLst/>
          </a:prstGeom>
          <a:solidFill>
            <a:srgbClr val="D7E7E7"/>
          </a:solidFill>
          <a:ln w="9525">
            <a:solidFill>
              <a:srgbClr val="D9E0E3"/>
            </a:solidFill>
            <a:prstDash val="solid"/>
          </a:ln>
        </p:spPr>
      </p:sp>
      <p:sp>
        <p:nvSpPr>
          <p:cNvPr id="29" name="Text"/>
          <p:cNvSpPr txBox="1"/>
          <p:nvPr/>
        </p:nvSpPr>
        <p:spPr>
          <a:xfrm>
            <a:off x="686928" y="378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F1, los dos errores pesan igual</a:t>
            </a:r>
            <a:endParaRPr lang="en-US" sz="1250" dirty="0"/>
          </a:p>
        </p:txBody>
      </p:sp>
      <p:sp>
        <p:nvSpPr>
          <p:cNvPr id="30" name="Shape"/>
          <p:cNvSpPr/>
          <p:nvPr/>
        </p:nvSpPr>
        <p:spPr>
          <a:xfrm>
            <a:off x="3666928" y="3780000"/>
            <a:ext cx="2652613" cy="780000"/>
          </a:xfrm>
          <a:prstGeom prst="rect">
            <a:avLst/>
          </a:prstGeom>
          <a:solidFill>
            <a:srgbClr val="F2F5F6"/>
          </a:solidFill>
          <a:ln w="9525">
            <a:solidFill>
              <a:srgbClr val="D9E0E3"/>
            </a:solidFill>
            <a:prstDash val="solid"/>
          </a:ln>
        </p:spPr>
      </p:sp>
      <p:sp>
        <p:nvSpPr>
          <p:cNvPr id="31" name="Text"/>
          <p:cNvSpPr txBox="1"/>
          <p:nvPr/>
        </p:nvSpPr>
        <p:spPr>
          <a:xfrm>
            <a:off x="3786928"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10/11 = 0.91</a:t>
            </a:r>
            <a:endParaRPr lang="en-US" sz="1250" dirty="0"/>
          </a:p>
        </p:txBody>
      </p:sp>
      <p:sp>
        <p:nvSpPr>
          <p:cNvPr id="32" name="Shape"/>
          <p:cNvSpPr/>
          <p:nvPr/>
        </p:nvSpPr>
        <p:spPr>
          <a:xfrm>
            <a:off x="6319541" y="3780000"/>
            <a:ext cx="2652613" cy="780000"/>
          </a:xfrm>
          <a:prstGeom prst="rect">
            <a:avLst/>
          </a:prstGeom>
          <a:solidFill>
            <a:srgbClr val="F2F5F6"/>
          </a:solidFill>
          <a:ln w="9525">
            <a:solidFill>
              <a:srgbClr val="D9E0E3"/>
            </a:solidFill>
            <a:prstDash val="solid"/>
          </a:ln>
        </p:spPr>
      </p:sp>
      <p:sp>
        <p:nvSpPr>
          <p:cNvPr id="33" name="Text"/>
          <p:cNvSpPr txBox="1"/>
          <p:nvPr/>
        </p:nvSpPr>
        <p:spPr>
          <a:xfrm>
            <a:off x="6439541"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8/9 = 0.89</a:t>
            </a:r>
            <a:endParaRPr lang="en-US" sz="1250" dirty="0"/>
          </a:p>
        </p:txBody>
      </p:sp>
      <p:sp>
        <p:nvSpPr>
          <p:cNvPr id="34" name="Shape"/>
          <p:cNvSpPr/>
          <p:nvPr/>
        </p:nvSpPr>
        <p:spPr>
          <a:xfrm>
            <a:off x="8972154" y="3780000"/>
            <a:ext cx="2652613" cy="780000"/>
          </a:xfrm>
          <a:prstGeom prst="rect">
            <a:avLst/>
          </a:prstGeom>
          <a:solidFill>
            <a:srgbClr val="F2F5F6"/>
          </a:solidFill>
          <a:ln w="9525">
            <a:solidFill>
              <a:srgbClr val="D9E0E3"/>
            </a:solidFill>
            <a:prstDash val="solid"/>
          </a:ln>
        </p:spPr>
      </p:sp>
      <p:sp>
        <p:nvSpPr>
          <p:cNvPr id="35" name="Text"/>
          <p:cNvSpPr txBox="1"/>
          <p:nvPr/>
        </p:nvSpPr>
        <p:spPr>
          <a:xfrm>
            <a:off x="9092154" y="378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inventa</a:t>
            </a:r>
            <a:endParaRPr lang="en-US" sz="1250" dirty="0"/>
          </a:p>
        </p:txBody>
      </p:sp>
      <p:sp>
        <p:nvSpPr>
          <p:cNvPr id="36" name="Shape"/>
          <p:cNvSpPr/>
          <p:nvPr/>
        </p:nvSpPr>
        <p:spPr>
          <a:xfrm>
            <a:off x="566928" y="4560000"/>
            <a:ext cx="3100000" cy="780000"/>
          </a:xfrm>
          <a:prstGeom prst="rect">
            <a:avLst/>
          </a:prstGeom>
          <a:solidFill>
            <a:srgbClr val="D7E7E7"/>
          </a:solidFill>
          <a:ln w="9525">
            <a:solidFill>
              <a:srgbClr val="D9E0E3"/>
            </a:solidFill>
            <a:prstDash val="solid"/>
          </a:ln>
        </p:spPr>
      </p:sp>
      <p:sp>
        <p:nvSpPr>
          <p:cNvPr id="37" name="Text"/>
          <p:cNvSpPr txBox="1"/>
          <p:nvPr/>
        </p:nvSpPr>
        <p:spPr>
          <a:xfrm>
            <a:off x="686928" y="456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F2, omitir pesa el doble</a:t>
            </a:r>
            <a:endParaRPr lang="en-US" sz="1250" dirty="0"/>
          </a:p>
        </p:txBody>
      </p:sp>
      <p:sp>
        <p:nvSpPr>
          <p:cNvPr id="38" name="Shape"/>
          <p:cNvSpPr/>
          <p:nvPr/>
        </p:nvSpPr>
        <p:spPr>
          <a:xfrm>
            <a:off x="3666928" y="4560000"/>
            <a:ext cx="2652613" cy="780000"/>
          </a:xfrm>
          <a:prstGeom prst="rect">
            <a:avLst/>
          </a:prstGeom>
          <a:solidFill>
            <a:srgbClr val="FFFFFF"/>
          </a:solidFill>
          <a:ln w="9525">
            <a:solidFill>
              <a:srgbClr val="D9E0E3"/>
            </a:solidFill>
            <a:prstDash val="solid"/>
          </a:ln>
        </p:spPr>
      </p:sp>
      <p:sp>
        <p:nvSpPr>
          <p:cNvPr id="39" name="Text"/>
          <p:cNvSpPr txBox="1"/>
          <p:nvPr/>
        </p:nvSpPr>
        <p:spPr>
          <a:xfrm>
            <a:off x="3786928"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0.96</a:t>
            </a:r>
            <a:endParaRPr lang="en-US" sz="1250" dirty="0"/>
          </a:p>
        </p:txBody>
      </p:sp>
      <p:sp>
        <p:nvSpPr>
          <p:cNvPr id="40" name="Shape"/>
          <p:cNvSpPr/>
          <p:nvPr/>
        </p:nvSpPr>
        <p:spPr>
          <a:xfrm>
            <a:off x="6319541" y="4560000"/>
            <a:ext cx="2652613" cy="780000"/>
          </a:xfrm>
          <a:prstGeom prst="rect">
            <a:avLst/>
          </a:prstGeom>
          <a:solidFill>
            <a:srgbClr val="FFFFFF"/>
          </a:solidFill>
          <a:ln w="9525">
            <a:solidFill>
              <a:srgbClr val="D9E0E3"/>
            </a:solidFill>
            <a:prstDash val="solid"/>
          </a:ln>
        </p:spPr>
      </p:sp>
      <p:sp>
        <p:nvSpPr>
          <p:cNvPr id="41" name="Text"/>
          <p:cNvSpPr txBox="1"/>
          <p:nvPr/>
        </p:nvSpPr>
        <p:spPr>
          <a:xfrm>
            <a:off x="6439541"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0.83</a:t>
            </a:r>
            <a:endParaRPr lang="en-US" sz="1250" dirty="0"/>
          </a:p>
        </p:txBody>
      </p:sp>
      <p:sp>
        <p:nvSpPr>
          <p:cNvPr id="42" name="Shape"/>
          <p:cNvSpPr/>
          <p:nvPr/>
        </p:nvSpPr>
        <p:spPr>
          <a:xfrm>
            <a:off x="8972154" y="4560000"/>
            <a:ext cx="2652613" cy="780000"/>
          </a:xfrm>
          <a:prstGeom prst="rect">
            <a:avLst/>
          </a:prstGeom>
          <a:solidFill>
            <a:srgbClr val="FFFFFF"/>
          </a:solidFill>
          <a:ln w="9525">
            <a:solidFill>
              <a:srgbClr val="D9E0E3"/>
            </a:solidFill>
            <a:prstDash val="solid"/>
          </a:ln>
        </p:spPr>
      </p:sp>
      <p:sp>
        <p:nvSpPr>
          <p:cNvPr id="43" name="Text"/>
          <p:cNvSpPr txBox="1"/>
          <p:nvPr/>
        </p:nvSpPr>
        <p:spPr>
          <a:xfrm>
            <a:off x="9092154" y="456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inventa, por mucho</a:t>
            </a:r>
            <a:endParaRPr lang="en-US" sz="1250" dirty="0"/>
          </a:p>
        </p:txBody>
      </p:sp>
      <p:sp>
        <p:nvSpPr>
          <p:cNvPr id="44" name="Shape"/>
          <p:cNvSpPr/>
          <p:nvPr/>
        </p:nvSpPr>
        <p:spPr>
          <a:xfrm>
            <a:off x="566928" y="5340000"/>
            <a:ext cx="3100000" cy="780000"/>
          </a:xfrm>
          <a:prstGeom prst="rect">
            <a:avLst/>
          </a:prstGeom>
          <a:solidFill>
            <a:srgbClr val="D7E7E7"/>
          </a:solidFill>
          <a:ln w="9525">
            <a:solidFill>
              <a:srgbClr val="D9E0E3"/>
            </a:solidFill>
            <a:prstDash val="solid"/>
          </a:ln>
        </p:spPr>
      </p:sp>
      <p:sp>
        <p:nvSpPr>
          <p:cNvPr id="45" name="Text"/>
          <p:cNvSpPr txBox="1"/>
          <p:nvPr/>
        </p:nvSpPr>
        <p:spPr>
          <a:xfrm>
            <a:off x="686928" y="5340000"/>
            <a:ext cx="2860000" cy="78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F0.5, inventar pesa el doble</a:t>
            </a:r>
            <a:endParaRPr lang="en-US" sz="1250" dirty="0"/>
          </a:p>
        </p:txBody>
      </p:sp>
      <p:sp>
        <p:nvSpPr>
          <p:cNvPr id="46" name="Shape"/>
          <p:cNvSpPr/>
          <p:nvPr/>
        </p:nvSpPr>
        <p:spPr>
          <a:xfrm>
            <a:off x="3666928" y="5340000"/>
            <a:ext cx="2652613" cy="780000"/>
          </a:xfrm>
          <a:prstGeom prst="rect">
            <a:avLst/>
          </a:prstGeom>
          <a:solidFill>
            <a:srgbClr val="F2F5F6"/>
          </a:solidFill>
          <a:ln w="9525">
            <a:solidFill>
              <a:srgbClr val="D9E0E3"/>
            </a:solidFill>
            <a:prstDash val="solid"/>
          </a:ln>
        </p:spPr>
      </p:sp>
      <p:sp>
        <p:nvSpPr>
          <p:cNvPr id="47" name="Text"/>
          <p:cNvSpPr txBox="1"/>
          <p:nvPr/>
        </p:nvSpPr>
        <p:spPr>
          <a:xfrm>
            <a:off x="3786928"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0.86</a:t>
            </a:r>
            <a:endParaRPr lang="en-US" sz="1250" dirty="0"/>
          </a:p>
        </p:txBody>
      </p:sp>
      <p:sp>
        <p:nvSpPr>
          <p:cNvPr id="48" name="Shape"/>
          <p:cNvSpPr/>
          <p:nvPr/>
        </p:nvSpPr>
        <p:spPr>
          <a:xfrm>
            <a:off x="6319541" y="5340000"/>
            <a:ext cx="2652613" cy="780000"/>
          </a:xfrm>
          <a:prstGeom prst="rect">
            <a:avLst/>
          </a:prstGeom>
          <a:solidFill>
            <a:srgbClr val="F2F5F6"/>
          </a:solidFill>
          <a:ln w="9525">
            <a:solidFill>
              <a:srgbClr val="D9E0E3"/>
            </a:solidFill>
            <a:prstDash val="solid"/>
          </a:ln>
        </p:spPr>
      </p:sp>
      <p:sp>
        <p:nvSpPr>
          <p:cNvPr id="49" name="Text"/>
          <p:cNvSpPr txBox="1"/>
          <p:nvPr/>
        </p:nvSpPr>
        <p:spPr>
          <a:xfrm>
            <a:off x="6439541"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0.95</a:t>
            </a:r>
            <a:endParaRPr lang="en-US" sz="1250" dirty="0"/>
          </a:p>
        </p:txBody>
      </p:sp>
      <p:sp>
        <p:nvSpPr>
          <p:cNvPr id="50" name="Shape"/>
          <p:cNvSpPr/>
          <p:nvPr/>
        </p:nvSpPr>
        <p:spPr>
          <a:xfrm>
            <a:off x="8972154" y="5340000"/>
            <a:ext cx="2652613" cy="780000"/>
          </a:xfrm>
          <a:prstGeom prst="rect">
            <a:avLst/>
          </a:prstGeom>
          <a:solidFill>
            <a:srgbClr val="F2F5F6"/>
          </a:solidFill>
          <a:ln w="9525">
            <a:solidFill>
              <a:srgbClr val="D9E0E3"/>
            </a:solidFill>
            <a:prstDash val="solid"/>
          </a:ln>
        </p:spPr>
      </p:sp>
      <p:sp>
        <p:nvSpPr>
          <p:cNvPr id="51" name="Text"/>
          <p:cNvSpPr txBox="1"/>
          <p:nvPr/>
        </p:nvSpPr>
        <p:spPr>
          <a:xfrm>
            <a:off x="9092154" y="5340000"/>
            <a:ext cx="2412613" cy="78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El que omite</a:t>
            </a:r>
            <a:endParaRPr lang="en-US" sz="1250" dirty="0"/>
          </a:p>
        </p:txBody>
      </p:sp>
      <p:sp>
        <p:nvSpPr>
          <p:cNvPr id="52" name="Shape"/>
          <p:cNvSpPr/>
          <p:nvPr/>
        </p:nvSpPr>
        <p:spPr>
          <a:xfrm>
            <a:off x="566928" y="5200000"/>
            <a:ext cx="11057839" cy="900000"/>
          </a:xfrm>
          <a:prstGeom prst="roundRect">
            <a:avLst>
              <a:gd name="adj" fmla="val 8235"/>
            </a:avLst>
          </a:prstGeom>
          <a:solidFill>
            <a:srgbClr val="F7E4D8"/>
          </a:solidFill>
          <a:ln w="12700">
            <a:solidFill>
              <a:srgbClr val="F7E4D8"/>
            </a:solidFill>
            <a:prstDash val="solid"/>
          </a:ln>
        </p:spPr>
      </p:sp>
      <p:sp>
        <p:nvSpPr>
          <p:cNvPr id="53" name="Text"/>
          <p:cNvSpPr txBox="1"/>
          <p:nvPr/>
        </p:nvSpPr>
        <p:spPr>
          <a:xfrm>
            <a:off x="804672" y="520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4"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