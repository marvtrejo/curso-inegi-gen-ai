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0.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3.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4"/>
    <p:sldId id="259" r:id="rId55"/>
    <p:sldId id="260" r:id="rId45"/>
    <p:sldId id="261" r:id="rId46"/>
    <p:sldId id="262" r:id="rId56"/>
    <p:sldId id="263" r:id="rId58"/>
    <p:sldId id="264" r:id="rId47"/>
    <p:sldId id="265" r:id="rId53"/>
    <p:sldId id="266" r:id="rId59"/>
    <p:sldId id="267" r:id="rId48"/>
    <p:sldId id="268" r:id="rId60"/>
    <p:sldId id="269" r:id="rId63"/>
    <p:sldId id="270" r:id="rId57"/>
    <p:sldId id="271" r:id="rId61"/>
    <p:sldId id="272" r:id="rId50"/>
    <p:sldId id="273" r:id="rId54"/>
    <p:sldId id="274" r:id="rId6"/>
    <p:sldId id="275" r:id="rId7"/>
    <p:sldId id="276" r:id="rId8"/>
    <p:sldId id="277" r:id="rId62"/>
    <p:sldId id="278" r:id="rId11"/>
    <p:sldId id="279" r:id="rId12"/>
    <p:sldId id="280" r:id="rId13"/>
    <p:sldId id="281" r:id="rId14"/>
    <p:sldId id="282" r:id="rId52"/>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44" Type="http://schemas.openxmlformats.org/officeDocument/2006/relationships/slide" Target="slides/slide14.xml"/><Relationship Id="rId45" Type="http://schemas.openxmlformats.org/officeDocument/2006/relationships/slide" Target="slides/slide15.xml"/><Relationship Id="rId46" Type="http://schemas.openxmlformats.org/officeDocument/2006/relationships/slide" Target="slides/slide16.xml"/><Relationship Id="rId47" Type="http://schemas.openxmlformats.org/officeDocument/2006/relationships/slide" Target="slides/slide17.xml"/><Relationship Id="rId48" Type="http://schemas.openxmlformats.org/officeDocument/2006/relationships/slide" Target="slides/slide18.xml"/><Relationship Id="rId50" Type="http://schemas.openxmlformats.org/officeDocument/2006/relationships/slide" Target="slides/slide20.xml"/><Relationship Id="rId52" Type="http://schemas.openxmlformats.org/officeDocument/2006/relationships/slide" Target="slides/slide22.xml"/><Relationship Id="rId53" Type="http://schemas.openxmlformats.org/officeDocument/2006/relationships/slide" Target="slides/slide23.xml"/><Relationship Id="rId54" Type="http://schemas.openxmlformats.org/officeDocument/2006/relationships/slide" Target="slides/slide24.xml"/><Relationship Id="rId55" Type="http://schemas.openxmlformats.org/officeDocument/2006/relationships/slide" Target="slides/slide25.xml"/><Relationship Id="rId56" Type="http://schemas.openxmlformats.org/officeDocument/2006/relationships/slide" Target="slides/slide26.xml"/><Relationship Id="rId57" Type="http://schemas.openxmlformats.org/officeDocument/2006/relationships/slide" Target="slides/slide27.xml"/><Relationship Id="rId58" Type="http://schemas.openxmlformats.org/officeDocument/2006/relationships/slide" Target="slides/slide28.xml"/><Relationship Id="rId59" Type="http://schemas.openxmlformats.org/officeDocument/2006/relationships/slide" Target="slides/slide29.xml"/><Relationship Id="rId60" Type="http://schemas.openxmlformats.org/officeDocument/2006/relationships/slide" Target="slides/slide30.xml"/><Relationship Id="rId61" Type="http://schemas.openxmlformats.org/officeDocument/2006/relationships/slide" Target="slides/slide31.xml"/><Relationship Id="rId62" Type="http://schemas.openxmlformats.org/officeDocument/2006/relationships/slide" Target="slides/slide32.xml"/><Relationship Id="rId63" Type="http://schemas.openxmlformats.org/officeDocument/2006/relationships/slide" Target="slides/slide33.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minutos. Lo que cambia la expectativa y hay que decir de entrada: hoy hay UNA sola práctica y la primera hora es técnica, con más exposición de la que este grupo está acostumbrado.</a:t>
            </a:r>
          </a:p>
          <a:p>
            <a:r>
              <a:rPr lang="en-US" dirty="0"/>
              <a:t>Diga el reloj de entrada: hoy terminamos alrededor de las 11:40, diez minutos tarde y a propósito. El bloque técnico creció para que ningún documento aparezca en pantalla sin haber sido presentado. Si necesita terminar a las 11:30, el recorte está al final del guion.</a:t>
            </a:r>
          </a:p>
          <a:p>
            <a:r>
              <a:rPr lang="en-US" dirty="0"/>
              <a:t>Acuse recibo aquí de la tarea de la sesión 5 y diga qué equipos entregaron. No lo deje para el cierre.</a:t>
            </a:r>
          </a:p>
          <a:p>
            <a:r>
              <a:rPr lang="en-US" dirty="0"/>
              <a:t>La otra diferencia con el laboratorio del jueves pasado: entonces había errores escondidos y ustedes los buscaban. Hoy no hay errores escondidos. Los expedientes son consistentes; la dificultad es que la evidencia está completa pero dispersa, y la conclusión más obvia casi nunca es la que se puede sostener.</a:t>
            </a:r>
          </a:p>
          <a:p>
            <a:r>
              <a:rPr lang="en-US" dirty="0"/>
              <a:t>La síntesis de dos cuartillas se termina en casa. En clase se produce la matriz y su medición.</a:t>
            </a:r>
          </a:p>
        </p:txBody>
      </p:sp>
      <p:sp>
        <p:nvSpPr>
          <p:cNvPr id="4" name="Slide Number Placeholder 3"/>
          <p:cNvSpPr>
            <a:spLocks noGrp="1"/>
          </p:cNvSpPr>
          <p:nvPr>
            <p:ph type="sldNum" sz="quarter" idx="10"/>
          </p:nvPr>
        </p:nvSpPr>
        <p:spPr/>
        <p:txBody>
          <a:bodyPr/>
          <a:lstStyle/>
          <a:p>
            <a:fld id="{B3C21451-1387-4CA6-816F-3879F97B5CB9}" type="slidenum">
              <a:rPr lang="en-US"/>
              <a:t>2</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Divisor. Sesenta y dos minutos de bloque, con una práctica de cuarenta y ocho. Repita los dos entregables que salen de aquí: la matriz de seis filas y los dos números.</a:t>
            </a:r>
          </a:p>
        </p:txBody>
      </p:sp>
      <p:sp>
        <p:nvSpPr>
          <p:cNvPr id="4" name="Slide Number Placeholder 3"/>
          <p:cNvSpPr>
            <a:spLocks noGrp="1"/>
          </p:cNvSpPr>
          <p:nvPr>
            <p:ph type="sldNum" sz="quarter" idx="10"/>
          </p:nvPr>
        </p:nvSpPr>
        <p:spPr/>
        <p:txBody>
          <a:bodyPr/>
          <a:lstStyle/>
          <a:p>
            <a:fld id="{B3C21451-1387-4CA6-816F-3879F97B5CB9}" type="slidenum">
              <a:rPr lang="en-US"/>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Cuarenta y ocho minutos de práctica dentro de un bloque de sesenta y cinco, de 10:39 a 11:44. El encargo son nueve minutos porque incluye la lámina del prompt; dos para abrir salas; la práctica de 10:47 a 11:35; dos de regreso y cuatro de reporte.</a:t>
            </a:r>
          </a:p>
          <a:p>
            <a:r>
              <a:rPr lang="en-US" dirty="0"/>
              <a:t>Los cortes están en la lámina como hora absoluta. Ponga avisos de voz a los minutos 10, 30, 41 y 46 de la práctica.</a:t>
            </a:r>
          </a:p>
          <a:p>
            <a:r>
              <a:rPr lang="en-US" dirty="0"/>
              <a:t>Paso 1, diez minutos. Lo nuevo es que escriban en una línea qué significa para ellos confianza alta, media y baja ANTES de llenar la columna. Esa definición es el libro de códigos de este laboratorio y hace interpretable el kappa del paso 4: si sale bajo, lo que falló es la definición y no la gente.</a:t>
            </a:r>
          </a:p>
          <a:p>
            <a:r>
              <a:rPr lang="en-US" dirty="0"/>
              <a:t>Paso 2, veinte minutos, seis afirmaciones. Bajó de doce a seis a propósito: son tres minutos por fila incluyendo localizar la cita y el artículo, y hay que dejar espacio al paso de medición. Seis bien trazadas valen más que doce a medias.</a:t>
            </a:r>
          </a:p>
          <a:p>
            <a:r>
              <a:rPr lang="en-US" dirty="0"/>
              <a:t>Paso 3, once minutos. Son DOS tareas y conviene decirlo separado: el equipo revisor asigna nivel de confianza a las seis filas leyendo solo cita y fuente declaradas, y además verifica tres de ellas contra el expediente. La primera tarea alimenta el acuerdo; la segunda, el otro número.</a:t>
            </a:r>
          </a:p>
          <a:p>
            <a:r>
              <a:rPr lang="en-US" dirty="0"/>
              <a:t>Corte duro al minuto 38 para el intercambio: lo que esté en la matriz a esa hora es lo que se intercambia. Las filas incompletas cuentan como no verificables, y eso también es dato. Fijen el canal y el nombre del archivo: S06_Equipo##_Matriz.</a:t>
            </a:r>
          </a:p>
          <a:p>
            <a:r>
              <a:rPr lang="en-US" dirty="0"/>
              <a:t>Paso 4, cinco minutos. La fórmula está en la lámina del bloque técnico y resuelta con un ejemplo en la lámina siguiente. Todo con enteros; solo la última división lleva decimales.</a:t>
            </a:r>
          </a:p>
          <a:p>
            <a:r>
              <a:rPr lang="en-US" dirty="0"/>
              <a:t>Paso 5, dos minutos. La afirmación que más costó trazar se comenta en el cierre, así que pídales tenerla escrita.</a:t>
            </a:r>
          </a:p>
          <a:p>
            <a:r>
              <a:rPr lang="en-US" dirty="0"/>
              <a:t>Mientras recorre las salas, la clave del instructor tiene lo que debe encontrar cada equipo y dónde suelen equivocarse. Si un equipo se atora, dele una pregunta y no la respuesta.</a:t>
            </a:r>
          </a:p>
          <a:p>
            <a:r>
              <a:rPr lang="en-US" dirty="0"/>
              <a:t>Si va atrasado: elimine el paso 5 y pida la afirmación difícil a mano alzada en el cierre; luego baje el paso 1 a ocho minutos. Nunca recorte el paso 3, que es el que produce la medición.</a:t>
            </a:r>
          </a:p>
        </p:txBody>
      </p:sp>
      <p:sp>
        <p:nvSpPr>
          <p:cNvPr id="4" name="Slide Number Placeholder 3"/>
          <p:cNvSpPr>
            <a:spLocks noGrp="1"/>
          </p:cNvSpPr>
          <p:nvPr>
            <p:ph type="sldNum" sz="quarter" idx="10"/>
          </p:nvPr>
        </p:nvSpPr>
        <p:spPr/>
        <p:txBody>
          <a:bodyPr/>
          <a:lstStyle/>
          <a:p>
            <a:fld id="{B3C21451-1387-4CA6-816F-3879F97B5CB9}" type="slidenum">
              <a:rPr lang="en-US"/>
              <a:t>7</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minutos, dentro del encargo. Los pares no son azarosos: cada uno junta dos casos que se iluminan entre sí. Dígalo, porque sube la calidad de la revisión.</a:t>
            </a:r>
          </a:p>
          <a:p>
            <a:r>
              <a:rPr lang="en-US" dirty="0"/>
              <a:t>El ejemplo del paso 4 está resuelto en la lámina. Recórralo en voz alta una vez: coincidieron en 4 de 6, que suena a 67 por ciento, y el acuerdo corregido es 0.45. Buena parte de ese 67 por ciento era gratis.</a:t>
            </a:r>
          </a:p>
          <a:p>
            <a:r>
              <a:rPr lang="en-US" dirty="0"/>
              <a:t>Tenga listo el segundo caso, que le va a salir a la mitad de las salas: si ambos equipos ponen cinco filas en alta y una en media y coinciden en cinco, el acuerdo observado sube a 83 por ciento y kappa BAJA a 0.40. Mismo trabajo, mejor porcentaje, peor kappa. Es la paradoja del bloque técnico con sus propios datos y es el momento más rentable de la sesión.</a:t>
            </a:r>
          </a:p>
          <a:p>
            <a:r>
              <a:rPr lang="en-US" dirty="0"/>
              <a:t>Y el caso límite: si los dos ponen alta en las seis filas, la fórmula da cero entre cero. Dígalo ANTES de que pase, porque alguien lo va a encontrar. No es acuerdo perfecto, es que no hubo decisión que medir.</a:t>
            </a:r>
          </a:p>
          <a:p>
            <a:r>
              <a:rPr lang="en-US" dirty="0"/>
              <a:t>Vale la pena nombrar lo que ocurre en el paso 3: el jueves pasado ustedes desmontaron el trabajo de otro; hoy le toca a alguien desmontar el suyo. Es la misma operación y se siente muy distinto.</a:t>
            </a:r>
          </a:p>
          <a:p>
            <a:r>
              <a:rPr lang="en-US" dirty="0"/>
              <a:t>Al reportar en pizarra, pida los dos números y nada más. Si alguien pregunta cómo se saca el kappa del grupo, la respuesta es acumular los conteos de los seis equipos y calcular uno solo sobre las 36 filas, no promediar los seis.</a:t>
            </a:r>
          </a:p>
        </p:txBody>
      </p:sp>
      <p:sp>
        <p:nvSpPr>
          <p:cNvPr id="4" name="Slide Number Placeholder 3"/>
          <p:cNvSpPr>
            <a:spLocks noGrp="1"/>
          </p:cNvSpPr>
          <p:nvPr>
            <p:ph type="sldNum" sz="quarter" idx="10"/>
          </p:nvPr>
        </p:nvSpPr>
        <p:spPr/>
        <p:txBody>
          <a:bodyPr/>
          <a:lstStyle/>
          <a:p>
            <a:fld id="{B3C21451-1387-4CA6-816F-3879F97B5CB9}" type="slidenum">
              <a:rPr lang="en-US"/>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Seis minutos. Quedó una sola pregunta abierta, la primera, que es la que cierra el arco de las dos semanas.</a:t>
            </a:r>
          </a:p>
          <a:p>
            <a:r>
              <a:rPr lang="en-US" dirty="0"/>
              <a:t>La respuesta correcta es que ninguno de los seis hallazgos aparece en el informe que desmontaron el jueves. Deje que el grupo llegue solo. Si no llegan, la pregunta que ayuda es si ese informe decía algo sobre por qué cayó la cobertura en la Entidad D.</a:t>
            </a:r>
          </a:p>
          <a:p>
            <a:r>
              <a:rPr lang="en-US" dirty="0"/>
              <a:t>La segunda tarjeta no es una pregunta: es la pizarra con los seis pares de números. Seis parejas a la vista dicen más que cualquier discusión.</a:t>
            </a:r>
          </a:p>
          <a:p>
            <a:r>
              <a:rPr lang="en-US" dirty="0"/>
              <a:t>La tercera suele salir sola. Si sale, no la repita: deje que quede como conclusión del grupo y no como suya.</a:t>
            </a:r>
          </a:p>
        </p:txBody>
      </p:sp>
      <p:sp>
        <p:nvSpPr>
          <p:cNvPr id="4" name="Slide Number Placeholder 3"/>
          <p:cNvSpPr>
            <a:spLocks noGrp="1"/>
          </p:cNvSpPr>
          <p:nvPr>
            <p:ph type="sldNum" sz="quarter" idx="10"/>
          </p:nvPr>
        </p:nvSpPr>
        <p:spPr/>
        <p:txBody>
          <a:bodyPr/>
          <a:lstStyle/>
          <a:p>
            <a:fld id="{B3C21451-1387-4CA6-816F-3879F97B5CB9}" type="slidenum">
              <a:rPr lang="en-US"/>
              <a:t>11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El puente al Módulo III ya no es abstracto: acaban de vivirlo en el paso 4.</a:t>
            </a:r>
          </a:p>
          <a:p>
            <a:r>
              <a:rPr lang="en-US" dirty="0"/>
              <a:t>Presente a Eduardo Ramírez por nombre, diga que empieza el miércoles, y pídales llevar la bitácora porque la van a seguir usando.</a:t>
            </a:r>
          </a:p>
        </p:txBody>
      </p:sp>
      <p:sp>
        <p:nvSpPr>
          <p:cNvPr id="4" name="Slide Number Placeholder 3"/>
          <p:cNvSpPr>
            <a:spLocks noGrp="1"/>
          </p:cNvSpPr>
          <p:nvPr>
            <p:ph type="sldNum" sz="quarter" idx="10"/>
          </p:nvPr>
        </p:nvSpPr>
        <p:spPr/>
        <p:txBody>
          <a:bodyPr/>
          <a:lstStyle/>
          <a:p>
            <a:fld id="{B3C21451-1387-4CA6-816F-3879F97B5CB9}" type="slidenum">
              <a:rPr lang="en-US"/>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La bitácora consolidada de las seis sesiones es la que más peso tiene del bloque y se entrega hoy.</a:t>
            </a:r>
          </a:p>
          <a:p>
            <a:r>
              <a:rPr lang="en-US" dirty="0"/>
              <a:t>La síntesis de dos cuartillas se termina en casa y se entrega mañana antes de las 9:00, porque el laboratorio se dedicó a la matriz y a su medición.</a:t>
            </a:r>
          </a:p>
          <a:p>
            <a:r>
              <a:rPr lang="en-US" dirty="0"/>
              <a:t>Hoy cierra también el plazo del tema definitivo y la ficha de idoneidad del proyecto integrador. Si algún equipo no lo tiene, resuélvalo en estos minutos: a partir de mañana el proyecto ya no es su responsabilidad.</a:t>
            </a:r>
          </a:p>
          <a:p>
            <a:r>
              <a:rPr lang="en-US" dirty="0"/>
              <a:t>Recuerde la convención de nombres y agradezca. No alargue: el colchón es de dos minutos.</a:t>
            </a:r>
          </a:p>
        </p:txBody>
      </p:sp>
      <p:sp>
        <p:nvSpPr>
          <p:cNvPr id="4" name="Slide Number Placeholder 3"/>
          <p:cNvSpPr>
            <a:spLocks noGrp="1"/>
          </p:cNvSpPr>
          <p:nvPr>
            <p:ph type="sldNum" sz="quarter" idx="10"/>
          </p:nvPr>
        </p:nvSpPr>
        <p:spPr/>
        <p:txBody>
          <a:bodyPr/>
          <a:lstStyle/>
          <a:p>
            <a:fld id="{B3C21451-1387-4CA6-816F-3879F97B5CB9}" type="slidenum">
              <a:rPr lang="en-US"/>
              <a:t>13</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Es el arco de las cuatro sesiones del Módulo II en una lámina. No repase cada tarjeta: pregunte al grupo qué le sirvió más y use eso.</a:t>
            </a:r>
          </a:p>
          <a:p>
            <a:r>
              <a:rPr lang="en-US" dirty="0"/>
              <a:t>La tarjeta 4 es la tarea de ayer. Si algún equipo no la entregó, dígalo aquí y no en el cierre.</a:t>
            </a:r>
          </a:p>
          <a:p>
            <a:r>
              <a:rPr lang="en-US" dirty="0"/>
              <a:t>El banner es el puente de toda la sesión: las herramientas producen candidatos, no verdades. Si el grupo se queda con una sola frase del día, que sea esa.</a:t>
            </a:r>
          </a:p>
        </p:txBody>
      </p:sp>
      <p:sp>
        <p:nvSpPr>
          <p:cNvPr id="4" name="Slide Number Placeholder 3"/>
          <p:cNvSpPr>
            <a:spLocks noGrp="1"/>
          </p:cNvSpPr>
          <p:nvPr>
            <p:ph type="sldNum" sz="quarter" idx="10"/>
          </p:nvPr>
        </p:nvSpPr>
        <p:spPr/>
        <p:txBody>
          <a:bodyPr/>
          <a:lstStyle/>
          <a:p>
            <a:fld id="{B3C21451-1387-4CA6-816F-3879F97B5CB9}" type="slidenum">
              <a:rPr lang="en-US"/>
              <a:t>14</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Divisor, un minuto. Diga el reloj en voz alta: cincuenta y dos minutos de bloque técnico. Anunciarlo evita que se sufra en silencio.</a:t>
            </a:r>
          </a:p>
          <a:p>
            <a:r>
              <a:rPr lang="en-US" dirty="0"/>
              <a:t>Avise también que hay dos minutos de preguntas al final del bloque, para que nadie interrumpa cada lámina.</a:t>
            </a:r>
          </a:p>
        </p:txBody>
      </p:sp>
      <p:sp>
        <p:nvSpPr>
          <p:cNvPr id="4" name="Slide Number Placeholder 3"/>
          <p:cNvSpPr>
            <a:spLocks noGrp="1"/>
          </p:cNvSpPr>
          <p:nvPr>
            <p:ph type="sldNum" sz="quarter" idx="10"/>
          </p:nvPr>
        </p:nvSpPr>
        <p:spPr/>
        <p:txBody>
          <a:bodyPr/>
          <a:lstStyle/>
          <a:p>
            <a:fld id="{B3C21451-1387-4CA6-816F-3879F97B5CB9}" type="slidenum">
              <a:rPr lang="en-US"/>
              <a:t>15</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La cadena de arriba es el mapa del bloque: cada flecha es una falla y cada falla tiene su lámina.</a:t>
            </a:r>
          </a:p>
          <a:p>
            <a:r>
              <a:rPr lang="en-US" dirty="0"/>
              <a:t>Insista en que las tres se ven idénticas en el informe terminado: una oración con una cita al lado. De ahí sale la regla de revisar al revés, del informe hacia el documento.</a:t>
            </a:r>
          </a:p>
          <a:p>
            <a:r>
              <a:rPr lang="en-US" dirty="0"/>
              <a:t>Si alguien pregunta por qué la alucinación no es una categoría aparte: se reparte entre la primera y la tercera. Inventar un dato es falla de extracción; inventar una conclusión es falla de generalización.</a:t>
            </a:r>
          </a:p>
        </p:txBody>
      </p:sp>
      <p:sp>
        <p:nvSpPr>
          <p:cNvPr id="4" name="Slide Number Placeholder 3"/>
          <p:cNvSpPr>
            <a:spLocks noGrp="1"/>
          </p:cNvSpPr>
          <p:nvPr>
            <p:ph type="sldNum" sz="quarter" idx="10"/>
          </p:nvPr>
        </p:nvSpPr>
        <p:spPr/>
        <p:txBody>
          <a:bodyPr/>
          <a:lstStyle/>
          <a:p>
            <a:fld id="{B3C21451-1387-4CA6-816F-3879F97B5CB9}" type="slidenum">
              <a:rPr lang="en-US"/>
              <a:t>16</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Ocho minutos. Es la lámina más técnica del día y la que mejor rinde con este grupo.</a:t>
            </a:r>
          </a:p>
          <a:p>
            <a:r>
              <a:rPr lang="en-US" dirty="0"/>
              <a:t>La banda de arriba dice de qué documento sale el artículo 9. Señálela: a partir de aquí y hasta el receso, todo lo que aparece en pantalla viene del marco normativo que los seis comparten.</a:t>
            </a:r>
          </a:p>
          <a:p>
            <a:r>
              <a:rPr lang="en-US" dirty="0"/>
              <a:t>Recorra el renglón de arriba y pregunte cuál de los seis sobra ANTES de revelarlo. Casi siempre alguien lo encuentra, y el ejercicio vale más que la explicación.</a:t>
            </a:r>
          </a:p>
          <a:p>
            <a:r>
              <a:rPr lang="en-US" dirty="0"/>
              <a:t>Las dos definiciones, dichas así: precisión es «de lo que me entregó, cuánto era cierto»; recuperación es «de lo que había, cuánto encontró». Quien se confunde, se confunde por el denominador.</a:t>
            </a:r>
          </a:p>
          <a:p>
            <a:r>
              <a:rPr lang="en-US" dirty="0"/>
              <a:t>El F1 está escrito como 10/11 a propósito. Si alguien lo calcula encadenando el 0.83 redondeado, le va a dar 0.9071 y no 0.9091; coinciden al redondear a dos decimales, pero no es el mismo número. Chinchor advierte de ese mismo defecto en MUC-4. Es buen momento para decir que redondear temprano contamina.</a:t>
            </a:r>
          </a:p>
          <a:p>
            <a:r>
              <a:rPr lang="en-US" dirty="0"/>
              <a:t>Si lo piden, la forma equivalente F1 = 2VP/(2VP+FP+FN) se deriva en dos renglones y deja ver que, a igualdad de aciertos, inventar y omitir pesan lo mismo. Preséntela como derivación, no como cita.</a:t>
            </a:r>
          </a:p>
          <a:p>
            <a:r>
              <a:rPr lang="en-US" dirty="0"/>
              <a:t>Objeción probable del área de datos: por qué no se reporta exactitud. Respuesta: en extracción no hay verdaderos negativos, porque nadie puede enumerar todo lo que el asistente pudo inventar y no inventó. Sin ese conteo la exactitud no tiene denominador.</a:t>
            </a:r>
          </a:p>
          <a:p>
            <a:r>
              <a:rPr lang="en-US" dirty="0"/>
              <a:t>Segunda objeción probable, de validación: que el requisito de más es una especificación de uno que sí existe y merece crédito parcial. Es exactamente la categoría PAR de MUC, que otorga medio punto. Reconózcalo y devuelva la pregunta: si el crédito parcial cambia el número, entonces el criterio de acierto se declara antes de medir, no después.</a:t>
            </a:r>
          </a:p>
        </p:txBody>
      </p:sp>
      <p:sp>
        <p:nvSpPr>
          <p:cNvPr id="4" name="Slide Number Placeholder 3"/>
          <p:cNvSpPr>
            <a:spLocks noGrp="1"/>
          </p:cNvSpPr>
          <p:nvPr>
            <p:ph type="sldNum" sz="quarter" idx="10"/>
          </p:nvPr>
        </p:nvSpPr>
        <p:spPr/>
        <p:txBody>
          <a:bodyPr/>
          <a:lstStyle/>
          <a:p>
            <a:fld id="{B3C21451-1387-4CA6-816F-3879F97B5CB9}" type="slidenum">
              <a:rPr lang="en-US"/>
              <a:t>17</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Siete minutos. Las dos tarjetas se leen en voz alta completas. La de la derecha es la que hace el trabajo.</a:t>
            </a:r>
          </a:p>
          <a:p>
            <a:r>
              <a:rPr lang="en-US" dirty="0"/>
              <a:t>El punto: la cita de la derecha es textual, está bien copiada y viene del artículo correcto. Aun así no sostiene la afirmación, porque un monto no es una medida de suficiencia. Es la confusión más común en evaluación de programas de transferencia.</a:t>
            </a:r>
          </a:p>
          <a:p>
            <a:r>
              <a:rPr lang="en-US" dirty="0"/>
              <a:t>Las dos citas salen del marco normativo común, a propósito: así ningún equipo recibe una pista sobre su propio expediente.</a:t>
            </a:r>
          </a:p>
          <a:p>
            <a:r>
              <a:rPr lang="en-US" dirty="0"/>
              <a:t>El puente con la sesión de ayer no es repetir cómo falla el RAG, es dar la medición: al revisar a mano cuatro buscadores generativos, solo el 51.5 por ciento de las oraciones estaba plenamente sostenido por sus citas y el 74.5 por ciento de las citas sostenía la oración que acompañaba. Una de cada cuatro citas apunta a un texto que no dice eso.</a:t>
            </a:r>
          </a:p>
          <a:p>
            <a:r>
              <a:rPr lang="en-US" dirty="0"/>
              <a:t>Si preguntan si el modelo puede revisar sus propias citas: no. Sin evidencia externa, la autocorrección degrada el resultado. Lo que sí funciona es ir a la fuente, que es lo que hace el paso 3 del laboratorio.</a:t>
            </a:r>
          </a:p>
          <a:p>
            <a:r>
              <a:rPr lang="en-US" dirty="0"/>
              <a:t>Una advertencia que vale para todo el laboratorio: la cita se copia completa. Cortar una oración a la mitad y cerrarla con punto ya cambia lo que dice. Si hay que recortar, se marca con puntos suspensivos.</a:t>
            </a:r>
          </a:p>
          <a:p>
            <a:r>
              <a:rPr lang="en-US" dirty="0"/>
              <a:t>La pregunta del recuadro es el criterio operativo que se llevan. Pídales que se la hagan a cada fila mientras construyen la matriz.</a:t>
            </a:r>
          </a:p>
        </p:txBody>
      </p:sp>
      <p:sp>
        <p:nvSpPr>
          <p:cNvPr id="4" name="Slide Number Placeholder 3"/>
          <p:cNvSpPr>
            <a:spLocks noGrp="1"/>
          </p:cNvSpPr>
          <p:nvPr>
            <p:ph type="sldNum" sz="quarter" idx="10"/>
          </p:nvPr>
        </p:nvSpPr>
        <p:spPr/>
        <p:txBody>
          <a:bodyPr/>
          <a:lstStyle/>
          <a:p>
            <a:fld id="{B3C21451-1387-4CA6-816F-3879F97B5CB9}" type="slidenum">
              <a:rPr lang="en-US"/>
              <a:t>18</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Doce minutos. Es la lámina con la que este grupo se va a enganchar. Recorra las columnas de izquierda a derecha y deje la fórmula para el final.</a:t>
            </a:r>
          </a:p>
          <a:p>
            <a:r>
              <a:rPr lang="en-US" dirty="0"/>
              <a:t>La banda de arriba recuerda que el corpus es el de los foros del viernes, no el expediente de hoy. Es el único momento del bloque en que cambiamos de documento, y por eso la lámina anterior lo presenta.</a:t>
            </a:r>
          </a:p>
          <a:p>
            <a:r>
              <a:rPr lang="en-US" dirty="0"/>
              <a:t>Los números de la primera columna son de su propio corpus de foros: la clave y una reclasificación independiente coincidieron en 36 de 38 en causa raíz.</a:t>
            </a:r>
          </a:p>
          <a:p>
            <a:r>
              <a:rPr lang="en-US" dirty="0"/>
              <a:t>Diga el supuesto en voz alta, porque alguien lo va a pedir: se supone que los dos codificadores reparten las categorías en las mismas proporciones. Si lo señalan, reconózcalo, eso es pi de Scott y no kappa de Cohen en sentido estricto. El matiz que lo salva: recorriendo todas las configuraciones posibles de marginales del segundo codificador, kappa se mueve entre 0.927 y 0.929. Aquí el supuesto es inofensivo; en las otras dos columnas las marginales son justamente lo que decide todo.</a:t>
            </a:r>
          </a:p>
          <a:p>
            <a:r>
              <a:rPr lang="en-US" dirty="0"/>
              <a:t>La tercera columna es el remate. Dos personas que nunca abren el archivo y siempre escriben la categoría más común llegan al 97.4 por ciento con kappa exactamente cero, porque no hubo ninguna decisión que medir.</a:t>
            </a:r>
          </a:p>
          <a:p>
            <a:r>
              <a:rPr lang="en-US" dirty="0"/>
              <a:t>Si alguien pregunta por qué 38 y no 41: son 41 intervenciones y 3 son del moderador, que quedan fuera del conjunto clasificable. Excluirlas cambia las marginales y por lo tanto el acuerdo esperado. Es justo el tipo de decisión que se declara antes de medir.</a:t>
            </a:r>
          </a:p>
          <a:p>
            <a:r>
              <a:rPr lang="en-US" dirty="0"/>
              <a:t>La fórmula del recuadro es la que van a usar en el paso 4, con enteros. Demuestre de dónde sale: kappa es acuerdo observado menos esperado, entre uno menos el esperado; con seis filas, multiplicar arriba y abajo por 36 deja todo en enteros.</a:t>
            </a:r>
          </a:p>
          <a:p>
            <a:r>
              <a:rPr lang="en-US" dirty="0"/>
              <a:t>Las escalas de interpretación se fueron al handout a propósito. Si alguien pregunta de dónde sale que 0.61 es sustancial, la respuesta es Landis y Koch 1977, que los propios autores llamaron arbitrarios, y que además circulan en dos versiones que difieren en los extremos. En clase basta una frase: el umbral se fija antes de ver el resultado.</a:t>
            </a:r>
          </a:p>
        </p:txBody>
      </p:sp>
      <p:sp>
        <p:nvSpPr>
          <p:cNvPr id="4" name="Slide Number Placeholder 3"/>
          <p:cNvSpPr>
            <a:spLocks noGrp="1"/>
          </p:cNvSpPr>
          <p:nvPr>
            <p:ph type="sldNum" sz="quarter" idx="10"/>
          </p:nvPr>
        </p:nvSpPr>
        <p:spPr/>
        <p:txBody>
          <a:bodyPr/>
          <a:lstStyle/>
          <a:p>
            <a:fld id="{B3C21451-1387-4CA6-816F-3879F97B5CB9}" type="slidenum">
              <a:rPr lang="en-US"/>
              <a:t>20</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Lámina de consulta, no se proyecta. El handout de la sesión trae lo mismo con las fórmulas y las escalas de kappa.</a:t>
            </a:r>
          </a:p>
          <a:p>
            <a:r>
              <a:rPr lang="en-US" dirty="0"/>
              <a:t>Si alguien pide una referencia en clase, dele el nombre y remítalo al handout en lugar de detener la sesión.</a:t>
            </a:r>
          </a:p>
        </p:txBody>
      </p:sp>
      <p:sp>
        <p:nvSpPr>
          <p:cNvPr id="4" name="Slide Number Placeholder 3"/>
          <p:cNvSpPr>
            <a:spLocks noGrp="1"/>
          </p:cNvSpPr>
          <p:nvPr>
            <p:ph type="sldNum" sz="quarter" idx="10"/>
          </p:nvPr>
        </p:nvSpPr>
        <p:spPr/>
        <p:txBody>
          <a:bodyPr/>
          <a:lstStyle/>
          <a:p>
            <a:fld id="{B3C21451-1387-4CA6-816F-3879F97B5CB9}" type="slidenum">
              <a:rPr lang="en-US"/>
              <a:t>22</a:t>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Es la lámina que le habla a las dos mitades del grupo al mismo tiempo: los evaluadores tienen intuición sobre costos asimétricos aunque no la tengan sobre PLN.</a:t>
            </a:r>
          </a:p>
          <a:p>
            <a:r>
              <a:rPr lang="en-US" dirty="0"/>
              <a:t>Lea la tabla por renglones y deténgase en el último: el ganador cambia tres veces sin que ningún asistente haya cambiado. Lo único que cambió fue el peso de cada error.</a:t>
            </a:r>
          </a:p>
          <a:p>
            <a:r>
              <a:rPr lang="en-US" dirty="0"/>
              <a:t>La conclusión que se llevan: beta no se descubre ni se optimiza, la declara el área usuaria antes de medir. Es la misma lógica de decidir el nivel de significancia antes de ver los datos.</a:t>
            </a:r>
          </a:p>
          <a:p>
            <a:r>
              <a:rPr lang="en-US" dirty="0"/>
              <a:t>Para su trabajo: en un informe que se firma, inventar un requisito cuesta más que omitirlo, porque acusa a la entidad de algo que no hizo. En una revisión donde alguien va a leer todo de todos modos, omitir cuesta más. No hay respuesta universal.</a:t>
            </a:r>
          </a:p>
        </p:txBody>
      </p:sp>
      <p:sp>
        <p:nvSpPr>
          <p:cNvPr id="4" name="Slide Number Placeholder 3"/>
          <p:cNvSpPr>
            <a:spLocks noGrp="1"/>
          </p:cNvSpPr>
          <p:nvPr>
            <p:ph type="sldNum" sz="quarter" idx="10"/>
          </p:nvPr>
        </p:nvSpPr>
        <p:spPr/>
        <p:txBody>
          <a:bodyPr/>
          <a:lstStyle/>
          <a:p>
            <a:fld id="{B3C21451-1387-4CA6-816F-3879F97B5CB9}" type="slidenum">
              <a:rPr lang="en-US"/>
              <a:t>23</a:t>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Siete minutos. Ya no es el marco conceptual de la sesión, es la herramienta que aplica todo lo anterior. Recorra la tabla rápido.</a:t>
            </a:r>
          </a:p>
          <a:p>
            <a:r>
              <a:rPr lang="en-US" dirty="0"/>
              <a:t>Las columnas que merecen explicación son tres: afirmación tal como va a quedar escrita, cita textual copiada y no parafraseada, y verificada por, con nombre.</a:t>
            </a:r>
          </a:p>
          <a:p>
            <a:r>
              <a:rPr lang="en-US" dirty="0"/>
              <a:t>Los tres niveles de confianza de abajo se leen completos, porque el paso 1 del laboratorio les pide escribir su propia definición operativa de cada uno. Esa definición es su libro de códigos de hoy y vale en la rúbrica.</a:t>
            </a:r>
          </a:p>
          <a:p>
            <a:r>
              <a:rPr lang="en-US" dirty="0"/>
              <a:t>La frase antes de soltarlos: si al terminar su matriz todas las filas dicen confianza alta, algo se hizo mal.</a:t>
            </a:r>
          </a:p>
          <a:p>
            <a:r>
              <a:rPr lang="en-US" dirty="0"/>
              <a:t>El pie es útil si alguien duda de que esto sea estándar: el IPCC pide un traceable account con nivel de confianza, CERQual califica la confianza de cada hallazgo y los términos de referencia del CONEVAL exigen que cada afirmación sea localizable.</a:t>
            </a:r>
          </a:p>
        </p:txBody>
      </p:sp>
      <p:sp>
        <p:nvSpPr>
          <p:cNvPr id="4" name="Slide Number Placeholder 3"/>
          <p:cNvSpPr>
            <a:spLocks noGrp="1"/>
          </p:cNvSpPr>
          <p:nvPr>
            <p:ph type="sldNum" sz="quarter" idx="10"/>
          </p:nvPr>
        </p:nvSpPr>
        <p:spPr/>
        <p:txBody>
          <a:bodyPr/>
          <a:lstStyle/>
          <a:p>
            <a:fld id="{B3C21451-1387-4CA6-816F-3879F97B5CB9}" type="slidenum">
              <a:rPr lang="en-US"/>
              <a:t>24</a:t>
            </a:fld>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Seis minutos. Es la lámina que faltaba: hasta hoy cada documento aparecía sin presentación y el grupo tenía que acordarse de dónde salía.</a:t>
            </a:r>
          </a:p>
          <a:p>
            <a:r>
              <a:rPr lang="en-US" dirty="0"/>
              <a:t>Recorra los cuatro renglones por orden cronológico y deténgase en el último renglón de la columna derecha: lo que salió de cada uno.</a:t>
            </a:r>
          </a:p>
          <a:p>
            <a:r>
              <a:rPr lang="en-US" dirty="0"/>
              <a:t>El remate es el banner: es el mismo programa en los cuatro documentos. El informe nacional que desmontaron el jueves se armó a partir de expedientes como los de hoy. Si el grupo entiende eso, la pregunta del cierre se contesta sola.</a:t>
            </a:r>
          </a:p>
          <a:p>
            <a:r>
              <a:rPr lang="en-US" dirty="0"/>
              <a:t>Si alguien pregunta por qué todo es sintético: porque el semáforo de datos no permite subir información real a estas herramientas, y porque los errores tienen que estar puestos a propósito para que el ejercicio sirva.</a:t>
            </a:r>
          </a:p>
        </p:txBody>
      </p:sp>
      <p:sp>
        <p:nvSpPr>
          <p:cNvPr id="4" name="Slide Number Placeholder 3"/>
          <p:cNvSpPr>
            <a:spLocks noGrp="1"/>
          </p:cNvSpPr>
          <p:nvPr>
            <p:ph type="sldNum" sz="quarter" idx="10"/>
          </p:nvPr>
        </p:nvSpPr>
        <p:spPr/>
        <p:txBody>
          <a:bodyPr/>
          <a:lstStyle/>
          <a:p>
            <a:fld id="{B3C21451-1387-4CA6-816F-3879F97B5CB9}" type="slidenum">
              <a:rPr lang="en-US"/>
              <a:t>25</a:t>
            </a:fld>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Es el mapa del archivo que van a abrir en el laboratorio.</a:t>
            </a:r>
          </a:p>
          <a:p>
            <a:r>
              <a:rPr lang="en-US" dirty="0"/>
              <a:t>Lo importante es la división: el marco normativo es el mismo para los seis equipos, y cada entidad trae sus propios tres documentos más su pregunta de evaluación.</a:t>
            </a:r>
          </a:p>
          <a:p>
            <a:r>
              <a:rPr lang="en-US" dirty="0"/>
              <a:t>Diga en voz alta lo del banner: las láminas que siguen usan solo el marco normativo común, para que ningún equipo reciba una pista sobre su propia entidad. Es una decisión de diseño y conviene que se note.</a:t>
            </a:r>
          </a:p>
          <a:p>
            <a:r>
              <a:rPr lang="en-US" dirty="0"/>
              <a:t>El último punto de la derecha prepara el cierre: entre los seis expedientes hay contradicciones, y descubrirlas es parte del trabajo.</a:t>
            </a:r>
          </a:p>
        </p:txBody>
      </p:sp>
      <p:sp>
        <p:nvSpPr>
          <p:cNvPr id="4" name="Slide Number Placeholder 3"/>
          <p:cNvSpPr>
            <a:spLocks noGrp="1"/>
          </p:cNvSpPr>
          <p:nvPr>
            <p:ph type="sldNum" sz="quarter" idx="10"/>
          </p:nvPr>
        </p:nvSpPr>
        <p:spPr/>
        <p:txBody>
          <a:bodyPr/>
          <a:lstStyle/>
          <a:p>
            <a:fld id="{B3C21451-1387-4CA6-816F-3879F97B5CB9}" type="slidenum">
              <a:rPr lang="en-US"/>
              <a:t>26</a:t>
            </a:fld>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minutos. Va justo antes de la lámina de kappa para que el 36 de 38 no aparezca de la nada.</a:t>
            </a:r>
          </a:p>
          <a:p>
            <a:r>
              <a:rPr lang="en-US" dirty="0"/>
              <a:t>Las cuatro tarjetas cuentan la historia del corpus: de dónde salió, qué hicieron con él, quién hizo la clave y cómo se verificó.</a:t>
            </a:r>
          </a:p>
          <a:p>
            <a:r>
              <a:rPr lang="en-US" dirty="0"/>
              <a:t>Sobre la tarjeta 4, si alguien pregunta quién fue el segundo codificador: fue una segunda pasada hecha con un modelo, sin ver la clave, como control de calidad del material del curso. Y aquí conviene adelantarse a la objeción correcta: un modelo corriendo dos veces no es lo mismo que dos personas independientes, porque es la misma fuente de error. Por eso lo que se compara es una clasificación humana contra una automática, y nunca el modelo consigo mismo.</a:t>
            </a:r>
          </a:p>
          <a:p>
            <a:r>
              <a:rPr lang="en-US" dirty="0"/>
              <a:t>El banner es el que vale: excluir las tres intervenciones del moderador cambió las proporciones y por lo tanto el resultado. Es una decisión metodológica que se declara antes de medir.</a:t>
            </a:r>
          </a:p>
        </p:txBody>
      </p:sp>
      <p:sp>
        <p:nvSpPr>
          <p:cNvPr id="4" name="Slide Number Placeholder 3"/>
          <p:cNvSpPr>
            <a:spLocks noGrp="1"/>
          </p:cNvSpPr>
          <p:nvPr>
            <p:ph type="sldNum" sz="quarter" idx="10"/>
          </p:nvPr>
        </p:nvSpPr>
        <p:spPr/>
        <p:txBody>
          <a:bodyPr/>
          <a:lstStyle/>
          <a:p>
            <a:fld id="{B3C21451-1387-4CA6-816F-3879F97B5CB9}" type="slidenum">
              <a:rPr lang="en-US"/>
              <a:t>27</a:t>
            </a:fld>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minutos. Va inmediatamente antes de la lámina de precisión, para que los seis elementos no aparezcan de la nada.</a:t>
            </a:r>
          </a:p>
          <a:p>
            <a:r>
              <a:rPr lang="en-US" dirty="0"/>
              <a:t>Aquí NO se revela cuál sobra: en pantalla solo están el prompt y lo que contestó. Lea el prompt casilla por casilla y pregunte al grupo qué le falta antes de decirlo.</a:t>
            </a:r>
          </a:p>
          <a:p>
            <a:r>
              <a:rPr lang="en-US" dirty="0"/>
              <a:t>Las dos fallas del prompt, por si no salen solas: no pidió la fracción exacta del artículo, y pidió la lista agrupada por persona. Agrupar deja una casilla visiblemente vacía, y llenarla parece un servicio y no una invención.</a:t>
            </a:r>
          </a:p>
          <a:p>
            <a:r>
              <a:rPr lang="en-US" dirty="0"/>
              <a:t>Diga que el prompt y la respuesta son una reconstrucción para la clase, no una corrida guardada. Si lo corre antes de clase puede salir distinto; los números de la lámina siguiente no cambian porque el ejemplo va declarado como reconstrucción.</a:t>
            </a:r>
          </a:p>
          <a:p>
            <a:r>
              <a:rPr lang="en-US" dirty="0"/>
              <a:t>Objeción probable: «el prompt ya le había prohibido usar su conocimiento de otros programas». Cierto, y ahí está la lección: esa casilla reduce las alucinaciones, no las elimina. Lo mismo con «no busques en internet»: es una petición, no un interruptor; la búsqueda web se apaga en la interfaz.</a:t>
            </a:r>
          </a:p>
          <a:p>
            <a:r>
              <a:rPr lang="en-US" dirty="0"/>
              <a:t>Objeción probable: «entonces basta con arreglar el prompt». La versión corregida sería agregar «no agregues requisitos que no estén en el texto» y pedir la fracción exacta de cada uno. Baja la probabilidad y facilita atraparlo, no la vuelve cero. Por eso la lámina que sigue mide en vez de confiar.</a:t>
            </a:r>
          </a:p>
          <a:p>
            <a:r>
              <a:rPr lang="en-US" dirty="0"/>
              <a:t>Por qué se pegó el artículo y no se adjuntó el archivo: adjuntar Expedientes_LAB2.docx mete en la conversación los seis expedientes de entidad. Vale para el laboratorio: si un equipo adjunta el archivo completo, el asistente está leyendo también los otros cinco casos.</a:t>
            </a:r>
          </a:p>
        </p:txBody>
      </p:sp>
      <p:sp>
        <p:nvSpPr>
          <p:cNvPr id="4" name="Slide Number Placeholder 3"/>
          <p:cNvSpPr>
            <a:spLocks noGrp="1"/>
          </p:cNvSpPr>
          <p:nvPr>
            <p:ph type="sldNum" sz="quarter" idx="10"/>
          </p:nvPr>
        </p:nvSpPr>
        <p:spPr/>
        <p:txBody>
          <a:bodyPr/>
          <a:lstStyle/>
          <a:p>
            <a:fld id="{B3C21451-1387-4CA6-816F-3879F97B5CB9}" type="slidenum">
              <a:rPr lang="en-US"/>
              <a:t>28</a:t>
            </a:fld>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minutos. Mismo movimiento que en extracción: primero el prompt, después la salida.</a:t>
            </a:r>
          </a:p>
          <a:p>
            <a:r>
              <a:rPr lang="en-US" dirty="0"/>
              <a:t>El daño lo hacen dos casillas que sí hicieron su trabajo. El contexto le dijo que el informe tiene que pronunciarse sobre si el apoyo alcanza, y el formato exige que ninguna fila se quede sin cita.</a:t>
            </a:r>
          </a:p>
          <a:p>
            <a:r>
              <a:rPr lang="en-US" dirty="0"/>
              <a:t>La línea más fuerte de la lámina: la casilla 2 le pide «hallazgos» a la herramienta, y el dictamen de validación que llenaron en la sesión 3 dice que lo que devuelve la herramienta todavía no es un hallazgo, es una hipótesis.</a:t>
            </a:r>
          </a:p>
          <a:p>
            <a:r>
              <a:rPr lang="en-US" dirty="0"/>
              <a:t>Lo que faltó no es una séptima casilla: es un renglón en restricciones que prohíba afirmar nada que la cita no diga con sus propias palabras, y que autorice cerrar con «no lo encontré».</a:t>
            </a:r>
          </a:p>
          <a:p>
            <a:r>
              <a:rPr lang="en-US" dirty="0"/>
              <a:t>Señale el cierre que el asistente agregó solo, «todas las afirmaciones están respaldadas»: nadie se lo pidió, y es falso para la fila 2.</a:t>
            </a:r>
          </a:p>
        </p:txBody>
      </p:sp>
      <p:sp>
        <p:nvSpPr>
          <p:cNvPr id="4" name="Slide Number Placeholder 3"/>
          <p:cNvSpPr>
            <a:spLocks noGrp="1"/>
          </p:cNvSpPr>
          <p:nvPr>
            <p:ph type="sldNum" sz="quarter" idx="10"/>
          </p:nvPr>
        </p:nvSpPr>
        <p:spPr/>
        <p:txBody>
          <a:bodyPr/>
          <a:lstStyle/>
          <a:p>
            <a:fld id="{B3C21451-1387-4CA6-816F-3879F97B5CB9}" type="slidenum">
              <a:rPr lang="en-US"/>
              <a:t>29</a:t>
            </a:fld>
            <a:endParaRPr 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minutos. La franja gris de arriba dice que las cuatro primeras casillas son idénticas; no las lea, señálelas.</a:t>
            </a:r>
          </a:p>
          <a:p>
            <a:r>
              <a:rPr lang="en-US" dirty="0"/>
              <a:t>Lo que se ve con el dedo: cambian restricciones y formato de salida, y nada más. Los dos prompts dicen «no afirmes nada que no esté escrito en el artículo».</a:t>
            </a:r>
          </a:p>
          <a:p>
            <a:r>
              <a:rPr lang="en-US" dirty="0"/>
              <a:t>No adelante las cuatro cosas que se colaron en B. Eso es la lámina siguiente, y conviene que el grupo lea el párrafo antes de ver los señalamientos.</a:t>
            </a:r>
          </a:p>
        </p:txBody>
      </p:sp>
      <p:sp>
        <p:nvSpPr>
          <p:cNvPr id="4" name="Slide Number Placeholder 3"/>
          <p:cNvSpPr>
            <a:spLocks noGrp="1"/>
          </p:cNvSpPr>
          <p:nvPr>
            <p:ph type="sldNum" sz="quarter" idx="10"/>
          </p:nvPr>
        </p:nvSpPr>
        <p:spPr/>
        <p:txBody>
          <a:bodyPr/>
          <a:lstStyle/>
          <a:p>
            <a:fld id="{B3C21451-1387-4CA6-816F-3879F97B5CB9}" type="slidenum">
              <a:rPr lang="en-US"/>
              <a:t>30</a:t>
            </a:fld>
            <a:endParaRPr 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Es el prompt más cargado del bloque técnico y va antes de la lámina de kappa.</a:t>
            </a:r>
          </a:p>
          <a:p>
            <a:r>
              <a:rPr lang="en-US" dirty="0"/>
              <a:t>Cuente las reglas de la casilla 5 con el grupo: son las decisiones metodológicas que el curso ya tomó, y todas se declaran antes de codificar.</a:t>
            </a:r>
          </a:p>
          <a:p>
            <a:r>
              <a:rPr lang="en-US" dirty="0"/>
              <a:t>Antes de decir nada, pregunte cuáles de los ocho renglones no se sostienen. F1-09 y F2-08 son sarcasmo; el léxico amable las volvió positivas.</a:t>
            </a:r>
          </a:p>
          <a:p>
            <a:r>
              <a:rPr lang="en-US" dirty="0"/>
              <a:t>El remate: fíjese en la última columna. Las tres frases están bien copiadas y son textuales, y las tres conclusiones están mal. El prompt es la parte del trabajo que se puede auditar; leer la intención no.</a:t>
            </a:r>
          </a:p>
          <a:p>
            <a:r>
              <a:rPr lang="en-US" dirty="0"/>
              <a:t>Esta es una PRIMERA pasada. El 36 de 38 de la lámina siguiente salió de una segunda pasada adversarial con las definiciones delante. Dígalo, o la lámina parece contradecir a la anterior.</a:t>
            </a:r>
          </a:p>
          <a:p>
            <a:r>
              <a:rPr lang="en-US" dirty="0"/>
              <a:t>Si va muy atrasado, esta es la primera lámina que se recorta: su corpus es de la sesión 4 y no del expediente de hoy.</a:t>
            </a:r>
          </a:p>
        </p:txBody>
      </p:sp>
      <p:sp>
        <p:nvSpPr>
          <p:cNvPr id="4" name="Slide Number Placeholder 3"/>
          <p:cNvSpPr>
            <a:spLocks noGrp="1"/>
          </p:cNvSpPr>
          <p:nvPr>
            <p:ph type="sldNum" sz="quarter" idx="10"/>
          </p:nvPr>
        </p:nvSpPr>
        <p:spPr/>
        <p:txBody>
          <a:bodyPr/>
          <a:lstStyle/>
          <a:p>
            <a:fld id="{B3C21451-1387-4CA6-816F-3879F97B5CB9}" type="slidenum">
              <a:rPr lang="en-US"/>
              <a:t>31</a:t>
            </a:fld>
            <a:endParaRPr 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minutos, dentro del encargo del laboratorio, antes de abrir las salas.</a:t>
            </a:r>
          </a:p>
          <a:p>
            <a:r>
              <a:rPr lang="en-US" dirty="0"/>
              <a:t>Es para copiarse tal cual. Señale los dos huecos: la pregunta de evaluación de su expediente y la letra de su entidad.</a:t>
            </a:r>
          </a:p>
          <a:p>
            <a:r>
              <a:rPr lang="en-US" dirty="0"/>
              <a:t>Lo que hay que subrayar de la salida: de las once columnas de su hoja, el modelo llena cuatro. Herramienta, quién verificó y nivel de confianza las llenan ellos, y por eso el prompt se lo prohíbe expresamente.</a:t>
            </a:r>
          </a:p>
          <a:p>
            <a:r>
              <a:rPr lang="en-US" dirty="0"/>
              <a:t>Dos cosas salieron bien porque se le pidieron: dijo qué no encontró en lugar de rellenar, y no propuso conclusiones. Y aun así coló el renglón 3, donde la cita es textual y no dice lo que la afirmación asegura: prohibirle inventar datos no es prohibirle interpretar.</a:t>
            </a:r>
          </a:p>
          <a:p>
            <a:r>
              <a:rPr lang="en-US" dirty="0"/>
              <a:t>La salida usa una Entidad J que no existe en el archivo, para que ningún equipo vea su propio caso proyectado. Dígalo.</a:t>
            </a:r>
          </a:p>
          <a:p>
            <a:r>
              <a:rPr lang="en-US" dirty="0"/>
              <a:t>Pídales pegar el prompt en la bitácora ANTES de correrlo, no al final. Es el hábito que se llevan del curso.</a:t>
            </a:r>
          </a:p>
        </p:txBody>
      </p:sp>
      <p:sp>
        <p:nvSpPr>
          <p:cNvPr id="4" name="Slide Number Placeholder 3"/>
          <p:cNvSpPr>
            <a:spLocks noGrp="1"/>
          </p:cNvSpPr>
          <p:nvPr>
            <p:ph type="sldNum" sz="quarter" idx="10"/>
          </p:nvPr>
        </p:nvSpPr>
        <p:spPr/>
        <p:txBody>
          <a:bodyPr/>
          <a:lstStyle/>
          <a:p>
            <a:fld id="{B3C21451-1387-4CA6-816F-3879F97B5CB9}" type="slidenum">
              <a:rPr lang="en-US"/>
              <a:t>32</a:t>
            </a:fld>
            <a:endParaRPr 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Seis minutos, y es la lámina que más rinde del bloque de síntesis.</a:t>
            </a:r>
          </a:p>
          <a:p>
            <a:r>
              <a:rPr lang="en-US" dirty="0"/>
              <a:t>Lea el párrafo completo en voz alta primero y pregunte si lo firmarían. Casi siempre dicen que sí: se lee bien y cita el artículo desde la primera línea.</a:t>
            </a:r>
          </a:p>
          <a:p>
            <a:r>
              <a:rPr lang="en-US" dirty="0"/>
              <a:t>Después recorra las cuatro tarjetas. La más útil para su trabajo es la segunda: «jornadas de ocho horas» pierde continuas y en días hábiles, y con eso un centro que abre cuatro y cuatro cumple con el resumen y no con la norma.</a:t>
            </a:r>
          </a:p>
          <a:p>
            <a:r>
              <a:rPr lang="en-US" dirty="0"/>
              <a:t>La conclusión: el control no puede ser que traiga cita, porque B la trae. Tiene que ser la correspondencia frase por frase, que es la regla dura del laboratorio.</a:t>
            </a:r>
          </a:p>
        </p:txBody>
      </p:sp>
      <p:sp>
        <p:nvSpPr>
          <p:cNvPr id="4" name="Slide Number Placeholder 3"/>
          <p:cNvSpPr>
            <a:spLocks noGrp="1"/>
          </p:cNvSpPr>
          <p:nvPr>
            <p:ph type="sldNum" sz="quarter" idx="10"/>
          </p:nvPr>
        </p:nvSpPr>
        <p:spPr/>
        <p:txBody>
          <a:bodyPr/>
          <a:lstStyle/>
          <a:p>
            <a:fld id="{B3C21451-1387-4CA6-816F-3879F97B5CB9}" type="slidenum">
              <a:rPr lang="en-US"/>
              <a:t>33</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1371600" y="-2011680"/>
            <a:ext cx="5852160" cy="5852160"/>
          </a:xfrm>
          <a:prstGeom prst="ellipse">
            <a:avLst/>
          </a:prstGeom>
          <a:solidFill>
            <a:srgbClr val="24404E"/>
          </a:solidFill>
          <a:ln w="12700">
            <a:solidFill>
              <a:srgbClr val="24404E"/>
            </a:solidFill>
            <a:prstDash val="solid"/>
          </a:ln>
        </p:spPr>
      </p:sp>
      <p:sp>
        <p:nvSpPr>
          <p:cNvPr id="3" name="Shape 1"/>
          <p:cNvSpPr/>
          <p:nvPr/>
        </p:nvSpPr>
        <p:spPr>
          <a:xfrm>
            <a:off x="9692640" y="4206240"/>
            <a:ext cx="4206240" cy="4206240"/>
          </a:xfrm>
          <a:prstGeom prst="ellipse">
            <a:avLst/>
          </a:prstGeom>
          <a:solidFill>
            <a:srgbClr val="24404E"/>
          </a:solidFill>
          <a:ln w="12700">
            <a:solidFill>
              <a:srgbClr val="24404E"/>
            </a:solidFill>
            <a:prstDash val="solid"/>
          </a:ln>
        </p:spPr>
      </p:sp>
      <p:sp>
        <p:nvSpPr>
          <p:cNvPr id="4" name="Text 2"/>
          <p:cNvSpPr txBox="1"/>
          <p:nvPr/>
        </p:nvSpPr>
        <p:spPr>
          <a:xfrm>
            <a:off x="566928" y="1417320"/>
            <a:ext cx="10424160" cy="365760"/>
          </a:xfrm>
          <a:prstGeom prst="rect">
            <a:avLst/>
          </a:prstGeom>
          <a:noFill/>
          <a:ln/>
        </p:spPr>
        <p:txBody>
          <a:bodyPr wrap="square" lIns="0" tIns="0" rIns="0" bIns="0" rtlCol="0" anchor="ctr"/>
          <a:lstStyle/>
          <a:p>
            <a:pPr indent="0" marL="0">
              <a:buNone/>
            </a:pPr>
            <a:r>
              <a:rPr lang="en-US" sz="1500" b="1" spc="200" kern="0" dirty="0">
                <a:solidFill>
                  <a:srgbClr val="D7E7E7"/>
                </a:solidFill>
                <a:latin typeface="Calibri" pitchFamily="34" charset="0"/>
                <a:ea typeface="Calibri" pitchFamily="34" charset="-122"/>
                <a:cs typeface="Calibri" pitchFamily="34" charset="-120"/>
              </a:rPr>
              <a:t>MÓDULO II. ANÁLISIS CUALITATIVO ASISTIDO POR IA Y PLN</a:t>
            </a:r>
            <a:endParaRPr lang="en-US" sz="1500" dirty="0"/>
          </a:p>
        </p:txBody>
      </p:sp>
      <p:sp>
        <p:nvSpPr>
          <p:cNvPr id="5" name="Text 3"/>
          <p:cNvSpPr txBox="1"/>
          <p:nvPr/>
        </p:nvSpPr>
        <p:spPr>
          <a:xfrm>
            <a:off x="566928" y="1874520"/>
            <a:ext cx="10424160" cy="640080"/>
          </a:xfrm>
          <a:prstGeom prst="rect">
            <a:avLst/>
          </a:prstGeom>
          <a:noFill/>
          <a:ln/>
        </p:spPr>
        <p:txBody>
          <a:bodyPr wrap="square" lIns="0" tIns="0" rIns="0" bIns="0" rtlCol="0" anchor="ctr"/>
          <a:lstStyle/>
          <a:p>
            <a:pPr indent="0" marL="0">
              <a:buNone/>
            </a:pPr>
            <a:r>
              <a:rPr lang="en-US" sz="4400" b="1" dirty="0">
                <a:solidFill>
                  <a:srgbClr val="C85A28"/>
                </a:solidFill>
                <a:latin typeface="Arial" pitchFamily="34" charset="0"/>
                <a:ea typeface="Arial" pitchFamily="34" charset="-122"/>
                <a:cs typeface="Arial" pitchFamily="34" charset="-120"/>
              </a:rPr>
              <a:t>Sesión 6</a:t>
            </a:r>
            <a:endParaRPr lang="en-US" sz="4400" dirty="0"/>
          </a:p>
        </p:txBody>
      </p:sp>
      <p:sp>
        <p:nvSpPr>
          <p:cNvPr id="6" name="Text 4"/>
          <p:cNvSpPr txBox="1"/>
          <p:nvPr/>
        </p:nvSpPr>
        <p:spPr>
          <a:xfrm>
            <a:off x="566928" y="2560320"/>
            <a:ext cx="10607040" cy="155448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Laboratorio cualitativo aplicado a casos reales</a:t>
            </a:r>
            <a:endParaRPr lang="en-US" sz="3400" dirty="0"/>
          </a:p>
        </p:txBody>
      </p:sp>
      <p:sp>
        <p:nvSpPr>
          <p:cNvPr id="7" name="Shape 5"/>
          <p:cNvSpPr/>
          <p:nvPr/>
        </p:nvSpPr>
        <p:spPr>
          <a:xfrm>
            <a:off x="566928" y="4480560"/>
            <a:ext cx="5120640" cy="54864"/>
          </a:xfrm>
          <a:prstGeom prst="roundRect">
            <a:avLst>
              <a:gd name="adj" fmla="val 50000"/>
            </a:avLst>
          </a:prstGeom>
          <a:solidFill>
            <a:srgbClr val="2E7D7D"/>
          </a:solidFill>
          <a:ln w="12700">
            <a:solidFill>
              <a:srgbClr val="2E7D7D"/>
            </a:solidFill>
            <a:prstDash val="solid"/>
          </a:ln>
        </p:spPr>
      </p:sp>
      <p:sp>
        <p:nvSpPr>
          <p:cNvPr id="8" name="Text 6"/>
          <p:cNvSpPr txBox="1"/>
          <p:nvPr/>
        </p:nvSpPr>
        <p:spPr>
          <a:xfrm>
            <a:off x="566928" y="4709160"/>
            <a:ext cx="10424160" cy="3657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Martes 22 de septiembre de 2026, 9:00 a 11:30 horas</a:t>
            </a:r>
            <a:endParaRPr lang="en-US" sz="1600" dirty="0"/>
          </a:p>
        </p:txBody>
      </p:sp>
      <p:sp>
        <p:nvSpPr>
          <p:cNvPr id="9" name="Text 7"/>
          <p:cNvSpPr txBox="1"/>
          <p:nvPr/>
        </p:nvSpPr>
        <p:spPr>
          <a:xfrm>
            <a:off x="566928" y="5120640"/>
            <a:ext cx="10424160" cy="365760"/>
          </a:xfrm>
          <a:prstGeom prst="rect">
            <a:avLst/>
          </a:prstGeom>
          <a:noFill/>
          <a:ln/>
        </p:spPr>
        <p:txBody>
          <a:bodyPr wrap="square" lIns="0" tIns="0" rIns="0" bIns="0" rtlCol="0" anchor="ctr"/>
          <a:lstStyle/>
          <a:p>
            <a:pPr indent="0" marL="0">
              <a:buNone/>
            </a:pPr>
            <a:r>
              <a:rPr lang="en-US" sz="1300" dirty="0">
                <a:solidFill>
                  <a:srgbClr val="D7E7E7"/>
                </a:solidFill>
                <a:latin typeface="Calibri" pitchFamily="34" charset="0"/>
                <a:ea typeface="Calibri" pitchFamily="34" charset="-122"/>
                <a:cs typeface="Calibri" pitchFamily="34" charset="-120"/>
              </a:rPr>
              <a:t>Curso de Inteligencia Artificial Aplicada. INEGI 2026. Incluye el Laboratorio Práctico 2 y cierra el bloque.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Agenda">
    <p:spTree>
      <p:nvGrpSpPr>
        <p:cNvPr id="1" name=""/>
        <p:cNvGrpSpPr/>
        <p:nvPr/>
      </p:nvGrpSpPr>
      <p:grpSpPr>
        <a:xfrm>
          <a:off x="0" y="0"/>
          <a:ext cx="0" cy="0"/>
          <a:chOff x="0" y="0"/>
          <a:chExt cx="0" cy="0"/>
        </a:xfrm>
      </p:grpSpPr>
      <p:sp>
        <p:nvSpPr>
          <p:cNvPr id="2" name="Text"/>
          <p:cNvSpPr txBox="1"/>
          <p:nvPr/>
        </p:nvSpPr>
        <p:spPr>
          <a:xfrm>
            <a:off x="566928" y="402336"/>
            <a:ext cx="9229039" cy="749808"/>
          </a:xfrm>
          <a:prstGeom prst="rect">
            <a:avLst/>
          </a:prstGeom>
          <a:noFill/>
          <a:ln/>
        </p:spPr>
        <p:txBody>
          <a:bodyPr wrap="square" lIns="0" tIns="0" rIns="0" bIns="0" rtlCol="0" anchor="t"/>
          <a:lstStyle/>
          <a:p>
            <a:pPr indent="0" marL="0">
              <a:buNone/>
            </a:pPr>
            <a:r>
              <a:rPr lang="en-US" sz="3200" b="1" dirty="0">
                <a:solidFill>
                  <a:srgbClr val="16262E"/>
                </a:solidFill>
                <a:latin typeface="Arial" pitchFamily="34" charset="0"/>
                <a:ea typeface="Arial" pitchFamily="34" charset="-122"/>
                <a:cs typeface="Arial" pitchFamily="34" charset="-120"/>
              </a:rPr>
              <a:t>Cómo vamos a usar los 150 minutos</a:t>
            </a:r>
            <a:endParaRPr lang="en-US" sz="3200" dirty="0"/>
          </a:p>
        </p:txBody>
      </p:sp>
      <p:sp>
        <p:nvSpPr>
          <p:cNvPr id="3" name="Shape"/>
          <p:cNvSpPr/>
          <p:nvPr/>
        </p:nvSpPr>
        <p:spPr>
          <a:xfrm>
            <a:off x="9485071" y="457200"/>
            <a:ext cx="2139696" cy="347472"/>
          </a:xfrm>
          <a:prstGeom prst="roundRect">
            <a:avLst>
              <a:gd name="adj" fmla="val 50000"/>
            </a:avLst>
          </a:prstGeom>
          <a:solidFill>
            <a:srgbClr val="F2F5F6"/>
          </a:solidFill>
          <a:ln w="12700">
            <a:solidFill>
              <a:srgbClr val="F2F5F6"/>
            </a:solidFill>
            <a:prstDash val="solid"/>
          </a:ln>
        </p:spPr>
      </p:sp>
      <p:sp>
        <p:nvSpPr>
          <p:cNvPr id="4" name="Text"/>
          <p:cNvSpPr txBox="1"/>
          <p:nvPr/>
        </p:nvSpPr>
        <p:spPr>
          <a:xfrm>
            <a:off x="9485071" y="457200"/>
            <a:ext cx="2139696" cy="347472"/>
          </a:xfrm>
          <a:prstGeom prst="rect">
            <a:avLst/>
          </a:prstGeom>
          <a:noFill/>
          <a:ln/>
        </p:spPr>
        <p:txBody>
          <a:bodyPr wrap="square" lIns="0" tIns="0" rIns="0" bIns="0" rtlCol="0" anchor="ctr"/>
          <a:lstStyle/>
          <a:p>
            <a:pPr algn="ctr" indent="0" marL="0">
              <a:buNone/>
            </a:pPr>
            <a:r>
              <a:rPr lang="en-US" sz="1200" b="1" dirty="0">
                <a:solidFill>
                  <a:srgbClr val="16262E"/>
                </a:solidFill>
                <a:latin typeface="Arial" pitchFamily="34" charset="0"/>
                <a:ea typeface="Arial" pitchFamily="34" charset="-122"/>
                <a:cs typeface="Arial" pitchFamily="34" charset="-120"/>
              </a:rPr>
              <a:t>9:00 a 12:00</a:t>
            </a:r>
            <a:endParaRPr lang="en-US" sz="1200" dirty="0"/>
          </a:p>
        </p:txBody>
      </p:sp>
      <p:sp>
        <p:nvSpPr>
          <p:cNvPr id="5" name="Shape"/>
          <p:cNvSpPr/>
          <p:nvPr/>
        </p:nvSpPr>
        <p:spPr>
          <a:xfrm>
            <a:off x="566928" y="1408176"/>
            <a:ext cx="5364328" cy="1081278"/>
          </a:xfrm>
          <a:prstGeom prst="roundRect">
            <a:avLst>
              <a:gd name="adj" fmla="val 2933"/>
            </a:avLst>
          </a:prstGeom>
          <a:solidFill>
            <a:srgbClr val="F2F5F6"/>
          </a:solidFill>
          <a:ln w="12700">
            <a:solidFill>
              <a:srgbClr val="F2F5F6"/>
            </a:solidFill>
            <a:prstDash val="solid"/>
          </a:ln>
        </p:spPr>
      </p:sp>
      <p:sp>
        <p:nvSpPr>
          <p:cNvPr id="6" name="Text"/>
          <p:cNvSpPr txBox="1"/>
          <p:nvPr/>
        </p:nvSpPr>
        <p:spPr>
          <a:xfrm>
            <a:off x="786384" y="1408176"/>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9:00</a:t>
            </a:r>
            <a:endParaRPr lang="en-US" sz="1300" dirty="0"/>
          </a:p>
        </p:txBody>
      </p:sp>
      <p:sp>
        <p:nvSpPr>
          <p:cNvPr id="7" name="Text"/>
          <p:cNvSpPr txBox="1"/>
          <p:nvPr/>
        </p:nvSpPr>
        <p:spPr>
          <a:xfrm>
            <a:off x="2194560" y="1463040"/>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Dónde estamos y con qué documentos hemos trabajado</a:t>
            </a:r>
            <a:endParaRPr lang="en-US" sz="1350" dirty="0"/>
          </a:p>
        </p:txBody>
      </p:sp>
      <p:sp>
        <p:nvSpPr>
          <p:cNvPr id="8" name="Shape"/>
          <p:cNvSpPr/>
          <p:nvPr/>
        </p:nvSpPr>
        <p:spPr>
          <a:xfrm>
            <a:off x="566928" y="2635758"/>
            <a:ext cx="5364328" cy="1081278"/>
          </a:xfrm>
          <a:prstGeom prst="roundRect">
            <a:avLst>
              <a:gd name="adj" fmla="val 2933"/>
            </a:avLst>
          </a:prstGeom>
          <a:solidFill>
            <a:srgbClr val="F2F5F6"/>
          </a:solidFill>
          <a:ln w="12700">
            <a:solidFill>
              <a:srgbClr val="F2F5F6"/>
            </a:solidFill>
            <a:prstDash val="solid"/>
          </a:ln>
        </p:spPr>
      </p:sp>
      <p:sp>
        <p:nvSpPr>
          <p:cNvPr id="9" name="Text"/>
          <p:cNvSpPr txBox="1"/>
          <p:nvPr/>
        </p:nvSpPr>
        <p:spPr>
          <a:xfrm>
            <a:off x="786384" y="2635758"/>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9:10</a:t>
            </a:r>
            <a:endParaRPr lang="en-US" sz="1300" dirty="0"/>
          </a:p>
        </p:txBody>
      </p:sp>
      <p:sp>
        <p:nvSpPr>
          <p:cNvPr id="10" name="Text"/>
          <p:cNvSpPr txBox="1"/>
          <p:nvPr/>
        </p:nvSpPr>
        <p:spPr>
          <a:xfrm>
            <a:off x="2194560" y="2690622"/>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Las tres fallas, y el expediente de hoy por dentro</a:t>
            </a:r>
            <a:endParaRPr lang="en-US" sz="1350" dirty="0"/>
          </a:p>
        </p:txBody>
      </p:sp>
      <p:sp>
        <p:nvSpPr>
          <p:cNvPr id="11" name="Shape"/>
          <p:cNvSpPr/>
          <p:nvPr/>
        </p:nvSpPr>
        <p:spPr>
          <a:xfrm>
            <a:off x="566928" y="3863340"/>
            <a:ext cx="5364328" cy="1081278"/>
          </a:xfrm>
          <a:prstGeom prst="roundRect">
            <a:avLst>
              <a:gd name="adj" fmla="val 2933"/>
            </a:avLst>
          </a:prstGeom>
          <a:solidFill>
            <a:srgbClr val="F2F5F6"/>
          </a:solidFill>
          <a:ln w="12700">
            <a:solidFill>
              <a:srgbClr val="F2F5F6"/>
            </a:solidFill>
            <a:prstDash val="solid"/>
          </a:ln>
        </p:spPr>
      </p:sp>
      <p:sp>
        <p:nvSpPr>
          <p:cNvPr id="12" name="Text"/>
          <p:cNvSpPr txBox="1"/>
          <p:nvPr/>
        </p:nvSpPr>
        <p:spPr>
          <a:xfrm>
            <a:off x="786384" y="3863340"/>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9:20</a:t>
            </a:r>
            <a:endParaRPr lang="en-US" sz="1300" dirty="0"/>
          </a:p>
        </p:txBody>
      </p:sp>
      <p:sp>
        <p:nvSpPr>
          <p:cNvPr id="13" name="Text"/>
          <p:cNvSpPr txBox="1"/>
          <p:nvPr/>
        </p:nvSpPr>
        <p:spPr>
          <a:xfrm>
            <a:off x="2194560" y="3918204"/>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Medir la extracción: el prompt, la salida y el costo del error</a:t>
            </a:r>
            <a:endParaRPr lang="en-US" sz="1350" dirty="0"/>
          </a:p>
        </p:txBody>
      </p:sp>
      <p:sp>
        <p:nvSpPr>
          <p:cNvPr id="14" name="Shape"/>
          <p:cNvSpPr/>
          <p:nvPr/>
        </p:nvSpPr>
        <p:spPr>
          <a:xfrm>
            <a:off x="566928" y="5090922"/>
            <a:ext cx="5364328" cy="1081278"/>
          </a:xfrm>
          <a:prstGeom prst="roundRect">
            <a:avLst>
              <a:gd name="adj" fmla="val 2933"/>
            </a:avLst>
          </a:prstGeom>
          <a:solidFill>
            <a:srgbClr val="F2F5F6"/>
          </a:solidFill>
          <a:ln w="12700">
            <a:solidFill>
              <a:srgbClr val="F2F5F6"/>
            </a:solidFill>
            <a:prstDash val="solid"/>
          </a:ln>
        </p:spPr>
      </p:sp>
      <p:sp>
        <p:nvSpPr>
          <p:cNvPr id="15" name="Text"/>
          <p:cNvSpPr txBox="1"/>
          <p:nvPr/>
        </p:nvSpPr>
        <p:spPr>
          <a:xfrm>
            <a:off x="786384" y="5090922"/>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9:41</a:t>
            </a:r>
            <a:endParaRPr lang="en-US" sz="1300" dirty="0"/>
          </a:p>
        </p:txBody>
      </p:sp>
      <p:sp>
        <p:nvSpPr>
          <p:cNvPr id="16" name="Text"/>
          <p:cNvSpPr txBox="1"/>
          <p:nvPr/>
        </p:nvSpPr>
        <p:spPr>
          <a:xfrm>
            <a:off x="2194560" y="5145786"/>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Atribución: el prompt y la cita que no sostiene</a:t>
            </a:r>
            <a:endParaRPr lang="en-US" sz="1350" dirty="0"/>
          </a:p>
        </p:txBody>
      </p:sp>
      <p:sp>
        <p:nvSpPr>
          <p:cNvPr id="17" name="Shape"/>
          <p:cNvSpPr/>
          <p:nvPr/>
        </p:nvSpPr>
        <p:spPr>
          <a:xfrm>
            <a:off x="6260440" y="1408176"/>
            <a:ext cx="5364328" cy="1081278"/>
          </a:xfrm>
          <a:prstGeom prst="roundRect">
            <a:avLst>
              <a:gd name="adj" fmla="val 2933"/>
            </a:avLst>
          </a:prstGeom>
          <a:solidFill>
            <a:srgbClr val="F2F5F6"/>
          </a:solidFill>
          <a:ln w="12700">
            <a:solidFill>
              <a:srgbClr val="F2F5F6"/>
            </a:solidFill>
            <a:prstDash val="solid"/>
          </a:ln>
        </p:spPr>
      </p:sp>
      <p:sp>
        <p:nvSpPr>
          <p:cNvPr id="18" name="Text"/>
          <p:cNvSpPr txBox="1"/>
          <p:nvPr/>
        </p:nvSpPr>
        <p:spPr>
          <a:xfrm>
            <a:off x="6479896" y="1408176"/>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9:52</a:t>
            </a:r>
            <a:endParaRPr lang="en-US" sz="1300" dirty="0"/>
          </a:p>
        </p:txBody>
      </p:sp>
      <p:sp>
        <p:nvSpPr>
          <p:cNvPr id="19" name="Text"/>
          <p:cNvSpPr txBox="1"/>
          <p:nvPr/>
        </p:nvSpPr>
        <p:spPr>
          <a:xfrm>
            <a:off x="7888072" y="1463040"/>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Las dos síntesis, el corpus de foros y el acuerdo</a:t>
            </a:r>
            <a:endParaRPr lang="en-US" sz="1350" dirty="0"/>
          </a:p>
        </p:txBody>
      </p:sp>
      <p:sp>
        <p:nvSpPr>
          <p:cNvPr id="20" name="Shape"/>
          <p:cNvSpPr/>
          <p:nvPr/>
        </p:nvSpPr>
        <p:spPr>
          <a:xfrm>
            <a:off x="6260440" y="2635758"/>
            <a:ext cx="5364328" cy="1081278"/>
          </a:xfrm>
          <a:prstGeom prst="roundRect">
            <a:avLst>
              <a:gd name="adj" fmla="val 2933"/>
            </a:avLst>
          </a:prstGeom>
          <a:solidFill>
            <a:srgbClr val="F7E4D8"/>
          </a:solidFill>
          <a:ln w="12700">
            <a:solidFill>
              <a:srgbClr val="F7E4D8"/>
            </a:solidFill>
            <a:prstDash val="solid"/>
          </a:ln>
        </p:spPr>
      </p:sp>
      <p:sp>
        <p:nvSpPr>
          <p:cNvPr id="21" name="Text"/>
          <p:cNvSpPr txBox="1"/>
          <p:nvPr/>
        </p:nvSpPr>
        <p:spPr>
          <a:xfrm>
            <a:off x="6479896" y="2635758"/>
            <a:ext cx="1371600" cy="1081278"/>
          </a:xfrm>
          <a:prstGeom prst="rect">
            <a:avLst/>
          </a:prstGeom>
          <a:noFill/>
          <a:ln/>
        </p:spPr>
        <p:txBody>
          <a:bodyPr wrap="square" lIns="0" tIns="0" rIns="0" bIns="0" rtlCol="0" anchor="ctr"/>
          <a:lstStyle/>
          <a:p>
            <a:pPr indent="0" marL="0">
              <a:buNone/>
            </a:pPr>
            <a:r>
              <a:rPr lang="en-US" sz="1300" b="1" dirty="0">
                <a:solidFill>
                  <a:srgbClr val="C85A28"/>
                </a:solidFill>
                <a:latin typeface="Arial" pitchFamily="34" charset="0"/>
                <a:ea typeface="Arial" pitchFamily="34" charset="-122"/>
                <a:cs typeface="Arial" pitchFamily="34" charset="-120"/>
              </a:rPr>
              <a:t>10:29</a:t>
            </a:r>
            <a:endParaRPr lang="en-US" sz="1300" dirty="0"/>
          </a:p>
        </p:txBody>
      </p:sp>
      <p:sp>
        <p:nvSpPr>
          <p:cNvPr id="22" name="Text"/>
          <p:cNvSpPr txBox="1"/>
          <p:nvPr/>
        </p:nvSpPr>
        <p:spPr>
          <a:xfrm>
            <a:off x="7888072" y="2690622"/>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Receso de diez minutos</a:t>
            </a:r>
            <a:endParaRPr lang="en-US" sz="1350" dirty="0"/>
          </a:p>
        </p:txBody>
      </p:sp>
      <p:sp>
        <p:nvSpPr>
          <p:cNvPr id="23" name="Shape"/>
          <p:cNvSpPr/>
          <p:nvPr/>
        </p:nvSpPr>
        <p:spPr>
          <a:xfrm>
            <a:off x="6260440" y="3863340"/>
            <a:ext cx="5364328" cy="1081278"/>
          </a:xfrm>
          <a:prstGeom prst="roundRect">
            <a:avLst>
              <a:gd name="adj" fmla="val 2933"/>
            </a:avLst>
          </a:prstGeom>
          <a:solidFill>
            <a:srgbClr val="F2F5F6"/>
          </a:solidFill>
          <a:ln w="12700">
            <a:solidFill>
              <a:srgbClr val="F2F5F6"/>
            </a:solidFill>
            <a:prstDash val="solid"/>
          </a:ln>
        </p:spPr>
      </p:sp>
      <p:sp>
        <p:nvSpPr>
          <p:cNvPr id="24" name="Text"/>
          <p:cNvSpPr txBox="1"/>
          <p:nvPr/>
        </p:nvSpPr>
        <p:spPr>
          <a:xfrm>
            <a:off x="6479896" y="3863340"/>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10:39</a:t>
            </a:r>
            <a:endParaRPr lang="en-US" sz="1300" dirty="0"/>
          </a:p>
        </p:txBody>
      </p:sp>
      <p:sp>
        <p:nvSpPr>
          <p:cNvPr id="25" name="Text"/>
          <p:cNvSpPr txBox="1"/>
          <p:nvPr/>
        </p:nvSpPr>
        <p:spPr>
          <a:xfrm>
            <a:off x="7888072" y="3918204"/>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Laboratorio Práctico 2, la única práctica de hoy</a:t>
            </a:r>
            <a:endParaRPr lang="en-US" sz="1350" dirty="0"/>
          </a:p>
        </p:txBody>
      </p:sp>
      <p:sp>
        <p:nvSpPr>
          <p:cNvPr id="26" name="Shape"/>
          <p:cNvSpPr/>
          <p:nvPr/>
        </p:nvSpPr>
        <p:spPr>
          <a:xfrm>
            <a:off x="6260440" y="5090922"/>
            <a:ext cx="5364328" cy="1081278"/>
          </a:xfrm>
          <a:prstGeom prst="roundRect">
            <a:avLst>
              <a:gd name="adj" fmla="val 2933"/>
            </a:avLst>
          </a:prstGeom>
          <a:solidFill>
            <a:srgbClr val="F2F5F6"/>
          </a:solidFill>
          <a:ln w="12700">
            <a:solidFill>
              <a:srgbClr val="F2F5F6"/>
            </a:solidFill>
            <a:prstDash val="solid"/>
          </a:ln>
        </p:spPr>
      </p:sp>
      <p:sp>
        <p:nvSpPr>
          <p:cNvPr id="27" name="Text"/>
          <p:cNvSpPr txBox="1"/>
          <p:nvPr/>
        </p:nvSpPr>
        <p:spPr>
          <a:xfrm>
            <a:off x="6479896" y="5090922"/>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11:44</a:t>
            </a:r>
            <a:endParaRPr lang="en-US" sz="1300" dirty="0"/>
          </a:p>
        </p:txBody>
      </p:sp>
      <p:sp>
        <p:nvSpPr>
          <p:cNvPr id="28" name="Text"/>
          <p:cNvSpPr txBox="1"/>
          <p:nvPr/>
        </p:nvSpPr>
        <p:spPr>
          <a:xfrm>
            <a:off x="7888072" y="5145786"/>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Cierre, entregables y proyecto integrador</a:t>
            </a:r>
            <a:endParaRPr lang="en-US" sz="1350" dirty="0"/>
          </a:p>
        </p:txBody>
      </p:sp>
      <p:sp>
        <p:nvSpPr>
          <p:cNvPr id="29" name="Text"/>
          <p:cNvSpPr txBox="1"/>
          <p:nvPr/>
        </p:nvSpPr>
        <p:spPr>
          <a:xfrm>
            <a:off x="566928" y="6327648"/>
            <a:ext cx="11057839" cy="292608"/>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Hoy nos pasamos media hora, a propósito: cada salida que aparece en pantalla viene con el prompt que la produjo. Si hay que terminar a las 11:30, el recorte está en el guion. Una sola práctica, de cuarenta y ocho minutos.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566928" y="2331720"/>
            <a:ext cx="1371600" cy="1371600"/>
          </a:xfrm>
          <a:prstGeom prst="ellipse">
            <a:avLst/>
          </a:prstGeom>
          <a:solidFill>
            <a:srgbClr val="C85A28"/>
          </a:solidFill>
          <a:ln w="12700">
            <a:solidFill>
              <a:srgbClr val="C85A28"/>
            </a:solidFill>
            <a:prstDash val="solid"/>
          </a:ln>
        </p:spPr>
      </p:sp>
      <p:sp>
        <p:nvSpPr>
          <p:cNvPr id="3" name="Text 1"/>
          <p:cNvSpPr txBox="1"/>
          <p:nvPr/>
        </p:nvSpPr>
        <p:spPr>
          <a:xfrm>
            <a:off x="566928"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2</a:t>
            </a:r>
            <a:endParaRPr lang="en-US" sz="4400" dirty="0"/>
          </a:p>
        </p:txBody>
      </p:sp>
      <p:sp>
        <p:nvSpPr>
          <p:cNvPr id="4" name="Text 2"/>
          <p:cNvSpPr txBox="1"/>
          <p:nvPr/>
        </p:nvSpPr>
        <p:spPr>
          <a:xfrm>
            <a:off x="2487168" y="2331720"/>
            <a:ext cx="8778240" cy="365760"/>
          </a:xfrm>
          <a:prstGeom prst="rect">
            <a:avLst/>
          </a:prstGeom>
          <a:noFill/>
          <a:ln/>
        </p:spPr>
        <p:txBody>
          <a:bodyPr wrap="square" lIns="0" tIns="0" rIns="0" bIns="0" rtlCol="0" anchor="ctr"/>
          <a:lstStyle/>
          <a:p>
            <a:pPr indent="0" marL="0">
              <a:buNone/>
            </a:pPr>
            <a:r>
              <a:rPr lang="en-US" sz="1400" b="1" spc="200" kern="0" dirty="0">
                <a:solidFill>
                  <a:srgbClr val="D7E7E7"/>
                </a:solidFill>
                <a:latin typeface="Calibri" pitchFamily="34" charset="0"/>
                <a:ea typeface="Calibri" pitchFamily="34" charset="-122"/>
                <a:cs typeface="Calibri" pitchFamily="34" charset="-120"/>
              </a:rPr>
              <a:t>LABORATORIO PRÁCTICO 2</a:t>
            </a:r>
            <a:endParaRPr lang="en-US" sz="1400" dirty="0"/>
          </a:p>
        </p:txBody>
      </p:sp>
      <p:sp>
        <p:nvSpPr>
          <p:cNvPr id="5" name="Text 3"/>
          <p:cNvSpPr txBox="1"/>
          <p:nvPr/>
        </p:nvSpPr>
        <p:spPr>
          <a:xfrm>
            <a:off x="2487168" y="2697480"/>
            <a:ext cx="8961120" cy="118872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Su expediente, su matriz, su medición</a:t>
            </a:r>
            <a:endParaRPr lang="en-US" sz="3400" dirty="0"/>
          </a:p>
        </p:txBody>
      </p:sp>
      <p:sp>
        <p:nvSpPr>
          <p:cNvPr id="6" name="Shape 4"/>
          <p:cNvSpPr/>
          <p:nvPr/>
        </p:nvSpPr>
        <p:spPr>
          <a:xfrm>
            <a:off x="9485071" y="457200"/>
            <a:ext cx="2139696" cy="347472"/>
          </a:xfrm>
          <a:prstGeom prst="roundRect">
            <a:avLst>
              <a:gd name="adj" fmla="val 50000"/>
            </a:avLst>
          </a:prstGeom>
          <a:solidFill>
            <a:srgbClr val="24404E"/>
          </a:solidFill>
          <a:ln w="12700">
            <a:solidFill>
              <a:srgbClr val="24404E"/>
            </a:solidFill>
            <a:prstDash val="solid"/>
          </a:ln>
        </p:spPr>
      </p:sp>
      <p:sp>
        <p:nvSpPr>
          <p:cNvPr id="7" name="Text 5"/>
          <p:cNvSpPr txBox="1"/>
          <p:nvPr/>
        </p:nvSpPr>
        <p:spPr>
          <a:xfrm>
            <a:off x="9485071" y="457200"/>
            <a:ext cx="2139696"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10:39 a 11:44</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Seis equipos, un programa, seis entidades</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Todos comparten el mismo marco normativo. Cada equipo recibe una entidad y una pregunta distinta.</a:t>
            </a:r>
            <a:endParaRPr lang="en-US" sz="1500" dirty="0"/>
          </a:p>
        </p:txBody>
      </p:sp>
      <p:sp>
        <p:nvSpPr>
          <p:cNvPr id="4" name="Shape 2"/>
          <p:cNvSpPr/>
          <p:nvPr/>
        </p:nvSpPr>
        <p:spPr>
          <a:xfrm>
            <a:off x="566928" y="1810512"/>
            <a:ext cx="3503066" cy="2043684"/>
          </a:xfrm>
          <a:prstGeom prst="roundRect">
            <a:avLst>
              <a:gd name="adj" fmla="val 3579"/>
            </a:avLst>
          </a:prstGeom>
          <a:solidFill>
            <a:srgbClr val="F2F5F6"/>
          </a:solidFill>
          <a:ln w="12700">
            <a:solidFill>
              <a:srgbClr val="F2F5F6"/>
            </a:solidFill>
            <a:prstDash val="solid"/>
          </a:ln>
        </p:spPr>
      </p:sp>
      <p:sp>
        <p:nvSpPr>
          <p:cNvPr id="5" name="Shape 3"/>
          <p:cNvSpPr/>
          <p:nvPr/>
        </p:nvSpPr>
        <p:spPr>
          <a:xfrm>
            <a:off x="804672" y="2029968"/>
            <a:ext cx="420624" cy="420624"/>
          </a:xfrm>
          <a:prstGeom prst="ellipse">
            <a:avLst/>
          </a:prstGeom>
          <a:solidFill>
            <a:srgbClr val="2E7D7D"/>
          </a:solidFill>
          <a:ln w="12700">
            <a:solidFill>
              <a:srgbClr val="2E7D7D"/>
            </a:solidFill>
            <a:prstDash val="solid"/>
          </a:ln>
        </p:spPr>
      </p:sp>
      <p:sp>
        <p:nvSpPr>
          <p:cNvPr id="6" name="Text 4"/>
          <p:cNvSpPr txBox="1"/>
          <p:nvPr/>
        </p:nvSpPr>
        <p:spPr>
          <a:xfrm>
            <a:off x="804672" y="20299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804672" y="2596896"/>
            <a:ext cx="3027578" cy="247701"/>
          </a:xfrm>
          <a:prstGeom prst="rect">
            <a:avLst/>
          </a:prstGeom>
          <a:noFill/>
          <a:ln/>
        </p:spPr>
        <p:txBody>
          <a:bodyPr wrap="square" lIns="0" tIns="0" rIns="0" bIns="0" rtlCol="0" anchor="t"/>
          <a:lstStyle/>
          <a:p>
            <a:pPr indent="0" marL="0">
              <a:buNone/>
            </a:pPr>
            <a:r>
              <a:rPr lang="en-US" sz="1168" b="1" dirty="0">
                <a:solidFill>
                  <a:srgbClr val="16262E"/>
                </a:solidFill>
                <a:latin typeface="Arial" pitchFamily="34" charset="0"/>
                <a:ea typeface="Arial" pitchFamily="34" charset="-122"/>
                <a:cs typeface="Arial" pitchFamily="34" charset="-120"/>
              </a:rPr>
              <a:t>Entidad A</a:t>
            </a:r>
            <a:endParaRPr lang="en-US" sz="1168" dirty="0"/>
          </a:p>
        </p:txBody>
      </p:sp>
      <p:sp>
        <p:nvSpPr>
          <p:cNvPr id="8" name="Text 6"/>
          <p:cNvSpPr txBox="1"/>
          <p:nvPr/>
        </p:nvSpPr>
        <p:spPr>
          <a:xfrm>
            <a:off x="804672" y="2990901"/>
            <a:ext cx="3027578" cy="662127"/>
          </a:xfrm>
          <a:prstGeom prst="rect">
            <a:avLst/>
          </a:prstGeom>
          <a:noFill/>
          <a:ln/>
        </p:spPr>
        <p:txBody>
          <a:bodyPr wrap="square" lIns="0" tIns="0" rIns="0" bIns="0" rtlCol="0" anchor="t"/>
          <a:lstStyle/>
          <a:p>
            <a:pPr indent="0" marL="0">
              <a:lnSpc>
                <a:spcPct val="110000"/>
              </a:lnSpc>
              <a:buNone/>
            </a:pPr>
            <a:r>
              <a:rPr lang="en-US" sz="912" dirty="0">
                <a:solidFill>
                  <a:srgbClr val="16262E"/>
                </a:solidFill>
                <a:latin typeface="Calibri" pitchFamily="34" charset="0"/>
                <a:ea typeface="Calibri" pitchFamily="34" charset="-122"/>
                <a:cs typeface="Calibri" pitchFamily="34" charset="-120"/>
              </a:rPr>
              <a:t>¿Los centros comunitarios operan conforme a los estándares de las reglas de operación?</a:t>
            </a:r>
            <a:endParaRPr lang="en-US" sz="912" dirty="0"/>
          </a:p>
        </p:txBody>
      </p:sp>
      <p:sp>
        <p:nvSpPr>
          <p:cNvPr id="9" name="Shape 7"/>
          <p:cNvSpPr/>
          <p:nvPr/>
        </p:nvSpPr>
        <p:spPr>
          <a:xfrm>
            <a:off x="4344314" y="1810512"/>
            <a:ext cx="3503066" cy="2043684"/>
          </a:xfrm>
          <a:prstGeom prst="roundRect">
            <a:avLst>
              <a:gd name="adj" fmla="val 3579"/>
            </a:avLst>
          </a:prstGeom>
          <a:solidFill>
            <a:srgbClr val="F2F5F6"/>
          </a:solidFill>
          <a:ln w="12700">
            <a:solidFill>
              <a:srgbClr val="F2F5F6"/>
            </a:solidFill>
            <a:prstDash val="solid"/>
          </a:ln>
        </p:spPr>
      </p:sp>
      <p:sp>
        <p:nvSpPr>
          <p:cNvPr id="10" name="Shape 8"/>
          <p:cNvSpPr/>
          <p:nvPr/>
        </p:nvSpPr>
        <p:spPr>
          <a:xfrm>
            <a:off x="4582058" y="2029968"/>
            <a:ext cx="420624" cy="420624"/>
          </a:xfrm>
          <a:prstGeom prst="ellipse">
            <a:avLst/>
          </a:prstGeom>
          <a:solidFill>
            <a:srgbClr val="2E7D7D"/>
          </a:solidFill>
          <a:ln w="12700">
            <a:solidFill>
              <a:srgbClr val="2E7D7D"/>
            </a:solidFill>
            <a:prstDash val="solid"/>
          </a:ln>
        </p:spPr>
      </p:sp>
      <p:sp>
        <p:nvSpPr>
          <p:cNvPr id="11" name="Text 9"/>
          <p:cNvSpPr txBox="1"/>
          <p:nvPr/>
        </p:nvSpPr>
        <p:spPr>
          <a:xfrm>
            <a:off x="4582058" y="20299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4582058" y="2596896"/>
            <a:ext cx="3027578" cy="247701"/>
          </a:xfrm>
          <a:prstGeom prst="rect">
            <a:avLst/>
          </a:prstGeom>
          <a:noFill/>
          <a:ln/>
        </p:spPr>
        <p:txBody>
          <a:bodyPr wrap="square" lIns="0" tIns="0" rIns="0" bIns="0" rtlCol="0" anchor="t"/>
          <a:lstStyle/>
          <a:p>
            <a:pPr indent="0" marL="0">
              <a:buNone/>
            </a:pPr>
            <a:r>
              <a:rPr lang="en-US" sz="1168" b="1" dirty="0">
                <a:solidFill>
                  <a:srgbClr val="16262E"/>
                </a:solidFill>
                <a:latin typeface="Arial" pitchFamily="34" charset="0"/>
                <a:ea typeface="Arial" pitchFamily="34" charset="-122"/>
                <a:cs typeface="Arial" pitchFamily="34" charset="-120"/>
              </a:rPr>
              <a:t>Entidad B</a:t>
            </a:r>
            <a:endParaRPr lang="en-US" sz="1168" dirty="0"/>
          </a:p>
        </p:txBody>
      </p:sp>
      <p:sp>
        <p:nvSpPr>
          <p:cNvPr id="13" name="Text 11"/>
          <p:cNvSpPr txBox="1"/>
          <p:nvPr/>
        </p:nvSpPr>
        <p:spPr>
          <a:xfrm>
            <a:off x="4582058" y="2990901"/>
            <a:ext cx="3027578" cy="662127"/>
          </a:xfrm>
          <a:prstGeom prst="rect">
            <a:avLst/>
          </a:prstGeom>
          <a:noFill/>
          <a:ln/>
        </p:spPr>
        <p:txBody>
          <a:bodyPr wrap="square" lIns="0" tIns="0" rIns="0" bIns="0" rtlCol="0" anchor="t"/>
          <a:lstStyle/>
          <a:p>
            <a:pPr indent="0" marL="0">
              <a:lnSpc>
                <a:spcPct val="110000"/>
              </a:lnSpc>
              <a:buNone/>
            </a:pPr>
            <a:r>
              <a:rPr lang="en-US" sz="912" dirty="0">
                <a:solidFill>
                  <a:srgbClr val="16262E"/>
                </a:solidFill>
                <a:latin typeface="Calibri" pitchFamily="34" charset="0"/>
                <a:ea typeface="Calibri" pitchFamily="34" charset="-122"/>
                <a:cs typeface="Calibri" pitchFamily="34" charset="-120"/>
              </a:rPr>
              <a:t>¿A qué se debe el incremento de cobertura y qué tan sólido es ese resultado?</a:t>
            </a:r>
            <a:endParaRPr lang="en-US" sz="912" dirty="0"/>
          </a:p>
        </p:txBody>
      </p:sp>
      <p:sp>
        <p:nvSpPr>
          <p:cNvPr id="14" name="Shape 12"/>
          <p:cNvSpPr/>
          <p:nvPr/>
        </p:nvSpPr>
        <p:spPr>
          <a:xfrm>
            <a:off x="8121701" y="1810512"/>
            <a:ext cx="3503066" cy="2043684"/>
          </a:xfrm>
          <a:prstGeom prst="roundRect">
            <a:avLst>
              <a:gd name="adj" fmla="val 3579"/>
            </a:avLst>
          </a:prstGeom>
          <a:solidFill>
            <a:srgbClr val="F2F5F6"/>
          </a:solidFill>
          <a:ln w="12700">
            <a:solidFill>
              <a:srgbClr val="F2F5F6"/>
            </a:solidFill>
            <a:prstDash val="solid"/>
          </a:ln>
        </p:spPr>
      </p:sp>
      <p:sp>
        <p:nvSpPr>
          <p:cNvPr id="15" name="Shape 13"/>
          <p:cNvSpPr/>
          <p:nvPr/>
        </p:nvSpPr>
        <p:spPr>
          <a:xfrm>
            <a:off x="8359445" y="2029968"/>
            <a:ext cx="420624" cy="420624"/>
          </a:xfrm>
          <a:prstGeom prst="ellipse">
            <a:avLst/>
          </a:prstGeom>
          <a:solidFill>
            <a:srgbClr val="2E7D7D"/>
          </a:solidFill>
          <a:ln w="12700">
            <a:solidFill>
              <a:srgbClr val="2E7D7D"/>
            </a:solidFill>
            <a:prstDash val="solid"/>
          </a:ln>
        </p:spPr>
      </p:sp>
      <p:sp>
        <p:nvSpPr>
          <p:cNvPr id="16" name="Text 14"/>
          <p:cNvSpPr txBox="1"/>
          <p:nvPr/>
        </p:nvSpPr>
        <p:spPr>
          <a:xfrm>
            <a:off x="8359445" y="20299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8359445" y="2596896"/>
            <a:ext cx="3027578" cy="247701"/>
          </a:xfrm>
          <a:prstGeom prst="rect">
            <a:avLst/>
          </a:prstGeom>
          <a:noFill/>
          <a:ln/>
        </p:spPr>
        <p:txBody>
          <a:bodyPr wrap="square" lIns="0" tIns="0" rIns="0" bIns="0" rtlCol="0" anchor="t"/>
          <a:lstStyle/>
          <a:p>
            <a:pPr indent="0" marL="0">
              <a:buNone/>
            </a:pPr>
            <a:r>
              <a:rPr lang="en-US" sz="1168" b="1" dirty="0">
                <a:solidFill>
                  <a:srgbClr val="16262E"/>
                </a:solidFill>
                <a:latin typeface="Arial" pitchFamily="34" charset="0"/>
                <a:ea typeface="Arial" pitchFamily="34" charset="-122"/>
                <a:cs typeface="Arial" pitchFamily="34" charset="-120"/>
              </a:rPr>
              <a:t>Entidad C</a:t>
            </a:r>
            <a:endParaRPr lang="en-US" sz="1168" dirty="0"/>
          </a:p>
        </p:txBody>
      </p:sp>
      <p:sp>
        <p:nvSpPr>
          <p:cNvPr id="18" name="Text 16"/>
          <p:cNvSpPr txBox="1"/>
          <p:nvPr/>
        </p:nvSpPr>
        <p:spPr>
          <a:xfrm>
            <a:off x="8359445" y="2990901"/>
            <a:ext cx="3027578" cy="662127"/>
          </a:xfrm>
          <a:prstGeom prst="rect">
            <a:avLst/>
          </a:prstGeom>
          <a:noFill/>
          <a:ln/>
        </p:spPr>
        <p:txBody>
          <a:bodyPr wrap="square" lIns="0" tIns="0" rIns="0" bIns="0" rtlCol="0" anchor="t"/>
          <a:lstStyle/>
          <a:p>
            <a:pPr indent="0" marL="0">
              <a:lnSpc>
                <a:spcPct val="110000"/>
              </a:lnSpc>
              <a:buNone/>
            </a:pPr>
            <a:r>
              <a:rPr lang="en-US" sz="912" dirty="0">
                <a:solidFill>
                  <a:srgbClr val="16262E"/>
                </a:solidFill>
                <a:latin typeface="Calibri" pitchFamily="34" charset="0"/>
                <a:ea typeface="Calibri" pitchFamily="34" charset="-122"/>
                <a:cs typeface="Calibri" pitchFamily="34" charset="-120"/>
              </a:rPr>
              <a:t>¿Los mecanismos de dispersión funcionaron conforme a lo previsto?</a:t>
            </a:r>
            <a:endParaRPr lang="en-US" sz="912" dirty="0"/>
          </a:p>
        </p:txBody>
      </p:sp>
      <p:sp>
        <p:nvSpPr>
          <p:cNvPr id="19" name="Shape 17"/>
          <p:cNvSpPr/>
          <p:nvPr/>
        </p:nvSpPr>
        <p:spPr>
          <a:xfrm>
            <a:off x="566928" y="4128516"/>
            <a:ext cx="3503066" cy="2043684"/>
          </a:xfrm>
          <a:prstGeom prst="roundRect">
            <a:avLst>
              <a:gd name="adj" fmla="val 3579"/>
            </a:avLst>
          </a:prstGeom>
          <a:solidFill>
            <a:srgbClr val="F2F5F6"/>
          </a:solidFill>
          <a:ln w="12700">
            <a:solidFill>
              <a:srgbClr val="F2F5F6"/>
            </a:solidFill>
            <a:prstDash val="solid"/>
          </a:ln>
        </p:spPr>
      </p:sp>
      <p:sp>
        <p:nvSpPr>
          <p:cNvPr id="20" name="Shape 18"/>
          <p:cNvSpPr/>
          <p:nvPr/>
        </p:nvSpPr>
        <p:spPr>
          <a:xfrm>
            <a:off x="804672" y="4347972"/>
            <a:ext cx="420624" cy="420624"/>
          </a:xfrm>
          <a:prstGeom prst="ellipse">
            <a:avLst/>
          </a:prstGeom>
          <a:solidFill>
            <a:srgbClr val="2E7D7D"/>
          </a:solidFill>
          <a:ln w="12700">
            <a:solidFill>
              <a:srgbClr val="2E7D7D"/>
            </a:solidFill>
            <a:prstDash val="solid"/>
          </a:ln>
        </p:spPr>
      </p:sp>
      <p:sp>
        <p:nvSpPr>
          <p:cNvPr id="21" name="Text 19"/>
          <p:cNvSpPr txBox="1"/>
          <p:nvPr/>
        </p:nvSpPr>
        <p:spPr>
          <a:xfrm>
            <a:off x="804672" y="43479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804672" y="4914900"/>
            <a:ext cx="3027578" cy="247701"/>
          </a:xfrm>
          <a:prstGeom prst="rect">
            <a:avLst/>
          </a:prstGeom>
          <a:noFill/>
          <a:ln/>
        </p:spPr>
        <p:txBody>
          <a:bodyPr wrap="square" lIns="0" tIns="0" rIns="0" bIns="0" rtlCol="0" anchor="t"/>
          <a:lstStyle/>
          <a:p>
            <a:pPr indent="0" marL="0">
              <a:buNone/>
            </a:pPr>
            <a:r>
              <a:rPr lang="en-US" sz="1168" b="1" dirty="0">
                <a:solidFill>
                  <a:srgbClr val="16262E"/>
                </a:solidFill>
                <a:latin typeface="Arial" pitchFamily="34" charset="0"/>
                <a:ea typeface="Arial" pitchFamily="34" charset="-122"/>
                <a:cs typeface="Arial" pitchFamily="34" charset="-120"/>
              </a:rPr>
              <a:t>Entidad D</a:t>
            </a:r>
            <a:endParaRPr lang="en-US" sz="1168" dirty="0"/>
          </a:p>
        </p:txBody>
      </p:sp>
      <p:sp>
        <p:nvSpPr>
          <p:cNvPr id="23" name="Text 21"/>
          <p:cNvSpPr txBox="1"/>
          <p:nvPr/>
        </p:nvSpPr>
        <p:spPr>
          <a:xfrm>
            <a:off x="804672" y="5308905"/>
            <a:ext cx="3027578" cy="662127"/>
          </a:xfrm>
          <a:prstGeom prst="rect">
            <a:avLst/>
          </a:prstGeom>
          <a:noFill/>
          <a:ln/>
        </p:spPr>
        <p:txBody>
          <a:bodyPr wrap="square" lIns="0" tIns="0" rIns="0" bIns="0" rtlCol="0" anchor="t"/>
          <a:lstStyle/>
          <a:p>
            <a:pPr indent="0" marL="0">
              <a:lnSpc>
                <a:spcPct val="110000"/>
              </a:lnSpc>
              <a:buNone/>
            </a:pPr>
            <a:r>
              <a:rPr lang="en-US" sz="912" dirty="0">
                <a:solidFill>
                  <a:srgbClr val="16262E"/>
                </a:solidFill>
                <a:latin typeface="Calibri" pitchFamily="34" charset="0"/>
                <a:ea typeface="Calibri" pitchFamily="34" charset="-122"/>
                <a:cs typeface="Calibri" pitchFamily="34" charset="-120"/>
              </a:rPr>
              <a:t>¿Por qué disminuyó la cobertura y qué implica la respuesta para el diseño de la norma?</a:t>
            </a:r>
            <a:endParaRPr lang="en-US" sz="912" dirty="0"/>
          </a:p>
        </p:txBody>
      </p:sp>
      <p:sp>
        <p:nvSpPr>
          <p:cNvPr id="24" name="Shape 22"/>
          <p:cNvSpPr/>
          <p:nvPr/>
        </p:nvSpPr>
        <p:spPr>
          <a:xfrm>
            <a:off x="4344314" y="4128516"/>
            <a:ext cx="3503066" cy="2043684"/>
          </a:xfrm>
          <a:prstGeom prst="roundRect">
            <a:avLst>
              <a:gd name="adj" fmla="val 3579"/>
            </a:avLst>
          </a:prstGeom>
          <a:solidFill>
            <a:srgbClr val="F2F5F6"/>
          </a:solidFill>
          <a:ln w="12700">
            <a:solidFill>
              <a:srgbClr val="F2F5F6"/>
            </a:solidFill>
            <a:prstDash val="solid"/>
          </a:ln>
        </p:spPr>
      </p:sp>
      <p:sp>
        <p:nvSpPr>
          <p:cNvPr id="25" name="Shape 23"/>
          <p:cNvSpPr/>
          <p:nvPr/>
        </p:nvSpPr>
        <p:spPr>
          <a:xfrm>
            <a:off x="4582058" y="4347972"/>
            <a:ext cx="420624" cy="420624"/>
          </a:xfrm>
          <a:prstGeom prst="ellipse">
            <a:avLst/>
          </a:prstGeom>
          <a:solidFill>
            <a:srgbClr val="2E7D7D"/>
          </a:solidFill>
          <a:ln w="12700">
            <a:solidFill>
              <a:srgbClr val="2E7D7D"/>
            </a:solidFill>
            <a:prstDash val="solid"/>
          </a:ln>
        </p:spPr>
      </p:sp>
      <p:sp>
        <p:nvSpPr>
          <p:cNvPr id="26" name="Text 24"/>
          <p:cNvSpPr txBox="1"/>
          <p:nvPr/>
        </p:nvSpPr>
        <p:spPr>
          <a:xfrm>
            <a:off x="4582058" y="43479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7" name="Text 25"/>
          <p:cNvSpPr txBox="1"/>
          <p:nvPr/>
        </p:nvSpPr>
        <p:spPr>
          <a:xfrm>
            <a:off x="4582058" y="4914900"/>
            <a:ext cx="3027578" cy="247701"/>
          </a:xfrm>
          <a:prstGeom prst="rect">
            <a:avLst/>
          </a:prstGeom>
          <a:noFill/>
          <a:ln/>
        </p:spPr>
        <p:txBody>
          <a:bodyPr wrap="square" lIns="0" tIns="0" rIns="0" bIns="0" rtlCol="0" anchor="t"/>
          <a:lstStyle/>
          <a:p>
            <a:pPr indent="0" marL="0">
              <a:buNone/>
            </a:pPr>
            <a:r>
              <a:rPr lang="en-US" sz="1168" b="1" dirty="0">
                <a:solidFill>
                  <a:srgbClr val="16262E"/>
                </a:solidFill>
                <a:latin typeface="Arial" pitchFamily="34" charset="0"/>
                <a:ea typeface="Arial" pitchFamily="34" charset="-122"/>
                <a:cs typeface="Arial" pitchFamily="34" charset="-120"/>
              </a:rPr>
              <a:t>Entidad E</a:t>
            </a:r>
            <a:endParaRPr lang="en-US" sz="1168" dirty="0"/>
          </a:p>
        </p:txBody>
      </p:sp>
      <p:sp>
        <p:nvSpPr>
          <p:cNvPr id="28" name="Text 26"/>
          <p:cNvSpPr txBox="1"/>
          <p:nvPr/>
        </p:nvSpPr>
        <p:spPr>
          <a:xfrm>
            <a:off x="4582058" y="5308905"/>
            <a:ext cx="3027578" cy="662127"/>
          </a:xfrm>
          <a:prstGeom prst="rect">
            <a:avLst/>
          </a:prstGeom>
          <a:noFill/>
          <a:ln/>
        </p:spPr>
        <p:txBody>
          <a:bodyPr wrap="square" lIns="0" tIns="0" rIns="0" bIns="0" rtlCol="0" anchor="t"/>
          <a:lstStyle/>
          <a:p>
            <a:pPr indent="0" marL="0">
              <a:lnSpc>
                <a:spcPct val="110000"/>
              </a:lnSpc>
              <a:buNone/>
            </a:pPr>
            <a:r>
              <a:rPr lang="en-US" sz="912" dirty="0">
                <a:solidFill>
                  <a:srgbClr val="16262E"/>
                </a:solidFill>
                <a:latin typeface="Calibri" pitchFamily="34" charset="0"/>
                <a:ea typeface="Calibri" pitchFamily="34" charset="-122"/>
                <a:cs typeface="Calibri" pitchFamily="34" charset="-120"/>
              </a:rPr>
              <a:t>¿Los criterios de elegibilidad se aplican de manera homogénea en la entidad?</a:t>
            </a:r>
            <a:endParaRPr lang="en-US" sz="912" dirty="0"/>
          </a:p>
        </p:txBody>
      </p:sp>
      <p:sp>
        <p:nvSpPr>
          <p:cNvPr id="29" name="Shape 27"/>
          <p:cNvSpPr/>
          <p:nvPr/>
        </p:nvSpPr>
        <p:spPr>
          <a:xfrm>
            <a:off x="8121701" y="4128516"/>
            <a:ext cx="3503066" cy="2043684"/>
          </a:xfrm>
          <a:prstGeom prst="roundRect">
            <a:avLst>
              <a:gd name="adj" fmla="val 3579"/>
            </a:avLst>
          </a:prstGeom>
          <a:solidFill>
            <a:srgbClr val="F2F5F6"/>
          </a:solidFill>
          <a:ln w="12700">
            <a:solidFill>
              <a:srgbClr val="F2F5F6"/>
            </a:solidFill>
            <a:prstDash val="solid"/>
          </a:ln>
        </p:spPr>
      </p:sp>
      <p:sp>
        <p:nvSpPr>
          <p:cNvPr id="30" name="Shape 28"/>
          <p:cNvSpPr/>
          <p:nvPr/>
        </p:nvSpPr>
        <p:spPr>
          <a:xfrm>
            <a:off x="8359445" y="4347972"/>
            <a:ext cx="420624" cy="420624"/>
          </a:xfrm>
          <a:prstGeom prst="ellipse">
            <a:avLst/>
          </a:prstGeom>
          <a:solidFill>
            <a:srgbClr val="2E7D7D"/>
          </a:solidFill>
          <a:ln w="12700">
            <a:solidFill>
              <a:srgbClr val="2E7D7D"/>
            </a:solidFill>
            <a:prstDash val="solid"/>
          </a:ln>
        </p:spPr>
      </p:sp>
      <p:sp>
        <p:nvSpPr>
          <p:cNvPr id="31" name="Text 29"/>
          <p:cNvSpPr txBox="1"/>
          <p:nvPr/>
        </p:nvSpPr>
        <p:spPr>
          <a:xfrm>
            <a:off x="8359445" y="43479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30"/>
          <p:cNvSpPr txBox="1"/>
          <p:nvPr/>
        </p:nvSpPr>
        <p:spPr>
          <a:xfrm>
            <a:off x="8359445" y="4914900"/>
            <a:ext cx="3027578" cy="247701"/>
          </a:xfrm>
          <a:prstGeom prst="rect">
            <a:avLst/>
          </a:prstGeom>
          <a:noFill/>
          <a:ln/>
        </p:spPr>
        <p:txBody>
          <a:bodyPr wrap="square" lIns="0" tIns="0" rIns="0" bIns="0" rtlCol="0" anchor="t"/>
          <a:lstStyle/>
          <a:p>
            <a:pPr indent="0" marL="0">
              <a:buNone/>
            </a:pPr>
            <a:r>
              <a:rPr lang="en-US" sz="1168" b="1" dirty="0">
                <a:solidFill>
                  <a:srgbClr val="16262E"/>
                </a:solidFill>
                <a:latin typeface="Arial" pitchFamily="34" charset="0"/>
                <a:ea typeface="Arial" pitchFamily="34" charset="-122"/>
                <a:cs typeface="Arial" pitchFamily="34" charset="-120"/>
              </a:rPr>
              <a:t>Entidad F</a:t>
            </a:r>
            <a:endParaRPr lang="en-US" sz="1168" dirty="0"/>
          </a:p>
        </p:txBody>
      </p:sp>
      <p:sp>
        <p:nvSpPr>
          <p:cNvPr id="33" name="Text 31"/>
          <p:cNvSpPr txBox="1"/>
          <p:nvPr/>
        </p:nvSpPr>
        <p:spPr>
          <a:xfrm>
            <a:off x="8359445" y="5308905"/>
            <a:ext cx="3027578" cy="662127"/>
          </a:xfrm>
          <a:prstGeom prst="rect">
            <a:avLst/>
          </a:prstGeom>
          <a:noFill/>
          <a:ln/>
        </p:spPr>
        <p:txBody>
          <a:bodyPr wrap="square" lIns="0" tIns="0" rIns="0" bIns="0" rtlCol="0" anchor="t"/>
          <a:lstStyle/>
          <a:p>
            <a:pPr indent="0" marL="0">
              <a:lnSpc>
                <a:spcPct val="110000"/>
              </a:lnSpc>
              <a:buNone/>
            </a:pPr>
            <a:r>
              <a:rPr lang="en-US" sz="912" dirty="0">
                <a:solidFill>
                  <a:srgbClr val="16262E"/>
                </a:solidFill>
                <a:latin typeface="Calibri" pitchFamily="34" charset="0"/>
                <a:ea typeface="Calibri" pitchFamily="34" charset="-122"/>
                <a:cs typeface="Calibri" pitchFamily="34" charset="-120"/>
              </a:rPr>
              <a:t>¿El diseño del programa es pertinente para el contexto de la entidad?</a:t>
            </a:r>
            <a:endParaRPr lang="en-US" sz="912"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Tu turno laboratorio">
    <p:bg>
      <p:bgPr>
        <a:solidFill>
          <a:srgbClr val="D7E7E7"/>
        </a:solidFill>
        <a:effectLst/>
      </p:bgPr>
    </p:bg>
    <p:spTree>
      <p:nvGrpSpPr>
        <p:cNvPr id="1" name=""/>
        <p:cNvGrpSpPr/>
        <p:nvPr/>
      </p:nvGrpSpPr>
      <p:grpSpPr>
        <a:xfrm>
          <a:off x="0" y="0"/>
          <a:ext cx="0" cy="0"/>
          <a:chOff x="0" y="0"/>
          <a:chExt cx="0" cy="0"/>
        </a:xfrm>
      </p:grpSpPr>
      <p:sp>
        <p:nvSpPr>
          <p:cNvPr id="2" name="Shape"/>
          <p:cNvSpPr/>
          <p:nvPr/>
        </p:nvSpPr>
        <p:spPr>
          <a:xfrm>
            <a:off x="566928" y="402336"/>
            <a:ext cx="1828800" cy="457200"/>
          </a:xfrm>
          <a:prstGeom prst="roundRect">
            <a:avLst>
              <a:gd name="adj" fmla="val 50000"/>
            </a:avLst>
          </a:prstGeom>
          <a:solidFill>
            <a:srgbClr val="2E7D7D"/>
          </a:solidFill>
          <a:ln w="12700">
            <a:solidFill>
              <a:srgbClr val="2E7D7D"/>
            </a:solidFill>
            <a:prstDash val="solid"/>
          </a:ln>
        </p:spPr>
      </p:sp>
      <p:sp>
        <p:nvSpPr>
          <p:cNvPr id="3" name="Text"/>
          <p:cNvSpPr txBox="1"/>
          <p:nvPr/>
        </p:nvSpPr>
        <p:spPr>
          <a:xfrm>
            <a:off x="566928" y="402336"/>
            <a:ext cx="1828800" cy="457200"/>
          </a:xfrm>
          <a:prstGeom prst="rect">
            <a:avLst/>
          </a:prstGeom>
          <a:noFill/>
          <a:ln/>
        </p:spPr>
        <p:txBody>
          <a:bodyPr wrap="square" lIns="0" tIns="0" rIns="0" bIns="0" rtlCol="0" anchor="ctr"/>
          <a:lstStyle/>
          <a:p>
            <a:pPr algn="ctr" indent="0" marL="0">
              <a:buNone/>
            </a:pPr>
            <a:r>
              <a:rPr lang="en-US" sz="1300" b="1" spc="200" kern="0" dirty="0">
                <a:solidFill>
                  <a:srgbClr val="FFFFFF"/>
                </a:solidFill>
                <a:latin typeface="Arial" pitchFamily="34" charset="0"/>
                <a:ea typeface="Arial" pitchFamily="34" charset="-122"/>
                <a:cs typeface="Arial" pitchFamily="34" charset="-120"/>
              </a:rPr>
              <a:t>TU TURNO</a:t>
            </a:r>
            <a:endParaRPr lang="en-US" sz="1300" dirty="0"/>
          </a:p>
        </p:txBody>
      </p:sp>
      <p:sp>
        <p:nvSpPr>
          <p:cNvPr id="4" name="Shape"/>
          <p:cNvSpPr/>
          <p:nvPr/>
        </p:nvSpPr>
        <p:spPr>
          <a:xfrm>
            <a:off x="9796639" y="402336"/>
            <a:ext cx="1828128" cy="457200"/>
          </a:xfrm>
          <a:prstGeom prst="roundRect">
            <a:avLst>
              <a:gd name="adj" fmla="val 50000"/>
            </a:avLst>
          </a:prstGeom>
          <a:solidFill>
            <a:srgbClr val="C85A28"/>
          </a:solidFill>
          <a:ln w="12700">
            <a:solidFill>
              <a:srgbClr val="C85A28"/>
            </a:solidFill>
            <a:prstDash val="solid"/>
          </a:ln>
        </p:spPr>
      </p:sp>
      <p:sp>
        <p:nvSpPr>
          <p:cNvPr id="5" name="Text"/>
          <p:cNvSpPr txBox="1"/>
          <p:nvPr/>
        </p:nvSpPr>
        <p:spPr>
          <a:xfrm>
            <a:off x="9796639" y="402336"/>
            <a:ext cx="1828128"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48 minutos</a:t>
            </a:r>
            <a:endParaRPr lang="en-US" sz="1300" dirty="0"/>
          </a:p>
        </p:txBody>
      </p:sp>
      <p:sp>
        <p:nvSpPr>
          <p:cNvPr id="6" name="Text"/>
          <p:cNvSpPr txBox="1"/>
          <p:nvPr/>
        </p:nvSpPr>
        <p:spPr>
          <a:xfrm>
            <a:off x="566928" y="1078992"/>
            <a:ext cx="11057839" cy="685800"/>
          </a:xfrm>
          <a:prstGeom prst="rect">
            <a:avLst/>
          </a:prstGeom>
          <a:noFill/>
          <a:ln/>
        </p:spPr>
        <p:txBody>
          <a:bodyPr wrap="square" lIns="0" tIns="0" rIns="0" bIns="0" rtlCol="0" anchor="ctr"/>
          <a:lstStyle/>
          <a:p>
            <a:pPr indent="0" marL="0">
              <a:buNone/>
            </a:pPr>
            <a:r>
              <a:rPr lang="en-US" sz="2900" b="1" dirty="0">
                <a:solidFill>
                  <a:srgbClr val="16262E"/>
                </a:solidFill>
                <a:latin typeface="Arial" pitchFamily="34" charset="0"/>
                <a:ea typeface="Arial" pitchFamily="34" charset="-122"/>
                <a:cs typeface="Arial" pitchFamily="34" charset="-120"/>
              </a:rPr>
              <a:t>Laboratorio Práctico 2: su expediente, su matriz, su medición</a:t>
            </a:r>
            <a:endParaRPr lang="en-US" sz="2900" dirty="0"/>
          </a:p>
        </p:txBody>
      </p:sp>
      <p:sp>
        <p:nvSpPr>
          <p:cNvPr id="7" name="Shape"/>
          <p:cNvSpPr/>
          <p:nvPr/>
        </p:nvSpPr>
        <p:spPr>
          <a:xfrm>
            <a:off x="566928" y="1980000"/>
            <a:ext cx="11057839" cy="610000"/>
          </a:xfrm>
          <a:prstGeom prst="roundRect">
            <a:avLst>
              <a:gd name="adj" fmla="val 2933"/>
            </a:avLst>
          </a:prstGeom>
          <a:solidFill>
            <a:srgbClr val="FFFFFF"/>
          </a:solidFill>
          <a:ln w="12700">
            <a:solidFill>
              <a:srgbClr val="FFFFFF"/>
            </a:solidFill>
            <a:prstDash val="solid"/>
          </a:ln>
        </p:spPr>
      </p:sp>
      <p:sp>
        <p:nvSpPr>
          <p:cNvPr id="8" name="Shape"/>
          <p:cNvSpPr/>
          <p:nvPr/>
        </p:nvSpPr>
        <p:spPr>
          <a:xfrm>
            <a:off x="786384" y="2080000"/>
            <a:ext cx="411480" cy="411480"/>
          </a:xfrm>
          <a:prstGeom prst="ellipse">
            <a:avLst/>
          </a:prstGeom>
          <a:solidFill>
            <a:srgbClr val="2E7D7D"/>
          </a:solidFill>
          <a:ln w="12700">
            <a:solidFill>
              <a:srgbClr val="2E7D7D"/>
            </a:solidFill>
            <a:prstDash val="solid"/>
          </a:ln>
        </p:spPr>
      </p:sp>
      <p:sp>
        <p:nvSpPr>
          <p:cNvPr id="9" name="Text"/>
          <p:cNvSpPr txBox="1"/>
          <p:nvPr/>
        </p:nvSpPr>
        <p:spPr>
          <a:xfrm>
            <a:off x="786384" y="20800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p:cNvSpPr txBox="1"/>
          <p:nvPr/>
        </p:nvSpPr>
        <p:spPr>
          <a:xfrm>
            <a:off x="1416928" y="1980000"/>
            <a:ext cx="8407839" cy="610000"/>
          </a:xfrm>
          <a:prstGeom prst="rect">
            <a:avLst/>
          </a:prstGeom>
          <a:noFill/>
          <a:ln/>
        </p:spPr>
        <p:txBody>
          <a:bodyPr wrap="square" lIns="0" tIns="0" rIns="0" bIns="0" rtlCol="0" anchor="ctr"/>
          <a:lstStyle/>
          <a:p>
            <a:pPr indent="0" marL="0">
              <a:lnSpc>
                <a:spcPct val="105000"/>
              </a:lnSpc>
              <a:buNone/>
            </a:pPr>
            <a:r>
              <a:rPr lang="en-US" sz="1250" dirty="0">
                <a:solidFill>
                  <a:srgbClr val="16262E"/>
                </a:solidFill>
                <a:latin typeface="Calibri" pitchFamily="34" charset="0"/>
                <a:ea typeface="Calibri" pitchFamily="34" charset="-122"/>
                <a:cs typeface="Calibri" pitchFamily="34" charset="-120"/>
              </a:rPr>
              <a:t>Lean el expediente, escriban en una línea qué va a significar para ustedes confianza alta, media y baja, y ubiquen los patrones con las técnicas de la sesión 4.</a:t>
            </a:r>
            <a:endParaRPr lang="en-US" sz="1250" dirty="0"/>
          </a:p>
        </p:txBody>
      </p:sp>
      <p:sp>
        <p:nvSpPr>
          <p:cNvPr id="11" name="Text"/>
          <p:cNvSpPr txBox="1"/>
          <p:nvPr/>
        </p:nvSpPr>
        <p:spPr>
          <a:xfrm>
            <a:off x="9874767" y="1980000"/>
            <a:ext cx="1550000" cy="610000"/>
          </a:xfrm>
          <a:prstGeom prst="rect">
            <a:avLst/>
          </a:prstGeom>
          <a:noFill/>
          <a:ln/>
        </p:spPr>
        <p:txBody>
          <a:bodyPr wrap="square" lIns="0" tIns="0" rIns="0" bIns="0" rtlCol="0" anchor="ctr"/>
          <a:lstStyle/>
          <a:p>
            <a:pPr algn="r" indent="0" marL="0">
              <a:buNone/>
            </a:pPr>
            <a:r>
              <a:rPr lang="en-US" sz="1100" b="1" dirty="0">
                <a:solidFill>
                  <a:srgbClr val="2E7D7D"/>
                </a:solidFill>
                <a:latin typeface="Arial" pitchFamily="34" charset="0"/>
                <a:ea typeface="Arial" pitchFamily="34" charset="-122"/>
                <a:cs typeface="Arial" pitchFamily="34" charset="-120"/>
              </a:rPr>
              <a:t>10 min · corte 10:57</a:t>
            </a:r>
            <a:endParaRPr lang="en-US" sz="1100" dirty="0"/>
          </a:p>
        </p:txBody>
      </p:sp>
      <p:sp>
        <p:nvSpPr>
          <p:cNvPr id="12" name="Shape"/>
          <p:cNvSpPr/>
          <p:nvPr/>
        </p:nvSpPr>
        <p:spPr>
          <a:xfrm>
            <a:off x="566928" y="2670000"/>
            <a:ext cx="11057839" cy="610000"/>
          </a:xfrm>
          <a:prstGeom prst="roundRect">
            <a:avLst>
              <a:gd name="adj" fmla="val 2933"/>
            </a:avLst>
          </a:prstGeom>
          <a:solidFill>
            <a:srgbClr val="FFFFFF"/>
          </a:solidFill>
          <a:ln w="12700">
            <a:solidFill>
              <a:srgbClr val="FFFFFF"/>
            </a:solidFill>
            <a:prstDash val="solid"/>
          </a:ln>
        </p:spPr>
      </p:sp>
      <p:sp>
        <p:nvSpPr>
          <p:cNvPr id="13" name="Shape"/>
          <p:cNvSpPr/>
          <p:nvPr/>
        </p:nvSpPr>
        <p:spPr>
          <a:xfrm>
            <a:off x="786384" y="2770000"/>
            <a:ext cx="411480" cy="411480"/>
          </a:xfrm>
          <a:prstGeom prst="ellipse">
            <a:avLst/>
          </a:prstGeom>
          <a:solidFill>
            <a:srgbClr val="2E7D7D"/>
          </a:solidFill>
          <a:ln w="12700">
            <a:solidFill>
              <a:srgbClr val="2E7D7D"/>
            </a:solidFill>
            <a:prstDash val="solid"/>
          </a:ln>
        </p:spPr>
      </p:sp>
      <p:sp>
        <p:nvSpPr>
          <p:cNvPr id="14" name="Text"/>
          <p:cNvSpPr txBox="1"/>
          <p:nvPr/>
        </p:nvSpPr>
        <p:spPr>
          <a:xfrm>
            <a:off x="786384" y="27700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p:cNvSpPr txBox="1"/>
          <p:nvPr/>
        </p:nvSpPr>
        <p:spPr>
          <a:xfrm>
            <a:off x="1416928" y="2670000"/>
            <a:ext cx="8407839" cy="610000"/>
          </a:xfrm>
          <a:prstGeom prst="rect">
            <a:avLst/>
          </a:prstGeom>
          <a:noFill/>
          <a:ln/>
        </p:spPr>
        <p:txBody>
          <a:bodyPr wrap="square" lIns="0" tIns="0" rIns="0" bIns="0" rtlCol="0" anchor="ctr"/>
          <a:lstStyle/>
          <a:p>
            <a:pPr indent="0" marL="0">
              <a:lnSpc>
                <a:spcPct val="105000"/>
              </a:lnSpc>
              <a:buNone/>
            </a:pPr>
            <a:r>
              <a:rPr lang="en-US" sz="1250" dirty="0">
                <a:solidFill>
                  <a:srgbClr val="16262E"/>
                </a:solidFill>
                <a:latin typeface="Calibri" pitchFamily="34" charset="0"/>
                <a:ea typeface="Calibri" pitchFamily="34" charset="-122"/>
                <a:cs typeface="Calibri" pitchFamily="34" charset="-120"/>
              </a:rPr>
              <a:t>Construyan la matriz con seis afirmaciones trazadas. El prompt de arranque está en la lámina anterior: cópienlo a la bitácora antes de correrlo.</a:t>
            </a:r>
            <a:endParaRPr lang="en-US" sz="1250" dirty="0"/>
          </a:p>
        </p:txBody>
      </p:sp>
      <p:sp>
        <p:nvSpPr>
          <p:cNvPr id="16" name="Text"/>
          <p:cNvSpPr txBox="1"/>
          <p:nvPr/>
        </p:nvSpPr>
        <p:spPr>
          <a:xfrm>
            <a:off x="9874767" y="2670000"/>
            <a:ext cx="1550000" cy="610000"/>
          </a:xfrm>
          <a:prstGeom prst="rect">
            <a:avLst/>
          </a:prstGeom>
          <a:noFill/>
          <a:ln/>
        </p:spPr>
        <p:txBody>
          <a:bodyPr wrap="square" lIns="0" tIns="0" rIns="0" bIns="0" rtlCol="0" anchor="ctr"/>
          <a:lstStyle/>
          <a:p>
            <a:pPr algn="r" indent="0" marL="0">
              <a:buNone/>
            </a:pPr>
            <a:r>
              <a:rPr lang="en-US" sz="1100" b="1" dirty="0">
                <a:solidFill>
                  <a:srgbClr val="2E7D7D"/>
                </a:solidFill>
                <a:latin typeface="Arial" pitchFamily="34" charset="0"/>
                <a:ea typeface="Arial" pitchFamily="34" charset="-122"/>
                <a:cs typeface="Arial" pitchFamily="34" charset="-120"/>
              </a:rPr>
              <a:t>20 min · corte 11:17</a:t>
            </a:r>
            <a:endParaRPr lang="en-US" sz="1100" dirty="0"/>
          </a:p>
        </p:txBody>
      </p:sp>
      <p:sp>
        <p:nvSpPr>
          <p:cNvPr id="17" name="Shape"/>
          <p:cNvSpPr/>
          <p:nvPr/>
        </p:nvSpPr>
        <p:spPr>
          <a:xfrm>
            <a:off x="566928" y="3360000"/>
            <a:ext cx="11057839" cy="610000"/>
          </a:xfrm>
          <a:prstGeom prst="roundRect">
            <a:avLst>
              <a:gd name="adj" fmla="val 2933"/>
            </a:avLst>
          </a:prstGeom>
          <a:solidFill>
            <a:srgbClr val="FFFFFF"/>
          </a:solidFill>
          <a:ln w="12700">
            <a:solidFill>
              <a:srgbClr val="FFFFFF"/>
            </a:solidFill>
            <a:prstDash val="solid"/>
          </a:ln>
        </p:spPr>
      </p:sp>
      <p:sp>
        <p:nvSpPr>
          <p:cNvPr id="18" name="Shape"/>
          <p:cNvSpPr/>
          <p:nvPr/>
        </p:nvSpPr>
        <p:spPr>
          <a:xfrm>
            <a:off x="786384" y="3460000"/>
            <a:ext cx="411480" cy="411480"/>
          </a:xfrm>
          <a:prstGeom prst="ellipse">
            <a:avLst/>
          </a:prstGeom>
          <a:solidFill>
            <a:srgbClr val="2E7D7D"/>
          </a:solidFill>
          <a:ln w="12700">
            <a:solidFill>
              <a:srgbClr val="2E7D7D"/>
            </a:solidFill>
            <a:prstDash val="solid"/>
          </a:ln>
        </p:spPr>
      </p:sp>
      <p:sp>
        <p:nvSpPr>
          <p:cNvPr id="19" name="Text"/>
          <p:cNvSpPr txBox="1"/>
          <p:nvPr/>
        </p:nvSpPr>
        <p:spPr>
          <a:xfrm>
            <a:off x="786384" y="34600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p:cNvSpPr txBox="1"/>
          <p:nvPr/>
        </p:nvSpPr>
        <p:spPr>
          <a:xfrm>
            <a:off x="1416928" y="3360000"/>
            <a:ext cx="8407839" cy="610000"/>
          </a:xfrm>
          <a:prstGeom prst="rect">
            <a:avLst/>
          </a:prstGeom>
          <a:noFill/>
          <a:ln/>
        </p:spPr>
        <p:txBody>
          <a:bodyPr wrap="square" lIns="0" tIns="0" rIns="0" bIns="0" rtlCol="0" anchor="ctr"/>
          <a:lstStyle/>
          <a:p>
            <a:pPr indent="0" marL="0">
              <a:lnSpc>
                <a:spcPct val="105000"/>
              </a:lnSpc>
              <a:buNone/>
            </a:pPr>
            <a:r>
              <a:rPr lang="en-US" sz="1250" dirty="0">
                <a:solidFill>
                  <a:srgbClr val="16262E"/>
                </a:solidFill>
                <a:latin typeface="Calibri" pitchFamily="34" charset="0"/>
                <a:ea typeface="Calibri" pitchFamily="34" charset="-122"/>
                <a:cs typeface="Calibri" pitchFamily="34" charset="-120"/>
              </a:rPr>
              <a:t>Intercambien la matriz con su equipo par. Asignen nivel de confianza a sus seis filas leyendo solo cita y fuente, y verifiquen tres de ellas contra el expediente.</a:t>
            </a:r>
            <a:endParaRPr lang="en-US" sz="1250" dirty="0"/>
          </a:p>
        </p:txBody>
      </p:sp>
      <p:sp>
        <p:nvSpPr>
          <p:cNvPr id="21" name="Text"/>
          <p:cNvSpPr txBox="1"/>
          <p:nvPr/>
        </p:nvSpPr>
        <p:spPr>
          <a:xfrm>
            <a:off x="9874767" y="3360000"/>
            <a:ext cx="1550000" cy="610000"/>
          </a:xfrm>
          <a:prstGeom prst="rect">
            <a:avLst/>
          </a:prstGeom>
          <a:noFill/>
          <a:ln/>
        </p:spPr>
        <p:txBody>
          <a:bodyPr wrap="square" lIns="0" tIns="0" rIns="0" bIns="0" rtlCol="0" anchor="ctr"/>
          <a:lstStyle/>
          <a:p>
            <a:pPr algn="r" indent="0" marL="0">
              <a:buNone/>
            </a:pPr>
            <a:r>
              <a:rPr lang="en-US" sz="1100" b="1" dirty="0">
                <a:solidFill>
                  <a:srgbClr val="2E7D7D"/>
                </a:solidFill>
                <a:latin typeface="Arial" pitchFamily="34" charset="0"/>
                <a:ea typeface="Arial" pitchFamily="34" charset="-122"/>
                <a:cs typeface="Arial" pitchFamily="34" charset="-120"/>
              </a:rPr>
              <a:t>11 min · corte 11:28</a:t>
            </a:r>
            <a:endParaRPr lang="en-US" sz="1100" dirty="0"/>
          </a:p>
        </p:txBody>
      </p:sp>
      <p:sp>
        <p:nvSpPr>
          <p:cNvPr id="22" name="Shape"/>
          <p:cNvSpPr/>
          <p:nvPr/>
        </p:nvSpPr>
        <p:spPr>
          <a:xfrm>
            <a:off x="566928" y="4050000"/>
            <a:ext cx="11057839" cy="610000"/>
          </a:xfrm>
          <a:prstGeom prst="roundRect">
            <a:avLst>
              <a:gd name="adj" fmla="val 2933"/>
            </a:avLst>
          </a:prstGeom>
          <a:solidFill>
            <a:srgbClr val="FFFFFF"/>
          </a:solidFill>
          <a:ln w="12700">
            <a:solidFill>
              <a:srgbClr val="FFFFFF"/>
            </a:solidFill>
            <a:prstDash val="solid"/>
          </a:ln>
        </p:spPr>
      </p:sp>
      <p:sp>
        <p:nvSpPr>
          <p:cNvPr id="23" name="Shape"/>
          <p:cNvSpPr/>
          <p:nvPr/>
        </p:nvSpPr>
        <p:spPr>
          <a:xfrm>
            <a:off x="786384" y="4150000"/>
            <a:ext cx="411480" cy="411480"/>
          </a:xfrm>
          <a:prstGeom prst="ellipse">
            <a:avLst/>
          </a:prstGeom>
          <a:solidFill>
            <a:srgbClr val="2E7D7D"/>
          </a:solidFill>
          <a:ln w="12700">
            <a:solidFill>
              <a:srgbClr val="2E7D7D"/>
            </a:solidFill>
            <a:prstDash val="solid"/>
          </a:ln>
        </p:spPr>
      </p:sp>
      <p:sp>
        <p:nvSpPr>
          <p:cNvPr id="24" name="Text"/>
          <p:cNvSpPr txBox="1"/>
          <p:nvPr/>
        </p:nvSpPr>
        <p:spPr>
          <a:xfrm>
            <a:off x="786384" y="41500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p:cNvSpPr txBox="1"/>
          <p:nvPr/>
        </p:nvSpPr>
        <p:spPr>
          <a:xfrm>
            <a:off x="1416928" y="4050000"/>
            <a:ext cx="8407839" cy="610000"/>
          </a:xfrm>
          <a:prstGeom prst="rect">
            <a:avLst/>
          </a:prstGeom>
          <a:noFill/>
          <a:ln/>
        </p:spPr>
        <p:txBody>
          <a:bodyPr wrap="square" lIns="0" tIns="0" rIns="0" bIns="0" rtlCol="0" anchor="ctr"/>
          <a:lstStyle/>
          <a:p>
            <a:pPr indent="0" marL="0">
              <a:lnSpc>
                <a:spcPct val="105000"/>
              </a:lnSpc>
              <a:buNone/>
            </a:pPr>
            <a:r>
              <a:rPr lang="en-US" sz="1250" dirty="0">
                <a:solidFill>
                  <a:srgbClr val="16262E"/>
                </a:solidFill>
                <a:latin typeface="Calibri" pitchFamily="34" charset="0"/>
                <a:ea typeface="Calibri" pitchFamily="34" charset="-122"/>
                <a:cs typeface="Calibri" pitchFamily="34" charset="-120"/>
              </a:rPr>
              <a:t>Saquen los dos números: cuántas de las tres resistieron, y el acuerdo en confianza corregido por azar con la fórmula de la lámina.</a:t>
            </a:r>
            <a:endParaRPr lang="en-US" sz="1250" dirty="0"/>
          </a:p>
        </p:txBody>
      </p:sp>
      <p:sp>
        <p:nvSpPr>
          <p:cNvPr id="26" name="Text"/>
          <p:cNvSpPr txBox="1"/>
          <p:nvPr/>
        </p:nvSpPr>
        <p:spPr>
          <a:xfrm>
            <a:off x="9874767" y="4050000"/>
            <a:ext cx="1550000" cy="610000"/>
          </a:xfrm>
          <a:prstGeom prst="rect">
            <a:avLst/>
          </a:prstGeom>
          <a:noFill/>
          <a:ln/>
        </p:spPr>
        <p:txBody>
          <a:bodyPr wrap="square" lIns="0" tIns="0" rIns="0" bIns="0" rtlCol="0" anchor="ctr"/>
          <a:lstStyle/>
          <a:p>
            <a:pPr algn="r" indent="0" marL="0">
              <a:buNone/>
            </a:pPr>
            <a:r>
              <a:rPr lang="en-US" sz="1100" b="1" dirty="0">
                <a:solidFill>
                  <a:srgbClr val="2E7D7D"/>
                </a:solidFill>
                <a:latin typeface="Arial" pitchFamily="34" charset="0"/>
                <a:ea typeface="Arial" pitchFamily="34" charset="-122"/>
                <a:cs typeface="Arial" pitchFamily="34" charset="-120"/>
              </a:rPr>
              <a:t>5 min · corte 11:33</a:t>
            </a:r>
            <a:endParaRPr lang="en-US" sz="1100" dirty="0"/>
          </a:p>
        </p:txBody>
      </p:sp>
      <p:sp>
        <p:nvSpPr>
          <p:cNvPr id="27" name="Shape"/>
          <p:cNvSpPr/>
          <p:nvPr/>
        </p:nvSpPr>
        <p:spPr>
          <a:xfrm>
            <a:off x="566928" y="4740000"/>
            <a:ext cx="11057839" cy="610000"/>
          </a:xfrm>
          <a:prstGeom prst="roundRect">
            <a:avLst>
              <a:gd name="adj" fmla="val 2933"/>
            </a:avLst>
          </a:prstGeom>
          <a:solidFill>
            <a:srgbClr val="FFFFFF"/>
          </a:solidFill>
          <a:ln w="12700">
            <a:solidFill>
              <a:srgbClr val="FFFFFF"/>
            </a:solidFill>
            <a:prstDash val="solid"/>
          </a:ln>
        </p:spPr>
      </p:sp>
      <p:sp>
        <p:nvSpPr>
          <p:cNvPr id="28" name="Shape"/>
          <p:cNvSpPr/>
          <p:nvPr/>
        </p:nvSpPr>
        <p:spPr>
          <a:xfrm>
            <a:off x="786384" y="4840000"/>
            <a:ext cx="411480" cy="411480"/>
          </a:xfrm>
          <a:prstGeom prst="ellipse">
            <a:avLst/>
          </a:prstGeom>
          <a:solidFill>
            <a:srgbClr val="2E7D7D"/>
          </a:solidFill>
          <a:ln w="12700">
            <a:solidFill>
              <a:srgbClr val="2E7D7D"/>
            </a:solidFill>
            <a:prstDash val="solid"/>
          </a:ln>
        </p:spPr>
      </p:sp>
      <p:sp>
        <p:nvSpPr>
          <p:cNvPr id="29" name="Text"/>
          <p:cNvSpPr txBox="1"/>
          <p:nvPr/>
        </p:nvSpPr>
        <p:spPr>
          <a:xfrm>
            <a:off x="786384" y="48400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p:cNvSpPr txBox="1"/>
          <p:nvPr/>
        </p:nvSpPr>
        <p:spPr>
          <a:xfrm>
            <a:off x="1416928" y="4740000"/>
            <a:ext cx="8407839" cy="610000"/>
          </a:xfrm>
          <a:prstGeom prst="rect">
            <a:avLst/>
          </a:prstGeom>
          <a:noFill/>
          <a:ln/>
        </p:spPr>
        <p:txBody>
          <a:bodyPr wrap="square" lIns="0" tIns="0" rIns="0" bIns="0" rtlCol="0" anchor="ctr"/>
          <a:lstStyle/>
          <a:p>
            <a:pPr indent="0" marL="0">
              <a:lnSpc>
                <a:spcPct val="105000"/>
              </a:lnSpc>
              <a:buNone/>
            </a:pPr>
            <a:r>
              <a:rPr lang="en-US" sz="1250" dirty="0">
                <a:solidFill>
                  <a:srgbClr val="16262E"/>
                </a:solidFill>
                <a:latin typeface="Calibri" pitchFamily="34" charset="0"/>
                <a:ea typeface="Calibri" pitchFamily="34" charset="-122"/>
                <a:cs typeface="Calibri" pitchFamily="34" charset="-120"/>
              </a:rPr>
              <a:t>Elijan la afirmación que más trabajo les costó trazar. Esa es la que se comenta en el cierre.</a:t>
            </a:r>
            <a:endParaRPr lang="en-US" sz="1250" dirty="0"/>
          </a:p>
        </p:txBody>
      </p:sp>
      <p:sp>
        <p:nvSpPr>
          <p:cNvPr id="31" name="Text"/>
          <p:cNvSpPr txBox="1"/>
          <p:nvPr/>
        </p:nvSpPr>
        <p:spPr>
          <a:xfrm>
            <a:off x="9874767" y="4740000"/>
            <a:ext cx="1550000" cy="610000"/>
          </a:xfrm>
          <a:prstGeom prst="rect">
            <a:avLst/>
          </a:prstGeom>
          <a:noFill/>
          <a:ln/>
        </p:spPr>
        <p:txBody>
          <a:bodyPr wrap="square" lIns="0" tIns="0" rIns="0" bIns="0" rtlCol="0" anchor="ctr"/>
          <a:lstStyle/>
          <a:p>
            <a:pPr algn="r" indent="0" marL="0">
              <a:buNone/>
            </a:pPr>
            <a:r>
              <a:rPr lang="en-US" sz="1100" b="1" dirty="0">
                <a:solidFill>
                  <a:srgbClr val="2E7D7D"/>
                </a:solidFill>
                <a:latin typeface="Arial" pitchFamily="34" charset="0"/>
                <a:ea typeface="Arial" pitchFamily="34" charset="-122"/>
                <a:cs typeface="Arial" pitchFamily="34" charset="-120"/>
              </a:rPr>
              <a:t>2 min · corte 11:35</a:t>
            </a:r>
            <a:endParaRPr lang="en-US" sz="1100" dirty="0"/>
          </a:p>
        </p:txBody>
      </p:sp>
      <p:sp>
        <p:nvSpPr>
          <p:cNvPr id="32" name="Shape"/>
          <p:cNvSpPr/>
          <p:nvPr/>
        </p:nvSpPr>
        <p:spPr>
          <a:xfrm>
            <a:off x="566928" y="5490000"/>
            <a:ext cx="11057839" cy="620000"/>
          </a:xfrm>
          <a:prstGeom prst="roundRect">
            <a:avLst>
              <a:gd name="adj" fmla="val 2933"/>
            </a:avLst>
          </a:prstGeom>
          <a:solidFill>
            <a:srgbClr val="16262E"/>
          </a:solidFill>
          <a:ln w="12700">
            <a:solidFill>
              <a:srgbClr val="16262E"/>
            </a:solidFill>
            <a:prstDash val="solid"/>
          </a:ln>
        </p:spPr>
      </p:sp>
      <p:sp>
        <p:nvSpPr>
          <p:cNvPr id="33" name="Text"/>
          <p:cNvSpPr txBox="1"/>
          <p:nvPr/>
        </p:nvSpPr>
        <p:spPr>
          <a:xfrm>
            <a:off x="804672" y="5490000"/>
            <a:ext cx="10582351" cy="620000"/>
          </a:xfrm>
          <a:prstGeom prst="rect">
            <a:avLst/>
          </a:prstGeom>
          <a:noFill/>
          <a:ln/>
        </p:spPr>
        <p:txBody>
          <a:bodyPr wrap="square" lIns="0" tIns="0" rIns="0" bIns="0" rtlCol="0" anchor="ctr"/>
          <a:lstStyle/>
          <a:p>
            <a:pPr indent="0" marL="0">
              <a:lnSpc>
                <a:spcPct val="106000"/>
              </a:lnSpc>
              <a:buNone/>
            </a:pPr>
            <a:r>
              <a:rPr lang="en-US" sz="1200" dirty="0">
                <a:solidFill>
                  <a:srgbClr val="FFFFFF"/>
                </a:solidFill>
                <a:latin typeface="Calibri" pitchFamily="34" charset="0"/>
                <a:ea typeface="Calibri" pitchFamily="34" charset="-122"/>
                <a:cs typeface="Calibri" pitchFamily="34" charset="-120"/>
              </a:rPr>
              <a:t>LA REGLA DURA: ninguna frase de la síntesis puede afirmar algo que no esté en la matriz. Si le parece evidente y no la puede trazar, no entra, o entra como hipótesis con confianza baja. Archivos: Expedientes_LAB2.docx y Plantillas_tabulares_curso_IA.xlsx, hoja Matriz de evidencia.</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Medicion cruzada">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Quién revisa a quién, y el paso 4 resuelto</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Los pares están armados para que los hallazgos se iluminen entre sí. Cada equipo verifica el trabajo del otro, y los dos salen con dos números en lugar de una impresión.</a:t>
            </a:r>
            <a:endParaRPr lang="en-US" sz="1500" dirty="0"/>
          </a:p>
        </p:txBody>
      </p:sp>
      <p:sp>
        <p:nvSpPr>
          <p:cNvPr id="4" name="Shape"/>
          <p:cNvSpPr/>
          <p:nvPr/>
        </p:nvSpPr>
        <p:spPr>
          <a:xfrm>
            <a:off x="566928" y="1800000"/>
            <a:ext cx="2300000" cy="420000"/>
          </a:xfrm>
          <a:prstGeom prst="rect">
            <a:avLst/>
          </a:prstGeom>
          <a:solidFill>
            <a:srgbClr val="16262E"/>
          </a:solidFill>
          <a:ln w="9525">
            <a:solidFill>
              <a:srgbClr val="FFFFFF"/>
            </a:solidFill>
            <a:prstDash val="solid"/>
          </a:ln>
        </p:spPr>
      </p:sp>
      <p:sp>
        <p:nvSpPr>
          <p:cNvPr id="5" name="Text"/>
          <p:cNvSpPr txBox="1"/>
          <p:nvPr/>
        </p:nvSpPr>
        <p:spPr>
          <a:xfrm>
            <a:off x="686928" y="1800000"/>
            <a:ext cx="20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Par de equipos</a:t>
            </a:r>
            <a:endParaRPr lang="en-US" sz="1200" dirty="0"/>
          </a:p>
        </p:txBody>
      </p:sp>
      <p:sp>
        <p:nvSpPr>
          <p:cNvPr id="6" name="Shape"/>
          <p:cNvSpPr/>
          <p:nvPr/>
        </p:nvSpPr>
        <p:spPr>
          <a:xfrm>
            <a:off x="2866928" y="1800000"/>
            <a:ext cx="2600000" cy="420000"/>
          </a:xfrm>
          <a:prstGeom prst="rect">
            <a:avLst/>
          </a:prstGeom>
          <a:solidFill>
            <a:srgbClr val="16262E"/>
          </a:solidFill>
          <a:ln w="9525">
            <a:solidFill>
              <a:srgbClr val="FFFFFF"/>
            </a:solidFill>
            <a:prstDash val="solid"/>
          </a:ln>
        </p:spPr>
      </p:sp>
      <p:sp>
        <p:nvSpPr>
          <p:cNvPr id="7" name="Text"/>
          <p:cNvSpPr txBox="1"/>
          <p:nvPr/>
        </p:nvSpPr>
        <p:spPr>
          <a:xfrm>
            <a:off x="2986928" y="1800000"/>
            <a:ext cx="23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Entidades</a:t>
            </a:r>
            <a:endParaRPr lang="en-US" sz="1200" dirty="0"/>
          </a:p>
        </p:txBody>
      </p:sp>
      <p:sp>
        <p:nvSpPr>
          <p:cNvPr id="8" name="Shape"/>
          <p:cNvSpPr/>
          <p:nvPr/>
        </p:nvSpPr>
        <p:spPr>
          <a:xfrm>
            <a:off x="5466928" y="1800000"/>
            <a:ext cx="6157839" cy="420000"/>
          </a:xfrm>
          <a:prstGeom prst="rect">
            <a:avLst/>
          </a:prstGeom>
          <a:solidFill>
            <a:srgbClr val="16262E"/>
          </a:solidFill>
          <a:ln w="9525">
            <a:solidFill>
              <a:srgbClr val="FFFFFF"/>
            </a:solidFill>
            <a:prstDash val="solid"/>
          </a:ln>
        </p:spPr>
      </p:sp>
      <p:sp>
        <p:nvSpPr>
          <p:cNvPr id="9" name="Text"/>
          <p:cNvSpPr txBox="1"/>
          <p:nvPr/>
        </p:nvSpPr>
        <p:spPr>
          <a:xfrm>
            <a:off x="5586928" y="1800000"/>
            <a:ext cx="5917839"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Por qué este par</a:t>
            </a:r>
            <a:endParaRPr lang="en-US" sz="1200" dirty="0"/>
          </a:p>
        </p:txBody>
      </p:sp>
      <p:sp>
        <p:nvSpPr>
          <p:cNvPr id="10" name="Shape"/>
          <p:cNvSpPr/>
          <p:nvPr/>
        </p:nvSpPr>
        <p:spPr>
          <a:xfrm>
            <a:off x="566928" y="2220000"/>
            <a:ext cx="2300000" cy="700000"/>
          </a:xfrm>
          <a:prstGeom prst="rect">
            <a:avLst/>
          </a:prstGeom>
          <a:solidFill>
            <a:srgbClr val="D7E7E7"/>
          </a:solidFill>
          <a:ln w="9525">
            <a:solidFill>
              <a:srgbClr val="D9E0E3"/>
            </a:solidFill>
            <a:prstDash val="solid"/>
          </a:ln>
        </p:spPr>
      </p:sp>
      <p:sp>
        <p:nvSpPr>
          <p:cNvPr id="11" name="Text"/>
          <p:cNvSpPr txBox="1"/>
          <p:nvPr/>
        </p:nvSpPr>
        <p:spPr>
          <a:xfrm>
            <a:off x="686928" y="2220000"/>
            <a:ext cx="2060000" cy="70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Equipos 1 y 6</a:t>
            </a:r>
            <a:endParaRPr lang="en-US" sz="1250" dirty="0"/>
          </a:p>
        </p:txBody>
      </p:sp>
      <p:sp>
        <p:nvSpPr>
          <p:cNvPr id="12" name="Shape"/>
          <p:cNvSpPr/>
          <p:nvPr/>
        </p:nvSpPr>
        <p:spPr>
          <a:xfrm>
            <a:off x="2866928" y="2220000"/>
            <a:ext cx="2600000" cy="700000"/>
          </a:xfrm>
          <a:prstGeom prst="rect">
            <a:avLst/>
          </a:prstGeom>
          <a:solidFill>
            <a:srgbClr val="F2F5F6"/>
          </a:solidFill>
          <a:ln w="9525">
            <a:solidFill>
              <a:srgbClr val="D9E0E3"/>
            </a:solidFill>
            <a:prstDash val="solid"/>
          </a:ln>
        </p:spPr>
      </p:sp>
      <p:sp>
        <p:nvSpPr>
          <p:cNvPr id="13" name="Text"/>
          <p:cNvSpPr txBox="1"/>
          <p:nvPr/>
        </p:nvSpPr>
        <p:spPr>
          <a:xfrm>
            <a:off x="2986928" y="2220000"/>
            <a:ext cx="2360000" cy="7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Entidad A y Entidad F</a:t>
            </a:r>
            <a:endParaRPr lang="en-US" sz="1250" dirty="0"/>
          </a:p>
        </p:txBody>
      </p:sp>
      <p:sp>
        <p:nvSpPr>
          <p:cNvPr id="14" name="Shape"/>
          <p:cNvSpPr/>
          <p:nvPr/>
        </p:nvSpPr>
        <p:spPr>
          <a:xfrm>
            <a:off x="5466928" y="2220000"/>
            <a:ext cx="6157839" cy="700000"/>
          </a:xfrm>
          <a:prstGeom prst="rect">
            <a:avLst/>
          </a:prstGeom>
          <a:solidFill>
            <a:srgbClr val="F2F5F6"/>
          </a:solidFill>
          <a:ln w="9525">
            <a:solidFill>
              <a:srgbClr val="D9E0E3"/>
            </a:solidFill>
            <a:prstDash val="solid"/>
          </a:ln>
        </p:spPr>
      </p:sp>
      <p:sp>
        <p:nvSpPr>
          <p:cNvPr id="15" name="Text"/>
          <p:cNvSpPr txBox="1"/>
          <p:nvPr/>
        </p:nvSpPr>
        <p:spPr>
          <a:xfrm>
            <a:off x="5586928" y="2220000"/>
            <a:ext cx="5917839" cy="7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Los dos son casos de personal que no se puede certificar, por razones muy distintas.</a:t>
            </a:r>
            <a:endParaRPr lang="en-US" sz="1250" dirty="0"/>
          </a:p>
        </p:txBody>
      </p:sp>
      <p:sp>
        <p:nvSpPr>
          <p:cNvPr id="16" name="Shape"/>
          <p:cNvSpPr/>
          <p:nvPr/>
        </p:nvSpPr>
        <p:spPr>
          <a:xfrm>
            <a:off x="566928" y="2920000"/>
            <a:ext cx="2300000" cy="700000"/>
          </a:xfrm>
          <a:prstGeom prst="rect">
            <a:avLst/>
          </a:prstGeom>
          <a:solidFill>
            <a:srgbClr val="D7E7E7"/>
          </a:solidFill>
          <a:ln w="9525">
            <a:solidFill>
              <a:srgbClr val="D9E0E3"/>
            </a:solidFill>
            <a:prstDash val="solid"/>
          </a:ln>
        </p:spPr>
      </p:sp>
      <p:sp>
        <p:nvSpPr>
          <p:cNvPr id="17" name="Text"/>
          <p:cNvSpPr txBox="1"/>
          <p:nvPr/>
        </p:nvSpPr>
        <p:spPr>
          <a:xfrm>
            <a:off x="686928" y="2920000"/>
            <a:ext cx="2060000" cy="70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Equipos 2 y 5</a:t>
            </a:r>
            <a:endParaRPr lang="en-US" sz="1250" dirty="0"/>
          </a:p>
        </p:txBody>
      </p:sp>
      <p:sp>
        <p:nvSpPr>
          <p:cNvPr id="18" name="Shape"/>
          <p:cNvSpPr/>
          <p:nvPr/>
        </p:nvSpPr>
        <p:spPr>
          <a:xfrm>
            <a:off x="2866928" y="2920000"/>
            <a:ext cx="2600000" cy="700000"/>
          </a:xfrm>
          <a:prstGeom prst="rect">
            <a:avLst/>
          </a:prstGeom>
          <a:solidFill>
            <a:srgbClr val="FFFFFF"/>
          </a:solidFill>
          <a:ln w="9525">
            <a:solidFill>
              <a:srgbClr val="D9E0E3"/>
            </a:solidFill>
            <a:prstDash val="solid"/>
          </a:ln>
        </p:spPr>
      </p:sp>
      <p:sp>
        <p:nvSpPr>
          <p:cNvPr id="19" name="Text"/>
          <p:cNvSpPr txBox="1"/>
          <p:nvPr/>
        </p:nvSpPr>
        <p:spPr>
          <a:xfrm>
            <a:off x="2986928" y="2920000"/>
            <a:ext cx="2360000" cy="7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Entidad B y Entidad E</a:t>
            </a:r>
            <a:endParaRPr lang="en-US" sz="1250" dirty="0"/>
          </a:p>
        </p:txBody>
      </p:sp>
      <p:sp>
        <p:nvSpPr>
          <p:cNvPr id="20" name="Shape"/>
          <p:cNvSpPr/>
          <p:nvPr/>
        </p:nvSpPr>
        <p:spPr>
          <a:xfrm>
            <a:off x="5466928" y="2920000"/>
            <a:ext cx="6157839" cy="700000"/>
          </a:xfrm>
          <a:prstGeom prst="rect">
            <a:avLst/>
          </a:prstGeom>
          <a:solidFill>
            <a:srgbClr val="FFFFFF"/>
          </a:solidFill>
          <a:ln w="9525">
            <a:solidFill>
              <a:srgbClr val="D9E0E3"/>
            </a:solidFill>
            <a:prstDash val="solid"/>
          </a:ln>
        </p:spPr>
      </p:sp>
      <p:sp>
        <p:nvSpPr>
          <p:cNvPr id="21" name="Text"/>
          <p:cNvSpPr txBox="1"/>
          <p:nvPr/>
        </p:nvSpPr>
        <p:spPr>
          <a:xfrm>
            <a:off x="5586928" y="2920000"/>
            <a:ext cx="5917839" cy="7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Los dos tratan del control documental, uno por defecto y el otro por exceso.</a:t>
            </a:r>
            <a:endParaRPr lang="en-US" sz="1250" dirty="0"/>
          </a:p>
        </p:txBody>
      </p:sp>
      <p:sp>
        <p:nvSpPr>
          <p:cNvPr id="22" name="Shape"/>
          <p:cNvSpPr/>
          <p:nvPr/>
        </p:nvSpPr>
        <p:spPr>
          <a:xfrm>
            <a:off x="566928" y="3620000"/>
            <a:ext cx="2300000" cy="700000"/>
          </a:xfrm>
          <a:prstGeom prst="rect">
            <a:avLst/>
          </a:prstGeom>
          <a:solidFill>
            <a:srgbClr val="D7E7E7"/>
          </a:solidFill>
          <a:ln w="9525">
            <a:solidFill>
              <a:srgbClr val="D9E0E3"/>
            </a:solidFill>
            <a:prstDash val="solid"/>
          </a:ln>
        </p:spPr>
      </p:sp>
      <p:sp>
        <p:nvSpPr>
          <p:cNvPr id="23" name="Text"/>
          <p:cNvSpPr txBox="1"/>
          <p:nvPr/>
        </p:nvSpPr>
        <p:spPr>
          <a:xfrm>
            <a:off x="686928" y="3620000"/>
            <a:ext cx="2060000" cy="70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Equipos 3 y 4</a:t>
            </a:r>
            <a:endParaRPr lang="en-US" sz="1250" dirty="0"/>
          </a:p>
        </p:txBody>
      </p:sp>
      <p:sp>
        <p:nvSpPr>
          <p:cNvPr id="24" name="Shape"/>
          <p:cNvSpPr/>
          <p:nvPr/>
        </p:nvSpPr>
        <p:spPr>
          <a:xfrm>
            <a:off x="2866928" y="3620000"/>
            <a:ext cx="2600000" cy="700000"/>
          </a:xfrm>
          <a:prstGeom prst="rect">
            <a:avLst/>
          </a:prstGeom>
          <a:solidFill>
            <a:srgbClr val="F2F5F6"/>
          </a:solidFill>
          <a:ln w="9525">
            <a:solidFill>
              <a:srgbClr val="D9E0E3"/>
            </a:solidFill>
            <a:prstDash val="solid"/>
          </a:ln>
        </p:spPr>
      </p:sp>
      <p:sp>
        <p:nvSpPr>
          <p:cNvPr id="25" name="Text"/>
          <p:cNvSpPr txBox="1"/>
          <p:nvPr/>
        </p:nvSpPr>
        <p:spPr>
          <a:xfrm>
            <a:off x="2986928" y="3620000"/>
            <a:ext cx="2360000" cy="7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Entidad C y Entidad D</a:t>
            </a:r>
            <a:endParaRPr lang="en-US" sz="1250" dirty="0"/>
          </a:p>
        </p:txBody>
      </p:sp>
      <p:sp>
        <p:nvSpPr>
          <p:cNvPr id="26" name="Shape"/>
          <p:cNvSpPr/>
          <p:nvPr/>
        </p:nvSpPr>
        <p:spPr>
          <a:xfrm>
            <a:off x="5466928" y="3620000"/>
            <a:ext cx="6157839" cy="700000"/>
          </a:xfrm>
          <a:prstGeom prst="rect">
            <a:avLst/>
          </a:prstGeom>
          <a:solidFill>
            <a:srgbClr val="F2F5F6"/>
          </a:solidFill>
          <a:ln w="9525">
            <a:solidFill>
              <a:srgbClr val="D9E0E3"/>
            </a:solidFill>
            <a:prstDash val="solid"/>
          </a:ln>
        </p:spPr>
      </p:sp>
      <p:sp>
        <p:nvSpPr>
          <p:cNvPr id="27" name="Text"/>
          <p:cNvSpPr txBox="1"/>
          <p:nvPr/>
        </p:nvSpPr>
        <p:spPr>
          <a:xfrm>
            <a:off x="5586928" y="3620000"/>
            <a:ext cx="5917839" cy="7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Los dos son fallas de infraestructura de pago con consecuencias muy distintas.</a:t>
            </a:r>
            <a:endParaRPr lang="en-US" sz="1250" dirty="0"/>
          </a:p>
        </p:txBody>
      </p:sp>
      <p:sp>
        <p:nvSpPr>
          <p:cNvPr id="28" name="Shape"/>
          <p:cNvSpPr/>
          <p:nvPr/>
        </p:nvSpPr>
        <p:spPr>
          <a:xfrm>
            <a:off x="566928" y="4400000"/>
            <a:ext cx="5378919" cy="1060000"/>
          </a:xfrm>
          <a:prstGeom prst="roundRect">
            <a:avLst>
              <a:gd name="adj" fmla="val 2933"/>
            </a:avLst>
          </a:prstGeom>
          <a:solidFill>
            <a:srgbClr val="F7E4D8"/>
          </a:solidFill>
          <a:ln w="12700">
            <a:solidFill>
              <a:srgbClr val="F7E4D8"/>
            </a:solidFill>
            <a:prstDash val="solid"/>
          </a:ln>
        </p:spPr>
      </p:sp>
      <p:sp>
        <p:nvSpPr>
          <p:cNvPr id="29" name="Text"/>
          <p:cNvSpPr txBox="1"/>
          <p:nvPr/>
        </p:nvSpPr>
        <p:spPr>
          <a:xfrm>
            <a:off x="804672" y="4540000"/>
            <a:ext cx="4903431" cy="300000"/>
          </a:xfrm>
          <a:prstGeom prst="rect">
            <a:avLst/>
          </a:prstGeom>
          <a:noFill/>
          <a:ln/>
        </p:spPr>
        <p:txBody>
          <a:bodyPr wrap="square" lIns="0" tIns="0" rIns="0" bIns="0" rtlCol="0" anchor="t"/>
          <a:lstStyle/>
          <a:p>
            <a:pPr indent="0" marL="0">
              <a:buNone/>
            </a:pPr>
            <a:r>
              <a:rPr lang="en-US" sz="1450" b="1" dirty="0">
                <a:solidFill>
                  <a:srgbClr val="16262E"/>
                </a:solidFill>
                <a:latin typeface="Arial" pitchFamily="34" charset="0"/>
                <a:ea typeface="Arial" pitchFamily="34" charset="-122"/>
                <a:cs typeface="Arial" pitchFamily="34" charset="-120"/>
              </a:rPr>
              <a:t>Cuántas resistieron</a:t>
            </a:r>
            <a:endParaRPr lang="en-US" sz="1450" dirty="0"/>
          </a:p>
        </p:txBody>
      </p:sp>
      <p:sp>
        <p:nvSpPr>
          <p:cNvPr id="30" name="Text"/>
          <p:cNvSpPr txBox="1"/>
          <p:nvPr/>
        </p:nvSpPr>
        <p:spPr>
          <a:xfrm>
            <a:off x="804672" y="4850000"/>
            <a:ext cx="4903431" cy="300000"/>
          </a:xfrm>
          <a:prstGeom prst="rect">
            <a:avLst/>
          </a:prstGeom>
          <a:noFill/>
          <a:ln/>
        </p:spPr>
        <p:txBody>
          <a:bodyPr wrap="square" lIns="0" tIns="0" rIns="0" bIns="0" rtlCol="0" anchor="t"/>
          <a:lstStyle/>
          <a:p>
            <a:pPr indent="0" marL="0">
              <a:buNone/>
            </a:pPr>
            <a:r>
              <a:rPr lang="en-US" sz="1400" b="1" dirty="0">
                <a:solidFill>
                  <a:srgbClr val="C85A28"/>
                </a:solidFill>
                <a:latin typeface="Arial" pitchFamily="34" charset="0"/>
                <a:ea typeface="Arial" pitchFamily="34" charset="-122"/>
                <a:cs typeface="Arial" pitchFamily="34" charset="-120"/>
              </a:rPr>
              <a:t>3 de 3, 2 de 3, 1 de 3 o 0 de 3</a:t>
            </a:r>
            <a:endParaRPr lang="en-US" sz="1400" dirty="0"/>
          </a:p>
        </p:txBody>
      </p:sp>
      <p:sp>
        <p:nvSpPr>
          <p:cNvPr id="31" name="Text"/>
          <p:cNvSpPr txBox="1"/>
          <p:nvPr/>
        </p:nvSpPr>
        <p:spPr>
          <a:xfrm>
            <a:off x="804672" y="5150000"/>
            <a:ext cx="4903431" cy="260000"/>
          </a:xfrm>
          <a:prstGeom prst="rect">
            <a:avLst/>
          </a:prstGeom>
          <a:noFill/>
          <a:ln/>
        </p:spPr>
        <p:txBody>
          <a:bodyPr wrap="square" lIns="0" tIns="0" rIns="0" bIns="0" rtlCol="0" anchor="t"/>
          <a:lstStyle/>
          <a:p>
            <a:pPr indent="0" marL="0">
              <a:buNone/>
            </a:pPr>
            <a:r>
              <a:rPr lang="en-US" sz="1100" dirty="0">
                <a:solidFill>
                  <a:srgbClr val="5A6B73"/>
                </a:solidFill>
                <a:latin typeface="Calibri" pitchFamily="34" charset="0"/>
                <a:ea typeface="Calibri" pitchFamily="34" charset="-122"/>
                <a:cs typeface="Calibri" pitchFamily="34" charset="-120"/>
              </a:rPr>
              <a:t>En fracción y sin convertir a porcentaje: son tres observaciones, no una tasa.</a:t>
            </a:r>
            <a:endParaRPr lang="en-US" sz="1100" dirty="0"/>
          </a:p>
        </p:txBody>
      </p:sp>
      <p:sp>
        <p:nvSpPr>
          <p:cNvPr id="32" name="Shape"/>
          <p:cNvSpPr/>
          <p:nvPr/>
        </p:nvSpPr>
        <p:spPr>
          <a:xfrm>
            <a:off x="6245847" y="4400000"/>
            <a:ext cx="5378919" cy="1060000"/>
          </a:xfrm>
          <a:prstGeom prst="roundRect">
            <a:avLst>
              <a:gd name="adj" fmla="val 2933"/>
            </a:avLst>
          </a:prstGeom>
          <a:solidFill>
            <a:srgbClr val="F7E4D8"/>
          </a:solidFill>
          <a:ln w="12700">
            <a:solidFill>
              <a:srgbClr val="F7E4D8"/>
            </a:solidFill>
            <a:prstDash val="solid"/>
          </a:ln>
        </p:spPr>
      </p:sp>
      <p:sp>
        <p:nvSpPr>
          <p:cNvPr id="33" name="Text"/>
          <p:cNvSpPr txBox="1"/>
          <p:nvPr/>
        </p:nvSpPr>
        <p:spPr>
          <a:xfrm>
            <a:off x="6483591" y="4540000"/>
            <a:ext cx="4903431" cy="300000"/>
          </a:xfrm>
          <a:prstGeom prst="rect">
            <a:avLst/>
          </a:prstGeom>
          <a:noFill/>
          <a:ln/>
        </p:spPr>
        <p:txBody>
          <a:bodyPr wrap="square" lIns="0" tIns="0" rIns="0" bIns="0" rtlCol="0" anchor="t"/>
          <a:lstStyle/>
          <a:p>
            <a:pPr indent="0" marL="0">
              <a:buNone/>
            </a:pPr>
            <a:r>
              <a:rPr lang="en-US" sz="1450" b="1" dirty="0">
                <a:solidFill>
                  <a:srgbClr val="16262E"/>
                </a:solidFill>
                <a:latin typeface="Arial" pitchFamily="34" charset="0"/>
                <a:ea typeface="Arial" pitchFamily="34" charset="-122"/>
                <a:cs typeface="Arial" pitchFamily="34" charset="-120"/>
              </a:rPr>
              <a:t>Ejemplo del acuerdo</a:t>
            </a:r>
            <a:endParaRPr lang="en-US" sz="1450" dirty="0"/>
          </a:p>
        </p:txBody>
      </p:sp>
      <p:sp>
        <p:nvSpPr>
          <p:cNvPr id="34" name="Text"/>
          <p:cNvSpPr txBox="1"/>
          <p:nvPr/>
        </p:nvSpPr>
        <p:spPr>
          <a:xfrm>
            <a:off x="6483591" y="4850000"/>
            <a:ext cx="4903431" cy="300000"/>
          </a:xfrm>
          <a:prstGeom prst="rect">
            <a:avLst/>
          </a:prstGeom>
          <a:noFill/>
          <a:ln/>
        </p:spPr>
        <p:txBody>
          <a:bodyPr wrap="square" lIns="0" tIns="0" rIns="0" bIns="0" rtlCol="0" anchor="t"/>
          <a:lstStyle/>
          <a:p>
            <a:pPr indent="0" marL="0">
              <a:buNone/>
            </a:pPr>
            <a:r>
              <a:rPr lang="en-US" sz="1400" b="1" dirty="0">
                <a:solidFill>
                  <a:srgbClr val="C85A28"/>
                </a:solidFill>
                <a:latin typeface="Arial" pitchFamily="34" charset="0"/>
                <a:ea typeface="Arial" pitchFamily="34" charset="-122"/>
                <a:cs typeface="Arial" pitchFamily="34" charset="-120"/>
              </a:rPr>
              <a:t>a = 4, S = 14 → κ = 10/22 = 0.45</a:t>
            </a:r>
            <a:endParaRPr lang="en-US" sz="1400" dirty="0"/>
          </a:p>
        </p:txBody>
      </p:sp>
      <p:sp>
        <p:nvSpPr>
          <p:cNvPr id="35" name="Text"/>
          <p:cNvSpPr txBox="1"/>
          <p:nvPr/>
        </p:nvSpPr>
        <p:spPr>
          <a:xfrm>
            <a:off x="6483591" y="5150000"/>
            <a:ext cx="4903431" cy="260000"/>
          </a:xfrm>
          <a:prstGeom prst="rect">
            <a:avLst/>
          </a:prstGeom>
          <a:noFill/>
          <a:ln/>
        </p:spPr>
        <p:txBody>
          <a:bodyPr wrap="square" lIns="0" tIns="0" rIns="0" bIns="0" rtlCol="0" anchor="t"/>
          <a:lstStyle/>
          <a:p>
            <a:pPr indent="0" marL="0">
              <a:buNone/>
            </a:pPr>
            <a:r>
              <a:rPr lang="en-US" sz="1100" dirty="0">
                <a:solidFill>
                  <a:srgbClr val="5A6B73"/>
                </a:solidFill>
                <a:latin typeface="Calibri" pitchFamily="34" charset="0"/>
                <a:ea typeface="Calibri" pitchFamily="34" charset="-122"/>
                <a:cs typeface="Calibri" pitchFamily="34" charset="-120"/>
              </a:rPr>
              <a:t>Coincidieron en 4 de 6, o sea 67%. Corregido por azar, 0.45: parte de ese 67% era gratis.</a:t>
            </a:r>
            <a:endParaRPr lang="en-US" sz="1100" dirty="0"/>
          </a:p>
        </p:txBody>
      </p:sp>
      <p:sp>
        <p:nvSpPr>
          <p:cNvPr id="36" name="Shape"/>
          <p:cNvSpPr/>
          <p:nvPr/>
        </p:nvSpPr>
        <p:spPr>
          <a:xfrm>
            <a:off x="566928" y="5600000"/>
            <a:ext cx="11057839" cy="620000"/>
          </a:xfrm>
          <a:prstGeom prst="roundRect">
            <a:avLst>
              <a:gd name="adj" fmla="val 8235"/>
            </a:avLst>
          </a:prstGeom>
          <a:solidFill>
            <a:srgbClr val="F7E4D8"/>
          </a:solidFill>
          <a:ln w="12700">
            <a:solidFill>
              <a:srgbClr val="F7E4D8"/>
            </a:solidFill>
            <a:prstDash val="solid"/>
          </a:ln>
        </p:spPr>
      </p:sp>
      <p:sp>
        <p:nvSpPr>
          <p:cNvPr id="37" name="Text"/>
          <p:cNvSpPr txBox="1"/>
          <p:nvPr/>
        </p:nvSpPr>
        <p:spPr>
          <a:xfrm>
            <a:off x="804672" y="5600000"/>
            <a:ext cx="10582351" cy="62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Si los dos equipos ponen el mismo nivel en las seis filas, la fórmula da cero entre cero: no es acuerdo perfecto, es que no hubo ninguna decisión que medir. Escríbanlo así, kappa no definida. Y declaren el alcance: seis filas y tres verificaciones ilustran la mecánica, no estiman la calidad de su matriz.</a:t>
            </a:r>
            <a:endParaRPr lang="en-US" sz="1300" dirty="0"/>
          </a:p>
        </p:txBody>
      </p:sp>
      <p:sp>
        <p:nvSpPr>
          <p:cNvPr id="38" name="Text"/>
          <p:cNvSpPr txBox="1"/>
          <p:nvPr/>
        </p:nvSpPr>
        <p:spPr>
          <a:xfrm>
            <a:off x="566928" y="630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El alcance declarado vale en la rúbrica. Zec y otros (2017) reportan una kappa de 0.042 cuyo intervalo de confianza va de −1 a 1: con pocos casos, el número solo no dice nada.</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Cómo cerramos el bloque completo</a:t>
            </a:r>
            <a:endParaRPr lang="en-US" sz="3200" dirty="0"/>
          </a:p>
        </p:txBody>
      </p:sp>
      <p:sp>
        <p:nvSpPr>
          <p:cNvPr id="3" name="Shape 1"/>
          <p:cNvSpPr/>
          <p:nvPr/>
        </p:nvSpPr>
        <p:spPr>
          <a:xfrm>
            <a:off x="566928" y="1609344"/>
            <a:ext cx="3503066" cy="2989072"/>
          </a:xfrm>
          <a:prstGeom prst="roundRect">
            <a:avLst>
              <a:gd name="adj" fmla="val 2447"/>
            </a:avLst>
          </a:prstGeom>
          <a:solidFill>
            <a:srgbClr val="F2F5F6"/>
          </a:solidFill>
          <a:ln w="12700">
            <a:solidFill>
              <a:srgbClr val="F2F5F6"/>
            </a:solidFill>
            <a:prstDash val="solid"/>
          </a:ln>
        </p:spPr>
      </p:sp>
      <p:sp>
        <p:nvSpPr>
          <p:cNvPr id="4" name="Shape 2"/>
          <p:cNvSpPr/>
          <p:nvPr/>
        </p:nvSpPr>
        <p:spPr>
          <a:xfrm>
            <a:off x="804672" y="1828800"/>
            <a:ext cx="420624" cy="420624"/>
          </a:xfrm>
          <a:prstGeom prst="ellipse">
            <a:avLst/>
          </a:prstGeom>
          <a:solidFill>
            <a:srgbClr val="2E7D7D"/>
          </a:solidFill>
          <a:ln w="12700">
            <a:solidFill>
              <a:srgbClr val="2E7D7D"/>
            </a:solidFill>
            <a:prstDash val="solid"/>
          </a:ln>
        </p:spPr>
      </p:sp>
      <p:sp>
        <p:nvSpPr>
          <p:cNvPr id="5" name="Text 3"/>
          <p:cNvSpPr txBox="1"/>
          <p:nvPr/>
        </p:nvSpPr>
        <p:spPr>
          <a:xfrm>
            <a:off x="804672" y="18288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6" name="Text 4"/>
          <p:cNvSpPr txBox="1"/>
          <p:nvPr/>
        </p:nvSpPr>
        <p:spPr>
          <a:xfrm>
            <a:off x="804672" y="2395728"/>
            <a:ext cx="3027578"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¿Cuál hallazgo era invisible desde el informe nacional?</a:t>
            </a:r>
            <a:endParaRPr lang="en-US" sz="1600" dirty="0"/>
          </a:p>
        </p:txBody>
      </p:sp>
      <p:sp>
        <p:nvSpPr>
          <p:cNvPr id="7" name="Text 5"/>
          <p:cNvSpPr txBox="1"/>
          <p:nvPr/>
        </p:nvSpPr>
        <p:spPr>
          <a:xfrm>
            <a:off x="804672" y="3125216"/>
            <a:ext cx="3027578" cy="127203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Piensen en el informe que desmontaron el jueves pasado. Ninguno de los seis hallazgos de hoy aparece ahí, y esa es la conclusión de las dos semanas.</a:t>
            </a:r>
            <a:endParaRPr lang="en-US" sz="1300" dirty="0"/>
          </a:p>
        </p:txBody>
      </p:sp>
      <p:sp>
        <p:nvSpPr>
          <p:cNvPr id="8" name="Shape 6"/>
          <p:cNvSpPr/>
          <p:nvPr/>
        </p:nvSpPr>
        <p:spPr>
          <a:xfrm>
            <a:off x="4344314" y="1609344"/>
            <a:ext cx="3503066" cy="2989072"/>
          </a:xfrm>
          <a:prstGeom prst="roundRect">
            <a:avLst>
              <a:gd name="adj" fmla="val 2447"/>
            </a:avLst>
          </a:prstGeom>
          <a:solidFill>
            <a:srgbClr val="F2F5F6"/>
          </a:solidFill>
          <a:ln w="12700">
            <a:solidFill>
              <a:srgbClr val="F2F5F6"/>
            </a:solidFill>
            <a:prstDash val="solid"/>
          </a:ln>
        </p:spPr>
      </p:sp>
      <p:sp>
        <p:nvSpPr>
          <p:cNvPr id="9" name="Shape 7"/>
          <p:cNvSpPr/>
          <p:nvPr/>
        </p:nvSpPr>
        <p:spPr>
          <a:xfrm>
            <a:off x="4582058" y="1828800"/>
            <a:ext cx="420624" cy="420624"/>
          </a:xfrm>
          <a:prstGeom prst="ellipse">
            <a:avLst/>
          </a:prstGeom>
          <a:solidFill>
            <a:srgbClr val="2E7D7D"/>
          </a:solidFill>
          <a:ln w="12700">
            <a:solidFill>
              <a:srgbClr val="2E7D7D"/>
            </a:solidFill>
            <a:prstDash val="solid"/>
          </a:ln>
        </p:spPr>
      </p:sp>
      <p:sp>
        <p:nvSpPr>
          <p:cNvPr id="10" name="Text 8"/>
          <p:cNvSpPr txBox="1"/>
          <p:nvPr/>
        </p:nvSpPr>
        <p:spPr>
          <a:xfrm>
            <a:off x="4582058" y="18288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1" name="Text 9"/>
          <p:cNvSpPr txBox="1"/>
          <p:nvPr/>
        </p:nvSpPr>
        <p:spPr>
          <a:xfrm>
            <a:off x="4582058" y="2395728"/>
            <a:ext cx="3027578"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Los seis pares de números, en pizarra</a:t>
            </a:r>
            <a:endParaRPr lang="en-US" sz="1600" dirty="0"/>
          </a:p>
        </p:txBody>
      </p:sp>
      <p:sp>
        <p:nvSpPr>
          <p:cNvPr id="12" name="Text 10"/>
          <p:cNvSpPr txBox="1"/>
          <p:nvPr/>
        </p:nvSpPr>
        <p:spPr>
          <a:xfrm>
            <a:off x="4582058" y="3125216"/>
            <a:ext cx="3027578" cy="127203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Cuántas resistieron y cuánto fue el acuerdo corregido. Seis parejas a la vista dicen más que cualquier discusión.</a:t>
            </a:r>
            <a:endParaRPr lang="en-US" sz="1300" dirty="0"/>
          </a:p>
        </p:txBody>
      </p:sp>
      <p:sp>
        <p:nvSpPr>
          <p:cNvPr id="13" name="Shape 11"/>
          <p:cNvSpPr/>
          <p:nvPr/>
        </p:nvSpPr>
        <p:spPr>
          <a:xfrm>
            <a:off x="8121701" y="1609344"/>
            <a:ext cx="3503066" cy="2989072"/>
          </a:xfrm>
          <a:prstGeom prst="roundRect">
            <a:avLst>
              <a:gd name="adj" fmla="val 2447"/>
            </a:avLst>
          </a:prstGeom>
          <a:solidFill>
            <a:srgbClr val="F7E4D8"/>
          </a:solidFill>
          <a:ln w="12700">
            <a:solidFill>
              <a:srgbClr val="F7E4D8"/>
            </a:solidFill>
            <a:prstDash val="solid"/>
          </a:ln>
        </p:spPr>
      </p:sp>
      <p:sp>
        <p:nvSpPr>
          <p:cNvPr id="14" name="Shape 12"/>
          <p:cNvSpPr/>
          <p:nvPr/>
        </p:nvSpPr>
        <p:spPr>
          <a:xfrm>
            <a:off x="8359445" y="1828800"/>
            <a:ext cx="420624" cy="420624"/>
          </a:xfrm>
          <a:prstGeom prst="ellipse">
            <a:avLst/>
          </a:prstGeom>
          <a:solidFill>
            <a:srgbClr val="C85A28"/>
          </a:solidFill>
          <a:ln w="12700">
            <a:solidFill>
              <a:srgbClr val="C85A28"/>
            </a:solidFill>
            <a:prstDash val="solid"/>
          </a:ln>
        </p:spPr>
      </p:sp>
      <p:sp>
        <p:nvSpPr>
          <p:cNvPr id="15" name="Text 13"/>
          <p:cNvSpPr txBox="1"/>
          <p:nvPr/>
        </p:nvSpPr>
        <p:spPr>
          <a:xfrm>
            <a:off x="8359445" y="18288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6" name="Text 14"/>
          <p:cNvSpPr txBox="1"/>
          <p:nvPr/>
        </p:nvSpPr>
        <p:spPr>
          <a:xfrm>
            <a:off x="8359445" y="2395728"/>
            <a:ext cx="3027578"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¿Qué hizo la herramienta y qué hicieron ustedes?</a:t>
            </a:r>
            <a:endParaRPr lang="en-US" sz="1600" dirty="0"/>
          </a:p>
        </p:txBody>
      </p:sp>
      <p:sp>
        <p:nvSpPr>
          <p:cNvPr id="17" name="Text 15"/>
          <p:cNvSpPr txBox="1"/>
          <p:nvPr/>
        </p:nvSpPr>
        <p:spPr>
          <a:xfrm>
            <a:off x="8359445" y="3125216"/>
            <a:ext cx="3027578" cy="127203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La herramienta encontró y ordenó. Decidir qué se podía afirmar lo hicieron ustedes. Eso no se delega y no se va a delegar.</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10058400" y="-1463040"/>
            <a:ext cx="4023360" cy="4023360"/>
          </a:xfrm>
          <a:prstGeom prst="ellipse">
            <a:avLst/>
          </a:prstGeom>
          <a:solidFill>
            <a:srgbClr val="24404E"/>
          </a:solidFill>
          <a:ln w="12700">
            <a:solidFill>
              <a:srgbClr val="24404E"/>
            </a:solidFill>
            <a:prstDash val="solid"/>
          </a:ln>
        </p:spPr>
      </p:sp>
      <p:sp>
        <p:nvSpPr>
          <p:cNvPr id="3" name="Text 1"/>
          <p:cNvSpPr txBox="1"/>
          <p:nvPr/>
        </p:nvSpPr>
        <p:spPr>
          <a:xfrm>
            <a:off x="932688" y="1371600"/>
            <a:ext cx="10424160" cy="365760"/>
          </a:xfrm>
          <a:prstGeom prst="rect">
            <a:avLst/>
          </a:prstGeom>
          <a:noFill/>
          <a:ln/>
        </p:spPr>
        <p:txBody>
          <a:bodyPr wrap="square" lIns="0" tIns="0" rIns="0" bIns="0" rtlCol="0" anchor="ctr"/>
          <a:lstStyle/>
          <a:p>
            <a:pPr indent="0" marL="0">
              <a:buNone/>
            </a:pPr>
            <a:r>
              <a:rPr lang="en-US" sz="1400" b="1" spc="200" kern="0" dirty="0">
                <a:solidFill>
                  <a:srgbClr val="C85A28"/>
                </a:solidFill>
                <a:latin typeface="Calibri" pitchFamily="34" charset="0"/>
                <a:ea typeface="Calibri" pitchFamily="34" charset="-122"/>
                <a:cs typeface="Calibri" pitchFamily="34" charset="-120"/>
              </a:rPr>
              <a:t>EL LÍMITE QUE MOTIVA EL MÓDULO III</a:t>
            </a:r>
            <a:endParaRPr lang="en-US" sz="1400" dirty="0"/>
          </a:p>
        </p:txBody>
      </p:sp>
      <p:sp>
        <p:nvSpPr>
          <p:cNvPr id="4" name="Text 2"/>
          <p:cNvSpPr txBox="1"/>
          <p:nvPr/>
        </p:nvSpPr>
        <p:spPr>
          <a:xfrm>
            <a:off x="932688" y="1828800"/>
            <a:ext cx="10241280" cy="2377440"/>
          </a:xfrm>
          <a:prstGeom prst="rect">
            <a:avLst/>
          </a:prstGeom>
          <a:noFill/>
          <a:ln/>
        </p:spPr>
        <p:txBody>
          <a:bodyPr wrap="square" lIns="0" tIns="0" rIns="0" bIns="0" rtlCol="0" anchor="t"/>
          <a:lstStyle/>
          <a:p>
            <a:pPr indent="0" marL="0">
              <a:lnSpc>
                <a:spcPct val="112000"/>
              </a:lnSpc>
              <a:buNone/>
            </a:pPr>
            <a:r>
              <a:rPr lang="en-US" sz="3000" b="1" dirty="0">
                <a:solidFill>
                  <a:srgbClr val="FFFFFF"/>
                </a:solidFill>
                <a:latin typeface="Arial" pitchFamily="34" charset="0"/>
                <a:ea typeface="Arial" pitchFamily="34" charset="-122"/>
                <a:cs typeface="Arial" pitchFamily="34" charset="-120"/>
              </a:rPr>
              <a:t>Todo lo que hicimos estas dos semanas fue sobre texto. En el momento en que hay que calcular algo sobre datos, el chat deja de ser suficiente.</a:t>
            </a:r>
            <a:endParaRPr lang="en-US" sz="3000" dirty="0"/>
          </a:p>
        </p:txBody>
      </p:sp>
      <p:sp>
        <p:nvSpPr>
          <p:cNvPr id="5" name="Text 3"/>
          <p:cNvSpPr txBox="1"/>
          <p:nvPr/>
        </p:nvSpPr>
        <p:spPr>
          <a:xfrm>
            <a:off x="932688" y="4343400"/>
            <a:ext cx="10058400" cy="1371600"/>
          </a:xfrm>
          <a:prstGeom prst="rect">
            <a:avLst/>
          </a:prstGeom>
          <a:noFill/>
          <a:ln/>
        </p:spPr>
        <p:txBody>
          <a:bodyPr wrap="square" lIns="0" tIns="0" rIns="0" bIns="0" rtlCol="0" anchor="t"/>
          <a:lstStyle/>
          <a:p>
            <a:pPr indent="0" marL="0">
              <a:lnSpc>
                <a:spcPct val="115000"/>
              </a:lnSpc>
              <a:buNone/>
            </a:pPr>
            <a:r>
              <a:rPr lang="en-US" sz="1600" dirty="0">
                <a:solidFill>
                  <a:srgbClr val="D7E7E7"/>
                </a:solidFill>
                <a:latin typeface="Calibri" pitchFamily="34" charset="0"/>
                <a:ea typeface="Calibri" pitchFamily="34" charset="-122"/>
                <a:cs typeface="Calibri" pitchFamily="34" charset="-120"/>
              </a:rPr>
              <a:t>Acaban de vivirlo: calcular a mano un acuerdo corregido por azar sobre seis filas les tomó cinco minutos y estuvo a punto de quedar indefinido. Sobre los 118 registros de Registros_atencion_ciudadana_PARTICIPANTE.xlsx, con seis equipos y tres corridas, eso es una línea de código. El miércoles empieza el Módulo III con Eduardo Ramírez. Lleven su bitácora.</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1737360" y="3931920"/>
            <a:ext cx="4754880" cy="4754880"/>
          </a:xfrm>
          <a:prstGeom prst="ellipse">
            <a:avLst/>
          </a:prstGeom>
          <a:solidFill>
            <a:srgbClr val="24404E"/>
          </a:solidFill>
          <a:ln w="12700">
            <a:solidFill>
              <a:srgbClr val="24404E"/>
            </a:solidFill>
            <a:prstDash val="solid"/>
          </a:ln>
        </p:spPr>
      </p:sp>
      <p:sp>
        <p:nvSpPr>
          <p:cNvPr id="3" name="Text 1"/>
          <p:cNvSpPr txBox="1"/>
          <p:nvPr/>
        </p:nvSpPr>
        <p:spPr>
          <a:xfrm>
            <a:off x="566928" y="685800"/>
            <a:ext cx="10424160" cy="365760"/>
          </a:xfrm>
          <a:prstGeom prst="rect">
            <a:avLst/>
          </a:prstGeom>
          <a:noFill/>
          <a:ln/>
        </p:spPr>
        <p:txBody>
          <a:bodyPr wrap="square" lIns="0" tIns="0" rIns="0" bIns="0" rtlCol="0" anchor="ctr"/>
          <a:lstStyle/>
          <a:p>
            <a:pPr indent="0" marL="0">
              <a:buNone/>
            </a:pPr>
            <a:r>
              <a:rPr lang="en-US" sz="1400" b="1" spc="200" kern="0" dirty="0">
                <a:solidFill>
                  <a:srgbClr val="C85A28"/>
                </a:solidFill>
                <a:latin typeface="Calibri" pitchFamily="34" charset="0"/>
                <a:ea typeface="Calibri" pitchFamily="34" charset="-122"/>
                <a:cs typeface="Calibri" pitchFamily="34" charset="-120"/>
              </a:rPr>
              <a:t>AL SALIR DE HOY</a:t>
            </a:r>
            <a:endParaRPr lang="en-US" sz="1400" dirty="0"/>
          </a:p>
        </p:txBody>
      </p:sp>
      <p:sp>
        <p:nvSpPr>
          <p:cNvPr id="4" name="Text 2"/>
          <p:cNvSpPr txBox="1"/>
          <p:nvPr/>
        </p:nvSpPr>
        <p:spPr>
          <a:xfrm>
            <a:off x="566928" y="1097280"/>
            <a:ext cx="10607040"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Entregables de la sesión 6 y del bloque</a:t>
            </a:r>
            <a:endParaRPr lang="en-US" sz="3000" dirty="0"/>
          </a:p>
        </p:txBody>
      </p:sp>
      <p:sp>
        <p:nvSpPr>
          <p:cNvPr id="5" name="Shape 3"/>
          <p:cNvSpPr/>
          <p:nvPr/>
        </p:nvSpPr>
        <p:spPr>
          <a:xfrm>
            <a:off x="566928" y="2011680"/>
            <a:ext cx="11057839" cy="857250"/>
          </a:xfrm>
          <a:prstGeom prst="roundRect">
            <a:avLst>
              <a:gd name="adj" fmla="val 7467"/>
            </a:avLst>
          </a:prstGeom>
          <a:solidFill>
            <a:srgbClr val="24404E"/>
          </a:solidFill>
          <a:ln w="12700">
            <a:solidFill>
              <a:srgbClr val="24404E"/>
            </a:solidFill>
            <a:prstDash val="solid"/>
          </a:ln>
        </p:spPr>
      </p:sp>
      <p:sp>
        <p:nvSpPr>
          <p:cNvPr id="6" name="Shape 4"/>
          <p:cNvSpPr/>
          <p:nvPr/>
        </p:nvSpPr>
        <p:spPr>
          <a:xfrm>
            <a:off x="804672" y="2239137"/>
            <a:ext cx="402336" cy="402336"/>
          </a:xfrm>
          <a:prstGeom prst="ellipse">
            <a:avLst/>
          </a:prstGeom>
          <a:solidFill>
            <a:srgbClr val="2E7D7D"/>
          </a:solidFill>
          <a:ln w="12700">
            <a:solidFill>
              <a:srgbClr val="2E7D7D"/>
            </a:solidFill>
            <a:prstDash val="solid"/>
          </a:ln>
        </p:spPr>
      </p:sp>
      <p:sp>
        <p:nvSpPr>
          <p:cNvPr id="7" name="Text 5"/>
          <p:cNvSpPr txBox="1"/>
          <p:nvPr/>
        </p:nvSpPr>
        <p:spPr>
          <a:xfrm>
            <a:off x="804672" y="2239137"/>
            <a:ext cx="402336" cy="402336"/>
          </a:xfrm>
          <a:prstGeom prst="rect">
            <a:avLst/>
          </a:prstGeom>
          <a:noFill/>
          <a:ln/>
        </p:spPr>
        <p:txBody>
          <a:bodyPr wrap="square" lIns="0" tIns="0" rIns="0" bIns="0" rtlCol="0" anchor="ctr"/>
          <a:lstStyle/>
          <a:p>
            <a:pPr algn="ctr" indent="0" marL="0">
              <a:buNone/>
            </a:pPr>
            <a:endParaRPr lang="en-US" sz="1200" dirty="0"/>
          </a:p>
        </p:txBody>
      </p:sp>
      <p:sp>
        <p:nvSpPr>
          <p:cNvPr id="8" name="Text 6"/>
          <p:cNvSpPr txBox="1"/>
          <p:nvPr/>
        </p:nvSpPr>
        <p:spPr>
          <a:xfrm>
            <a:off x="1426464" y="208483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La matriz de evidencia del equipo, con seis afirmaciones trazadas y su definición operativa de alta, media y baja.</a:t>
            </a:r>
            <a:endParaRPr lang="en-US" sz="1450" dirty="0"/>
          </a:p>
        </p:txBody>
      </p:sp>
      <p:sp>
        <p:nvSpPr>
          <p:cNvPr id="9" name="Shape 7"/>
          <p:cNvSpPr/>
          <p:nvPr/>
        </p:nvSpPr>
        <p:spPr>
          <a:xfrm>
            <a:off x="566928" y="3051810"/>
            <a:ext cx="11057839" cy="857250"/>
          </a:xfrm>
          <a:prstGeom prst="roundRect">
            <a:avLst>
              <a:gd name="adj" fmla="val 7467"/>
            </a:avLst>
          </a:prstGeom>
          <a:solidFill>
            <a:srgbClr val="24404E"/>
          </a:solidFill>
          <a:ln w="12700">
            <a:solidFill>
              <a:srgbClr val="24404E"/>
            </a:solidFill>
            <a:prstDash val="solid"/>
          </a:ln>
        </p:spPr>
      </p:sp>
      <p:sp>
        <p:nvSpPr>
          <p:cNvPr id="10" name="Shape 8"/>
          <p:cNvSpPr/>
          <p:nvPr/>
        </p:nvSpPr>
        <p:spPr>
          <a:xfrm>
            <a:off x="804672" y="3279267"/>
            <a:ext cx="402336" cy="402336"/>
          </a:xfrm>
          <a:prstGeom prst="ellipse">
            <a:avLst/>
          </a:prstGeom>
          <a:solidFill>
            <a:srgbClr val="2E7D7D"/>
          </a:solidFill>
          <a:ln w="12700">
            <a:solidFill>
              <a:srgbClr val="2E7D7D"/>
            </a:solidFill>
            <a:prstDash val="solid"/>
          </a:ln>
        </p:spPr>
      </p:sp>
      <p:sp>
        <p:nvSpPr>
          <p:cNvPr id="11" name="Text 9"/>
          <p:cNvSpPr txBox="1"/>
          <p:nvPr/>
        </p:nvSpPr>
        <p:spPr>
          <a:xfrm>
            <a:off x="804672" y="3279267"/>
            <a:ext cx="402336" cy="402336"/>
          </a:xfrm>
          <a:prstGeom prst="rect">
            <a:avLst/>
          </a:prstGeom>
          <a:noFill/>
          <a:ln/>
        </p:spPr>
        <p:txBody>
          <a:bodyPr wrap="square" lIns="0" tIns="0" rIns="0" bIns="0" rtlCol="0" anchor="ctr"/>
          <a:lstStyle/>
          <a:p>
            <a:pPr algn="ctr" indent="0" marL="0">
              <a:buNone/>
            </a:pPr>
            <a:endParaRPr lang="en-US" sz="1200" dirty="0"/>
          </a:p>
        </p:txBody>
      </p:sp>
      <p:sp>
        <p:nvSpPr>
          <p:cNvPr id="12" name="Text 10"/>
          <p:cNvSpPr txBox="1"/>
          <p:nvPr/>
        </p:nvSpPr>
        <p:spPr>
          <a:xfrm>
            <a:off x="1426464" y="312496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La síntesis de dos cuartillas que responde su pregunta de evaluación. Se termina en casa y se entrega mañana antes de las 9:00.</a:t>
            </a:r>
            <a:endParaRPr lang="en-US" sz="1450" dirty="0"/>
          </a:p>
        </p:txBody>
      </p:sp>
      <p:sp>
        <p:nvSpPr>
          <p:cNvPr id="13" name="Shape 11"/>
          <p:cNvSpPr/>
          <p:nvPr/>
        </p:nvSpPr>
        <p:spPr>
          <a:xfrm>
            <a:off x="566928" y="4091940"/>
            <a:ext cx="11057839" cy="857250"/>
          </a:xfrm>
          <a:prstGeom prst="roundRect">
            <a:avLst>
              <a:gd name="adj" fmla="val 7467"/>
            </a:avLst>
          </a:prstGeom>
          <a:solidFill>
            <a:srgbClr val="24404E"/>
          </a:solidFill>
          <a:ln w="12700">
            <a:solidFill>
              <a:srgbClr val="24404E"/>
            </a:solidFill>
            <a:prstDash val="solid"/>
          </a:ln>
        </p:spPr>
      </p:sp>
      <p:sp>
        <p:nvSpPr>
          <p:cNvPr id="14" name="Shape 12"/>
          <p:cNvSpPr/>
          <p:nvPr/>
        </p:nvSpPr>
        <p:spPr>
          <a:xfrm>
            <a:off x="804672" y="4319397"/>
            <a:ext cx="402336" cy="402336"/>
          </a:xfrm>
          <a:prstGeom prst="ellipse">
            <a:avLst/>
          </a:prstGeom>
          <a:solidFill>
            <a:srgbClr val="2E7D7D"/>
          </a:solidFill>
          <a:ln w="12700">
            <a:solidFill>
              <a:srgbClr val="2E7D7D"/>
            </a:solidFill>
            <a:prstDash val="solid"/>
          </a:ln>
        </p:spPr>
      </p:sp>
      <p:sp>
        <p:nvSpPr>
          <p:cNvPr id="15" name="Text 13"/>
          <p:cNvSpPr txBox="1"/>
          <p:nvPr/>
        </p:nvSpPr>
        <p:spPr>
          <a:xfrm>
            <a:off x="804672" y="4319397"/>
            <a:ext cx="402336" cy="402336"/>
          </a:xfrm>
          <a:prstGeom prst="rect">
            <a:avLst/>
          </a:prstGeom>
          <a:noFill/>
          <a:ln/>
        </p:spPr>
        <p:txBody>
          <a:bodyPr wrap="square" lIns="0" tIns="0" rIns="0" bIns="0" rtlCol="0" anchor="ctr"/>
          <a:lstStyle/>
          <a:p>
            <a:pPr algn="ctr" indent="0" marL="0">
              <a:buNone/>
            </a:pPr>
            <a:endParaRPr lang="en-US" sz="1200" dirty="0"/>
          </a:p>
        </p:txBody>
      </p:sp>
      <p:sp>
        <p:nvSpPr>
          <p:cNvPr id="16" name="Text 14"/>
          <p:cNvSpPr txBox="1"/>
          <p:nvPr/>
        </p:nvSpPr>
        <p:spPr>
          <a:xfrm>
            <a:off x="1426464" y="416509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Los dos números de la medición cruzada, con el alcance declarado en una línea.</a:t>
            </a:r>
            <a:endParaRPr lang="en-US" sz="1450" dirty="0"/>
          </a:p>
        </p:txBody>
      </p:sp>
      <p:sp>
        <p:nvSpPr>
          <p:cNvPr id="17" name="Shape 15"/>
          <p:cNvSpPr/>
          <p:nvPr/>
        </p:nvSpPr>
        <p:spPr>
          <a:xfrm>
            <a:off x="566928" y="5132070"/>
            <a:ext cx="11057839" cy="857250"/>
          </a:xfrm>
          <a:prstGeom prst="roundRect">
            <a:avLst>
              <a:gd name="adj" fmla="val 7467"/>
            </a:avLst>
          </a:prstGeom>
          <a:solidFill>
            <a:srgbClr val="24404E"/>
          </a:solidFill>
          <a:ln w="12700">
            <a:solidFill>
              <a:srgbClr val="24404E"/>
            </a:solidFill>
            <a:prstDash val="solid"/>
          </a:ln>
        </p:spPr>
      </p:sp>
      <p:sp>
        <p:nvSpPr>
          <p:cNvPr id="18" name="Shape 16"/>
          <p:cNvSpPr/>
          <p:nvPr/>
        </p:nvSpPr>
        <p:spPr>
          <a:xfrm>
            <a:off x="804672" y="5359527"/>
            <a:ext cx="402336" cy="402336"/>
          </a:xfrm>
          <a:prstGeom prst="ellipse">
            <a:avLst/>
          </a:prstGeom>
          <a:solidFill>
            <a:srgbClr val="2E7D7D"/>
          </a:solidFill>
          <a:ln w="12700">
            <a:solidFill>
              <a:srgbClr val="2E7D7D"/>
            </a:solidFill>
            <a:prstDash val="solid"/>
          </a:ln>
        </p:spPr>
      </p:sp>
      <p:sp>
        <p:nvSpPr>
          <p:cNvPr id="19" name="Text 17"/>
          <p:cNvSpPr txBox="1"/>
          <p:nvPr/>
        </p:nvSpPr>
        <p:spPr>
          <a:xfrm>
            <a:off x="804672" y="5359527"/>
            <a:ext cx="402336" cy="402336"/>
          </a:xfrm>
          <a:prstGeom prst="rect">
            <a:avLst/>
          </a:prstGeom>
          <a:noFill/>
          <a:ln/>
        </p:spPr>
        <p:txBody>
          <a:bodyPr wrap="square" lIns="0" tIns="0" rIns="0" bIns="0" rtlCol="0" anchor="ctr"/>
          <a:lstStyle/>
          <a:p>
            <a:pPr algn="ctr" indent="0" marL="0">
              <a:buNone/>
            </a:pPr>
            <a:endParaRPr lang="en-US" sz="1200" dirty="0"/>
          </a:p>
        </p:txBody>
      </p:sp>
      <p:sp>
        <p:nvSpPr>
          <p:cNvPr id="20" name="Text 18"/>
          <p:cNvSpPr txBox="1"/>
          <p:nvPr/>
        </p:nvSpPr>
        <p:spPr>
          <a:xfrm>
            <a:off x="1426464" y="520522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La bitácora individual consolidada de las seis sesiones, que es el entregable que más peso tiene del bloque.</a:t>
            </a:r>
            <a:endParaRPr lang="en-US" sz="1450" dirty="0"/>
          </a:p>
        </p:txBody>
      </p:sp>
      <p:sp>
        <p:nvSpPr>
          <p:cNvPr id="21" name="Text 19"/>
          <p:cNvSpPr txBox="1"/>
          <p:nvPr/>
        </p:nvSpPr>
        <p:spPr>
          <a:xfrm>
            <a:off x="566928" y="6172200"/>
            <a:ext cx="11057839" cy="411480"/>
          </a:xfrm>
          <a:prstGeom prst="rect">
            <a:avLst/>
          </a:prstGeom>
          <a:noFill/>
          <a:ln/>
        </p:spPr>
        <p:txBody>
          <a:bodyPr wrap="square" lIns="0" tIns="0" rIns="0" bIns="0" rtlCol="0" anchor="ctr"/>
          <a:lstStyle/>
          <a:p>
            <a:pPr indent="0" marL="0">
              <a:buNone/>
            </a:pPr>
            <a:r>
              <a:rPr lang="en-US" sz="1300" i="1" dirty="0">
                <a:solidFill>
                  <a:srgbClr val="D7E7E7"/>
                </a:solidFill>
                <a:latin typeface="Calibri" pitchFamily="34" charset="0"/>
                <a:ea typeface="Calibri" pitchFamily="34" charset="-122"/>
                <a:cs typeface="Calibri" pitchFamily="34" charset="-120"/>
              </a:rPr>
              <a:t>Hoy cierra también el plazo del tema definitivo y la ficha de idoneidad del proyecto integrador. Módulo III, miércoles 23: análisis cuantitativo y entornos reproducibles.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Donde estamos">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Lo que ya sabe hacer el Módulo II, y lo que falta</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Cuatro sesiones para sacarle estructura a un texto. Hoy toca la pregunta que casi nadie hace en un informe terminado.</a:t>
            </a:r>
            <a:endParaRPr lang="en-US" sz="1500" dirty="0"/>
          </a:p>
        </p:txBody>
      </p:sp>
      <p:sp>
        <p:nvSpPr>
          <p:cNvPr id="4" name="Shape"/>
          <p:cNvSpPr/>
          <p:nvPr/>
        </p:nvSpPr>
        <p:spPr>
          <a:xfrm>
            <a:off x="566928" y="1900000"/>
            <a:ext cx="2569459" cy="2650000"/>
          </a:xfrm>
          <a:prstGeom prst="roundRect">
            <a:avLst>
              <a:gd name="adj" fmla="val 2933"/>
            </a:avLst>
          </a:prstGeom>
          <a:solidFill>
            <a:srgbClr val="F2F5F6"/>
          </a:solidFill>
          <a:ln w="12700">
            <a:solidFill>
              <a:srgbClr val="F2F5F6"/>
            </a:solidFill>
            <a:prstDash val="solid"/>
          </a:ln>
        </p:spPr>
      </p:sp>
      <p:sp>
        <p:nvSpPr>
          <p:cNvPr id="5" name="Shape"/>
          <p:cNvSpPr/>
          <p:nvPr/>
        </p:nvSpPr>
        <p:spPr>
          <a:xfrm>
            <a:off x="804672" y="2119456"/>
            <a:ext cx="420624" cy="420624"/>
          </a:xfrm>
          <a:prstGeom prst="ellipse">
            <a:avLst/>
          </a:prstGeom>
          <a:solidFill>
            <a:srgbClr val="2E7D7D"/>
          </a:solidFill>
          <a:ln w="12700">
            <a:solidFill>
              <a:srgbClr val="2E7D7D"/>
            </a:solidFill>
            <a:prstDash val="solid"/>
          </a:ln>
        </p:spPr>
      </p:sp>
      <p:sp>
        <p:nvSpPr>
          <p:cNvPr id="6" name="Text"/>
          <p:cNvSpPr txBox="1"/>
          <p:nvPr/>
        </p:nvSpPr>
        <p:spPr>
          <a:xfrm>
            <a:off x="804672" y="211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p:cNvSpPr txBox="1"/>
          <p:nvPr/>
        </p:nvSpPr>
        <p:spPr>
          <a:xfrm>
            <a:off x="804672" y="2679456"/>
            <a:ext cx="2093971" cy="583184"/>
          </a:xfrm>
          <a:prstGeom prst="rect">
            <a:avLst/>
          </a:prstGeom>
          <a:noFill/>
          <a:ln/>
        </p:spPr>
        <p:txBody>
          <a:bodyPr wrap="square" lIns="0" tIns="0" rIns="0" bIns="0" rtlCol="0" anchor="t"/>
          <a:lstStyle/>
          <a:p>
            <a:pPr indent="0" marL="0">
              <a:buNone/>
            </a:pPr>
            <a:r>
              <a:rPr lang="en-US" sz="1500" b="1" dirty="0">
                <a:solidFill>
                  <a:srgbClr val="16262E"/>
                </a:solidFill>
                <a:latin typeface="Arial" pitchFamily="34" charset="0"/>
                <a:ea typeface="Arial" pitchFamily="34" charset="-122"/>
                <a:cs typeface="Arial" pitchFamily="34" charset="-120"/>
              </a:rPr>
              <a:t>Cuatro tareas de texto</a:t>
            </a:r>
            <a:endParaRPr lang="en-US" sz="1500" dirty="0"/>
          </a:p>
        </p:txBody>
      </p:sp>
      <p:sp>
        <p:nvSpPr>
          <p:cNvPr id="8" name="Text"/>
          <p:cNvSpPr txBox="1"/>
          <p:nvPr/>
        </p:nvSpPr>
        <p:spPr>
          <a:xfrm>
            <a:off x="804672" y="3319456"/>
            <a:ext cx="2093971" cy="1110544"/>
          </a:xfrm>
          <a:prstGeom prst="rect">
            <a:avLst/>
          </a:prstGeom>
          <a:noFill/>
          <a:ln/>
        </p:spPr>
        <p:txBody>
          <a:bodyPr wrap="square" lIns="0" tIns="0" rIns="0" bIns="0" rtlCol="0" anchor="t"/>
          <a:lstStyle/>
          <a:p>
            <a:pPr indent="0" marL="0">
              <a:lnSpc>
                <a:spcPct val="110000"/>
              </a:lnSpc>
              <a:spcAft>
                <a:spcPts val="700"/>
              </a:spcAft>
              <a:buNone/>
            </a:pPr>
            <a:r>
              <a:rPr lang="en-US" sz="1250" dirty="0">
                <a:solidFill>
                  <a:srgbClr val="16262E"/>
                </a:solidFill>
                <a:latin typeface="Calibri" pitchFamily="34" charset="0"/>
                <a:ea typeface="Calibri" pitchFamily="34" charset="-122"/>
                <a:cs typeface="Calibri" pitchFamily="34" charset="-120"/>
              </a:rPr>
              <a:t>Resumir, extraer entidades a una tabla, agrupar por tema y clasificar postura. Son las cuatro en las que cae casi todo su trabajo documental.</a:t>
            </a:r>
            <a:endParaRPr lang="en-US" sz="1250" dirty="0"/>
          </a:p>
        </p:txBody>
      </p:sp>
      <p:sp>
        <p:nvSpPr>
          <p:cNvPr id="9" name="Shape"/>
          <p:cNvSpPr/>
          <p:nvPr/>
        </p:nvSpPr>
        <p:spPr>
          <a:xfrm>
            <a:off x="3396387" y="1900000"/>
            <a:ext cx="2569459" cy="2650000"/>
          </a:xfrm>
          <a:prstGeom prst="roundRect">
            <a:avLst>
              <a:gd name="adj" fmla="val 2933"/>
            </a:avLst>
          </a:prstGeom>
          <a:solidFill>
            <a:srgbClr val="F2F5F6"/>
          </a:solidFill>
          <a:ln w="12700">
            <a:solidFill>
              <a:srgbClr val="F2F5F6"/>
            </a:solidFill>
            <a:prstDash val="solid"/>
          </a:ln>
        </p:spPr>
      </p:sp>
      <p:sp>
        <p:nvSpPr>
          <p:cNvPr id="10" name="Shape"/>
          <p:cNvSpPr/>
          <p:nvPr/>
        </p:nvSpPr>
        <p:spPr>
          <a:xfrm>
            <a:off x="3634131" y="2119456"/>
            <a:ext cx="420624" cy="420624"/>
          </a:xfrm>
          <a:prstGeom prst="ellipse">
            <a:avLst/>
          </a:prstGeom>
          <a:solidFill>
            <a:srgbClr val="2E7D7D"/>
          </a:solidFill>
          <a:ln w="12700">
            <a:solidFill>
              <a:srgbClr val="2E7D7D"/>
            </a:solidFill>
            <a:prstDash val="solid"/>
          </a:ln>
        </p:spPr>
      </p:sp>
      <p:sp>
        <p:nvSpPr>
          <p:cNvPr id="11" name="Text"/>
          <p:cNvSpPr txBox="1"/>
          <p:nvPr/>
        </p:nvSpPr>
        <p:spPr>
          <a:xfrm>
            <a:off x="3634131" y="211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p:cNvSpPr txBox="1"/>
          <p:nvPr/>
        </p:nvSpPr>
        <p:spPr>
          <a:xfrm>
            <a:off x="3634131" y="2679456"/>
            <a:ext cx="2093971" cy="583184"/>
          </a:xfrm>
          <a:prstGeom prst="rect">
            <a:avLst/>
          </a:prstGeom>
          <a:noFill/>
          <a:ln/>
        </p:spPr>
        <p:txBody>
          <a:bodyPr wrap="square" lIns="0" tIns="0" rIns="0" bIns="0" rtlCol="0" anchor="t"/>
          <a:lstStyle/>
          <a:p>
            <a:pPr indent="0" marL="0">
              <a:buNone/>
            </a:pPr>
            <a:r>
              <a:rPr lang="en-US" sz="1500" b="1" dirty="0">
                <a:solidFill>
                  <a:srgbClr val="16262E"/>
                </a:solidFill>
                <a:latin typeface="Arial" pitchFamily="34" charset="0"/>
                <a:ea typeface="Arial" pitchFamily="34" charset="-122"/>
                <a:cs typeface="Arial" pitchFamily="34" charset="-120"/>
              </a:rPr>
              <a:t>Cómo compara una máquina</a:t>
            </a:r>
            <a:endParaRPr lang="en-US" sz="1500" dirty="0"/>
          </a:p>
        </p:txBody>
      </p:sp>
      <p:sp>
        <p:nvSpPr>
          <p:cNvPr id="13" name="Text"/>
          <p:cNvSpPr txBox="1"/>
          <p:nvPr/>
        </p:nvSpPr>
        <p:spPr>
          <a:xfrm>
            <a:off x="3634131" y="3319456"/>
            <a:ext cx="2093971" cy="1110544"/>
          </a:xfrm>
          <a:prstGeom prst="rect">
            <a:avLst/>
          </a:prstGeom>
          <a:noFill/>
          <a:ln/>
        </p:spPr>
        <p:txBody>
          <a:bodyPr wrap="square" lIns="0" tIns="0" rIns="0" bIns="0" rtlCol="0" anchor="t"/>
          <a:lstStyle/>
          <a:p>
            <a:pPr indent="0" marL="0">
              <a:lnSpc>
                <a:spcPct val="110000"/>
              </a:lnSpc>
              <a:spcAft>
                <a:spcPts val="700"/>
              </a:spcAft>
              <a:buNone/>
            </a:pPr>
            <a:r>
              <a:rPr lang="en-US" sz="1250" dirty="0">
                <a:solidFill>
                  <a:srgbClr val="16262E"/>
                </a:solidFill>
                <a:latin typeface="Calibri" pitchFamily="34" charset="0"/>
                <a:ea typeface="Calibri" pitchFamily="34" charset="-122"/>
                <a:cs typeface="Calibri" pitchFamily="34" charset="-120"/>
              </a:rPr>
              <a:t>No lee: convierte los textos en números y mide cercanía, y pesa más las palabras raras que las comunes.</a:t>
            </a:r>
            <a:endParaRPr lang="en-US" sz="1250" dirty="0"/>
          </a:p>
        </p:txBody>
      </p:sp>
      <p:sp>
        <p:nvSpPr>
          <p:cNvPr id="14" name="Shape"/>
          <p:cNvSpPr/>
          <p:nvPr/>
        </p:nvSpPr>
        <p:spPr>
          <a:xfrm>
            <a:off x="6225846" y="1900000"/>
            <a:ext cx="2569459" cy="2650000"/>
          </a:xfrm>
          <a:prstGeom prst="roundRect">
            <a:avLst>
              <a:gd name="adj" fmla="val 2933"/>
            </a:avLst>
          </a:prstGeom>
          <a:solidFill>
            <a:srgbClr val="F2F5F6"/>
          </a:solidFill>
          <a:ln w="12700">
            <a:solidFill>
              <a:srgbClr val="F2F5F6"/>
            </a:solidFill>
            <a:prstDash val="solid"/>
          </a:ln>
        </p:spPr>
      </p:sp>
      <p:sp>
        <p:nvSpPr>
          <p:cNvPr id="15" name="Shape"/>
          <p:cNvSpPr/>
          <p:nvPr/>
        </p:nvSpPr>
        <p:spPr>
          <a:xfrm>
            <a:off x="6463590" y="2119456"/>
            <a:ext cx="420624" cy="420624"/>
          </a:xfrm>
          <a:prstGeom prst="ellipse">
            <a:avLst/>
          </a:prstGeom>
          <a:solidFill>
            <a:srgbClr val="2E7D7D"/>
          </a:solidFill>
          <a:ln w="12700">
            <a:solidFill>
              <a:srgbClr val="2E7D7D"/>
            </a:solidFill>
            <a:prstDash val="solid"/>
          </a:ln>
        </p:spPr>
      </p:sp>
      <p:sp>
        <p:nvSpPr>
          <p:cNvPr id="16" name="Text"/>
          <p:cNvSpPr txBox="1"/>
          <p:nvPr/>
        </p:nvSpPr>
        <p:spPr>
          <a:xfrm>
            <a:off x="6463590" y="211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p:cNvSpPr txBox="1"/>
          <p:nvPr/>
        </p:nvSpPr>
        <p:spPr>
          <a:xfrm>
            <a:off x="6463590" y="2679456"/>
            <a:ext cx="2093971" cy="583184"/>
          </a:xfrm>
          <a:prstGeom prst="rect">
            <a:avLst/>
          </a:prstGeom>
          <a:noFill/>
          <a:ln/>
        </p:spPr>
        <p:txBody>
          <a:bodyPr wrap="square" lIns="0" tIns="0" rIns="0" bIns="0" rtlCol="0" anchor="t"/>
          <a:lstStyle/>
          <a:p>
            <a:pPr indent="0" marL="0">
              <a:buNone/>
            </a:pPr>
            <a:r>
              <a:rPr lang="en-US" sz="1500" b="1" dirty="0">
                <a:solidFill>
                  <a:srgbClr val="16262E"/>
                </a:solidFill>
                <a:latin typeface="Arial" pitchFamily="34" charset="0"/>
                <a:ea typeface="Arial" pitchFamily="34" charset="-122"/>
                <a:cs typeface="Arial" pitchFamily="34" charset="-120"/>
              </a:rPr>
              <a:t>Dónde vive el documento</a:t>
            </a:r>
            <a:endParaRPr lang="en-US" sz="1500" dirty="0"/>
          </a:p>
        </p:txBody>
      </p:sp>
      <p:sp>
        <p:nvSpPr>
          <p:cNvPr id="18" name="Text"/>
          <p:cNvSpPr txBox="1"/>
          <p:nvPr/>
        </p:nvSpPr>
        <p:spPr>
          <a:xfrm>
            <a:off x="6463590" y="3319456"/>
            <a:ext cx="2093971" cy="1110544"/>
          </a:xfrm>
          <a:prstGeom prst="rect">
            <a:avLst/>
          </a:prstGeom>
          <a:noFill/>
          <a:ln/>
        </p:spPr>
        <p:txBody>
          <a:bodyPr wrap="square" lIns="0" tIns="0" rIns="0" bIns="0" rtlCol="0" anchor="t"/>
          <a:lstStyle/>
          <a:p>
            <a:pPr indent="0" marL="0">
              <a:lnSpc>
                <a:spcPct val="110000"/>
              </a:lnSpc>
              <a:spcAft>
                <a:spcPts val="700"/>
              </a:spcAft>
              <a:buNone/>
            </a:pPr>
            <a:r>
              <a:rPr lang="en-US" sz="1250" dirty="0">
                <a:solidFill>
                  <a:srgbClr val="16262E"/>
                </a:solidFill>
                <a:latin typeface="Calibri" pitchFamily="34" charset="0"/>
                <a:ea typeface="Calibri" pitchFamily="34" charset="-122"/>
                <a:cs typeface="Calibri" pitchFamily="34" charset="-120"/>
              </a:rPr>
              <a:t>En la ventana de contexto, donde usted lo puso, o en un índice que un buscador consulta por usted. Son dos costos distintos.</a:t>
            </a:r>
            <a:endParaRPr lang="en-US" sz="1250" dirty="0"/>
          </a:p>
        </p:txBody>
      </p:sp>
      <p:sp>
        <p:nvSpPr>
          <p:cNvPr id="19" name="Shape"/>
          <p:cNvSpPr/>
          <p:nvPr/>
        </p:nvSpPr>
        <p:spPr>
          <a:xfrm>
            <a:off x="9055305" y="1900000"/>
            <a:ext cx="2569459" cy="2650000"/>
          </a:xfrm>
          <a:prstGeom prst="roundRect">
            <a:avLst>
              <a:gd name="adj" fmla="val 2933"/>
            </a:avLst>
          </a:prstGeom>
          <a:solidFill>
            <a:srgbClr val="F2F5F6"/>
          </a:solidFill>
          <a:ln w="12700">
            <a:solidFill>
              <a:srgbClr val="F2F5F6"/>
            </a:solidFill>
            <a:prstDash val="solid"/>
          </a:ln>
        </p:spPr>
      </p:sp>
      <p:sp>
        <p:nvSpPr>
          <p:cNvPr id="20" name="Shape"/>
          <p:cNvSpPr/>
          <p:nvPr/>
        </p:nvSpPr>
        <p:spPr>
          <a:xfrm>
            <a:off x="9293049" y="2119456"/>
            <a:ext cx="420624" cy="420624"/>
          </a:xfrm>
          <a:prstGeom prst="ellipse">
            <a:avLst/>
          </a:prstGeom>
          <a:solidFill>
            <a:srgbClr val="2E7D7D"/>
          </a:solidFill>
          <a:ln w="12700">
            <a:solidFill>
              <a:srgbClr val="2E7D7D"/>
            </a:solidFill>
            <a:prstDash val="solid"/>
          </a:ln>
        </p:spPr>
      </p:sp>
      <p:sp>
        <p:nvSpPr>
          <p:cNvPr id="21" name="Text"/>
          <p:cNvSpPr txBox="1"/>
          <p:nvPr/>
        </p:nvSpPr>
        <p:spPr>
          <a:xfrm>
            <a:off x="9293049" y="211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p:cNvSpPr txBox="1"/>
          <p:nvPr/>
        </p:nvSpPr>
        <p:spPr>
          <a:xfrm>
            <a:off x="9293049" y="2679456"/>
            <a:ext cx="2093971" cy="583184"/>
          </a:xfrm>
          <a:prstGeom prst="rect">
            <a:avLst/>
          </a:prstGeom>
          <a:noFill/>
          <a:ln/>
        </p:spPr>
        <p:txBody>
          <a:bodyPr wrap="square" lIns="0" tIns="0" rIns="0" bIns="0" rtlCol="0" anchor="t"/>
          <a:lstStyle/>
          <a:p>
            <a:pPr indent="0" marL="0">
              <a:buNone/>
            </a:pPr>
            <a:r>
              <a:rPr lang="en-US" sz="1500" b="1" dirty="0">
                <a:solidFill>
                  <a:srgbClr val="16262E"/>
                </a:solidFill>
                <a:latin typeface="Arial" pitchFamily="34" charset="0"/>
                <a:ea typeface="Arial" pitchFamily="34" charset="-122"/>
                <a:cs typeface="Arial" pitchFamily="34" charset="-120"/>
              </a:rPr>
              <a:t>Ocho herramientas medidas</a:t>
            </a:r>
            <a:endParaRPr lang="en-US" sz="1500" dirty="0"/>
          </a:p>
        </p:txBody>
      </p:sp>
      <p:sp>
        <p:nvSpPr>
          <p:cNvPr id="23" name="Text"/>
          <p:cNvSpPr txBox="1"/>
          <p:nvPr/>
        </p:nvSpPr>
        <p:spPr>
          <a:xfrm>
            <a:off x="9293049" y="3319456"/>
            <a:ext cx="2093971" cy="1110544"/>
          </a:xfrm>
          <a:prstGeom prst="rect">
            <a:avLst/>
          </a:prstGeom>
          <a:noFill/>
          <a:ln/>
        </p:spPr>
        <p:txBody>
          <a:bodyPr wrap="square" lIns="0" tIns="0" rIns="0" bIns="0" rtlCol="0" anchor="t"/>
          <a:lstStyle/>
          <a:p>
            <a:pPr indent="0" marL="0">
              <a:lnSpc>
                <a:spcPct val="110000"/>
              </a:lnSpc>
              <a:spcAft>
                <a:spcPts val="700"/>
              </a:spcAft>
              <a:buNone/>
            </a:pPr>
            <a:r>
              <a:rPr lang="en-US" sz="1250" dirty="0">
                <a:solidFill>
                  <a:srgbClr val="16262E"/>
                </a:solidFill>
                <a:latin typeface="Calibri" pitchFamily="34" charset="0"/>
                <a:ea typeface="Calibri" pitchFamily="34" charset="-122"/>
                <a:cs typeface="Calibri" pitchFamily="34" charset="-120"/>
              </a:rPr>
              <a:t>Cada equipo evaluó la suya contra Copilot sobre el mismo corpus, con criterios propios y no con la publicidad del fabricante.</a:t>
            </a:r>
            <a:endParaRPr lang="en-US" sz="1250" dirty="0"/>
          </a:p>
        </p:txBody>
      </p:sp>
      <p:sp>
        <p:nvSpPr>
          <p:cNvPr id="24" name="Shape"/>
          <p:cNvSpPr/>
          <p:nvPr/>
        </p:nvSpPr>
        <p:spPr>
          <a:xfrm>
            <a:off x="566928" y="4750000"/>
            <a:ext cx="11057839" cy="760000"/>
          </a:xfrm>
          <a:prstGeom prst="roundRect">
            <a:avLst>
              <a:gd name="adj" fmla="val 8235"/>
            </a:avLst>
          </a:prstGeom>
          <a:solidFill>
            <a:srgbClr val="F7E4D8"/>
          </a:solidFill>
          <a:ln w="12700">
            <a:solidFill>
              <a:srgbClr val="F7E4D8"/>
            </a:solidFill>
            <a:prstDash val="solid"/>
          </a:ln>
        </p:spPr>
      </p:sp>
      <p:sp>
        <p:nvSpPr>
          <p:cNvPr id="25" name="Text"/>
          <p:cNvSpPr txBox="1"/>
          <p:nvPr/>
        </p:nvSpPr>
        <p:spPr>
          <a:xfrm>
            <a:off x="804672" y="4750000"/>
            <a:ext cx="10582351" cy="76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Las cuatro sesiones producen candidatos: frases, tablas, categorías y citas. Ninguna dijo cómo se decide si un candidato es cierto, y esa decisión sigue siendo suya.</a:t>
            </a:r>
            <a:endParaRPr lang="en-US" sz="1300" dirty="0"/>
          </a:p>
        </p:txBody>
      </p:sp>
      <p:sp>
        <p:nvSpPr>
          <p:cNvPr id="26" name="Text"/>
          <p:cNvSpPr txBox="1"/>
          <p:nvPr/>
        </p:nvSpPr>
        <p:spPr>
          <a:xfrm>
            <a:off x="566928" y="5720000"/>
            <a:ext cx="11057839" cy="560000"/>
          </a:xfrm>
          <a:prstGeom prst="rect">
            <a:avLst/>
          </a:prstGeom>
          <a:noFill/>
          <a:ln/>
        </p:spPr>
        <p:txBody>
          <a:bodyPr wrap="square" lIns="0" tIns="0" rIns="0" bIns="0" rtlCol="0" anchor="t"/>
          <a:lstStyle/>
          <a:p>
            <a:pPr indent="0" marL="0">
              <a:lnSpc>
                <a:spcPct val="105000"/>
              </a:lnSpc>
              <a:buNone/>
            </a:pPr>
            <a:r>
              <a:rPr lang="en-US" sz="1600" b="1" dirty="0">
                <a:solidFill>
                  <a:srgbClr val="16262E"/>
                </a:solidFill>
                <a:latin typeface="Arial" pitchFamily="34" charset="0"/>
                <a:ea typeface="Arial" pitchFamily="34" charset="-122"/>
                <a:cs typeface="Arial" pitchFamily="34" charset="-120"/>
              </a:rPr>
              <a:t>Hoy se cierra ese hueco, y se cierra con números. Pero antes, de dónde salió todo lo que han leído.</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Divisor tecnico">
    <p:bg>
      <p:bgPr>
        <a:solidFill>
          <a:srgbClr val="16262E"/>
        </a:solidFill>
        <a:effectLst/>
      </p:bgPr>
    </p:bg>
    <p:spTree>
      <p:nvGrpSpPr>
        <p:cNvPr id="1" name=""/>
        <p:cNvGrpSpPr/>
        <p:nvPr/>
      </p:nvGrpSpPr>
      <p:grpSpPr>
        <a:xfrm>
          <a:off x="0" y="0"/>
          <a:ext cx="0" cy="0"/>
          <a:chOff x="0" y="0"/>
          <a:chExt cx="0" cy="0"/>
        </a:xfrm>
      </p:grpSpPr>
      <p:sp>
        <p:nvSpPr>
          <p:cNvPr id="2" name="Shape"/>
          <p:cNvSpPr/>
          <p:nvPr/>
        </p:nvSpPr>
        <p:spPr>
          <a:xfrm>
            <a:off x="566928" y="2331720"/>
            <a:ext cx="1371600" cy="1371600"/>
          </a:xfrm>
          <a:prstGeom prst="ellipse">
            <a:avLst/>
          </a:prstGeom>
          <a:solidFill>
            <a:srgbClr val="C85A28"/>
          </a:solidFill>
          <a:ln w="12700">
            <a:solidFill>
              <a:srgbClr val="C85A28"/>
            </a:solidFill>
            <a:prstDash val="solid"/>
          </a:ln>
        </p:spPr>
      </p:sp>
      <p:sp>
        <p:nvSpPr>
          <p:cNvPr id="3" name="Text"/>
          <p:cNvSpPr txBox="1"/>
          <p:nvPr/>
        </p:nvSpPr>
        <p:spPr>
          <a:xfrm>
            <a:off x="566928"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1</a:t>
            </a:r>
            <a:endParaRPr lang="en-US" sz="4400" dirty="0"/>
          </a:p>
        </p:txBody>
      </p:sp>
      <p:sp>
        <p:nvSpPr>
          <p:cNvPr id="4" name="Text"/>
          <p:cNvSpPr txBox="1"/>
          <p:nvPr/>
        </p:nvSpPr>
        <p:spPr>
          <a:xfrm>
            <a:off x="2487168" y="2331720"/>
            <a:ext cx="8778240" cy="365760"/>
          </a:xfrm>
          <a:prstGeom prst="rect">
            <a:avLst/>
          </a:prstGeom>
          <a:noFill/>
          <a:ln/>
        </p:spPr>
        <p:txBody>
          <a:bodyPr wrap="square" lIns="0" tIns="0" rIns="0" bIns="0" rtlCol="0" anchor="t"/>
          <a:lstStyle/>
          <a:p>
            <a:pPr indent="0" marL="0">
              <a:buNone/>
            </a:pPr>
            <a:r>
              <a:rPr lang="en-US" sz="1400" b="1" spc="300" kern="0" dirty="0">
                <a:solidFill>
                  <a:srgbClr val="8FC7C7"/>
                </a:solidFill>
                <a:latin typeface="Arial" pitchFamily="34" charset="0"/>
                <a:ea typeface="Arial" pitchFamily="34" charset="-122"/>
                <a:cs typeface="Arial" pitchFamily="34" charset="-120"/>
              </a:rPr>
              <a:t>PRIMER BLOQUE</a:t>
            </a:r>
            <a:endParaRPr lang="en-US" sz="1400" dirty="0"/>
          </a:p>
        </p:txBody>
      </p:sp>
      <p:sp>
        <p:nvSpPr>
          <p:cNvPr id="5" name="Text"/>
          <p:cNvSpPr txBox="1"/>
          <p:nvPr/>
        </p:nvSpPr>
        <p:spPr>
          <a:xfrm>
            <a:off x="2487168" y="2697480"/>
            <a:ext cx="8961120" cy="1188720"/>
          </a:xfrm>
          <a:prstGeom prst="rect">
            <a:avLst/>
          </a:prstGeom>
          <a:noFill/>
          <a:ln/>
        </p:spPr>
        <p:txBody>
          <a:bodyPr wrap="square" lIns="0" tIns="0" rIns="0" bIns="0" rtlCol="0" anchor="t"/>
          <a:lstStyle/>
          <a:p>
            <a:pPr indent="0" marL="0">
              <a:lnSpc>
                <a:spcPct val="100000"/>
              </a:lnSpc>
              <a:buNone/>
            </a:pPr>
            <a:r>
              <a:rPr lang="en-US" sz="3400" b="1" dirty="0">
                <a:solidFill>
                  <a:srgbClr val="FFFFFF"/>
                </a:solidFill>
                <a:latin typeface="Arial" pitchFamily="34" charset="0"/>
                <a:ea typeface="Arial" pitchFamily="34" charset="-122"/>
                <a:cs typeface="Arial" pitchFamily="34" charset="-120"/>
              </a:rPr>
              <a:t>Cómo se prueba un hallazgo cualitativo</a:t>
            </a:r>
            <a:endParaRPr lang="en-US" sz="3400" dirty="0"/>
          </a:p>
        </p:txBody>
      </p:sp>
      <p:sp>
        <p:nvSpPr>
          <p:cNvPr id="6" name="Shape"/>
          <p:cNvSpPr/>
          <p:nvPr/>
        </p:nvSpPr>
        <p:spPr>
          <a:xfrm>
            <a:off x="9338767" y="457200"/>
            <a:ext cx="2286000" cy="347472"/>
          </a:xfrm>
          <a:prstGeom prst="roundRect">
            <a:avLst>
              <a:gd name="adj" fmla="val 50000"/>
            </a:avLst>
          </a:prstGeom>
          <a:solidFill>
            <a:srgbClr val="24404E"/>
          </a:solidFill>
          <a:ln w="12700">
            <a:solidFill>
              <a:srgbClr val="24404E"/>
            </a:solidFill>
            <a:prstDash val="solid"/>
          </a:ln>
        </p:spPr>
      </p:sp>
      <p:sp>
        <p:nvSpPr>
          <p:cNvPr id="7" name="Text"/>
          <p:cNvSpPr txBox="1"/>
          <p:nvPr/>
        </p:nvSpPr>
        <p:spPr>
          <a:xfrm>
            <a:off x="9338767" y="457200"/>
            <a:ext cx="22860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9:10 a 10:29</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Tres fallas">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Tres cosas fallan entre el documento y el informe</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Cada una ocurre en un punto distinto del camino y se atrapa de otra manera. Confundirlas es lo que hace que una revisión no encuentre nada.</a:t>
            </a:r>
            <a:endParaRPr lang="en-US" sz="1500" dirty="0"/>
          </a:p>
        </p:txBody>
      </p:sp>
      <p:sp>
        <p:nvSpPr>
          <p:cNvPr id="4" name="Shape"/>
          <p:cNvSpPr/>
          <p:nvPr/>
        </p:nvSpPr>
        <p:spPr>
          <a:xfrm>
            <a:off x="835847" y="2420000"/>
            <a:ext cx="2300000" cy="500000"/>
          </a:xfrm>
          <a:prstGeom prst="roundRect">
            <a:avLst>
              <a:gd name="adj" fmla="val 30000"/>
            </a:avLst>
          </a:prstGeom>
          <a:solidFill>
            <a:srgbClr val="16262E"/>
          </a:solidFill>
          <a:ln w="12700">
            <a:solidFill>
              <a:srgbClr val="16262E"/>
            </a:solidFill>
            <a:prstDash val="solid"/>
          </a:ln>
        </p:spPr>
      </p:sp>
      <p:sp>
        <p:nvSpPr>
          <p:cNvPr id="5" name="Text"/>
          <p:cNvSpPr txBox="1"/>
          <p:nvPr/>
        </p:nvSpPr>
        <p:spPr>
          <a:xfrm>
            <a:off x="875847" y="2420000"/>
            <a:ext cx="2220000" cy="500000"/>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Documento</a:t>
            </a:r>
            <a:endParaRPr lang="en-US" sz="1150" dirty="0"/>
          </a:p>
        </p:txBody>
      </p:sp>
      <p:sp>
        <p:nvSpPr>
          <p:cNvPr id="6" name="Text"/>
          <p:cNvSpPr txBox="1"/>
          <p:nvPr/>
        </p:nvSpPr>
        <p:spPr>
          <a:xfrm>
            <a:off x="2705847" y="2120000"/>
            <a:ext cx="1300000" cy="280000"/>
          </a:xfrm>
          <a:prstGeom prst="rect">
            <a:avLst/>
          </a:prstGeom>
          <a:noFill/>
          <a:ln/>
        </p:spPr>
        <p:txBody>
          <a:bodyPr wrap="square" lIns="0" tIns="0" rIns="0" bIns="0" rtlCol="0" anchor="t"/>
          <a:lstStyle/>
          <a:p>
            <a:pPr algn="ctr" indent="0" marL="0">
              <a:buNone/>
            </a:pPr>
            <a:r>
              <a:rPr lang="en-US" sz="1000" b="1" dirty="0">
                <a:solidFill>
                  <a:srgbClr val="C85A28"/>
                </a:solidFill>
                <a:latin typeface="Arial" pitchFamily="34" charset="0"/>
                <a:ea typeface="Arial" pitchFamily="34" charset="-122"/>
                <a:cs typeface="Arial" pitchFamily="34" charset="-120"/>
              </a:rPr>
              <a:t>extracción</a:t>
            </a:r>
            <a:endParaRPr lang="en-US" sz="1000" dirty="0"/>
          </a:p>
        </p:txBody>
      </p:sp>
      <p:sp>
        <p:nvSpPr>
          <p:cNvPr id="7" name="Shape"/>
          <p:cNvSpPr/>
          <p:nvPr/>
        </p:nvSpPr>
        <p:spPr>
          <a:xfrm>
            <a:off x="3225847" y="2560000"/>
            <a:ext cx="260000" cy="220000"/>
          </a:xfrm>
          <a:prstGeom prst="rightArrow">
            <a:avLst/>
          </a:prstGeom>
          <a:solidFill>
            <a:srgbClr val="2E7D7D"/>
          </a:solidFill>
          <a:ln w="12700">
            <a:solidFill>
              <a:srgbClr val="2E7D7D"/>
            </a:solidFill>
            <a:prstDash val="solid"/>
          </a:ln>
        </p:spPr>
      </p:sp>
      <p:sp>
        <p:nvSpPr>
          <p:cNvPr id="8" name="Shape"/>
          <p:cNvSpPr/>
          <p:nvPr/>
        </p:nvSpPr>
        <p:spPr>
          <a:xfrm>
            <a:off x="3575847" y="2420000"/>
            <a:ext cx="2300000" cy="500000"/>
          </a:xfrm>
          <a:prstGeom prst="roundRect">
            <a:avLst>
              <a:gd name="adj" fmla="val 30000"/>
            </a:avLst>
          </a:prstGeom>
          <a:solidFill>
            <a:srgbClr val="16262E"/>
          </a:solidFill>
          <a:ln w="12700">
            <a:solidFill>
              <a:srgbClr val="16262E"/>
            </a:solidFill>
            <a:prstDash val="solid"/>
          </a:ln>
        </p:spPr>
      </p:sp>
      <p:sp>
        <p:nvSpPr>
          <p:cNvPr id="9" name="Text"/>
          <p:cNvSpPr txBox="1"/>
          <p:nvPr/>
        </p:nvSpPr>
        <p:spPr>
          <a:xfrm>
            <a:off x="3615847" y="2420000"/>
            <a:ext cx="2220000" cy="500000"/>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Dato extraído</a:t>
            </a:r>
            <a:endParaRPr lang="en-US" sz="1150" dirty="0"/>
          </a:p>
        </p:txBody>
      </p:sp>
      <p:sp>
        <p:nvSpPr>
          <p:cNvPr id="10" name="Text"/>
          <p:cNvSpPr txBox="1"/>
          <p:nvPr/>
        </p:nvSpPr>
        <p:spPr>
          <a:xfrm>
            <a:off x="5445847" y="2120000"/>
            <a:ext cx="1300000" cy="280000"/>
          </a:xfrm>
          <a:prstGeom prst="rect">
            <a:avLst/>
          </a:prstGeom>
          <a:noFill/>
          <a:ln/>
        </p:spPr>
        <p:txBody>
          <a:bodyPr wrap="square" lIns="0" tIns="0" rIns="0" bIns="0" rtlCol="0" anchor="t"/>
          <a:lstStyle/>
          <a:p>
            <a:pPr algn="ctr" indent="0" marL="0">
              <a:buNone/>
            </a:pPr>
            <a:r>
              <a:rPr lang="en-US" sz="1000" b="1" dirty="0">
                <a:solidFill>
                  <a:srgbClr val="C85A28"/>
                </a:solidFill>
                <a:latin typeface="Arial" pitchFamily="34" charset="0"/>
                <a:ea typeface="Arial" pitchFamily="34" charset="-122"/>
                <a:cs typeface="Arial" pitchFamily="34" charset="-120"/>
              </a:rPr>
              <a:t>atribución</a:t>
            </a:r>
            <a:endParaRPr lang="en-US" sz="1000" dirty="0"/>
          </a:p>
        </p:txBody>
      </p:sp>
      <p:sp>
        <p:nvSpPr>
          <p:cNvPr id="11" name="Shape"/>
          <p:cNvSpPr/>
          <p:nvPr/>
        </p:nvSpPr>
        <p:spPr>
          <a:xfrm>
            <a:off x="5965847" y="2560000"/>
            <a:ext cx="260000" cy="220000"/>
          </a:xfrm>
          <a:prstGeom prst="rightArrow">
            <a:avLst/>
          </a:prstGeom>
          <a:solidFill>
            <a:srgbClr val="2E7D7D"/>
          </a:solidFill>
          <a:ln w="12700">
            <a:solidFill>
              <a:srgbClr val="2E7D7D"/>
            </a:solidFill>
            <a:prstDash val="solid"/>
          </a:ln>
        </p:spPr>
      </p:sp>
      <p:sp>
        <p:nvSpPr>
          <p:cNvPr id="12" name="Shape"/>
          <p:cNvSpPr/>
          <p:nvPr/>
        </p:nvSpPr>
        <p:spPr>
          <a:xfrm>
            <a:off x="6315847" y="2420000"/>
            <a:ext cx="2300000" cy="500000"/>
          </a:xfrm>
          <a:prstGeom prst="roundRect">
            <a:avLst>
              <a:gd name="adj" fmla="val 30000"/>
            </a:avLst>
          </a:prstGeom>
          <a:solidFill>
            <a:srgbClr val="16262E"/>
          </a:solidFill>
          <a:ln w="12700">
            <a:solidFill>
              <a:srgbClr val="16262E"/>
            </a:solidFill>
            <a:prstDash val="solid"/>
          </a:ln>
        </p:spPr>
      </p:sp>
      <p:sp>
        <p:nvSpPr>
          <p:cNvPr id="13" name="Text"/>
          <p:cNvSpPr txBox="1"/>
          <p:nvPr/>
        </p:nvSpPr>
        <p:spPr>
          <a:xfrm>
            <a:off x="6355847" y="2420000"/>
            <a:ext cx="2220000" cy="500000"/>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Afirmación con cita</a:t>
            </a:r>
            <a:endParaRPr lang="en-US" sz="1150" dirty="0"/>
          </a:p>
        </p:txBody>
      </p:sp>
      <p:sp>
        <p:nvSpPr>
          <p:cNvPr id="14" name="Text"/>
          <p:cNvSpPr txBox="1"/>
          <p:nvPr/>
        </p:nvSpPr>
        <p:spPr>
          <a:xfrm>
            <a:off x="8185847" y="2120000"/>
            <a:ext cx="1300000" cy="280000"/>
          </a:xfrm>
          <a:prstGeom prst="rect">
            <a:avLst/>
          </a:prstGeom>
          <a:noFill/>
          <a:ln/>
        </p:spPr>
        <p:txBody>
          <a:bodyPr wrap="square" lIns="0" tIns="0" rIns="0" bIns="0" rtlCol="0" anchor="t"/>
          <a:lstStyle/>
          <a:p>
            <a:pPr algn="ctr" indent="0" marL="0">
              <a:buNone/>
            </a:pPr>
            <a:r>
              <a:rPr lang="en-US" sz="1000" b="1" dirty="0">
                <a:solidFill>
                  <a:srgbClr val="C85A28"/>
                </a:solidFill>
                <a:latin typeface="Arial" pitchFamily="34" charset="0"/>
                <a:ea typeface="Arial" pitchFamily="34" charset="-122"/>
                <a:cs typeface="Arial" pitchFamily="34" charset="-120"/>
              </a:rPr>
              <a:t>generalización</a:t>
            </a:r>
            <a:endParaRPr lang="en-US" sz="1000" dirty="0"/>
          </a:p>
        </p:txBody>
      </p:sp>
      <p:sp>
        <p:nvSpPr>
          <p:cNvPr id="15" name="Shape"/>
          <p:cNvSpPr/>
          <p:nvPr/>
        </p:nvSpPr>
        <p:spPr>
          <a:xfrm>
            <a:off x="8705847" y="2560000"/>
            <a:ext cx="260000" cy="220000"/>
          </a:xfrm>
          <a:prstGeom prst="rightArrow">
            <a:avLst/>
          </a:prstGeom>
          <a:solidFill>
            <a:srgbClr val="2E7D7D"/>
          </a:solidFill>
          <a:ln w="12700">
            <a:solidFill>
              <a:srgbClr val="2E7D7D"/>
            </a:solidFill>
            <a:prstDash val="solid"/>
          </a:ln>
        </p:spPr>
      </p:sp>
      <p:sp>
        <p:nvSpPr>
          <p:cNvPr id="16" name="Shape"/>
          <p:cNvSpPr/>
          <p:nvPr/>
        </p:nvSpPr>
        <p:spPr>
          <a:xfrm>
            <a:off x="9055847" y="2420000"/>
            <a:ext cx="2300000" cy="500000"/>
          </a:xfrm>
          <a:prstGeom prst="roundRect">
            <a:avLst>
              <a:gd name="adj" fmla="val 30000"/>
            </a:avLst>
          </a:prstGeom>
          <a:solidFill>
            <a:srgbClr val="16262E"/>
          </a:solidFill>
          <a:ln w="12700">
            <a:solidFill>
              <a:srgbClr val="16262E"/>
            </a:solidFill>
            <a:prstDash val="solid"/>
          </a:ln>
        </p:spPr>
      </p:sp>
      <p:sp>
        <p:nvSpPr>
          <p:cNvPr id="17" name="Text"/>
          <p:cNvSpPr txBox="1"/>
          <p:nvPr/>
        </p:nvSpPr>
        <p:spPr>
          <a:xfrm>
            <a:off x="9095847" y="2420000"/>
            <a:ext cx="2220000" cy="500000"/>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Síntesis</a:t>
            </a:r>
            <a:endParaRPr lang="en-US" sz="1150" dirty="0"/>
          </a:p>
        </p:txBody>
      </p:sp>
      <p:sp>
        <p:nvSpPr>
          <p:cNvPr id="18" name="Shape"/>
          <p:cNvSpPr/>
          <p:nvPr/>
        </p:nvSpPr>
        <p:spPr>
          <a:xfrm>
            <a:off x="566928" y="3060000"/>
            <a:ext cx="3485946" cy="2200000"/>
          </a:xfrm>
          <a:prstGeom prst="roundRect">
            <a:avLst>
              <a:gd name="adj" fmla="val 2933"/>
            </a:avLst>
          </a:prstGeom>
          <a:solidFill>
            <a:srgbClr val="F2F5F6"/>
          </a:solidFill>
          <a:ln w="12700">
            <a:solidFill>
              <a:srgbClr val="F2F5F6"/>
            </a:solidFill>
            <a:prstDash val="solid"/>
          </a:ln>
        </p:spPr>
      </p:sp>
      <p:sp>
        <p:nvSpPr>
          <p:cNvPr id="19" name="Text"/>
          <p:cNvSpPr txBox="1"/>
          <p:nvPr/>
        </p:nvSpPr>
        <p:spPr>
          <a:xfrm>
            <a:off x="804672" y="3210000"/>
            <a:ext cx="3010458" cy="280000"/>
          </a:xfrm>
          <a:prstGeom prst="rect">
            <a:avLst/>
          </a:prstGeom>
          <a:noFill/>
          <a:ln/>
        </p:spPr>
        <p:txBody>
          <a:bodyPr wrap="square" lIns="0" tIns="0" rIns="0" bIns="0" rtlCol="0" anchor="t"/>
          <a:lstStyle/>
          <a:p>
            <a:pPr indent="0" marL="0">
              <a:buNone/>
            </a:pPr>
            <a:r>
              <a:rPr lang="en-US" sz="1050" b="1" spc="100" kern="0" dirty="0">
                <a:solidFill>
                  <a:srgbClr val="C85A28"/>
                </a:solidFill>
                <a:latin typeface="Arial" pitchFamily="34" charset="0"/>
                <a:ea typeface="Arial" pitchFamily="34" charset="-122"/>
                <a:cs typeface="Arial" pitchFamily="34" charset="-120"/>
              </a:rPr>
              <a:t>FALLA 1</a:t>
            </a:r>
            <a:endParaRPr lang="en-US" sz="1050" dirty="0"/>
          </a:p>
        </p:txBody>
      </p:sp>
      <p:sp>
        <p:nvSpPr>
          <p:cNvPr id="20" name="Text"/>
          <p:cNvSpPr txBox="1"/>
          <p:nvPr/>
        </p:nvSpPr>
        <p:spPr>
          <a:xfrm>
            <a:off x="804672" y="3520000"/>
            <a:ext cx="3010458" cy="320000"/>
          </a:xfrm>
          <a:prstGeom prst="rect">
            <a:avLst/>
          </a:prstGeom>
          <a:noFill/>
          <a:ln/>
        </p:spPr>
        <p:txBody>
          <a:bodyPr wrap="square" lIns="0" tIns="0" rIns="0" bIns="0" rtlCol="0" anchor="t"/>
          <a:lstStyle/>
          <a:p>
            <a:pPr indent="0" marL="0">
              <a:lnSpc>
                <a:spcPct val="100000"/>
              </a:lnSpc>
              <a:buNone/>
            </a:pPr>
            <a:r>
              <a:rPr lang="en-US" sz="1600" b="1" dirty="0">
                <a:solidFill>
                  <a:srgbClr val="16262E"/>
                </a:solidFill>
                <a:latin typeface="Arial" pitchFamily="34" charset="0"/>
                <a:ea typeface="Arial" pitchFamily="34" charset="-122"/>
                <a:cs typeface="Arial" pitchFamily="34" charset="-120"/>
              </a:rPr>
              <a:t>No encontró, o se inventó</a:t>
            </a:r>
            <a:endParaRPr lang="en-US" sz="1600" dirty="0"/>
          </a:p>
        </p:txBody>
      </p:sp>
      <p:sp>
        <p:nvSpPr>
          <p:cNvPr id="21" name="Text"/>
          <p:cNvSpPr txBox="1"/>
          <p:nvPr/>
        </p:nvSpPr>
        <p:spPr>
          <a:xfrm>
            <a:off x="804672" y="3910000"/>
            <a:ext cx="3010458" cy="900000"/>
          </a:xfrm>
          <a:prstGeom prst="rect">
            <a:avLst/>
          </a:prstGeom>
          <a:noFill/>
          <a:ln/>
        </p:spPr>
        <p:txBody>
          <a:bodyPr wrap="square" lIns="0" tIns="0" rIns="0" bIns="0" rtlCol="0" anchor="t"/>
          <a:lstStyle/>
          <a:p>
            <a:pPr indent="0" marL="0">
              <a:lnSpc>
                <a:spcPct val="106000"/>
              </a:lnSpc>
              <a:buNone/>
            </a:pPr>
            <a:r>
              <a:rPr lang="en-US" sz="1250" dirty="0">
                <a:solidFill>
                  <a:srgbClr val="16262E"/>
                </a:solidFill>
                <a:latin typeface="Calibri" pitchFamily="34" charset="0"/>
                <a:ea typeface="Calibri" pitchFamily="34" charset="-122"/>
                <a:cs typeface="Calibri" pitchFamily="34" charset="-120"/>
              </a:rPr>
              <a:t>El asistente omitió un elemento que sí estaba en el documento, o le entregó uno que no existe en ninguna parte.</a:t>
            </a:r>
            <a:endParaRPr lang="en-US" sz="1250" dirty="0"/>
          </a:p>
        </p:txBody>
      </p:sp>
      <p:sp>
        <p:nvSpPr>
          <p:cNvPr id="22" name="Shape"/>
          <p:cNvSpPr/>
          <p:nvPr/>
        </p:nvSpPr>
        <p:spPr>
          <a:xfrm>
            <a:off x="804672" y="4880000"/>
            <a:ext cx="3010458" cy="300000"/>
          </a:xfrm>
          <a:prstGeom prst="roundRect">
            <a:avLst>
              <a:gd name="adj" fmla="val 30000"/>
            </a:avLst>
          </a:prstGeom>
          <a:solidFill>
            <a:srgbClr val="F7E4D8"/>
          </a:solidFill>
          <a:ln w="12700">
            <a:solidFill>
              <a:srgbClr val="F7E4D8"/>
            </a:solidFill>
            <a:prstDash val="solid"/>
          </a:ln>
        </p:spPr>
      </p:sp>
      <p:sp>
        <p:nvSpPr>
          <p:cNvPr id="23" name="Text"/>
          <p:cNvSpPr txBox="1"/>
          <p:nvPr/>
        </p:nvSpPr>
        <p:spPr>
          <a:xfrm>
            <a:off x="804672" y="4880000"/>
            <a:ext cx="3010458" cy="300000"/>
          </a:xfrm>
          <a:prstGeom prst="rect">
            <a:avLst/>
          </a:prstGeom>
          <a:noFill/>
          <a:ln/>
        </p:spPr>
        <p:txBody>
          <a:bodyPr wrap="square" lIns="0" tIns="0" rIns="0" bIns="0" rtlCol="0" anchor="ctr"/>
          <a:lstStyle/>
          <a:p>
            <a:pPr algn="ctr" indent="0" marL="0">
              <a:buNone/>
            </a:pPr>
            <a:r>
              <a:rPr lang="en-US" sz="1050" b="1" dirty="0">
                <a:solidFill>
                  <a:srgbClr val="16262E"/>
                </a:solidFill>
                <a:latin typeface="Arial" pitchFamily="34" charset="0"/>
                <a:ea typeface="Arial" pitchFamily="34" charset="-122"/>
                <a:cs typeface="Arial" pitchFamily="34" charset="-120"/>
              </a:rPr>
              <a:t>Precisión y recuperación</a:t>
            </a:r>
            <a:endParaRPr lang="en-US" sz="1050" dirty="0"/>
          </a:p>
        </p:txBody>
      </p:sp>
      <p:sp>
        <p:nvSpPr>
          <p:cNvPr id="24" name="Shape"/>
          <p:cNvSpPr/>
          <p:nvPr/>
        </p:nvSpPr>
        <p:spPr>
          <a:xfrm>
            <a:off x="4352874" y="3060000"/>
            <a:ext cx="3485946" cy="2200000"/>
          </a:xfrm>
          <a:prstGeom prst="roundRect">
            <a:avLst>
              <a:gd name="adj" fmla="val 2933"/>
            </a:avLst>
          </a:prstGeom>
          <a:solidFill>
            <a:srgbClr val="F2F5F6"/>
          </a:solidFill>
          <a:ln w="12700">
            <a:solidFill>
              <a:srgbClr val="F2F5F6"/>
            </a:solidFill>
            <a:prstDash val="solid"/>
          </a:ln>
        </p:spPr>
      </p:sp>
      <p:sp>
        <p:nvSpPr>
          <p:cNvPr id="25" name="Text"/>
          <p:cNvSpPr txBox="1"/>
          <p:nvPr/>
        </p:nvSpPr>
        <p:spPr>
          <a:xfrm>
            <a:off x="4590618" y="3210000"/>
            <a:ext cx="3010458" cy="280000"/>
          </a:xfrm>
          <a:prstGeom prst="rect">
            <a:avLst/>
          </a:prstGeom>
          <a:noFill/>
          <a:ln/>
        </p:spPr>
        <p:txBody>
          <a:bodyPr wrap="square" lIns="0" tIns="0" rIns="0" bIns="0" rtlCol="0" anchor="t"/>
          <a:lstStyle/>
          <a:p>
            <a:pPr indent="0" marL="0">
              <a:buNone/>
            </a:pPr>
            <a:r>
              <a:rPr lang="en-US" sz="1050" b="1" spc="100" kern="0" dirty="0">
                <a:solidFill>
                  <a:srgbClr val="C85A28"/>
                </a:solidFill>
                <a:latin typeface="Arial" pitchFamily="34" charset="0"/>
                <a:ea typeface="Arial" pitchFamily="34" charset="-122"/>
                <a:cs typeface="Arial" pitchFamily="34" charset="-120"/>
              </a:rPr>
              <a:t>FALLA 2</a:t>
            </a:r>
            <a:endParaRPr lang="en-US" sz="1050" dirty="0"/>
          </a:p>
        </p:txBody>
      </p:sp>
      <p:sp>
        <p:nvSpPr>
          <p:cNvPr id="26" name="Text"/>
          <p:cNvSpPr txBox="1"/>
          <p:nvPr/>
        </p:nvSpPr>
        <p:spPr>
          <a:xfrm>
            <a:off x="4590618" y="3520000"/>
            <a:ext cx="3010458" cy="320000"/>
          </a:xfrm>
          <a:prstGeom prst="rect">
            <a:avLst/>
          </a:prstGeom>
          <a:noFill/>
          <a:ln/>
        </p:spPr>
        <p:txBody>
          <a:bodyPr wrap="square" lIns="0" tIns="0" rIns="0" bIns="0" rtlCol="0" anchor="t"/>
          <a:lstStyle/>
          <a:p>
            <a:pPr indent="0" marL="0">
              <a:lnSpc>
                <a:spcPct val="100000"/>
              </a:lnSpc>
              <a:buNone/>
            </a:pPr>
            <a:r>
              <a:rPr lang="en-US" sz="1600" b="1" dirty="0">
                <a:solidFill>
                  <a:srgbClr val="16262E"/>
                </a:solidFill>
                <a:latin typeface="Arial" pitchFamily="34" charset="0"/>
                <a:ea typeface="Arial" pitchFamily="34" charset="-122"/>
                <a:cs typeface="Arial" pitchFamily="34" charset="-120"/>
              </a:rPr>
              <a:t>La cita no dice eso</a:t>
            </a:r>
            <a:endParaRPr lang="en-US" sz="1600" dirty="0"/>
          </a:p>
        </p:txBody>
      </p:sp>
      <p:sp>
        <p:nvSpPr>
          <p:cNvPr id="27" name="Text"/>
          <p:cNvSpPr txBox="1"/>
          <p:nvPr/>
        </p:nvSpPr>
        <p:spPr>
          <a:xfrm>
            <a:off x="4590618" y="3910000"/>
            <a:ext cx="3010458" cy="900000"/>
          </a:xfrm>
          <a:prstGeom prst="rect">
            <a:avLst/>
          </a:prstGeom>
          <a:noFill/>
          <a:ln/>
        </p:spPr>
        <p:txBody>
          <a:bodyPr wrap="square" lIns="0" tIns="0" rIns="0" bIns="0" rtlCol="0" anchor="t"/>
          <a:lstStyle/>
          <a:p>
            <a:pPr indent="0" marL="0">
              <a:lnSpc>
                <a:spcPct val="106000"/>
              </a:lnSpc>
              <a:buNone/>
            </a:pPr>
            <a:r>
              <a:rPr lang="en-US" sz="1250" dirty="0">
                <a:solidFill>
                  <a:srgbClr val="16262E"/>
                </a:solidFill>
                <a:latin typeface="Calibri" pitchFamily="34" charset="0"/>
                <a:ea typeface="Calibri" pitchFamily="34" charset="-122"/>
                <a:cs typeface="Calibri" pitchFamily="34" charset="-120"/>
              </a:rPr>
              <a:t>La cita es textual y está bien copiada, pero no sostiene lo que la afirmación asegura que sostiene.</a:t>
            </a:r>
            <a:endParaRPr lang="en-US" sz="1250" dirty="0"/>
          </a:p>
        </p:txBody>
      </p:sp>
      <p:sp>
        <p:nvSpPr>
          <p:cNvPr id="28" name="Shape"/>
          <p:cNvSpPr/>
          <p:nvPr/>
        </p:nvSpPr>
        <p:spPr>
          <a:xfrm>
            <a:off x="4590618" y="4880000"/>
            <a:ext cx="3010458" cy="300000"/>
          </a:xfrm>
          <a:prstGeom prst="roundRect">
            <a:avLst>
              <a:gd name="adj" fmla="val 30000"/>
            </a:avLst>
          </a:prstGeom>
          <a:solidFill>
            <a:srgbClr val="F7E4D8"/>
          </a:solidFill>
          <a:ln w="12700">
            <a:solidFill>
              <a:srgbClr val="F7E4D8"/>
            </a:solidFill>
            <a:prstDash val="solid"/>
          </a:ln>
        </p:spPr>
      </p:sp>
      <p:sp>
        <p:nvSpPr>
          <p:cNvPr id="29" name="Text"/>
          <p:cNvSpPr txBox="1"/>
          <p:nvPr/>
        </p:nvSpPr>
        <p:spPr>
          <a:xfrm>
            <a:off x="4590618" y="4880000"/>
            <a:ext cx="3010458" cy="300000"/>
          </a:xfrm>
          <a:prstGeom prst="rect">
            <a:avLst/>
          </a:prstGeom>
          <a:noFill/>
          <a:ln/>
        </p:spPr>
        <p:txBody>
          <a:bodyPr wrap="square" lIns="0" tIns="0" rIns="0" bIns="0" rtlCol="0" anchor="ctr"/>
          <a:lstStyle/>
          <a:p>
            <a:pPr algn="ctr" indent="0" marL="0">
              <a:buNone/>
            </a:pPr>
            <a:r>
              <a:rPr lang="en-US" sz="1050" b="1" dirty="0">
                <a:solidFill>
                  <a:srgbClr val="16262E"/>
                </a:solidFill>
                <a:latin typeface="Arial" pitchFamily="34" charset="0"/>
                <a:ea typeface="Arial" pitchFamily="34" charset="-122"/>
                <a:cs typeface="Arial" pitchFamily="34" charset="-120"/>
              </a:rPr>
              <a:t>Verificar contra la fuente</a:t>
            </a:r>
            <a:endParaRPr lang="en-US" sz="1050" dirty="0"/>
          </a:p>
        </p:txBody>
      </p:sp>
      <p:sp>
        <p:nvSpPr>
          <p:cNvPr id="30" name="Shape"/>
          <p:cNvSpPr/>
          <p:nvPr/>
        </p:nvSpPr>
        <p:spPr>
          <a:xfrm>
            <a:off x="8138820" y="3060000"/>
            <a:ext cx="3485946" cy="2200000"/>
          </a:xfrm>
          <a:prstGeom prst="roundRect">
            <a:avLst>
              <a:gd name="adj" fmla="val 2933"/>
            </a:avLst>
          </a:prstGeom>
          <a:solidFill>
            <a:srgbClr val="F2F5F6"/>
          </a:solidFill>
          <a:ln w="12700">
            <a:solidFill>
              <a:srgbClr val="F2F5F6"/>
            </a:solidFill>
            <a:prstDash val="solid"/>
          </a:ln>
        </p:spPr>
      </p:sp>
      <p:sp>
        <p:nvSpPr>
          <p:cNvPr id="31" name="Text"/>
          <p:cNvSpPr txBox="1"/>
          <p:nvPr/>
        </p:nvSpPr>
        <p:spPr>
          <a:xfrm>
            <a:off x="8376564" y="3210000"/>
            <a:ext cx="3010458" cy="280000"/>
          </a:xfrm>
          <a:prstGeom prst="rect">
            <a:avLst/>
          </a:prstGeom>
          <a:noFill/>
          <a:ln/>
        </p:spPr>
        <p:txBody>
          <a:bodyPr wrap="square" lIns="0" tIns="0" rIns="0" bIns="0" rtlCol="0" anchor="t"/>
          <a:lstStyle/>
          <a:p>
            <a:pPr indent="0" marL="0">
              <a:buNone/>
            </a:pPr>
            <a:r>
              <a:rPr lang="en-US" sz="1050" b="1" spc="100" kern="0" dirty="0">
                <a:solidFill>
                  <a:srgbClr val="C85A28"/>
                </a:solidFill>
                <a:latin typeface="Arial" pitchFamily="34" charset="0"/>
                <a:ea typeface="Arial" pitchFamily="34" charset="-122"/>
                <a:cs typeface="Arial" pitchFamily="34" charset="-120"/>
              </a:rPr>
              <a:t>FALLA 3</a:t>
            </a:r>
            <a:endParaRPr lang="en-US" sz="1050" dirty="0"/>
          </a:p>
        </p:txBody>
      </p:sp>
      <p:sp>
        <p:nvSpPr>
          <p:cNvPr id="32" name="Text"/>
          <p:cNvSpPr txBox="1"/>
          <p:nvPr/>
        </p:nvSpPr>
        <p:spPr>
          <a:xfrm>
            <a:off x="8376564" y="3520000"/>
            <a:ext cx="3010458" cy="320000"/>
          </a:xfrm>
          <a:prstGeom prst="rect">
            <a:avLst/>
          </a:prstGeom>
          <a:noFill/>
          <a:ln/>
        </p:spPr>
        <p:txBody>
          <a:bodyPr wrap="square" lIns="0" tIns="0" rIns="0" bIns="0" rtlCol="0" anchor="t"/>
          <a:lstStyle/>
          <a:p>
            <a:pPr indent="0" marL="0">
              <a:lnSpc>
                <a:spcPct val="100000"/>
              </a:lnSpc>
              <a:buNone/>
            </a:pPr>
            <a:r>
              <a:rPr lang="en-US" sz="1600" b="1" dirty="0">
                <a:solidFill>
                  <a:srgbClr val="16262E"/>
                </a:solidFill>
                <a:latin typeface="Arial" pitchFamily="34" charset="0"/>
                <a:ea typeface="Arial" pitchFamily="34" charset="-122"/>
                <a:cs typeface="Arial" pitchFamily="34" charset="-120"/>
              </a:rPr>
              <a:t>La síntesis dice de más</a:t>
            </a:r>
            <a:endParaRPr lang="en-US" sz="1600" dirty="0"/>
          </a:p>
        </p:txBody>
      </p:sp>
      <p:sp>
        <p:nvSpPr>
          <p:cNvPr id="33" name="Text"/>
          <p:cNvSpPr txBox="1"/>
          <p:nvPr/>
        </p:nvSpPr>
        <p:spPr>
          <a:xfrm>
            <a:off x="8376564" y="3910000"/>
            <a:ext cx="3010458" cy="900000"/>
          </a:xfrm>
          <a:prstGeom prst="rect">
            <a:avLst/>
          </a:prstGeom>
          <a:noFill/>
          <a:ln/>
        </p:spPr>
        <p:txBody>
          <a:bodyPr wrap="square" lIns="0" tIns="0" rIns="0" bIns="0" rtlCol="0" anchor="t"/>
          <a:lstStyle/>
          <a:p>
            <a:pPr indent="0" marL="0">
              <a:lnSpc>
                <a:spcPct val="106000"/>
              </a:lnSpc>
              <a:buNone/>
            </a:pPr>
            <a:r>
              <a:rPr lang="en-US" sz="1250" dirty="0">
                <a:solidFill>
                  <a:srgbClr val="16262E"/>
                </a:solidFill>
                <a:latin typeface="Calibri" pitchFamily="34" charset="0"/>
                <a:ea typeface="Calibri" pitchFamily="34" charset="-122"/>
                <a:cs typeface="Calibri" pitchFamily="34" charset="-120"/>
              </a:rPr>
              <a:t>Al redactar aparecen afirmaciones que la matriz no respalda. Suele sonar mejor que lo que sí está respaldado.</a:t>
            </a:r>
            <a:endParaRPr lang="en-US" sz="1250" dirty="0"/>
          </a:p>
        </p:txBody>
      </p:sp>
      <p:sp>
        <p:nvSpPr>
          <p:cNvPr id="34" name="Shape"/>
          <p:cNvSpPr/>
          <p:nvPr/>
        </p:nvSpPr>
        <p:spPr>
          <a:xfrm>
            <a:off x="8376564" y="4880000"/>
            <a:ext cx="3010458" cy="300000"/>
          </a:xfrm>
          <a:prstGeom prst="roundRect">
            <a:avLst>
              <a:gd name="adj" fmla="val 30000"/>
            </a:avLst>
          </a:prstGeom>
          <a:solidFill>
            <a:srgbClr val="F7E4D8"/>
          </a:solidFill>
          <a:ln w="12700">
            <a:solidFill>
              <a:srgbClr val="F7E4D8"/>
            </a:solidFill>
            <a:prstDash val="solid"/>
          </a:ln>
        </p:spPr>
      </p:sp>
      <p:sp>
        <p:nvSpPr>
          <p:cNvPr id="35" name="Text"/>
          <p:cNvSpPr txBox="1"/>
          <p:nvPr/>
        </p:nvSpPr>
        <p:spPr>
          <a:xfrm>
            <a:off x="8376564" y="4880000"/>
            <a:ext cx="3010458" cy="300000"/>
          </a:xfrm>
          <a:prstGeom prst="rect">
            <a:avLst/>
          </a:prstGeom>
          <a:noFill/>
          <a:ln/>
        </p:spPr>
        <p:txBody>
          <a:bodyPr wrap="square" lIns="0" tIns="0" rIns="0" bIns="0" rtlCol="0" anchor="ctr"/>
          <a:lstStyle/>
          <a:p>
            <a:pPr algn="ctr" indent="0" marL="0">
              <a:buNone/>
            </a:pPr>
            <a:r>
              <a:rPr lang="en-US" sz="1050" b="1" dirty="0">
                <a:solidFill>
                  <a:srgbClr val="16262E"/>
                </a:solidFill>
                <a:latin typeface="Arial" pitchFamily="34" charset="0"/>
                <a:ea typeface="Arial" pitchFamily="34" charset="-122"/>
                <a:cs typeface="Arial" pitchFamily="34" charset="-120"/>
              </a:rPr>
              <a:t>Cada frase contra la matriz</a:t>
            </a:r>
            <a:endParaRPr lang="en-US" sz="1050" dirty="0"/>
          </a:p>
        </p:txBody>
      </p:sp>
      <p:sp>
        <p:nvSpPr>
          <p:cNvPr id="36" name="Shape"/>
          <p:cNvSpPr/>
          <p:nvPr/>
        </p:nvSpPr>
        <p:spPr>
          <a:xfrm>
            <a:off x="566928" y="5420000"/>
            <a:ext cx="11057839" cy="700000"/>
          </a:xfrm>
          <a:prstGeom prst="roundRect">
            <a:avLst>
              <a:gd name="adj" fmla="val 8235"/>
            </a:avLst>
          </a:prstGeom>
          <a:solidFill>
            <a:srgbClr val="F7E4D8"/>
          </a:solidFill>
          <a:ln w="12700">
            <a:solidFill>
              <a:srgbClr val="F7E4D8"/>
            </a:solidFill>
            <a:prstDash val="solid"/>
          </a:ln>
        </p:spPr>
      </p:sp>
      <p:sp>
        <p:nvSpPr>
          <p:cNvPr id="37" name="Text"/>
          <p:cNvSpPr txBox="1"/>
          <p:nvPr/>
        </p:nvSpPr>
        <p:spPr>
          <a:xfrm>
            <a:off x="804672" y="5420000"/>
            <a:ext cx="10582351" cy="70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Las tres se ven igual en el informe terminado: una oración con una cita al lado. Por eso la revisión se hace al revés, del informe hacia el documento, y nunca leyendo el informe de corrido.</a:t>
            </a:r>
            <a:endParaRPr lang="en-US" sz="1300" dirty="0"/>
          </a:p>
        </p:txBody>
      </p:sp>
      <p:sp>
        <p:nvSpPr>
          <p:cNvPr id="38" name="Text"/>
          <p:cNvSpPr txBox="1"/>
          <p:nvPr/>
        </p:nvSpPr>
        <p:spPr>
          <a:xfrm>
            <a:off x="566928" y="625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La cadena y sus tres puntos de falla son del curso. Cada medida tiene su fuente en la lámina que le corresponde y en la lámina de fuentes.</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Precision y recuperacion">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Extracción: precisión y recuperación, con el artículo 9</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El artículo 9 lista cinco requisitos documentales y prohíbe exigir cualquier otro.</a:t>
            </a:r>
            <a:endParaRPr lang="en-US" sz="1500" dirty="0"/>
          </a:p>
        </p:txBody>
      </p:sp>
      <p:sp>
        <p:nvSpPr>
          <p:cNvPr id="4" name="Shape"/>
          <p:cNvSpPr/>
          <p:nvPr/>
        </p:nvSpPr>
        <p:spPr>
          <a:xfrm>
            <a:off x="566928" y="1700000"/>
            <a:ext cx="11057839" cy="300000"/>
          </a:xfrm>
          <a:prstGeom prst="roundRect">
            <a:avLst>
              <a:gd name="adj" fmla="val 20000"/>
            </a:avLst>
          </a:prstGeom>
          <a:solidFill>
            <a:srgbClr val="D7E7E7"/>
          </a:solidFill>
          <a:ln w="12700">
            <a:solidFill>
              <a:srgbClr val="D7E7E7"/>
            </a:solidFill>
            <a:prstDash val="solid"/>
          </a:ln>
        </p:spPr>
      </p:sp>
      <p:sp>
        <p:nvSpPr>
          <p:cNvPr id="5" name="Text"/>
          <p:cNvSpPr txBox="1"/>
          <p:nvPr/>
        </p:nvSpPr>
        <p:spPr>
          <a:xfrm>
            <a:off x="766928" y="1700000"/>
            <a:ext cx="1700000" cy="300000"/>
          </a:xfrm>
          <a:prstGeom prst="rect">
            <a:avLst/>
          </a:prstGeom>
          <a:noFill/>
          <a:ln/>
        </p:spPr>
        <p:txBody>
          <a:bodyPr wrap="square" lIns="0" tIns="0" rIns="0" bIns="0" rtlCol="0" anchor="ctr"/>
          <a:lstStyle/>
          <a:p>
            <a:pPr indent="0" marL="0">
              <a:buNone/>
            </a:pPr>
            <a:r>
              <a:rPr lang="en-US" sz="950" b="1" spc="100" kern="0" dirty="0">
                <a:solidFill>
                  <a:srgbClr val="2E7D7D"/>
                </a:solidFill>
                <a:latin typeface="Arial" pitchFamily="34" charset="0"/>
                <a:ea typeface="Arial" pitchFamily="34" charset="-122"/>
                <a:cs typeface="Arial" pitchFamily="34" charset="-120"/>
              </a:rPr>
              <a:t>DE DÓNDE SALE</a:t>
            </a:r>
            <a:endParaRPr lang="en-US" sz="950" dirty="0"/>
          </a:p>
        </p:txBody>
      </p:sp>
      <p:sp>
        <p:nvSpPr>
          <p:cNvPr id="6" name="Text"/>
          <p:cNvSpPr txBox="1"/>
          <p:nvPr/>
        </p:nvSpPr>
        <p:spPr>
          <a:xfrm>
            <a:off x="2516928" y="1700000"/>
            <a:ext cx="8907839" cy="300000"/>
          </a:xfrm>
          <a:prstGeom prst="rect">
            <a:avLst/>
          </a:prstGeom>
          <a:noFill/>
          <a:ln/>
        </p:spPr>
        <p:txBody>
          <a:bodyPr wrap="square" lIns="0" tIns="0" rIns="0" bIns="0" rtlCol="0" anchor="ctr"/>
          <a:lstStyle/>
          <a:p>
            <a:pPr indent="0" marL="0">
              <a:buNone/>
            </a:pPr>
            <a:r>
              <a:rPr lang="en-US" sz="1100" dirty="0">
                <a:solidFill>
                  <a:srgbClr val="16262E"/>
                </a:solidFill>
                <a:latin typeface="Calibri" pitchFamily="34" charset="0"/>
                <a:ea typeface="Calibri" pitchFamily="34" charset="-122"/>
                <a:cs typeface="Calibri" pitchFamily="34" charset="-120"/>
              </a:rPr>
              <a:t>Reglas de Operación del PACC 2025, artículo 9, en el marco normativo común de Expedientes_LAB2.docx.</a:t>
            </a:r>
            <a:endParaRPr lang="en-US" sz="1100" dirty="0"/>
          </a:p>
        </p:txBody>
      </p:sp>
      <p:sp>
        <p:nvSpPr>
          <p:cNvPr id="7" name="Text"/>
          <p:cNvSpPr txBox="1"/>
          <p:nvPr/>
        </p:nvSpPr>
        <p:spPr>
          <a:xfrm>
            <a:off x="566928" y="2100000"/>
            <a:ext cx="11057839" cy="260000"/>
          </a:xfrm>
          <a:prstGeom prst="rect">
            <a:avLst/>
          </a:prstGeom>
          <a:noFill/>
          <a:ln/>
        </p:spPr>
        <p:txBody>
          <a:bodyPr wrap="square" lIns="0" tIns="0" rIns="0" bIns="0" rtlCol="0" anchor="t"/>
          <a:lstStyle/>
          <a:p>
            <a:pPr indent="0" marL="0">
              <a:buNone/>
            </a:pPr>
            <a:r>
              <a:rPr lang="en-US" sz="1100" b="1" spc="100" kern="0" dirty="0">
                <a:solidFill>
                  <a:srgbClr val="2E7D7D"/>
                </a:solidFill>
                <a:latin typeface="Arial" pitchFamily="34" charset="0"/>
                <a:ea typeface="Arial" pitchFamily="34" charset="-122"/>
                <a:cs typeface="Arial" pitchFamily="34" charset="-120"/>
              </a:rPr>
              <a:t>LO QUE DEVOLVIÓ EL ASISTENTE</a:t>
            </a:r>
            <a:endParaRPr lang="en-US" sz="1100" dirty="0"/>
          </a:p>
        </p:txBody>
      </p:sp>
      <p:sp>
        <p:nvSpPr>
          <p:cNvPr id="8" name="Shape"/>
          <p:cNvSpPr/>
          <p:nvPr/>
        </p:nvSpPr>
        <p:spPr>
          <a:xfrm>
            <a:off x="566928" y="2370000"/>
            <a:ext cx="1480000" cy="580000"/>
          </a:xfrm>
          <a:prstGeom prst="roundRect">
            <a:avLst>
              <a:gd name="adj" fmla="val 12000"/>
            </a:avLst>
          </a:prstGeom>
          <a:solidFill>
            <a:srgbClr val="D7E7E7"/>
          </a:solidFill>
          <a:ln w="12700">
            <a:solidFill>
              <a:srgbClr val="D7E7E7"/>
            </a:solidFill>
            <a:prstDash val="solid"/>
          </a:ln>
        </p:spPr>
      </p:sp>
      <p:sp>
        <p:nvSpPr>
          <p:cNvPr id="9" name="Text"/>
          <p:cNvSpPr txBox="1"/>
          <p:nvPr/>
        </p:nvSpPr>
        <p:spPr>
          <a:xfrm>
            <a:off x="636928" y="2370000"/>
            <a:ext cx="1340000" cy="58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Identificación oficial</a:t>
            </a:r>
            <a:endParaRPr lang="en-US" sz="1000" dirty="0"/>
          </a:p>
        </p:txBody>
      </p:sp>
      <p:sp>
        <p:nvSpPr>
          <p:cNvPr id="10" name="Shape"/>
          <p:cNvSpPr/>
          <p:nvPr/>
        </p:nvSpPr>
        <p:spPr>
          <a:xfrm>
            <a:off x="2166928" y="2370000"/>
            <a:ext cx="1480000" cy="580000"/>
          </a:xfrm>
          <a:prstGeom prst="roundRect">
            <a:avLst>
              <a:gd name="adj" fmla="val 12000"/>
            </a:avLst>
          </a:prstGeom>
          <a:solidFill>
            <a:srgbClr val="D7E7E7"/>
          </a:solidFill>
          <a:ln w="12700">
            <a:solidFill>
              <a:srgbClr val="D7E7E7"/>
            </a:solidFill>
            <a:prstDash val="solid"/>
          </a:ln>
        </p:spPr>
      </p:sp>
      <p:sp>
        <p:nvSpPr>
          <p:cNvPr id="11" name="Text"/>
          <p:cNvSpPr txBox="1"/>
          <p:nvPr/>
        </p:nvSpPr>
        <p:spPr>
          <a:xfrm>
            <a:off x="2236928" y="2370000"/>
            <a:ext cx="1340000" cy="58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CURP de la persona cuidadora</a:t>
            </a:r>
            <a:endParaRPr lang="en-US" sz="1000" dirty="0"/>
          </a:p>
        </p:txBody>
      </p:sp>
      <p:sp>
        <p:nvSpPr>
          <p:cNvPr id="12" name="Shape"/>
          <p:cNvSpPr/>
          <p:nvPr/>
        </p:nvSpPr>
        <p:spPr>
          <a:xfrm>
            <a:off x="3766928" y="2370000"/>
            <a:ext cx="1480000" cy="580000"/>
          </a:xfrm>
          <a:prstGeom prst="roundRect">
            <a:avLst>
              <a:gd name="adj" fmla="val 12000"/>
            </a:avLst>
          </a:prstGeom>
          <a:solidFill>
            <a:srgbClr val="D7E7E7"/>
          </a:solidFill>
          <a:ln w="12700">
            <a:solidFill>
              <a:srgbClr val="D7E7E7"/>
            </a:solidFill>
            <a:prstDash val="solid"/>
          </a:ln>
        </p:spPr>
      </p:sp>
      <p:sp>
        <p:nvSpPr>
          <p:cNvPr id="13" name="Text"/>
          <p:cNvSpPr txBox="1"/>
          <p:nvPr/>
        </p:nvSpPr>
        <p:spPr>
          <a:xfrm>
            <a:off x="3836928" y="2370000"/>
            <a:ext cx="1340000" cy="58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Comprobante de domicilio</a:t>
            </a:r>
            <a:endParaRPr lang="en-US" sz="1000" dirty="0"/>
          </a:p>
        </p:txBody>
      </p:sp>
      <p:sp>
        <p:nvSpPr>
          <p:cNvPr id="14" name="Shape"/>
          <p:cNvSpPr/>
          <p:nvPr/>
        </p:nvSpPr>
        <p:spPr>
          <a:xfrm>
            <a:off x="5366928" y="2370000"/>
            <a:ext cx="1480000" cy="580000"/>
          </a:xfrm>
          <a:prstGeom prst="roundRect">
            <a:avLst>
              <a:gd name="adj" fmla="val 12000"/>
            </a:avLst>
          </a:prstGeom>
          <a:solidFill>
            <a:srgbClr val="D7E7E7"/>
          </a:solidFill>
          <a:ln w="12700">
            <a:solidFill>
              <a:srgbClr val="D7E7E7"/>
            </a:solidFill>
            <a:prstDash val="solid"/>
          </a:ln>
        </p:spPr>
      </p:sp>
      <p:sp>
        <p:nvSpPr>
          <p:cNvPr id="15" name="Text"/>
          <p:cNvSpPr txBox="1"/>
          <p:nvPr/>
        </p:nvSpPr>
        <p:spPr>
          <a:xfrm>
            <a:off x="5436928" y="2370000"/>
            <a:ext cx="1340000" cy="58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Acta de nacimiento</a:t>
            </a:r>
            <a:endParaRPr lang="en-US" sz="1000" dirty="0"/>
          </a:p>
        </p:txBody>
      </p:sp>
      <p:sp>
        <p:nvSpPr>
          <p:cNvPr id="16" name="Shape"/>
          <p:cNvSpPr/>
          <p:nvPr/>
        </p:nvSpPr>
        <p:spPr>
          <a:xfrm>
            <a:off x="6966928" y="2370000"/>
            <a:ext cx="1480000" cy="580000"/>
          </a:xfrm>
          <a:prstGeom prst="roundRect">
            <a:avLst>
              <a:gd name="adj" fmla="val 12000"/>
            </a:avLst>
          </a:prstGeom>
          <a:solidFill>
            <a:srgbClr val="D7E7E7"/>
          </a:solidFill>
          <a:ln w="12700">
            <a:solidFill>
              <a:srgbClr val="D7E7E7"/>
            </a:solidFill>
            <a:prstDash val="solid"/>
          </a:ln>
        </p:spPr>
      </p:sp>
      <p:sp>
        <p:nvSpPr>
          <p:cNvPr id="17" name="Text"/>
          <p:cNvSpPr txBox="1"/>
          <p:nvPr/>
        </p:nvSpPr>
        <p:spPr>
          <a:xfrm>
            <a:off x="7036928" y="2370000"/>
            <a:ext cx="1340000" cy="58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Constancia médica</a:t>
            </a:r>
            <a:endParaRPr lang="en-US" sz="1000" dirty="0"/>
          </a:p>
        </p:txBody>
      </p:sp>
      <p:sp>
        <p:nvSpPr>
          <p:cNvPr id="18" name="Shape"/>
          <p:cNvSpPr/>
          <p:nvPr/>
        </p:nvSpPr>
        <p:spPr>
          <a:xfrm>
            <a:off x="8566928" y="2370000"/>
            <a:ext cx="1480000" cy="580000"/>
          </a:xfrm>
          <a:prstGeom prst="roundRect">
            <a:avLst>
              <a:gd name="adj" fmla="val 12000"/>
            </a:avLst>
          </a:prstGeom>
          <a:solidFill>
            <a:srgbClr val="F7E4D8"/>
          </a:solidFill>
          <a:ln w="12700">
            <a:solidFill>
              <a:srgbClr val="F7E4D8"/>
            </a:solidFill>
            <a:prstDash val="solid"/>
          </a:ln>
        </p:spPr>
      </p:sp>
      <p:sp>
        <p:nvSpPr>
          <p:cNvPr id="19" name="Text"/>
          <p:cNvSpPr txBox="1"/>
          <p:nvPr/>
        </p:nvSpPr>
        <p:spPr>
          <a:xfrm>
            <a:off x="8636928" y="2370000"/>
            <a:ext cx="1340000" cy="580000"/>
          </a:xfrm>
          <a:prstGeom prst="rect">
            <a:avLst/>
          </a:prstGeom>
          <a:noFill/>
          <a:ln/>
        </p:spPr>
        <p:txBody>
          <a:bodyPr wrap="square" lIns="0" tIns="0" rIns="0" bIns="0" rtlCol="0" anchor="ctr"/>
          <a:lstStyle/>
          <a:p>
            <a:pPr algn="ctr" indent="0" marL="0">
              <a:lnSpc>
                <a:spcPct val="100000"/>
              </a:lnSpc>
              <a:buNone/>
            </a:pPr>
            <a:r>
              <a:rPr lang="en-US" sz="1000" b="1" dirty="0">
                <a:solidFill>
                  <a:srgbClr val="C85A28"/>
                </a:solidFill>
                <a:latin typeface="Arial" pitchFamily="34" charset="0"/>
                <a:ea typeface="Arial" pitchFamily="34" charset="-122"/>
                <a:cs typeface="Arial" pitchFamily="34" charset="-120"/>
              </a:rPr>
              <a:t>CURP de quien requiere cuidados</a:t>
            </a:r>
            <a:endParaRPr lang="en-US" sz="1000" dirty="0"/>
          </a:p>
        </p:txBody>
      </p:sp>
      <p:sp>
        <p:nvSpPr>
          <p:cNvPr id="20" name="Text"/>
          <p:cNvSpPr txBox="1"/>
          <p:nvPr/>
        </p:nvSpPr>
        <p:spPr>
          <a:xfrm>
            <a:off x="566928" y="3010000"/>
            <a:ext cx="11057839" cy="260000"/>
          </a:xfrm>
          <a:prstGeom prst="rect">
            <a:avLst/>
          </a:prstGeom>
          <a:noFill/>
          <a:ln/>
        </p:spPr>
        <p:txBody>
          <a:bodyPr wrap="square" lIns="0" tIns="0" rIns="0" bIns="0" rtlCol="0" anchor="t"/>
          <a:lstStyle/>
          <a:p>
            <a:pPr indent="0" marL="0">
              <a:buNone/>
            </a:pPr>
            <a:r>
              <a:rPr lang="en-US" sz="1100" i="1" dirty="0">
                <a:solidFill>
                  <a:srgbClr val="5A6B73"/>
                </a:solidFill>
                <a:latin typeface="Calibri" pitchFamily="34" charset="0"/>
                <a:ea typeface="Calibri" pitchFamily="34" charset="-122"/>
                <a:cs typeface="Calibri" pitchFamily="34" charset="-120"/>
              </a:rPr>
              <a:t>El sexto no está en el artículo 9. Aparece porque la norma pide la CURP de una persona y el acta de nacimiento de la otra, y el asistente completó la simetría.</a:t>
            </a:r>
            <a:endParaRPr lang="en-US" sz="1100" dirty="0"/>
          </a:p>
        </p:txBody>
      </p:sp>
      <p:sp>
        <p:nvSpPr>
          <p:cNvPr id="21" name="Text"/>
          <p:cNvSpPr txBox="1"/>
          <p:nvPr/>
        </p:nvSpPr>
        <p:spPr>
          <a:xfrm>
            <a:off x="566928" y="3330000"/>
            <a:ext cx="11057839" cy="260000"/>
          </a:xfrm>
          <a:prstGeom prst="rect">
            <a:avLst/>
          </a:prstGeom>
          <a:noFill/>
          <a:ln/>
        </p:spPr>
        <p:txBody>
          <a:bodyPr wrap="square" lIns="0" tIns="0" rIns="0" bIns="0" rtlCol="0" anchor="t"/>
          <a:lstStyle/>
          <a:p>
            <a:pPr indent="0" marL="0">
              <a:buNone/>
            </a:pPr>
            <a:r>
              <a:rPr lang="en-US" sz="1100" b="1" spc="100" kern="0" dirty="0">
                <a:solidFill>
                  <a:srgbClr val="2E7D7D"/>
                </a:solidFill>
                <a:latin typeface="Arial" pitchFamily="34" charset="0"/>
                <a:ea typeface="Arial" pitchFamily="34" charset="-122"/>
                <a:cs typeface="Arial" pitchFamily="34" charset="-120"/>
              </a:rPr>
              <a:t>LO QUE PIDE EL ARTÍCULO 9</a:t>
            </a:r>
            <a:endParaRPr lang="en-US" sz="1100" dirty="0"/>
          </a:p>
        </p:txBody>
      </p:sp>
      <p:sp>
        <p:nvSpPr>
          <p:cNvPr id="22" name="Shape"/>
          <p:cNvSpPr/>
          <p:nvPr/>
        </p:nvSpPr>
        <p:spPr>
          <a:xfrm>
            <a:off x="566928" y="3600000"/>
            <a:ext cx="1480000" cy="580000"/>
          </a:xfrm>
          <a:prstGeom prst="roundRect">
            <a:avLst>
              <a:gd name="adj" fmla="val 12000"/>
            </a:avLst>
          </a:prstGeom>
          <a:solidFill>
            <a:srgbClr val="D7E7E7"/>
          </a:solidFill>
          <a:ln w="12700">
            <a:solidFill>
              <a:srgbClr val="D7E7E7"/>
            </a:solidFill>
            <a:prstDash val="solid"/>
          </a:ln>
        </p:spPr>
      </p:sp>
      <p:sp>
        <p:nvSpPr>
          <p:cNvPr id="23" name="Text"/>
          <p:cNvSpPr txBox="1"/>
          <p:nvPr/>
        </p:nvSpPr>
        <p:spPr>
          <a:xfrm>
            <a:off x="636928" y="3600000"/>
            <a:ext cx="1340000" cy="58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Identificación oficial</a:t>
            </a:r>
            <a:endParaRPr lang="en-US" sz="1000" dirty="0"/>
          </a:p>
        </p:txBody>
      </p:sp>
      <p:sp>
        <p:nvSpPr>
          <p:cNvPr id="24" name="Shape"/>
          <p:cNvSpPr/>
          <p:nvPr/>
        </p:nvSpPr>
        <p:spPr>
          <a:xfrm>
            <a:off x="2166928" y="3600000"/>
            <a:ext cx="1480000" cy="580000"/>
          </a:xfrm>
          <a:prstGeom prst="roundRect">
            <a:avLst>
              <a:gd name="adj" fmla="val 12000"/>
            </a:avLst>
          </a:prstGeom>
          <a:solidFill>
            <a:srgbClr val="D7E7E7"/>
          </a:solidFill>
          <a:ln w="12700">
            <a:solidFill>
              <a:srgbClr val="D7E7E7"/>
            </a:solidFill>
            <a:prstDash val="solid"/>
          </a:ln>
        </p:spPr>
      </p:sp>
      <p:sp>
        <p:nvSpPr>
          <p:cNvPr id="25" name="Text"/>
          <p:cNvSpPr txBox="1"/>
          <p:nvPr/>
        </p:nvSpPr>
        <p:spPr>
          <a:xfrm>
            <a:off x="2236928" y="3600000"/>
            <a:ext cx="1340000" cy="58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CURP de la persona cuidadora</a:t>
            </a:r>
            <a:endParaRPr lang="en-US" sz="1000" dirty="0"/>
          </a:p>
        </p:txBody>
      </p:sp>
      <p:sp>
        <p:nvSpPr>
          <p:cNvPr id="26" name="Shape"/>
          <p:cNvSpPr/>
          <p:nvPr/>
        </p:nvSpPr>
        <p:spPr>
          <a:xfrm>
            <a:off x="3766928" y="3600000"/>
            <a:ext cx="1480000" cy="580000"/>
          </a:xfrm>
          <a:prstGeom prst="roundRect">
            <a:avLst>
              <a:gd name="adj" fmla="val 12000"/>
            </a:avLst>
          </a:prstGeom>
          <a:solidFill>
            <a:srgbClr val="D7E7E7"/>
          </a:solidFill>
          <a:ln w="12700">
            <a:solidFill>
              <a:srgbClr val="D7E7E7"/>
            </a:solidFill>
            <a:prstDash val="solid"/>
          </a:ln>
        </p:spPr>
      </p:sp>
      <p:sp>
        <p:nvSpPr>
          <p:cNvPr id="27" name="Text"/>
          <p:cNvSpPr txBox="1"/>
          <p:nvPr/>
        </p:nvSpPr>
        <p:spPr>
          <a:xfrm>
            <a:off x="3836928" y="3600000"/>
            <a:ext cx="1340000" cy="58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Comprobante de domicilio</a:t>
            </a:r>
            <a:endParaRPr lang="en-US" sz="1000" dirty="0"/>
          </a:p>
        </p:txBody>
      </p:sp>
      <p:sp>
        <p:nvSpPr>
          <p:cNvPr id="28" name="Shape"/>
          <p:cNvSpPr/>
          <p:nvPr/>
        </p:nvSpPr>
        <p:spPr>
          <a:xfrm>
            <a:off x="5366928" y="3600000"/>
            <a:ext cx="1480000" cy="580000"/>
          </a:xfrm>
          <a:prstGeom prst="roundRect">
            <a:avLst>
              <a:gd name="adj" fmla="val 12000"/>
            </a:avLst>
          </a:prstGeom>
          <a:solidFill>
            <a:srgbClr val="D7E7E7"/>
          </a:solidFill>
          <a:ln w="12700">
            <a:solidFill>
              <a:srgbClr val="D7E7E7"/>
            </a:solidFill>
            <a:prstDash val="solid"/>
          </a:ln>
        </p:spPr>
      </p:sp>
      <p:sp>
        <p:nvSpPr>
          <p:cNvPr id="29" name="Text"/>
          <p:cNvSpPr txBox="1"/>
          <p:nvPr/>
        </p:nvSpPr>
        <p:spPr>
          <a:xfrm>
            <a:off x="5436928" y="3600000"/>
            <a:ext cx="1340000" cy="58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Acta de nacimiento</a:t>
            </a:r>
            <a:endParaRPr lang="en-US" sz="1000" dirty="0"/>
          </a:p>
        </p:txBody>
      </p:sp>
      <p:sp>
        <p:nvSpPr>
          <p:cNvPr id="30" name="Shape"/>
          <p:cNvSpPr/>
          <p:nvPr/>
        </p:nvSpPr>
        <p:spPr>
          <a:xfrm>
            <a:off x="6966928" y="3600000"/>
            <a:ext cx="1480000" cy="580000"/>
          </a:xfrm>
          <a:prstGeom prst="roundRect">
            <a:avLst>
              <a:gd name="adj" fmla="val 12000"/>
            </a:avLst>
          </a:prstGeom>
          <a:solidFill>
            <a:srgbClr val="D7E7E7"/>
          </a:solidFill>
          <a:ln w="12700">
            <a:solidFill>
              <a:srgbClr val="D7E7E7"/>
            </a:solidFill>
            <a:prstDash val="solid"/>
          </a:ln>
        </p:spPr>
      </p:sp>
      <p:sp>
        <p:nvSpPr>
          <p:cNvPr id="31" name="Text"/>
          <p:cNvSpPr txBox="1"/>
          <p:nvPr/>
        </p:nvSpPr>
        <p:spPr>
          <a:xfrm>
            <a:off x="7036928" y="3600000"/>
            <a:ext cx="1340000" cy="58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Constancia médica</a:t>
            </a:r>
            <a:endParaRPr lang="en-US" sz="1000" dirty="0"/>
          </a:p>
        </p:txBody>
      </p:sp>
      <p:sp>
        <p:nvSpPr>
          <p:cNvPr id="32" name="Shape"/>
          <p:cNvSpPr/>
          <p:nvPr/>
        </p:nvSpPr>
        <p:spPr>
          <a:xfrm>
            <a:off x="566928" y="4300000"/>
            <a:ext cx="3525946" cy="1080000"/>
          </a:xfrm>
          <a:prstGeom prst="roundRect">
            <a:avLst>
              <a:gd name="adj" fmla="val 2933"/>
            </a:avLst>
          </a:prstGeom>
          <a:solidFill>
            <a:srgbClr val="F2F5F6"/>
          </a:solidFill>
          <a:ln w="12700">
            <a:solidFill>
              <a:srgbClr val="F2F5F6"/>
            </a:solidFill>
            <a:prstDash val="solid"/>
          </a:ln>
        </p:spPr>
      </p:sp>
      <p:sp>
        <p:nvSpPr>
          <p:cNvPr id="33" name="Text"/>
          <p:cNvSpPr txBox="1"/>
          <p:nvPr/>
        </p:nvSpPr>
        <p:spPr>
          <a:xfrm>
            <a:off x="804672" y="4420000"/>
            <a:ext cx="3050458" cy="300000"/>
          </a:xfrm>
          <a:prstGeom prst="rect">
            <a:avLst/>
          </a:prstGeom>
          <a:noFill/>
          <a:ln/>
        </p:spPr>
        <p:txBody>
          <a:bodyPr wrap="square" lIns="0" tIns="0" rIns="0" bIns="0" rtlCol="0" anchor="t"/>
          <a:lstStyle/>
          <a:p>
            <a:pPr indent="0" marL="0">
              <a:buNone/>
            </a:pPr>
            <a:r>
              <a:rPr lang="en-US" sz="1450" b="1" dirty="0">
                <a:solidFill>
                  <a:srgbClr val="16262E"/>
                </a:solidFill>
                <a:latin typeface="Arial" pitchFamily="34" charset="0"/>
                <a:ea typeface="Arial" pitchFamily="34" charset="-122"/>
                <a:cs typeface="Arial" pitchFamily="34" charset="-120"/>
              </a:rPr>
              <a:t>Precisión</a:t>
            </a:r>
            <a:endParaRPr lang="en-US" sz="1450" dirty="0"/>
          </a:p>
        </p:txBody>
      </p:sp>
      <p:sp>
        <p:nvSpPr>
          <p:cNvPr id="34" name="Text"/>
          <p:cNvSpPr txBox="1"/>
          <p:nvPr/>
        </p:nvSpPr>
        <p:spPr>
          <a:xfrm>
            <a:off x="804672" y="4720000"/>
            <a:ext cx="3050458" cy="300000"/>
          </a:xfrm>
          <a:prstGeom prst="rect">
            <a:avLst/>
          </a:prstGeom>
          <a:noFill/>
          <a:ln/>
        </p:spPr>
        <p:txBody>
          <a:bodyPr wrap="square" lIns="0" tIns="0" rIns="0" bIns="0" rtlCol="0" anchor="t"/>
          <a:lstStyle/>
          <a:p>
            <a:pPr indent="0" marL="0">
              <a:buNone/>
            </a:pPr>
            <a:r>
              <a:rPr lang="en-US" sz="1450" b="1" dirty="0">
                <a:solidFill>
                  <a:srgbClr val="C85A28"/>
                </a:solidFill>
                <a:latin typeface="Arial" pitchFamily="34" charset="0"/>
                <a:ea typeface="Arial" pitchFamily="34" charset="-122"/>
                <a:cs typeface="Arial" pitchFamily="34" charset="-120"/>
              </a:rPr>
              <a:t>5 de 6 = 0.83</a:t>
            </a:r>
            <a:endParaRPr lang="en-US" sz="1450" dirty="0"/>
          </a:p>
        </p:txBody>
      </p:sp>
      <p:sp>
        <p:nvSpPr>
          <p:cNvPr id="35" name="Text"/>
          <p:cNvSpPr txBox="1"/>
          <p:nvPr/>
        </p:nvSpPr>
        <p:spPr>
          <a:xfrm>
            <a:off x="804672" y="5030000"/>
            <a:ext cx="3050458" cy="280000"/>
          </a:xfrm>
          <a:prstGeom prst="rect">
            <a:avLst/>
          </a:prstGeom>
          <a:noFill/>
          <a:ln/>
        </p:spPr>
        <p:txBody>
          <a:bodyPr wrap="square" lIns="0" tIns="0" rIns="0" bIns="0" rtlCol="0" anchor="t"/>
          <a:lstStyle/>
          <a:p>
            <a:pPr indent="0" marL="0">
              <a:buNone/>
            </a:pPr>
            <a:r>
              <a:rPr lang="en-US" sz="1100" dirty="0">
                <a:solidFill>
                  <a:srgbClr val="5A6B73"/>
                </a:solidFill>
                <a:latin typeface="Calibri" pitchFamily="34" charset="0"/>
                <a:ea typeface="Calibri" pitchFamily="34" charset="-122"/>
                <a:cs typeface="Calibri" pitchFamily="34" charset="-120"/>
              </a:rPr>
              <a:t>De lo que le entregó, cuánto era cierto.</a:t>
            </a:r>
            <a:endParaRPr lang="en-US" sz="1100" dirty="0"/>
          </a:p>
        </p:txBody>
      </p:sp>
      <p:sp>
        <p:nvSpPr>
          <p:cNvPr id="36" name="Shape"/>
          <p:cNvSpPr/>
          <p:nvPr/>
        </p:nvSpPr>
        <p:spPr>
          <a:xfrm>
            <a:off x="4332874" y="4300000"/>
            <a:ext cx="3525946" cy="1080000"/>
          </a:xfrm>
          <a:prstGeom prst="roundRect">
            <a:avLst>
              <a:gd name="adj" fmla="val 2933"/>
            </a:avLst>
          </a:prstGeom>
          <a:solidFill>
            <a:srgbClr val="F2F5F6"/>
          </a:solidFill>
          <a:ln w="12700">
            <a:solidFill>
              <a:srgbClr val="F2F5F6"/>
            </a:solidFill>
            <a:prstDash val="solid"/>
          </a:ln>
        </p:spPr>
      </p:sp>
      <p:sp>
        <p:nvSpPr>
          <p:cNvPr id="37" name="Text"/>
          <p:cNvSpPr txBox="1"/>
          <p:nvPr/>
        </p:nvSpPr>
        <p:spPr>
          <a:xfrm>
            <a:off x="4570618" y="4420000"/>
            <a:ext cx="3050458" cy="300000"/>
          </a:xfrm>
          <a:prstGeom prst="rect">
            <a:avLst/>
          </a:prstGeom>
          <a:noFill/>
          <a:ln/>
        </p:spPr>
        <p:txBody>
          <a:bodyPr wrap="square" lIns="0" tIns="0" rIns="0" bIns="0" rtlCol="0" anchor="t"/>
          <a:lstStyle/>
          <a:p>
            <a:pPr indent="0" marL="0">
              <a:buNone/>
            </a:pPr>
            <a:r>
              <a:rPr lang="en-US" sz="1450" b="1" dirty="0">
                <a:solidFill>
                  <a:srgbClr val="16262E"/>
                </a:solidFill>
                <a:latin typeface="Arial" pitchFamily="34" charset="0"/>
                <a:ea typeface="Arial" pitchFamily="34" charset="-122"/>
                <a:cs typeface="Arial" pitchFamily="34" charset="-120"/>
              </a:rPr>
              <a:t>Recuperación</a:t>
            </a:r>
            <a:endParaRPr lang="en-US" sz="1450" dirty="0"/>
          </a:p>
        </p:txBody>
      </p:sp>
      <p:sp>
        <p:nvSpPr>
          <p:cNvPr id="38" name="Text"/>
          <p:cNvSpPr txBox="1"/>
          <p:nvPr/>
        </p:nvSpPr>
        <p:spPr>
          <a:xfrm>
            <a:off x="4570618" y="4720000"/>
            <a:ext cx="3050458" cy="300000"/>
          </a:xfrm>
          <a:prstGeom prst="rect">
            <a:avLst/>
          </a:prstGeom>
          <a:noFill/>
          <a:ln/>
        </p:spPr>
        <p:txBody>
          <a:bodyPr wrap="square" lIns="0" tIns="0" rIns="0" bIns="0" rtlCol="0" anchor="t"/>
          <a:lstStyle/>
          <a:p>
            <a:pPr indent="0" marL="0">
              <a:buNone/>
            </a:pPr>
            <a:r>
              <a:rPr lang="en-US" sz="1450" b="1" dirty="0">
                <a:solidFill>
                  <a:srgbClr val="C85A28"/>
                </a:solidFill>
                <a:latin typeface="Arial" pitchFamily="34" charset="0"/>
                <a:ea typeface="Arial" pitchFamily="34" charset="-122"/>
                <a:cs typeface="Arial" pitchFamily="34" charset="-120"/>
              </a:rPr>
              <a:t>5 de 5 = 1.00</a:t>
            </a:r>
            <a:endParaRPr lang="en-US" sz="1450" dirty="0"/>
          </a:p>
        </p:txBody>
      </p:sp>
      <p:sp>
        <p:nvSpPr>
          <p:cNvPr id="39" name="Text"/>
          <p:cNvSpPr txBox="1"/>
          <p:nvPr/>
        </p:nvSpPr>
        <p:spPr>
          <a:xfrm>
            <a:off x="4570618" y="5030000"/>
            <a:ext cx="3050458" cy="280000"/>
          </a:xfrm>
          <a:prstGeom prst="rect">
            <a:avLst/>
          </a:prstGeom>
          <a:noFill/>
          <a:ln/>
        </p:spPr>
        <p:txBody>
          <a:bodyPr wrap="square" lIns="0" tIns="0" rIns="0" bIns="0" rtlCol="0" anchor="t"/>
          <a:lstStyle/>
          <a:p>
            <a:pPr indent="0" marL="0">
              <a:buNone/>
            </a:pPr>
            <a:r>
              <a:rPr lang="en-US" sz="1100" dirty="0">
                <a:solidFill>
                  <a:srgbClr val="5A6B73"/>
                </a:solidFill>
                <a:latin typeface="Calibri" pitchFamily="34" charset="0"/>
                <a:ea typeface="Calibri" pitchFamily="34" charset="-122"/>
                <a:cs typeface="Calibri" pitchFamily="34" charset="-120"/>
              </a:rPr>
              <a:t>De lo que había, cuánto encontró.</a:t>
            </a:r>
            <a:endParaRPr lang="en-US" sz="1100" dirty="0"/>
          </a:p>
        </p:txBody>
      </p:sp>
      <p:sp>
        <p:nvSpPr>
          <p:cNvPr id="40" name="Shape"/>
          <p:cNvSpPr/>
          <p:nvPr/>
        </p:nvSpPr>
        <p:spPr>
          <a:xfrm>
            <a:off x="8098820" y="4300000"/>
            <a:ext cx="3525946" cy="1080000"/>
          </a:xfrm>
          <a:prstGeom prst="roundRect">
            <a:avLst>
              <a:gd name="adj" fmla="val 2933"/>
            </a:avLst>
          </a:prstGeom>
          <a:solidFill>
            <a:srgbClr val="F2F5F6"/>
          </a:solidFill>
          <a:ln w="12700">
            <a:solidFill>
              <a:srgbClr val="F2F5F6"/>
            </a:solidFill>
            <a:prstDash val="solid"/>
          </a:ln>
        </p:spPr>
      </p:sp>
      <p:sp>
        <p:nvSpPr>
          <p:cNvPr id="41" name="Text"/>
          <p:cNvSpPr txBox="1"/>
          <p:nvPr/>
        </p:nvSpPr>
        <p:spPr>
          <a:xfrm>
            <a:off x="8336564" y="4420000"/>
            <a:ext cx="3050458" cy="300000"/>
          </a:xfrm>
          <a:prstGeom prst="rect">
            <a:avLst/>
          </a:prstGeom>
          <a:noFill/>
          <a:ln/>
        </p:spPr>
        <p:txBody>
          <a:bodyPr wrap="square" lIns="0" tIns="0" rIns="0" bIns="0" rtlCol="0" anchor="t"/>
          <a:lstStyle/>
          <a:p>
            <a:pPr indent="0" marL="0">
              <a:buNone/>
            </a:pPr>
            <a:r>
              <a:rPr lang="en-US" sz="1450" b="1" dirty="0">
                <a:solidFill>
                  <a:srgbClr val="16262E"/>
                </a:solidFill>
                <a:latin typeface="Arial" pitchFamily="34" charset="0"/>
                <a:ea typeface="Arial" pitchFamily="34" charset="-122"/>
                <a:cs typeface="Arial" pitchFamily="34" charset="-120"/>
              </a:rPr>
              <a:t>F1</a:t>
            </a:r>
            <a:endParaRPr lang="en-US" sz="1450" dirty="0"/>
          </a:p>
        </p:txBody>
      </p:sp>
      <p:sp>
        <p:nvSpPr>
          <p:cNvPr id="42" name="Text"/>
          <p:cNvSpPr txBox="1"/>
          <p:nvPr/>
        </p:nvSpPr>
        <p:spPr>
          <a:xfrm>
            <a:off x="8336564" y="4720000"/>
            <a:ext cx="3050458" cy="300000"/>
          </a:xfrm>
          <a:prstGeom prst="rect">
            <a:avLst/>
          </a:prstGeom>
          <a:noFill/>
          <a:ln/>
        </p:spPr>
        <p:txBody>
          <a:bodyPr wrap="square" lIns="0" tIns="0" rIns="0" bIns="0" rtlCol="0" anchor="t"/>
          <a:lstStyle/>
          <a:p>
            <a:pPr indent="0" marL="0">
              <a:buNone/>
            </a:pPr>
            <a:r>
              <a:rPr lang="en-US" sz="1450" b="1" dirty="0">
                <a:solidFill>
                  <a:srgbClr val="C85A28"/>
                </a:solidFill>
                <a:latin typeface="Arial" pitchFamily="34" charset="0"/>
                <a:ea typeface="Arial" pitchFamily="34" charset="-122"/>
                <a:cs typeface="Arial" pitchFamily="34" charset="-120"/>
              </a:rPr>
              <a:t>10 / 11 = 0.91</a:t>
            </a:r>
            <a:endParaRPr lang="en-US" sz="1450" dirty="0"/>
          </a:p>
        </p:txBody>
      </p:sp>
      <p:sp>
        <p:nvSpPr>
          <p:cNvPr id="43" name="Text"/>
          <p:cNvSpPr txBox="1"/>
          <p:nvPr/>
        </p:nvSpPr>
        <p:spPr>
          <a:xfrm>
            <a:off x="8336564" y="5030000"/>
            <a:ext cx="3050458" cy="280000"/>
          </a:xfrm>
          <a:prstGeom prst="rect">
            <a:avLst/>
          </a:prstGeom>
          <a:noFill/>
          <a:ln/>
        </p:spPr>
        <p:txBody>
          <a:bodyPr wrap="square" lIns="0" tIns="0" rIns="0" bIns="0" rtlCol="0" anchor="t"/>
          <a:lstStyle/>
          <a:p>
            <a:pPr indent="0" marL="0">
              <a:buNone/>
            </a:pPr>
            <a:r>
              <a:rPr lang="en-US" sz="1100" dirty="0">
                <a:solidFill>
                  <a:srgbClr val="5A6B73"/>
                </a:solidFill>
                <a:latin typeface="Calibri" pitchFamily="34" charset="0"/>
                <a:ea typeface="Calibri" pitchFamily="34" charset="-122"/>
                <a:cs typeface="Calibri" pitchFamily="34" charset="-120"/>
              </a:rPr>
              <a:t>Las dos en un solo número, por media armónica.</a:t>
            </a:r>
            <a:endParaRPr lang="en-US" sz="1100" dirty="0"/>
          </a:p>
        </p:txBody>
      </p:sp>
      <p:sp>
        <p:nvSpPr>
          <p:cNvPr id="44" name="Shape"/>
          <p:cNvSpPr/>
          <p:nvPr/>
        </p:nvSpPr>
        <p:spPr>
          <a:xfrm>
            <a:off x="566928" y="5480000"/>
            <a:ext cx="11057839" cy="700000"/>
          </a:xfrm>
          <a:prstGeom prst="roundRect">
            <a:avLst>
              <a:gd name="adj" fmla="val 8235"/>
            </a:avLst>
          </a:prstGeom>
          <a:solidFill>
            <a:srgbClr val="F7E4D8"/>
          </a:solidFill>
          <a:ln w="12700">
            <a:solidFill>
              <a:srgbClr val="F7E4D8"/>
            </a:solidFill>
            <a:prstDash val="solid"/>
          </a:ln>
        </p:spPr>
      </p:sp>
      <p:sp>
        <p:nvSpPr>
          <p:cNvPr id="45" name="Text"/>
          <p:cNvSpPr txBox="1"/>
          <p:nvPr/>
        </p:nvSpPr>
        <p:spPr>
          <a:xfrm>
            <a:off x="804672" y="5480000"/>
            <a:ext cx="10582351" cy="70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Aquí una precisión de 0.83 no es «83 por ciento bien». Es un requisito inventado que, si llega al informe, acusa a la entidad de exigir documentación que la norma le prohíbe exigir.</a:t>
            </a:r>
            <a:endParaRPr lang="en-US" sz="1300" dirty="0"/>
          </a:p>
        </p:txBody>
      </p:sp>
      <p:sp>
        <p:nvSpPr>
          <p:cNvPr id="46" name="Text"/>
          <p:cNvSpPr txBox="1"/>
          <p:nvPr/>
        </p:nvSpPr>
        <p:spPr>
          <a:xfrm>
            <a:off x="566928" y="628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Definiciones: van Rijsbergen (1979), Information Retrieval, cap. 7; Manning, Raghavan y Schütze (2008), Introduction to Information Retrieval. Criterios de acierto: Chinchor (1992), MUC-4 Evaluation Metrics.</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Atribucion">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La cita existe, es textual, y no dice eso</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Recuperar el fragmento correcto y sostener la afirmación son dos cosas distintas.</a:t>
            </a:r>
            <a:endParaRPr lang="en-US" sz="1500" dirty="0"/>
          </a:p>
        </p:txBody>
      </p:sp>
      <p:sp>
        <p:nvSpPr>
          <p:cNvPr id="4" name="Shape"/>
          <p:cNvSpPr/>
          <p:nvPr/>
        </p:nvSpPr>
        <p:spPr>
          <a:xfrm>
            <a:off x="566928" y="1700000"/>
            <a:ext cx="11057839" cy="300000"/>
          </a:xfrm>
          <a:prstGeom prst="roundRect">
            <a:avLst>
              <a:gd name="adj" fmla="val 20000"/>
            </a:avLst>
          </a:prstGeom>
          <a:solidFill>
            <a:srgbClr val="D7E7E7"/>
          </a:solidFill>
          <a:ln w="12700">
            <a:solidFill>
              <a:srgbClr val="D7E7E7"/>
            </a:solidFill>
            <a:prstDash val="solid"/>
          </a:ln>
        </p:spPr>
      </p:sp>
      <p:sp>
        <p:nvSpPr>
          <p:cNvPr id="5" name="Text"/>
          <p:cNvSpPr txBox="1"/>
          <p:nvPr/>
        </p:nvSpPr>
        <p:spPr>
          <a:xfrm>
            <a:off x="766928" y="1700000"/>
            <a:ext cx="1700000" cy="300000"/>
          </a:xfrm>
          <a:prstGeom prst="rect">
            <a:avLst/>
          </a:prstGeom>
          <a:noFill/>
          <a:ln/>
        </p:spPr>
        <p:txBody>
          <a:bodyPr wrap="square" lIns="0" tIns="0" rIns="0" bIns="0" rtlCol="0" anchor="ctr"/>
          <a:lstStyle/>
          <a:p>
            <a:pPr indent="0" marL="0">
              <a:buNone/>
            </a:pPr>
            <a:r>
              <a:rPr lang="en-US" sz="950" b="1" spc="100" kern="0" dirty="0">
                <a:solidFill>
                  <a:srgbClr val="2E7D7D"/>
                </a:solidFill>
                <a:latin typeface="Arial" pitchFamily="34" charset="0"/>
                <a:ea typeface="Arial" pitchFamily="34" charset="-122"/>
                <a:cs typeface="Arial" pitchFamily="34" charset="-120"/>
              </a:rPr>
              <a:t>DE DÓNDE SALE</a:t>
            </a:r>
            <a:endParaRPr lang="en-US" sz="950" dirty="0"/>
          </a:p>
        </p:txBody>
      </p:sp>
      <p:sp>
        <p:nvSpPr>
          <p:cNvPr id="6" name="Text"/>
          <p:cNvSpPr txBox="1"/>
          <p:nvPr/>
        </p:nvSpPr>
        <p:spPr>
          <a:xfrm>
            <a:off x="2516928" y="1700000"/>
            <a:ext cx="8907839" cy="300000"/>
          </a:xfrm>
          <a:prstGeom prst="rect">
            <a:avLst/>
          </a:prstGeom>
          <a:noFill/>
          <a:ln/>
        </p:spPr>
        <p:txBody>
          <a:bodyPr wrap="square" lIns="0" tIns="0" rIns="0" bIns="0" rtlCol="0" anchor="ctr"/>
          <a:lstStyle/>
          <a:p>
            <a:pPr indent="0" marL="0">
              <a:buNone/>
            </a:pPr>
            <a:r>
              <a:rPr lang="en-US" sz="1100" dirty="0">
                <a:solidFill>
                  <a:srgbClr val="16262E"/>
                </a:solidFill>
                <a:latin typeface="Calibri" pitchFamily="34" charset="0"/>
                <a:ea typeface="Calibri" pitchFamily="34" charset="-122"/>
                <a:cs typeface="Calibri" pitchFamily="34" charset="-120"/>
              </a:rPr>
              <a:t>Reglas de Operación del PACC 2025, artículos 11 y 14, del mismo marco normativo común. No son de ninguna entidad.</a:t>
            </a:r>
            <a:endParaRPr lang="en-US" sz="1100" dirty="0"/>
          </a:p>
        </p:txBody>
      </p:sp>
      <p:sp>
        <p:nvSpPr>
          <p:cNvPr id="7" name="Shape"/>
          <p:cNvSpPr/>
          <p:nvPr/>
        </p:nvSpPr>
        <p:spPr>
          <a:xfrm>
            <a:off x="566928" y="2100000"/>
            <a:ext cx="5378919" cy="2480000"/>
          </a:xfrm>
          <a:prstGeom prst="roundRect">
            <a:avLst>
              <a:gd name="adj" fmla="val 2933"/>
            </a:avLst>
          </a:prstGeom>
          <a:solidFill>
            <a:srgbClr val="F2F5F6"/>
          </a:solidFill>
          <a:ln w="12700">
            <a:solidFill>
              <a:srgbClr val="F2F5F6"/>
            </a:solidFill>
            <a:prstDash val="solid"/>
          </a:ln>
        </p:spPr>
      </p:sp>
      <p:sp>
        <p:nvSpPr>
          <p:cNvPr id="8" name="Text"/>
          <p:cNvSpPr txBox="1"/>
          <p:nvPr/>
        </p:nvSpPr>
        <p:spPr>
          <a:xfrm>
            <a:off x="804672" y="2250000"/>
            <a:ext cx="4903431" cy="260000"/>
          </a:xfrm>
          <a:prstGeom prst="rect">
            <a:avLst/>
          </a:prstGeom>
          <a:noFill/>
          <a:ln/>
        </p:spPr>
        <p:txBody>
          <a:bodyPr wrap="square" lIns="0" tIns="0" rIns="0" bIns="0" rtlCol="0" anchor="t"/>
          <a:lstStyle/>
          <a:p>
            <a:pPr indent="0" marL="0">
              <a:buNone/>
            </a:pPr>
            <a:r>
              <a:rPr lang="en-US" sz="1050" b="1" spc="100" kern="0" dirty="0">
                <a:solidFill>
                  <a:srgbClr val="2E7D7D"/>
                </a:solidFill>
                <a:latin typeface="Arial" pitchFamily="34" charset="0"/>
                <a:ea typeface="Arial" pitchFamily="34" charset="-122"/>
                <a:cs typeface="Arial" pitchFamily="34" charset="-120"/>
              </a:rPr>
              <a:t>SE SOSTIENE</a:t>
            </a:r>
            <a:endParaRPr lang="en-US" sz="1050" dirty="0"/>
          </a:p>
        </p:txBody>
      </p:sp>
      <p:sp>
        <p:nvSpPr>
          <p:cNvPr id="9" name="Text"/>
          <p:cNvSpPr txBox="1"/>
          <p:nvPr/>
        </p:nvSpPr>
        <p:spPr>
          <a:xfrm>
            <a:off x="804672" y="2540000"/>
            <a:ext cx="4903431" cy="320000"/>
          </a:xfrm>
          <a:prstGeom prst="rect">
            <a:avLst/>
          </a:prstGeom>
          <a:noFill/>
          <a:ln/>
        </p:spPr>
        <p:txBody>
          <a:bodyPr wrap="square" lIns="0" tIns="0" rIns="0" bIns="0" rtlCol="0" anchor="t"/>
          <a:lstStyle/>
          <a:p>
            <a:pPr indent="0" marL="0">
              <a:buNone/>
            </a:pPr>
            <a:r>
              <a:rPr lang="en-US" sz="1550" b="1" dirty="0">
                <a:solidFill>
                  <a:srgbClr val="16262E"/>
                </a:solidFill>
                <a:latin typeface="Arial" pitchFamily="34" charset="0"/>
                <a:ea typeface="Arial" pitchFamily="34" charset="-122"/>
                <a:cs typeface="Arial" pitchFamily="34" charset="-120"/>
              </a:rPr>
              <a:t>La afirmación no agrega nada</a:t>
            </a:r>
            <a:endParaRPr lang="en-US" sz="1550" dirty="0"/>
          </a:p>
        </p:txBody>
      </p:sp>
      <p:sp>
        <p:nvSpPr>
          <p:cNvPr id="10" name="Shape"/>
          <p:cNvSpPr/>
          <p:nvPr/>
        </p:nvSpPr>
        <p:spPr>
          <a:xfrm>
            <a:off x="804672" y="2920000"/>
            <a:ext cx="4903431" cy="800000"/>
          </a:xfrm>
          <a:prstGeom prst="roundRect">
            <a:avLst>
              <a:gd name="adj" fmla="val 2933"/>
            </a:avLst>
          </a:prstGeom>
          <a:solidFill>
            <a:srgbClr val="FFFFFF"/>
          </a:solidFill>
          <a:ln w="12700">
            <a:solidFill>
              <a:srgbClr val="FFFFFF"/>
            </a:solidFill>
            <a:prstDash val="solid"/>
          </a:ln>
        </p:spPr>
      </p:sp>
      <p:sp>
        <p:nvSpPr>
          <p:cNvPr id="11" name="Text"/>
          <p:cNvSpPr txBox="1"/>
          <p:nvPr/>
        </p:nvSpPr>
        <p:spPr>
          <a:xfrm>
            <a:off x="946928" y="2920000"/>
            <a:ext cx="4618919" cy="800000"/>
          </a:xfrm>
          <a:prstGeom prst="rect">
            <a:avLst/>
          </a:prstGeom>
          <a:noFill/>
          <a:ln/>
        </p:spPr>
        <p:txBody>
          <a:bodyPr wrap="square" lIns="0" tIns="0" rIns="0" bIns="0" rtlCol="0" anchor="ctr"/>
          <a:lstStyle/>
          <a:p>
            <a:pPr indent="0" marL="0">
              <a:lnSpc>
                <a:spcPct val="105000"/>
              </a:lnSpc>
              <a:buNone/>
            </a:pPr>
            <a:r>
              <a:rPr lang="en-US" sz="1150" i="1" dirty="0">
                <a:solidFill>
                  <a:srgbClr val="16262E"/>
                </a:solidFill>
                <a:latin typeface="Calibri" pitchFamily="34" charset="0"/>
                <a:ea typeface="Calibri" pitchFamily="34" charset="-122"/>
                <a:cs typeface="Calibri" pitchFamily="34" charset="-120"/>
              </a:rPr>
              <a:t>«El Programa es incompatible con otros programas federales de transferencia monetaria dirigidos a la misma persona cuidadora principal por el mismo concepto.» Artículo 11.</a:t>
            </a:r>
            <a:endParaRPr lang="en-US" sz="1150" dirty="0"/>
          </a:p>
        </p:txBody>
      </p:sp>
      <p:sp>
        <p:nvSpPr>
          <p:cNvPr id="12" name="Text"/>
          <p:cNvSpPr txBox="1"/>
          <p:nvPr/>
        </p:nvSpPr>
        <p:spPr>
          <a:xfrm>
            <a:off x="804672" y="3800000"/>
            <a:ext cx="4903431" cy="700000"/>
          </a:xfrm>
          <a:prstGeom prst="rect">
            <a:avLst/>
          </a:prstGeom>
          <a:noFill/>
          <a:ln/>
        </p:spPr>
        <p:txBody>
          <a:bodyPr wrap="square" lIns="0" tIns="0" rIns="0" bIns="0" rtlCol="0" anchor="t"/>
          <a:lstStyle/>
          <a:p>
            <a:pPr indent="0" marL="0">
              <a:lnSpc>
                <a:spcPct val="105000"/>
              </a:lnSpc>
              <a:buNone/>
            </a:pPr>
            <a:r>
              <a:rPr lang="en-US" sz="1200" dirty="0">
                <a:solidFill>
                  <a:srgbClr val="16262E"/>
                </a:solidFill>
                <a:latin typeface="Calibri" pitchFamily="34" charset="0"/>
                <a:ea typeface="Calibri" pitchFamily="34" charset="-122"/>
                <a:cs typeface="Calibri" pitchFamily="34" charset="-120"/>
              </a:rPr>
              <a:t>Afirmación: el Programa no puede concurrir con otro apoyo federal en efectivo para la misma persona cuidadora y por el mismo concepto. Quien lea solo la cita llega a lo mismo.</a:t>
            </a:r>
            <a:endParaRPr lang="en-US" sz="1200" dirty="0"/>
          </a:p>
        </p:txBody>
      </p:sp>
      <p:sp>
        <p:nvSpPr>
          <p:cNvPr id="13" name="Shape"/>
          <p:cNvSpPr/>
          <p:nvPr/>
        </p:nvSpPr>
        <p:spPr>
          <a:xfrm>
            <a:off x="6245847" y="2100000"/>
            <a:ext cx="5378919" cy="2480000"/>
          </a:xfrm>
          <a:prstGeom prst="roundRect">
            <a:avLst>
              <a:gd name="adj" fmla="val 2933"/>
            </a:avLst>
          </a:prstGeom>
          <a:solidFill>
            <a:srgbClr val="F2F5F6"/>
          </a:solidFill>
          <a:ln w="12700">
            <a:solidFill>
              <a:srgbClr val="F2F5F6"/>
            </a:solidFill>
            <a:prstDash val="solid"/>
          </a:ln>
        </p:spPr>
      </p:sp>
      <p:sp>
        <p:nvSpPr>
          <p:cNvPr id="14" name="Text"/>
          <p:cNvSpPr txBox="1"/>
          <p:nvPr/>
        </p:nvSpPr>
        <p:spPr>
          <a:xfrm>
            <a:off x="6483591" y="2250000"/>
            <a:ext cx="4903431" cy="260000"/>
          </a:xfrm>
          <a:prstGeom prst="rect">
            <a:avLst/>
          </a:prstGeom>
          <a:noFill/>
          <a:ln/>
        </p:spPr>
        <p:txBody>
          <a:bodyPr wrap="square" lIns="0" tIns="0" rIns="0" bIns="0" rtlCol="0" anchor="t"/>
          <a:lstStyle/>
          <a:p>
            <a:pPr indent="0" marL="0">
              <a:buNone/>
            </a:pPr>
            <a:r>
              <a:rPr lang="en-US" sz="1050" b="1" spc="100" kern="0" dirty="0">
                <a:solidFill>
                  <a:srgbClr val="2E7D7D"/>
                </a:solidFill>
                <a:latin typeface="Arial" pitchFamily="34" charset="0"/>
                <a:ea typeface="Arial" pitchFamily="34" charset="-122"/>
                <a:cs typeface="Arial" pitchFamily="34" charset="-120"/>
              </a:rPr>
              <a:t>NO SE SOSTIENE</a:t>
            </a:r>
            <a:endParaRPr lang="en-US" sz="1050" dirty="0"/>
          </a:p>
        </p:txBody>
      </p:sp>
      <p:sp>
        <p:nvSpPr>
          <p:cNvPr id="15" name="Text"/>
          <p:cNvSpPr txBox="1"/>
          <p:nvPr/>
        </p:nvSpPr>
        <p:spPr>
          <a:xfrm>
            <a:off x="6483591" y="2540000"/>
            <a:ext cx="4903431" cy="320000"/>
          </a:xfrm>
          <a:prstGeom prst="rect">
            <a:avLst/>
          </a:prstGeom>
          <a:noFill/>
          <a:ln/>
        </p:spPr>
        <p:txBody>
          <a:bodyPr wrap="square" lIns="0" tIns="0" rIns="0" bIns="0" rtlCol="0" anchor="t"/>
          <a:lstStyle/>
          <a:p>
            <a:pPr indent="0" marL="0">
              <a:buNone/>
            </a:pPr>
            <a:r>
              <a:rPr lang="en-US" sz="1550" b="1" dirty="0">
                <a:solidFill>
                  <a:srgbClr val="16262E"/>
                </a:solidFill>
                <a:latin typeface="Arial" pitchFamily="34" charset="0"/>
                <a:ea typeface="Arial" pitchFamily="34" charset="-122"/>
                <a:cs typeface="Arial" pitchFamily="34" charset="-120"/>
              </a:rPr>
              <a:t>La afirmación salta a un juicio</a:t>
            </a:r>
            <a:endParaRPr lang="en-US" sz="1550" dirty="0"/>
          </a:p>
        </p:txBody>
      </p:sp>
      <p:sp>
        <p:nvSpPr>
          <p:cNvPr id="16" name="Shape"/>
          <p:cNvSpPr/>
          <p:nvPr/>
        </p:nvSpPr>
        <p:spPr>
          <a:xfrm>
            <a:off x="6483591" y="2920000"/>
            <a:ext cx="4903431" cy="800000"/>
          </a:xfrm>
          <a:prstGeom prst="roundRect">
            <a:avLst>
              <a:gd name="adj" fmla="val 2933"/>
            </a:avLst>
          </a:prstGeom>
          <a:solidFill>
            <a:srgbClr val="FFFFFF"/>
          </a:solidFill>
          <a:ln w="12700">
            <a:solidFill>
              <a:srgbClr val="FFFFFF"/>
            </a:solidFill>
            <a:prstDash val="solid"/>
          </a:ln>
        </p:spPr>
      </p:sp>
      <p:sp>
        <p:nvSpPr>
          <p:cNvPr id="17" name="Text"/>
          <p:cNvSpPr txBox="1"/>
          <p:nvPr/>
        </p:nvSpPr>
        <p:spPr>
          <a:xfrm>
            <a:off x="6625847" y="2920000"/>
            <a:ext cx="4618919" cy="800000"/>
          </a:xfrm>
          <a:prstGeom prst="rect">
            <a:avLst/>
          </a:prstGeom>
          <a:noFill/>
          <a:ln/>
        </p:spPr>
        <p:txBody>
          <a:bodyPr wrap="square" lIns="0" tIns="0" rIns="0" bIns="0" rtlCol="0" anchor="ctr"/>
          <a:lstStyle/>
          <a:p>
            <a:pPr indent="0" marL="0">
              <a:lnSpc>
                <a:spcPct val="105000"/>
              </a:lnSpc>
              <a:buNone/>
            </a:pPr>
            <a:r>
              <a:rPr lang="en-US" sz="1150" i="1" dirty="0">
                <a:solidFill>
                  <a:srgbClr val="16262E"/>
                </a:solidFill>
                <a:latin typeface="Calibri" pitchFamily="34" charset="0"/>
                <a:ea typeface="Calibri" pitchFamily="34" charset="-122"/>
                <a:cs typeface="Calibri" pitchFamily="34" charset="-120"/>
              </a:rPr>
              <a:t>«El monto del apoyo es de 3,100 pesos bimestrales.» Artículo 14.</a:t>
            </a:r>
            <a:endParaRPr lang="en-US" sz="1150" dirty="0"/>
          </a:p>
        </p:txBody>
      </p:sp>
      <p:sp>
        <p:nvSpPr>
          <p:cNvPr id="18" name="Text"/>
          <p:cNvSpPr txBox="1"/>
          <p:nvPr/>
        </p:nvSpPr>
        <p:spPr>
          <a:xfrm>
            <a:off x="6483591" y="3800000"/>
            <a:ext cx="4903431" cy="700000"/>
          </a:xfrm>
          <a:prstGeom prst="rect">
            <a:avLst/>
          </a:prstGeom>
          <a:noFill/>
          <a:ln/>
        </p:spPr>
        <p:txBody>
          <a:bodyPr wrap="square" lIns="0" tIns="0" rIns="0" bIns="0" rtlCol="0" anchor="t"/>
          <a:lstStyle/>
          <a:p>
            <a:pPr indent="0" marL="0">
              <a:lnSpc>
                <a:spcPct val="105000"/>
              </a:lnSpc>
              <a:buNone/>
            </a:pPr>
            <a:r>
              <a:rPr lang="en-US" sz="1200" dirty="0">
                <a:solidFill>
                  <a:srgbClr val="16262E"/>
                </a:solidFill>
                <a:latin typeface="Calibri" pitchFamily="34" charset="0"/>
                <a:ea typeface="Calibri" pitchFamily="34" charset="-122"/>
                <a:cs typeface="Calibri" pitchFamily="34" charset="-120"/>
              </a:rPr>
              <a:t>Afirmación: el monto del apoyo es suficiente para cubrir el cuidado de una persona. La cita fija una cantidad y no dice nada sobre suficiencia. La afirmación dice más que su evidencia.</a:t>
            </a:r>
            <a:endParaRPr lang="en-US" sz="1200" dirty="0"/>
          </a:p>
        </p:txBody>
      </p:sp>
      <p:sp>
        <p:nvSpPr>
          <p:cNvPr id="19" name="Shape"/>
          <p:cNvSpPr/>
          <p:nvPr/>
        </p:nvSpPr>
        <p:spPr>
          <a:xfrm>
            <a:off x="566928" y="4660000"/>
            <a:ext cx="11057839" cy="800000"/>
          </a:xfrm>
          <a:prstGeom prst="roundRect">
            <a:avLst>
              <a:gd name="adj" fmla="val 2933"/>
            </a:avLst>
          </a:prstGeom>
          <a:solidFill>
            <a:srgbClr val="F7E4D8"/>
          </a:solidFill>
          <a:ln w="12700">
            <a:solidFill>
              <a:srgbClr val="F7E4D8"/>
            </a:solidFill>
            <a:prstDash val="solid"/>
          </a:ln>
        </p:spPr>
      </p:sp>
      <p:sp>
        <p:nvSpPr>
          <p:cNvPr id="20" name="Text"/>
          <p:cNvSpPr txBox="1"/>
          <p:nvPr/>
        </p:nvSpPr>
        <p:spPr>
          <a:xfrm>
            <a:off x="804672" y="4790000"/>
            <a:ext cx="10582351" cy="280000"/>
          </a:xfrm>
          <a:prstGeom prst="rect">
            <a:avLst/>
          </a:prstGeom>
          <a:noFill/>
          <a:ln/>
        </p:spPr>
        <p:txBody>
          <a:bodyPr wrap="square" lIns="0" tIns="0" rIns="0" bIns="0" rtlCol="0" anchor="t"/>
          <a:lstStyle/>
          <a:p>
            <a:pPr indent="0" marL="0">
              <a:buNone/>
            </a:pPr>
            <a:r>
              <a:rPr lang="en-US" sz="1050" b="1" spc="100" kern="0" dirty="0">
                <a:solidFill>
                  <a:srgbClr val="C85A28"/>
                </a:solidFill>
                <a:latin typeface="Arial" pitchFamily="34" charset="0"/>
                <a:ea typeface="Arial" pitchFamily="34" charset="-122"/>
                <a:cs typeface="Arial" pitchFamily="34" charset="-120"/>
              </a:rPr>
              <a:t>LA PREGUNTA QUE HAY QUE HACERLE A CADA FILA DE LA MATRIZ</a:t>
            </a:r>
            <a:endParaRPr lang="en-US" sz="1050" dirty="0"/>
          </a:p>
        </p:txBody>
      </p:sp>
      <p:sp>
        <p:nvSpPr>
          <p:cNvPr id="21" name="Text"/>
          <p:cNvSpPr txBox="1"/>
          <p:nvPr/>
        </p:nvSpPr>
        <p:spPr>
          <a:xfrm>
            <a:off x="804672" y="5060000"/>
            <a:ext cx="10582351" cy="340000"/>
          </a:xfrm>
          <a:prstGeom prst="rect">
            <a:avLst/>
          </a:prstGeom>
          <a:noFill/>
          <a:ln/>
        </p:spPr>
        <p:txBody>
          <a:bodyPr wrap="square" lIns="0" tIns="0" rIns="0" bIns="0" rtlCol="0" anchor="t"/>
          <a:lstStyle/>
          <a:p>
            <a:pPr indent="0" marL="0">
              <a:lnSpc>
                <a:spcPct val="105000"/>
              </a:lnSpc>
              <a:buNone/>
            </a:pPr>
            <a:r>
              <a:rPr lang="en-US" sz="1300" dirty="0">
                <a:solidFill>
                  <a:srgbClr val="16262E"/>
                </a:solidFill>
                <a:latin typeface="Calibri" pitchFamily="34" charset="0"/>
                <a:ea typeface="Calibri" pitchFamily="34" charset="-122"/>
                <a:cs typeface="Calibri" pitchFamily="34" charset="-120"/>
              </a:rPr>
              <a:t>¿Alguien que lea solo esta cita, sin conocer el expediente, llegaría a esta afirmación? Si la respuesta es no, la fila no está trazada, por más que la cita sea textual y esté bien copiada.</a:t>
            </a:r>
            <a:endParaRPr lang="en-US" sz="1300" dirty="0"/>
          </a:p>
        </p:txBody>
      </p:sp>
      <p:sp>
        <p:nvSpPr>
          <p:cNvPr id="22" name="Shape"/>
          <p:cNvSpPr/>
          <p:nvPr/>
        </p:nvSpPr>
        <p:spPr>
          <a:xfrm>
            <a:off x="566928" y="5540000"/>
            <a:ext cx="11057839" cy="620000"/>
          </a:xfrm>
          <a:prstGeom prst="roundRect">
            <a:avLst>
              <a:gd name="adj" fmla="val 8235"/>
            </a:avLst>
          </a:prstGeom>
          <a:solidFill>
            <a:srgbClr val="F7E4D8"/>
          </a:solidFill>
          <a:ln w="12700">
            <a:solidFill>
              <a:srgbClr val="F7E4D8"/>
            </a:solidFill>
            <a:prstDash val="solid"/>
          </a:ln>
        </p:spPr>
      </p:sp>
      <p:sp>
        <p:nvSpPr>
          <p:cNvPr id="23" name="Text"/>
          <p:cNvSpPr txBox="1"/>
          <p:nvPr/>
        </p:nvSpPr>
        <p:spPr>
          <a:xfrm>
            <a:off x="804672" y="5540000"/>
            <a:ext cx="10582351" cy="62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No es un riesgo teórico. Al medir a mano un buscador generativo, solo la mitad de sus oraciones estaban plenamente sostenidas por las citas que traían, y una de cada cuatro citas no decía lo que la oración afirmaba.</a:t>
            </a:r>
            <a:endParaRPr lang="en-US" sz="1300" dirty="0"/>
          </a:p>
        </p:txBody>
      </p:sp>
      <p:sp>
        <p:nvSpPr>
          <p:cNvPr id="24" name="Text"/>
          <p:cNvSpPr txBox="1"/>
          <p:nvPr/>
        </p:nvSpPr>
        <p:spPr>
          <a:xfrm>
            <a:off x="566928" y="626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Liu, Zhang y Liang (2023), «Evaluating Verifiability in Generative Search Engines», EMNLP Findings. El marco de atribución es de Rashkin y otros (2023), Computational Linguistics.</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Acuerdo">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El porcentaje de acuerdo miente cuando un tema domina</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Dos codificadores coinciden en el 95 por ciento de los casos. ¿Eso es bueno?</a:t>
            </a:r>
            <a:endParaRPr lang="en-US" sz="1500" dirty="0"/>
          </a:p>
        </p:txBody>
      </p:sp>
      <p:sp>
        <p:nvSpPr>
          <p:cNvPr id="4" name="Shape"/>
          <p:cNvSpPr/>
          <p:nvPr/>
        </p:nvSpPr>
        <p:spPr>
          <a:xfrm>
            <a:off x="566928" y="1700000"/>
            <a:ext cx="11057839" cy="300000"/>
          </a:xfrm>
          <a:prstGeom prst="roundRect">
            <a:avLst>
              <a:gd name="adj" fmla="val 20000"/>
            </a:avLst>
          </a:prstGeom>
          <a:solidFill>
            <a:srgbClr val="D7E7E7"/>
          </a:solidFill>
          <a:ln w="12700">
            <a:solidFill>
              <a:srgbClr val="D7E7E7"/>
            </a:solidFill>
            <a:prstDash val="solid"/>
          </a:ln>
        </p:spPr>
      </p:sp>
      <p:sp>
        <p:nvSpPr>
          <p:cNvPr id="5" name="Text"/>
          <p:cNvSpPr txBox="1"/>
          <p:nvPr/>
        </p:nvSpPr>
        <p:spPr>
          <a:xfrm>
            <a:off x="766928" y="1700000"/>
            <a:ext cx="1700000" cy="300000"/>
          </a:xfrm>
          <a:prstGeom prst="rect">
            <a:avLst/>
          </a:prstGeom>
          <a:noFill/>
          <a:ln/>
        </p:spPr>
        <p:txBody>
          <a:bodyPr wrap="square" lIns="0" tIns="0" rIns="0" bIns="0" rtlCol="0" anchor="ctr"/>
          <a:lstStyle/>
          <a:p>
            <a:pPr indent="0" marL="0">
              <a:buNone/>
            </a:pPr>
            <a:r>
              <a:rPr lang="en-US" sz="950" b="1" spc="100" kern="0" dirty="0">
                <a:solidFill>
                  <a:srgbClr val="2E7D7D"/>
                </a:solidFill>
                <a:latin typeface="Arial" pitchFamily="34" charset="0"/>
                <a:ea typeface="Arial" pitchFamily="34" charset="-122"/>
                <a:cs typeface="Arial" pitchFamily="34" charset="-120"/>
              </a:rPr>
              <a:t>DE DÓNDE SALE</a:t>
            </a:r>
            <a:endParaRPr lang="en-US" sz="950" dirty="0"/>
          </a:p>
        </p:txBody>
      </p:sp>
      <p:sp>
        <p:nvSpPr>
          <p:cNvPr id="6" name="Text"/>
          <p:cNvSpPr txBox="1"/>
          <p:nvPr/>
        </p:nvSpPr>
        <p:spPr>
          <a:xfrm>
            <a:off x="2516928" y="1700000"/>
            <a:ext cx="8907839" cy="300000"/>
          </a:xfrm>
          <a:prstGeom prst="rect">
            <a:avLst/>
          </a:prstGeom>
          <a:noFill/>
          <a:ln/>
        </p:spPr>
        <p:txBody>
          <a:bodyPr wrap="square" lIns="0" tIns="0" rIns="0" bIns="0" rtlCol="0" anchor="ctr"/>
          <a:lstStyle/>
          <a:p>
            <a:pPr indent="0" marL="0">
              <a:buNone/>
            </a:pPr>
            <a:r>
              <a:rPr lang="en-US" sz="1100" dirty="0">
                <a:solidFill>
                  <a:srgbClr val="16262E"/>
                </a:solidFill>
                <a:latin typeface="Calibri" pitchFamily="34" charset="0"/>
                <a:ea typeface="Calibri" pitchFamily="34" charset="-122"/>
                <a:cs typeface="Calibri" pitchFamily="34" charset="-120"/>
              </a:rPr>
              <a:t>Transcripciones_foro_PARTICIPANTE.docx, sesión 4: los dos foros de la Entidad C que clasificaron el viernes.</a:t>
            </a:r>
            <a:endParaRPr lang="en-US" sz="1100" dirty="0"/>
          </a:p>
        </p:txBody>
      </p:sp>
      <p:sp>
        <p:nvSpPr>
          <p:cNvPr id="7" name="Shape"/>
          <p:cNvSpPr/>
          <p:nvPr/>
        </p:nvSpPr>
        <p:spPr>
          <a:xfrm>
            <a:off x="566928" y="2100000"/>
            <a:ext cx="2900000" cy="420000"/>
          </a:xfrm>
          <a:prstGeom prst="rect">
            <a:avLst/>
          </a:prstGeom>
          <a:solidFill>
            <a:srgbClr val="16262E"/>
          </a:solidFill>
          <a:ln w="9525">
            <a:solidFill>
              <a:srgbClr val="FFFFFF"/>
            </a:solidFill>
            <a:prstDash val="solid"/>
          </a:ln>
        </p:spPr>
      </p:sp>
      <p:sp>
        <p:nvSpPr>
          <p:cNvPr id="8" name="Text"/>
          <p:cNvSpPr txBox="1"/>
          <p:nvPr/>
        </p:nvSpPr>
        <p:spPr>
          <a:xfrm>
            <a:off x="686928" y="2100000"/>
            <a:ext cx="26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
            </a:r>
            <a:endParaRPr lang="en-US" sz="1200" dirty="0"/>
          </a:p>
        </p:txBody>
      </p:sp>
      <p:sp>
        <p:nvSpPr>
          <p:cNvPr id="9" name="Shape"/>
          <p:cNvSpPr/>
          <p:nvPr/>
        </p:nvSpPr>
        <p:spPr>
          <a:xfrm>
            <a:off x="3466928" y="2100000"/>
            <a:ext cx="2719279" cy="420000"/>
          </a:xfrm>
          <a:prstGeom prst="rect">
            <a:avLst/>
          </a:prstGeom>
          <a:solidFill>
            <a:srgbClr val="16262E"/>
          </a:solidFill>
          <a:ln w="9525">
            <a:solidFill>
              <a:srgbClr val="FFFFFF"/>
            </a:solidFill>
            <a:prstDash val="solid"/>
          </a:ln>
        </p:spPr>
      </p:sp>
      <p:sp>
        <p:nvSpPr>
          <p:cNvPr id="10" name="Text"/>
          <p:cNvSpPr txBox="1"/>
          <p:nvPr/>
        </p:nvSpPr>
        <p:spPr>
          <a:xfrm>
            <a:off x="3586928" y="2100000"/>
            <a:ext cx="2479279"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Su corpus de foros</a:t>
            </a:r>
            <a:endParaRPr lang="en-US" sz="1200" dirty="0"/>
          </a:p>
        </p:txBody>
      </p:sp>
      <p:sp>
        <p:nvSpPr>
          <p:cNvPr id="11" name="Shape"/>
          <p:cNvSpPr/>
          <p:nvPr/>
        </p:nvSpPr>
        <p:spPr>
          <a:xfrm>
            <a:off x="6186207" y="2100000"/>
            <a:ext cx="2719280" cy="420000"/>
          </a:xfrm>
          <a:prstGeom prst="rect">
            <a:avLst/>
          </a:prstGeom>
          <a:solidFill>
            <a:srgbClr val="16262E"/>
          </a:solidFill>
          <a:ln w="9525">
            <a:solidFill>
              <a:srgbClr val="FFFFFF"/>
            </a:solidFill>
            <a:prstDash val="solid"/>
          </a:ln>
        </p:spPr>
      </p:sp>
      <p:sp>
        <p:nvSpPr>
          <p:cNvPr id="12" name="Text"/>
          <p:cNvSpPr txBox="1"/>
          <p:nvPr/>
        </p:nvSpPr>
        <p:spPr>
          <a:xfrm>
            <a:off x="6306207" y="2100000"/>
            <a:ext cx="247928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El mismo acuerdo, un tema domina</a:t>
            </a:r>
            <a:endParaRPr lang="en-US" sz="1200" dirty="0"/>
          </a:p>
        </p:txBody>
      </p:sp>
      <p:sp>
        <p:nvSpPr>
          <p:cNvPr id="13" name="Shape"/>
          <p:cNvSpPr/>
          <p:nvPr/>
        </p:nvSpPr>
        <p:spPr>
          <a:xfrm>
            <a:off x="8905487" y="2100000"/>
            <a:ext cx="2719280" cy="420000"/>
          </a:xfrm>
          <a:prstGeom prst="rect">
            <a:avLst/>
          </a:prstGeom>
          <a:solidFill>
            <a:srgbClr val="16262E"/>
          </a:solidFill>
          <a:ln w="9525">
            <a:solidFill>
              <a:srgbClr val="FFFFFF"/>
            </a:solidFill>
            <a:prstDash val="solid"/>
          </a:ln>
        </p:spPr>
      </p:sp>
      <p:sp>
        <p:nvSpPr>
          <p:cNvPr id="14" name="Text"/>
          <p:cNvSpPr txBox="1"/>
          <p:nvPr/>
        </p:nvSpPr>
        <p:spPr>
          <a:xfrm>
            <a:off x="9025487" y="2100000"/>
            <a:ext cx="247928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Dos que no leen el texto</a:t>
            </a:r>
            <a:endParaRPr lang="en-US" sz="1200" dirty="0"/>
          </a:p>
        </p:txBody>
      </p:sp>
      <p:sp>
        <p:nvSpPr>
          <p:cNvPr id="15" name="Shape"/>
          <p:cNvSpPr/>
          <p:nvPr/>
        </p:nvSpPr>
        <p:spPr>
          <a:xfrm>
            <a:off x="566928" y="2520000"/>
            <a:ext cx="2900000" cy="700000"/>
          </a:xfrm>
          <a:prstGeom prst="rect">
            <a:avLst/>
          </a:prstGeom>
          <a:solidFill>
            <a:srgbClr val="D7E7E7"/>
          </a:solidFill>
          <a:ln w="9525">
            <a:solidFill>
              <a:srgbClr val="D9E0E3"/>
            </a:solidFill>
            <a:prstDash val="solid"/>
          </a:ln>
        </p:spPr>
      </p:sp>
      <p:sp>
        <p:nvSpPr>
          <p:cNvPr id="16" name="Text"/>
          <p:cNvSpPr txBox="1"/>
          <p:nvPr/>
        </p:nvSpPr>
        <p:spPr>
          <a:xfrm>
            <a:off x="686928" y="2520000"/>
            <a:ext cx="2660000" cy="700000"/>
          </a:xfrm>
          <a:prstGeom prst="rect">
            <a:avLst/>
          </a:prstGeom>
          <a:noFill/>
          <a:ln/>
        </p:spPr>
        <p:txBody>
          <a:bodyPr wrap="square" lIns="0" tIns="0" rIns="0" bIns="0" rtlCol="0" anchor="ctr"/>
          <a:lstStyle/>
          <a:p>
            <a:pPr indent="0" marL="0">
              <a:lnSpc>
                <a:spcPct val="103000"/>
              </a:lnSpc>
              <a:buNone/>
            </a:pPr>
            <a:r>
              <a:rPr lang="en-US" sz="1200" b="1" dirty="0">
                <a:solidFill>
                  <a:srgbClr val="16262E"/>
                </a:solidFill>
                <a:latin typeface="Arial" pitchFamily="34" charset="0"/>
                <a:ea typeface="Arial" pitchFamily="34" charset="-122"/>
                <a:cs typeface="Arial" pitchFamily="34" charset="-120"/>
              </a:rPr>
              <a:t>La situación</a:t>
            </a:r>
            <a:endParaRPr lang="en-US" sz="1200" dirty="0"/>
          </a:p>
        </p:txBody>
      </p:sp>
      <p:sp>
        <p:nvSpPr>
          <p:cNvPr id="17" name="Shape"/>
          <p:cNvSpPr/>
          <p:nvPr/>
        </p:nvSpPr>
        <p:spPr>
          <a:xfrm>
            <a:off x="3466928" y="2520000"/>
            <a:ext cx="2719279" cy="700000"/>
          </a:xfrm>
          <a:prstGeom prst="rect">
            <a:avLst/>
          </a:prstGeom>
          <a:solidFill>
            <a:srgbClr val="F2F5F6"/>
          </a:solidFill>
          <a:ln w="9525">
            <a:solidFill>
              <a:srgbClr val="D9E0E3"/>
            </a:solidFill>
            <a:prstDash val="solid"/>
          </a:ln>
        </p:spPr>
      </p:sp>
      <p:sp>
        <p:nvSpPr>
          <p:cNvPr id="18" name="Text"/>
          <p:cNvSpPr txBox="1"/>
          <p:nvPr/>
        </p:nvSpPr>
        <p:spPr>
          <a:xfrm>
            <a:off x="3586928" y="2520000"/>
            <a:ext cx="2479279"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Gestión 14, infraestructura 9, presupuesto 8, transparencia 7.</a:t>
            </a:r>
            <a:endParaRPr lang="en-US" sz="1200" dirty="0"/>
          </a:p>
        </p:txBody>
      </p:sp>
      <p:sp>
        <p:nvSpPr>
          <p:cNvPr id="19" name="Shape"/>
          <p:cNvSpPr/>
          <p:nvPr/>
        </p:nvSpPr>
        <p:spPr>
          <a:xfrm>
            <a:off x="6186207" y="2520000"/>
            <a:ext cx="2719280" cy="700000"/>
          </a:xfrm>
          <a:prstGeom prst="rect">
            <a:avLst/>
          </a:prstGeom>
          <a:solidFill>
            <a:srgbClr val="F2F5F6"/>
          </a:solidFill>
          <a:ln w="9525">
            <a:solidFill>
              <a:srgbClr val="D9E0E3"/>
            </a:solidFill>
            <a:prstDash val="solid"/>
          </a:ln>
        </p:spPr>
      </p:sp>
      <p:sp>
        <p:nvSpPr>
          <p:cNvPr id="20" name="Text"/>
          <p:cNvSpPr txBox="1"/>
          <p:nvPr/>
        </p:nvSpPr>
        <p:spPr>
          <a:xfrm>
            <a:off x="6306207" y="2520000"/>
            <a:ext cx="2479280"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Los dos usan «gestión» 35 veces y otra categoría 3.</a:t>
            </a:r>
            <a:endParaRPr lang="en-US" sz="1200" dirty="0"/>
          </a:p>
        </p:txBody>
      </p:sp>
      <p:sp>
        <p:nvSpPr>
          <p:cNvPr id="21" name="Shape"/>
          <p:cNvSpPr/>
          <p:nvPr/>
        </p:nvSpPr>
        <p:spPr>
          <a:xfrm>
            <a:off x="8905487" y="2520000"/>
            <a:ext cx="2719280" cy="700000"/>
          </a:xfrm>
          <a:prstGeom prst="rect">
            <a:avLst/>
          </a:prstGeom>
          <a:solidFill>
            <a:srgbClr val="F2F5F6"/>
          </a:solidFill>
          <a:ln w="9525">
            <a:solidFill>
              <a:srgbClr val="D9E0E3"/>
            </a:solidFill>
            <a:prstDash val="solid"/>
          </a:ln>
        </p:spPr>
      </p:sp>
      <p:sp>
        <p:nvSpPr>
          <p:cNvPr id="22" name="Text"/>
          <p:cNvSpPr txBox="1"/>
          <p:nvPr/>
        </p:nvSpPr>
        <p:spPr>
          <a:xfrm>
            <a:off x="9025487" y="2520000"/>
            <a:ext cx="2479280"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Los dos escriben «gestión» siempre, sin abrir el archivo.</a:t>
            </a:r>
            <a:endParaRPr lang="en-US" sz="1200" dirty="0"/>
          </a:p>
        </p:txBody>
      </p:sp>
      <p:sp>
        <p:nvSpPr>
          <p:cNvPr id="23" name="Shape"/>
          <p:cNvSpPr/>
          <p:nvPr/>
        </p:nvSpPr>
        <p:spPr>
          <a:xfrm>
            <a:off x="566928" y="3220000"/>
            <a:ext cx="2900000" cy="700000"/>
          </a:xfrm>
          <a:prstGeom prst="rect">
            <a:avLst/>
          </a:prstGeom>
          <a:solidFill>
            <a:srgbClr val="D7E7E7"/>
          </a:solidFill>
          <a:ln w="9525">
            <a:solidFill>
              <a:srgbClr val="D9E0E3"/>
            </a:solidFill>
            <a:prstDash val="solid"/>
          </a:ln>
        </p:spPr>
      </p:sp>
      <p:sp>
        <p:nvSpPr>
          <p:cNvPr id="24" name="Text"/>
          <p:cNvSpPr txBox="1"/>
          <p:nvPr/>
        </p:nvSpPr>
        <p:spPr>
          <a:xfrm>
            <a:off x="686928" y="3220000"/>
            <a:ext cx="2660000" cy="700000"/>
          </a:xfrm>
          <a:prstGeom prst="rect">
            <a:avLst/>
          </a:prstGeom>
          <a:noFill/>
          <a:ln/>
        </p:spPr>
        <p:txBody>
          <a:bodyPr wrap="square" lIns="0" tIns="0" rIns="0" bIns="0" rtlCol="0" anchor="ctr"/>
          <a:lstStyle/>
          <a:p>
            <a:pPr indent="0" marL="0">
              <a:lnSpc>
                <a:spcPct val="103000"/>
              </a:lnSpc>
              <a:buNone/>
            </a:pPr>
            <a:r>
              <a:rPr lang="en-US" sz="1200" b="1" dirty="0">
                <a:solidFill>
                  <a:srgbClr val="16262E"/>
                </a:solidFill>
                <a:latin typeface="Arial" pitchFamily="34" charset="0"/>
                <a:ea typeface="Arial" pitchFamily="34" charset="-122"/>
                <a:cs typeface="Arial" pitchFamily="34" charset="-120"/>
              </a:rPr>
              <a:t>Acuerdo observado</a:t>
            </a:r>
            <a:endParaRPr lang="en-US" sz="1200" dirty="0"/>
          </a:p>
        </p:txBody>
      </p:sp>
      <p:sp>
        <p:nvSpPr>
          <p:cNvPr id="25" name="Shape"/>
          <p:cNvSpPr/>
          <p:nvPr/>
        </p:nvSpPr>
        <p:spPr>
          <a:xfrm>
            <a:off x="3466928" y="3220000"/>
            <a:ext cx="2719279" cy="700000"/>
          </a:xfrm>
          <a:prstGeom prst="rect">
            <a:avLst/>
          </a:prstGeom>
          <a:solidFill>
            <a:srgbClr val="FFFFFF"/>
          </a:solidFill>
          <a:ln w="9525">
            <a:solidFill>
              <a:srgbClr val="D9E0E3"/>
            </a:solidFill>
            <a:prstDash val="solid"/>
          </a:ln>
        </p:spPr>
      </p:sp>
      <p:sp>
        <p:nvSpPr>
          <p:cNvPr id="26" name="Text"/>
          <p:cNvSpPr txBox="1"/>
          <p:nvPr/>
        </p:nvSpPr>
        <p:spPr>
          <a:xfrm>
            <a:off x="3586928" y="3220000"/>
            <a:ext cx="2479279"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36 de 38 = 94.7%</a:t>
            </a:r>
            <a:endParaRPr lang="en-US" sz="1200" dirty="0"/>
          </a:p>
        </p:txBody>
      </p:sp>
      <p:sp>
        <p:nvSpPr>
          <p:cNvPr id="27" name="Shape"/>
          <p:cNvSpPr/>
          <p:nvPr/>
        </p:nvSpPr>
        <p:spPr>
          <a:xfrm>
            <a:off x="6186207" y="3220000"/>
            <a:ext cx="2719280" cy="700000"/>
          </a:xfrm>
          <a:prstGeom prst="rect">
            <a:avLst/>
          </a:prstGeom>
          <a:solidFill>
            <a:srgbClr val="FFFFFF"/>
          </a:solidFill>
          <a:ln w="9525">
            <a:solidFill>
              <a:srgbClr val="D9E0E3"/>
            </a:solidFill>
            <a:prstDash val="solid"/>
          </a:ln>
        </p:spPr>
      </p:sp>
      <p:sp>
        <p:nvSpPr>
          <p:cNvPr id="28" name="Text"/>
          <p:cNvSpPr txBox="1"/>
          <p:nvPr/>
        </p:nvSpPr>
        <p:spPr>
          <a:xfrm>
            <a:off x="6306207" y="3220000"/>
            <a:ext cx="2479280"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36 de 38 = 94.7%</a:t>
            </a:r>
            <a:endParaRPr lang="en-US" sz="1200" dirty="0"/>
          </a:p>
        </p:txBody>
      </p:sp>
      <p:sp>
        <p:nvSpPr>
          <p:cNvPr id="29" name="Shape"/>
          <p:cNvSpPr/>
          <p:nvPr/>
        </p:nvSpPr>
        <p:spPr>
          <a:xfrm>
            <a:off x="8905487" y="3220000"/>
            <a:ext cx="2719280" cy="700000"/>
          </a:xfrm>
          <a:prstGeom prst="rect">
            <a:avLst/>
          </a:prstGeom>
          <a:solidFill>
            <a:srgbClr val="FFFFFF"/>
          </a:solidFill>
          <a:ln w="9525">
            <a:solidFill>
              <a:srgbClr val="D9E0E3"/>
            </a:solidFill>
            <a:prstDash val="solid"/>
          </a:ln>
        </p:spPr>
      </p:sp>
      <p:sp>
        <p:nvSpPr>
          <p:cNvPr id="30" name="Text"/>
          <p:cNvSpPr txBox="1"/>
          <p:nvPr/>
        </p:nvSpPr>
        <p:spPr>
          <a:xfrm>
            <a:off x="9025487" y="3220000"/>
            <a:ext cx="2479280"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37 de 38 = 97.4%</a:t>
            </a:r>
            <a:endParaRPr lang="en-US" sz="1200" dirty="0"/>
          </a:p>
        </p:txBody>
      </p:sp>
      <p:sp>
        <p:nvSpPr>
          <p:cNvPr id="31" name="Shape"/>
          <p:cNvSpPr/>
          <p:nvPr/>
        </p:nvSpPr>
        <p:spPr>
          <a:xfrm>
            <a:off x="566928" y="3920000"/>
            <a:ext cx="2900000" cy="700000"/>
          </a:xfrm>
          <a:prstGeom prst="rect">
            <a:avLst/>
          </a:prstGeom>
          <a:solidFill>
            <a:srgbClr val="D7E7E7"/>
          </a:solidFill>
          <a:ln w="9525">
            <a:solidFill>
              <a:srgbClr val="D9E0E3"/>
            </a:solidFill>
            <a:prstDash val="solid"/>
          </a:ln>
        </p:spPr>
      </p:sp>
      <p:sp>
        <p:nvSpPr>
          <p:cNvPr id="32" name="Text"/>
          <p:cNvSpPr txBox="1"/>
          <p:nvPr/>
        </p:nvSpPr>
        <p:spPr>
          <a:xfrm>
            <a:off x="686928" y="3920000"/>
            <a:ext cx="2660000" cy="700000"/>
          </a:xfrm>
          <a:prstGeom prst="rect">
            <a:avLst/>
          </a:prstGeom>
          <a:noFill/>
          <a:ln/>
        </p:spPr>
        <p:txBody>
          <a:bodyPr wrap="square" lIns="0" tIns="0" rIns="0" bIns="0" rtlCol="0" anchor="ctr"/>
          <a:lstStyle/>
          <a:p>
            <a:pPr indent="0" marL="0">
              <a:lnSpc>
                <a:spcPct val="103000"/>
              </a:lnSpc>
              <a:buNone/>
            </a:pPr>
            <a:r>
              <a:rPr lang="en-US" sz="1200" b="1" dirty="0">
                <a:solidFill>
                  <a:srgbClr val="16262E"/>
                </a:solidFill>
                <a:latin typeface="Arial" pitchFamily="34" charset="0"/>
                <a:ea typeface="Arial" pitchFamily="34" charset="-122"/>
                <a:cs typeface="Arial" pitchFamily="34" charset="-120"/>
              </a:rPr>
              <a:t>Acuerdo esperado por azar</a:t>
            </a:r>
            <a:endParaRPr lang="en-US" sz="1200" dirty="0"/>
          </a:p>
        </p:txBody>
      </p:sp>
      <p:sp>
        <p:nvSpPr>
          <p:cNvPr id="33" name="Shape"/>
          <p:cNvSpPr/>
          <p:nvPr/>
        </p:nvSpPr>
        <p:spPr>
          <a:xfrm>
            <a:off x="3466928" y="3920000"/>
            <a:ext cx="2719279" cy="700000"/>
          </a:xfrm>
          <a:prstGeom prst="rect">
            <a:avLst/>
          </a:prstGeom>
          <a:solidFill>
            <a:srgbClr val="F2F5F6"/>
          </a:solidFill>
          <a:ln w="9525">
            <a:solidFill>
              <a:srgbClr val="D9E0E3"/>
            </a:solidFill>
            <a:prstDash val="solid"/>
          </a:ln>
        </p:spPr>
      </p:sp>
      <p:sp>
        <p:nvSpPr>
          <p:cNvPr id="34" name="Text"/>
          <p:cNvSpPr txBox="1"/>
          <p:nvPr/>
        </p:nvSpPr>
        <p:spPr>
          <a:xfrm>
            <a:off x="3586928" y="3920000"/>
            <a:ext cx="2479279"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27.0%</a:t>
            </a:r>
            <a:endParaRPr lang="en-US" sz="1200" dirty="0"/>
          </a:p>
        </p:txBody>
      </p:sp>
      <p:sp>
        <p:nvSpPr>
          <p:cNvPr id="35" name="Shape"/>
          <p:cNvSpPr/>
          <p:nvPr/>
        </p:nvSpPr>
        <p:spPr>
          <a:xfrm>
            <a:off x="6186207" y="3920000"/>
            <a:ext cx="2719280" cy="700000"/>
          </a:xfrm>
          <a:prstGeom prst="rect">
            <a:avLst/>
          </a:prstGeom>
          <a:solidFill>
            <a:srgbClr val="F2F5F6"/>
          </a:solidFill>
          <a:ln w="9525">
            <a:solidFill>
              <a:srgbClr val="D9E0E3"/>
            </a:solidFill>
            <a:prstDash val="solid"/>
          </a:ln>
        </p:spPr>
      </p:sp>
      <p:sp>
        <p:nvSpPr>
          <p:cNvPr id="36" name="Text"/>
          <p:cNvSpPr txBox="1"/>
          <p:nvPr/>
        </p:nvSpPr>
        <p:spPr>
          <a:xfrm>
            <a:off x="6306207" y="3920000"/>
            <a:ext cx="2479280"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85.5%</a:t>
            </a:r>
            <a:endParaRPr lang="en-US" sz="1200" dirty="0"/>
          </a:p>
        </p:txBody>
      </p:sp>
      <p:sp>
        <p:nvSpPr>
          <p:cNvPr id="37" name="Shape"/>
          <p:cNvSpPr/>
          <p:nvPr/>
        </p:nvSpPr>
        <p:spPr>
          <a:xfrm>
            <a:off x="8905487" y="3920000"/>
            <a:ext cx="2719280" cy="700000"/>
          </a:xfrm>
          <a:prstGeom prst="rect">
            <a:avLst/>
          </a:prstGeom>
          <a:solidFill>
            <a:srgbClr val="F2F5F6"/>
          </a:solidFill>
          <a:ln w="9525">
            <a:solidFill>
              <a:srgbClr val="D9E0E3"/>
            </a:solidFill>
            <a:prstDash val="solid"/>
          </a:ln>
        </p:spPr>
      </p:sp>
      <p:sp>
        <p:nvSpPr>
          <p:cNvPr id="38" name="Text"/>
          <p:cNvSpPr txBox="1"/>
          <p:nvPr/>
        </p:nvSpPr>
        <p:spPr>
          <a:xfrm>
            <a:off x="9025487" y="3920000"/>
            <a:ext cx="2479280"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97.4%</a:t>
            </a:r>
            <a:endParaRPr lang="en-US" sz="1200" dirty="0"/>
          </a:p>
        </p:txBody>
      </p:sp>
      <p:sp>
        <p:nvSpPr>
          <p:cNvPr id="39" name="Shape"/>
          <p:cNvSpPr/>
          <p:nvPr/>
        </p:nvSpPr>
        <p:spPr>
          <a:xfrm>
            <a:off x="566928" y="4620000"/>
            <a:ext cx="2900000" cy="700000"/>
          </a:xfrm>
          <a:prstGeom prst="rect">
            <a:avLst/>
          </a:prstGeom>
          <a:solidFill>
            <a:srgbClr val="D7E7E7"/>
          </a:solidFill>
          <a:ln w="9525">
            <a:solidFill>
              <a:srgbClr val="D9E0E3"/>
            </a:solidFill>
            <a:prstDash val="solid"/>
          </a:ln>
        </p:spPr>
      </p:sp>
      <p:sp>
        <p:nvSpPr>
          <p:cNvPr id="40" name="Text"/>
          <p:cNvSpPr txBox="1"/>
          <p:nvPr/>
        </p:nvSpPr>
        <p:spPr>
          <a:xfrm>
            <a:off x="686928" y="4620000"/>
            <a:ext cx="2660000" cy="700000"/>
          </a:xfrm>
          <a:prstGeom prst="rect">
            <a:avLst/>
          </a:prstGeom>
          <a:noFill/>
          <a:ln/>
        </p:spPr>
        <p:txBody>
          <a:bodyPr wrap="square" lIns="0" tIns="0" rIns="0" bIns="0" rtlCol="0" anchor="ctr"/>
          <a:lstStyle/>
          <a:p>
            <a:pPr indent="0" marL="0">
              <a:lnSpc>
                <a:spcPct val="103000"/>
              </a:lnSpc>
              <a:buNone/>
            </a:pPr>
            <a:r>
              <a:rPr lang="en-US" sz="1200" b="1" dirty="0">
                <a:solidFill>
                  <a:srgbClr val="16262E"/>
                </a:solidFill>
                <a:latin typeface="Arial" pitchFamily="34" charset="0"/>
                <a:ea typeface="Arial" pitchFamily="34" charset="-122"/>
                <a:cs typeface="Arial" pitchFamily="34" charset="-120"/>
              </a:rPr>
              <a:t>Kappa de Cohen</a:t>
            </a:r>
            <a:endParaRPr lang="en-US" sz="1200" dirty="0"/>
          </a:p>
        </p:txBody>
      </p:sp>
      <p:sp>
        <p:nvSpPr>
          <p:cNvPr id="41" name="Shape"/>
          <p:cNvSpPr/>
          <p:nvPr/>
        </p:nvSpPr>
        <p:spPr>
          <a:xfrm>
            <a:off x="3466928" y="4620000"/>
            <a:ext cx="2719279" cy="700000"/>
          </a:xfrm>
          <a:prstGeom prst="rect">
            <a:avLst/>
          </a:prstGeom>
          <a:solidFill>
            <a:srgbClr val="FFFFFF"/>
          </a:solidFill>
          <a:ln w="9525">
            <a:solidFill>
              <a:srgbClr val="D9E0E3"/>
            </a:solidFill>
            <a:prstDash val="solid"/>
          </a:ln>
        </p:spPr>
      </p:sp>
      <p:sp>
        <p:nvSpPr>
          <p:cNvPr id="42" name="Text"/>
          <p:cNvSpPr txBox="1"/>
          <p:nvPr/>
        </p:nvSpPr>
        <p:spPr>
          <a:xfrm>
            <a:off x="3586928" y="4620000"/>
            <a:ext cx="2479279"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0.93</a:t>
            </a:r>
            <a:endParaRPr lang="en-US" sz="1200" dirty="0"/>
          </a:p>
        </p:txBody>
      </p:sp>
      <p:sp>
        <p:nvSpPr>
          <p:cNvPr id="43" name="Shape"/>
          <p:cNvSpPr/>
          <p:nvPr/>
        </p:nvSpPr>
        <p:spPr>
          <a:xfrm>
            <a:off x="6186207" y="4620000"/>
            <a:ext cx="2719280" cy="700000"/>
          </a:xfrm>
          <a:prstGeom prst="rect">
            <a:avLst/>
          </a:prstGeom>
          <a:solidFill>
            <a:srgbClr val="FFFFFF"/>
          </a:solidFill>
          <a:ln w="9525">
            <a:solidFill>
              <a:srgbClr val="D9E0E3"/>
            </a:solidFill>
            <a:prstDash val="solid"/>
          </a:ln>
        </p:spPr>
      </p:sp>
      <p:sp>
        <p:nvSpPr>
          <p:cNvPr id="44" name="Text"/>
          <p:cNvSpPr txBox="1"/>
          <p:nvPr/>
        </p:nvSpPr>
        <p:spPr>
          <a:xfrm>
            <a:off x="6306207" y="4620000"/>
            <a:ext cx="2479280"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0.64</a:t>
            </a:r>
            <a:endParaRPr lang="en-US" sz="1200" dirty="0"/>
          </a:p>
        </p:txBody>
      </p:sp>
      <p:sp>
        <p:nvSpPr>
          <p:cNvPr id="45" name="Shape"/>
          <p:cNvSpPr/>
          <p:nvPr/>
        </p:nvSpPr>
        <p:spPr>
          <a:xfrm>
            <a:off x="8905487" y="4620000"/>
            <a:ext cx="2719280" cy="700000"/>
          </a:xfrm>
          <a:prstGeom prst="rect">
            <a:avLst/>
          </a:prstGeom>
          <a:solidFill>
            <a:srgbClr val="FFFFFF"/>
          </a:solidFill>
          <a:ln w="9525">
            <a:solidFill>
              <a:srgbClr val="D9E0E3"/>
            </a:solidFill>
            <a:prstDash val="solid"/>
          </a:ln>
        </p:spPr>
      </p:sp>
      <p:sp>
        <p:nvSpPr>
          <p:cNvPr id="46" name="Text"/>
          <p:cNvSpPr txBox="1"/>
          <p:nvPr/>
        </p:nvSpPr>
        <p:spPr>
          <a:xfrm>
            <a:off x="9025487" y="4620000"/>
            <a:ext cx="2479280"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0.00</a:t>
            </a:r>
            <a:endParaRPr lang="en-US" sz="1200" dirty="0"/>
          </a:p>
        </p:txBody>
      </p:sp>
      <p:sp>
        <p:nvSpPr>
          <p:cNvPr id="47" name="Shape"/>
          <p:cNvSpPr/>
          <p:nvPr/>
        </p:nvSpPr>
        <p:spPr>
          <a:xfrm>
            <a:off x="566928" y="5400000"/>
            <a:ext cx="5408919" cy="720000"/>
          </a:xfrm>
          <a:prstGeom prst="roundRect">
            <a:avLst>
              <a:gd name="adj" fmla="val 2933"/>
            </a:avLst>
          </a:prstGeom>
          <a:solidFill>
            <a:srgbClr val="F7E4D8"/>
          </a:solidFill>
          <a:ln w="12700">
            <a:solidFill>
              <a:srgbClr val="F7E4D8"/>
            </a:solidFill>
            <a:prstDash val="solid"/>
          </a:ln>
        </p:spPr>
      </p:sp>
      <p:sp>
        <p:nvSpPr>
          <p:cNvPr id="48" name="Text"/>
          <p:cNvSpPr txBox="1"/>
          <p:nvPr/>
        </p:nvSpPr>
        <p:spPr>
          <a:xfrm>
            <a:off x="804672" y="5520000"/>
            <a:ext cx="4933431" cy="300000"/>
          </a:xfrm>
          <a:prstGeom prst="rect">
            <a:avLst/>
          </a:prstGeom>
          <a:noFill/>
          <a:ln/>
        </p:spPr>
        <p:txBody>
          <a:bodyPr wrap="square" lIns="0" tIns="0" rIns="0" bIns="0" rtlCol="0" anchor="t"/>
          <a:lstStyle/>
          <a:p>
            <a:pPr indent="0" marL="0">
              <a:buNone/>
            </a:pPr>
            <a:r>
              <a:rPr lang="en-US" sz="1400" b="1" dirty="0">
                <a:solidFill>
                  <a:srgbClr val="16262E"/>
                </a:solidFill>
                <a:latin typeface="Arial" pitchFamily="34" charset="0"/>
                <a:ea typeface="Arial" pitchFamily="34" charset="-122"/>
                <a:cs typeface="Arial" pitchFamily="34" charset="-120"/>
              </a:rPr>
              <a:t>κ = (6a − S) / (36 − S)</a:t>
            </a:r>
            <a:endParaRPr lang="en-US" sz="1400" dirty="0"/>
          </a:p>
        </p:txBody>
      </p:sp>
      <p:sp>
        <p:nvSpPr>
          <p:cNvPr id="49" name="Text"/>
          <p:cNvSpPr txBox="1"/>
          <p:nvPr/>
        </p:nvSpPr>
        <p:spPr>
          <a:xfrm>
            <a:off x="804672" y="5800000"/>
            <a:ext cx="4933431" cy="300000"/>
          </a:xfrm>
          <a:prstGeom prst="rect">
            <a:avLst/>
          </a:prstGeom>
          <a:noFill/>
          <a:ln/>
        </p:spPr>
        <p:txBody>
          <a:bodyPr wrap="square" lIns="0" tIns="0" rIns="0" bIns="0" rtlCol="0" anchor="t"/>
          <a:lstStyle/>
          <a:p>
            <a:pPr indent="0" marL="0">
              <a:lnSpc>
                <a:spcPct val="103000"/>
              </a:lnSpc>
              <a:buNone/>
            </a:pPr>
            <a:r>
              <a:rPr lang="en-US" sz="1000" dirty="0">
                <a:solidFill>
                  <a:srgbClr val="5A6B73"/>
                </a:solidFill>
                <a:latin typeface="Calibri" pitchFamily="34" charset="0"/>
                <a:ea typeface="Calibri" pitchFamily="34" charset="-122"/>
                <a:cs typeface="Calibri" pitchFamily="34" charset="-120"/>
              </a:rPr>
              <a:t>a es en cuántas de las seis filas coincidieron. S es la suma, nivel por nivel, del conteo de un equipo por el del otro. Todo con enteros: es la del paso 4.</a:t>
            </a:r>
            <a:endParaRPr lang="en-US" sz="1000" dirty="0"/>
          </a:p>
        </p:txBody>
      </p:sp>
      <p:sp>
        <p:nvSpPr>
          <p:cNvPr id="50" name="Shape"/>
          <p:cNvSpPr/>
          <p:nvPr/>
        </p:nvSpPr>
        <p:spPr>
          <a:xfrm>
            <a:off x="6215847" y="5400000"/>
            <a:ext cx="5408919" cy="720000"/>
          </a:xfrm>
          <a:prstGeom prst="roundRect">
            <a:avLst>
              <a:gd name="adj" fmla="val 2933"/>
            </a:avLst>
          </a:prstGeom>
          <a:solidFill>
            <a:srgbClr val="F2F5F6"/>
          </a:solidFill>
          <a:ln w="12700">
            <a:solidFill>
              <a:srgbClr val="F2F5F6"/>
            </a:solidFill>
            <a:prstDash val="solid"/>
          </a:ln>
        </p:spPr>
      </p:sp>
      <p:sp>
        <p:nvSpPr>
          <p:cNvPr id="51" name="Text"/>
          <p:cNvSpPr txBox="1"/>
          <p:nvPr/>
        </p:nvSpPr>
        <p:spPr>
          <a:xfrm>
            <a:off x="6453591" y="5510000"/>
            <a:ext cx="4933431" cy="520000"/>
          </a:xfrm>
          <a:prstGeom prst="rect">
            <a:avLst/>
          </a:prstGeom>
          <a:noFill/>
          <a:ln/>
        </p:spPr>
        <p:txBody>
          <a:bodyPr wrap="square" lIns="0" tIns="0" rIns="0" bIns="0" rtlCol="0" anchor="t"/>
          <a:lstStyle/>
          <a:p>
            <a:pPr indent="0" marL="0">
              <a:lnSpc>
                <a:spcPct val="103000"/>
              </a:lnSpc>
              <a:buNone/>
            </a:pPr>
            <a:r>
              <a:rPr lang="en-US" sz="1050" dirty="0">
                <a:solidFill>
                  <a:srgbClr val="16262E"/>
                </a:solidFill>
                <a:latin typeface="Calibri" pitchFamily="34" charset="0"/>
                <a:ea typeface="Calibri" pitchFamily="34" charset="-122"/>
                <a:cs typeface="Calibri" pitchFamily="34" charset="-120"/>
              </a:rPr>
              <a:t>El mismo 94.7 por ciento vale 0.93 en su corpus y 0.64 cuando un tema domina. Y dos codificadores que nunca abren el archivo llegan al 97 por ciento con kappa de cero: todo su acuerdo era gratis. Kappa es la parte que no se explica por azar.</a:t>
            </a:r>
            <a:endParaRPr lang="en-US" sz="1050" dirty="0"/>
          </a:p>
        </p:txBody>
      </p:sp>
      <p:sp>
        <p:nvSpPr>
          <p:cNvPr id="52" name="Text"/>
          <p:cNvSpPr txBox="1"/>
          <p:nvPr/>
        </p:nvSpPr>
        <p:spPr>
          <a:xfrm>
            <a:off x="566928" y="620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Cohen (1960), «A coefficient of agreement for nominal scales». La paradoja del acuerdo alto con kappa baja está documentada en Feinstein y Cicchetti (1990) y en Zec y otros (2017). Escalas de interpretación y sus críticas, en el handout.</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Fuentes">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Fuentes</a:t>
            </a:r>
            <a:endParaRPr lang="en-US" sz="3200" dirty="0"/>
          </a:p>
        </p:txBody>
      </p:sp>
      <p:sp>
        <p:nvSpPr>
          <p:cNvPr id="3" name="Text"/>
          <p:cNvSpPr txBox="1"/>
          <p:nvPr/>
        </p:nvSpPr>
        <p:spPr>
          <a:xfrm>
            <a:off x="566928" y="1300000"/>
            <a:ext cx="5378919" cy="260000"/>
          </a:xfrm>
          <a:prstGeom prst="rect">
            <a:avLst/>
          </a:prstGeom>
          <a:noFill/>
          <a:ln/>
        </p:spPr>
        <p:txBody>
          <a:bodyPr wrap="square" lIns="0" tIns="0" rIns="0" bIns="0" rtlCol="0" anchor="t"/>
          <a:lstStyle/>
          <a:p>
            <a:pPr indent="0" marL="0">
              <a:buNone/>
            </a:pPr>
            <a:r>
              <a:rPr lang="en-US" sz="1100" b="1" spc="100" kern="0" dirty="0">
                <a:solidFill>
                  <a:srgbClr val="2E7D7D"/>
                </a:solidFill>
                <a:latin typeface="Arial" pitchFamily="34" charset="0"/>
                <a:ea typeface="Arial" pitchFamily="34" charset="-122"/>
                <a:cs typeface="Arial" pitchFamily="34" charset="-120"/>
              </a:rPr>
              <a:t>MEDIR: EXTRACCIÓN Y ACUERDO</a:t>
            </a:r>
            <a:endParaRPr lang="en-US" sz="1100" dirty="0"/>
          </a:p>
        </p:txBody>
      </p:sp>
      <p:sp>
        <p:nvSpPr>
          <p:cNvPr id="4" name="Text"/>
          <p:cNvSpPr txBox="1"/>
          <p:nvPr/>
        </p:nvSpPr>
        <p:spPr>
          <a:xfrm>
            <a:off x="566928" y="1620000"/>
            <a:ext cx="5378919" cy="4300000"/>
          </a:xfrm>
          <a:prstGeom prst="rect">
            <a:avLst/>
          </a:prstGeom>
          <a:noFill/>
          <a:ln/>
        </p:spPr>
        <p:txBody>
          <a:bodyPr wrap="square" lIns="0" tIns="0" rIns="0" bIns="0" rtlCol="0" anchor="t"/>
          <a:lstStyle/>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van Rijsbergen (1979). Information Retrieval, 2ª ed., cap. 7 «Evaluation». Butterworths. Origen de la familia Fβ.</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Chinchor (1992). «MUC-4 Evaluation Metrics». Proceedings of MUC-4, pp. 22-29. aclanthology.org/M92-1002.pdf</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Manning, Raghavan y Schütze (2008). Introduction to Information Retrieval, §8.3. nlp.stanford.edu/IR-book</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Tjong Kim Sang y De Meulder (2003). «Introduction to the CoNLL-2003 Shared Task». aclanthology.org/W03-0419.pdf</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Cohen (1960). «A coefficient of agreement for nominal scales». Educational and Psychological Measurement 20(1).</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Landis y Koch (1977). «The measurement of observer agreement for categorical data». Biometrics 33(1).</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Feinstein y Cicchetti (1990). «High agreement but low kappa». Journal of Clinical Epidemiology 43(6).</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Zec, Soriani, Comoretto y Baldi (2017). «High Agreement and High Prevalence: The Paradox of Cohen's Kappa».</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Hayes y Krippendorff (2007). «Answering the Call for a Standard Reliability Measure for Coding Data».</a:t>
            </a:r>
            <a:endParaRPr lang="en-US" sz="1050" dirty="0"/>
          </a:p>
        </p:txBody>
      </p:sp>
      <p:sp>
        <p:nvSpPr>
          <p:cNvPr id="5" name="Text"/>
          <p:cNvSpPr txBox="1"/>
          <p:nvPr/>
        </p:nvSpPr>
        <p:spPr>
          <a:xfrm>
            <a:off x="6245847" y="1300000"/>
            <a:ext cx="5378919" cy="260000"/>
          </a:xfrm>
          <a:prstGeom prst="rect">
            <a:avLst/>
          </a:prstGeom>
          <a:noFill/>
          <a:ln/>
        </p:spPr>
        <p:txBody>
          <a:bodyPr wrap="square" lIns="0" tIns="0" rIns="0" bIns="0" rtlCol="0" anchor="t"/>
          <a:lstStyle/>
          <a:p>
            <a:pPr indent="0" marL="0">
              <a:buNone/>
            </a:pPr>
            <a:r>
              <a:rPr lang="en-US" sz="1100" b="1" spc="100" kern="0" dirty="0">
                <a:solidFill>
                  <a:srgbClr val="2E7D7D"/>
                </a:solidFill>
                <a:latin typeface="Arial" pitchFamily="34" charset="0"/>
                <a:ea typeface="Arial" pitchFamily="34" charset="-122"/>
                <a:cs typeface="Arial" pitchFamily="34" charset="-120"/>
              </a:rPr>
              <a:t>ATRIBUCIÓN, FIDELIDAD Y RIGOR</a:t>
            </a:r>
            <a:endParaRPr lang="en-US" sz="1100" dirty="0"/>
          </a:p>
        </p:txBody>
      </p:sp>
      <p:sp>
        <p:nvSpPr>
          <p:cNvPr id="6" name="Text"/>
          <p:cNvSpPr txBox="1"/>
          <p:nvPr/>
        </p:nvSpPr>
        <p:spPr>
          <a:xfrm>
            <a:off x="6245847" y="1620000"/>
            <a:ext cx="5378919" cy="4300000"/>
          </a:xfrm>
          <a:prstGeom prst="rect">
            <a:avLst/>
          </a:prstGeom>
          <a:noFill/>
          <a:ln/>
        </p:spPr>
        <p:txBody>
          <a:bodyPr wrap="square" lIns="0" tIns="0" rIns="0" bIns="0" rtlCol="0" anchor="t"/>
          <a:lstStyle/>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Rashkin y otros (2023). «Measuring Attribution in Natural Language Generation Models». Computational Linguistics 49(4).</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Liu, Zhang y Liang (2023). «Evaluating Verifiability in Generative Search Engines». Findings of EMNLP.</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Zhang, Wan y Bansal (2023). «Extractive is not Faithful: An Investigation of Broad Unfaithfulness Problems». ACL.</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Maynez, Narayan, Bohnet y McDonald (2020). «On Faithfulness and Factuality in Abstractive Summarization». ACL.</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Huang y otros (2024). «Large Language Models Cannot Self-Correct Reasoning Yet». ICLR.</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Guba (1981). «Criteria for assessing the trustworthiness of naturalistic inquiries». ECTJ 29(2). La pista de auditoría.</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IPCC (2010). Guidance Note for Lead Authors on Consistent Treatment of Uncertainties.</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Lewin y otros (2015). «Using qualitative evidence in decision making: the CERQual approach». PLoS Medicine.</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CONEVAL. Lineamientos generales para la evaluación de los Programas Federales, DOF 30 de marzo de 2007, lineamiento vigésimo octavo.</a:t>
            </a:r>
            <a:endParaRPr lang="en-US" sz="1050" dirty="0"/>
          </a:p>
        </p:txBody>
      </p:sp>
      <p:sp>
        <p:nvSpPr>
          <p:cNvPr id="7" name="Text"/>
          <p:cNvSpPr txBox="1"/>
          <p:nvPr/>
        </p:nvSpPr>
        <p:spPr>
          <a:xfrm>
            <a:off x="566928" y="625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Fuentes abiertas y verificadas el 21 de septiembre de 2026. El handout de la sesión trae las fórmulas, las escalas de interpretación de kappa y sus críticas. Las obras citadas son de sus autores y no las cubre la licencia del curso.</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Costo asimetrico">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El costo del error no es simétrico, y la métrica no lo sabe</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Dos asistentes, dos maneras de equivocarse sobre el mismo artículo 9.</a:t>
            </a:r>
            <a:endParaRPr lang="en-US" sz="1500" dirty="0"/>
          </a:p>
        </p:txBody>
      </p:sp>
      <p:sp>
        <p:nvSpPr>
          <p:cNvPr id="4" name="Shape"/>
          <p:cNvSpPr/>
          <p:nvPr/>
        </p:nvSpPr>
        <p:spPr>
          <a:xfrm>
            <a:off x="566928" y="1700000"/>
            <a:ext cx="11057839" cy="300000"/>
          </a:xfrm>
          <a:prstGeom prst="roundRect">
            <a:avLst>
              <a:gd name="adj" fmla="val 20000"/>
            </a:avLst>
          </a:prstGeom>
          <a:solidFill>
            <a:srgbClr val="D7E7E7"/>
          </a:solidFill>
          <a:ln w="12700">
            <a:solidFill>
              <a:srgbClr val="D7E7E7"/>
            </a:solidFill>
            <a:prstDash val="solid"/>
          </a:ln>
        </p:spPr>
      </p:sp>
      <p:sp>
        <p:nvSpPr>
          <p:cNvPr id="5" name="Text"/>
          <p:cNvSpPr txBox="1"/>
          <p:nvPr/>
        </p:nvSpPr>
        <p:spPr>
          <a:xfrm>
            <a:off x="766928" y="1700000"/>
            <a:ext cx="1700000" cy="300000"/>
          </a:xfrm>
          <a:prstGeom prst="rect">
            <a:avLst/>
          </a:prstGeom>
          <a:noFill/>
          <a:ln/>
        </p:spPr>
        <p:txBody>
          <a:bodyPr wrap="square" lIns="0" tIns="0" rIns="0" bIns="0" rtlCol="0" anchor="ctr"/>
          <a:lstStyle/>
          <a:p>
            <a:pPr indent="0" marL="0">
              <a:buNone/>
            </a:pPr>
            <a:r>
              <a:rPr lang="en-US" sz="950" b="1" spc="100" kern="0" dirty="0">
                <a:solidFill>
                  <a:srgbClr val="2E7D7D"/>
                </a:solidFill>
                <a:latin typeface="Arial" pitchFamily="34" charset="0"/>
                <a:ea typeface="Arial" pitchFamily="34" charset="-122"/>
                <a:cs typeface="Arial" pitchFamily="34" charset="-120"/>
              </a:rPr>
              <a:t>DE DÓNDE SALE</a:t>
            </a:r>
            <a:endParaRPr lang="en-US" sz="950" dirty="0"/>
          </a:p>
        </p:txBody>
      </p:sp>
      <p:sp>
        <p:nvSpPr>
          <p:cNvPr id="6" name="Text"/>
          <p:cNvSpPr txBox="1"/>
          <p:nvPr/>
        </p:nvSpPr>
        <p:spPr>
          <a:xfrm>
            <a:off x="2516928" y="1700000"/>
            <a:ext cx="8907839" cy="300000"/>
          </a:xfrm>
          <a:prstGeom prst="rect">
            <a:avLst/>
          </a:prstGeom>
          <a:noFill/>
          <a:ln/>
        </p:spPr>
        <p:txBody>
          <a:bodyPr wrap="square" lIns="0" tIns="0" rIns="0" bIns="0" rtlCol="0" anchor="ctr"/>
          <a:lstStyle/>
          <a:p>
            <a:pPr indent="0" marL="0">
              <a:buNone/>
            </a:pPr>
            <a:r>
              <a:rPr lang="en-US" sz="1100" dirty="0">
                <a:solidFill>
                  <a:srgbClr val="16262E"/>
                </a:solidFill>
                <a:latin typeface="Calibri" pitchFamily="34" charset="0"/>
                <a:ea typeface="Calibri" pitchFamily="34" charset="-122"/>
                <a:cs typeface="Calibri" pitchFamily="34" charset="-120"/>
              </a:rPr>
              <a:t>El mismo prompt de la lámina anterior, corrido dos veces. El asistente que inventa ya lo vieron; el que omite es hipotético.</a:t>
            </a:r>
            <a:endParaRPr lang="en-US" sz="1100" dirty="0"/>
          </a:p>
        </p:txBody>
      </p:sp>
      <p:sp>
        <p:nvSpPr>
          <p:cNvPr id="7" name="Shape"/>
          <p:cNvSpPr/>
          <p:nvPr/>
        </p:nvSpPr>
        <p:spPr>
          <a:xfrm>
            <a:off x="566928" y="2100000"/>
            <a:ext cx="3100000" cy="420000"/>
          </a:xfrm>
          <a:prstGeom prst="rect">
            <a:avLst/>
          </a:prstGeom>
          <a:solidFill>
            <a:srgbClr val="16262E"/>
          </a:solidFill>
          <a:ln w="9525">
            <a:solidFill>
              <a:srgbClr val="FFFFFF"/>
            </a:solidFill>
            <a:prstDash val="solid"/>
          </a:ln>
        </p:spPr>
      </p:sp>
      <p:sp>
        <p:nvSpPr>
          <p:cNvPr id="8" name="Text"/>
          <p:cNvSpPr txBox="1"/>
          <p:nvPr/>
        </p:nvSpPr>
        <p:spPr>
          <a:xfrm>
            <a:off x="686928" y="2100000"/>
            <a:ext cx="28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
            </a:r>
            <a:endParaRPr lang="en-US" sz="1200" dirty="0"/>
          </a:p>
        </p:txBody>
      </p:sp>
      <p:sp>
        <p:nvSpPr>
          <p:cNvPr id="9" name="Shape"/>
          <p:cNvSpPr/>
          <p:nvPr/>
        </p:nvSpPr>
        <p:spPr>
          <a:xfrm>
            <a:off x="3666928" y="2100000"/>
            <a:ext cx="2652613" cy="420000"/>
          </a:xfrm>
          <a:prstGeom prst="rect">
            <a:avLst/>
          </a:prstGeom>
          <a:solidFill>
            <a:srgbClr val="16262E"/>
          </a:solidFill>
          <a:ln w="9525">
            <a:solidFill>
              <a:srgbClr val="FFFFFF"/>
            </a:solidFill>
            <a:prstDash val="solid"/>
          </a:ln>
        </p:spPr>
      </p:sp>
      <p:sp>
        <p:nvSpPr>
          <p:cNvPr id="10" name="Text"/>
          <p:cNvSpPr txBox="1"/>
          <p:nvPr/>
        </p:nvSpPr>
        <p:spPr>
          <a:xfrm>
            <a:off x="3786928" y="2100000"/>
            <a:ext cx="2412613"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Inventa un requisito</a:t>
            </a:r>
            <a:endParaRPr lang="en-US" sz="1200" dirty="0"/>
          </a:p>
        </p:txBody>
      </p:sp>
      <p:sp>
        <p:nvSpPr>
          <p:cNvPr id="11" name="Shape"/>
          <p:cNvSpPr/>
          <p:nvPr/>
        </p:nvSpPr>
        <p:spPr>
          <a:xfrm>
            <a:off x="6319541" y="2100000"/>
            <a:ext cx="2652613" cy="420000"/>
          </a:xfrm>
          <a:prstGeom prst="rect">
            <a:avLst/>
          </a:prstGeom>
          <a:solidFill>
            <a:srgbClr val="16262E"/>
          </a:solidFill>
          <a:ln w="9525">
            <a:solidFill>
              <a:srgbClr val="FFFFFF"/>
            </a:solidFill>
            <a:prstDash val="solid"/>
          </a:ln>
        </p:spPr>
      </p:sp>
      <p:sp>
        <p:nvSpPr>
          <p:cNvPr id="12" name="Text"/>
          <p:cNvSpPr txBox="1"/>
          <p:nvPr/>
        </p:nvSpPr>
        <p:spPr>
          <a:xfrm>
            <a:off x="6439541" y="2100000"/>
            <a:ext cx="2412613"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Omite un requisito</a:t>
            </a:r>
            <a:endParaRPr lang="en-US" sz="1200" dirty="0"/>
          </a:p>
        </p:txBody>
      </p:sp>
      <p:sp>
        <p:nvSpPr>
          <p:cNvPr id="13" name="Shape"/>
          <p:cNvSpPr/>
          <p:nvPr/>
        </p:nvSpPr>
        <p:spPr>
          <a:xfrm>
            <a:off x="8972154" y="2100000"/>
            <a:ext cx="2652613" cy="420000"/>
          </a:xfrm>
          <a:prstGeom prst="rect">
            <a:avLst/>
          </a:prstGeom>
          <a:solidFill>
            <a:srgbClr val="16262E"/>
          </a:solidFill>
          <a:ln w="9525">
            <a:solidFill>
              <a:srgbClr val="FFFFFF"/>
            </a:solidFill>
            <a:prstDash val="solid"/>
          </a:ln>
        </p:spPr>
      </p:sp>
      <p:sp>
        <p:nvSpPr>
          <p:cNvPr id="14" name="Text"/>
          <p:cNvSpPr txBox="1"/>
          <p:nvPr/>
        </p:nvSpPr>
        <p:spPr>
          <a:xfrm>
            <a:off x="9092154" y="2100000"/>
            <a:ext cx="2412613"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Quién gana</a:t>
            </a:r>
            <a:endParaRPr lang="en-US" sz="1200" dirty="0"/>
          </a:p>
        </p:txBody>
      </p:sp>
      <p:sp>
        <p:nvSpPr>
          <p:cNvPr id="15" name="Shape"/>
          <p:cNvSpPr/>
          <p:nvPr/>
        </p:nvSpPr>
        <p:spPr>
          <a:xfrm>
            <a:off x="566928" y="2520000"/>
            <a:ext cx="3100000" cy="620000"/>
          </a:xfrm>
          <a:prstGeom prst="rect">
            <a:avLst/>
          </a:prstGeom>
          <a:solidFill>
            <a:srgbClr val="D7E7E7"/>
          </a:solidFill>
          <a:ln w="9525">
            <a:solidFill>
              <a:srgbClr val="D9E0E3"/>
            </a:solidFill>
            <a:prstDash val="solid"/>
          </a:ln>
        </p:spPr>
      </p:sp>
      <p:sp>
        <p:nvSpPr>
          <p:cNvPr id="16" name="Text"/>
          <p:cNvSpPr txBox="1"/>
          <p:nvPr/>
        </p:nvSpPr>
        <p:spPr>
          <a:xfrm>
            <a:off x="686928" y="2520000"/>
            <a:ext cx="2860000" cy="620000"/>
          </a:xfrm>
          <a:prstGeom prst="rect">
            <a:avLst/>
          </a:prstGeom>
          <a:noFill/>
          <a:ln/>
        </p:spPr>
        <p:txBody>
          <a:bodyPr wrap="square" lIns="0" tIns="0" rIns="0" bIns="0" rtlCol="0" anchor="ctr"/>
          <a:lstStyle/>
          <a:p>
            <a:pPr indent="0" marL="0">
              <a:lnSpc>
                <a:spcPct val="103000"/>
              </a:lnSpc>
              <a:buNone/>
            </a:pPr>
            <a:r>
              <a:rPr lang="en-US" sz="1200" b="1" dirty="0">
                <a:solidFill>
                  <a:srgbClr val="16262E"/>
                </a:solidFill>
                <a:latin typeface="Arial" pitchFamily="34" charset="0"/>
                <a:ea typeface="Arial" pitchFamily="34" charset="-122"/>
                <a:cs typeface="Arial" pitchFamily="34" charset="-120"/>
              </a:rPr>
              <a:t>Lo que hizo</a:t>
            </a:r>
            <a:endParaRPr lang="en-US" sz="1200" dirty="0"/>
          </a:p>
        </p:txBody>
      </p:sp>
      <p:sp>
        <p:nvSpPr>
          <p:cNvPr id="17" name="Shape"/>
          <p:cNvSpPr/>
          <p:nvPr/>
        </p:nvSpPr>
        <p:spPr>
          <a:xfrm>
            <a:off x="3666928" y="2520000"/>
            <a:ext cx="2652613" cy="620000"/>
          </a:xfrm>
          <a:prstGeom prst="rect">
            <a:avLst/>
          </a:prstGeom>
          <a:solidFill>
            <a:srgbClr val="F2F5F6"/>
          </a:solidFill>
          <a:ln w="9525">
            <a:solidFill>
              <a:srgbClr val="D9E0E3"/>
            </a:solidFill>
            <a:prstDash val="solid"/>
          </a:ln>
        </p:spPr>
      </p:sp>
      <p:sp>
        <p:nvSpPr>
          <p:cNvPr id="18" name="Text"/>
          <p:cNvSpPr txBox="1"/>
          <p:nvPr/>
        </p:nvSpPr>
        <p:spPr>
          <a:xfrm>
            <a:off x="3786928" y="252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Devuelve los 5 y agrega uno que no existe.</a:t>
            </a:r>
            <a:endParaRPr lang="en-US" sz="1200" dirty="0"/>
          </a:p>
        </p:txBody>
      </p:sp>
      <p:sp>
        <p:nvSpPr>
          <p:cNvPr id="19" name="Shape"/>
          <p:cNvSpPr/>
          <p:nvPr/>
        </p:nvSpPr>
        <p:spPr>
          <a:xfrm>
            <a:off x="6319541" y="2520000"/>
            <a:ext cx="2652613" cy="620000"/>
          </a:xfrm>
          <a:prstGeom prst="rect">
            <a:avLst/>
          </a:prstGeom>
          <a:solidFill>
            <a:srgbClr val="F2F5F6"/>
          </a:solidFill>
          <a:ln w="9525">
            <a:solidFill>
              <a:srgbClr val="D9E0E3"/>
            </a:solidFill>
            <a:prstDash val="solid"/>
          </a:ln>
        </p:spPr>
      </p:sp>
      <p:sp>
        <p:nvSpPr>
          <p:cNvPr id="20" name="Text"/>
          <p:cNvSpPr txBox="1"/>
          <p:nvPr/>
        </p:nvSpPr>
        <p:spPr>
          <a:xfrm>
            <a:off x="6439541" y="252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Devuelve 4 correctos y se salta uno.</a:t>
            </a:r>
            <a:endParaRPr lang="en-US" sz="1200" dirty="0"/>
          </a:p>
        </p:txBody>
      </p:sp>
      <p:sp>
        <p:nvSpPr>
          <p:cNvPr id="21" name="Shape"/>
          <p:cNvSpPr/>
          <p:nvPr/>
        </p:nvSpPr>
        <p:spPr>
          <a:xfrm>
            <a:off x="8972154" y="2520000"/>
            <a:ext cx="2652613" cy="620000"/>
          </a:xfrm>
          <a:prstGeom prst="rect">
            <a:avLst/>
          </a:prstGeom>
          <a:solidFill>
            <a:srgbClr val="F2F5F6"/>
          </a:solidFill>
          <a:ln w="9525">
            <a:solidFill>
              <a:srgbClr val="D9E0E3"/>
            </a:solidFill>
            <a:prstDash val="solid"/>
          </a:ln>
        </p:spPr>
      </p:sp>
      <p:sp>
        <p:nvSpPr>
          <p:cNvPr id="22" name="Text"/>
          <p:cNvSpPr txBox="1"/>
          <p:nvPr/>
        </p:nvSpPr>
        <p:spPr>
          <a:xfrm>
            <a:off x="9092154" y="252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
            </a:r>
            <a:endParaRPr lang="en-US" sz="1200" dirty="0"/>
          </a:p>
        </p:txBody>
      </p:sp>
      <p:sp>
        <p:nvSpPr>
          <p:cNvPr id="23" name="Shape"/>
          <p:cNvSpPr/>
          <p:nvPr/>
        </p:nvSpPr>
        <p:spPr>
          <a:xfrm>
            <a:off x="566928" y="3140000"/>
            <a:ext cx="3100000" cy="620000"/>
          </a:xfrm>
          <a:prstGeom prst="rect">
            <a:avLst/>
          </a:prstGeom>
          <a:solidFill>
            <a:srgbClr val="D7E7E7"/>
          </a:solidFill>
          <a:ln w="9525">
            <a:solidFill>
              <a:srgbClr val="D9E0E3"/>
            </a:solidFill>
            <a:prstDash val="solid"/>
          </a:ln>
        </p:spPr>
      </p:sp>
      <p:sp>
        <p:nvSpPr>
          <p:cNvPr id="24" name="Text"/>
          <p:cNvSpPr txBox="1"/>
          <p:nvPr/>
        </p:nvSpPr>
        <p:spPr>
          <a:xfrm>
            <a:off x="686928" y="3140000"/>
            <a:ext cx="2860000" cy="620000"/>
          </a:xfrm>
          <a:prstGeom prst="rect">
            <a:avLst/>
          </a:prstGeom>
          <a:noFill/>
          <a:ln/>
        </p:spPr>
        <p:txBody>
          <a:bodyPr wrap="square" lIns="0" tIns="0" rIns="0" bIns="0" rtlCol="0" anchor="ctr"/>
          <a:lstStyle/>
          <a:p>
            <a:pPr indent="0" marL="0">
              <a:lnSpc>
                <a:spcPct val="103000"/>
              </a:lnSpc>
              <a:buNone/>
            </a:pPr>
            <a:r>
              <a:rPr lang="en-US" sz="1200" b="1" dirty="0">
                <a:solidFill>
                  <a:srgbClr val="16262E"/>
                </a:solidFill>
                <a:latin typeface="Arial" pitchFamily="34" charset="0"/>
                <a:ea typeface="Arial" pitchFamily="34" charset="-122"/>
                <a:cs typeface="Arial" pitchFamily="34" charset="-120"/>
              </a:rPr>
              <a:t>Precisión y recuperación</a:t>
            </a:r>
            <a:endParaRPr lang="en-US" sz="1200" dirty="0"/>
          </a:p>
        </p:txBody>
      </p:sp>
      <p:sp>
        <p:nvSpPr>
          <p:cNvPr id="25" name="Shape"/>
          <p:cNvSpPr/>
          <p:nvPr/>
        </p:nvSpPr>
        <p:spPr>
          <a:xfrm>
            <a:off x="3666928" y="3140000"/>
            <a:ext cx="2652613" cy="620000"/>
          </a:xfrm>
          <a:prstGeom prst="rect">
            <a:avLst/>
          </a:prstGeom>
          <a:solidFill>
            <a:srgbClr val="FFFFFF"/>
          </a:solidFill>
          <a:ln w="9525">
            <a:solidFill>
              <a:srgbClr val="D9E0E3"/>
            </a:solidFill>
            <a:prstDash val="solid"/>
          </a:ln>
        </p:spPr>
      </p:sp>
      <p:sp>
        <p:nvSpPr>
          <p:cNvPr id="26" name="Text"/>
          <p:cNvSpPr txBox="1"/>
          <p:nvPr/>
        </p:nvSpPr>
        <p:spPr>
          <a:xfrm>
            <a:off x="3786928" y="314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P = 5/6 = 0.83   R = 5/5 = 1.00</a:t>
            </a:r>
            <a:endParaRPr lang="en-US" sz="1200" dirty="0"/>
          </a:p>
        </p:txBody>
      </p:sp>
      <p:sp>
        <p:nvSpPr>
          <p:cNvPr id="27" name="Shape"/>
          <p:cNvSpPr/>
          <p:nvPr/>
        </p:nvSpPr>
        <p:spPr>
          <a:xfrm>
            <a:off x="6319541" y="3140000"/>
            <a:ext cx="2652613" cy="620000"/>
          </a:xfrm>
          <a:prstGeom prst="rect">
            <a:avLst/>
          </a:prstGeom>
          <a:solidFill>
            <a:srgbClr val="FFFFFF"/>
          </a:solidFill>
          <a:ln w="9525">
            <a:solidFill>
              <a:srgbClr val="D9E0E3"/>
            </a:solidFill>
            <a:prstDash val="solid"/>
          </a:ln>
        </p:spPr>
      </p:sp>
      <p:sp>
        <p:nvSpPr>
          <p:cNvPr id="28" name="Text"/>
          <p:cNvSpPr txBox="1"/>
          <p:nvPr/>
        </p:nvSpPr>
        <p:spPr>
          <a:xfrm>
            <a:off x="6439541" y="314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P = 4/4 = 1.00   R = 4/5 = 0.80</a:t>
            </a:r>
            <a:endParaRPr lang="en-US" sz="1200" dirty="0"/>
          </a:p>
        </p:txBody>
      </p:sp>
      <p:sp>
        <p:nvSpPr>
          <p:cNvPr id="29" name="Shape"/>
          <p:cNvSpPr/>
          <p:nvPr/>
        </p:nvSpPr>
        <p:spPr>
          <a:xfrm>
            <a:off x="8972154" y="3140000"/>
            <a:ext cx="2652613" cy="620000"/>
          </a:xfrm>
          <a:prstGeom prst="rect">
            <a:avLst/>
          </a:prstGeom>
          <a:solidFill>
            <a:srgbClr val="FFFFFF"/>
          </a:solidFill>
          <a:ln w="9525">
            <a:solidFill>
              <a:srgbClr val="D9E0E3"/>
            </a:solidFill>
            <a:prstDash val="solid"/>
          </a:ln>
        </p:spPr>
      </p:sp>
      <p:sp>
        <p:nvSpPr>
          <p:cNvPr id="30" name="Text"/>
          <p:cNvSpPr txBox="1"/>
          <p:nvPr/>
        </p:nvSpPr>
        <p:spPr>
          <a:xfrm>
            <a:off x="9092154" y="314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
            </a:r>
            <a:endParaRPr lang="en-US" sz="1200" dirty="0"/>
          </a:p>
        </p:txBody>
      </p:sp>
      <p:sp>
        <p:nvSpPr>
          <p:cNvPr id="31" name="Shape"/>
          <p:cNvSpPr/>
          <p:nvPr/>
        </p:nvSpPr>
        <p:spPr>
          <a:xfrm>
            <a:off x="566928" y="3760000"/>
            <a:ext cx="3100000" cy="620000"/>
          </a:xfrm>
          <a:prstGeom prst="rect">
            <a:avLst/>
          </a:prstGeom>
          <a:solidFill>
            <a:srgbClr val="D7E7E7"/>
          </a:solidFill>
          <a:ln w="9525">
            <a:solidFill>
              <a:srgbClr val="D9E0E3"/>
            </a:solidFill>
            <a:prstDash val="solid"/>
          </a:ln>
        </p:spPr>
      </p:sp>
      <p:sp>
        <p:nvSpPr>
          <p:cNvPr id="32" name="Text"/>
          <p:cNvSpPr txBox="1"/>
          <p:nvPr/>
        </p:nvSpPr>
        <p:spPr>
          <a:xfrm>
            <a:off x="686928" y="3760000"/>
            <a:ext cx="2860000" cy="620000"/>
          </a:xfrm>
          <a:prstGeom prst="rect">
            <a:avLst/>
          </a:prstGeom>
          <a:noFill/>
          <a:ln/>
        </p:spPr>
        <p:txBody>
          <a:bodyPr wrap="square" lIns="0" tIns="0" rIns="0" bIns="0" rtlCol="0" anchor="ctr"/>
          <a:lstStyle/>
          <a:p>
            <a:pPr indent="0" marL="0">
              <a:lnSpc>
                <a:spcPct val="103000"/>
              </a:lnSpc>
              <a:buNone/>
            </a:pPr>
            <a:r>
              <a:rPr lang="en-US" sz="1200" b="1" dirty="0">
                <a:solidFill>
                  <a:srgbClr val="16262E"/>
                </a:solidFill>
                <a:latin typeface="Arial" pitchFamily="34" charset="0"/>
                <a:ea typeface="Arial" pitchFamily="34" charset="-122"/>
                <a:cs typeface="Arial" pitchFamily="34" charset="-120"/>
              </a:rPr>
              <a:t>F1, los dos errores pesan igual</a:t>
            </a:r>
            <a:endParaRPr lang="en-US" sz="1200" dirty="0"/>
          </a:p>
        </p:txBody>
      </p:sp>
      <p:sp>
        <p:nvSpPr>
          <p:cNvPr id="33" name="Shape"/>
          <p:cNvSpPr/>
          <p:nvPr/>
        </p:nvSpPr>
        <p:spPr>
          <a:xfrm>
            <a:off x="3666928" y="3760000"/>
            <a:ext cx="2652613" cy="620000"/>
          </a:xfrm>
          <a:prstGeom prst="rect">
            <a:avLst/>
          </a:prstGeom>
          <a:solidFill>
            <a:srgbClr val="F2F5F6"/>
          </a:solidFill>
          <a:ln w="9525">
            <a:solidFill>
              <a:srgbClr val="D9E0E3"/>
            </a:solidFill>
            <a:prstDash val="solid"/>
          </a:ln>
        </p:spPr>
      </p:sp>
      <p:sp>
        <p:nvSpPr>
          <p:cNvPr id="34" name="Text"/>
          <p:cNvSpPr txBox="1"/>
          <p:nvPr/>
        </p:nvSpPr>
        <p:spPr>
          <a:xfrm>
            <a:off x="3786928" y="376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10/11 = 0.91</a:t>
            </a:r>
            <a:endParaRPr lang="en-US" sz="1200" dirty="0"/>
          </a:p>
        </p:txBody>
      </p:sp>
      <p:sp>
        <p:nvSpPr>
          <p:cNvPr id="35" name="Shape"/>
          <p:cNvSpPr/>
          <p:nvPr/>
        </p:nvSpPr>
        <p:spPr>
          <a:xfrm>
            <a:off x="6319541" y="3760000"/>
            <a:ext cx="2652613" cy="620000"/>
          </a:xfrm>
          <a:prstGeom prst="rect">
            <a:avLst/>
          </a:prstGeom>
          <a:solidFill>
            <a:srgbClr val="F2F5F6"/>
          </a:solidFill>
          <a:ln w="9525">
            <a:solidFill>
              <a:srgbClr val="D9E0E3"/>
            </a:solidFill>
            <a:prstDash val="solid"/>
          </a:ln>
        </p:spPr>
      </p:sp>
      <p:sp>
        <p:nvSpPr>
          <p:cNvPr id="36" name="Text"/>
          <p:cNvSpPr txBox="1"/>
          <p:nvPr/>
        </p:nvSpPr>
        <p:spPr>
          <a:xfrm>
            <a:off x="6439541" y="376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8/9 = 0.89</a:t>
            </a:r>
            <a:endParaRPr lang="en-US" sz="1200" dirty="0"/>
          </a:p>
        </p:txBody>
      </p:sp>
      <p:sp>
        <p:nvSpPr>
          <p:cNvPr id="37" name="Shape"/>
          <p:cNvSpPr/>
          <p:nvPr/>
        </p:nvSpPr>
        <p:spPr>
          <a:xfrm>
            <a:off x="8972154" y="3760000"/>
            <a:ext cx="2652613" cy="620000"/>
          </a:xfrm>
          <a:prstGeom prst="rect">
            <a:avLst/>
          </a:prstGeom>
          <a:solidFill>
            <a:srgbClr val="F2F5F6"/>
          </a:solidFill>
          <a:ln w="9525">
            <a:solidFill>
              <a:srgbClr val="D9E0E3"/>
            </a:solidFill>
            <a:prstDash val="solid"/>
          </a:ln>
        </p:spPr>
      </p:sp>
      <p:sp>
        <p:nvSpPr>
          <p:cNvPr id="38" name="Text"/>
          <p:cNvSpPr txBox="1"/>
          <p:nvPr/>
        </p:nvSpPr>
        <p:spPr>
          <a:xfrm>
            <a:off x="9092154" y="376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El que inventa</a:t>
            </a:r>
            <a:endParaRPr lang="en-US" sz="1200" dirty="0"/>
          </a:p>
        </p:txBody>
      </p:sp>
      <p:sp>
        <p:nvSpPr>
          <p:cNvPr id="39" name="Shape"/>
          <p:cNvSpPr/>
          <p:nvPr/>
        </p:nvSpPr>
        <p:spPr>
          <a:xfrm>
            <a:off x="566928" y="4380000"/>
            <a:ext cx="3100000" cy="620000"/>
          </a:xfrm>
          <a:prstGeom prst="rect">
            <a:avLst/>
          </a:prstGeom>
          <a:solidFill>
            <a:srgbClr val="D7E7E7"/>
          </a:solidFill>
          <a:ln w="9525">
            <a:solidFill>
              <a:srgbClr val="D9E0E3"/>
            </a:solidFill>
            <a:prstDash val="solid"/>
          </a:ln>
        </p:spPr>
      </p:sp>
      <p:sp>
        <p:nvSpPr>
          <p:cNvPr id="40" name="Text"/>
          <p:cNvSpPr txBox="1"/>
          <p:nvPr/>
        </p:nvSpPr>
        <p:spPr>
          <a:xfrm>
            <a:off x="686928" y="4380000"/>
            <a:ext cx="2860000" cy="620000"/>
          </a:xfrm>
          <a:prstGeom prst="rect">
            <a:avLst/>
          </a:prstGeom>
          <a:noFill/>
          <a:ln/>
        </p:spPr>
        <p:txBody>
          <a:bodyPr wrap="square" lIns="0" tIns="0" rIns="0" bIns="0" rtlCol="0" anchor="ctr"/>
          <a:lstStyle/>
          <a:p>
            <a:pPr indent="0" marL="0">
              <a:lnSpc>
                <a:spcPct val="103000"/>
              </a:lnSpc>
              <a:buNone/>
            </a:pPr>
            <a:r>
              <a:rPr lang="en-US" sz="1200" b="1" dirty="0">
                <a:solidFill>
                  <a:srgbClr val="16262E"/>
                </a:solidFill>
                <a:latin typeface="Arial" pitchFamily="34" charset="0"/>
                <a:ea typeface="Arial" pitchFamily="34" charset="-122"/>
                <a:cs typeface="Arial" pitchFamily="34" charset="-120"/>
              </a:rPr>
              <a:t>F2, omitir pesa el doble</a:t>
            </a:r>
            <a:endParaRPr lang="en-US" sz="1200" dirty="0"/>
          </a:p>
        </p:txBody>
      </p:sp>
      <p:sp>
        <p:nvSpPr>
          <p:cNvPr id="41" name="Shape"/>
          <p:cNvSpPr/>
          <p:nvPr/>
        </p:nvSpPr>
        <p:spPr>
          <a:xfrm>
            <a:off x="3666928" y="4380000"/>
            <a:ext cx="2652613" cy="620000"/>
          </a:xfrm>
          <a:prstGeom prst="rect">
            <a:avLst/>
          </a:prstGeom>
          <a:solidFill>
            <a:srgbClr val="FFFFFF"/>
          </a:solidFill>
          <a:ln w="9525">
            <a:solidFill>
              <a:srgbClr val="D9E0E3"/>
            </a:solidFill>
            <a:prstDash val="solid"/>
          </a:ln>
        </p:spPr>
      </p:sp>
      <p:sp>
        <p:nvSpPr>
          <p:cNvPr id="42" name="Text"/>
          <p:cNvSpPr txBox="1"/>
          <p:nvPr/>
        </p:nvSpPr>
        <p:spPr>
          <a:xfrm>
            <a:off x="3786928" y="438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0.96</a:t>
            </a:r>
            <a:endParaRPr lang="en-US" sz="1200" dirty="0"/>
          </a:p>
        </p:txBody>
      </p:sp>
      <p:sp>
        <p:nvSpPr>
          <p:cNvPr id="43" name="Shape"/>
          <p:cNvSpPr/>
          <p:nvPr/>
        </p:nvSpPr>
        <p:spPr>
          <a:xfrm>
            <a:off x="6319541" y="4380000"/>
            <a:ext cx="2652613" cy="620000"/>
          </a:xfrm>
          <a:prstGeom prst="rect">
            <a:avLst/>
          </a:prstGeom>
          <a:solidFill>
            <a:srgbClr val="FFFFFF"/>
          </a:solidFill>
          <a:ln w="9525">
            <a:solidFill>
              <a:srgbClr val="D9E0E3"/>
            </a:solidFill>
            <a:prstDash val="solid"/>
          </a:ln>
        </p:spPr>
      </p:sp>
      <p:sp>
        <p:nvSpPr>
          <p:cNvPr id="44" name="Text"/>
          <p:cNvSpPr txBox="1"/>
          <p:nvPr/>
        </p:nvSpPr>
        <p:spPr>
          <a:xfrm>
            <a:off x="6439541" y="438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0.83</a:t>
            </a:r>
            <a:endParaRPr lang="en-US" sz="1200" dirty="0"/>
          </a:p>
        </p:txBody>
      </p:sp>
      <p:sp>
        <p:nvSpPr>
          <p:cNvPr id="45" name="Shape"/>
          <p:cNvSpPr/>
          <p:nvPr/>
        </p:nvSpPr>
        <p:spPr>
          <a:xfrm>
            <a:off x="8972154" y="4380000"/>
            <a:ext cx="2652613" cy="620000"/>
          </a:xfrm>
          <a:prstGeom prst="rect">
            <a:avLst/>
          </a:prstGeom>
          <a:solidFill>
            <a:srgbClr val="FFFFFF"/>
          </a:solidFill>
          <a:ln w="9525">
            <a:solidFill>
              <a:srgbClr val="D9E0E3"/>
            </a:solidFill>
            <a:prstDash val="solid"/>
          </a:ln>
        </p:spPr>
      </p:sp>
      <p:sp>
        <p:nvSpPr>
          <p:cNvPr id="46" name="Text"/>
          <p:cNvSpPr txBox="1"/>
          <p:nvPr/>
        </p:nvSpPr>
        <p:spPr>
          <a:xfrm>
            <a:off x="9092154" y="438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El que inventa, por mucho</a:t>
            </a:r>
            <a:endParaRPr lang="en-US" sz="1200" dirty="0"/>
          </a:p>
        </p:txBody>
      </p:sp>
      <p:sp>
        <p:nvSpPr>
          <p:cNvPr id="47" name="Shape"/>
          <p:cNvSpPr/>
          <p:nvPr/>
        </p:nvSpPr>
        <p:spPr>
          <a:xfrm>
            <a:off x="566928" y="5000000"/>
            <a:ext cx="3100000" cy="620000"/>
          </a:xfrm>
          <a:prstGeom prst="rect">
            <a:avLst/>
          </a:prstGeom>
          <a:solidFill>
            <a:srgbClr val="D7E7E7"/>
          </a:solidFill>
          <a:ln w="9525">
            <a:solidFill>
              <a:srgbClr val="D9E0E3"/>
            </a:solidFill>
            <a:prstDash val="solid"/>
          </a:ln>
        </p:spPr>
      </p:sp>
      <p:sp>
        <p:nvSpPr>
          <p:cNvPr id="48" name="Text"/>
          <p:cNvSpPr txBox="1"/>
          <p:nvPr/>
        </p:nvSpPr>
        <p:spPr>
          <a:xfrm>
            <a:off x="686928" y="5000000"/>
            <a:ext cx="2860000" cy="620000"/>
          </a:xfrm>
          <a:prstGeom prst="rect">
            <a:avLst/>
          </a:prstGeom>
          <a:noFill/>
          <a:ln/>
        </p:spPr>
        <p:txBody>
          <a:bodyPr wrap="square" lIns="0" tIns="0" rIns="0" bIns="0" rtlCol="0" anchor="ctr"/>
          <a:lstStyle/>
          <a:p>
            <a:pPr indent="0" marL="0">
              <a:lnSpc>
                <a:spcPct val="103000"/>
              </a:lnSpc>
              <a:buNone/>
            </a:pPr>
            <a:r>
              <a:rPr lang="en-US" sz="1200" b="1" dirty="0">
                <a:solidFill>
                  <a:srgbClr val="16262E"/>
                </a:solidFill>
                <a:latin typeface="Arial" pitchFamily="34" charset="0"/>
                <a:ea typeface="Arial" pitchFamily="34" charset="-122"/>
                <a:cs typeface="Arial" pitchFamily="34" charset="-120"/>
              </a:rPr>
              <a:t>F0.5, inventar pesa el doble</a:t>
            </a:r>
            <a:endParaRPr lang="en-US" sz="1200" dirty="0"/>
          </a:p>
        </p:txBody>
      </p:sp>
      <p:sp>
        <p:nvSpPr>
          <p:cNvPr id="49" name="Shape"/>
          <p:cNvSpPr/>
          <p:nvPr/>
        </p:nvSpPr>
        <p:spPr>
          <a:xfrm>
            <a:off x="3666928" y="5000000"/>
            <a:ext cx="2652613" cy="620000"/>
          </a:xfrm>
          <a:prstGeom prst="rect">
            <a:avLst/>
          </a:prstGeom>
          <a:solidFill>
            <a:srgbClr val="F2F5F6"/>
          </a:solidFill>
          <a:ln w="9525">
            <a:solidFill>
              <a:srgbClr val="D9E0E3"/>
            </a:solidFill>
            <a:prstDash val="solid"/>
          </a:ln>
        </p:spPr>
      </p:sp>
      <p:sp>
        <p:nvSpPr>
          <p:cNvPr id="50" name="Text"/>
          <p:cNvSpPr txBox="1"/>
          <p:nvPr/>
        </p:nvSpPr>
        <p:spPr>
          <a:xfrm>
            <a:off x="3786928" y="500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0.86</a:t>
            </a:r>
            <a:endParaRPr lang="en-US" sz="1200" dirty="0"/>
          </a:p>
        </p:txBody>
      </p:sp>
      <p:sp>
        <p:nvSpPr>
          <p:cNvPr id="51" name="Shape"/>
          <p:cNvSpPr/>
          <p:nvPr/>
        </p:nvSpPr>
        <p:spPr>
          <a:xfrm>
            <a:off x="6319541" y="5000000"/>
            <a:ext cx="2652613" cy="620000"/>
          </a:xfrm>
          <a:prstGeom prst="rect">
            <a:avLst/>
          </a:prstGeom>
          <a:solidFill>
            <a:srgbClr val="F2F5F6"/>
          </a:solidFill>
          <a:ln w="9525">
            <a:solidFill>
              <a:srgbClr val="D9E0E3"/>
            </a:solidFill>
            <a:prstDash val="solid"/>
          </a:ln>
        </p:spPr>
      </p:sp>
      <p:sp>
        <p:nvSpPr>
          <p:cNvPr id="52" name="Text"/>
          <p:cNvSpPr txBox="1"/>
          <p:nvPr/>
        </p:nvSpPr>
        <p:spPr>
          <a:xfrm>
            <a:off x="6439541" y="500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0.95</a:t>
            </a:r>
            <a:endParaRPr lang="en-US" sz="1200" dirty="0"/>
          </a:p>
        </p:txBody>
      </p:sp>
      <p:sp>
        <p:nvSpPr>
          <p:cNvPr id="53" name="Shape"/>
          <p:cNvSpPr/>
          <p:nvPr/>
        </p:nvSpPr>
        <p:spPr>
          <a:xfrm>
            <a:off x="8972154" y="5000000"/>
            <a:ext cx="2652613" cy="620000"/>
          </a:xfrm>
          <a:prstGeom prst="rect">
            <a:avLst/>
          </a:prstGeom>
          <a:solidFill>
            <a:srgbClr val="F2F5F6"/>
          </a:solidFill>
          <a:ln w="9525">
            <a:solidFill>
              <a:srgbClr val="D9E0E3"/>
            </a:solidFill>
            <a:prstDash val="solid"/>
          </a:ln>
        </p:spPr>
      </p:sp>
      <p:sp>
        <p:nvSpPr>
          <p:cNvPr id="54" name="Text"/>
          <p:cNvSpPr txBox="1"/>
          <p:nvPr/>
        </p:nvSpPr>
        <p:spPr>
          <a:xfrm>
            <a:off x="9092154" y="500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El que omite</a:t>
            </a:r>
            <a:endParaRPr lang="en-US" sz="1200" dirty="0"/>
          </a:p>
        </p:txBody>
      </p:sp>
      <p:sp>
        <p:nvSpPr>
          <p:cNvPr id="55" name="Shape"/>
          <p:cNvSpPr/>
          <p:nvPr/>
        </p:nvSpPr>
        <p:spPr>
          <a:xfrm>
            <a:off x="566928" y="5700000"/>
            <a:ext cx="11057839" cy="520000"/>
          </a:xfrm>
          <a:prstGeom prst="roundRect">
            <a:avLst>
              <a:gd name="adj" fmla="val 8235"/>
            </a:avLst>
          </a:prstGeom>
          <a:solidFill>
            <a:srgbClr val="F7E4D8"/>
          </a:solidFill>
          <a:ln w="12700">
            <a:solidFill>
              <a:srgbClr val="F7E4D8"/>
            </a:solidFill>
            <a:prstDash val="solid"/>
          </a:ln>
        </p:spPr>
      </p:sp>
      <p:sp>
        <p:nvSpPr>
          <p:cNvPr id="56" name="Text"/>
          <p:cNvSpPr txBox="1"/>
          <p:nvPr/>
        </p:nvSpPr>
        <p:spPr>
          <a:xfrm>
            <a:off x="804672" y="5700000"/>
            <a:ext cx="10582351" cy="52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El mismo par de resultados cambia de ganador tres veces sin que ningún asistente haya cambiado. Lo único que cambió fue cuánto pesa cada error, y eso es una decisión del área usuaria que se declara ANTES de medir. En un informe de evaluación que se firma, inventar un requisito cuesta más que omitirlo: esa es su beta.</a:t>
            </a:r>
            <a:endParaRPr lang="en-US" sz="1300" dirty="0"/>
          </a:p>
        </p:txBody>
      </p:sp>
      <p:sp>
        <p:nvSpPr>
          <p:cNvPr id="57" name="Text"/>
          <p:cNvSpPr txBox="1"/>
          <p:nvPr/>
        </p:nvSpPr>
        <p:spPr>
          <a:xfrm>
            <a:off x="566928" y="629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La familia de medidas es de van Rijsbergen (1979) y la fórmula F = ((β²+1)PR)/(β²P+R) está impresa en Chinchor (1992), MUC-4 Evaluation Metrics, donde β es «la importancia relativa dada a la recuperación sobre la precisión».</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Matriz y confianza">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La matriz de evidencia, y por qué se declara la confianza</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Una fila por afirmación. Es la capa de trazabilidad que ninguna herramienta le va a construir por usted.</a:t>
            </a:r>
            <a:endParaRPr lang="en-US" sz="1500" dirty="0"/>
          </a:p>
        </p:txBody>
      </p:sp>
      <p:sp>
        <p:nvSpPr>
          <p:cNvPr id="4" name="Shape"/>
          <p:cNvSpPr/>
          <p:nvPr/>
        </p:nvSpPr>
        <p:spPr>
          <a:xfrm>
            <a:off x="566928" y="1700000"/>
            <a:ext cx="2600000" cy="420000"/>
          </a:xfrm>
          <a:prstGeom prst="rect">
            <a:avLst/>
          </a:prstGeom>
          <a:solidFill>
            <a:srgbClr val="16262E"/>
          </a:solidFill>
          <a:ln w="9525">
            <a:solidFill>
              <a:srgbClr val="FFFFFF"/>
            </a:solidFill>
            <a:prstDash val="solid"/>
          </a:ln>
        </p:spPr>
      </p:sp>
      <p:sp>
        <p:nvSpPr>
          <p:cNvPr id="5" name="Text"/>
          <p:cNvSpPr txBox="1"/>
          <p:nvPr/>
        </p:nvSpPr>
        <p:spPr>
          <a:xfrm>
            <a:off x="686928" y="1700000"/>
            <a:ext cx="23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Columna</a:t>
            </a:r>
            <a:endParaRPr lang="en-US" sz="1200" dirty="0"/>
          </a:p>
        </p:txBody>
      </p:sp>
      <p:sp>
        <p:nvSpPr>
          <p:cNvPr id="6" name="Shape"/>
          <p:cNvSpPr/>
          <p:nvPr/>
        </p:nvSpPr>
        <p:spPr>
          <a:xfrm>
            <a:off x="3166928" y="1700000"/>
            <a:ext cx="4000000" cy="420000"/>
          </a:xfrm>
          <a:prstGeom prst="rect">
            <a:avLst/>
          </a:prstGeom>
          <a:solidFill>
            <a:srgbClr val="16262E"/>
          </a:solidFill>
          <a:ln w="9525">
            <a:solidFill>
              <a:srgbClr val="FFFFFF"/>
            </a:solidFill>
            <a:prstDash val="solid"/>
          </a:ln>
        </p:spPr>
      </p:sp>
      <p:sp>
        <p:nvSpPr>
          <p:cNvPr id="7" name="Text"/>
          <p:cNvSpPr txBox="1"/>
          <p:nvPr/>
        </p:nvSpPr>
        <p:spPr>
          <a:xfrm>
            <a:off x="3286928" y="1700000"/>
            <a:ext cx="37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Qué se escribe ahí</a:t>
            </a:r>
            <a:endParaRPr lang="en-US" sz="1200" dirty="0"/>
          </a:p>
        </p:txBody>
      </p:sp>
      <p:sp>
        <p:nvSpPr>
          <p:cNvPr id="8" name="Shape"/>
          <p:cNvSpPr/>
          <p:nvPr/>
        </p:nvSpPr>
        <p:spPr>
          <a:xfrm>
            <a:off x="7166928" y="1700000"/>
            <a:ext cx="4457839" cy="420000"/>
          </a:xfrm>
          <a:prstGeom prst="rect">
            <a:avLst/>
          </a:prstGeom>
          <a:solidFill>
            <a:srgbClr val="16262E"/>
          </a:solidFill>
          <a:ln w="9525">
            <a:solidFill>
              <a:srgbClr val="FFFFFF"/>
            </a:solidFill>
            <a:prstDash val="solid"/>
          </a:ln>
        </p:spPr>
      </p:sp>
      <p:sp>
        <p:nvSpPr>
          <p:cNvPr id="9" name="Text"/>
          <p:cNvSpPr txBox="1"/>
          <p:nvPr/>
        </p:nvSpPr>
        <p:spPr>
          <a:xfrm>
            <a:off x="7286928" y="1700000"/>
            <a:ext cx="4217839"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Por qué</a:t>
            </a:r>
            <a:endParaRPr lang="en-US" sz="1200" dirty="0"/>
          </a:p>
        </p:txBody>
      </p:sp>
      <p:sp>
        <p:nvSpPr>
          <p:cNvPr id="10" name="Shape"/>
          <p:cNvSpPr/>
          <p:nvPr/>
        </p:nvSpPr>
        <p:spPr>
          <a:xfrm>
            <a:off x="566928" y="2120000"/>
            <a:ext cx="2600000" cy="450000"/>
          </a:xfrm>
          <a:prstGeom prst="rect">
            <a:avLst/>
          </a:prstGeom>
          <a:solidFill>
            <a:srgbClr val="D7E7E7"/>
          </a:solidFill>
          <a:ln w="9525">
            <a:solidFill>
              <a:srgbClr val="D9E0E3"/>
            </a:solidFill>
            <a:prstDash val="solid"/>
          </a:ln>
        </p:spPr>
      </p:sp>
      <p:sp>
        <p:nvSpPr>
          <p:cNvPr id="11" name="Text"/>
          <p:cNvSpPr txBox="1"/>
          <p:nvPr/>
        </p:nvSpPr>
        <p:spPr>
          <a:xfrm>
            <a:off x="686928" y="2120000"/>
            <a:ext cx="2360000" cy="45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Afirmación</a:t>
            </a:r>
            <a:endParaRPr lang="en-US" sz="1150" dirty="0"/>
          </a:p>
        </p:txBody>
      </p:sp>
      <p:sp>
        <p:nvSpPr>
          <p:cNvPr id="12" name="Shape"/>
          <p:cNvSpPr/>
          <p:nvPr/>
        </p:nvSpPr>
        <p:spPr>
          <a:xfrm>
            <a:off x="3166928" y="2120000"/>
            <a:ext cx="4000000" cy="450000"/>
          </a:xfrm>
          <a:prstGeom prst="rect">
            <a:avLst/>
          </a:prstGeom>
          <a:solidFill>
            <a:srgbClr val="F2F5F6"/>
          </a:solidFill>
          <a:ln w="9525">
            <a:solidFill>
              <a:srgbClr val="D9E0E3"/>
            </a:solidFill>
            <a:prstDash val="solid"/>
          </a:ln>
        </p:spPr>
      </p:sp>
      <p:sp>
        <p:nvSpPr>
          <p:cNvPr id="13" name="Text"/>
          <p:cNvSpPr txBox="1"/>
          <p:nvPr/>
        </p:nvSpPr>
        <p:spPr>
          <a:xfrm>
            <a:off x="3286928" y="2120000"/>
            <a:ext cx="3760000"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Tal como va a quedar escrita en el informe.</a:t>
            </a:r>
            <a:endParaRPr lang="en-US" sz="1150" dirty="0"/>
          </a:p>
        </p:txBody>
      </p:sp>
      <p:sp>
        <p:nvSpPr>
          <p:cNvPr id="14" name="Shape"/>
          <p:cNvSpPr/>
          <p:nvPr/>
        </p:nvSpPr>
        <p:spPr>
          <a:xfrm>
            <a:off x="7166928" y="2120000"/>
            <a:ext cx="4457839" cy="450000"/>
          </a:xfrm>
          <a:prstGeom prst="rect">
            <a:avLst/>
          </a:prstGeom>
          <a:solidFill>
            <a:srgbClr val="F2F5F6"/>
          </a:solidFill>
          <a:ln w="9525">
            <a:solidFill>
              <a:srgbClr val="D9E0E3"/>
            </a:solidFill>
            <a:prstDash val="solid"/>
          </a:ln>
        </p:spPr>
      </p:sp>
      <p:sp>
        <p:nvSpPr>
          <p:cNvPr id="15" name="Text"/>
          <p:cNvSpPr txBox="1"/>
          <p:nvPr/>
        </p:nvSpPr>
        <p:spPr>
          <a:xfrm>
            <a:off x="7286928" y="2120000"/>
            <a:ext cx="4217839"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Si la redacta distinto después, ya no está trazada.</a:t>
            </a:r>
            <a:endParaRPr lang="en-US" sz="1150" dirty="0"/>
          </a:p>
        </p:txBody>
      </p:sp>
      <p:sp>
        <p:nvSpPr>
          <p:cNvPr id="16" name="Shape"/>
          <p:cNvSpPr/>
          <p:nvPr/>
        </p:nvSpPr>
        <p:spPr>
          <a:xfrm>
            <a:off x="566928" y="2570000"/>
            <a:ext cx="2600000" cy="450000"/>
          </a:xfrm>
          <a:prstGeom prst="rect">
            <a:avLst/>
          </a:prstGeom>
          <a:solidFill>
            <a:srgbClr val="D7E7E7"/>
          </a:solidFill>
          <a:ln w="9525">
            <a:solidFill>
              <a:srgbClr val="D9E0E3"/>
            </a:solidFill>
            <a:prstDash val="solid"/>
          </a:ln>
        </p:spPr>
      </p:sp>
      <p:sp>
        <p:nvSpPr>
          <p:cNvPr id="17" name="Text"/>
          <p:cNvSpPr txBox="1"/>
          <p:nvPr/>
        </p:nvSpPr>
        <p:spPr>
          <a:xfrm>
            <a:off x="686928" y="2570000"/>
            <a:ext cx="2360000" cy="45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Cita textual</a:t>
            </a:r>
            <a:endParaRPr lang="en-US" sz="1150" dirty="0"/>
          </a:p>
        </p:txBody>
      </p:sp>
      <p:sp>
        <p:nvSpPr>
          <p:cNvPr id="18" name="Shape"/>
          <p:cNvSpPr/>
          <p:nvPr/>
        </p:nvSpPr>
        <p:spPr>
          <a:xfrm>
            <a:off x="3166928" y="2570000"/>
            <a:ext cx="4000000" cy="450000"/>
          </a:xfrm>
          <a:prstGeom prst="rect">
            <a:avLst/>
          </a:prstGeom>
          <a:solidFill>
            <a:srgbClr val="FFFFFF"/>
          </a:solidFill>
          <a:ln w="9525">
            <a:solidFill>
              <a:srgbClr val="D9E0E3"/>
            </a:solidFill>
            <a:prstDash val="solid"/>
          </a:ln>
        </p:spPr>
      </p:sp>
      <p:sp>
        <p:nvSpPr>
          <p:cNvPr id="19" name="Text"/>
          <p:cNvSpPr txBox="1"/>
          <p:nvPr/>
        </p:nvSpPr>
        <p:spPr>
          <a:xfrm>
            <a:off x="3286928" y="2570000"/>
            <a:ext cx="3760000"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La frase exacta que la sostiene. Copiada, no parafraseada.</a:t>
            </a:r>
            <a:endParaRPr lang="en-US" sz="1150" dirty="0"/>
          </a:p>
        </p:txBody>
      </p:sp>
      <p:sp>
        <p:nvSpPr>
          <p:cNvPr id="20" name="Shape"/>
          <p:cNvSpPr/>
          <p:nvPr/>
        </p:nvSpPr>
        <p:spPr>
          <a:xfrm>
            <a:off x="7166928" y="2570000"/>
            <a:ext cx="4457839" cy="450000"/>
          </a:xfrm>
          <a:prstGeom prst="rect">
            <a:avLst/>
          </a:prstGeom>
          <a:solidFill>
            <a:srgbClr val="FFFFFF"/>
          </a:solidFill>
          <a:ln w="9525">
            <a:solidFill>
              <a:srgbClr val="D9E0E3"/>
            </a:solidFill>
            <a:prstDash val="solid"/>
          </a:ln>
        </p:spPr>
      </p:sp>
      <p:sp>
        <p:nvSpPr>
          <p:cNvPr id="21" name="Text"/>
          <p:cNvSpPr txBox="1"/>
          <p:nvPr/>
        </p:nvSpPr>
        <p:spPr>
          <a:xfrm>
            <a:off x="7286928" y="2570000"/>
            <a:ext cx="4217839"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Parafrasear elimina la posibilidad de verificar.</a:t>
            </a:r>
            <a:endParaRPr lang="en-US" sz="1150" dirty="0"/>
          </a:p>
        </p:txBody>
      </p:sp>
      <p:sp>
        <p:nvSpPr>
          <p:cNvPr id="22" name="Shape"/>
          <p:cNvSpPr/>
          <p:nvPr/>
        </p:nvSpPr>
        <p:spPr>
          <a:xfrm>
            <a:off x="566928" y="3020000"/>
            <a:ext cx="2600000" cy="450000"/>
          </a:xfrm>
          <a:prstGeom prst="rect">
            <a:avLst/>
          </a:prstGeom>
          <a:solidFill>
            <a:srgbClr val="D7E7E7"/>
          </a:solidFill>
          <a:ln w="9525">
            <a:solidFill>
              <a:srgbClr val="D9E0E3"/>
            </a:solidFill>
            <a:prstDash val="solid"/>
          </a:ln>
        </p:spPr>
      </p:sp>
      <p:sp>
        <p:nvSpPr>
          <p:cNvPr id="23" name="Text"/>
          <p:cNvSpPr txBox="1"/>
          <p:nvPr/>
        </p:nvSpPr>
        <p:spPr>
          <a:xfrm>
            <a:off x="686928" y="3020000"/>
            <a:ext cx="2360000" cy="45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Documento y sección</a:t>
            </a:r>
            <a:endParaRPr lang="en-US" sz="1150" dirty="0"/>
          </a:p>
        </p:txBody>
      </p:sp>
      <p:sp>
        <p:nvSpPr>
          <p:cNvPr id="24" name="Shape"/>
          <p:cNvSpPr/>
          <p:nvPr/>
        </p:nvSpPr>
        <p:spPr>
          <a:xfrm>
            <a:off x="3166928" y="3020000"/>
            <a:ext cx="4000000" cy="450000"/>
          </a:xfrm>
          <a:prstGeom prst="rect">
            <a:avLst/>
          </a:prstGeom>
          <a:solidFill>
            <a:srgbClr val="F2F5F6"/>
          </a:solidFill>
          <a:ln w="9525">
            <a:solidFill>
              <a:srgbClr val="D9E0E3"/>
            </a:solidFill>
            <a:prstDash val="solid"/>
          </a:ln>
        </p:spPr>
      </p:sp>
      <p:sp>
        <p:nvSpPr>
          <p:cNvPr id="25" name="Text"/>
          <p:cNvSpPr txBox="1"/>
          <p:nvPr/>
        </p:nvSpPr>
        <p:spPr>
          <a:xfrm>
            <a:off x="3286928" y="3020000"/>
            <a:ext cx="3760000"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Nombre del documento y el artículo, página o apartado.</a:t>
            </a:r>
            <a:endParaRPr lang="en-US" sz="1150" dirty="0"/>
          </a:p>
        </p:txBody>
      </p:sp>
      <p:sp>
        <p:nvSpPr>
          <p:cNvPr id="26" name="Shape"/>
          <p:cNvSpPr/>
          <p:nvPr/>
        </p:nvSpPr>
        <p:spPr>
          <a:xfrm>
            <a:off x="7166928" y="3020000"/>
            <a:ext cx="4457839" cy="450000"/>
          </a:xfrm>
          <a:prstGeom prst="rect">
            <a:avLst/>
          </a:prstGeom>
          <a:solidFill>
            <a:srgbClr val="F2F5F6"/>
          </a:solidFill>
          <a:ln w="9525">
            <a:solidFill>
              <a:srgbClr val="D9E0E3"/>
            </a:solidFill>
            <a:prstDash val="solid"/>
          </a:ln>
        </p:spPr>
      </p:sp>
      <p:sp>
        <p:nvSpPr>
          <p:cNvPr id="27" name="Text"/>
          <p:cNvSpPr txBox="1"/>
          <p:nvPr/>
        </p:nvSpPr>
        <p:spPr>
          <a:xfrm>
            <a:off x="7286928" y="3020000"/>
            <a:ext cx="4217839"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Es lo que permite que otro llegue solo a la fuente.</a:t>
            </a:r>
            <a:endParaRPr lang="en-US" sz="1150" dirty="0"/>
          </a:p>
        </p:txBody>
      </p:sp>
      <p:sp>
        <p:nvSpPr>
          <p:cNvPr id="28" name="Shape"/>
          <p:cNvSpPr/>
          <p:nvPr/>
        </p:nvSpPr>
        <p:spPr>
          <a:xfrm>
            <a:off x="566928" y="3470000"/>
            <a:ext cx="2600000" cy="450000"/>
          </a:xfrm>
          <a:prstGeom prst="rect">
            <a:avLst/>
          </a:prstGeom>
          <a:solidFill>
            <a:srgbClr val="D7E7E7"/>
          </a:solidFill>
          <a:ln w="9525">
            <a:solidFill>
              <a:srgbClr val="D9E0E3"/>
            </a:solidFill>
            <a:prstDash val="solid"/>
          </a:ln>
        </p:spPr>
      </p:sp>
      <p:sp>
        <p:nvSpPr>
          <p:cNvPr id="29" name="Text"/>
          <p:cNvSpPr txBox="1"/>
          <p:nvPr/>
        </p:nvSpPr>
        <p:spPr>
          <a:xfrm>
            <a:off x="686928" y="3470000"/>
            <a:ext cx="2360000" cy="45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Herramienta usada</a:t>
            </a:r>
            <a:endParaRPr lang="en-US" sz="1150" dirty="0"/>
          </a:p>
        </p:txBody>
      </p:sp>
      <p:sp>
        <p:nvSpPr>
          <p:cNvPr id="30" name="Shape"/>
          <p:cNvSpPr/>
          <p:nvPr/>
        </p:nvSpPr>
        <p:spPr>
          <a:xfrm>
            <a:off x="3166928" y="3470000"/>
            <a:ext cx="4000000" cy="450000"/>
          </a:xfrm>
          <a:prstGeom prst="rect">
            <a:avLst/>
          </a:prstGeom>
          <a:solidFill>
            <a:srgbClr val="FFFFFF"/>
          </a:solidFill>
          <a:ln w="9525">
            <a:solidFill>
              <a:srgbClr val="D9E0E3"/>
            </a:solidFill>
            <a:prstDash val="solid"/>
          </a:ln>
        </p:spPr>
      </p:sp>
      <p:sp>
        <p:nvSpPr>
          <p:cNvPr id="31" name="Text"/>
          <p:cNvSpPr txBox="1"/>
          <p:nvPr/>
        </p:nvSpPr>
        <p:spPr>
          <a:xfrm>
            <a:off x="3286928" y="3470000"/>
            <a:ext cx="3760000"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Cuál la encontró.</a:t>
            </a:r>
            <a:endParaRPr lang="en-US" sz="1150" dirty="0"/>
          </a:p>
        </p:txBody>
      </p:sp>
      <p:sp>
        <p:nvSpPr>
          <p:cNvPr id="32" name="Shape"/>
          <p:cNvSpPr/>
          <p:nvPr/>
        </p:nvSpPr>
        <p:spPr>
          <a:xfrm>
            <a:off x="7166928" y="3470000"/>
            <a:ext cx="4457839" cy="450000"/>
          </a:xfrm>
          <a:prstGeom prst="rect">
            <a:avLst/>
          </a:prstGeom>
          <a:solidFill>
            <a:srgbClr val="FFFFFF"/>
          </a:solidFill>
          <a:ln w="9525">
            <a:solidFill>
              <a:srgbClr val="D9E0E3"/>
            </a:solidFill>
            <a:prstDash val="solid"/>
          </a:ln>
        </p:spPr>
      </p:sp>
      <p:sp>
        <p:nvSpPr>
          <p:cNvPr id="33" name="Text"/>
          <p:cNvSpPr txBox="1"/>
          <p:nvPr/>
        </p:nvSpPr>
        <p:spPr>
          <a:xfrm>
            <a:off x="7286928" y="3470000"/>
            <a:ext cx="4217839"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Para saber después qué herramienta rinde en qué tarea.</a:t>
            </a:r>
            <a:endParaRPr lang="en-US" sz="1150" dirty="0"/>
          </a:p>
        </p:txBody>
      </p:sp>
      <p:sp>
        <p:nvSpPr>
          <p:cNvPr id="34" name="Shape"/>
          <p:cNvSpPr/>
          <p:nvPr/>
        </p:nvSpPr>
        <p:spPr>
          <a:xfrm>
            <a:off x="566928" y="3920000"/>
            <a:ext cx="2600000" cy="450000"/>
          </a:xfrm>
          <a:prstGeom prst="rect">
            <a:avLst/>
          </a:prstGeom>
          <a:solidFill>
            <a:srgbClr val="D7E7E7"/>
          </a:solidFill>
          <a:ln w="9525">
            <a:solidFill>
              <a:srgbClr val="D9E0E3"/>
            </a:solidFill>
            <a:prstDash val="solid"/>
          </a:ln>
        </p:spPr>
      </p:sp>
      <p:sp>
        <p:nvSpPr>
          <p:cNvPr id="35" name="Text"/>
          <p:cNvSpPr txBox="1"/>
          <p:nvPr/>
        </p:nvSpPr>
        <p:spPr>
          <a:xfrm>
            <a:off x="686928" y="3920000"/>
            <a:ext cx="2360000" cy="45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Verificada por</a:t>
            </a:r>
            <a:endParaRPr lang="en-US" sz="1150" dirty="0"/>
          </a:p>
        </p:txBody>
      </p:sp>
      <p:sp>
        <p:nvSpPr>
          <p:cNvPr id="36" name="Shape"/>
          <p:cNvSpPr/>
          <p:nvPr/>
        </p:nvSpPr>
        <p:spPr>
          <a:xfrm>
            <a:off x="3166928" y="3920000"/>
            <a:ext cx="4000000" cy="450000"/>
          </a:xfrm>
          <a:prstGeom prst="rect">
            <a:avLst/>
          </a:prstGeom>
          <a:solidFill>
            <a:srgbClr val="F2F5F6"/>
          </a:solidFill>
          <a:ln w="9525">
            <a:solidFill>
              <a:srgbClr val="D9E0E3"/>
            </a:solidFill>
            <a:prstDash val="solid"/>
          </a:ln>
        </p:spPr>
      </p:sp>
      <p:sp>
        <p:nvSpPr>
          <p:cNvPr id="37" name="Text"/>
          <p:cNvSpPr txBox="1"/>
          <p:nvPr/>
        </p:nvSpPr>
        <p:spPr>
          <a:xfrm>
            <a:off x="3286928" y="3920000"/>
            <a:ext cx="3760000"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Nombre de quien fue a la fuente y la comprobó.</a:t>
            </a:r>
            <a:endParaRPr lang="en-US" sz="1150" dirty="0"/>
          </a:p>
        </p:txBody>
      </p:sp>
      <p:sp>
        <p:nvSpPr>
          <p:cNvPr id="38" name="Shape"/>
          <p:cNvSpPr/>
          <p:nvPr/>
        </p:nvSpPr>
        <p:spPr>
          <a:xfrm>
            <a:off x="7166928" y="3920000"/>
            <a:ext cx="4457839" cy="450000"/>
          </a:xfrm>
          <a:prstGeom prst="rect">
            <a:avLst/>
          </a:prstGeom>
          <a:solidFill>
            <a:srgbClr val="F2F5F6"/>
          </a:solidFill>
          <a:ln w="9525">
            <a:solidFill>
              <a:srgbClr val="D9E0E3"/>
            </a:solidFill>
            <a:prstDash val="solid"/>
          </a:ln>
        </p:spPr>
      </p:sp>
      <p:sp>
        <p:nvSpPr>
          <p:cNvPr id="39" name="Text"/>
          <p:cNvSpPr txBox="1"/>
          <p:nvPr/>
        </p:nvSpPr>
        <p:spPr>
          <a:xfrm>
            <a:off x="7286928" y="3920000"/>
            <a:ext cx="4217839"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La diferencia entre una afirmación con responsable y una sin él.</a:t>
            </a:r>
            <a:endParaRPr lang="en-US" sz="1150" dirty="0"/>
          </a:p>
        </p:txBody>
      </p:sp>
      <p:sp>
        <p:nvSpPr>
          <p:cNvPr id="40" name="Shape"/>
          <p:cNvSpPr/>
          <p:nvPr/>
        </p:nvSpPr>
        <p:spPr>
          <a:xfrm>
            <a:off x="566928" y="4370000"/>
            <a:ext cx="2600000" cy="450000"/>
          </a:xfrm>
          <a:prstGeom prst="rect">
            <a:avLst/>
          </a:prstGeom>
          <a:solidFill>
            <a:srgbClr val="D7E7E7"/>
          </a:solidFill>
          <a:ln w="9525">
            <a:solidFill>
              <a:srgbClr val="D9E0E3"/>
            </a:solidFill>
            <a:prstDash val="solid"/>
          </a:ln>
        </p:spPr>
      </p:sp>
      <p:sp>
        <p:nvSpPr>
          <p:cNvPr id="41" name="Text"/>
          <p:cNvSpPr txBox="1"/>
          <p:nvPr/>
        </p:nvSpPr>
        <p:spPr>
          <a:xfrm>
            <a:off x="686928" y="4370000"/>
            <a:ext cx="2360000" cy="45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Nivel de confianza</a:t>
            </a:r>
            <a:endParaRPr lang="en-US" sz="1150" dirty="0"/>
          </a:p>
        </p:txBody>
      </p:sp>
      <p:sp>
        <p:nvSpPr>
          <p:cNvPr id="42" name="Shape"/>
          <p:cNvSpPr/>
          <p:nvPr/>
        </p:nvSpPr>
        <p:spPr>
          <a:xfrm>
            <a:off x="3166928" y="4370000"/>
            <a:ext cx="4000000" cy="450000"/>
          </a:xfrm>
          <a:prstGeom prst="rect">
            <a:avLst/>
          </a:prstGeom>
          <a:solidFill>
            <a:srgbClr val="FFFFFF"/>
          </a:solidFill>
          <a:ln w="9525">
            <a:solidFill>
              <a:srgbClr val="D9E0E3"/>
            </a:solidFill>
            <a:prstDash val="solid"/>
          </a:ln>
        </p:spPr>
      </p:sp>
      <p:sp>
        <p:nvSpPr>
          <p:cNvPr id="43" name="Text"/>
          <p:cNvSpPr txBox="1"/>
          <p:nvPr/>
        </p:nvSpPr>
        <p:spPr>
          <a:xfrm>
            <a:off x="3286928" y="4370000"/>
            <a:ext cx="3760000"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Alta, media o baja. Siempre, incluso cuando es alta.</a:t>
            </a:r>
            <a:endParaRPr lang="en-US" sz="1150" dirty="0"/>
          </a:p>
        </p:txBody>
      </p:sp>
      <p:sp>
        <p:nvSpPr>
          <p:cNvPr id="44" name="Shape"/>
          <p:cNvSpPr/>
          <p:nvPr/>
        </p:nvSpPr>
        <p:spPr>
          <a:xfrm>
            <a:off x="7166928" y="4370000"/>
            <a:ext cx="4457839" cy="450000"/>
          </a:xfrm>
          <a:prstGeom prst="rect">
            <a:avLst/>
          </a:prstGeom>
          <a:solidFill>
            <a:srgbClr val="FFFFFF"/>
          </a:solidFill>
          <a:ln w="9525">
            <a:solidFill>
              <a:srgbClr val="D9E0E3"/>
            </a:solidFill>
            <a:prstDash val="solid"/>
          </a:ln>
        </p:spPr>
      </p:sp>
      <p:sp>
        <p:nvSpPr>
          <p:cNvPr id="45" name="Text"/>
          <p:cNvSpPr txBox="1"/>
          <p:nvPr/>
        </p:nvSpPr>
        <p:spPr>
          <a:xfrm>
            <a:off x="7286928" y="4370000"/>
            <a:ext cx="4217839"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Quien lee tiene derecho a saber en qué descansa cada frase.</a:t>
            </a:r>
            <a:endParaRPr lang="en-US" sz="1150" dirty="0"/>
          </a:p>
        </p:txBody>
      </p:sp>
      <p:sp>
        <p:nvSpPr>
          <p:cNvPr id="46" name="Shape"/>
          <p:cNvSpPr/>
          <p:nvPr/>
        </p:nvSpPr>
        <p:spPr>
          <a:xfrm>
            <a:off x="566928" y="4940000"/>
            <a:ext cx="3525946" cy="740000"/>
          </a:xfrm>
          <a:prstGeom prst="roundRect">
            <a:avLst>
              <a:gd name="adj" fmla="val 2933"/>
            </a:avLst>
          </a:prstGeom>
          <a:solidFill>
            <a:srgbClr val="D7E7E7"/>
          </a:solidFill>
          <a:ln w="12700">
            <a:solidFill>
              <a:srgbClr val="D7E7E7"/>
            </a:solidFill>
            <a:prstDash val="solid"/>
          </a:ln>
        </p:spPr>
      </p:sp>
      <p:sp>
        <p:nvSpPr>
          <p:cNvPr id="47" name="Text"/>
          <p:cNvSpPr txBox="1"/>
          <p:nvPr/>
        </p:nvSpPr>
        <p:spPr>
          <a:xfrm>
            <a:off x="766928" y="5030000"/>
            <a:ext cx="3125946" cy="260000"/>
          </a:xfrm>
          <a:prstGeom prst="rect">
            <a:avLst/>
          </a:prstGeom>
          <a:noFill/>
          <a:ln/>
        </p:spPr>
        <p:txBody>
          <a:bodyPr wrap="square" lIns="0" tIns="0" rIns="0" bIns="0" rtlCol="0" anchor="t"/>
          <a:lstStyle/>
          <a:p>
            <a:pPr indent="0" marL="0">
              <a:buNone/>
            </a:pPr>
            <a:r>
              <a:rPr lang="en-US" sz="1350" b="1" dirty="0">
                <a:solidFill>
                  <a:srgbClr val="16262E"/>
                </a:solidFill>
                <a:latin typeface="Arial" pitchFamily="34" charset="0"/>
                <a:ea typeface="Arial" pitchFamily="34" charset="-122"/>
                <a:cs typeface="Arial" pitchFamily="34" charset="-120"/>
              </a:rPr>
              <a:t>Alta</a:t>
            </a:r>
            <a:endParaRPr lang="en-US" sz="1350" dirty="0"/>
          </a:p>
        </p:txBody>
      </p:sp>
      <p:sp>
        <p:nvSpPr>
          <p:cNvPr id="48" name="Text"/>
          <p:cNvSpPr txBox="1"/>
          <p:nvPr/>
        </p:nvSpPr>
        <p:spPr>
          <a:xfrm>
            <a:off x="766928" y="5290000"/>
            <a:ext cx="3125946" cy="340000"/>
          </a:xfrm>
          <a:prstGeom prst="rect">
            <a:avLst/>
          </a:prstGeom>
          <a:noFill/>
          <a:ln/>
        </p:spPr>
        <p:txBody>
          <a:bodyPr wrap="square" lIns="0" tIns="0" rIns="0" bIns="0" rtlCol="0" anchor="t"/>
          <a:lstStyle/>
          <a:p>
            <a:pPr indent="0" marL="0">
              <a:lnSpc>
                <a:spcPct val="103000"/>
              </a:lnSpc>
              <a:buNone/>
            </a:pPr>
            <a:r>
              <a:rPr lang="en-US" sz="1050" dirty="0">
                <a:solidFill>
                  <a:srgbClr val="16262E"/>
                </a:solidFill>
                <a:latin typeface="Calibri" pitchFamily="34" charset="0"/>
                <a:ea typeface="Calibri" pitchFamily="34" charset="-122"/>
                <a:cs typeface="Calibri" pitchFamily="34" charset="-120"/>
              </a:rPr>
              <a:t>Dos o más fuentes independientes la sostienen y dicen lo mismo.</a:t>
            </a:r>
            <a:endParaRPr lang="en-US" sz="1050" dirty="0"/>
          </a:p>
        </p:txBody>
      </p:sp>
      <p:sp>
        <p:nvSpPr>
          <p:cNvPr id="49" name="Shape"/>
          <p:cNvSpPr/>
          <p:nvPr/>
        </p:nvSpPr>
        <p:spPr>
          <a:xfrm>
            <a:off x="4332874" y="4940000"/>
            <a:ext cx="3525946" cy="740000"/>
          </a:xfrm>
          <a:prstGeom prst="roundRect">
            <a:avLst>
              <a:gd name="adj" fmla="val 2933"/>
            </a:avLst>
          </a:prstGeom>
          <a:solidFill>
            <a:srgbClr val="F7E4D8"/>
          </a:solidFill>
          <a:ln w="12700">
            <a:solidFill>
              <a:srgbClr val="F7E4D8"/>
            </a:solidFill>
            <a:prstDash val="solid"/>
          </a:ln>
        </p:spPr>
      </p:sp>
      <p:sp>
        <p:nvSpPr>
          <p:cNvPr id="50" name="Text"/>
          <p:cNvSpPr txBox="1"/>
          <p:nvPr/>
        </p:nvSpPr>
        <p:spPr>
          <a:xfrm>
            <a:off x="4532874" y="5030000"/>
            <a:ext cx="3125946" cy="260000"/>
          </a:xfrm>
          <a:prstGeom prst="rect">
            <a:avLst/>
          </a:prstGeom>
          <a:noFill/>
          <a:ln/>
        </p:spPr>
        <p:txBody>
          <a:bodyPr wrap="square" lIns="0" tIns="0" rIns="0" bIns="0" rtlCol="0" anchor="t"/>
          <a:lstStyle/>
          <a:p>
            <a:pPr indent="0" marL="0">
              <a:buNone/>
            </a:pPr>
            <a:r>
              <a:rPr lang="en-US" sz="1350" b="1" dirty="0">
                <a:solidFill>
                  <a:srgbClr val="16262E"/>
                </a:solidFill>
                <a:latin typeface="Arial" pitchFamily="34" charset="0"/>
                <a:ea typeface="Arial" pitchFamily="34" charset="-122"/>
                <a:cs typeface="Arial" pitchFamily="34" charset="-120"/>
              </a:rPr>
              <a:t>Media</a:t>
            </a:r>
            <a:endParaRPr lang="en-US" sz="1350" dirty="0"/>
          </a:p>
        </p:txBody>
      </p:sp>
      <p:sp>
        <p:nvSpPr>
          <p:cNvPr id="51" name="Text"/>
          <p:cNvSpPr txBox="1"/>
          <p:nvPr/>
        </p:nvSpPr>
        <p:spPr>
          <a:xfrm>
            <a:off x="4532874" y="5290000"/>
            <a:ext cx="3125946" cy="340000"/>
          </a:xfrm>
          <a:prstGeom prst="rect">
            <a:avLst/>
          </a:prstGeom>
          <a:noFill/>
          <a:ln/>
        </p:spPr>
        <p:txBody>
          <a:bodyPr wrap="square" lIns="0" tIns="0" rIns="0" bIns="0" rtlCol="0" anchor="t"/>
          <a:lstStyle/>
          <a:p>
            <a:pPr indent="0" marL="0">
              <a:lnSpc>
                <a:spcPct val="103000"/>
              </a:lnSpc>
              <a:buNone/>
            </a:pPr>
            <a:r>
              <a:rPr lang="en-US" sz="1050" dirty="0">
                <a:solidFill>
                  <a:srgbClr val="16262E"/>
                </a:solidFill>
                <a:latin typeface="Calibri" pitchFamily="34" charset="0"/>
                <a:ea typeface="Calibri" pitchFamily="34" charset="-122"/>
                <a:cs typeface="Calibri" pitchFamily="34" charset="-120"/>
              </a:rPr>
              <a:t>Una sola fuente directa. Alcanza, y quien lee debe saberlo.</a:t>
            </a:r>
            <a:endParaRPr lang="en-US" sz="1050" dirty="0"/>
          </a:p>
        </p:txBody>
      </p:sp>
      <p:sp>
        <p:nvSpPr>
          <p:cNvPr id="52" name="Shape"/>
          <p:cNvSpPr/>
          <p:nvPr/>
        </p:nvSpPr>
        <p:spPr>
          <a:xfrm>
            <a:off x="8098820" y="4940000"/>
            <a:ext cx="3525946" cy="740000"/>
          </a:xfrm>
          <a:prstGeom prst="roundRect">
            <a:avLst>
              <a:gd name="adj" fmla="val 2933"/>
            </a:avLst>
          </a:prstGeom>
          <a:solidFill>
            <a:srgbClr val="F2D9D2"/>
          </a:solidFill>
          <a:ln w="12700">
            <a:solidFill>
              <a:srgbClr val="F2D9D2"/>
            </a:solidFill>
            <a:prstDash val="solid"/>
          </a:ln>
        </p:spPr>
      </p:sp>
      <p:sp>
        <p:nvSpPr>
          <p:cNvPr id="53" name="Text"/>
          <p:cNvSpPr txBox="1"/>
          <p:nvPr/>
        </p:nvSpPr>
        <p:spPr>
          <a:xfrm>
            <a:off x="8298820" y="5030000"/>
            <a:ext cx="3125946" cy="260000"/>
          </a:xfrm>
          <a:prstGeom prst="rect">
            <a:avLst/>
          </a:prstGeom>
          <a:noFill/>
          <a:ln/>
        </p:spPr>
        <p:txBody>
          <a:bodyPr wrap="square" lIns="0" tIns="0" rIns="0" bIns="0" rtlCol="0" anchor="t"/>
          <a:lstStyle/>
          <a:p>
            <a:pPr indent="0" marL="0">
              <a:buNone/>
            </a:pPr>
            <a:r>
              <a:rPr lang="en-US" sz="1350" b="1" dirty="0">
                <a:solidFill>
                  <a:srgbClr val="16262E"/>
                </a:solidFill>
                <a:latin typeface="Arial" pitchFamily="34" charset="0"/>
                <a:ea typeface="Arial" pitchFamily="34" charset="-122"/>
                <a:cs typeface="Arial" pitchFamily="34" charset="-120"/>
              </a:rPr>
              <a:t>Baja</a:t>
            </a:r>
            <a:endParaRPr lang="en-US" sz="1350" dirty="0"/>
          </a:p>
        </p:txBody>
      </p:sp>
      <p:sp>
        <p:nvSpPr>
          <p:cNvPr id="54" name="Text"/>
          <p:cNvSpPr txBox="1"/>
          <p:nvPr/>
        </p:nvSpPr>
        <p:spPr>
          <a:xfrm>
            <a:off x="8298820" y="5290000"/>
            <a:ext cx="3125946" cy="340000"/>
          </a:xfrm>
          <a:prstGeom prst="rect">
            <a:avLst/>
          </a:prstGeom>
          <a:noFill/>
          <a:ln/>
        </p:spPr>
        <p:txBody>
          <a:bodyPr wrap="square" lIns="0" tIns="0" rIns="0" bIns="0" rtlCol="0" anchor="t"/>
          <a:lstStyle/>
          <a:p>
            <a:pPr indent="0" marL="0">
              <a:lnSpc>
                <a:spcPct val="103000"/>
              </a:lnSpc>
              <a:buNone/>
            </a:pPr>
            <a:r>
              <a:rPr lang="en-US" sz="1050" dirty="0">
                <a:solidFill>
                  <a:srgbClr val="16262E"/>
                </a:solidFill>
                <a:latin typeface="Calibri" pitchFamily="34" charset="0"/>
                <a:ea typeface="Calibri" pitchFamily="34" charset="-122"/>
                <a:cs typeface="Calibri" pitchFamily="34" charset="-120"/>
              </a:rPr>
              <a:t>Evidencia indirecta o inferencia. Entra como hipótesis, nunca como hallazgo.</a:t>
            </a:r>
            <a:endParaRPr lang="en-US" sz="1050" dirty="0"/>
          </a:p>
        </p:txBody>
      </p:sp>
      <p:sp>
        <p:nvSpPr>
          <p:cNvPr id="55" name="Shape"/>
          <p:cNvSpPr/>
          <p:nvPr/>
        </p:nvSpPr>
        <p:spPr>
          <a:xfrm>
            <a:off x="566928" y="5780000"/>
            <a:ext cx="11057839" cy="440000"/>
          </a:xfrm>
          <a:prstGeom prst="roundRect">
            <a:avLst>
              <a:gd name="adj" fmla="val 8235"/>
            </a:avLst>
          </a:prstGeom>
          <a:solidFill>
            <a:srgbClr val="F7E4D8"/>
          </a:solidFill>
          <a:ln w="12700">
            <a:solidFill>
              <a:srgbClr val="F7E4D8"/>
            </a:solidFill>
            <a:prstDash val="solid"/>
          </a:ln>
        </p:spPr>
      </p:sp>
      <p:sp>
        <p:nvSpPr>
          <p:cNvPr id="56" name="Text"/>
          <p:cNvSpPr txBox="1"/>
          <p:nvPr/>
        </p:nvSpPr>
        <p:spPr>
          <a:xfrm>
            <a:off x="804672" y="5780000"/>
            <a:ext cx="10582351" cy="44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Si al terminar su matriz todas las filas dicen confianza alta, algo se hizo mal. Eso lo vamos a revisar juntos.</a:t>
            </a:r>
            <a:endParaRPr lang="en-US" sz="1300" dirty="0"/>
          </a:p>
        </p:txBody>
      </p:sp>
      <p:sp>
        <p:nvSpPr>
          <p:cNvPr id="57" name="Text"/>
          <p:cNvSpPr txBox="1"/>
          <p:nvPr/>
        </p:nvSpPr>
        <p:spPr>
          <a:xfrm>
            <a:off x="566928" y="630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No es una invención del curso: Guba (1981) llama a esto pista de auditoría y pide que un externo pueda examinar cómo se llegó a cada interpretación. El IPCC exige un «traceable account» con nivel de confianza y CERQual califica la confianza de cada hallazgo cualitativo.</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Mapa de documentos">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Todo lo que hemos leído es el mismo programa</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Las cuatro sesiones del módulo trabajaron documentos distintos de un mismo programa ficticio. Hoy se cierra el círculo.</a:t>
            </a:r>
            <a:endParaRPr lang="en-US" sz="1500" dirty="0"/>
          </a:p>
        </p:txBody>
      </p:sp>
      <p:sp>
        <p:nvSpPr>
          <p:cNvPr id="4" name="Shape"/>
          <p:cNvSpPr/>
          <p:nvPr/>
        </p:nvSpPr>
        <p:spPr>
          <a:xfrm>
            <a:off x="566928" y="1780000"/>
            <a:ext cx="2950000" cy="420000"/>
          </a:xfrm>
          <a:prstGeom prst="rect">
            <a:avLst/>
          </a:prstGeom>
          <a:solidFill>
            <a:srgbClr val="16262E"/>
          </a:solidFill>
          <a:ln w="9525">
            <a:solidFill>
              <a:srgbClr val="FFFFFF"/>
            </a:solidFill>
            <a:prstDash val="solid"/>
          </a:ln>
        </p:spPr>
      </p:sp>
      <p:sp>
        <p:nvSpPr>
          <p:cNvPr id="5" name="Text"/>
          <p:cNvSpPr txBox="1"/>
          <p:nvPr/>
        </p:nvSpPr>
        <p:spPr>
          <a:xfrm>
            <a:off x="686928" y="1780000"/>
            <a:ext cx="271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Documento</a:t>
            </a:r>
            <a:endParaRPr lang="en-US" sz="1200" dirty="0"/>
          </a:p>
        </p:txBody>
      </p:sp>
      <p:sp>
        <p:nvSpPr>
          <p:cNvPr id="6" name="Shape"/>
          <p:cNvSpPr/>
          <p:nvPr/>
        </p:nvSpPr>
        <p:spPr>
          <a:xfrm>
            <a:off x="3516928" y="1780000"/>
            <a:ext cx="3150000" cy="420000"/>
          </a:xfrm>
          <a:prstGeom prst="rect">
            <a:avLst/>
          </a:prstGeom>
          <a:solidFill>
            <a:srgbClr val="16262E"/>
          </a:solidFill>
          <a:ln w="9525">
            <a:solidFill>
              <a:srgbClr val="FFFFFF"/>
            </a:solidFill>
            <a:prstDash val="solid"/>
          </a:ln>
        </p:spPr>
      </p:sp>
      <p:sp>
        <p:nvSpPr>
          <p:cNvPr id="7" name="Text"/>
          <p:cNvSpPr txBox="1"/>
          <p:nvPr/>
        </p:nvSpPr>
        <p:spPr>
          <a:xfrm>
            <a:off x="3636928" y="1780000"/>
            <a:ext cx="291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Qué es</a:t>
            </a:r>
            <a:endParaRPr lang="en-US" sz="1200" dirty="0"/>
          </a:p>
        </p:txBody>
      </p:sp>
      <p:sp>
        <p:nvSpPr>
          <p:cNvPr id="8" name="Shape"/>
          <p:cNvSpPr/>
          <p:nvPr/>
        </p:nvSpPr>
        <p:spPr>
          <a:xfrm>
            <a:off x="6666928" y="1780000"/>
            <a:ext cx="1800000" cy="420000"/>
          </a:xfrm>
          <a:prstGeom prst="rect">
            <a:avLst/>
          </a:prstGeom>
          <a:solidFill>
            <a:srgbClr val="16262E"/>
          </a:solidFill>
          <a:ln w="9525">
            <a:solidFill>
              <a:srgbClr val="FFFFFF"/>
            </a:solidFill>
            <a:prstDash val="solid"/>
          </a:ln>
        </p:spPr>
      </p:sp>
      <p:sp>
        <p:nvSpPr>
          <p:cNvPr id="9" name="Text"/>
          <p:cNvSpPr txBox="1"/>
          <p:nvPr/>
        </p:nvSpPr>
        <p:spPr>
          <a:xfrm>
            <a:off x="6786928" y="1780000"/>
            <a:ext cx="15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Cuándo</a:t>
            </a:r>
            <a:endParaRPr lang="en-US" sz="1200" dirty="0"/>
          </a:p>
        </p:txBody>
      </p:sp>
      <p:sp>
        <p:nvSpPr>
          <p:cNvPr id="10" name="Shape"/>
          <p:cNvSpPr/>
          <p:nvPr/>
        </p:nvSpPr>
        <p:spPr>
          <a:xfrm>
            <a:off x="8466928" y="1780000"/>
            <a:ext cx="3157839" cy="420000"/>
          </a:xfrm>
          <a:prstGeom prst="rect">
            <a:avLst/>
          </a:prstGeom>
          <a:solidFill>
            <a:srgbClr val="16262E"/>
          </a:solidFill>
          <a:ln w="9525">
            <a:solidFill>
              <a:srgbClr val="FFFFFF"/>
            </a:solidFill>
            <a:prstDash val="solid"/>
          </a:ln>
        </p:spPr>
      </p:sp>
      <p:sp>
        <p:nvSpPr>
          <p:cNvPr id="11" name="Text"/>
          <p:cNvSpPr txBox="1"/>
          <p:nvPr/>
        </p:nvSpPr>
        <p:spPr>
          <a:xfrm>
            <a:off x="8586928" y="1780000"/>
            <a:ext cx="2917839"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Qué salió de ahí</a:t>
            </a:r>
            <a:endParaRPr lang="en-US" sz="1200" dirty="0"/>
          </a:p>
        </p:txBody>
      </p:sp>
      <p:sp>
        <p:nvSpPr>
          <p:cNvPr id="12" name="Shape"/>
          <p:cNvSpPr/>
          <p:nvPr/>
        </p:nvSpPr>
        <p:spPr>
          <a:xfrm>
            <a:off x="566928" y="2200000"/>
            <a:ext cx="2950000" cy="820000"/>
          </a:xfrm>
          <a:prstGeom prst="rect">
            <a:avLst/>
          </a:prstGeom>
          <a:solidFill>
            <a:srgbClr val="D7E7E7"/>
          </a:solidFill>
          <a:ln w="9525">
            <a:solidFill>
              <a:srgbClr val="D9E0E3"/>
            </a:solidFill>
            <a:prstDash val="solid"/>
          </a:ln>
        </p:spPr>
      </p:sp>
      <p:sp>
        <p:nvSpPr>
          <p:cNvPr id="13" name="Text"/>
          <p:cNvSpPr txBox="1"/>
          <p:nvPr/>
        </p:nvSpPr>
        <p:spPr>
          <a:xfrm>
            <a:off x="686928" y="2200000"/>
            <a:ext cx="2710000" cy="82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Informe_sintetico_LAB1.docx</a:t>
            </a:r>
            <a:endParaRPr lang="en-US" sz="1150" dirty="0"/>
          </a:p>
        </p:txBody>
      </p:sp>
      <p:sp>
        <p:nvSpPr>
          <p:cNvPr id="14" name="Shape"/>
          <p:cNvSpPr/>
          <p:nvPr/>
        </p:nvSpPr>
        <p:spPr>
          <a:xfrm>
            <a:off x="3516928" y="2200000"/>
            <a:ext cx="3150000" cy="820000"/>
          </a:xfrm>
          <a:prstGeom prst="rect">
            <a:avLst/>
          </a:prstGeom>
          <a:solidFill>
            <a:srgbClr val="F2F5F6"/>
          </a:solidFill>
          <a:ln w="9525">
            <a:solidFill>
              <a:srgbClr val="D9E0E3"/>
            </a:solidFill>
            <a:prstDash val="solid"/>
          </a:ln>
        </p:spPr>
      </p:sp>
      <p:sp>
        <p:nvSpPr>
          <p:cNvPr id="15" name="Text"/>
          <p:cNvSpPr txBox="1"/>
          <p:nvPr/>
        </p:nvSpPr>
        <p:spPr>
          <a:xfrm>
            <a:off x="3636928" y="2200000"/>
            <a:ext cx="2910000"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El informe final de evaluación del programa, ejercicio 2025. La versión nacional, con las doce entidades juntas.</a:t>
            </a:r>
            <a:endParaRPr lang="en-US" sz="1150" dirty="0"/>
          </a:p>
        </p:txBody>
      </p:sp>
      <p:sp>
        <p:nvSpPr>
          <p:cNvPr id="16" name="Shape"/>
          <p:cNvSpPr/>
          <p:nvPr/>
        </p:nvSpPr>
        <p:spPr>
          <a:xfrm>
            <a:off x="6666928" y="2200000"/>
            <a:ext cx="1800000" cy="820000"/>
          </a:xfrm>
          <a:prstGeom prst="rect">
            <a:avLst/>
          </a:prstGeom>
          <a:solidFill>
            <a:srgbClr val="F2F5F6"/>
          </a:solidFill>
          <a:ln w="9525">
            <a:solidFill>
              <a:srgbClr val="D9E0E3"/>
            </a:solidFill>
            <a:prstDash val="solid"/>
          </a:ln>
        </p:spPr>
      </p:sp>
      <p:sp>
        <p:nvSpPr>
          <p:cNvPr id="17" name="Text"/>
          <p:cNvSpPr txBox="1"/>
          <p:nvPr/>
        </p:nvSpPr>
        <p:spPr>
          <a:xfrm>
            <a:off x="6786928" y="2200000"/>
            <a:ext cx="1560000"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Sesión 3, Laboratorio 1</a:t>
            </a:r>
            <a:endParaRPr lang="en-US" sz="1150" dirty="0"/>
          </a:p>
        </p:txBody>
      </p:sp>
      <p:sp>
        <p:nvSpPr>
          <p:cNvPr id="18" name="Shape"/>
          <p:cNvSpPr/>
          <p:nvPr/>
        </p:nvSpPr>
        <p:spPr>
          <a:xfrm>
            <a:off x="8466928" y="2200000"/>
            <a:ext cx="3157839" cy="820000"/>
          </a:xfrm>
          <a:prstGeom prst="rect">
            <a:avLst/>
          </a:prstGeom>
          <a:solidFill>
            <a:srgbClr val="F2F5F6"/>
          </a:solidFill>
          <a:ln w="9525">
            <a:solidFill>
              <a:srgbClr val="D9E0E3"/>
            </a:solidFill>
            <a:prstDash val="solid"/>
          </a:ln>
        </p:spPr>
      </p:sp>
      <p:sp>
        <p:nvSpPr>
          <p:cNvPr id="19" name="Text"/>
          <p:cNvSpPr txBox="1"/>
          <p:nvPr/>
        </p:nvSpPr>
        <p:spPr>
          <a:xfrm>
            <a:off x="8586928" y="2200000"/>
            <a:ext cx="2917839"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Lo desmontaron: cifras que no cuadraban, una fuente inexistente y conclusiones sin respaldo.</a:t>
            </a:r>
            <a:endParaRPr lang="en-US" sz="1150" dirty="0"/>
          </a:p>
        </p:txBody>
      </p:sp>
      <p:sp>
        <p:nvSpPr>
          <p:cNvPr id="20" name="Shape"/>
          <p:cNvSpPr/>
          <p:nvPr/>
        </p:nvSpPr>
        <p:spPr>
          <a:xfrm>
            <a:off x="566928" y="3020000"/>
            <a:ext cx="2950000" cy="820000"/>
          </a:xfrm>
          <a:prstGeom prst="rect">
            <a:avLst/>
          </a:prstGeom>
          <a:solidFill>
            <a:srgbClr val="D7E7E7"/>
          </a:solidFill>
          <a:ln w="9525">
            <a:solidFill>
              <a:srgbClr val="D9E0E3"/>
            </a:solidFill>
            <a:prstDash val="solid"/>
          </a:ln>
        </p:spPr>
      </p:sp>
      <p:sp>
        <p:nvSpPr>
          <p:cNvPr id="21" name="Text"/>
          <p:cNvSpPr txBox="1"/>
          <p:nvPr/>
        </p:nvSpPr>
        <p:spPr>
          <a:xfrm>
            <a:off x="686928" y="3020000"/>
            <a:ext cx="2710000" cy="82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Registros_atencion_ciudadana_PARTICIPANTE.xlsx</a:t>
            </a:r>
            <a:endParaRPr lang="en-US" sz="1150" dirty="0"/>
          </a:p>
        </p:txBody>
      </p:sp>
      <p:sp>
        <p:nvSpPr>
          <p:cNvPr id="22" name="Shape"/>
          <p:cNvSpPr/>
          <p:nvPr/>
        </p:nvSpPr>
        <p:spPr>
          <a:xfrm>
            <a:off x="3516928" y="3020000"/>
            <a:ext cx="3150000" cy="820000"/>
          </a:xfrm>
          <a:prstGeom prst="rect">
            <a:avLst/>
          </a:prstGeom>
          <a:solidFill>
            <a:srgbClr val="FFFFFF"/>
          </a:solidFill>
          <a:ln w="9525">
            <a:solidFill>
              <a:srgbClr val="D9E0E3"/>
            </a:solidFill>
            <a:prstDash val="solid"/>
          </a:ln>
        </p:spPr>
      </p:sp>
      <p:sp>
        <p:nvSpPr>
          <p:cNvPr id="23" name="Text"/>
          <p:cNvSpPr txBox="1"/>
          <p:nvPr/>
        </p:nvSpPr>
        <p:spPr>
          <a:xfrm>
            <a:off x="3636928" y="3020000"/>
            <a:ext cx="2910000"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118 registros de atención ciudadana del programa: quejas, dudas y solicitudes.</a:t>
            </a:r>
            <a:endParaRPr lang="en-US" sz="1150" dirty="0"/>
          </a:p>
        </p:txBody>
      </p:sp>
      <p:sp>
        <p:nvSpPr>
          <p:cNvPr id="24" name="Shape"/>
          <p:cNvSpPr/>
          <p:nvPr/>
        </p:nvSpPr>
        <p:spPr>
          <a:xfrm>
            <a:off x="6666928" y="3020000"/>
            <a:ext cx="1800000" cy="820000"/>
          </a:xfrm>
          <a:prstGeom prst="rect">
            <a:avLst/>
          </a:prstGeom>
          <a:solidFill>
            <a:srgbClr val="FFFFFF"/>
          </a:solidFill>
          <a:ln w="9525">
            <a:solidFill>
              <a:srgbClr val="D9E0E3"/>
            </a:solidFill>
            <a:prstDash val="solid"/>
          </a:ln>
        </p:spPr>
      </p:sp>
      <p:sp>
        <p:nvSpPr>
          <p:cNvPr id="25" name="Text"/>
          <p:cNvSpPr txBox="1"/>
          <p:nvPr/>
        </p:nvSpPr>
        <p:spPr>
          <a:xfrm>
            <a:off x="6786928" y="3020000"/>
            <a:ext cx="1560000"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Sesiones 1 y 4</a:t>
            </a:r>
            <a:endParaRPr lang="en-US" sz="1150" dirty="0"/>
          </a:p>
        </p:txBody>
      </p:sp>
      <p:sp>
        <p:nvSpPr>
          <p:cNvPr id="26" name="Shape"/>
          <p:cNvSpPr/>
          <p:nvPr/>
        </p:nvSpPr>
        <p:spPr>
          <a:xfrm>
            <a:off x="8466928" y="3020000"/>
            <a:ext cx="3157839" cy="820000"/>
          </a:xfrm>
          <a:prstGeom prst="rect">
            <a:avLst/>
          </a:prstGeom>
          <a:solidFill>
            <a:srgbClr val="FFFFFF"/>
          </a:solidFill>
          <a:ln w="9525">
            <a:solidFill>
              <a:srgbClr val="D9E0E3"/>
            </a:solidFill>
            <a:prstDash val="solid"/>
          </a:ln>
        </p:spPr>
      </p:sp>
      <p:sp>
        <p:nvSpPr>
          <p:cNvPr id="27" name="Text"/>
          <p:cNvSpPr txBox="1"/>
          <p:nvPr/>
        </p:nvSpPr>
        <p:spPr>
          <a:xfrm>
            <a:off x="8586928" y="3020000"/>
            <a:ext cx="2917839"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El libro de códigos y el agrupamiento temático. Y el enmascaramiento, sobre la hoja del padrón.</a:t>
            </a:r>
            <a:endParaRPr lang="en-US" sz="1150" dirty="0"/>
          </a:p>
        </p:txBody>
      </p:sp>
      <p:sp>
        <p:nvSpPr>
          <p:cNvPr id="28" name="Shape"/>
          <p:cNvSpPr/>
          <p:nvPr/>
        </p:nvSpPr>
        <p:spPr>
          <a:xfrm>
            <a:off x="566928" y="3840000"/>
            <a:ext cx="2950000" cy="820000"/>
          </a:xfrm>
          <a:prstGeom prst="rect">
            <a:avLst/>
          </a:prstGeom>
          <a:solidFill>
            <a:srgbClr val="D7E7E7"/>
          </a:solidFill>
          <a:ln w="9525">
            <a:solidFill>
              <a:srgbClr val="D9E0E3"/>
            </a:solidFill>
            <a:prstDash val="solid"/>
          </a:ln>
        </p:spPr>
      </p:sp>
      <p:sp>
        <p:nvSpPr>
          <p:cNvPr id="29" name="Text"/>
          <p:cNvSpPr txBox="1"/>
          <p:nvPr/>
        </p:nvSpPr>
        <p:spPr>
          <a:xfrm>
            <a:off x="686928" y="3840000"/>
            <a:ext cx="2710000" cy="82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Transcripciones_foro_PARTICIPANTE.docx</a:t>
            </a:r>
            <a:endParaRPr lang="en-US" sz="1150" dirty="0"/>
          </a:p>
        </p:txBody>
      </p:sp>
      <p:sp>
        <p:nvSpPr>
          <p:cNvPr id="30" name="Shape"/>
          <p:cNvSpPr/>
          <p:nvPr/>
        </p:nvSpPr>
        <p:spPr>
          <a:xfrm>
            <a:off x="3516928" y="3840000"/>
            <a:ext cx="3150000" cy="820000"/>
          </a:xfrm>
          <a:prstGeom prst="rect">
            <a:avLst/>
          </a:prstGeom>
          <a:solidFill>
            <a:srgbClr val="F2F5F6"/>
          </a:solidFill>
          <a:ln w="9525">
            <a:solidFill>
              <a:srgbClr val="D9E0E3"/>
            </a:solidFill>
            <a:prstDash val="solid"/>
          </a:ln>
        </p:spPr>
      </p:sp>
      <p:sp>
        <p:nvSpPr>
          <p:cNvPr id="31" name="Text"/>
          <p:cNvSpPr txBox="1"/>
          <p:nvPr/>
        </p:nvSpPr>
        <p:spPr>
          <a:xfrm>
            <a:off x="3636928" y="3840000"/>
            <a:ext cx="2910000"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41 intervenciones en dos foros de consulta de la Entidad C, agosto de 2026.</a:t>
            </a:r>
            <a:endParaRPr lang="en-US" sz="1150" dirty="0"/>
          </a:p>
        </p:txBody>
      </p:sp>
      <p:sp>
        <p:nvSpPr>
          <p:cNvPr id="32" name="Shape"/>
          <p:cNvSpPr/>
          <p:nvPr/>
        </p:nvSpPr>
        <p:spPr>
          <a:xfrm>
            <a:off x="6666928" y="3840000"/>
            <a:ext cx="1800000" cy="820000"/>
          </a:xfrm>
          <a:prstGeom prst="rect">
            <a:avLst/>
          </a:prstGeom>
          <a:solidFill>
            <a:srgbClr val="F2F5F6"/>
          </a:solidFill>
          <a:ln w="9525">
            <a:solidFill>
              <a:srgbClr val="D9E0E3"/>
            </a:solidFill>
            <a:prstDash val="solid"/>
          </a:ln>
        </p:spPr>
      </p:sp>
      <p:sp>
        <p:nvSpPr>
          <p:cNvPr id="33" name="Text"/>
          <p:cNvSpPr txBox="1"/>
          <p:nvPr/>
        </p:nvSpPr>
        <p:spPr>
          <a:xfrm>
            <a:off x="6786928" y="3840000"/>
            <a:ext cx="1560000"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Sesión 4, Práctica D</a:t>
            </a:r>
            <a:endParaRPr lang="en-US" sz="1150" dirty="0"/>
          </a:p>
        </p:txBody>
      </p:sp>
      <p:sp>
        <p:nvSpPr>
          <p:cNvPr id="34" name="Shape"/>
          <p:cNvSpPr/>
          <p:nvPr/>
        </p:nvSpPr>
        <p:spPr>
          <a:xfrm>
            <a:off x="8466928" y="3840000"/>
            <a:ext cx="3157839" cy="820000"/>
          </a:xfrm>
          <a:prstGeom prst="rect">
            <a:avLst/>
          </a:prstGeom>
          <a:solidFill>
            <a:srgbClr val="F2F5F6"/>
          </a:solidFill>
          <a:ln w="9525">
            <a:solidFill>
              <a:srgbClr val="D9E0E3"/>
            </a:solidFill>
            <a:prstDash val="solid"/>
          </a:ln>
        </p:spPr>
      </p:sp>
      <p:sp>
        <p:nvSpPr>
          <p:cNvPr id="35" name="Text"/>
          <p:cNvSpPr txBox="1"/>
          <p:nvPr/>
        </p:nvSpPr>
        <p:spPr>
          <a:xfrm>
            <a:off x="8586928" y="3840000"/>
            <a:ext cx="2917839"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Polaridad y causa raíz sobre las 38 intervenciones que sí se clasifican.</a:t>
            </a:r>
            <a:endParaRPr lang="en-US" sz="1150" dirty="0"/>
          </a:p>
        </p:txBody>
      </p:sp>
      <p:sp>
        <p:nvSpPr>
          <p:cNvPr id="36" name="Shape"/>
          <p:cNvSpPr/>
          <p:nvPr/>
        </p:nvSpPr>
        <p:spPr>
          <a:xfrm>
            <a:off x="566928" y="4660000"/>
            <a:ext cx="2950000" cy="820000"/>
          </a:xfrm>
          <a:prstGeom prst="rect">
            <a:avLst/>
          </a:prstGeom>
          <a:solidFill>
            <a:srgbClr val="D7E7E7"/>
          </a:solidFill>
          <a:ln w="9525">
            <a:solidFill>
              <a:srgbClr val="D9E0E3"/>
            </a:solidFill>
            <a:prstDash val="solid"/>
          </a:ln>
        </p:spPr>
      </p:sp>
      <p:sp>
        <p:nvSpPr>
          <p:cNvPr id="37" name="Text"/>
          <p:cNvSpPr txBox="1"/>
          <p:nvPr/>
        </p:nvSpPr>
        <p:spPr>
          <a:xfrm>
            <a:off x="686928" y="4660000"/>
            <a:ext cx="2710000" cy="82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Expedientes_LAB2.docx</a:t>
            </a:r>
            <a:endParaRPr lang="en-US" sz="1150" dirty="0"/>
          </a:p>
        </p:txBody>
      </p:sp>
      <p:sp>
        <p:nvSpPr>
          <p:cNvPr id="38" name="Shape"/>
          <p:cNvSpPr/>
          <p:nvPr/>
        </p:nvSpPr>
        <p:spPr>
          <a:xfrm>
            <a:off x="3516928" y="4660000"/>
            <a:ext cx="3150000" cy="820000"/>
          </a:xfrm>
          <a:prstGeom prst="rect">
            <a:avLst/>
          </a:prstGeom>
          <a:solidFill>
            <a:srgbClr val="FFFFFF"/>
          </a:solidFill>
          <a:ln w="9525">
            <a:solidFill>
              <a:srgbClr val="D9E0E3"/>
            </a:solidFill>
            <a:prstDash val="solid"/>
          </a:ln>
        </p:spPr>
      </p:sp>
      <p:sp>
        <p:nvSpPr>
          <p:cNvPr id="39" name="Text"/>
          <p:cNvSpPr txBox="1"/>
          <p:nvPr/>
        </p:nvSpPr>
        <p:spPr>
          <a:xfrm>
            <a:off x="3636928" y="4660000"/>
            <a:ext cx="2910000"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Seis expedientes de evaluación, uno por entidad, sobre el mismo marco normativo.</a:t>
            </a:r>
            <a:endParaRPr lang="en-US" sz="1150" dirty="0"/>
          </a:p>
        </p:txBody>
      </p:sp>
      <p:sp>
        <p:nvSpPr>
          <p:cNvPr id="40" name="Shape"/>
          <p:cNvSpPr/>
          <p:nvPr/>
        </p:nvSpPr>
        <p:spPr>
          <a:xfrm>
            <a:off x="6666928" y="4660000"/>
            <a:ext cx="1800000" cy="820000"/>
          </a:xfrm>
          <a:prstGeom prst="rect">
            <a:avLst/>
          </a:prstGeom>
          <a:solidFill>
            <a:srgbClr val="FFFFFF"/>
          </a:solidFill>
          <a:ln w="9525">
            <a:solidFill>
              <a:srgbClr val="D9E0E3"/>
            </a:solidFill>
            <a:prstDash val="solid"/>
          </a:ln>
        </p:spPr>
      </p:sp>
      <p:sp>
        <p:nvSpPr>
          <p:cNvPr id="41" name="Text"/>
          <p:cNvSpPr txBox="1"/>
          <p:nvPr/>
        </p:nvSpPr>
        <p:spPr>
          <a:xfrm>
            <a:off x="6786928" y="4660000"/>
            <a:ext cx="1560000"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Hoy</a:t>
            </a:r>
            <a:endParaRPr lang="en-US" sz="1150" dirty="0"/>
          </a:p>
        </p:txBody>
      </p:sp>
      <p:sp>
        <p:nvSpPr>
          <p:cNvPr id="42" name="Shape"/>
          <p:cNvSpPr/>
          <p:nvPr/>
        </p:nvSpPr>
        <p:spPr>
          <a:xfrm>
            <a:off x="8466928" y="4660000"/>
            <a:ext cx="3157839" cy="820000"/>
          </a:xfrm>
          <a:prstGeom prst="rect">
            <a:avLst/>
          </a:prstGeom>
          <a:solidFill>
            <a:srgbClr val="FFFFFF"/>
          </a:solidFill>
          <a:ln w="9525">
            <a:solidFill>
              <a:srgbClr val="D9E0E3"/>
            </a:solidFill>
            <a:prstDash val="solid"/>
          </a:ln>
        </p:spPr>
      </p:sp>
      <p:sp>
        <p:nvSpPr>
          <p:cNvPr id="43" name="Text"/>
          <p:cNvSpPr txBox="1"/>
          <p:nvPr/>
        </p:nvSpPr>
        <p:spPr>
          <a:xfrm>
            <a:off x="8586928" y="4660000"/>
            <a:ext cx="2917839"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Su matriz de evidencia y la síntesis que la acompaña.</a:t>
            </a:r>
            <a:endParaRPr lang="en-US" sz="1150" dirty="0"/>
          </a:p>
        </p:txBody>
      </p:sp>
      <p:sp>
        <p:nvSpPr>
          <p:cNvPr id="44" name="Shape"/>
          <p:cNvSpPr/>
          <p:nvPr/>
        </p:nvSpPr>
        <p:spPr>
          <a:xfrm>
            <a:off x="566928" y="5380000"/>
            <a:ext cx="11057839" cy="780000"/>
          </a:xfrm>
          <a:prstGeom prst="roundRect">
            <a:avLst>
              <a:gd name="adj" fmla="val 8235"/>
            </a:avLst>
          </a:prstGeom>
          <a:solidFill>
            <a:srgbClr val="F7E4D8"/>
          </a:solidFill>
          <a:ln w="12700">
            <a:solidFill>
              <a:srgbClr val="F7E4D8"/>
            </a:solidFill>
            <a:prstDash val="solid"/>
          </a:ln>
        </p:spPr>
      </p:sp>
      <p:sp>
        <p:nvSpPr>
          <p:cNvPr id="45" name="Text"/>
          <p:cNvSpPr txBox="1"/>
          <p:nvPr/>
        </p:nvSpPr>
        <p:spPr>
          <a:xfrm>
            <a:off x="804672" y="5380000"/>
            <a:ext cx="10582351" cy="78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Es el mismo Programa de Apoyo al Cuidado Comunitario en los cuatro. El informe nacional que desmontaron el jueves se armó a partir de expedientes estatales como los de hoy, y por eso la pregunta con la que cerramos la sesión es qué hallazgo se perdió en el camino del expediente al informe.</a:t>
            </a:r>
            <a:endParaRPr lang="en-US" sz="1300" dirty="0"/>
          </a:p>
        </p:txBody>
      </p:sp>
      <p:sp>
        <p:nvSpPr>
          <p:cNvPr id="46" name="Text"/>
          <p:cNvSpPr txBox="1"/>
          <p:nvPr/>
        </p:nvSpPr>
        <p:spPr>
          <a:xfrm>
            <a:off x="566928" y="626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Los cuatro son documentos sintéticos elaborados para el curso: el programa, las entidades, las cifras y las personas son ficticios. Están en las carpetas sesion-01, sesion-03, sesion-04 y sesion-06 del repositorio.</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Expediente por dentro">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El expediente de hoy, por dentro</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Un solo archivo con dos partes: lo que los seis equipos comparten y lo que solo trae su entidad.</a:t>
            </a:r>
            <a:endParaRPr lang="en-US" sz="1500" dirty="0"/>
          </a:p>
        </p:txBody>
      </p:sp>
      <p:sp>
        <p:nvSpPr>
          <p:cNvPr id="4" name="Shape"/>
          <p:cNvSpPr/>
          <p:nvPr/>
        </p:nvSpPr>
        <p:spPr>
          <a:xfrm>
            <a:off x="566928" y="1780000"/>
            <a:ext cx="5378919" cy="3000000"/>
          </a:xfrm>
          <a:prstGeom prst="roundRect">
            <a:avLst>
              <a:gd name="adj" fmla="val 2933"/>
            </a:avLst>
          </a:prstGeom>
          <a:solidFill>
            <a:srgbClr val="F2F5F6"/>
          </a:solidFill>
          <a:ln w="12700">
            <a:solidFill>
              <a:srgbClr val="F2F5F6"/>
            </a:solidFill>
            <a:prstDash val="solid"/>
          </a:ln>
        </p:spPr>
      </p:sp>
      <p:sp>
        <p:nvSpPr>
          <p:cNvPr id="5" name="Text"/>
          <p:cNvSpPr txBox="1"/>
          <p:nvPr/>
        </p:nvSpPr>
        <p:spPr>
          <a:xfrm>
            <a:off x="804672" y="1930000"/>
            <a:ext cx="4903431" cy="260000"/>
          </a:xfrm>
          <a:prstGeom prst="rect">
            <a:avLst/>
          </a:prstGeom>
          <a:noFill/>
          <a:ln/>
        </p:spPr>
        <p:txBody>
          <a:bodyPr wrap="square" lIns="0" tIns="0" rIns="0" bIns="0" rtlCol="0" anchor="t"/>
          <a:lstStyle/>
          <a:p>
            <a:pPr indent="0" marL="0">
              <a:buNone/>
            </a:pPr>
            <a:r>
              <a:rPr lang="en-US" sz="1000" b="1" spc="100" kern="0" dirty="0">
                <a:solidFill>
                  <a:srgbClr val="2E7D7D"/>
                </a:solidFill>
                <a:latin typeface="Arial" pitchFamily="34" charset="0"/>
                <a:ea typeface="Arial" pitchFamily="34" charset="-122"/>
                <a:cs typeface="Arial" pitchFamily="34" charset="-120"/>
              </a:rPr>
              <a:t>IGUAL PARA LOS SEIS EQUIPOS</a:t>
            </a:r>
            <a:endParaRPr lang="en-US" sz="1000" dirty="0"/>
          </a:p>
        </p:txBody>
      </p:sp>
      <p:sp>
        <p:nvSpPr>
          <p:cNvPr id="6" name="Text"/>
          <p:cNvSpPr txBox="1"/>
          <p:nvPr/>
        </p:nvSpPr>
        <p:spPr>
          <a:xfrm>
            <a:off x="804672" y="2220000"/>
            <a:ext cx="4903431" cy="340000"/>
          </a:xfrm>
          <a:prstGeom prst="rect">
            <a:avLst/>
          </a:prstGeom>
          <a:noFill/>
          <a:ln/>
        </p:spPr>
        <p:txBody>
          <a:bodyPr wrap="square" lIns="0" tIns="0" rIns="0" bIns="0" rtlCol="0" anchor="t"/>
          <a:lstStyle/>
          <a:p>
            <a:pPr indent="0" marL="0">
              <a:buNone/>
            </a:pPr>
            <a:r>
              <a:rPr lang="en-US" sz="1550" b="1" dirty="0">
                <a:solidFill>
                  <a:srgbClr val="16262E"/>
                </a:solidFill>
                <a:latin typeface="Arial" pitchFamily="34" charset="0"/>
                <a:ea typeface="Arial" pitchFamily="34" charset="-122"/>
                <a:cs typeface="Arial" pitchFamily="34" charset="-120"/>
              </a:rPr>
              <a:t>El marco normativo</a:t>
            </a:r>
            <a:endParaRPr lang="en-US" sz="1550" dirty="0"/>
          </a:p>
        </p:txBody>
      </p:sp>
      <p:sp>
        <p:nvSpPr>
          <p:cNvPr id="7" name="Shape"/>
          <p:cNvSpPr/>
          <p:nvPr/>
        </p:nvSpPr>
        <p:spPr>
          <a:xfrm>
            <a:off x="804672" y="2740000"/>
            <a:ext cx="200000" cy="200000"/>
          </a:xfrm>
          <a:prstGeom prst="ellipse">
            <a:avLst/>
          </a:prstGeom>
          <a:solidFill>
            <a:srgbClr val="2E7D7D"/>
          </a:solidFill>
          <a:ln w="12700">
            <a:solidFill>
              <a:srgbClr val="2E7D7D"/>
            </a:solidFill>
            <a:prstDash val="solid"/>
          </a:ln>
        </p:spPr>
      </p:sp>
      <p:sp>
        <p:nvSpPr>
          <p:cNvPr id="8" name="Text"/>
          <p:cNvSpPr txBox="1"/>
          <p:nvPr/>
        </p:nvSpPr>
        <p:spPr>
          <a:xfrm>
            <a:off x="1126928" y="2680000"/>
            <a:ext cx="4578919" cy="380000"/>
          </a:xfrm>
          <a:prstGeom prst="rect">
            <a:avLst/>
          </a:prstGeom>
          <a:noFill/>
          <a:ln/>
        </p:spPr>
        <p:txBody>
          <a:bodyPr wrap="square" lIns="0" tIns="0" rIns="0" bIns="0" rtlCol="0" anchor="t"/>
          <a:lstStyle/>
          <a:p>
            <a:pPr indent="0" marL="0">
              <a:lnSpc>
                <a:spcPct val="104000"/>
              </a:lnSpc>
              <a:buNone/>
            </a:pPr>
            <a:r>
              <a:rPr lang="en-US" sz="1150" dirty="0">
                <a:solidFill>
                  <a:srgbClr val="16262E"/>
                </a:solidFill>
                <a:latin typeface="Calibri" pitchFamily="34" charset="0"/>
                <a:ea typeface="Calibri" pitchFamily="34" charset="-122"/>
                <a:cs typeface="Calibri" pitchFamily="34" charset="-120"/>
              </a:rPr>
              <a:t>Reglas de Operación del programa para el ejercicio 2025, en extracto.</a:t>
            </a:r>
            <a:endParaRPr lang="en-US" sz="1150" dirty="0"/>
          </a:p>
        </p:txBody>
      </p:sp>
      <p:sp>
        <p:nvSpPr>
          <p:cNvPr id="9" name="Shape"/>
          <p:cNvSpPr/>
          <p:nvPr/>
        </p:nvSpPr>
        <p:spPr>
          <a:xfrm>
            <a:off x="804672" y="3140000"/>
            <a:ext cx="200000" cy="200000"/>
          </a:xfrm>
          <a:prstGeom prst="ellipse">
            <a:avLst/>
          </a:prstGeom>
          <a:solidFill>
            <a:srgbClr val="2E7D7D"/>
          </a:solidFill>
          <a:ln w="12700">
            <a:solidFill>
              <a:srgbClr val="2E7D7D"/>
            </a:solidFill>
            <a:prstDash val="solid"/>
          </a:ln>
        </p:spPr>
      </p:sp>
      <p:sp>
        <p:nvSpPr>
          <p:cNvPr id="10" name="Text"/>
          <p:cNvSpPr txBox="1"/>
          <p:nvPr/>
        </p:nvSpPr>
        <p:spPr>
          <a:xfrm>
            <a:off x="1126928" y="3080000"/>
            <a:ext cx="4578919" cy="380000"/>
          </a:xfrm>
          <a:prstGeom prst="rect">
            <a:avLst/>
          </a:prstGeom>
          <a:noFill/>
          <a:ln/>
        </p:spPr>
        <p:txBody>
          <a:bodyPr wrap="square" lIns="0" tIns="0" rIns="0" bIns="0" rtlCol="0" anchor="t"/>
          <a:lstStyle/>
          <a:p>
            <a:pPr indent="0" marL="0">
              <a:lnSpc>
                <a:spcPct val="104000"/>
              </a:lnSpc>
              <a:buNone/>
            </a:pPr>
            <a:r>
              <a:rPr lang="en-US" sz="1150" dirty="0">
                <a:solidFill>
                  <a:srgbClr val="16262E"/>
                </a:solidFill>
                <a:latin typeface="Calibri" pitchFamily="34" charset="0"/>
                <a:ea typeface="Calibri" pitchFamily="34" charset="-122"/>
                <a:cs typeface="Calibri" pitchFamily="34" charset="-120"/>
              </a:rPr>
              <a:t>Población objetivo, criterios de elegibilidad y requisitos documentales: artículos 6, 8 y 9.</a:t>
            </a:r>
            <a:endParaRPr lang="en-US" sz="1150" dirty="0"/>
          </a:p>
        </p:txBody>
      </p:sp>
      <p:sp>
        <p:nvSpPr>
          <p:cNvPr id="11" name="Shape"/>
          <p:cNvSpPr/>
          <p:nvPr/>
        </p:nvSpPr>
        <p:spPr>
          <a:xfrm>
            <a:off x="804672" y="3540000"/>
            <a:ext cx="200000" cy="200000"/>
          </a:xfrm>
          <a:prstGeom prst="ellipse">
            <a:avLst/>
          </a:prstGeom>
          <a:solidFill>
            <a:srgbClr val="2E7D7D"/>
          </a:solidFill>
          <a:ln w="12700">
            <a:solidFill>
              <a:srgbClr val="2E7D7D"/>
            </a:solidFill>
            <a:prstDash val="solid"/>
          </a:ln>
        </p:spPr>
      </p:sp>
      <p:sp>
        <p:nvSpPr>
          <p:cNvPr id="12" name="Text"/>
          <p:cNvSpPr txBox="1"/>
          <p:nvPr/>
        </p:nvSpPr>
        <p:spPr>
          <a:xfrm>
            <a:off x="1126928" y="3480000"/>
            <a:ext cx="4578919" cy="380000"/>
          </a:xfrm>
          <a:prstGeom prst="rect">
            <a:avLst/>
          </a:prstGeom>
          <a:noFill/>
          <a:ln/>
        </p:spPr>
        <p:txBody>
          <a:bodyPr wrap="square" lIns="0" tIns="0" rIns="0" bIns="0" rtlCol="0" anchor="t"/>
          <a:lstStyle/>
          <a:p>
            <a:pPr indent="0" marL="0">
              <a:lnSpc>
                <a:spcPct val="104000"/>
              </a:lnSpc>
              <a:buNone/>
            </a:pPr>
            <a:r>
              <a:rPr lang="en-US" sz="1150" dirty="0">
                <a:solidFill>
                  <a:srgbClr val="16262E"/>
                </a:solidFill>
                <a:latin typeface="Calibri" pitchFamily="34" charset="0"/>
                <a:ea typeface="Calibri" pitchFamily="34" charset="-122"/>
                <a:cs typeface="Calibri" pitchFamily="34" charset="-120"/>
              </a:rPr>
              <a:t>Montos, compatibilidad y fecha de entrega: artículos 11, 14 y 17.</a:t>
            </a:r>
            <a:endParaRPr lang="en-US" sz="1150" dirty="0"/>
          </a:p>
        </p:txBody>
      </p:sp>
      <p:sp>
        <p:nvSpPr>
          <p:cNvPr id="13" name="Shape"/>
          <p:cNvSpPr/>
          <p:nvPr/>
        </p:nvSpPr>
        <p:spPr>
          <a:xfrm>
            <a:off x="804672" y="3940000"/>
            <a:ext cx="200000" cy="200000"/>
          </a:xfrm>
          <a:prstGeom prst="ellipse">
            <a:avLst/>
          </a:prstGeom>
          <a:solidFill>
            <a:srgbClr val="2E7D7D"/>
          </a:solidFill>
          <a:ln w="12700">
            <a:solidFill>
              <a:srgbClr val="2E7D7D"/>
            </a:solidFill>
            <a:prstDash val="solid"/>
          </a:ln>
        </p:spPr>
      </p:sp>
      <p:sp>
        <p:nvSpPr>
          <p:cNvPr id="14" name="Text"/>
          <p:cNvSpPr txBox="1"/>
          <p:nvPr/>
        </p:nvSpPr>
        <p:spPr>
          <a:xfrm>
            <a:off x="1126928" y="3880000"/>
            <a:ext cx="4578919" cy="380000"/>
          </a:xfrm>
          <a:prstGeom prst="rect">
            <a:avLst/>
          </a:prstGeom>
          <a:noFill/>
          <a:ln/>
        </p:spPr>
        <p:txBody>
          <a:bodyPr wrap="square" lIns="0" tIns="0" rIns="0" bIns="0" rtlCol="0" anchor="t"/>
          <a:lstStyle/>
          <a:p>
            <a:pPr indent="0" marL="0">
              <a:lnSpc>
                <a:spcPct val="104000"/>
              </a:lnSpc>
              <a:buNone/>
            </a:pPr>
            <a:r>
              <a:rPr lang="en-US" sz="1150" dirty="0">
                <a:solidFill>
                  <a:srgbClr val="16262E"/>
                </a:solidFill>
                <a:latin typeface="Calibri" pitchFamily="34" charset="0"/>
                <a:ea typeface="Calibri" pitchFamily="34" charset="-122"/>
                <a:cs typeface="Calibri" pitchFamily="34" charset="-120"/>
              </a:rPr>
              <a:t>Centros comunitarios de cuidado: artículo 21.</a:t>
            </a:r>
            <a:endParaRPr lang="en-US" sz="1150" dirty="0"/>
          </a:p>
        </p:txBody>
      </p:sp>
      <p:sp>
        <p:nvSpPr>
          <p:cNvPr id="15" name="Shape"/>
          <p:cNvSpPr/>
          <p:nvPr/>
        </p:nvSpPr>
        <p:spPr>
          <a:xfrm>
            <a:off x="804672" y="4340000"/>
            <a:ext cx="200000" cy="200000"/>
          </a:xfrm>
          <a:prstGeom prst="ellipse">
            <a:avLst/>
          </a:prstGeom>
          <a:solidFill>
            <a:srgbClr val="2E7D7D"/>
          </a:solidFill>
          <a:ln w="12700">
            <a:solidFill>
              <a:srgbClr val="2E7D7D"/>
            </a:solidFill>
            <a:prstDash val="solid"/>
          </a:ln>
        </p:spPr>
      </p:sp>
      <p:sp>
        <p:nvSpPr>
          <p:cNvPr id="16" name="Text"/>
          <p:cNvSpPr txBox="1"/>
          <p:nvPr/>
        </p:nvSpPr>
        <p:spPr>
          <a:xfrm>
            <a:off x="1126928" y="4280000"/>
            <a:ext cx="4578919" cy="380000"/>
          </a:xfrm>
          <a:prstGeom prst="rect">
            <a:avLst/>
          </a:prstGeom>
          <a:noFill/>
          <a:ln/>
        </p:spPr>
        <p:txBody>
          <a:bodyPr wrap="square" lIns="0" tIns="0" rIns="0" bIns="0" rtlCol="0" anchor="t"/>
          <a:lstStyle/>
          <a:p>
            <a:pPr indent="0" marL="0">
              <a:lnSpc>
                <a:spcPct val="104000"/>
              </a:lnSpc>
              <a:buNone/>
            </a:pPr>
            <a:r>
              <a:rPr lang="en-US" sz="1150" dirty="0">
                <a:solidFill>
                  <a:srgbClr val="16262E"/>
                </a:solidFill>
                <a:latin typeface="Calibri" pitchFamily="34" charset="0"/>
                <a:ea typeface="Calibri" pitchFamily="34" charset="-122"/>
                <a:cs typeface="Calibri" pitchFamily="34" charset="-120"/>
              </a:rPr>
              <a:t>Obligaciones, causales de baja y transparencia: artículos 24, 27, 30 y 32.</a:t>
            </a:r>
            <a:endParaRPr lang="en-US" sz="1150" dirty="0"/>
          </a:p>
        </p:txBody>
      </p:sp>
      <p:sp>
        <p:nvSpPr>
          <p:cNvPr id="17" name="Shape"/>
          <p:cNvSpPr/>
          <p:nvPr/>
        </p:nvSpPr>
        <p:spPr>
          <a:xfrm>
            <a:off x="6245847" y="1780000"/>
            <a:ext cx="5378919" cy="3000000"/>
          </a:xfrm>
          <a:prstGeom prst="roundRect">
            <a:avLst>
              <a:gd name="adj" fmla="val 2933"/>
            </a:avLst>
          </a:prstGeom>
          <a:solidFill>
            <a:srgbClr val="F7E4D8"/>
          </a:solidFill>
          <a:ln w="12700">
            <a:solidFill>
              <a:srgbClr val="F7E4D8"/>
            </a:solidFill>
            <a:prstDash val="solid"/>
          </a:ln>
        </p:spPr>
      </p:sp>
      <p:sp>
        <p:nvSpPr>
          <p:cNvPr id="18" name="Text"/>
          <p:cNvSpPr txBox="1"/>
          <p:nvPr/>
        </p:nvSpPr>
        <p:spPr>
          <a:xfrm>
            <a:off x="6483591" y="1930000"/>
            <a:ext cx="4903431" cy="260000"/>
          </a:xfrm>
          <a:prstGeom prst="rect">
            <a:avLst/>
          </a:prstGeom>
          <a:noFill/>
          <a:ln/>
        </p:spPr>
        <p:txBody>
          <a:bodyPr wrap="square" lIns="0" tIns="0" rIns="0" bIns="0" rtlCol="0" anchor="t"/>
          <a:lstStyle/>
          <a:p>
            <a:pPr indent="0" marL="0">
              <a:buNone/>
            </a:pPr>
            <a:r>
              <a:rPr lang="en-US" sz="1000" b="1" spc="100" kern="0" dirty="0">
                <a:solidFill>
                  <a:srgbClr val="C85A28"/>
                </a:solidFill>
                <a:latin typeface="Arial" pitchFamily="34" charset="0"/>
                <a:ea typeface="Arial" pitchFamily="34" charset="-122"/>
                <a:cs typeface="Arial" pitchFamily="34" charset="-120"/>
              </a:rPr>
              <a:t>DISTINTO EN CADA ENTIDAD</a:t>
            </a:r>
            <a:endParaRPr lang="en-US" sz="1000" dirty="0"/>
          </a:p>
        </p:txBody>
      </p:sp>
      <p:sp>
        <p:nvSpPr>
          <p:cNvPr id="19" name="Text"/>
          <p:cNvSpPr txBox="1"/>
          <p:nvPr/>
        </p:nvSpPr>
        <p:spPr>
          <a:xfrm>
            <a:off x="6483591" y="2220000"/>
            <a:ext cx="4903431" cy="340000"/>
          </a:xfrm>
          <a:prstGeom prst="rect">
            <a:avLst/>
          </a:prstGeom>
          <a:noFill/>
          <a:ln/>
        </p:spPr>
        <p:txBody>
          <a:bodyPr wrap="square" lIns="0" tIns="0" rIns="0" bIns="0" rtlCol="0" anchor="t"/>
          <a:lstStyle/>
          <a:p>
            <a:pPr indent="0" marL="0">
              <a:buNone/>
            </a:pPr>
            <a:r>
              <a:rPr lang="en-US" sz="1550" b="1" dirty="0">
                <a:solidFill>
                  <a:srgbClr val="16262E"/>
                </a:solidFill>
                <a:latin typeface="Arial" pitchFamily="34" charset="0"/>
                <a:ea typeface="Arial" pitchFamily="34" charset="-122"/>
                <a:cs typeface="Arial" pitchFamily="34" charset="-120"/>
              </a:rPr>
              <a:t>Los tres documentos de su caso</a:t>
            </a:r>
            <a:endParaRPr lang="en-US" sz="1550" dirty="0"/>
          </a:p>
        </p:txBody>
      </p:sp>
      <p:sp>
        <p:nvSpPr>
          <p:cNvPr id="20" name="Shape"/>
          <p:cNvSpPr/>
          <p:nvPr/>
        </p:nvSpPr>
        <p:spPr>
          <a:xfrm>
            <a:off x="6483591" y="2740000"/>
            <a:ext cx="200000" cy="200000"/>
          </a:xfrm>
          <a:prstGeom prst="ellipse">
            <a:avLst/>
          </a:prstGeom>
          <a:solidFill>
            <a:srgbClr val="C85A28"/>
          </a:solidFill>
          <a:ln w="12700">
            <a:solidFill>
              <a:srgbClr val="C85A28"/>
            </a:solidFill>
            <a:prstDash val="solid"/>
          </a:ln>
        </p:spPr>
      </p:sp>
      <p:sp>
        <p:nvSpPr>
          <p:cNvPr id="21" name="Text"/>
          <p:cNvSpPr txBox="1"/>
          <p:nvPr/>
        </p:nvSpPr>
        <p:spPr>
          <a:xfrm>
            <a:off x="6805847" y="2680000"/>
            <a:ext cx="4578919" cy="380000"/>
          </a:xfrm>
          <a:prstGeom prst="rect">
            <a:avLst/>
          </a:prstGeom>
          <a:noFill/>
          <a:ln/>
        </p:spPr>
        <p:txBody>
          <a:bodyPr wrap="square" lIns="0" tIns="0" rIns="0" bIns="0" rtlCol="0" anchor="t"/>
          <a:lstStyle/>
          <a:p>
            <a:pPr indent="0" marL="0">
              <a:lnSpc>
                <a:spcPct val="104000"/>
              </a:lnSpc>
              <a:buNone/>
            </a:pPr>
            <a:r>
              <a:rPr lang="en-US" sz="1150" dirty="0">
                <a:solidFill>
                  <a:srgbClr val="16262E"/>
                </a:solidFill>
                <a:latin typeface="Calibri" pitchFamily="34" charset="0"/>
                <a:ea typeface="Calibri" pitchFamily="34" charset="-122"/>
                <a:cs typeface="Calibri" pitchFamily="34" charset="-120"/>
              </a:rPr>
              <a:t>Extracto del informe estatal de seguimiento 2025.</a:t>
            </a:r>
            <a:endParaRPr lang="en-US" sz="1150" dirty="0"/>
          </a:p>
        </p:txBody>
      </p:sp>
      <p:sp>
        <p:nvSpPr>
          <p:cNvPr id="22" name="Shape"/>
          <p:cNvSpPr/>
          <p:nvPr/>
        </p:nvSpPr>
        <p:spPr>
          <a:xfrm>
            <a:off x="6483591" y="3140000"/>
            <a:ext cx="200000" cy="200000"/>
          </a:xfrm>
          <a:prstGeom prst="ellipse">
            <a:avLst/>
          </a:prstGeom>
          <a:solidFill>
            <a:srgbClr val="C85A28"/>
          </a:solidFill>
          <a:ln w="12700">
            <a:solidFill>
              <a:srgbClr val="C85A28"/>
            </a:solidFill>
            <a:prstDash val="solid"/>
          </a:ln>
        </p:spPr>
      </p:sp>
      <p:sp>
        <p:nvSpPr>
          <p:cNvPr id="23" name="Text"/>
          <p:cNvSpPr txBox="1"/>
          <p:nvPr/>
        </p:nvSpPr>
        <p:spPr>
          <a:xfrm>
            <a:off x="6805847" y="3080000"/>
            <a:ext cx="4578919" cy="380000"/>
          </a:xfrm>
          <a:prstGeom prst="rect">
            <a:avLst/>
          </a:prstGeom>
          <a:noFill/>
          <a:ln/>
        </p:spPr>
        <p:txBody>
          <a:bodyPr wrap="square" lIns="0" tIns="0" rIns="0" bIns="0" rtlCol="0" anchor="t"/>
          <a:lstStyle/>
          <a:p>
            <a:pPr indent="0" marL="0">
              <a:lnSpc>
                <a:spcPct val="104000"/>
              </a:lnSpc>
              <a:buNone/>
            </a:pPr>
            <a:r>
              <a:rPr lang="en-US" sz="1150" dirty="0">
                <a:solidFill>
                  <a:srgbClr val="16262E"/>
                </a:solidFill>
                <a:latin typeface="Calibri" pitchFamily="34" charset="0"/>
                <a:ea typeface="Calibri" pitchFamily="34" charset="-122"/>
                <a:cs typeface="Calibri" pitchFamily="34" charset="-120"/>
              </a:rPr>
              <a:t>Registros administrativos, en tablas con cifras.</a:t>
            </a:r>
            <a:endParaRPr lang="en-US" sz="1150" dirty="0"/>
          </a:p>
        </p:txBody>
      </p:sp>
      <p:sp>
        <p:nvSpPr>
          <p:cNvPr id="24" name="Shape"/>
          <p:cNvSpPr/>
          <p:nvPr/>
        </p:nvSpPr>
        <p:spPr>
          <a:xfrm>
            <a:off x="6483591" y="3540000"/>
            <a:ext cx="200000" cy="200000"/>
          </a:xfrm>
          <a:prstGeom prst="ellipse">
            <a:avLst/>
          </a:prstGeom>
          <a:solidFill>
            <a:srgbClr val="C85A28"/>
          </a:solidFill>
          <a:ln w="12700">
            <a:solidFill>
              <a:srgbClr val="C85A28"/>
            </a:solidFill>
            <a:prstDash val="solid"/>
          </a:ln>
        </p:spPr>
      </p:sp>
      <p:sp>
        <p:nvSpPr>
          <p:cNvPr id="25" name="Text"/>
          <p:cNvSpPr txBox="1"/>
          <p:nvPr/>
        </p:nvSpPr>
        <p:spPr>
          <a:xfrm>
            <a:off x="6805847" y="3480000"/>
            <a:ext cx="4578919" cy="380000"/>
          </a:xfrm>
          <a:prstGeom prst="rect">
            <a:avLst/>
          </a:prstGeom>
          <a:noFill/>
          <a:ln/>
        </p:spPr>
        <p:txBody>
          <a:bodyPr wrap="square" lIns="0" tIns="0" rIns="0" bIns="0" rtlCol="0" anchor="t"/>
          <a:lstStyle/>
          <a:p>
            <a:pPr indent="0" marL="0">
              <a:lnSpc>
                <a:spcPct val="104000"/>
              </a:lnSpc>
              <a:buNone/>
            </a:pPr>
            <a:r>
              <a:rPr lang="en-US" sz="1150" dirty="0">
                <a:solidFill>
                  <a:srgbClr val="16262E"/>
                </a:solidFill>
                <a:latin typeface="Calibri" pitchFamily="34" charset="0"/>
                <a:ea typeface="Calibri" pitchFamily="34" charset="-122"/>
                <a:cs typeface="Calibri" pitchFamily="34" charset="-120"/>
              </a:rPr>
              <a:t>Extractos de bitácoras, testimonios y comunicaciones internas.</a:t>
            </a:r>
            <a:endParaRPr lang="en-US" sz="1150" dirty="0"/>
          </a:p>
        </p:txBody>
      </p:sp>
      <p:sp>
        <p:nvSpPr>
          <p:cNvPr id="26" name="Shape"/>
          <p:cNvSpPr/>
          <p:nvPr/>
        </p:nvSpPr>
        <p:spPr>
          <a:xfrm>
            <a:off x="6483591" y="3940000"/>
            <a:ext cx="200000" cy="200000"/>
          </a:xfrm>
          <a:prstGeom prst="ellipse">
            <a:avLst/>
          </a:prstGeom>
          <a:solidFill>
            <a:srgbClr val="C85A28"/>
          </a:solidFill>
          <a:ln w="12700">
            <a:solidFill>
              <a:srgbClr val="C85A28"/>
            </a:solidFill>
            <a:prstDash val="solid"/>
          </a:ln>
        </p:spPr>
      </p:sp>
      <p:sp>
        <p:nvSpPr>
          <p:cNvPr id="27" name="Text"/>
          <p:cNvSpPr txBox="1"/>
          <p:nvPr/>
        </p:nvSpPr>
        <p:spPr>
          <a:xfrm>
            <a:off x="6805847" y="3880000"/>
            <a:ext cx="4578919" cy="380000"/>
          </a:xfrm>
          <a:prstGeom prst="rect">
            <a:avLst/>
          </a:prstGeom>
          <a:noFill/>
          <a:ln/>
        </p:spPr>
        <p:txBody>
          <a:bodyPr wrap="square" lIns="0" tIns="0" rIns="0" bIns="0" rtlCol="0" anchor="t"/>
          <a:lstStyle/>
          <a:p>
            <a:pPr indent="0" marL="0">
              <a:lnSpc>
                <a:spcPct val="104000"/>
              </a:lnSpc>
              <a:buNone/>
            </a:pPr>
            <a:r>
              <a:rPr lang="en-US" sz="1150" dirty="0">
                <a:solidFill>
                  <a:srgbClr val="16262E"/>
                </a:solidFill>
                <a:latin typeface="Calibri" pitchFamily="34" charset="0"/>
                <a:ea typeface="Calibri" pitchFamily="34" charset="-122"/>
                <a:cs typeface="Calibri" pitchFamily="34" charset="-120"/>
              </a:rPr>
              <a:t>Y una pregunta de evaluación, distinta para cada equipo.</a:t>
            </a:r>
            <a:endParaRPr lang="en-US" sz="1150" dirty="0"/>
          </a:p>
        </p:txBody>
      </p:sp>
      <p:sp>
        <p:nvSpPr>
          <p:cNvPr id="28" name="Shape"/>
          <p:cNvSpPr/>
          <p:nvPr/>
        </p:nvSpPr>
        <p:spPr>
          <a:xfrm>
            <a:off x="6483591" y="4340000"/>
            <a:ext cx="200000" cy="200000"/>
          </a:xfrm>
          <a:prstGeom prst="ellipse">
            <a:avLst/>
          </a:prstGeom>
          <a:solidFill>
            <a:srgbClr val="C85A28"/>
          </a:solidFill>
          <a:ln w="12700">
            <a:solidFill>
              <a:srgbClr val="C85A28"/>
            </a:solidFill>
            <a:prstDash val="solid"/>
          </a:ln>
        </p:spPr>
      </p:sp>
      <p:sp>
        <p:nvSpPr>
          <p:cNvPr id="29" name="Text"/>
          <p:cNvSpPr txBox="1"/>
          <p:nvPr/>
        </p:nvSpPr>
        <p:spPr>
          <a:xfrm>
            <a:off x="6805847" y="4280000"/>
            <a:ext cx="4578919" cy="380000"/>
          </a:xfrm>
          <a:prstGeom prst="rect">
            <a:avLst/>
          </a:prstGeom>
          <a:noFill/>
          <a:ln/>
        </p:spPr>
        <p:txBody>
          <a:bodyPr wrap="square" lIns="0" tIns="0" rIns="0" bIns="0" rtlCol="0" anchor="t"/>
          <a:lstStyle/>
          <a:p>
            <a:pPr indent="0" marL="0">
              <a:lnSpc>
                <a:spcPct val="104000"/>
              </a:lnSpc>
              <a:buNone/>
            </a:pPr>
            <a:r>
              <a:rPr lang="en-US" sz="1150" dirty="0">
                <a:solidFill>
                  <a:srgbClr val="16262E"/>
                </a:solidFill>
                <a:latin typeface="Calibri" pitchFamily="34" charset="0"/>
                <a:ea typeface="Calibri" pitchFamily="34" charset="-122"/>
                <a:cs typeface="Calibri" pitchFamily="34" charset="-120"/>
              </a:rPr>
              <a:t>Entre los seis expedientes hay contradicciones, y son parte de lo que hay que discutir.</a:t>
            </a:r>
            <a:endParaRPr lang="en-US" sz="1150" dirty="0"/>
          </a:p>
        </p:txBody>
      </p:sp>
      <p:sp>
        <p:nvSpPr>
          <p:cNvPr id="30" name="Shape"/>
          <p:cNvSpPr/>
          <p:nvPr/>
        </p:nvSpPr>
        <p:spPr>
          <a:xfrm>
            <a:off x="566928" y="4940000"/>
            <a:ext cx="11057839" cy="900000"/>
          </a:xfrm>
          <a:prstGeom prst="roundRect">
            <a:avLst>
              <a:gd name="adj" fmla="val 8235"/>
            </a:avLst>
          </a:prstGeom>
          <a:solidFill>
            <a:srgbClr val="F7E4D8"/>
          </a:solidFill>
          <a:ln w="12700">
            <a:solidFill>
              <a:srgbClr val="F7E4D8"/>
            </a:solidFill>
            <a:prstDash val="solid"/>
          </a:ln>
        </p:spPr>
      </p:sp>
      <p:sp>
        <p:nvSpPr>
          <p:cNvPr id="31" name="Text"/>
          <p:cNvSpPr txBox="1"/>
          <p:nvPr/>
        </p:nvSpPr>
        <p:spPr>
          <a:xfrm>
            <a:off x="804672" y="4940000"/>
            <a:ext cx="10582351" cy="90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Las cuatro láminas que siguen usan solo el marco normativo, el que todos comparten, para que ningún equipo reciba una pista sobre su propia entidad. Los documentos de su caso los abren hasta el laboratorio.</a:t>
            </a:r>
            <a:endParaRPr lang="en-US" sz="1300" dirty="0"/>
          </a:p>
        </p:txBody>
      </p:sp>
      <p:sp>
        <p:nvSpPr>
          <p:cNvPr id="32" name="Text"/>
          <p:cNvSpPr txBox="1"/>
          <p:nvPr/>
        </p:nvSpPr>
        <p:spPr>
          <a:xfrm>
            <a:off x="566928" y="600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Expedientes_LAB2.docx, en la carpeta sesion-06 del repositorio. Se distribuyó el fin de semana.</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Corpus de foros">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De dónde salen los 38 casos de la lámina que sigue</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El número que van a ver no es un ejemplo de libro de texto: es su propio material del viernes.</a:t>
            </a:r>
            <a:endParaRPr lang="en-US" sz="1500" dirty="0"/>
          </a:p>
        </p:txBody>
      </p:sp>
      <p:sp>
        <p:nvSpPr>
          <p:cNvPr id="4" name="Shape"/>
          <p:cNvSpPr/>
          <p:nvPr/>
        </p:nvSpPr>
        <p:spPr>
          <a:xfrm>
            <a:off x="566928" y="1800000"/>
            <a:ext cx="2584459" cy="2900000"/>
          </a:xfrm>
          <a:prstGeom prst="roundRect">
            <a:avLst>
              <a:gd name="adj" fmla="val 2933"/>
            </a:avLst>
          </a:prstGeom>
          <a:solidFill>
            <a:srgbClr val="F2F5F6"/>
          </a:solidFill>
          <a:ln w="12700">
            <a:solidFill>
              <a:srgbClr val="F2F5F6"/>
            </a:solidFill>
            <a:prstDash val="solid"/>
          </a:ln>
        </p:spPr>
      </p:sp>
      <p:sp>
        <p:nvSpPr>
          <p:cNvPr id="5" name="Shape"/>
          <p:cNvSpPr/>
          <p:nvPr/>
        </p:nvSpPr>
        <p:spPr>
          <a:xfrm>
            <a:off x="804672" y="2019456"/>
            <a:ext cx="420624" cy="420624"/>
          </a:xfrm>
          <a:prstGeom prst="ellipse">
            <a:avLst/>
          </a:prstGeom>
          <a:solidFill>
            <a:srgbClr val="2E7D7D"/>
          </a:solidFill>
          <a:ln w="12700">
            <a:solidFill>
              <a:srgbClr val="2E7D7D"/>
            </a:solidFill>
            <a:prstDash val="solid"/>
          </a:ln>
        </p:spPr>
      </p:sp>
      <p:sp>
        <p:nvSpPr>
          <p:cNvPr id="6" name="Text"/>
          <p:cNvSpPr txBox="1"/>
          <p:nvPr/>
        </p:nvSpPr>
        <p:spPr>
          <a:xfrm>
            <a:off x="804672" y="201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p:cNvSpPr txBox="1"/>
          <p:nvPr/>
        </p:nvSpPr>
        <p:spPr>
          <a:xfrm>
            <a:off x="804672" y="2579456"/>
            <a:ext cx="2108971" cy="583184"/>
          </a:xfrm>
          <a:prstGeom prst="rect">
            <a:avLst/>
          </a:prstGeom>
          <a:noFill/>
          <a:ln/>
        </p:spPr>
        <p:txBody>
          <a:bodyPr wrap="square" lIns="0" tIns="0" rIns="0" bIns="0" rtlCol="0" anchor="t"/>
          <a:lstStyle/>
          <a:p>
            <a:pPr indent="0" marL="0">
              <a:buNone/>
            </a:pPr>
            <a:r>
              <a:rPr lang="en-US" sz="1450" b="1" dirty="0">
                <a:solidFill>
                  <a:srgbClr val="16262E"/>
                </a:solidFill>
                <a:latin typeface="Arial" pitchFamily="34" charset="0"/>
                <a:ea typeface="Arial" pitchFamily="34" charset="-122"/>
                <a:cs typeface="Arial" pitchFamily="34" charset="-120"/>
              </a:rPr>
              <a:t>El corpus</a:t>
            </a:r>
            <a:endParaRPr lang="en-US" sz="1450" dirty="0"/>
          </a:p>
        </p:txBody>
      </p:sp>
      <p:sp>
        <p:nvSpPr>
          <p:cNvPr id="8" name="Text"/>
          <p:cNvSpPr txBox="1"/>
          <p:nvPr/>
        </p:nvSpPr>
        <p:spPr>
          <a:xfrm>
            <a:off x="804672" y="3219456"/>
            <a:ext cx="2108971" cy="1360544"/>
          </a:xfrm>
          <a:prstGeom prst="rect">
            <a:avLst/>
          </a:prstGeom>
          <a:noFill/>
          <a:ln/>
        </p:spPr>
        <p:txBody>
          <a:bodyPr wrap="square" lIns="0" tIns="0" rIns="0" bIns="0" rtlCol="0" anchor="t"/>
          <a:lstStyle/>
          <a:p>
            <a:pPr indent="0" marL="0">
              <a:lnSpc>
                <a:spcPct val="110000"/>
              </a:lnSpc>
              <a:spcAft>
                <a:spcPts val="700"/>
              </a:spcAft>
              <a:buNone/>
            </a:pPr>
            <a:r>
              <a:rPr lang="en-US" sz="1150" dirty="0">
                <a:solidFill>
                  <a:srgbClr val="16262E"/>
                </a:solidFill>
                <a:latin typeface="Calibri" pitchFamily="34" charset="0"/>
                <a:ea typeface="Calibri" pitchFamily="34" charset="-122"/>
                <a:cs typeface="Calibri" pitchFamily="34" charset="-120"/>
              </a:rPr>
              <a:t>Dos foros de consulta del programa en la Entidad C, en agosto de 2026. La transcripción trae 41 intervenciones, de las cuales tres son del moderador y no se clasifican. Quedan 38.</a:t>
            </a:r>
            <a:endParaRPr lang="en-US" sz="1150" dirty="0"/>
          </a:p>
        </p:txBody>
      </p:sp>
      <p:sp>
        <p:nvSpPr>
          <p:cNvPr id="9" name="Shape"/>
          <p:cNvSpPr/>
          <p:nvPr/>
        </p:nvSpPr>
        <p:spPr>
          <a:xfrm>
            <a:off x="3391387" y="1800000"/>
            <a:ext cx="2584459" cy="2900000"/>
          </a:xfrm>
          <a:prstGeom prst="roundRect">
            <a:avLst>
              <a:gd name="adj" fmla="val 2933"/>
            </a:avLst>
          </a:prstGeom>
          <a:solidFill>
            <a:srgbClr val="F2F5F6"/>
          </a:solidFill>
          <a:ln w="12700">
            <a:solidFill>
              <a:srgbClr val="F2F5F6"/>
            </a:solidFill>
            <a:prstDash val="solid"/>
          </a:ln>
        </p:spPr>
      </p:sp>
      <p:sp>
        <p:nvSpPr>
          <p:cNvPr id="10" name="Shape"/>
          <p:cNvSpPr/>
          <p:nvPr/>
        </p:nvSpPr>
        <p:spPr>
          <a:xfrm>
            <a:off x="3629131" y="2019456"/>
            <a:ext cx="420624" cy="420624"/>
          </a:xfrm>
          <a:prstGeom prst="ellipse">
            <a:avLst/>
          </a:prstGeom>
          <a:solidFill>
            <a:srgbClr val="2E7D7D"/>
          </a:solidFill>
          <a:ln w="12700">
            <a:solidFill>
              <a:srgbClr val="2E7D7D"/>
            </a:solidFill>
            <a:prstDash val="solid"/>
          </a:ln>
        </p:spPr>
      </p:sp>
      <p:sp>
        <p:nvSpPr>
          <p:cNvPr id="11" name="Text"/>
          <p:cNvSpPr txBox="1"/>
          <p:nvPr/>
        </p:nvSpPr>
        <p:spPr>
          <a:xfrm>
            <a:off x="3629131" y="201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p:cNvSpPr txBox="1"/>
          <p:nvPr/>
        </p:nvSpPr>
        <p:spPr>
          <a:xfrm>
            <a:off x="3629131" y="2579456"/>
            <a:ext cx="2108971" cy="583184"/>
          </a:xfrm>
          <a:prstGeom prst="rect">
            <a:avLst/>
          </a:prstGeom>
          <a:noFill/>
          <a:ln/>
        </p:spPr>
        <p:txBody>
          <a:bodyPr wrap="square" lIns="0" tIns="0" rIns="0" bIns="0" rtlCol="0" anchor="t"/>
          <a:lstStyle/>
          <a:p>
            <a:pPr indent="0" marL="0">
              <a:buNone/>
            </a:pPr>
            <a:r>
              <a:rPr lang="en-US" sz="1450" b="1" dirty="0">
                <a:solidFill>
                  <a:srgbClr val="16262E"/>
                </a:solidFill>
                <a:latin typeface="Arial" pitchFamily="34" charset="0"/>
                <a:ea typeface="Arial" pitchFamily="34" charset="-122"/>
                <a:cs typeface="Arial" pitchFamily="34" charset="-120"/>
              </a:rPr>
              <a:t>Lo que hicieron el viernes</a:t>
            </a:r>
            <a:endParaRPr lang="en-US" sz="1450" dirty="0"/>
          </a:p>
        </p:txBody>
      </p:sp>
      <p:sp>
        <p:nvSpPr>
          <p:cNvPr id="13" name="Text"/>
          <p:cNvSpPr txBox="1"/>
          <p:nvPr/>
        </p:nvSpPr>
        <p:spPr>
          <a:xfrm>
            <a:off x="3629131" y="3219456"/>
            <a:ext cx="2108971" cy="1360544"/>
          </a:xfrm>
          <a:prstGeom prst="rect">
            <a:avLst/>
          </a:prstGeom>
          <a:noFill/>
          <a:ln/>
        </p:spPr>
        <p:txBody>
          <a:bodyPr wrap="square" lIns="0" tIns="0" rIns="0" bIns="0" rtlCol="0" anchor="t"/>
          <a:lstStyle/>
          <a:p>
            <a:pPr indent="0" marL="0">
              <a:lnSpc>
                <a:spcPct val="110000"/>
              </a:lnSpc>
              <a:spcAft>
                <a:spcPts val="700"/>
              </a:spcAft>
              <a:buNone/>
            </a:pPr>
            <a:r>
              <a:rPr lang="en-US" sz="1150" dirty="0">
                <a:solidFill>
                  <a:srgbClr val="16262E"/>
                </a:solidFill>
                <a:latin typeface="Calibri" pitchFamily="34" charset="0"/>
                <a:ea typeface="Calibri" pitchFamily="34" charset="-122"/>
                <a:cs typeface="Calibri" pitchFamily="34" charset="-120"/>
              </a:rPr>
              <a:t>Clasificar cada intervención por polaridad y por causa raíz, con cuatro categorías: infraestructura, presupuesto, gestión y transparencia.</a:t>
            </a:r>
            <a:endParaRPr lang="en-US" sz="1150" dirty="0"/>
          </a:p>
        </p:txBody>
      </p:sp>
      <p:sp>
        <p:nvSpPr>
          <p:cNvPr id="14" name="Shape"/>
          <p:cNvSpPr/>
          <p:nvPr/>
        </p:nvSpPr>
        <p:spPr>
          <a:xfrm>
            <a:off x="6215846" y="1800000"/>
            <a:ext cx="2584459" cy="2900000"/>
          </a:xfrm>
          <a:prstGeom prst="roundRect">
            <a:avLst>
              <a:gd name="adj" fmla="val 2933"/>
            </a:avLst>
          </a:prstGeom>
          <a:solidFill>
            <a:srgbClr val="F2F5F6"/>
          </a:solidFill>
          <a:ln w="12700">
            <a:solidFill>
              <a:srgbClr val="F2F5F6"/>
            </a:solidFill>
            <a:prstDash val="solid"/>
          </a:ln>
        </p:spPr>
      </p:sp>
      <p:sp>
        <p:nvSpPr>
          <p:cNvPr id="15" name="Shape"/>
          <p:cNvSpPr/>
          <p:nvPr/>
        </p:nvSpPr>
        <p:spPr>
          <a:xfrm>
            <a:off x="6453590" y="2019456"/>
            <a:ext cx="420624" cy="420624"/>
          </a:xfrm>
          <a:prstGeom prst="ellipse">
            <a:avLst/>
          </a:prstGeom>
          <a:solidFill>
            <a:srgbClr val="2E7D7D"/>
          </a:solidFill>
          <a:ln w="12700">
            <a:solidFill>
              <a:srgbClr val="2E7D7D"/>
            </a:solidFill>
            <a:prstDash val="solid"/>
          </a:ln>
        </p:spPr>
      </p:sp>
      <p:sp>
        <p:nvSpPr>
          <p:cNvPr id="16" name="Text"/>
          <p:cNvSpPr txBox="1"/>
          <p:nvPr/>
        </p:nvSpPr>
        <p:spPr>
          <a:xfrm>
            <a:off x="6453590" y="201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p:cNvSpPr txBox="1"/>
          <p:nvPr/>
        </p:nvSpPr>
        <p:spPr>
          <a:xfrm>
            <a:off x="6453590" y="2579456"/>
            <a:ext cx="2108971" cy="583184"/>
          </a:xfrm>
          <a:prstGeom prst="rect">
            <a:avLst/>
          </a:prstGeom>
          <a:noFill/>
          <a:ln/>
        </p:spPr>
        <p:txBody>
          <a:bodyPr wrap="square" lIns="0" tIns="0" rIns="0" bIns="0" rtlCol="0" anchor="t"/>
          <a:lstStyle/>
          <a:p>
            <a:pPr indent="0" marL="0">
              <a:buNone/>
            </a:pPr>
            <a:r>
              <a:rPr lang="en-US" sz="1450" b="1" dirty="0">
                <a:solidFill>
                  <a:srgbClr val="16262E"/>
                </a:solidFill>
                <a:latin typeface="Arial" pitchFamily="34" charset="0"/>
                <a:ea typeface="Arial" pitchFamily="34" charset="-122"/>
                <a:cs typeface="Arial" pitchFamily="34" charset="-120"/>
              </a:rPr>
              <a:t>La clave</a:t>
            </a:r>
            <a:endParaRPr lang="en-US" sz="1450" dirty="0"/>
          </a:p>
        </p:txBody>
      </p:sp>
      <p:sp>
        <p:nvSpPr>
          <p:cNvPr id="18" name="Text"/>
          <p:cNvSpPr txBox="1"/>
          <p:nvPr/>
        </p:nvSpPr>
        <p:spPr>
          <a:xfrm>
            <a:off x="6453590" y="3219456"/>
            <a:ext cx="2108971" cy="1360544"/>
          </a:xfrm>
          <a:prstGeom prst="rect">
            <a:avLst/>
          </a:prstGeom>
          <a:noFill/>
          <a:ln/>
        </p:spPr>
        <p:txBody>
          <a:bodyPr wrap="square" lIns="0" tIns="0" rIns="0" bIns="0" rtlCol="0" anchor="t"/>
          <a:lstStyle/>
          <a:p>
            <a:pPr indent="0" marL="0">
              <a:lnSpc>
                <a:spcPct val="110000"/>
              </a:lnSpc>
              <a:spcAft>
                <a:spcPts val="700"/>
              </a:spcAft>
              <a:buNone/>
            </a:pPr>
            <a:r>
              <a:rPr lang="en-US" sz="1150" dirty="0">
                <a:solidFill>
                  <a:srgbClr val="16262E"/>
                </a:solidFill>
                <a:latin typeface="Calibri" pitchFamily="34" charset="0"/>
                <a:ea typeface="Calibri" pitchFamily="34" charset="-122"/>
                <a:cs typeface="Calibri" pitchFamily="34" charset="-120"/>
              </a:rPr>
              <a:t>Yo clasifiqué las 38 al preparar el material, y esa es la clave contra la que se compararon sus resultados.</a:t>
            </a:r>
            <a:endParaRPr lang="en-US" sz="1150" dirty="0"/>
          </a:p>
        </p:txBody>
      </p:sp>
      <p:sp>
        <p:nvSpPr>
          <p:cNvPr id="19" name="Shape"/>
          <p:cNvSpPr/>
          <p:nvPr/>
        </p:nvSpPr>
        <p:spPr>
          <a:xfrm>
            <a:off x="9040305" y="1800000"/>
            <a:ext cx="2584459" cy="2900000"/>
          </a:xfrm>
          <a:prstGeom prst="roundRect">
            <a:avLst>
              <a:gd name="adj" fmla="val 2933"/>
            </a:avLst>
          </a:prstGeom>
          <a:solidFill>
            <a:srgbClr val="F2F5F6"/>
          </a:solidFill>
          <a:ln w="12700">
            <a:solidFill>
              <a:srgbClr val="F2F5F6"/>
            </a:solidFill>
            <a:prstDash val="solid"/>
          </a:ln>
        </p:spPr>
      </p:sp>
      <p:sp>
        <p:nvSpPr>
          <p:cNvPr id="20" name="Shape"/>
          <p:cNvSpPr/>
          <p:nvPr/>
        </p:nvSpPr>
        <p:spPr>
          <a:xfrm>
            <a:off x="9278049" y="2019456"/>
            <a:ext cx="420624" cy="420624"/>
          </a:xfrm>
          <a:prstGeom prst="ellipse">
            <a:avLst/>
          </a:prstGeom>
          <a:solidFill>
            <a:srgbClr val="2E7D7D"/>
          </a:solidFill>
          <a:ln w="12700">
            <a:solidFill>
              <a:srgbClr val="2E7D7D"/>
            </a:solidFill>
            <a:prstDash val="solid"/>
          </a:ln>
        </p:spPr>
      </p:sp>
      <p:sp>
        <p:nvSpPr>
          <p:cNvPr id="21" name="Text"/>
          <p:cNvSpPr txBox="1"/>
          <p:nvPr/>
        </p:nvSpPr>
        <p:spPr>
          <a:xfrm>
            <a:off x="9278049" y="201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p:cNvSpPr txBox="1"/>
          <p:nvPr/>
        </p:nvSpPr>
        <p:spPr>
          <a:xfrm>
            <a:off x="9278049" y="2579456"/>
            <a:ext cx="2108971" cy="583184"/>
          </a:xfrm>
          <a:prstGeom prst="rect">
            <a:avLst/>
          </a:prstGeom>
          <a:noFill/>
          <a:ln/>
        </p:spPr>
        <p:txBody>
          <a:bodyPr wrap="square" lIns="0" tIns="0" rIns="0" bIns="0" rtlCol="0" anchor="t"/>
          <a:lstStyle/>
          <a:p>
            <a:pPr indent="0" marL="0">
              <a:buNone/>
            </a:pPr>
            <a:r>
              <a:rPr lang="en-US" sz="1450" b="1" dirty="0">
                <a:solidFill>
                  <a:srgbClr val="16262E"/>
                </a:solidFill>
                <a:latin typeface="Arial" pitchFamily="34" charset="0"/>
                <a:ea typeface="Arial" pitchFamily="34" charset="-122"/>
                <a:cs typeface="Arial" pitchFamily="34" charset="-120"/>
              </a:rPr>
              <a:t>La verificación</a:t>
            </a:r>
            <a:endParaRPr lang="en-US" sz="1450" dirty="0"/>
          </a:p>
        </p:txBody>
      </p:sp>
      <p:sp>
        <p:nvSpPr>
          <p:cNvPr id="23" name="Text"/>
          <p:cNvSpPr txBox="1"/>
          <p:nvPr/>
        </p:nvSpPr>
        <p:spPr>
          <a:xfrm>
            <a:off x="9278049" y="3219456"/>
            <a:ext cx="2108971" cy="1360544"/>
          </a:xfrm>
          <a:prstGeom prst="rect">
            <a:avLst/>
          </a:prstGeom>
          <a:noFill/>
          <a:ln/>
        </p:spPr>
        <p:txBody>
          <a:bodyPr wrap="square" lIns="0" tIns="0" rIns="0" bIns="0" rtlCol="0" anchor="t"/>
          <a:lstStyle/>
          <a:p>
            <a:pPr indent="0" marL="0">
              <a:lnSpc>
                <a:spcPct val="110000"/>
              </a:lnSpc>
              <a:spcAft>
                <a:spcPts val="700"/>
              </a:spcAft>
              <a:buNone/>
            </a:pPr>
            <a:r>
              <a:rPr lang="en-US" sz="1150" dirty="0">
                <a:solidFill>
                  <a:srgbClr val="16262E"/>
                </a:solidFill>
                <a:latin typeface="Calibri" pitchFamily="34" charset="0"/>
                <a:ea typeface="Calibri" pitchFamily="34" charset="-122"/>
                <a:cs typeface="Calibri" pitchFamily="34" charset="-120"/>
              </a:rPr>
              <a:t>Una segunda clasificación independiente, hecha sin ver la clave, volvió a codificar las 38. Coincidió en 36, y las dos diferencias sirvieron para corregir la clave.</a:t>
            </a:r>
            <a:endParaRPr lang="en-US" sz="1150" dirty="0"/>
          </a:p>
        </p:txBody>
      </p:sp>
      <p:sp>
        <p:nvSpPr>
          <p:cNvPr id="24" name="Shape"/>
          <p:cNvSpPr/>
          <p:nvPr/>
        </p:nvSpPr>
        <p:spPr>
          <a:xfrm>
            <a:off x="566928" y="4860000"/>
            <a:ext cx="11057839" cy="900000"/>
          </a:xfrm>
          <a:prstGeom prst="roundRect">
            <a:avLst>
              <a:gd name="adj" fmla="val 8235"/>
            </a:avLst>
          </a:prstGeom>
          <a:solidFill>
            <a:srgbClr val="F7E4D8"/>
          </a:solidFill>
          <a:ln w="12700">
            <a:solidFill>
              <a:srgbClr val="F7E4D8"/>
            </a:solidFill>
            <a:prstDash val="solid"/>
          </a:ln>
        </p:spPr>
      </p:sp>
      <p:sp>
        <p:nvSpPr>
          <p:cNvPr id="25" name="Text"/>
          <p:cNvSpPr txBox="1"/>
          <p:nvPr/>
        </p:nvSpPr>
        <p:spPr>
          <a:xfrm>
            <a:off x="804672" y="4860000"/>
            <a:ext cx="10582351" cy="90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De ahí sale el 36 de 38 de la lámina siguiente. Y una advertencia que vale para su trabajo: excluir las tres intervenciones del moderador fue una decisión, cambia las proporciones y por lo tanto cambia el resultado. Es justo el tipo de decisión que se declara antes de medir y no después.</a:t>
            </a:r>
            <a:endParaRPr lang="en-US" sz="1300" dirty="0"/>
          </a:p>
        </p:txBody>
      </p:sp>
      <p:sp>
        <p:nvSpPr>
          <p:cNvPr id="26" name="Text"/>
          <p:cNvSpPr txBox="1"/>
          <p:nvPr/>
        </p:nvSpPr>
        <p:spPr>
          <a:xfrm>
            <a:off x="566928" y="592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Transcripciones_foro_PARTICIPANTE.docx, en la carpeta sesion-04. La distribución de causa raíz es gestión 14, infraestructura 9, presupuesto 8 y transparencia 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P_extraccion">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De dónde sale la lista de seis requisitos</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Nadie le pidió al asistente que inventara nada. Este es el prompt que produjo esa lista.</a:t>
            </a:r>
            <a:endParaRPr lang="en-US" sz="1500" dirty="0"/>
          </a:p>
        </p:txBody>
      </p:sp>
      <p:sp>
        <p:nvSpPr>
          <p:cNvPr id="4" name="Shape"/>
          <p:cNvSpPr/>
          <p:nvPr/>
        </p:nvSpPr>
        <p:spPr>
          <a:xfrm>
            <a:off x="566928" y="1700000"/>
            <a:ext cx="11057839" cy="300000"/>
          </a:xfrm>
          <a:prstGeom prst="roundRect">
            <a:avLst>
              <a:gd name="adj" fmla="val 20000"/>
            </a:avLst>
          </a:prstGeom>
          <a:solidFill>
            <a:srgbClr val="D7E7E7"/>
          </a:solidFill>
          <a:ln w="12700">
            <a:solidFill>
              <a:srgbClr val="D7E7E7"/>
            </a:solidFill>
            <a:prstDash val="solid"/>
          </a:ln>
        </p:spPr>
      </p:sp>
      <p:sp>
        <p:nvSpPr>
          <p:cNvPr id="5" name="Text"/>
          <p:cNvSpPr txBox="1"/>
          <p:nvPr/>
        </p:nvSpPr>
        <p:spPr>
          <a:xfrm>
            <a:off x="766928" y="1700000"/>
            <a:ext cx="1700000" cy="300000"/>
          </a:xfrm>
          <a:prstGeom prst="rect">
            <a:avLst/>
          </a:prstGeom>
          <a:noFill/>
          <a:ln/>
        </p:spPr>
        <p:txBody>
          <a:bodyPr wrap="square" lIns="0" tIns="0" rIns="0" bIns="0" rtlCol="0" anchor="ctr"/>
          <a:lstStyle/>
          <a:p>
            <a:pPr indent="0" marL="0">
              <a:buNone/>
            </a:pPr>
            <a:r>
              <a:rPr lang="en-US" sz="950" b="1" spc="100" kern="0" dirty="0">
                <a:solidFill>
                  <a:srgbClr val="2E7D7D"/>
                </a:solidFill>
                <a:latin typeface="Arial" pitchFamily="34" charset="0"/>
                <a:ea typeface="Arial" pitchFamily="34" charset="-122"/>
                <a:cs typeface="Arial" pitchFamily="34" charset="-120"/>
              </a:rPr>
              <a:t>DE DÓNDE SALE</a:t>
            </a:r>
            <a:endParaRPr lang="en-US" sz="950" dirty="0"/>
          </a:p>
        </p:txBody>
      </p:sp>
      <p:sp>
        <p:nvSpPr>
          <p:cNvPr id="6" name="Text"/>
          <p:cNvSpPr txBox="1"/>
          <p:nvPr/>
        </p:nvSpPr>
        <p:spPr>
          <a:xfrm>
            <a:off x="2516928" y="1700000"/>
            <a:ext cx="8907839" cy="300000"/>
          </a:xfrm>
          <a:prstGeom prst="rect">
            <a:avLst/>
          </a:prstGeom>
          <a:noFill/>
          <a:ln/>
        </p:spPr>
        <p:txBody>
          <a:bodyPr wrap="square" lIns="0" tIns="0" rIns="0" bIns="0" rtlCol="0" anchor="ctr"/>
          <a:lstStyle/>
          <a:p>
            <a:pPr indent="0" marL="0">
              <a:buNone/>
            </a:pPr>
            <a:r>
              <a:rPr lang="en-US" sz="1100" dirty="0">
                <a:solidFill>
                  <a:srgbClr val="16262E"/>
                </a:solidFill>
                <a:latin typeface="Calibri" pitchFamily="34" charset="0"/>
                <a:ea typeface="Calibri" pitchFamily="34" charset="-122"/>
                <a:cs typeface="Calibri" pitchFamily="34" charset="-120"/>
              </a:rPr>
              <a:t>El artículo 9 del marco normativo, pegado en el chat. No se adjuntó el archivo: adjuntarlo mete también los seis expedientes de entidad.</a:t>
            </a:r>
            <a:endParaRPr lang="en-US" sz="1100" dirty="0"/>
          </a:p>
        </p:txBody>
      </p:sp>
      <p:sp>
        <p:nvSpPr>
          <p:cNvPr id="7" name="Shape"/>
          <p:cNvSpPr/>
          <p:nvPr/>
        </p:nvSpPr>
        <p:spPr>
          <a:xfrm>
            <a:off x="566928" y="2080000"/>
            <a:ext cx="11057839" cy="2270000"/>
          </a:xfrm>
          <a:prstGeom prst="roundRect">
            <a:avLst>
              <a:gd name="adj" fmla="val 2933"/>
            </a:avLst>
          </a:prstGeom>
          <a:solidFill>
            <a:srgbClr val="16262E"/>
          </a:solidFill>
          <a:ln w="12700">
            <a:solidFill>
              <a:srgbClr val="16262E"/>
            </a:solidFill>
            <a:prstDash val="solid"/>
          </a:ln>
        </p:spPr>
      </p:sp>
      <p:sp>
        <p:nvSpPr>
          <p:cNvPr id="8" name="Text"/>
          <p:cNvSpPr txBox="1"/>
          <p:nvPr/>
        </p:nvSpPr>
        <p:spPr>
          <a:xfrm>
            <a:off x="804672" y="2190000"/>
            <a:ext cx="10582351" cy="240000"/>
          </a:xfrm>
          <a:prstGeom prst="rect">
            <a:avLst/>
          </a:prstGeom>
          <a:noFill/>
          <a:ln/>
        </p:spPr>
        <p:txBody>
          <a:bodyPr wrap="square" lIns="0" tIns="0" rIns="0" bIns="0" rtlCol="0" anchor="t"/>
          <a:lstStyle/>
          <a:p>
            <a:pPr indent="0" marL="0">
              <a:buNone/>
            </a:pPr>
            <a:r>
              <a:rPr lang="en-US" sz="950" b="1" spc="120" kern="0" dirty="0">
                <a:solidFill>
                  <a:srgbClr val="8FC7C7"/>
                </a:solidFill>
                <a:latin typeface="Arial" pitchFamily="34" charset="0"/>
                <a:ea typeface="Arial" pitchFamily="34" charset="-122"/>
                <a:cs typeface="Arial" pitchFamily="34" charset="-120"/>
              </a:rPr>
              <a:t>EL PROMPT, CON LAS SEIS CASILLAS</a:t>
            </a:r>
            <a:endParaRPr lang="en-US" sz="950" dirty="0"/>
          </a:p>
        </p:txBody>
      </p:sp>
      <p:sp>
        <p:nvSpPr>
          <p:cNvPr id="9" name="Text"/>
          <p:cNvSpPr txBox="1"/>
          <p:nvPr/>
        </p:nvSpPr>
        <p:spPr>
          <a:xfrm>
            <a:off x="766928" y="247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1. Rol</a:t>
            </a:r>
            <a:endParaRPr lang="en-US" sz="950" dirty="0"/>
          </a:p>
        </p:txBody>
      </p:sp>
      <p:sp>
        <p:nvSpPr>
          <p:cNvPr id="10" name="Text"/>
          <p:cNvSpPr txBox="1"/>
          <p:nvPr/>
        </p:nvSpPr>
        <p:spPr>
          <a:xfrm>
            <a:off x="2146928" y="247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Responde como analista de evaluación de política de desarrollo social que revisa expedientes de un programa de cuidados.</a:t>
            </a:r>
            <a:endParaRPr lang="en-US" sz="1000" dirty="0"/>
          </a:p>
        </p:txBody>
      </p:sp>
      <p:sp>
        <p:nvSpPr>
          <p:cNvPr id="11" name="Text"/>
          <p:cNvSpPr txBox="1"/>
          <p:nvPr/>
        </p:nvSpPr>
        <p:spPr>
          <a:xfrm>
            <a:off x="766928" y="309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2. Objetivo</a:t>
            </a:r>
            <a:endParaRPr lang="en-US" sz="950" dirty="0"/>
          </a:p>
        </p:txBody>
      </p:sp>
      <p:sp>
        <p:nvSpPr>
          <p:cNvPr id="12" name="Text"/>
          <p:cNvSpPr txBox="1"/>
          <p:nvPr/>
        </p:nvSpPr>
        <p:spPr>
          <a:xfrm>
            <a:off x="2146928" y="309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Tu objetivo es enlistar los documentos que tiene que entregar una persona para incorporarse al Programa de Apoyo al Cuidado Comunitario.</a:t>
            </a:r>
            <a:endParaRPr lang="en-US" sz="1000" dirty="0"/>
          </a:p>
        </p:txBody>
      </p:sp>
      <p:sp>
        <p:nvSpPr>
          <p:cNvPr id="13" name="Text"/>
          <p:cNvSpPr txBox="1"/>
          <p:nvPr/>
        </p:nvSpPr>
        <p:spPr>
          <a:xfrm>
            <a:off x="766928" y="371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3. Contexto</a:t>
            </a:r>
            <a:endParaRPr lang="en-US" sz="950" dirty="0"/>
          </a:p>
        </p:txBody>
      </p:sp>
      <p:sp>
        <p:nvSpPr>
          <p:cNvPr id="14" name="Text"/>
          <p:cNvSpPr txBox="1"/>
          <p:nvPr/>
        </p:nvSpPr>
        <p:spPr>
          <a:xfrm>
            <a:off x="2146928" y="371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Con esa lista voy a armar la hoja de verificación del personal de ventanilla. Tiene que entenderse sin abrir las reglas de operación.</a:t>
            </a:r>
            <a:endParaRPr lang="en-US" sz="1000" dirty="0"/>
          </a:p>
        </p:txBody>
      </p:sp>
      <p:sp>
        <p:nvSpPr>
          <p:cNvPr id="15" name="Text"/>
          <p:cNvSpPr txBox="1"/>
          <p:nvPr/>
        </p:nvSpPr>
        <p:spPr>
          <a:xfrm>
            <a:off x="6195847" y="247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4. Insumos</a:t>
            </a:r>
            <a:endParaRPr lang="en-US" sz="950" dirty="0"/>
          </a:p>
        </p:txBody>
      </p:sp>
      <p:sp>
        <p:nvSpPr>
          <p:cNvPr id="16" name="Text"/>
          <p:cNvSpPr txBox="1"/>
          <p:nvPr/>
        </p:nvSpPr>
        <p:spPr>
          <a:xfrm>
            <a:off x="7575847" y="247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Te pego abajo el artículo 9 de las Reglas de Operación 2025. Trabaja solo con ese texto, no con tu conocimiento de otros programas ni con lo que haya en internet.</a:t>
            </a:r>
            <a:endParaRPr lang="en-US" sz="1000" dirty="0"/>
          </a:p>
        </p:txBody>
      </p:sp>
      <p:sp>
        <p:nvSpPr>
          <p:cNvPr id="17" name="Text"/>
          <p:cNvSpPr txBox="1"/>
          <p:nvPr/>
        </p:nvSpPr>
        <p:spPr>
          <a:xfrm>
            <a:off x="6195847" y="309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5. Restricciones</a:t>
            </a:r>
            <a:endParaRPr lang="en-US" sz="950" dirty="0"/>
          </a:p>
        </p:txBody>
      </p:sp>
      <p:sp>
        <p:nvSpPr>
          <p:cNvPr id="18" name="Text"/>
          <p:cNvSpPr txBox="1"/>
          <p:nvPr/>
        </p:nvSpPr>
        <p:spPr>
          <a:xfrm>
            <a:off x="7575847" y="309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Escríbelo en lenguaje claro, sin copiar la redacción jurídica. Si algo no está en el texto, dímelo en lugar de suponerlo.</a:t>
            </a:r>
            <a:endParaRPr lang="en-US" sz="1000" dirty="0"/>
          </a:p>
        </p:txBody>
      </p:sp>
      <p:sp>
        <p:nvSpPr>
          <p:cNvPr id="19" name="Text"/>
          <p:cNvSpPr txBox="1"/>
          <p:nvPr/>
        </p:nvSpPr>
        <p:spPr>
          <a:xfrm>
            <a:off x="6195847" y="371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6. Formato de salida</a:t>
            </a:r>
            <a:endParaRPr lang="en-US" sz="950" dirty="0"/>
          </a:p>
        </p:txBody>
      </p:sp>
      <p:sp>
        <p:nvSpPr>
          <p:cNvPr id="20" name="Text"/>
          <p:cNvSpPr txBox="1"/>
          <p:nvPr/>
        </p:nvSpPr>
        <p:spPr>
          <a:xfrm>
            <a:off x="7575847" y="371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Una lista numerada, un renglón por documento, agrupada en dos partes: primero los de la persona cuidadora principal y después los de la persona que requiere cuidados.</a:t>
            </a:r>
            <a:endParaRPr lang="en-US" sz="1000" dirty="0"/>
          </a:p>
        </p:txBody>
      </p:sp>
      <p:sp>
        <p:nvSpPr>
          <p:cNvPr id="21" name="Shape"/>
          <p:cNvSpPr/>
          <p:nvPr/>
        </p:nvSpPr>
        <p:spPr>
          <a:xfrm>
            <a:off x="566928" y="4450000"/>
            <a:ext cx="11057839" cy="962000"/>
          </a:xfrm>
          <a:prstGeom prst="roundRect">
            <a:avLst>
              <a:gd name="adj" fmla="val 8235"/>
            </a:avLst>
          </a:prstGeom>
          <a:solidFill>
            <a:srgbClr val="F7E4D8"/>
          </a:solidFill>
          <a:ln w="12700">
            <a:solidFill>
              <a:srgbClr val="F7E4D8"/>
            </a:solidFill>
            <a:prstDash val="solid"/>
          </a:ln>
        </p:spPr>
      </p:sp>
      <p:sp>
        <p:nvSpPr>
          <p:cNvPr id="22" name="Text"/>
          <p:cNvSpPr txBox="1"/>
          <p:nvPr/>
        </p:nvSpPr>
        <p:spPr>
          <a:xfrm>
            <a:off x="804672" y="4450000"/>
            <a:ext cx="10582351" cy="962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Seis casillas llenas, el texto de la norma enfrente y la prohibición expresa de usar otras fuentes: está mejor escrito que casi todo lo que sale de una oficina. Aun así devolvió un requisito que el artículo 9 no pide, y no por azar. Pedir lenguaje claro en vez de la fracción exacta, y una lista agrupada por persona, dejaron una casilla vacía que el asistente completó.</a:t>
            </a:r>
            <a:endParaRPr lang="en-US" sz="1300" dirty="0"/>
          </a:p>
        </p:txBody>
      </p:sp>
      <p:sp>
        <p:nvSpPr>
          <p:cNvPr id="23" name="Text"/>
          <p:cNvSpPr txBox="1"/>
          <p:nvPr/>
        </p:nvSpPr>
        <p:spPr>
          <a:xfrm>
            <a:off x="566928" y="627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Dato verde: el programa y los expedientes son ficticios. Con expedientes reales esto es información amarilla y solo se escribe en Copilot Chat con la cuenta del Instituto.</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P_atribucion">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El prompt del que salen esas dos filas</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Seis casillas puestas, insumos acotados y prohibido parafrasear. Aun así una fila no se sostiene.</a:t>
            </a:r>
            <a:endParaRPr lang="en-US" sz="1500" dirty="0"/>
          </a:p>
        </p:txBody>
      </p:sp>
      <p:sp>
        <p:nvSpPr>
          <p:cNvPr id="4" name="Shape"/>
          <p:cNvSpPr/>
          <p:nvPr/>
        </p:nvSpPr>
        <p:spPr>
          <a:xfrm>
            <a:off x="566928" y="1700000"/>
            <a:ext cx="11057839" cy="300000"/>
          </a:xfrm>
          <a:prstGeom prst="roundRect">
            <a:avLst>
              <a:gd name="adj" fmla="val 20000"/>
            </a:avLst>
          </a:prstGeom>
          <a:solidFill>
            <a:srgbClr val="D7E7E7"/>
          </a:solidFill>
          <a:ln w="12700">
            <a:solidFill>
              <a:srgbClr val="D7E7E7"/>
            </a:solidFill>
            <a:prstDash val="solid"/>
          </a:ln>
        </p:spPr>
      </p:sp>
      <p:sp>
        <p:nvSpPr>
          <p:cNvPr id="5" name="Text"/>
          <p:cNvSpPr txBox="1"/>
          <p:nvPr/>
        </p:nvSpPr>
        <p:spPr>
          <a:xfrm>
            <a:off x="766928" y="1700000"/>
            <a:ext cx="1700000" cy="300000"/>
          </a:xfrm>
          <a:prstGeom prst="rect">
            <a:avLst/>
          </a:prstGeom>
          <a:noFill/>
          <a:ln/>
        </p:spPr>
        <p:txBody>
          <a:bodyPr wrap="square" lIns="0" tIns="0" rIns="0" bIns="0" rtlCol="0" anchor="ctr"/>
          <a:lstStyle/>
          <a:p>
            <a:pPr indent="0" marL="0">
              <a:buNone/>
            </a:pPr>
            <a:r>
              <a:rPr lang="en-US" sz="950" b="1" spc="100" kern="0" dirty="0">
                <a:solidFill>
                  <a:srgbClr val="2E7D7D"/>
                </a:solidFill>
                <a:latin typeface="Arial" pitchFamily="34" charset="0"/>
                <a:ea typeface="Arial" pitchFamily="34" charset="-122"/>
                <a:cs typeface="Arial" pitchFamily="34" charset="-120"/>
              </a:rPr>
              <a:t>DE DÓNDE SALE</a:t>
            </a:r>
            <a:endParaRPr lang="en-US" sz="950" dirty="0"/>
          </a:p>
        </p:txBody>
      </p:sp>
      <p:sp>
        <p:nvSpPr>
          <p:cNvPr id="6" name="Text"/>
          <p:cNvSpPr txBox="1"/>
          <p:nvPr/>
        </p:nvSpPr>
        <p:spPr>
          <a:xfrm>
            <a:off x="2516928" y="1700000"/>
            <a:ext cx="8907839" cy="300000"/>
          </a:xfrm>
          <a:prstGeom prst="rect">
            <a:avLst/>
          </a:prstGeom>
          <a:noFill/>
          <a:ln/>
        </p:spPr>
        <p:txBody>
          <a:bodyPr wrap="square" lIns="0" tIns="0" rIns="0" bIns="0" rtlCol="0" anchor="ctr"/>
          <a:lstStyle/>
          <a:p>
            <a:pPr indent="0" marL="0">
              <a:buNone/>
            </a:pPr>
            <a:r>
              <a:rPr lang="en-US" sz="1100" dirty="0">
                <a:solidFill>
                  <a:srgbClr val="16262E"/>
                </a:solidFill>
                <a:latin typeface="Calibri" pitchFamily="34" charset="0"/>
                <a:ea typeface="Calibri" pitchFamily="34" charset="-122"/>
                <a:cs typeface="Calibri" pitchFamily="34" charset="-120"/>
              </a:rPr>
              <a:t>Los artículos 11 y 14 del marco normativo, pegados en el chat. El prompt y la respuesta son una reconstrucción; las dos citas sí son textuales.</a:t>
            </a:r>
            <a:endParaRPr lang="en-US" sz="1100" dirty="0"/>
          </a:p>
        </p:txBody>
      </p:sp>
      <p:sp>
        <p:nvSpPr>
          <p:cNvPr id="7" name="Shape"/>
          <p:cNvSpPr/>
          <p:nvPr/>
        </p:nvSpPr>
        <p:spPr>
          <a:xfrm>
            <a:off x="566928" y="2080000"/>
            <a:ext cx="11057839" cy="2270000"/>
          </a:xfrm>
          <a:prstGeom prst="roundRect">
            <a:avLst>
              <a:gd name="adj" fmla="val 2933"/>
            </a:avLst>
          </a:prstGeom>
          <a:solidFill>
            <a:srgbClr val="16262E"/>
          </a:solidFill>
          <a:ln w="12700">
            <a:solidFill>
              <a:srgbClr val="16262E"/>
            </a:solidFill>
            <a:prstDash val="solid"/>
          </a:ln>
        </p:spPr>
      </p:sp>
      <p:sp>
        <p:nvSpPr>
          <p:cNvPr id="8" name="Text"/>
          <p:cNvSpPr txBox="1"/>
          <p:nvPr/>
        </p:nvSpPr>
        <p:spPr>
          <a:xfrm>
            <a:off x="804672" y="2190000"/>
            <a:ext cx="10582351" cy="240000"/>
          </a:xfrm>
          <a:prstGeom prst="rect">
            <a:avLst/>
          </a:prstGeom>
          <a:noFill/>
          <a:ln/>
        </p:spPr>
        <p:txBody>
          <a:bodyPr wrap="square" lIns="0" tIns="0" rIns="0" bIns="0" rtlCol="0" anchor="t"/>
          <a:lstStyle/>
          <a:p>
            <a:pPr indent="0" marL="0">
              <a:buNone/>
            </a:pPr>
            <a:r>
              <a:rPr lang="en-US" sz="950" b="1" spc="120" kern="0" dirty="0">
                <a:solidFill>
                  <a:srgbClr val="8FC7C7"/>
                </a:solidFill>
                <a:latin typeface="Arial" pitchFamily="34" charset="0"/>
                <a:ea typeface="Arial" pitchFamily="34" charset="-122"/>
                <a:cs typeface="Arial" pitchFamily="34" charset="-120"/>
              </a:rPr>
              <a:t>EL PROMPT, CON LAS SEIS CASILLAS</a:t>
            </a:r>
            <a:endParaRPr lang="en-US" sz="950" dirty="0"/>
          </a:p>
        </p:txBody>
      </p:sp>
      <p:sp>
        <p:nvSpPr>
          <p:cNvPr id="9" name="Text"/>
          <p:cNvSpPr txBox="1"/>
          <p:nvPr/>
        </p:nvSpPr>
        <p:spPr>
          <a:xfrm>
            <a:off x="766928" y="247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1. Rol</a:t>
            </a:r>
            <a:endParaRPr lang="en-US" sz="950" dirty="0"/>
          </a:p>
        </p:txBody>
      </p:sp>
      <p:sp>
        <p:nvSpPr>
          <p:cNvPr id="10" name="Text"/>
          <p:cNvSpPr txBox="1"/>
          <p:nvPr/>
        </p:nvSpPr>
        <p:spPr>
          <a:xfrm>
            <a:off x="2146928" y="247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Responde como analista de evaluación de política de desarrollo social que está redactando el apartado de hallazgos de una evaluación estatal.</a:t>
            </a:r>
            <a:endParaRPr lang="en-US" sz="1000" dirty="0"/>
          </a:p>
        </p:txBody>
      </p:sp>
      <p:sp>
        <p:nvSpPr>
          <p:cNvPr id="11" name="Text"/>
          <p:cNvSpPr txBox="1"/>
          <p:nvPr/>
        </p:nvSpPr>
        <p:spPr>
          <a:xfrm>
            <a:off x="766928" y="309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2. Objetivo</a:t>
            </a:r>
            <a:endParaRPr lang="en-US" sz="950" dirty="0"/>
          </a:p>
        </p:txBody>
      </p:sp>
      <p:sp>
        <p:nvSpPr>
          <p:cNvPr id="12" name="Text"/>
          <p:cNvSpPr txBox="1"/>
          <p:nvPr/>
        </p:nvSpPr>
        <p:spPr>
          <a:xfrm>
            <a:off x="2146928" y="309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Identifica los hallazgos del marco normativo sobre el monto del apoyo y sobre su compatibilidad con otros programas.</a:t>
            </a:r>
            <a:endParaRPr lang="en-US" sz="1000" dirty="0"/>
          </a:p>
        </p:txBody>
      </p:sp>
      <p:sp>
        <p:nvSpPr>
          <p:cNvPr id="13" name="Text"/>
          <p:cNvSpPr txBox="1"/>
          <p:nvPr/>
        </p:nvSpPr>
        <p:spPr>
          <a:xfrm>
            <a:off x="766928" y="371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3. Contexto</a:t>
            </a:r>
            <a:endParaRPr lang="en-US" sz="950" dirty="0"/>
          </a:p>
        </p:txBody>
      </p:sp>
      <p:sp>
        <p:nvSpPr>
          <p:cNvPr id="14" name="Text"/>
          <p:cNvSpPr txBox="1"/>
          <p:nvPr/>
        </p:nvSpPr>
        <p:spPr>
          <a:xfrm>
            <a:off x="2146928" y="371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El apartado tiene que pronunciarse sobre si el apoyo responde a las necesidades de cuidado de los hogares. Cada renglón que devuelvas va a ser una fila de mi matriz de evidencia.</a:t>
            </a:r>
            <a:endParaRPr lang="en-US" sz="1000" dirty="0"/>
          </a:p>
        </p:txBody>
      </p:sp>
      <p:sp>
        <p:nvSpPr>
          <p:cNvPr id="15" name="Text"/>
          <p:cNvSpPr txBox="1"/>
          <p:nvPr/>
        </p:nvSpPr>
        <p:spPr>
          <a:xfrm>
            <a:off x="6195847" y="247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4. Insumos</a:t>
            </a:r>
            <a:endParaRPr lang="en-US" sz="950" dirty="0"/>
          </a:p>
        </p:txBody>
      </p:sp>
      <p:sp>
        <p:nvSpPr>
          <p:cNvPr id="16" name="Text"/>
          <p:cNvSpPr txBox="1"/>
          <p:nvPr/>
        </p:nvSpPr>
        <p:spPr>
          <a:xfrm>
            <a:off x="7575847" y="247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Te pego abajo los artículos 11 y 14 de las Reglas de Operación 2025. Trabaja solo con ese texto, no con tu conocimiento general ni con lo que haya en internet.</a:t>
            </a:r>
            <a:endParaRPr lang="en-US" sz="1000" dirty="0"/>
          </a:p>
        </p:txBody>
      </p:sp>
      <p:sp>
        <p:nvSpPr>
          <p:cNvPr id="17" name="Text"/>
          <p:cNvSpPr txBox="1"/>
          <p:nvPr/>
        </p:nvSpPr>
        <p:spPr>
          <a:xfrm>
            <a:off x="6195847" y="309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5. Restricciones</a:t>
            </a:r>
            <a:endParaRPr lang="en-US" sz="950" dirty="0"/>
          </a:p>
        </p:txBody>
      </p:sp>
      <p:sp>
        <p:nvSpPr>
          <p:cNvPr id="18" name="Text"/>
          <p:cNvSpPr txBox="1"/>
          <p:nvPr/>
        </p:nvSpPr>
        <p:spPr>
          <a:xfrm>
            <a:off x="7575847" y="309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Copia cada cita completa y textual, sin parafrasear, e indica el artículo del que sale. Ninguna fila puede quedarse sin su cita, y si algo no aparece, dilo en lugar de suponerlo.</a:t>
            </a:r>
            <a:endParaRPr lang="en-US" sz="1000" dirty="0"/>
          </a:p>
        </p:txBody>
      </p:sp>
      <p:sp>
        <p:nvSpPr>
          <p:cNvPr id="19" name="Text"/>
          <p:cNvSpPr txBox="1"/>
          <p:nvPr/>
        </p:nvSpPr>
        <p:spPr>
          <a:xfrm>
            <a:off x="6195847" y="371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6. Formato de salida</a:t>
            </a:r>
            <a:endParaRPr lang="en-US" sz="950" dirty="0"/>
          </a:p>
        </p:txBody>
      </p:sp>
      <p:sp>
        <p:nvSpPr>
          <p:cNvPr id="20" name="Text"/>
          <p:cNvSpPr txBox="1"/>
          <p:nvPr/>
        </p:nvSpPr>
        <p:spPr>
          <a:xfrm>
            <a:off x="7575847" y="371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Una tabla de dos columnas: la afirmación tal como iría escrita en el informe, y la cita textual con su número de artículo. No más de seis filas.</a:t>
            </a:r>
            <a:endParaRPr lang="en-US" sz="1000" dirty="0"/>
          </a:p>
        </p:txBody>
      </p:sp>
      <p:sp>
        <p:nvSpPr>
          <p:cNvPr id="21" name="Shape"/>
          <p:cNvSpPr/>
          <p:nvPr/>
        </p:nvSpPr>
        <p:spPr>
          <a:xfrm>
            <a:off x="566928" y="4450000"/>
            <a:ext cx="11057839" cy="962000"/>
          </a:xfrm>
          <a:prstGeom prst="roundRect">
            <a:avLst>
              <a:gd name="adj" fmla="val 8235"/>
            </a:avLst>
          </a:prstGeom>
          <a:solidFill>
            <a:srgbClr val="F7E4D8"/>
          </a:solidFill>
          <a:ln w="12700">
            <a:solidFill>
              <a:srgbClr val="F7E4D8"/>
            </a:solidFill>
            <a:prstDash val="solid"/>
          </a:ln>
        </p:spPr>
      </p:sp>
      <p:sp>
        <p:nvSpPr>
          <p:cNvPr id="22" name="Text"/>
          <p:cNvSpPr txBox="1"/>
          <p:nvPr/>
        </p:nvSpPr>
        <p:spPr>
          <a:xfrm>
            <a:off x="804672" y="4450000"/>
            <a:ext cx="10582351" cy="962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El daño lo hacen dos casillas que sí hicieron su trabajo. El contexto le dijo que el informe tiene que pronunciarse sobre si el apoyo alcanza, y el formato exige que ninguna fila se quede sin cita: con eso escribió un juicio y le pegó al lado la cita más cercana al tema. Ojo con la palabra «hallazgos» de la casilla 2: el dictamen de validación que llenaron en la sesión 3 dice que lo que devuelve la herramienta todavía no es un hallazgo, es una hipótesis.</a:t>
            </a:r>
            <a:endParaRPr lang="en-US" sz="1300" dirty="0"/>
          </a:p>
        </p:txBody>
      </p:sp>
      <p:sp>
        <p:nvSpPr>
          <p:cNvPr id="23" name="Text"/>
          <p:cNvSpPr txBox="1"/>
          <p:nvPr/>
        </p:nvSpPr>
        <p:spPr>
          <a:xfrm>
            <a:off x="566928" y="627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Dato verde: el programa y los expedientes son ficticios. Con expedientes reales esto es información amarilla y solo se escribe en Copilot Chat con la cuenta del Instituto.</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P_gemelos">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Dos prompts casi iguales, y ahí está toda la diferencia</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Mismo artículo, mismo asistente, mismas cuatro primeras casillas. Cambian dos.</a:t>
            </a:r>
            <a:endParaRPr lang="en-US" sz="1500" dirty="0"/>
          </a:p>
        </p:txBody>
      </p:sp>
      <p:sp>
        <p:nvSpPr>
          <p:cNvPr id="4" name="Shape"/>
          <p:cNvSpPr/>
          <p:nvPr/>
        </p:nvSpPr>
        <p:spPr>
          <a:xfrm>
            <a:off x="566928" y="1700000"/>
            <a:ext cx="11057839" cy="300000"/>
          </a:xfrm>
          <a:prstGeom prst="roundRect">
            <a:avLst>
              <a:gd name="adj" fmla="val 20000"/>
            </a:avLst>
          </a:prstGeom>
          <a:solidFill>
            <a:srgbClr val="D7E7E7"/>
          </a:solidFill>
          <a:ln w="12700">
            <a:solidFill>
              <a:srgbClr val="D7E7E7"/>
            </a:solidFill>
            <a:prstDash val="solid"/>
          </a:ln>
        </p:spPr>
      </p:sp>
      <p:sp>
        <p:nvSpPr>
          <p:cNvPr id="5" name="Text"/>
          <p:cNvSpPr txBox="1"/>
          <p:nvPr/>
        </p:nvSpPr>
        <p:spPr>
          <a:xfrm>
            <a:off x="766928" y="1700000"/>
            <a:ext cx="1700000" cy="300000"/>
          </a:xfrm>
          <a:prstGeom prst="rect">
            <a:avLst/>
          </a:prstGeom>
          <a:noFill/>
          <a:ln/>
        </p:spPr>
        <p:txBody>
          <a:bodyPr wrap="square" lIns="0" tIns="0" rIns="0" bIns="0" rtlCol="0" anchor="ctr"/>
          <a:lstStyle/>
          <a:p>
            <a:pPr indent="0" marL="0">
              <a:buNone/>
            </a:pPr>
            <a:r>
              <a:rPr lang="en-US" sz="950" b="1" spc="100" kern="0" dirty="0">
                <a:solidFill>
                  <a:srgbClr val="2E7D7D"/>
                </a:solidFill>
                <a:latin typeface="Arial" pitchFamily="34" charset="0"/>
                <a:ea typeface="Arial" pitchFamily="34" charset="-122"/>
                <a:cs typeface="Arial" pitchFamily="34" charset="-120"/>
              </a:rPr>
              <a:t>DE DÓNDE SALE</a:t>
            </a:r>
            <a:endParaRPr lang="en-US" sz="950" dirty="0"/>
          </a:p>
        </p:txBody>
      </p:sp>
      <p:sp>
        <p:nvSpPr>
          <p:cNvPr id="6" name="Text"/>
          <p:cNvSpPr txBox="1"/>
          <p:nvPr/>
        </p:nvSpPr>
        <p:spPr>
          <a:xfrm>
            <a:off x="2516928" y="1700000"/>
            <a:ext cx="8907839" cy="300000"/>
          </a:xfrm>
          <a:prstGeom prst="rect">
            <a:avLst/>
          </a:prstGeom>
          <a:noFill/>
          <a:ln/>
        </p:spPr>
        <p:txBody>
          <a:bodyPr wrap="square" lIns="0" tIns="0" rIns="0" bIns="0" rtlCol="0" anchor="ctr"/>
          <a:lstStyle/>
          <a:p>
            <a:pPr indent="0" marL="0">
              <a:buNone/>
            </a:pPr>
            <a:r>
              <a:rPr lang="en-US" sz="1100" dirty="0">
                <a:solidFill>
                  <a:srgbClr val="16262E"/>
                </a:solidFill>
                <a:latin typeface="Calibri" pitchFamily="34" charset="0"/>
                <a:ea typeface="Calibri" pitchFamily="34" charset="-122"/>
                <a:cs typeface="Calibri" pitchFamily="34" charset="-120"/>
              </a:rPr>
              <a:t>El artículo 21 del marco normativo, las condiciones de los centros comunitarios, pegado en el chat.</a:t>
            </a:r>
            <a:endParaRPr lang="en-US" sz="1100" dirty="0"/>
          </a:p>
        </p:txBody>
      </p:sp>
      <p:sp>
        <p:nvSpPr>
          <p:cNvPr id="7" name="Shape"/>
          <p:cNvSpPr/>
          <p:nvPr/>
        </p:nvSpPr>
        <p:spPr>
          <a:xfrm>
            <a:off x="566928" y="2080000"/>
            <a:ext cx="11057839" cy="640000"/>
          </a:xfrm>
          <a:prstGeom prst="roundRect">
            <a:avLst>
              <a:gd name="adj" fmla="val 2933"/>
            </a:avLst>
          </a:prstGeom>
          <a:solidFill>
            <a:srgbClr val="F2F5F6"/>
          </a:solidFill>
          <a:ln w="12700">
            <a:solidFill>
              <a:srgbClr val="F2F5F6"/>
            </a:solidFill>
            <a:prstDash val="solid"/>
          </a:ln>
        </p:spPr>
      </p:sp>
      <p:sp>
        <p:nvSpPr>
          <p:cNvPr id="8" name="Text"/>
          <p:cNvSpPr txBox="1"/>
          <p:nvPr/>
        </p:nvSpPr>
        <p:spPr>
          <a:xfrm>
            <a:off x="804672" y="2160000"/>
            <a:ext cx="10582351" cy="500000"/>
          </a:xfrm>
          <a:prstGeom prst="rect">
            <a:avLst/>
          </a:prstGeom>
          <a:noFill/>
          <a:ln/>
        </p:spPr>
        <p:txBody>
          <a:bodyPr wrap="square" lIns="0" tIns="0" rIns="0" bIns="0" rtlCol="0" anchor="ctr"/>
          <a:lstStyle/>
          <a:p>
            <a:pPr indent="0" marL="0">
              <a:lnSpc>
                <a:spcPct val="106000"/>
              </a:lnSpc>
              <a:buNone/>
            </a:pPr>
            <a:r>
              <a:rPr lang="en-US" sz="1050" dirty="0">
                <a:solidFill>
                  <a:srgbClr val="5A6B73"/>
                </a:solidFill>
                <a:latin typeface="Calibri" pitchFamily="34" charset="0"/>
                <a:ea typeface="Calibri" pitchFamily="34" charset="-122"/>
                <a:cs typeface="Calibri" pitchFamily="34" charset="-120"/>
              </a:rPr>
              <a:t>IGUALES EN LAS DOS VERSIONES · 1. Rol: analista que revisa reglas de operación, sin opinar sobre el programa. · 2. Objetivo: resumir las condiciones que debe cumplir un centro comunitario, según el artículo 21. · 3. Contexto: mi equipo va a revisar si los centros de una entidad cumplen la norma. · 4. Insumos: solo el artículo 21 que te pego abajo.</a:t>
            </a:r>
            <a:endParaRPr lang="en-US" sz="1050" dirty="0"/>
          </a:p>
        </p:txBody>
      </p:sp>
      <p:sp>
        <p:nvSpPr>
          <p:cNvPr id="9" name="Text"/>
          <p:cNvSpPr txBox="1"/>
          <p:nvPr/>
        </p:nvSpPr>
        <p:spPr>
          <a:xfrm>
            <a:off x="566928" y="2700000"/>
            <a:ext cx="5378919" cy="260000"/>
          </a:xfrm>
          <a:prstGeom prst="rect">
            <a:avLst/>
          </a:prstGeom>
          <a:noFill/>
          <a:ln/>
        </p:spPr>
        <p:txBody>
          <a:bodyPr wrap="square" lIns="0" tIns="0" rIns="0" bIns="0" rtlCol="0" anchor="t"/>
          <a:lstStyle/>
          <a:p>
            <a:pPr indent="0" marL="0">
              <a:buNone/>
            </a:pPr>
            <a:r>
              <a:rPr lang="en-US" sz="1050" b="1" spc="100" kern="0" dirty="0">
                <a:solidFill>
                  <a:srgbClr val="2E7D7D"/>
                </a:solidFill>
                <a:latin typeface="Arial" pitchFamily="34" charset="0"/>
                <a:ea typeface="Arial" pitchFamily="34" charset="-122"/>
                <a:cs typeface="Arial" pitchFamily="34" charset="-120"/>
              </a:rPr>
              <a:t>VERSIÓN A · COPIAR Y CITAR</a:t>
            </a:r>
            <a:endParaRPr lang="en-US" sz="1050" dirty="0"/>
          </a:p>
        </p:txBody>
      </p:sp>
      <p:sp>
        <p:nvSpPr>
          <p:cNvPr id="10" name="Shape"/>
          <p:cNvSpPr/>
          <p:nvPr/>
        </p:nvSpPr>
        <p:spPr>
          <a:xfrm>
            <a:off x="566928" y="2940000"/>
            <a:ext cx="5378919" cy="1580000"/>
          </a:xfrm>
          <a:prstGeom prst="roundRect">
            <a:avLst>
              <a:gd name="adj" fmla="val 2933"/>
            </a:avLst>
          </a:prstGeom>
          <a:solidFill>
            <a:srgbClr val="16262E"/>
          </a:solidFill>
          <a:ln w="12700">
            <a:solidFill>
              <a:srgbClr val="16262E"/>
            </a:solidFill>
            <a:prstDash val="solid"/>
          </a:ln>
        </p:spPr>
      </p:sp>
      <p:sp>
        <p:nvSpPr>
          <p:cNvPr id="11" name="Text"/>
          <p:cNvSpPr txBox="1"/>
          <p:nvPr/>
        </p:nvSpPr>
        <p:spPr>
          <a:xfrm>
            <a:off x="804672" y="3060000"/>
            <a:ext cx="4903431" cy="240000"/>
          </a:xfrm>
          <a:prstGeom prst="rect">
            <a:avLst/>
          </a:prstGeom>
          <a:noFill/>
          <a:ln/>
        </p:spPr>
        <p:txBody>
          <a:bodyPr wrap="square" lIns="0" tIns="0" rIns="0" bIns="0" rtlCol="0" anchor="t"/>
          <a:lstStyle/>
          <a:p>
            <a:pPr indent="0" marL="0">
              <a:buNone/>
            </a:pPr>
            <a:r>
              <a:rPr lang="en-US" sz="950" b="1" spc="120" kern="0" dirty="0">
                <a:solidFill>
                  <a:srgbClr val="8FC7C7"/>
                </a:solidFill>
                <a:latin typeface="Arial" pitchFamily="34" charset="0"/>
                <a:ea typeface="Arial" pitchFamily="34" charset="-122"/>
                <a:cs typeface="Arial" pitchFamily="34" charset="-120"/>
              </a:rPr>
              <a:t>LO QUE CAMBIA</a:t>
            </a:r>
            <a:endParaRPr lang="en-US" sz="950" dirty="0"/>
          </a:p>
        </p:txBody>
      </p:sp>
      <p:sp>
        <p:nvSpPr>
          <p:cNvPr id="12" name="Text"/>
          <p:cNvSpPr txBox="1"/>
          <p:nvPr/>
        </p:nvSpPr>
        <p:spPr>
          <a:xfrm>
            <a:off x="804672" y="3340000"/>
            <a:ext cx="1260000" cy="58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5. Restricciones</a:t>
            </a:r>
            <a:endParaRPr lang="en-US" sz="950" dirty="0"/>
          </a:p>
        </p:txBody>
      </p:sp>
      <p:sp>
        <p:nvSpPr>
          <p:cNvPr id="13" name="Text"/>
          <p:cNvSpPr txBox="1"/>
          <p:nvPr/>
        </p:nvSpPr>
        <p:spPr>
          <a:xfrm>
            <a:off x="2184672" y="3340000"/>
            <a:ext cx="3523431" cy="580000"/>
          </a:xfrm>
          <a:prstGeom prst="rect">
            <a:avLst/>
          </a:prstGeom>
          <a:noFill/>
          <a:ln/>
        </p:spPr>
        <p:txBody>
          <a:bodyPr wrap="square" lIns="0" tIns="0" rIns="0" bIns="0" rtlCol="0" anchor="ctr"/>
          <a:lstStyle/>
          <a:p>
            <a:pPr indent="0" marL="0">
              <a:lnSpc>
                <a:spcPct val="104000"/>
              </a:lnSpc>
              <a:buNone/>
            </a:pPr>
            <a:r>
              <a:rPr lang="en-US" sz="1000" dirty="0">
                <a:solidFill>
                  <a:srgbClr val="FFFFFF"/>
                </a:solidFill>
                <a:latin typeface="Calibri" pitchFamily="34" charset="0"/>
                <a:ea typeface="Calibri" pitchFamily="34" charset="-122"/>
                <a:cs typeface="Calibri" pitchFamily="34" charset="-120"/>
              </a:rPr>
              <a:t>No afirmes nada que no esté escrito en el artículo. Copia las oraciones tal como están: no cambies palabras, no juntes dos fracciones en una y no agregues frases de enlace.</a:t>
            </a:r>
            <a:endParaRPr lang="en-US" sz="1000" dirty="0"/>
          </a:p>
        </p:txBody>
      </p:sp>
      <p:sp>
        <p:nvSpPr>
          <p:cNvPr id="14" name="Text"/>
          <p:cNvSpPr txBox="1"/>
          <p:nvPr/>
        </p:nvSpPr>
        <p:spPr>
          <a:xfrm>
            <a:off x="804672" y="3920000"/>
            <a:ext cx="1260000" cy="58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6. Formato de salida</a:t>
            </a:r>
            <a:endParaRPr lang="en-US" sz="950" dirty="0"/>
          </a:p>
        </p:txBody>
      </p:sp>
      <p:sp>
        <p:nvSpPr>
          <p:cNvPr id="15" name="Text"/>
          <p:cNvSpPr txBox="1"/>
          <p:nvPr/>
        </p:nvSpPr>
        <p:spPr>
          <a:xfrm>
            <a:off x="2184672" y="3920000"/>
            <a:ext cx="3523431" cy="580000"/>
          </a:xfrm>
          <a:prstGeom prst="rect">
            <a:avLst/>
          </a:prstGeom>
          <a:noFill/>
          <a:ln/>
        </p:spPr>
        <p:txBody>
          <a:bodyPr wrap="square" lIns="0" tIns="0" rIns="0" bIns="0" rtlCol="0" anchor="ctr"/>
          <a:lstStyle/>
          <a:p>
            <a:pPr indent="0" marL="0">
              <a:lnSpc>
                <a:spcPct val="104000"/>
              </a:lnSpc>
              <a:buNone/>
            </a:pPr>
            <a:r>
              <a:rPr lang="en-US" sz="1000" dirty="0">
                <a:solidFill>
                  <a:srgbClr val="FFFFFF"/>
                </a:solidFill>
                <a:latin typeface="Calibri" pitchFamily="34" charset="0"/>
                <a:ea typeface="Calibri" pitchFamily="34" charset="-122"/>
                <a:cs typeface="Calibri" pitchFamily="34" charset="-120"/>
              </a:rPr>
              <a:t>Una viñeta por cada fracción del artículo. En cada una, la oración entre comillas y, al final entre paréntesis, el artículo y la fracción de donde la copiaste.</a:t>
            </a:r>
            <a:endParaRPr lang="en-US" sz="1000" dirty="0"/>
          </a:p>
        </p:txBody>
      </p:sp>
      <p:sp>
        <p:nvSpPr>
          <p:cNvPr id="16" name="Shape"/>
          <p:cNvSpPr/>
          <p:nvPr/>
        </p:nvSpPr>
        <p:spPr>
          <a:xfrm>
            <a:off x="566928" y="4590000"/>
            <a:ext cx="5378919" cy="954000"/>
          </a:xfrm>
          <a:prstGeom prst="roundRect">
            <a:avLst>
              <a:gd name="adj" fmla="val 2933"/>
            </a:avLst>
          </a:prstGeom>
          <a:solidFill>
            <a:srgbClr val="D7E7E7"/>
          </a:solidFill>
          <a:ln w="12700">
            <a:solidFill>
              <a:srgbClr val="D7E7E7"/>
            </a:solidFill>
            <a:prstDash val="solid"/>
          </a:ln>
        </p:spPr>
      </p:sp>
      <p:sp>
        <p:nvSpPr>
          <p:cNvPr id="17" name="Text"/>
          <p:cNvSpPr txBox="1"/>
          <p:nvPr/>
        </p:nvSpPr>
        <p:spPr>
          <a:xfrm>
            <a:off x="804672" y="4700000"/>
            <a:ext cx="4903431" cy="230000"/>
          </a:xfrm>
          <a:prstGeom prst="rect">
            <a:avLst/>
          </a:prstGeom>
          <a:noFill/>
          <a:ln/>
        </p:spPr>
        <p:txBody>
          <a:bodyPr wrap="square" lIns="0" tIns="0" rIns="0" bIns="0" rtlCol="0" anchor="t"/>
          <a:lstStyle/>
          <a:p>
            <a:pPr indent="0" marL="0">
              <a:buNone/>
            </a:pPr>
            <a:r>
              <a:rPr lang="en-US" sz="950" b="1" spc="120" kern="0" dirty="0">
                <a:solidFill>
                  <a:srgbClr val="2E7D7D"/>
                </a:solidFill>
                <a:latin typeface="Arial" pitchFamily="34" charset="0"/>
                <a:ea typeface="Arial" pitchFamily="34" charset="-122"/>
                <a:cs typeface="Arial" pitchFamily="34" charset="-120"/>
              </a:rPr>
              <a:t>LO QUE REGRESÓ</a:t>
            </a:r>
            <a:endParaRPr lang="en-US" sz="950" dirty="0"/>
          </a:p>
        </p:txBody>
      </p:sp>
      <p:sp>
        <p:nvSpPr>
          <p:cNvPr id="18" name="Text"/>
          <p:cNvSpPr txBox="1"/>
          <p:nvPr/>
        </p:nvSpPr>
        <p:spPr>
          <a:xfrm>
            <a:off x="804672" y="4960000"/>
            <a:ext cx="4903431" cy="520000"/>
          </a:xfrm>
          <a:prstGeom prst="rect">
            <a:avLst/>
          </a:prstGeom>
          <a:noFill/>
          <a:ln/>
        </p:spPr>
        <p:txBody>
          <a:bodyPr wrap="square" lIns="0" tIns="0" rIns="0" bIns="0" rtlCol="0" anchor="t"/>
          <a:lstStyle/>
          <a:p>
            <a:pPr indent="0" marL="0">
              <a:lnSpc>
                <a:spcPct val="104000"/>
              </a:lnSpc>
              <a:spcAft>
                <a:spcPts val="300"/>
              </a:spcAft>
              <a:buNone/>
            </a:pPr>
            <a:r>
              <a:rPr lang="en-US" sz="1100" dirty="0">
                <a:solidFill>
                  <a:srgbClr val="16262E"/>
                </a:solidFill>
                <a:latin typeface="Calibri" pitchFamily="34" charset="0"/>
                <a:ea typeface="Calibri" pitchFamily="34" charset="-122"/>
                <a:cs typeface="Calibri" pitchFamily="34" charset="-120"/>
              </a:rPr>
              <a:t>Cinco viñetas, una por fracción, entrecomilladas y con su fracción al final.</a:t>
            </a:r>
            <a:endParaRPr lang="en-US" sz="1100" dirty="0"/>
          </a:p>
          <a:p>
            <a:pPr indent="0" marL="0">
              <a:lnSpc>
                <a:spcPct val="104000"/>
              </a:lnSpc>
              <a:spcAft>
                <a:spcPts val="300"/>
              </a:spcAft>
              <a:buNone/>
            </a:pPr>
            <a:r>
              <a:rPr lang="en-US" sz="1100" dirty="0">
                <a:solidFill>
                  <a:srgbClr val="16262E"/>
                </a:solidFill>
                <a:latin typeface="Calibri" pitchFamily="34" charset="0"/>
                <a:ea typeface="Calibri" pitchFamily="34" charset="-122"/>
                <a:cs typeface="Calibri" pitchFamily="34" charset="-120"/>
              </a:rPr>
              <a:t>Se lee áspero y no sirve para pegarlo en el informe. Cada renglón se verifica en diez segundos.</a:t>
            </a:r>
            <a:endParaRPr lang="en-US" sz="1100" dirty="0"/>
          </a:p>
        </p:txBody>
      </p:sp>
      <p:sp>
        <p:nvSpPr>
          <p:cNvPr id="19" name="Text"/>
          <p:cNvSpPr txBox="1"/>
          <p:nvPr/>
        </p:nvSpPr>
        <p:spPr>
          <a:xfrm>
            <a:off x="6245847" y="2700000"/>
            <a:ext cx="5378919" cy="260000"/>
          </a:xfrm>
          <a:prstGeom prst="rect">
            <a:avLst/>
          </a:prstGeom>
          <a:noFill/>
          <a:ln/>
        </p:spPr>
        <p:txBody>
          <a:bodyPr wrap="square" lIns="0" tIns="0" rIns="0" bIns="0" rtlCol="0" anchor="t"/>
          <a:lstStyle/>
          <a:p>
            <a:pPr indent="0" marL="0">
              <a:buNone/>
            </a:pPr>
            <a:r>
              <a:rPr lang="en-US" sz="1050" b="1" spc="100" kern="0" dirty="0">
                <a:solidFill>
                  <a:srgbClr val="C85A28"/>
                </a:solidFill>
                <a:latin typeface="Arial" pitchFamily="34" charset="0"/>
                <a:ea typeface="Arial" pitchFamily="34" charset="-122"/>
                <a:cs typeface="Arial" pitchFamily="34" charset="-120"/>
              </a:rPr>
              <a:t>VERSIÓN B · REDACTAR DE CORRIDO</a:t>
            </a:r>
            <a:endParaRPr lang="en-US" sz="1050" dirty="0"/>
          </a:p>
        </p:txBody>
      </p:sp>
      <p:sp>
        <p:nvSpPr>
          <p:cNvPr id="20" name="Shape"/>
          <p:cNvSpPr/>
          <p:nvPr/>
        </p:nvSpPr>
        <p:spPr>
          <a:xfrm>
            <a:off x="6245847" y="2940000"/>
            <a:ext cx="5378919" cy="1580000"/>
          </a:xfrm>
          <a:prstGeom prst="roundRect">
            <a:avLst>
              <a:gd name="adj" fmla="val 2933"/>
            </a:avLst>
          </a:prstGeom>
          <a:solidFill>
            <a:srgbClr val="16262E"/>
          </a:solidFill>
          <a:ln w="12700">
            <a:solidFill>
              <a:srgbClr val="16262E"/>
            </a:solidFill>
            <a:prstDash val="solid"/>
          </a:ln>
        </p:spPr>
      </p:sp>
      <p:sp>
        <p:nvSpPr>
          <p:cNvPr id="21" name="Text"/>
          <p:cNvSpPr txBox="1"/>
          <p:nvPr/>
        </p:nvSpPr>
        <p:spPr>
          <a:xfrm>
            <a:off x="6483591" y="3060000"/>
            <a:ext cx="4903431" cy="240000"/>
          </a:xfrm>
          <a:prstGeom prst="rect">
            <a:avLst/>
          </a:prstGeom>
          <a:noFill/>
          <a:ln/>
        </p:spPr>
        <p:txBody>
          <a:bodyPr wrap="square" lIns="0" tIns="0" rIns="0" bIns="0" rtlCol="0" anchor="t"/>
          <a:lstStyle/>
          <a:p>
            <a:pPr indent="0" marL="0">
              <a:buNone/>
            </a:pPr>
            <a:r>
              <a:rPr lang="en-US" sz="950" b="1" spc="120" kern="0" dirty="0">
                <a:solidFill>
                  <a:srgbClr val="8FC7C7"/>
                </a:solidFill>
                <a:latin typeface="Arial" pitchFamily="34" charset="0"/>
                <a:ea typeface="Arial" pitchFamily="34" charset="-122"/>
                <a:cs typeface="Arial" pitchFamily="34" charset="-120"/>
              </a:rPr>
              <a:t>LO QUE CAMBIA</a:t>
            </a:r>
            <a:endParaRPr lang="en-US" sz="950" dirty="0"/>
          </a:p>
        </p:txBody>
      </p:sp>
      <p:sp>
        <p:nvSpPr>
          <p:cNvPr id="22" name="Text"/>
          <p:cNvSpPr txBox="1"/>
          <p:nvPr/>
        </p:nvSpPr>
        <p:spPr>
          <a:xfrm>
            <a:off x="6483591" y="3340000"/>
            <a:ext cx="1260000" cy="58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5. Restricciones</a:t>
            </a:r>
            <a:endParaRPr lang="en-US" sz="950" dirty="0"/>
          </a:p>
        </p:txBody>
      </p:sp>
      <p:sp>
        <p:nvSpPr>
          <p:cNvPr id="23" name="Text"/>
          <p:cNvSpPr txBox="1"/>
          <p:nvPr/>
        </p:nvSpPr>
        <p:spPr>
          <a:xfrm>
            <a:off x="7863591" y="3340000"/>
            <a:ext cx="3523431" cy="580000"/>
          </a:xfrm>
          <a:prstGeom prst="rect">
            <a:avLst/>
          </a:prstGeom>
          <a:noFill/>
          <a:ln/>
        </p:spPr>
        <p:txBody>
          <a:bodyPr wrap="square" lIns="0" tIns="0" rIns="0" bIns="0" rtlCol="0" anchor="ctr"/>
          <a:lstStyle/>
          <a:p>
            <a:pPr indent="0" marL="0">
              <a:lnSpc>
                <a:spcPct val="104000"/>
              </a:lnSpc>
              <a:buNone/>
            </a:pPr>
            <a:r>
              <a:rPr lang="en-US" sz="1000" dirty="0">
                <a:solidFill>
                  <a:srgbClr val="FFFFFF"/>
                </a:solidFill>
                <a:latin typeface="Calibri" pitchFamily="34" charset="0"/>
                <a:ea typeface="Calibri" pitchFamily="34" charset="-122"/>
                <a:cs typeface="Calibri" pitchFamily="34" charset="-120"/>
              </a:rPr>
              <a:t>No afirmes nada que no esté escrito en el artículo. No copies las oraciones: redáctalo con tus palabras y de corrido, sin fracciones romanas.</a:t>
            </a:r>
            <a:endParaRPr lang="en-US" sz="1000" dirty="0"/>
          </a:p>
        </p:txBody>
      </p:sp>
      <p:sp>
        <p:nvSpPr>
          <p:cNvPr id="24" name="Text"/>
          <p:cNvSpPr txBox="1"/>
          <p:nvPr/>
        </p:nvSpPr>
        <p:spPr>
          <a:xfrm>
            <a:off x="6483591" y="3920000"/>
            <a:ext cx="1260000" cy="58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6. Formato de salida</a:t>
            </a:r>
            <a:endParaRPr lang="en-US" sz="950" dirty="0"/>
          </a:p>
        </p:txBody>
      </p:sp>
      <p:sp>
        <p:nvSpPr>
          <p:cNvPr id="25" name="Text"/>
          <p:cNvSpPr txBox="1"/>
          <p:nvPr/>
        </p:nvSpPr>
        <p:spPr>
          <a:xfrm>
            <a:off x="7863591" y="3920000"/>
            <a:ext cx="3523431" cy="580000"/>
          </a:xfrm>
          <a:prstGeom prst="rect">
            <a:avLst/>
          </a:prstGeom>
          <a:noFill/>
          <a:ln/>
        </p:spPr>
        <p:txBody>
          <a:bodyPr wrap="square" lIns="0" tIns="0" rIns="0" bIns="0" rtlCol="0" anchor="ctr"/>
          <a:lstStyle/>
          <a:p>
            <a:pPr indent="0" marL="0">
              <a:lnSpc>
                <a:spcPct val="104000"/>
              </a:lnSpc>
              <a:buNone/>
            </a:pPr>
            <a:r>
              <a:rPr lang="en-US" sz="1000" dirty="0">
                <a:solidFill>
                  <a:srgbClr val="FFFFFF"/>
                </a:solidFill>
                <a:latin typeface="Calibri" pitchFamily="34" charset="0"/>
                <a:ea typeface="Calibri" pitchFamily="34" charset="-122"/>
                <a:cs typeface="Calibri" pitchFamily="34" charset="-120"/>
              </a:rPr>
              <a:t>Un solo párrafo de entre 50 y 70 palabras, en el tono de un informe de evaluación, sin viñetas y sin comillas.</a:t>
            </a:r>
            <a:endParaRPr lang="en-US" sz="1000" dirty="0"/>
          </a:p>
        </p:txBody>
      </p:sp>
      <p:sp>
        <p:nvSpPr>
          <p:cNvPr id="26" name="Shape"/>
          <p:cNvSpPr/>
          <p:nvPr/>
        </p:nvSpPr>
        <p:spPr>
          <a:xfrm>
            <a:off x="6245847" y="4590000"/>
            <a:ext cx="5378919" cy="954000"/>
          </a:xfrm>
          <a:prstGeom prst="roundRect">
            <a:avLst>
              <a:gd name="adj" fmla="val 2933"/>
            </a:avLst>
          </a:prstGeom>
          <a:solidFill>
            <a:srgbClr val="F7E4D8"/>
          </a:solidFill>
          <a:ln w="12700">
            <a:solidFill>
              <a:srgbClr val="F7E4D8"/>
            </a:solidFill>
            <a:prstDash val="solid"/>
          </a:ln>
        </p:spPr>
      </p:sp>
      <p:sp>
        <p:nvSpPr>
          <p:cNvPr id="27" name="Text"/>
          <p:cNvSpPr txBox="1"/>
          <p:nvPr/>
        </p:nvSpPr>
        <p:spPr>
          <a:xfrm>
            <a:off x="6483591" y="4700000"/>
            <a:ext cx="4903431" cy="230000"/>
          </a:xfrm>
          <a:prstGeom prst="rect">
            <a:avLst/>
          </a:prstGeom>
          <a:noFill/>
          <a:ln/>
        </p:spPr>
        <p:txBody>
          <a:bodyPr wrap="square" lIns="0" tIns="0" rIns="0" bIns="0" rtlCol="0" anchor="t"/>
          <a:lstStyle/>
          <a:p>
            <a:pPr indent="0" marL="0">
              <a:buNone/>
            </a:pPr>
            <a:r>
              <a:rPr lang="en-US" sz="950" b="1" spc="120" kern="0" dirty="0">
                <a:solidFill>
                  <a:srgbClr val="C85A28"/>
                </a:solidFill>
                <a:latin typeface="Arial" pitchFamily="34" charset="0"/>
                <a:ea typeface="Arial" pitchFamily="34" charset="-122"/>
                <a:cs typeface="Arial" pitchFamily="34" charset="-120"/>
              </a:rPr>
              <a:t>LO QUE REGRESÓ</a:t>
            </a:r>
            <a:endParaRPr lang="en-US" sz="950" dirty="0"/>
          </a:p>
        </p:txBody>
      </p:sp>
      <p:sp>
        <p:nvSpPr>
          <p:cNvPr id="28" name="Text"/>
          <p:cNvSpPr txBox="1"/>
          <p:nvPr/>
        </p:nvSpPr>
        <p:spPr>
          <a:xfrm>
            <a:off x="6483591" y="4960000"/>
            <a:ext cx="4903431" cy="520000"/>
          </a:xfrm>
          <a:prstGeom prst="rect">
            <a:avLst/>
          </a:prstGeom>
          <a:noFill/>
          <a:ln/>
        </p:spPr>
        <p:txBody>
          <a:bodyPr wrap="square" lIns="0" tIns="0" rIns="0" bIns="0" rtlCol="0" anchor="t"/>
          <a:lstStyle/>
          <a:p>
            <a:pPr indent="0" marL="0">
              <a:lnSpc>
                <a:spcPct val="104000"/>
              </a:lnSpc>
              <a:spcAft>
                <a:spcPts val="300"/>
              </a:spcAft>
              <a:buNone/>
            </a:pPr>
            <a:r>
              <a:rPr lang="en-US" sz="1100" dirty="0">
                <a:solidFill>
                  <a:srgbClr val="16262E"/>
                </a:solidFill>
                <a:latin typeface="Calibri" pitchFamily="34" charset="0"/>
                <a:ea typeface="Calibri" pitchFamily="34" charset="-122"/>
                <a:cs typeface="Calibri" pitchFamily="34" charset="-120"/>
              </a:rPr>
              <a:t>Un párrafo que se lee bien y se puede pegar en el informe.</a:t>
            </a:r>
            <a:endParaRPr lang="en-US" sz="1100" dirty="0"/>
          </a:p>
          <a:p>
            <a:pPr indent="0" marL="0">
              <a:lnSpc>
                <a:spcPct val="104000"/>
              </a:lnSpc>
              <a:spcAft>
                <a:spcPts val="300"/>
              </a:spcAft>
              <a:buNone/>
            </a:pPr>
            <a:r>
              <a:rPr lang="en-US" sz="1100" dirty="0">
                <a:solidFill>
                  <a:srgbClr val="16262E"/>
                </a:solidFill>
                <a:latin typeface="Calibri" pitchFamily="34" charset="0"/>
                <a:ea typeface="Calibri" pitchFamily="34" charset="-122"/>
                <a:cs typeface="Calibri" pitchFamily="34" charset="-120"/>
              </a:rPr>
              <a:t>Y que dice cuatro cosas que el artículo no dice. Las vemos en la lámina que sigue.</a:t>
            </a:r>
            <a:endParaRPr lang="en-US" sz="1100" dirty="0"/>
          </a:p>
        </p:txBody>
      </p:sp>
      <p:sp>
        <p:nvSpPr>
          <p:cNvPr id="29" name="Shape"/>
          <p:cNvSpPr/>
          <p:nvPr/>
        </p:nvSpPr>
        <p:spPr>
          <a:xfrm>
            <a:off x="566928" y="5650000"/>
            <a:ext cx="11057839" cy="560000"/>
          </a:xfrm>
          <a:prstGeom prst="roundRect">
            <a:avLst>
              <a:gd name="adj" fmla="val 8235"/>
            </a:avLst>
          </a:prstGeom>
          <a:solidFill>
            <a:srgbClr val="F7E4D8"/>
          </a:solidFill>
          <a:ln w="12700">
            <a:solidFill>
              <a:srgbClr val="F7E4D8"/>
            </a:solidFill>
            <a:prstDash val="solid"/>
          </a:ln>
        </p:spPr>
      </p:sp>
      <p:sp>
        <p:nvSpPr>
          <p:cNvPr id="30" name="Text"/>
          <p:cNvSpPr txBox="1"/>
          <p:nvPr/>
        </p:nvSpPr>
        <p:spPr>
          <a:xfrm>
            <a:off x="804672" y="5650000"/>
            <a:ext cx="10582351" cy="56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Los dos prompts dicen «no afirmes nada que no esté escrito en el artículo». La versión B lo dice igual y afirma cuatro cosas que el artículo no dice, porque lo que se cuela no son datos inventados: son compresiones que borran una condición y verbos que nadie autorizó.</a:t>
            </a:r>
            <a:endParaRPr lang="en-US" sz="1300" dirty="0"/>
          </a:p>
        </p:txBody>
      </p:sp>
      <p:sp>
        <p:nvSpPr>
          <p:cNvPr id="31" name="Text"/>
          <p:cNvSpPr txBox="1"/>
          <p:nvPr/>
        </p:nvSpPr>
        <p:spPr>
          <a:xfrm>
            <a:off x="566928" y="627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Dato verde: el programa y los expedientes son ficticios. Con expedientes reales esto es información amarilla y solo se escribe en Copilot Chat con la cuenta del Instituto.</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P_clasificacion">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Seis casillas bien puestas, y aun así tres errores</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Las seis casillas con las que se codificaron los dos foros, y ocho de los renglones que devolvió.</a:t>
            </a:r>
            <a:endParaRPr lang="en-US" sz="1500" dirty="0"/>
          </a:p>
        </p:txBody>
      </p:sp>
      <p:sp>
        <p:nvSpPr>
          <p:cNvPr id="4" name="Shape"/>
          <p:cNvSpPr/>
          <p:nvPr/>
        </p:nvSpPr>
        <p:spPr>
          <a:xfrm>
            <a:off x="566928" y="1700000"/>
            <a:ext cx="11057839" cy="300000"/>
          </a:xfrm>
          <a:prstGeom prst="roundRect">
            <a:avLst>
              <a:gd name="adj" fmla="val 20000"/>
            </a:avLst>
          </a:prstGeom>
          <a:solidFill>
            <a:srgbClr val="D7E7E7"/>
          </a:solidFill>
          <a:ln w="12700">
            <a:solidFill>
              <a:srgbClr val="D7E7E7"/>
            </a:solidFill>
            <a:prstDash val="solid"/>
          </a:ln>
        </p:spPr>
      </p:sp>
      <p:sp>
        <p:nvSpPr>
          <p:cNvPr id="5" name="Text"/>
          <p:cNvSpPr txBox="1"/>
          <p:nvPr/>
        </p:nvSpPr>
        <p:spPr>
          <a:xfrm>
            <a:off x="766928" y="1700000"/>
            <a:ext cx="1700000" cy="300000"/>
          </a:xfrm>
          <a:prstGeom prst="rect">
            <a:avLst/>
          </a:prstGeom>
          <a:noFill/>
          <a:ln/>
        </p:spPr>
        <p:txBody>
          <a:bodyPr wrap="square" lIns="0" tIns="0" rIns="0" bIns="0" rtlCol="0" anchor="ctr"/>
          <a:lstStyle/>
          <a:p>
            <a:pPr indent="0" marL="0">
              <a:buNone/>
            </a:pPr>
            <a:r>
              <a:rPr lang="en-US" sz="950" b="1" spc="100" kern="0" dirty="0">
                <a:solidFill>
                  <a:srgbClr val="2E7D7D"/>
                </a:solidFill>
                <a:latin typeface="Arial" pitchFamily="34" charset="0"/>
                <a:ea typeface="Arial" pitchFamily="34" charset="-122"/>
                <a:cs typeface="Arial" pitchFamily="34" charset="-120"/>
              </a:rPr>
              <a:t>DE DÓNDE SALE</a:t>
            </a:r>
            <a:endParaRPr lang="en-US" sz="950" dirty="0"/>
          </a:p>
        </p:txBody>
      </p:sp>
      <p:sp>
        <p:nvSpPr>
          <p:cNvPr id="6" name="Text"/>
          <p:cNvSpPr txBox="1"/>
          <p:nvPr/>
        </p:nvSpPr>
        <p:spPr>
          <a:xfrm>
            <a:off x="2516928" y="1700000"/>
            <a:ext cx="8907839" cy="300000"/>
          </a:xfrm>
          <a:prstGeom prst="rect">
            <a:avLst/>
          </a:prstGeom>
          <a:noFill/>
          <a:ln/>
        </p:spPr>
        <p:txBody>
          <a:bodyPr wrap="square" lIns="0" tIns="0" rIns="0" bIns="0" rtlCol="0" anchor="ctr"/>
          <a:lstStyle/>
          <a:p>
            <a:pPr indent="0" marL="0">
              <a:buNone/>
            </a:pPr>
            <a:r>
              <a:rPr lang="en-US" sz="1100" dirty="0">
                <a:solidFill>
                  <a:srgbClr val="16262E"/>
                </a:solidFill>
                <a:latin typeface="Calibri" pitchFamily="34" charset="0"/>
                <a:ea typeface="Calibri" pitchFamily="34" charset="-122"/>
                <a:cs typeface="Calibri" pitchFamily="34" charset="-120"/>
              </a:rPr>
              <a:t>Transcripciones_foro_PARTICIPANTE.docx, adjunto completo. Las intervenciones y sus faltas de ortografía son textuales; la tabla es una reconstrucción de una primera pasada.</a:t>
            </a:r>
            <a:endParaRPr lang="en-US" sz="1100" dirty="0"/>
          </a:p>
        </p:txBody>
      </p:sp>
      <p:sp>
        <p:nvSpPr>
          <p:cNvPr id="7" name="Shape"/>
          <p:cNvSpPr/>
          <p:nvPr/>
        </p:nvSpPr>
        <p:spPr>
          <a:xfrm>
            <a:off x="566928" y="2080000"/>
            <a:ext cx="11057839" cy="2270000"/>
          </a:xfrm>
          <a:prstGeom prst="roundRect">
            <a:avLst>
              <a:gd name="adj" fmla="val 2933"/>
            </a:avLst>
          </a:prstGeom>
          <a:solidFill>
            <a:srgbClr val="16262E"/>
          </a:solidFill>
          <a:ln w="12700">
            <a:solidFill>
              <a:srgbClr val="16262E"/>
            </a:solidFill>
            <a:prstDash val="solid"/>
          </a:ln>
        </p:spPr>
      </p:sp>
      <p:sp>
        <p:nvSpPr>
          <p:cNvPr id="8" name="Text"/>
          <p:cNvSpPr txBox="1"/>
          <p:nvPr/>
        </p:nvSpPr>
        <p:spPr>
          <a:xfrm>
            <a:off x="804672" y="2190000"/>
            <a:ext cx="10582351" cy="240000"/>
          </a:xfrm>
          <a:prstGeom prst="rect">
            <a:avLst/>
          </a:prstGeom>
          <a:noFill/>
          <a:ln/>
        </p:spPr>
        <p:txBody>
          <a:bodyPr wrap="square" lIns="0" tIns="0" rIns="0" bIns="0" rtlCol="0" anchor="t"/>
          <a:lstStyle/>
          <a:p>
            <a:pPr indent="0" marL="0">
              <a:buNone/>
            </a:pPr>
            <a:r>
              <a:rPr lang="en-US" sz="950" b="1" spc="120" kern="0" dirty="0">
                <a:solidFill>
                  <a:srgbClr val="8FC7C7"/>
                </a:solidFill>
                <a:latin typeface="Arial" pitchFamily="34" charset="0"/>
                <a:ea typeface="Arial" pitchFamily="34" charset="-122"/>
                <a:cs typeface="Arial" pitchFamily="34" charset="-120"/>
              </a:rPr>
              <a:t>EL PROMPT, CON LAS SEIS CASILLAS</a:t>
            </a:r>
            <a:endParaRPr lang="en-US" sz="950" dirty="0"/>
          </a:p>
        </p:txBody>
      </p:sp>
      <p:sp>
        <p:nvSpPr>
          <p:cNvPr id="9" name="Text"/>
          <p:cNvSpPr txBox="1"/>
          <p:nvPr/>
        </p:nvSpPr>
        <p:spPr>
          <a:xfrm>
            <a:off x="766928" y="247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1. Rol</a:t>
            </a:r>
            <a:endParaRPr lang="en-US" sz="950" dirty="0"/>
          </a:p>
        </p:txBody>
      </p:sp>
      <p:sp>
        <p:nvSpPr>
          <p:cNvPr id="10" name="Text"/>
          <p:cNvSpPr txBox="1"/>
          <p:nvPr/>
        </p:nvSpPr>
        <p:spPr>
          <a:xfrm>
            <a:off x="2146928" y="247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Responde como analista de evaluación que está codificando testimonios de una consulta comunitaria, no midiendo satisfacción.</a:t>
            </a:r>
            <a:endParaRPr lang="en-US" sz="1000" dirty="0"/>
          </a:p>
        </p:txBody>
      </p:sp>
      <p:sp>
        <p:nvSpPr>
          <p:cNvPr id="11" name="Text"/>
          <p:cNvSpPr txBox="1"/>
          <p:nvPr/>
        </p:nvSpPr>
        <p:spPr>
          <a:xfrm>
            <a:off x="766928" y="309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2. Objetivo</a:t>
            </a:r>
            <a:endParaRPr lang="en-US" sz="950" dirty="0"/>
          </a:p>
        </p:txBody>
      </p:sp>
      <p:sp>
        <p:nvSpPr>
          <p:cNvPr id="12" name="Text"/>
          <p:cNvSpPr txBox="1"/>
          <p:nvPr/>
        </p:nvSpPr>
        <p:spPr>
          <a:xfrm>
            <a:off x="2146928" y="309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Clasifica cada intervención en dos ejes: polaridad, que es positiva, neutra o negativa, y causa raíz, que es infraestructura, presupuesto, gestión o transparencia.</a:t>
            </a:r>
            <a:endParaRPr lang="en-US" sz="1000" dirty="0"/>
          </a:p>
        </p:txBody>
      </p:sp>
      <p:sp>
        <p:nvSpPr>
          <p:cNvPr id="13" name="Text"/>
          <p:cNvSpPr txBox="1"/>
          <p:nvPr/>
        </p:nvSpPr>
        <p:spPr>
          <a:xfrm>
            <a:off x="766928" y="371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3. Contexto</a:t>
            </a:r>
            <a:endParaRPr lang="en-US" sz="950" dirty="0"/>
          </a:p>
        </p:txBody>
      </p:sp>
      <p:sp>
        <p:nvSpPr>
          <p:cNvPr id="14" name="Text"/>
          <p:cNvSpPr txBox="1"/>
          <p:nvPr/>
        </p:nvSpPr>
        <p:spPr>
          <a:xfrm>
            <a:off x="2146928" y="371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El resultado va al informe de consulta de la Entidad C, y otra persona lo va a revisar intervención por intervención contra la transcripción.</a:t>
            </a:r>
            <a:endParaRPr lang="en-US" sz="1000" dirty="0"/>
          </a:p>
        </p:txBody>
      </p:sp>
      <p:sp>
        <p:nvSpPr>
          <p:cNvPr id="15" name="Text"/>
          <p:cNvSpPr txBox="1"/>
          <p:nvPr/>
        </p:nvSpPr>
        <p:spPr>
          <a:xfrm>
            <a:off x="6195847" y="247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4. Insumos</a:t>
            </a:r>
            <a:endParaRPr lang="en-US" sz="950" dirty="0"/>
          </a:p>
        </p:txBody>
      </p:sp>
      <p:sp>
        <p:nvSpPr>
          <p:cNvPr id="16" name="Text"/>
          <p:cNvSpPr txBox="1"/>
          <p:nvPr/>
        </p:nvSpPr>
        <p:spPr>
          <a:xfrm>
            <a:off x="7575847" y="247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Trabaja solo con el archivo adjunto y con las definiciones de las cuatro causas que te pego al final. Las tres intervenciones del moderador, F1-00, F1-08 y F2-00, quedan fuera.</a:t>
            </a:r>
            <a:endParaRPr lang="en-US" sz="1000" dirty="0"/>
          </a:p>
        </p:txBody>
      </p:sp>
      <p:sp>
        <p:nvSpPr>
          <p:cNvPr id="17" name="Text"/>
          <p:cNvSpPr txBox="1"/>
          <p:nvPr/>
        </p:nvSpPr>
        <p:spPr>
          <a:xfrm>
            <a:off x="6195847" y="309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5. Restricciones</a:t>
            </a:r>
            <a:endParaRPr lang="en-US" sz="950" dirty="0"/>
          </a:p>
        </p:txBody>
      </p:sp>
      <p:sp>
        <p:nvSpPr>
          <p:cNvPr id="18" name="Text"/>
          <p:cNvSpPr txBox="1"/>
          <p:nvPr/>
        </p:nvSpPr>
        <p:spPr>
          <a:xfrm>
            <a:off x="7575847" y="309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Cuando una intervención toque más de una causa, la principal es sobre la que recae la queja o el reconocimiento. No partas una intervención en dos renglones. Si no alcanza para decidir, escribe «dudosa».</a:t>
            </a:r>
            <a:endParaRPr lang="en-US" sz="1000" dirty="0"/>
          </a:p>
        </p:txBody>
      </p:sp>
      <p:sp>
        <p:nvSpPr>
          <p:cNvPr id="19" name="Text"/>
          <p:cNvSpPr txBox="1"/>
          <p:nvPr/>
        </p:nvSpPr>
        <p:spPr>
          <a:xfrm>
            <a:off x="6195847" y="371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6. Formato de salida</a:t>
            </a:r>
            <a:endParaRPr lang="en-US" sz="950" dirty="0"/>
          </a:p>
        </p:txBody>
      </p:sp>
      <p:sp>
        <p:nvSpPr>
          <p:cNvPr id="20" name="Text"/>
          <p:cNvSpPr txBox="1"/>
          <p:nvPr/>
        </p:nvSpPr>
        <p:spPr>
          <a:xfrm>
            <a:off x="7575847" y="371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Un renglón con cuántas clasificaste y cuáles dejaste fuera. Luego una tabla: intervención, polaridad, causa principal, causa secundaria y la frase textual en que te apoyaste, sin corregir la ortografía.</a:t>
            </a:r>
            <a:endParaRPr lang="en-US" sz="1000" dirty="0"/>
          </a:p>
        </p:txBody>
      </p:sp>
      <p:sp>
        <p:nvSpPr>
          <p:cNvPr id="21" name="Shape"/>
          <p:cNvSpPr/>
          <p:nvPr/>
        </p:nvSpPr>
        <p:spPr>
          <a:xfrm>
            <a:off x="566928" y="4450000"/>
            <a:ext cx="11057839" cy="1216000"/>
          </a:xfrm>
          <a:prstGeom prst="roundRect">
            <a:avLst>
              <a:gd name="adj" fmla="val 2933"/>
            </a:avLst>
          </a:prstGeom>
          <a:solidFill>
            <a:srgbClr val="F7E4D8"/>
          </a:solidFill>
          <a:ln w="12700">
            <a:solidFill>
              <a:srgbClr val="F7E4D8"/>
            </a:solidFill>
            <a:prstDash val="solid"/>
          </a:ln>
        </p:spPr>
      </p:sp>
      <p:sp>
        <p:nvSpPr>
          <p:cNvPr id="22" name="Text"/>
          <p:cNvSpPr txBox="1"/>
          <p:nvPr/>
        </p:nvSpPr>
        <p:spPr>
          <a:xfrm>
            <a:off x="804672" y="4560000"/>
            <a:ext cx="10582351" cy="230000"/>
          </a:xfrm>
          <a:prstGeom prst="rect">
            <a:avLst/>
          </a:prstGeom>
          <a:noFill/>
          <a:ln/>
        </p:spPr>
        <p:txBody>
          <a:bodyPr wrap="square" lIns="0" tIns="0" rIns="0" bIns="0" rtlCol="0" anchor="t"/>
          <a:lstStyle/>
          <a:p>
            <a:pPr indent="0" marL="0">
              <a:buNone/>
            </a:pPr>
            <a:r>
              <a:rPr lang="en-US" sz="950" b="1" spc="120" kern="0" dirty="0">
                <a:solidFill>
                  <a:srgbClr val="C85A28"/>
                </a:solidFill>
                <a:latin typeface="Arial" pitchFamily="34" charset="0"/>
                <a:ea typeface="Arial" pitchFamily="34" charset="-122"/>
                <a:cs typeface="Arial" pitchFamily="34" charset="-120"/>
              </a:rPr>
              <a:t>LO QUE REGRESÓ</a:t>
            </a:r>
            <a:endParaRPr lang="en-US" sz="950" dirty="0"/>
          </a:p>
        </p:txBody>
      </p:sp>
      <p:sp>
        <p:nvSpPr>
          <p:cNvPr id="23" name="Text"/>
          <p:cNvSpPr txBox="1"/>
          <p:nvPr/>
        </p:nvSpPr>
        <p:spPr>
          <a:xfrm>
            <a:off x="804672" y="4820000"/>
            <a:ext cx="10582351" cy="780000"/>
          </a:xfrm>
          <a:prstGeom prst="rect">
            <a:avLst/>
          </a:prstGeom>
          <a:noFill/>
          <a:ln/>
        </p:spPr>
        <p:txBody>
          <a:bodyPr wrap="square" lIns="0" tIns="0" rIns="0" bIns="0" rtlCol="0" anchor="t"/>
          <a:lstStyle/>
          <a:p>
            <a:pPr indent="0" marL="0">
              <a:lnSpc>
                <a:spcPct val="104000"/>
              </a:lnSpc>
              <a:spcAft>
                <a:spcPts val="300"/>
              </a:spcAft>
              <a:buNone/>
            </a:pPr>
            <a:r>
              <a:rPr lang="en-US" sz="1100" dirty="0">
                <a:solidFill>
                  <a:srgbClr val="16262E"/>
                </a:solidFill>
                <a:latin typeface="Calibri" pitchFamily="34" charset="0"/>
                <a:ea typeface="Calibri" pitchFamily="34" charset="-122"/>
                <a:cs typeface="Calibri" pitchFamily="34" charset="-120"/>
              </a:rPr>
              <a:t>«Clasifiqué 38 intervenciones. Dejé fuera F1-00, F1-08 y F2-00, que son del moderador.»</a:t>
            </a:r>
            <a:endParaRPr lang="en-US" sz="1100" dirty="0"/>
          </a:p>
          <a:p>
            <a:pPr indent="0" marL="0">
              <a:lnSpc>
                <a:spcPct val="104000"/>
              </a:lnSpc>
              <a:spcAft>
                <a:spcPts val="300"/>
              </a:spcAft>
              <a:buNone/>
            </a:pPr>
            <a:r>
              <a:rPr lang="en-US" sz="1100" dirty="0">
                <a:solidFill>
                  <a:srgbClr val="16262E"/>
                </a:solidFill>
                <a:latin typeface="Calibri" pitchFamily="34" charset="0"/>
                <a:ea typeface="Calibri" pitchFamily="34" charset="-122"/>
                <a:cs typeface="Calibri" pitchFamily="34" charset="-120"/>
              </a:rPr>
              <a:t>F1-09 · Positiva · Infraestructura · «quedó rete bonita la lona nueva»   ·   F2-08 · Positiva · Gestión · «Muy amables en la ventanilla, eso sí»</a:t>
            </a:r>
            <a:endParaRPr lang="en-US" sz="1100" dirty="0"/>
          </a:p>
          <a:p>
            <a:pPr indent="0" marL="0">
              <a:lnSpc>
                <a:spcPct val="104000"/>
              </a:lnSpc>
              <a:spcAft>
                <a:spcPts val="300"/>
              </a:spcAft>
              <a:buNone/>
            </a:pPr>
            <a:r>
              <a:rPr lang="en-US" sz="1100" dirty="0">
                <a:solidFill>
                  <a:srgbClr val="16262E"/>
                </a:solidFill>
                <a:latin typeface="Calibri" pitchFamily="34" charset="0"/>
                <a:ea typeface="Calibri" pitchFamily="34" charset="-122"/>
                <a:cs typeface="Calibri" pitchFamily="34" charset="-120"/>
              </a:rPr>
              <a:t>F1-16 · Negativa · Presupuesto · «ojala no lo vallan a kitar»   ·   F1-14 · Negativa · Gestión · Presupuesto · «la ventanilla la pasaron a la cabecera»</a:t>
            </a:r>
            <a:endParaRPr lang="en-US" sz="1100" dirty="0"/>
          </a:p>
        </p:txBody>
      </p:sp>
      <p:sp>
        <p:nvSpPr>
          <p:cNvPr id="24" name="Shape"/>
          <p:cNvSpPr/>
          <p:nvPr/>
        </p:nvSpPr>
        <p:spPr>
          <a:xfrm>
            <a:off x="566928" y="5766000"/>
            <a:ext cx="11057839" cy="460000"/>
          </a:xfrm>
          <a:prstGeom prst="roundRect">
            <a:avLst>
              <a:gd name="adj" fmla="val 8235"/>
            </a:avLst>
          </a:prstGeom>
          <a:solidFill>
            <a:srgbClr val="F7E4D8"/>
          </a:solidFill>
          <a:ln w="12700">
            <a:solidFill>
              <a:srgbClr val="F7E4D8"/>
            </a:solidFill>
            <a:prstDash val="solid"/>
          </a:ln>
        </p:spPr>
      </p:sp>
      <p:sp>
        <p:nvSpPr>
          <p:cNvPr id="25" name="Text"/>
          <p:cNvSpPr txBox="1"/>
          <p:nvPr/>
        </p:nvSpPr>
        <p:spPr>
          <a:xfrm>
            <a:off x="804672" y="5766000"/>
            <a:ext cx="10582351" cy="46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Las casillas resuelven lo que se puede declarar: que el universo son 38 y no 41. Lo que ninguna resuelve es leer la intención: F1-09 y F2-08 son sarcasmo, y el léxico amable las volvió positivas.</a:t>
            </a:r>
            <a:endParaRPr lang="en-US" sz="1300" dirty="0"/>
          </a:p>
        </p:txBody>
      </p:sp>
      <p:sp>
        <p:nvSpPr>
          <p:cNvPr id="26" name="Text"/>
          <p:cNvSpPr txBox="1"/>
          <p:nvPr/>
        </p:nvSpPr>
        <p:spPr>
          <a:xfrm>
            <a:off x="566928" y="627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Dato verde: el programa y los expedientes son ficticios. Con expedientes reales esto es información amarilla y solo se escribe en Copilot Chat con la cuenta del Instituto.</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P_laboratorio">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El prompt del paso 2, para copiarse tal cual</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Se copia, se llenan los dos huecos y se pega en la bitácora antes de correrlo, no al final.</a:t>
            </a:r>
            <a:endParaRPr lang="en-US" sz="1500" dirty="0"/>
          </a:p>
        </p:txBody>
      </p:sp>
      <p:sp>
        <p:nvSpPr>
          <p:cNvPr id="4" name="Shape"/>
          <p:cNvSpPr/>
          <p:nvPr/>
        </p:nvSpPr>
        <p:spPr>
          <a:xfrm>
            <a:off x="566928" y="1700000"/>
            <a:ext cx="11057839" cy="300000"/>
          </a:xfrm>
          <a:prstGeom prst="roundRect">
            <a:avLst>
              <a:gd name="adj" fmla="val 20000"/>
            </a:avLst>
          </a:prstGeom>
          <a:solidFill>
            <a:srgbClr val="D7E7E7"/>
          </a:solidFill>
          <a:ln w="12700">
            <a:solidFill>
              <a:srgbClr val="D7E7E7"/>
            </a:solidFill>
            <a:prstDash val="solid"/>
          </a:ln>
        </p:spPr>
      </p:sp>
      <p:sp>
        <p:nvSpPr>
          <p:cNvPr id="5" name="Text"/>
          <p:cNvSpPr txBox="1"/>
          <p:nvPr/>
        </p:nvSpPr>
        <p:spPr>
          <a:xfrm>
            <a:off x="766928" y="1700000"/>
            <a:ext cx="1700000" cy="300000"/>
          </a:xfrm>
          <a:prstGeom prst="rect">
            <a:avLst/>
          </a:prstGeom>
          <a:noFill/>
          <a:ln/>
        </p:spPr>
        <p:txBody>
          <a:bodyPr wrap="square" lIns="0" tIns="0" rIns="0" bIns="0" rtlCol="0" anchor="ctr"/>
          <a:lstStyle/>
          <a:p>
            <a:pPr indent="0" marL="0">
              <a:buNone/>
            </a:pPr>
            <a:r>
              <a:rPr lang="en-US" sz="950" b="1" spc="100" kern="0" dirty="0">
                <a:solidFill>
                  <a:srgbClr val="2E7D7D"/>
                </a:solidFill>
                <a:latin typeface="Arial" pitchFamily="34" charset="0"/>
                <a:ea typeface="Arial" pitchFamily="34" charset="-122"/>
                <a:cs typeface="Arial" pitchFamily="34" charset="-120"/>
              </a:rPr>
              <a:t>DE DÓNDE SALE</a:t>
            </a:r>
            <a:endParaRPr lang="en-US" sz="950" dirty="0"/>
          </a:p>
        </p:txBody>
      </p:sp>
      <p:sp>
        <p:nvSpPr>
          <p:cNvPr id="6" name="Text"/>
          <p:cNvSpPr txBox="1"/>
          <p:nvPr/>
        </p:nvSpPr>
        <p:spPr>
          <a:xfrm>
            <a:off x="2516928" y="1700000"/>
            <a:ext cx="8907839" cy="300000"/>
          </a:xfrm>
          <a:prstGeom prst="rect">
            <a:avLst/>
          </a:prstGeom>
          <a:noFill/>
          <a:ln/>
        </p:spPr>
        <p:txBody>
          <a:bodyPr wrap="square" lIns="0" tIns="0" rIns="0" bIns="0" rtlCol="0" anchor="ctr"/>
          <a:lstStyle/>
          <a:p>
            <a:pPr indent="0" marL="0">
              <a:buNone/>
            </a:pPr>
            <a:r>
              <a:rPr lang="en-US" sz="1100" dirty="0">
                <a:solidFill>
                  <a:srgbClr val="16262E"/>
                </a:solidFill>
                <a:latin typeface="Calibri" pitchFamily="34" charset="0"/>
                <a:ea typeface="Calibri" pitchFamily="34" charset="-122"/>
                <a:cs typeface="Calibri" pitchFamily="34" charset="-120"/>
              </a:rPr>
              <a:t>Se corre sobre Expedientes_LAB2.docx, adjunto completo. La salida de la derecha es hipotética y usa una Entidad J que no existe, para que ningún equipo vea su caso proyectado.</a:t>
            </a:r>
            <a:endParaRPr lang="en-US" sz="1100" dirty="0"/>
          </a:p>
        </p:txBody>
      </p:sp>
      <p:sp>
        <p:nvSpPr>
          <p:cNvPr id="7" name="Shape"/>
          <p:cNvSpPr/>
          <p:nvPr/>
        </p:nvSpPr>
        <p:spPr>
          <a:xfrm>
            <a:off x="566928" y="2080000"/>
            <a:ext cx="11057839" cy="2270000"/>
          </a:xfrm>
          <a:prstGeom prst="roundRect">
            <a:avLst>
              <a:gd name="adj" fmla="val 2933"/>
            </a:avLst>
          </a:prstGeom>
          <a:solidFill>
            <a:srgbClr val="16262E"/>
          </a:solidFill>
          <a:ln w="12700">
            <a:solidFill>
              <a:srgbClr val="16262E"/>
            </a:solidFill>
            <a:prstDash val="solid"/>
          </a:ln>
        </p:spPr>
      </p:sp>
      <p:sp>
        <p:nvSpPr>
          <p:cNvPr id="8" name="Text"/>
          <p:cNvSpPr txBox="1"/>
          <p:nvPr/>
        </p:nvSpPr>
        <p:spPr>
          <a:xfrm>
            <a:off x="804672" y="2190000"/>
            <a:ext cx="10582351" cy="240000"/>
          </a:xfrm>
          <a:prstGeom prst="rect">
            <a:avLst/>
          </a:prstGeom>
          <a:noFill/>
          <a:ln/>
        </p:spPr>
        <p:txBody>
          <a:bodyPr wrap="square" lIns="0" tIns="0" rIns="0" bIns="0" rtlCol="0" anchor="t"/>
          <a:lstStyle/>
          <a:p>
            <a:pPr indent="0" marL="0">
              <a:buNone/>
            </a:pPr>
            <a:r>
              <a:rPr lang="en-US" sz="950" b="1" spc="120" kern="0" dirty="0">
                <a:solidFill>
                  <a:srgbClr val="8FC7C7"/>
                </a:solidFill>
                <a:latin typeface="Arial" pitchFamily="34" charset="0"/>
                <a:ea typeface="Arial" pitchFamily="34" charset="-122"/>
                <a:cs typeface="Arial" pitchFamily="34" charset="-120"/>
              </a:rPr>
              <a:t>EL PROMPT, CON LAS SEIS CASILLAS</a:t>
            </a:r>
            <a:endParaRPr lang="en-US" sz="950" dirty="0"/>
          </a:p>
        </p:txBody>
      </p:sp>
      <p:sp>
        <p:nvSpPr>
          <p:cNvPr id="9" name="Text"/>
          <p:cNvSpPr txBox="1"/>
          <p:nvPr/>
        </p:nvSpPr>
        <p:spPr>
          <a:xfrm>
            <a:off x="766928" y="247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1. Rol</a:t>
            </a:r>
            <a:endParaRPr lang="en-US" sz="950" dirty="0"/>
          </a:p>
        </p:txBody>
      </p:sp>
      <p:sp>
        <p:nvSpPr>
          <p:cNvPr id="10" name="Text"/>
          <p:cNvSpPr txBox="1"/>
          <p:nvPr/>
        </p:nvSpPr>
        <p:spPr>
          <a:xfrm>
            <a:off x="2146928" y="247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Responde como analista de evaluación de política de desarrollo social que está reuniendo la evidencia documental de un informe estatal.</a:t>
            </a:r>
            <a:endParaRPr lang="en-US" sz="1000" dirty="0"/>
          </a:p>
        </p:txBody>
      </p:sp>
      <p:sp>
        <p:nvSpPr>
          <p:cNvPr id="11" name="Text"/>
          <p:cNvSpPr txBox="1"/>
          <p:nvPr/>
        </p:nvSpPr>
        <p:spPr>
          <a:xfrm>
            <a:off x="766928" y="309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2. Objetivo</a:t>
            </a:r>
            <a:endParaRPr lang="en-US" sz="950" dirty="0"/>
          </a:p>
        </p:txBody>
      </p:sp>
      <p:sp>
        <p:nvSpPr>
          <p:cNvPr id="12" name="Text"/>
          <p:cNvSpPr txBox="1"/>
          <p:nvPr/>
        </p:nvSpPr>
        <p:spPr>
          <a:xfrm>
            <a:off x="2146928" y="309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Localiza las citas textuales que sirven para responder esta pregunta de evaluación: [COPIE AQUÍ LA PREGUNTA DE SU EXPEDIENTE].</a:t>
            </a:r>
            <a:endParaRPr lang="en-US" sz="1000" dirty="0"/>
          </a:p>
        </p:txBody>
      </p:sp>
      <p:sp>
        <p:nvSpPr>
          <p:cNvPr id="13" name="Text"/>
          <p:cNvSpPr txBox="1"/>
          <p:nvPr/>
        </p:nvSpPr>
        <p:spPr>
          <a:xfrm>
            <a:off x="766928" y="371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3. Contexto</a:t>
            </a:r>
            <a:endParaRPr lang="en-US" sz="950" dirty="0"/>
          </a:p>
        </p:txBody>
      </p:sp>
      <p:sp>
        <p:nvSpPr>
          <p:cNvPr id="14" name="Text"/>
          <p:cNvSpPr txBox="1"/>
          <p:nvPr/>
        </p:nvSpPr>
        <p:spPr>
          <a:xfrm>
            <a:off x="2146928" y="371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Con esas citas mi equipo va a llenar una matriz de evidencia sobre la Entidad [LETRA]. Otro equipo la va a revisar contra los mismos documentos en cuanto cerremos este paso.</a:t>
            </a:r>
            <a:endParaRPr lang="en-US" sz="1000" dirty="0"/>
          </a:p>
        </p:txBody>
      </p:sp>
      <p:sp>
        <p:nvSpPr>
          <p:cNvPr id="15" name="Text"/>
          <p:cNvSpPr txBox="1"/>
          <p:nvPr/>
        </p:nvSpPr>
        <p:spPr>
          <a:xfrm>
            <a:off x="6195847" y="247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4. Insumos</a:t>
            </a:r>
            <a:endParaRPr lang="en-US" sz="950" dirty="0"/>
          </a:p>
        </p:txBody>
      </p:sp>
      <p:sp>
        <p:nvSpPr>
          <p:cNvPr id="16" name="Text"/>
          <p:cNvSpPr txBox="1"/>
          <p:nvPr/>
        </p:nvSpPr>
        <p:spPr>
          <a:xfrm>
            <a:off x="7575847" y="247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Te adjunto Expedientes_LAB2.docx. Usa nada más dos partes: el marco normativo común y el expediente de mi entidad; ignora los otros cinco, no salgas a internet y no uses tu conocimiento general.</a:t>
            </a:r>
            <a:endParaRPr lang="en-US" sz="1000" dirty="0"/>
          </a:p>
        </p:txBody>
      </p:sp>
      <p:sp>
        <p:nvSpPr>
          <p:cNvPr id="17" name="Text"/>
          <p:cNvSpPr txBox="1"/>
          <p:nvPr/>
        </p:nvSpPr>
        <p:spPr>
          <a:xfrm>
            <a:off x="6195847" y="309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5. Restricciones</a:t>
            </a:r>
            <a:endParaRPr lang="en-US" sz="950" dirty="0"/>
          </a:p>
        </p:txBody>
      </p:sp>
      <p:sp>
        <p:nvSpPr>
          <p:cNvPr id="18" name="Text"/>
          <p:cNvSpPr txBox="1"/>
          <p:nvPr/>
        </p:nvSpPr>
        <p:spPr>
          <a:xfrm>
            <a:off x="7575847" y="309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Copia cada cita palabra por palabra y completa. No cambies ni agregues cifras, fechas ni nombres. Si no llegas a seis afirmaciones con cita, entrega menos y dime qué buscaste y no encontraste. No quiero conclusiones ni recomendaciones.</a:t>
            </a:r>
            <a:endParaRPr lang="en-US" sz="1000" dirty="0"/>
          </a:p>
        </p:txBody>
      </p:sp>
      <p:sp>
        <p:nvSpPr>
          <p:cNvPr id="19" name="Text"/>
          <p:cNvSpPr txBox="1"/>
          <p:nvPr/>
        </p:nvSpPr>
        <p:spPr>
          <a:xfrm>
            <a:off x="6195847" y="371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6. Formato de salida</a:t>
            </a:r>
            <a:endParaRPr lang="en-US" sz="950" dirty="0"/>
          </a:p>
        </p:txBody>
      </p:sp>
      <p:sp>
        <p:nvSpPr>
          <p:cNvPr id="20" name="Text"/>
          <p:cNvSpPr txBox="1"/>
          <p:nvPr/>
        </p:nvSpPr>
        <p:spPr>
          <a:xfrm>
            <a:off x="7575847" y="371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Una tabla de máximo seis renglones y cuatro columnas: la afirmación en una oración, la cita textual entre comillas, el documento, y el artículo, tabla o apartado. No agregues más columnas.</a:t>
            </a:r>
            <a:endParaRPr lang="en-US" sz="1000" dirty="0"/>
          </a:p>
        </p:txBody>
      </p:sp>
      <p:sp>
        <p:nvSpPr>
          <p:cNvPr id="21" name="Shape"/>
          <p:cNvSpPr/>
          <p:nvPr/>
        </p:nvSpPr>
        <p:spPr>
          <a:xfrm>
            <a:off x="566928" y="4450000"/>
            <a:ext cx="11057839" cy="1216000"/>
          </a:xfrm>
          <a:prstGeom prst="roundRect">
            <a:avLst>
              <a:gd name="adj" fmla="val 2933"/>
            </a:avLst>
          </a:prstGeom>
          <a:solidFill>
            <a:srgbClr val="F7E4D8"/>
          </a:solidFill>
          <a:ln w="12700">
            <a:solidFill>
              <a:srgbClr val="F7E4D8"/>
            </a:solidFill>
            <a:prstDash val="solid"/>
          </a:ln>
        </p:spPr>
      </p:sp>
      <p:sp>
        <p:nvSpPr>
          <p:cNvPr id="22" name="Text"/>
          <p:cNvSpPr txBox="1"/>
          <p:nvPr/>
        </p:nvSpPr>
        <p:spPr>
          <a:xfrm>
            <a:off x="804672" y="4560000"/>
            <a:ext cx="10582351" cy="230000"/>
          </a:xfrm>
          <a:prstGeom prst="rect">
            <a:avLst/>
          </a:prstGeom>
          <a:noFill/>
          <a:ln/>
        </p:spPr>
        <p:txBody>
          <a:bodyPr wrap="square" lIns="0" tIns="0" rIns="0" bIns="0" rtlCol="0" anchor="t"/>
          <a:lstStyle/>
          <a:p>
            <a:pPr indent="0" marL="0">
              <a:buNone/>
            </a:pPr>
            <a:r>
              <a:rPr lang="en-US" sz="950" b="1" spc="120" kern="0" dirty="0">
                <a:solidFill>
                  <a:srgbClr val="C85A28"/>
                </a:solidFill>
                <a:latin typeface="Arial" pitchFamily="34" charset="0"/>
                <a:ea typeface="Arial" pitchFamily="34" charset="-122"/>
                <a:cs typeface="Arial" pitchFamily="34" charset="-120"/>
              </a:rPr>
              <a:t>LO QUE REGRESÓ</a:t>
            </a:r>
            <a:endParaRPr lang="en-US" sz="950" dirty="0"/>
          </a:p>
        </p:txBody>
      </p:sp>
      <p:sp>
        <p:nvSpPr>
          <p:cNvPr id="23" name="Text"/>
          <p:cNvSpPr txBox="1"/>
          <p:nvPr/>
        </p:nvSpPr>
        <p:spPr>
          <a:xfrm>
            <a:off x="804672" y="4820000"/>
            <a:ext cx="10582351" cy="780000"/>
          </a:xfrm>
          <a:prstGeom prst="rect">
            <a:avLst/>
          </a:prstGeom>
          <a:noFill/>
          <a:ln/>
        </p:spPr>
        <p:txBody>
          <a:bodyPr wrap="square" lIns="0" tIns="0" rIns="0" bIns="0" rtlCol="0" anchor="t"/>
          <a:lstStyle/>
          <a:p>
            <a:pPr indent="0" marL="0">
              <a:lnSpc>
                <a:spcPct val="104000"/>
              </a:lnSpc>
              <a:spcAft>
                <a:spcPts val="300"/>
              </a:spcAft>
              <a:buNone/>
            </a:pPr>
            <a:r>
              <a:rPr lang="en-US" sz="1100" dirty="0">
                <a:solidFill>
                  <a:srgbClr val="16262E"/>
                </a:solidFill>
                <a:latin typeface="Calibri" pitchFamily="34" charset="0"/>
                <a:ea typeface="Calibri" pitchFamily="34" charset="-122"/>
                <a:cs typeface="Calibri" pitchFamily="34" charset="-120"/>
              </a:rPr>
              <a:t>«Te entrego cinco renglones con cita; para el sexto no encontré nada.»</a:t>
            </a:r>
            <a:endParaRPr lang="en-US" sz="1100" dirty="0"/>
          </a:p>
          <a:p>
            <a:pPr indent="0" marL="0">
              <a:lnSpc>
                <a:spcPct val="104000"/>
              </a:lnSpc>
              <a:spcAft>
                <a:spcPts val="300"/>
              </a:spcAft>
              <a:buNone/>
            </a:pPr>
            <a:r>
              <a:rPr lang="en-US" sz="1100" dirty="0">
                <a:solidFill>
                  <a:srgbClr val="16262E"/>
                </a:solidFill>
                <a:latin typeface="Calibri" pitchFamily="34" charset="0"/>
                <a:ea typeface="Calibri" pitchFamily="34" charset="-122"/>
                <a:cs typeface="Calibri" pitchFamily="34" charset="-120"/>
              </a:rPr>
              <a:t>Renglón 3. «La reducción del monto desalienta que las personas declaren su apoyo estatal.» Cita: «En el módulo nos preguntan seguido si conviene declarar el apoyo del estado.»</a:t>
            </a:r>
            <a:endParaRPr lang="en-US" sz="1100" dirty="0"/>
          </a:p>
          <a:p>
            <a:pPr indent="0" marL="0">
              <a:lnSpc>
                <a:spcPct val="104000"/>
              </a:lnSpc>
              <a:spcAft>
                <a:spcPts val="300"/>
              </a:spcAft>
              <a:buNone/>
            </a:pPr>
            <a:r>
              <a:rPr lang="en-US" sz="1100" dirty="0">
                <a:solidFill>
                  <a:srgbClr val="16262E"/>
                </a:solidFill>
                <a:latin typeface="Calibri" pitchFamily="34" charset="0"/>
                <a:ea typeface="Calibri" pitchFamily="34" charset="-122"/>
                <a:cs typeface="Calibri" pitchFamily="34" charset="-120"/>
              </a:rPr>
              <a:t>«Lo que busqué y no encontré: ninguna cifra de cuántas personas reciben apoyo estatal sin declararlo.»</a:t>
            </a:r>
            <a:endParaRPr lang="en-US" sz="1100" dirty="0"/>
          </a:p>
        </p:txBody>
      </p:sp>
      <p:sp>
        <p:nvSpPr>
          <p:cNvPr id="24" name="Shape"/>
          <p:cNvSpPr/>
          <p:nvPr/>
        </p:nvSpPr>
        <p:spPr>
          <a:xfrm>
            <a:off x="566928" y="5766000"/>
            <a:ext cx="11057839" cy="460000"/>
          </a:xfrm>
          <a:prstGeom prst="roundRect">
            <a:avLst>
              <a:gd name="adj" fmla="val 8235"/>
            </a:avLst>
          </a:prstGeom>
          <a:solidFill>
            <a:srgbClr val="F7E4D8"/>
          </a:solidFill>
          <a:ln w="12700">
            <a:solidFill>
              <a:srgbClr val="F7E4D8"/>
            </a:solidFill>
            <a:prstDash val="solid"/>
          </a:ln>
        </p:spPr>
      </p:sp>
      <p:sp>
        <p:nvSpPr>
          <p:cNvPr id="25" name="Text"/>
          <p:cNvSpPr txBox="1"/>
          <p:nvPr/>
        </p:nvSpPr>
        <p:spPr>
          <a:xfrm>
            <a:off x="804672" y="5766000"/>
            <a:ext cx="10582351" cy="46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Lo que devuelve no es la matriz: son candidatos con su cita, y de las once columnas de su hoja el modelo llena cuatro. Aun así coló el renglón 3, donde la cita es textual y no dice lo que la afirmación asegura.</a:t>
            </a:r>
            <a:endParaRPr lang="en-US" sz="1300" dirty="0"/>
          </a:p>
        </p:txBody>
      </p:sp>
      <p:sp>
        <p:nvSpPr>
          <p:cNvPr id="26" name="Text"/>
          <p:cNvSpPr txBox="1"/>
          <p:nvPr/>
        </p:nvSpPr>
        <p:spPr>
          <a:xfrm>
            <a:off x="566928" y="627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Dato verde: el programa y los expedientes son ficticios. Con expedientes reales esto es información amarilla y solo se escribe en Copilot Chat con la cuenta del Instituto.</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P_salidas">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El párrafo se lee mejor y dice cuatro cosas de más</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Esta es la salida de la versión B, con lo que se coló señalado.</a:t>
            </a:r>
            <a:endParaRPr lang="en-US" sz="1500" dirty="0"/>
          </a:p>
        </p:txBody>
      </p:sp>
      <p:sp>
        <p:nvSpPr>
          <p:cNvPr id="4" name="Shape"/>
          <p:cNvSpPr/>
          <p:nvPr/>
        </p:nvSpPr>
        <p:spPr>
          <a:xfrm>
            <a:off x="566928" y="1700000"/>
            <a:ext cx="11057839" cy="300000"/>
          </a:xfrm>
          <a:prstGeom prst="roundRect">
            <a:avLst>
              <a:gd name="adj" fmla="val 20000"/>
            </a:avLst>
          </a:prstGeom>
          <a:solidFill>
            <a:srgbClr val="D7E7E7"/>
          </a:solidFill>
          <a:ln w="12700">
            <a:solidFill>
              <a:srgbClr val="D7E7E7"/>
            </a:solidFill>
            <a:prstDash val="solid"/>
          </a:ln>
        </p:spPr>
      </p:sp>
      <p:sp>
        <p:nvSpPr>
          <p:cNvPr id="5" name="Text"/>
          <p:cNvSpPr txBox="1"/>
          <p:nvPr/>
        </p:nvSpPr>
        <p:spPr>
          <a:xfrm>
            <a:off x="766928" y="1700000"/>
            <a:ext cx="1700000" cy="300000"/>
          </a:xfrm>
          <a:prstGeom prst="rect">
            <a:avLst/>
          </a:prstGeom>
          <a:noFill/>
          <a:ln/>
        </p:spPr>
        <p:txBody>
          <a:bodyPr wrap="square" lIns="0" tIns="0" rIns="0" bIns="0" rtlCol="0" anchor="ctr"/>
          <a:lstStyle/>
          <a:p>
            <a:pPr indent="0" marL="0">
              <a:buNone/>
            </a:pPr>
            <a:r>
              <a:rPr lang="en-US" sz="950" b="1" spc="100" kern="0" dirty="0">
                <a:solidFill>
                  <a:srgbClr val="2E7D7D"/>
                </a:solidFill>
                <a:latin typeface="Arial" pitchFamily="34" charset="0"/>
                <a:ea typeface="Arial" pitchFamily="34" charset="-122"/>
                <a:cs typeface="Arial" pitchFamily="34" charset="-120"/>
              </a:rPr>
              <a:t>DE DÓNDE SALE</a:t>
            </a:r>
            <a:endParaRPr lang="en-US" sz="950" dirty="0"/>
          </a:p>
        </p:txBody>
      </p:sp>
      <p:sp>
        <p:nvSpPr>
          <p:cNvPr id="6" name="Text"/>
          <p:cNvSpPr txBox="1"/>
          <p:nvPr/>
        </p:nvSpPr>
        <p:spPr>
          <a:xfrm>
            <a:off x="2516928" y="1700000"/>
            <a:ext cx="8907839" cy="300000"/>
          </a:xfrm>
          <a:prstGeom prst="rect">
            <a:avLst/>
          </a:prstGeom>
          <a:noFill/>
          <a:ln/>
        </p:spPr>
        <p:txBody>
          <a:bodyPr wrap="square" lIns="0" tIns="0" rIns="0" bIns="0" rtlCol="0" anchor="ctr"/>
          <a:lstStyle/>
          <a:p>
            <a:pPr indent="0" marL="0">
              <a:buNone/>
            </a:pPr>
            <a:r>
              <a:rPr lang="en-US" sz="1100" dirty="0">
                <a:solidFill>
                  <a:srgbClr val="16262E"/>
                </a:solidFill>
                <a:latin typeface="Calibri" pitchFamily="34" charset="0"/>
                <a:ea typeface="Calibri" pitchFamily="34" charset="-122"/>
                <a:cs typeface="Calibri" pitchFamily="34" charset="-120"/>
              </a:rPr>
              <a:t>Artículo 21 de las Reglas de Operación 2025. El párrafo es hipotético; las fracciones del artículo son textuales.</a:t>
            </a:r>
            <a:endParaRPr lang="en-US" sz="1100" dirty="0"/>
          </a:p>
        </p:txBody>
      </p:sp>
      <p:sp>
        <p:nvSpPr>
          <p:cNvPr id="7" name="Shape"/>
          <p:cNvSpPr/>
          <p:nvPr/>
        </p:nvSpPr>
        <p:spPr>
          <a:xfrm>
            <a:off x="566928" y="2080000"/>
            <a:ext cx="11057839" cy="900000"/>
          </a:xfrm>
          <a:prstGeom prst="roundRect">
            <a:avLst>
              <a:gd name="adj" fmla="val 2933"/>
            </a:avLst>
          </a:prstGeom>
          <a:solidFill>
            <a:srgbClr val="F2F5F6"/>
          </a:solidFill>
          <a:ln w="12700">
            <a:solidFill>
              <a:srgbClr val="F2F5F6"/>
            </a:solidFill>
            <a:prstDash val="solid"/>
          </a:ln>
        </p:spPr>
      </p:sp>
      <p:sp>
        <p:nvSpPr>
          <p:cNvPr id="8" name="Text"/>
          <p:cNvSpPr txBox="1"/>
          <p:nvPr/>
        </p:nvSpPr>
        <p:spPr>
          <a:xfrm>
            <a:off x="866928" y="2080000"/>
            <a:ext cx="10457839" cy="900000"/>
          </a:xfrm>
          <a:prstGeom prst="rect">
            <a:avLst/>
          </a:prstGeom>
          <a:noFill/>
          <a:ln/>
        </p:spPr>
        <p:txBody>
          <a:bodyPr wrap="square" lIns="0" tIns="0" rIns="0" bIns="0" rtlCol="0" anchor="ctr"/>
          <a:lstStyle/>
          <a:p>
            <a:pPr indent="0" marL="0">
              <a:lnSpc>
                <a:spcPct val="108000"/>
              </a:lnSpc>
              <a:buNone/>
            </a:pPr>
            <a:r>
              <a:rPr lang="en-US" sz="1250" i="1" dirty="0">
                <a:solidFill>
                  <a:srgbClr val="16262E"/>
                </a:solidFill>
                <a:latin typeface="Calibri" pitchFamily="34" charset="0"/>
                <a:ea typeface="Calibri" pitchFamily="34" charset="-122"/>
                <a:cs typeface="Calibri" pitchFamily="34" charset="-120"/>
              </a:rPr>
              <a:t>«El artículo 21 establece las condiciones mínimas que debe cumplir un centro comunitario de cuidado: una persona responsable por cada seis a ocho personas atendidas, jornadas de ocho horas, personal certificado, registro de asistencia y protocolo de emergencias. En conjunto, estas condiciones garantizan un estándar homogéneo de calidad en el cuidado y permiten supervisar el desempeño de los centros.»</a:t>
            </a:r>
            <a:endParaRPr lang="en-US" sz="1250" dirty="0"/>
          </a:p>
        </p:txBody>
      </p:sp>
      <p:sp>
        <p:nvSpPr>
          <p:cNvPr id="9" name="Shape"/>
          <p:cNvSpPr/>
          <p:nvPr/>
        </p:nvSpPr>
        <p:spPr>
          <a:xfrm>
            <a:off x="566928" y="3120000"/>
            <a:ext cx="2584459" cy="2260000"/>
          </a:xfrm>
          <a:prstGeom prst="roundRect">
            <a:avLst>
              <a:gd name="adj" fmla="val 2933"/>
            </a:avLst>
          </a:prstGeom>
          <a:solidFill>
            <a:srgbClr val="F7E4D8"/>
          </a:solidFill>
          <a:ln w="12700">
            <a:solidFill>
              <a:srgbClr val="F7E4D8"/>
            </a:solidFill>
            <a:prstDash val="solid"/>
          </a:ln>
        </p:spPr>
      </p:sp>
      <p:sp>
        <p:nvSpPr>
          <p:cNvPr id="10" name="Text"/>
          <p:cNvSpPr txBox="1"/>
          <p:nvPr/>
        </p:nvSpPr>
        <p:spPr>
          <a:xfrm>
            <a:off x="766928" y="3260000"/>
            <a:ext cx="2184459" cy="560000"/>
          </a:xfrm>
          <a:prstGeom prst="rect">
            <a:avLst/>
          </a:prstGeom>
          <a:noFill/>
          <a:ln/>
        </p:spPr>
        <p:txBody>
          <a:bodyPr wrap="square" lIns="0" tIns="0" rIns="0" bIns="0" rtlCol="0" anchor="t"/>
          <a:lstStyle/>
          <a:p>
            <a:pPr indent="0" marL="0">
              <a:lnSpc>
                <a:spcPct val="102000"/>
              </a:lnSpc>
              <a:buNone/>
            </a:pPr>
            <a:r>
              <a:rPr lang="en-US" sz="1200" b="1" dirty="0">
                <a:solidFill>
                  <a:srgbClr val="C85A28"/>
                </a:solidFill>
                <a:latin typeface="Arial" pitchFamily="34" charset="0"/>
                <a:ea typeface="Arial" pitchFamily="34" charset="-122"/>
                <a:cs typeface="Arial" pitchFamily="34" charset="-120"/>
              </a:rPr>
              <a:t>«por cada seis a ocho personas atendidas»</a:t>
            </a:r>
            <a:endParaRPr lang="en-US" sz="1200" dirty="0"/>
          </a:p>
        </p:txBody>
      </p:sp>
      <p:sp>
        <p:nvSpPr>
          <p:cNvPr id="11" name="Text"/>
          <p:cNvSpPr txBox="1"/>
          <p:nvPr/>
        </p:nvSpPr>
        <p:spPr>
          <a:xfrm>
            <a:off x="766928" y="3900000"/>
            <a:ext cx="2184459" cy="1380000"/>
          </a:xfrm>
          <a:prstGeom prst="rect">
            <a:avLst/>
          </a:prstGeom>
          <a:noFill/>
          <a:ln/>
        </p:spPr>
        <p:txBody>
          <a:bodyPr wrap="square" lIns="0" tIns="0" rIns="0" bIns="0" rtlCol="0" anchor="t"/>
          <a:lstStyle/>
          <a:p>
            <a:pPr indent="0" marL="0">
              <a:lnSpc>
                <a:spcPct val="105000"/>
              </a:lnSpc>
              <a:buNone/>
            </a:pPr>
            <a:r>
              <a:rPr lang="en-US" sz="1100" dirty="0">
                <a:solidFill>
                  <a:srgbClr val="16262E"/>
                </a:solidFill>
                <a:latin typeface="Calibri" pitchFamily="34" charset="0"/>
                <a:ea typeface="Calibri" pitchFamily="34" charset="-122"/>
                <a:cs typeface="Calibri" pitchFamily="34" charset="-120"/>
              </a:rPr>
              <a:t>La fracción I no da un rango: da dos razones para dos poblaciones distintas, una por cada ocho menores de seis años y una por cada seis personas adultas mayores o con discapacidad.</a:t>
            </a:r>
            <a:endParaRPr lang="en-US" sz="1100" dirty="0"/>
          </a:p>
        </p:txBody>
      </p:sp>
      <p:sp>
        <p:nvSpPr>
          <p:cNvPr id="12" name="Shape"/>
          <p:cNvSpPr/>
          <p:nvPr/>
        </p:nvSpPr>
        <p:spPr>
          <a:xfrm>
            <a:off x="3391387" y="3120000"/>
            <a:ext cx="2584459" cy="2260000"/>
          </a:xfrm>
          <a:prstGeom prst="roundRect">
            <a:avLst>
              <a:gd name="adj" fmla="val 2933"/>
            </a:avLst>
          </a:prstGeom>
          <a:solidFill>
            <a:srgbClr val="F7E4D8"/>
          </a:solidFill>
          <a:ln w="12700">
            <a:solidFill>
              <a:srgbClr val="F7E4D8"/>
            </a:solidFill>
            <a:prstDash val="solid"/>
          </a:ln>
        </p:spPr>
      </p:sp>
      <p:sp>
        <p:nvSpPr>
          <p:cNvPr id="13" name="Text"/>
          <p:cNvSpPr txBox="1"/>
          <p:nvPr/>
        </p:nvSpPr>
        <p:spPr>
          <a:xfrm>
            <a:off x="3591387" y="3260000"/>
            <a:ext cx="2184459" cy="560000"/>
          </a:xfrm>
          <a:prstGeom prst="rect">
            <a:avLst/>
          </a:prstGeom>
          <a:noFill/>
          <a:ln/>
        </p:spPr>
        <p:txBody>
          <a:bodyPr wrap="square" lIns="0" tIns="0" rIns="0" bIns="0" rtlCol="0" anchor="t"/>
          <a:lstStyle/>
          <a:p>
            <a:pPr indent="0" marL="0">
              <a:lnSpc>
                <a:spcPct val="102000"/>
              </a:lnSpc>
              <a:buNone/>
            </a:pPr>
            <a:r>
              <a:rPr lang="en-US" sz="1200" b="1" dirty="0">
                <a:solidFill>
                  <a:srgbClr val="C85A28"/>
                </a:solidFill>
                <a:latin typeface="Arial" pitchFamily="34" charset="0"/>
                <a:ea typeface="Arial" pitchFamily="34" charset="-122"/>
                <a:cs typeface="Arial" pitchFamily="34" charset="-120"/>
              </a:rPr>
              <a:t>«jornadas de ocho horas»</a:t>
            </a:r>
            <a:endParaRPr lang="en-US" sz="1200" dirty="0"/>
          </a:p>
        </p:txBody>
      </p:sp>
      <p:sp>
        <p:nvSpPr>
          <p:cNvPr id="14" name="Text"/>
          <p:cNvSpPr txBox="1"/>
          <p:nvPr/>
        </p:nvSpPr>
        <p:spPr>
          <a:xfrm>
            <a:off x="3591387" y="3900000"/>
            <a:ext cx="2184459" cy="1380000"/>
          </a:xfrm>
          <a:prstGeom prst="rect">
            <a:avLst/>
          </a:prstGeom>
          <a:noFill/>
          <a:ln/>
        </p:spPr>
        <p:txBody>
          <a:bodyPr wrap="square" lIns="0" tIns="0" rIns="0" bIns="0" rtlCol="0" anchor="t"/>
          <a:lstStyle/>
          <a:p>
            <a:pPr indent="0" marL="0">
              <a:lnSpc>
                <a:spcPct val="105000"/>
              </a:lnSpc>
              <a:buNone/>
            </a:pPr>
            <a:r>
              <a:rPr lang="en-US" sz="1100" dirty="0">
                <a:solidFill>
                  <a:srgbClr val="16262E"/>
                </a:solidFill>
                <a:latin typeface="Calibri" pitchFamily="34" charset="0"/>
                <a:ea typeface="Calibri" pitchFamily="34" charset="-122"/>
                <a:cs typeface="Calibri" pitchFamily="34" charset="-120"/>
              </a:rPr>
              <a:t>Se cayeron dos precisiones de la fracción II: continuas y en días hábiles. Un centro que abre cuatro horas en la mañana y cuatro en la tarde cumple con el resumen y no con la norma.</a:t>
            </a:r>
            <a:endParaRPr lang="en-US" sz="1100" dirty="0"/>
          </a:p>
        </p:txBody>
      </p:sp>
      <p:sp>
        <p:nvSpPr>
          <p:cNvPr id="15" name="Shape"/>
          <p:cNvSpPr/>
          <p:nvPr/>
        </p:nvSpPr>
        <p:spPr>
          <a:xfrm>
            <a:off x="6215846" y="3120000"/>
            <a:ext cx="2584459" cy="2260000"/>
          </a:xfrm>
          <a:prstGeom prst="roundRect">
            <a:avLst>
              <a:gd name="adj" fmla="val 2933"/>
            </a:avLst>
          </a:prstGeom>
          <a:solidFill>
            <a:srgbClr val="F7E4D8"/>
          </a:solidFill>
          <a:ln w="12700">
            <a:solidFill>
              <a:srgbClr val="F7E4D8"/>
            </a:solidFill>
            <a:prstDash val="solid"/>
          </a:ln>
        </p:spPr>
      </p:sp>
      <p:sp>
        <p:nvSpPr>
          <p:cNvPr id="16" name="Text"/>
          <p:cNvSpPr txBox="1"/>
          <p:nvPr/>
        </p:nvSpPr>
        <p:spPr>
          <a:xfrm>
            <a:off x="6415846" y="3260000"/>
            <a:ext cx="2184459" cy="560000"/>
          </a:xfrm>
          <a:prstGeom prst="rect">
            <a:avLst/>
          </a:prstGeom>
          <a:noFill/>
          <a:ln/>
        </p:spPr>
        <p:txBody>
          <a:bodyPr wrap="square" lIns="0" tIns="0" rIns="0" bIns="0" rtlCol="0" anchor="t"/>
          <a:lstStyle/>
          <a:p>
            <a:pPr indent="0" marL="0">
              <a:lnSpc>
                <a:spcPct val="102000"/>
              </a:lnSpc>
              <a:buNone/>
            </a:pPr>
            <a:r>
              <a:rPr lang="en-US" sz="1200" b="1" dirty="0">
                <a:solidFill>
                  <a:srgbClr val="C85A28"/>
                </a:solidFill>
                <a:latin typeface="Arial" pitchFamily="34" charset="0"/>
                <a:ea typeface="Arial" pitchFamily="34" charset="-122"/>
                <a:cs typeface="Arial" pitchFamily="34" charset="-120"/>
              </a:rPr>
              <a:t>«personal certificado»</a:t>
            </a:r>
            <a:endParaRPr lang="en-US" sz="1200" dirty="0"/>
          </a:p>
        </p:txBody>
      </p:sp>
      <p:sp>
        <p:nvSpPr>
          <p:cNvPr id="17" name="Text"/>
          <p:cNvSpPr txBox="1"/>
          <p:nvPr/>
        </p:nvSpPr>
        <p:spPr>
          <a:xfrm>
            <a:off x="6415846" y="3900000"/>
            <a:ext cx="2184459" cy="1380000"/>
          </a:xfrm>
          <a:prstGeom prst="rect">
            <a:avLst/>
          </a:prstGeom>
          <a:noFill/>
          <a:ln/>
        </p:spPr>
        <p:txBody>
          <a:bodyPr wrap="square" lIns="0" tIns="0" rIns="0" bIns="0" rtlCol="0" anchor="t"/>
          <a:lstStyle/>
          <a:p>
            <a:pPr indent="0" marL="0">
              <a:lnSpc>
                <a:spcPct val="105000"/>
              </a:lnSpc>
              <a:buNone/>
            </a:pPr>
            <a:r>
              <a:rPr lang="en-US" sz="1100" dirty="0">
                <a:solidFill>
                  <a:srgbClr val="16262E"/>
                </a:solidFill>
                <a:latin typeface="Calibri" pitchFamily="34" charset="0"/>
                <a:ea typeface="Calibri" pitchFamily="34" charset="-122"/>
                <a:cs typeface="Calibri" pitchFamily="34" charset="-120"/>
              </a:rPr>
              <a:t>La fracción III pide que la totalidad del personal tenga certificación vigente. Sin esas dos palabras, un centro con la mitad del personal certificado pasa sin observación.</a:t>
            </a:r>
            <a:endParaRPr lang="en-US" sz="1100" dirty="0"/>
          </a:p>
        </p:txBody>
      </p:sp>
      <p:sp>
        <p:nvSpPr>
          <p:cNvPr id="18" name="Shape"/>
          <p:cNvSpPr/>
          <p:nvPr/>
        </p:nvSpPr>
        <p:spPr>
          <a:xfrm>
            <a:off x="9040305" y="3120000"/>
            <a:ext cx="2584459" cy="2260000"/>
          </a:xfrm>
          <a:prstGeom prst="roundRect">
            <a:avLst>
              <a:gd name="adj" fmla="val 2933"/>
            </a:avLst>
          </a:prstGeom>
          <a:solidFill>
            <a:srgbClr val="F7E4D8"/>
          </a:solidFill>
          <a:ln w="12700">
            <a:solidFill>
              <a:srgbClr val="F7E4D8"/>
            </a:solidFill>
            <a:prstDash val="solid"/>
          </a:ln>
        </p:spPr>
      </p:sp>
      <p:sp>
        <p:nvSpPr>
          <p:cNvPr id="19" name="Text"/>
          <p:cNvSpPr txBox="1"/>
          <p:nvPr/>
        </p:nvSpPr>
        <p:spPr>
          <a:xfrm>
            <a:off x="9240305" y="3260000"/>
            <a:ext cx="2184459" cy="560000"/>
          </a:xfrm>
          <a:prstGeom prst="rect">
            <a:avLst/>
          </a:prstGeom>
          <a:noFill/>
          <a:ln/>
        </p:spPr>
        <p:txBody>
          <a:bodyPr wrap="square" lIns="0" tIns="0" rIns="0" bIns="0" rtlCol="0" anchor="t"/>
          <a:lstStyle/>
          <a:p>
            <a:pPr indent="0" marL="0">
              <a:lnSpc>
                <a:spcPct val="102000"/>
              </a:lnSpc>
              <a:buNone/>
            </a:pPr>
            <a:r>
              <a:rPr lang="en-US" sz="1200" b="1" dirty="0">
                <a:solidFill>
                  <a:srgbClr val="C85A28"/>
                </a:solidFill>
                <a:latin typeface="Arial" pitchFamily="34" charset="0"/>
                <a:ea typeface="Arial" pitchFamily="34" charset="-122"/>
                <a:cs typeface="Arial" pitchFamily="34" charset="-120"/>
              </a:rPr>
              <a:t>«garantizan calidad» y «permiten supervisar»</a:t>
            </a:r>
            <a:endParaRPr lang="en-US" sz="1200" dirty="0"/>
          </a:p>
        </p:txBody>
      </p:sp>
      <p:sp>
        <p:nvSpPr>
          <p:cNvPr id="20" name="Text"/>
          <p:cNvSpPr txBox="1"/>
          <p:nvPr/>
        </p:nvSpPr>
        <p:spPr>
          <a:xfrm>
            <a:off x="9240305" y="3900000"/>
            <a:ext cx="2184459" cy="1380000"/>
          </a:xfrm>
          <a:prstGeom prst="rect">
            <a:avLst/>
          </a:prstGeom>
          <a:noFill/>
          <a:ln/>
        </p:spPr>
        <p:txBody>
          <a:bodyPr wrap="square" lIns="0" tIns="0" rIns="0" bIns="0" rtlCol="0" anchor="t"/>
          <a:lstStyle/>
          <a:p>
            <a:pPr indent="0" marL="0">
              <a:lnSpc>
                <a:spcPct val="105000"/>
              </a:lnSpc>
              <a:buNone/>
            </a:pPr>
            <a:r>
              <a:rPr lang="en-US" sz="1100" dirty="0">
                <a:solidFill>
                  <a:srgbClr val="16262E"/>
                </a:solidFill>
                <a:latin typeface="Calibri" pitchFamily="34" charset="0"/>
                <a:ea typeface="Calibri" pitchFamily="34" charset="-122"/>
                <a:cs typeface="Calibri" pitchFamily="34" charset="-120"/>
              </a:rPr>
              <a:t>El artículo fija condiciones mínimas y pide un registro de asistencia. De calidad y de supervisión no dice una palabra: los dos verbos los puso el asistente.</a:t>
            </a:r>
            <a:endParaRPr lang="en-US" sz="1100" dirty="0"/>
          </a:p>
        </p:txBody>
      </p:sp>
      <p:sp>
        <p:nvSpPr>
          <p:cNvPr id="21" name="Shape"/>
          <p:cNvSpPr/>
          <p:nvPr/>
        </p:nvSpPr>
        <p:spPr>
          <a:xfrm>
            <a:off x="566928" y="5520000"/>
            <a:ext cx="11057839" cy="640000"/>
          </a:xfrm>
          <a:prstGeom prst="roundRect">
            <a:avLst>
              <a:gd name="adj" fmla="val 8235"/>
            </a:avLst>
          </a:prstGeom>
          <a:solidFill>
            <a:srgbClr val="F7E4D8"/>
          </a:solidFill>
          <a:ln w="12700">
            <a:solidFill>
              <a:srgbClr val="F7E4D8"/>
            </a:solidFill>
            <a:prstDash val="solid"/>
          </a:ln>
        </p:spPr>
      </p:sp>
      <p:sp>
        <p:nvSpPr>
          <p:cNvPr id="22" name="Text"/>
          <p:cNvSpPr txBox="1"/>
          <p:nvPr/>
        </p:nvSpPr>
        <p:spPr>
          <a:xfrm>
            <a:off x="804672" y="5520000"/>
            <a:ext cx="10582351" cy="64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El párrafo cita el artículo 21 desde la primera línea, así que el control no puede ser que traiga cita. Tiene que ser la correspondencia frase por frase contra la fuente, que es exactamente la regla dura del laboratorio de hoy.</a:t>
            </a:r>
            <a:endParaRPr lang="en-US" sz="1300" dirty="0"/>
          </a:p>
        </p:txBody>
      </p:sp>
      <p:sp>
        <p:nvSpPr>
          <p:cNvPr id="23" name="Text"/>
          <p:cNvSpPr txBox="1"/>
          <p:nvPr/>
        </p:nvSpPr>
        <p:spPr>
          <a:xfrm>
            <a:off x="566928" y="628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Dato verde: el programa y los expedientes son ficticios. Con expedientes reales esto es información amarilla y solo se escribe en Copilot Chat con la cuenta del Instituto.</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Curso de Inteligencia Artificial Aplicada</dc:creator>
  <cp:lastModifiedBy>Curso de Inteligencia Artificial Aplicada</cp:lastModifiedBy>
  <cp:revision>1</cp:revision>
  <dcterms:created xsi:type="dcterms:W3CDTF">2026-09-14T00:37:05Z</dcterms:created>
  <dcterms:modified xsi:type="dcterms:W3CDTF">2026-09-14T00:37:05Z</dcterms:modified>
</cp:coreProperties>
</file>