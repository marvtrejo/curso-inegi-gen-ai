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2011680"/>
            <a:ext cx="5852160" cy="58521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II. ANÁLISIS CUALITATIVO ASISTIDO POR IA Y PLN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cualitativo aplicado a casos reales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22 de septiembre de 2026, 9:00 a 11:30 horas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Incluye el Laboratorio Práctico 2 y cierra el bloque.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vamos a usar los 150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 11:30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408176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463040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matriz de evidencia y por qué se construye así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044952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044952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099816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2: patrones, matriz y síntesis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681728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4681728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736592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 de diez minutos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0440" y="1408176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9896" y="1408176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88072" y="1463040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el laboratorio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0440" y="3044952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9896" y="3044952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88072" y="3099816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Coevaluación cruzada entre equipos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0440" y="4681728"/>
            <a:ext cx="5364328" cy="1490472"/>
          </a:xfrm>
          <a:prstGeom prst="roundRect">
            <a:avLst>
              <a:gd name="adj" fmla="val 429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9896" y="4681728"/>
            <a:ext cx="1371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88072" y="4736592"/>
            <a:ext cx="3517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bloque y enlace con el Módulo III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son 85 minutos de laboratorio. Los mismos equipos del jueves pasado.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de evidencia, columna por columna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afirmación. Lo que no cabe en una fila no entra al informe.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7839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escribe ahí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Afirmación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 como va a quedar escrita en el informe. Si la redacta distinto después, ya no está trazada.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 textual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frase exacta del documento que la sostiene. Copiada, no parafraseada.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y sección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documento y el artículo, página o apartado donde está la cita.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usada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Cuál la encontró. Sirve para saber después qué herramienta rinde en qué tarea.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Verificada por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la persona del equipo que fue a la fuente y la comprobó.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confianza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Alta, media o baja. Se declara siempre, incluso cuando es alta.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nivel de confianza se declara siempre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3503066" cy="2176272"/>
          </a:xfrm>
          <a:prstGeom prst="roundRect">
            <a:avLst>
              <a:gd name="adj" fmla="val 3361"/>
            </a:avLst>
          </a:prstGeom>
          <a:solidFill>
            <a:srgbClr val="DCEBE0"/>
          </a:solidFill>
          <a:ln w="12700">
            <a:solidFill>
              <a:srgbClr val="DCEB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84708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3124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más fuentes independientes del expediente sostienen la afirmación, y ambas dicen lo mismo.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4314" y="1609344"/>
            <a:ext cx="3503066" cy="2176272"/>
          </a:xfrm>
          <a:prstGeom prst="roundRect">
            <a:avLst>
              <a:gd name="adj" fmla="val 3361"/>
            </a:avLst>
          </a:prstGeom>
          <a:solidFill>
            <a:srgbClr val="F7EDD6"/>
          </a:solidFill>
          <a:ln w="12700">
            <a:solidFill>
              <a:srgbClr val="F7ED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84708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3124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fuente directa la sostiene. Es suficiente para afirmarla, y quien lea el informe tiene derecho a saber que descansa en un solo documento.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1701" y="1609344"/>
            <a:ext cx="3503066" cy="2176272"/>
          </a:xfrm>
          <a:prstGeom prst="roundRect">
            <a:avLst>
              <a:gd name="adj" fmla="val 3361"/>
            </a:avLst>
          </a:prstGeom>
          <a:solidFill>
            <a:srgbClr val="F2DEDE"/>
          </a:solidFill>
          <a:ln w="12700">
            <a:solidFill>
              <a:srgbClr val="F2DE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9445" y="1847088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59445" y="23124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es indirecta o la afirmación es una inferencia razonable. Entra al informe declarada como hipótesis, nunca como hallazgo.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 terminar su matriz todas las filas dicen confianza alta, algo se hizo mal. Eso lo vamos a revisar juntos.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expediente, su matriz, su síntesis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9:20 a 10:45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equipos, un programa, seis entidades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comparten el mismo marco normativo. Cada equipo recibe una entidad y una pregunta distinta.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29968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96896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A</a:t>
            </a:r>
            <a:endParaRPr lang="en-US" sz="1168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90901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centros comunitarios operan conforme a los estándares de las reglas de operación?</a:t>
            </a:r>
            <a:endParaRPr lang="en-US" sz="912" dirty="0"/>
          </a:p>
        </p:txBody>
      </p:sp>
      <p:sp>
        <p:nvSpPr>
          <p:cNvPr id="9" name="Shape 7"/>
          <p:cNvSpPr/>
          <p:nvPr/>
        </p:nvSpPr>
        <p:spPr>
          <a:xfrm>
            <a:off x="4344314" y="1810512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029968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596896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B</a:t>
            </a:r>
            <a:endParaRPr lang="en-US" sz="1168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2990901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se debe el incremento de cobertura y qué tan sólido es ese resultado?</a:t>
            </a:r>
            <a:endParaRPr lang="en-US" sz="912" dirty="0"/>
          </a:p>
        </p:txBody>
      </p:sp>
      <p:sp>
        <p:nvSpPr>
          <p:cNvPr id="14" name="Shape 12"/>
          <p:cNvSpPr/>
          <p:nvPr/>
        </p:nvSpPr>
        <p:spPr>
          <a:xfrm>
            <a:off x="8121701" y="1810512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9445" y="2029968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9445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9445" y="2596896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C</a:t>
            </a:r>
            <a:endParaRPr lang="en-US" sz="1168" dirty="0"/>
          </a:p>
        </p:txBody>
      </p:sp>
      <p:sp>
        <p:nvSpPr>
          <p:cNvPr id="18" name="Text 16"/>
          <p:cNvSpPr txBox="1"/>
          <p:nvPr/>
        </p:nvSpPr>
        <p:spPr>
          <a:xfrm>
            <a:off x="8359445" y="2990901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mecanismos de dispersión funcionaron conforme a lo previsto?</a:t>
            </a:r>
            <a:endParaRPr lang="en-US" sz="912" dirty="0"/>
          </a:p>
        </p:txBody>
      </p:sp>
      <p:sp>
        <p:nvSpPr>
          <p:cNvPr id="19" name="Shape 17"/>
          <p:cNvSpPr/>
          <p:nvPr/>
        </p:nvSpPr>
        <p:spPr>
          <a:xfrm>
            <a:off x="566928" y="4128516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347972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347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914900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D</a:t>
            </a:r>
            <a:endParaRPr lang="en-US" sz="1168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08905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disminuyó la cobertura y qué implica la respuesta para el diseño de la norma?</a:t>
            </a:r>
            <a:endParaRPr lang="en-US" sz="912" dirty="0"/>
          </a:p>
        </p:txBody>
      </p:sp>
      <p:sp>
        <p:nvSpPr>
          <p:cNvPr id="24" name="Shape 22"/>
          <p:cNvSpPr/>
          <p:nvPr/>
        </p:nvSpPr>
        <p:spPr>
          <a:xfrm>
            <a:off x="4344314" y="4128516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2058" y="4347972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82058" y="4347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82058" y="4914900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E</a:t>
            </a:r>
            <a:endParaRPr lang="en-US" sz="1168" dirty="0"/>
          </a:p>
        </p:txBody>
      </p:sp>
      <p:sp>
        <p:nvSpPr>
          <p:cNvPr id="28" name="Text 26"/>
          <p:cNvSpPr txBox="1"/>
          <p:nvPr/>
        </p:nvSpPr>
        <p:spPr>
          <a:xfrm>
            <a:off x="4582058" y="5308905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criterios de elegibilidad se aplican de manera homogénea en la entidad?</a:t>
            </a:r>
            <a:endParaRPr lang="en-US" sz="912" dirty="0"/>
          </a:p>
        </p:txBody>
      </p:sp>
      <p:sp>
        <p:nvSpPr>
          <p:cNvPr id="29" name="Shape 27"/>
          <p:cNvSpPr/>
          <p:nvPr/>
        </p:nvSpPr>
        <p:spPr>
          <a:xfrm>
            <a:off x="8121701" y="4128516"/>
            <a:ext cx="3503066" cy="2043684"/>
          </a:xfrm>
          <a:prstGeom prst="roundRect">
            <a:avLst>
              <a:gd name="adj" fmla="val 357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9445" y="4347972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59445" y="4347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59445" y="4914900"/>
            <a:ext cx="3027578" cy="2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8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F</a:t>
            </a:r>
            <a:endParaRPr lang="en-US" sz="1168" dirty="0"/>
          </a:p>
        </p:txBody>
      </p:sp>
      <p:sp>
        <p:nvSpPr>
          <p:cNvPr id="33" name="Text 31"/>
          <p:cNvSpPr txBox="1"/>
          <p:nvPr/>
        </p:nvSpPr>
        <p:spPr>
          <a:xfrm>
            <a:off x="8359445" y="5308905"/>
            <a:ext cx="3027578" cy="662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12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diseño del programa es pertinente para el contexto de la entidad?</a:t>
            </a:r>
            <a:endParaRPr lang="en-US" sz="9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encargo tiene tres partes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Identifiquen los patrones que aparecen en su expediente, usando las técnicas del viernes pasado. Tienen tres documentos: informe estatal, registros administrativos y testimonios.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 matriz de evidencia con al menos doce afirmaciones trazadas. El marco normativo común forma parte del expediente y varias de las afirmaciones más sólidas salen de contrastarlo contra lo que reportan los documentos.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Redacten una síntesis cualitativa de máximo dos cuartillas que responda su pregunta de evaluación.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la afirmación que más les costó trazar. La van a comentar en la puesta en común.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Archivos: Expedientes_LAB2.docx y Plantillas_tabulares_curso_IA.xlsx, hoja Matriz de evidencia.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85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DURA DEL LABORATORIO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frase de la síntesis puede afirmar algo que no esté en la matriz.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afirmación le parece evidente pero no la puede trazar a un documento del expediente o al marco normativo, tiene dos opciones: no entra, o entra declarada como hipótesis con confianza baja. Esa restricción es incómoda a propósito, y es lo que hace que el ejercicio se parezca al trabajo real.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COEVALUACIÓN CRUZADA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revisen el trabajo de otro equipo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a 11:10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revisa a quién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pares están armados para que los hallazgos se iluminen entre sí.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 de equipos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 este par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1 y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A y Entidad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dos son casos de personal que no se puede certificar, por razones muy distintas.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2 y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B y Entidad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dos tratan del control documental, uno por defecto y el otro por exceso.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3 y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C y Entidad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dos son fallas de infraestructura de pago con consecuencias muy distintas.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tres afirmaciones al azar de la matriz que les tocó revisar, verifíquenlas contra el expediente y reporten cuántas resistieron.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preguntas para cerrar el bloque completo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3503066" cy="2989072"/>
          </a:xfrm>
          <a:prstGeom prst="roundRect">
            <a:avLst>
              <a:gd name="adj" fmla="val 244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hallazgo era invisible desde el informe nacional?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252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Piensen en el informe que desmontamos el jueves pasado. Ninguno de los seis hallazgos de hoy aparece ahí, y esa es la conclusión de las dos semanas.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4314" y="1609344"/>
            <a:ext cx="3503066" cy="2989072"/>
          </a:xfrm>
          <a:prstGeom prst="roundRect">
            <a:avLst>
              <a:gd name="adj" fmla="val 2447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2058" y="1828800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2395728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afirmaciones bajaron de confianza?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31252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a media o baja, al momento de intentar trazarlas. Si su equipo dice que ninguna, revisemos su matriz juntos.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1701" y="1609344"/>
            <a:ext cx="3503066" cy="2989072"/>
          </a:xfrm>
          <a:prstGeom prst="roundRect">
            <a:avLst>
              <a:gd name="adj" fmla="val 2447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9445" y="1828800"/>
            <a:ext cx="420624" cy="420624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9445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59445" y="2395728"/>
            <a:ext cx="3027578" cy="5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hizo la herramienta y qué hicieron ustedes?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9445" y="3125216"/>
            <a:ext cx="3027578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encontró y ordenó. Decidir qué se podía afirmar lo hicieron ustedes. Eso no se delega y no se va a delegar.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QUE MOTIVA EL MÓDULO III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hicimos estas dos semanas fue sobre texto. En el momento en que hay que calcular algo sobre datos, el chat deja de ser suficiente.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mal uso, sino por diseño. El miércoles empieza el Módulo III con Eduardo Ramírez, y ahí van a ver cómo se pasa de pedirle un resultado a la herramienta a pedirle el código que produce el resultado. Lleven su bitácora: la van a seguir usando.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931920"/>
            <a:ext cx="4754880" cy="475488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85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SALIR DE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 la sesión 6 y del bloque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3913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3913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8483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evidencia cualitativa del equipo, con al menos doce afirmaciones trazadas.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05181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27926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27926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12496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síntesis cualitativa de dos cuartillas que responde su pregunta de evaluación.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09194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31939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31939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416509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de la coevaluación: cuántas de las tres afirmaciones que verificaron resistieron.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13207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535952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53595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520522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individual consolidada de las seis sesiones, que es el entregable que más peso tiene del bloque.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722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III, miércoles 23 de septiembre: análisis cuantitativo, asistentes estadísticos y entornos reproducibles.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2026-09-14T00:37:05Z</dcterms:created>
  <dcterms:modified xsi:type="dcterms:W3CDTF">2026-09-14T00:37:05Z</dcterms:modified>
</cp:coreProperties>
</file>