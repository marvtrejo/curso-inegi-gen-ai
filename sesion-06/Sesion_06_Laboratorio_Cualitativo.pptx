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minutos. Preséntese y fije la expectativa de la sesión: hoy el objetivo no es entender un caso, es entender tres herramientas de medición que sirven para cualquier documento normativo. Precisión y recuperación para lo que la IA extrae, kappa para lo que la IA clasifica cuando no hay una respuesta unica correcta. Una sola practica al final. Terminamos 13:30.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minutos. Diga el reloj en voz alta y el porque del orden: los dos bloques de concepto van antes del receso y del laboratorio, para que la practica ya sea aplicar y no aprender. Avise que la sesion tiene mas exposicion que un laboratorio tipico, porque hoy toca fijar tres definiciones. Si va retrasado, el receso puede acortarse, nunca el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Este es el mapa de la sesion. Si el grupo se queda con una sola frase del dia, que sea la del banner: las herramientas producen candidatos, no verdades. Hoy medimos la falla 1 (extraccion) con precision y recuperacion, y la falla 3 (clasificacion sin respuesta correcta) con kappa. La falla 2 (atribucion) se atiende verificando la cita, y aterriza en la matriz de evidencia del final. No profundice aqui: cada falla tiene su lamina.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Divisor, un minuto. Diga el reloj: unos 33 minutos hasta el receso. En este bloque hay una respuesta correcta contra la cual comparar, y por eso se puede contar cuanto acerto.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Dibuje la matriz con el dedo. La leccion es que hay DOS errores distintos y que confundirlos es lo que hace que una revision no encuentre nada. Inventar (falso positivo) y omitir (falso negativo) tienen consecuencias distintas en un informe. El casillero de verdadero negativo es la razon tecnica por la que no se reporta exactitud en extraccion: no tiene denominador. No entre en formulas todavia.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Este es el corazon del bloque. Recorra la tabla y, antes de revelar la ultima fila, pregunte al grupo cual de los elementos de la IA sobra y cuales faltan. Casi siempre alguien lo encuentra, y el ejercicio vale mas que la explicacion. Los dos requisitos omitidos son plausibles de omitir a proposito: uno es una condicion en negativo (no tener otra beca) y el otro exige cruzar con un padron. Fije el conteo: VP=3, FP=1, FN=2. Estos numeros alimentan la lamina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Ocho minutos, la lamina mas tecnica del dia. Las dos definiciones, dichas asi: precision es de lo que me entrego cuanto era cierto; recuperacion es de lo que habia cuanto encontro. Quien se confunde, se confunde por el denominador. No encadene el redondeo: si calcula F1 con 0.75 y 0.60 exactos da 0.6667; usar 0.75 y 0.60 ya redondeados da lo mismo aqui, pero en general redondear temprano contamina. Si lo piden, F1 tambien es 2VP/(2VP+FP+FN)=6/9=0.67, y esa forma deja ver que inventar y omitir pesan igual en F1. Objecion tipica del area de datos: por que no exactitud. Respuesta: no hay verdaderos negativos que contar.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Esta lamina le habla a los 18 economistas: tienen intuicion sobre costos asimetricos aunque no la tengan sobre PLN. La conclusion que se llevan: la metrica no sabe cual error es mas grave; eso lo declara quien va a usar el informe, y se declara antes de medir, igual que se fija el nivel de significancia antes de ver los datos. Mencione F-beta solo de pasada, como en el pie; no la calcule en clase salvo que el area de datos insista.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Divisor, un minuto. Cambio de terreno: aqui ya no hay una respuesta unica correcta contra la cual comparar. Por eso cambia la pregunta y cambia la medida.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es el puente conceptual mas importante del dia. Diga la pregunta que destraba al grupo: contra que lista comparo para saber si el comentario esta bien clasificado. No hay ninguna. En el articulo si la habia. El giro, dicho despacio: ya no medimos si acerto, medimos si dos personas coinciden. Eso es confiabilidad y es distinto de exactitud. Objecion tipica: entonces el modelo puede ser el segundo codificador. No: un modelo corriendo dos veces es la misma fuente de error. Se compara humano contra humano, o humano contra modelo, nunca el modelo consigo mismo.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minutos. Es la lamina que hace entendible la formula. No proyecte algebra todavia. La frase que se llevan: kappa es la fraccion del acuerdo que no se explica por azar. El ejemplo del volado deja clara la idea de acuerdo esperado por azar, que es la parte que casi nadie reporta y la que decide 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Ocho minutos. Construya Po primero: es la diagonal, 15 de 20. Luego Pe: sume el producto de marginales de cada categoria. El humano dijo si 10 veces y la IA 11, sobre 20; el humano dijo no 10 y la IA 9. Pe=0.275+0.225=0.50. Kappa=(0.75-0.50)/(1-0.50)=0.50. El punto que se llevan: 75% de acuerdo bruto suena bien, pero la mitad era gratis. Por eso nunca se reporta solo el porcentaje. Si preguntan por mas de dos categorias: la formula es la misma, Po es la suma de la diagonal y Pe suma los productos de marginales de todas las categorias.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La escala es de referencia; insista en que los cortes son arbitrarios (los autores lo dicen) y que se reporta el numero. La trampa es lo mas valioso, y ahora si se ve de donde sale: el acuerdo por azar (Pe) lo fijan los marginales, es decir que tan seguido usa cada quien cada categoria, no el acuerdo. Caso izquierdo: cuatro categorias usadas casi por igual (~25% cada una), asi que coincidir por azar es como cuatro volados repartidos, 4 por 0.25 al cuadrado = 0.25. Con Po=0.947 eso da kappa (0.947-0.25)/(1-0.25)=0.93. Caso derecho: una categoria cubre 35 de 38 (~92%), asi que por azar ya coinciden casi siempre, 0.92 al cuadrado que es aprox 0.85; con el mismo Po=0.947, kappa=(0.947-0.85)/(1-0.85)=0.64. Mismo acuerdo bruto, kappa distinta, y la diferencia esta entera en Pe. Es la paradoja de acuerdo alto con kappa baja (Feinstein y Cicchetti, 1990): si en su corpus casi todo cae en una sola categoria, un acuerdo altisimo no prueba que el libro de codigos sirva.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minutos. Esta es la herramienta que aplica todo lo anterior. Verificar una fila es exactamente medir precision de esa afirmacion: se va a la fuente y se confirma que la cita existe y dice lo que la afirmacion asegura. Las columnas que merecen enfasis: afirmacion tal como ira escrita, cita copiada y no parafraseada, y verificada por con nombre. La frase antes de soltarlos al laboratorio: si al terminar todas las filas dicen confianza alta, algo se hizo 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minutos. Es la regla que protege al Instituto y a los participantes. La idea: la herramienta no cambia el dato; el dato decide la herramienta. Verde a cualquier lado; amarillo solo en Copilot institucional con la cuenta del Instituto; rojo a ninguna parte. Recuerdeles que el material del curso es ficticio para poder trabajarlo sin riesgo, y que en su trabajo real casi todo sera amarillo.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Divisor. Una sola practica, tres partes cortas. Los entregables son concretos: dos numeros de medicion y tres filas de matriz de evidencia. Cuarenta y dos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 el encargo en dos minutos y suelte. Ponga avisos de voz a los cortes. Parte 1 (15 min): lo importante es que identifiquen bien VP, FP y FN antes de meter numeros; la calculadora hace la aritmetica. Parte 2 (15 min): que primero tabulen la contingencia y luego calculen; el resultado da kappa 0.40, aceptable, y los desacuerdos son sarcasmo que la IA leyo como positivo. Parte 3 (10 min): tres filas bien trazadas valen mas que seis a medias. Mientras recorre las mesas, si un equipo se atora, deles una pregunta y no la respuesta. Los seis que programan pueden ir mas rapido con el notebook y ayudar a su mesa.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Repase las tres ideas y confirme los entregables. El puente al Modulo III ya no es abstracto: acaban de vivir que medir a mano no escala. Agradezca y cierre a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Lamina de referencia. No se lee en clase; sirve para quien quiera profundizar y para sostener las definiciones si el area de datos pregunta por el origen.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93B"/>
        </a:solidFill>
      </p:bgPr>
    </p:bg>
    <p:spTree>
      <p:nvGrpSpPr>
        <p:cNvPr id="1" name=""/>
        <p:cNvGrpSpPr/>
        <p:nvPr/>
      </p:nvGrpSpPr>
      <p:grpSpPr>
        <a:xfrm>
          <a:off x="0" y="0"/>
          <a:ext cx="0" cy="0"/>
          <a:chOff x="0" y="0"/>
          <a:chExt cx="0" cy="0"/>
        </a:xfrm>
      </p:grpSpPr>
      <p:sp>
        <p:nvSpPr>
          <p:cNvPr id="2" name="Shape 0"/>
          <p:cNvSpPr/>
          <p:nvPr/>
        </p:nvSpPr>
        <p:spPr>
          <a:xfrm>
            <a:off x="9784080" y="-1188720"/>
            <a:ext cx="3566160" cy="3566160"/>
          </a:xfrm>
          <a:prstGeom prst="ellipse">
            <a:avLst/>
          </a:prstGeom>
          <a:solidFill>
            <a:srgbClr val="20384F"/>
          </a:solidFill>
          <a:ln/>
        </p:spPr>
      </p:sp>
      <p:sp>
        <p:nvSpPr>
          <p:cNvPr id="3" name="Shape 1"/>
          <p:cNvSpPr/>
          <p:nvPr/>
        </p:nvSpPr>
        <p:spPr>
          <a:xfrm>
            <a:off x="10881360" y="4572000"/>
            <a:ext cx="2560320" cy="2560320"/>
          </a:xfrm>
          <a:prstGeom prst="ellipse">
            <a:avLst/>
          </a:prstGeom>
          <a:solidFill>
            <a:srgbClr val="CB5E2E"/>
          </a:solidFill>
          <a:ln/>
        </p:spPr>
      </p:sp>
      <p:sp>
        <p:nvSpPr>
          <p:cNvPr id="4" name="Text 2"/>
          <p:cNvSpPr txBox="1"/>
          <p:nvPr/>
        </p:nvSpPr>
        <p:spPr>
          <a:xfrm>
            <a:off x="822960" y="1417320"/>
            <a:ext cx="10058400" cy="365760"/>
          </a:xfrm>
          <a:prstGeom prst="rect">
            <a:avLst/>
          </a:prstGeom>
          <a:noFill/>
          <a:ln/>
        </p:spPr>
        <p:txBody>
          <a:bodyPr wrap="square" lIns="0" tIns="0" rIns="0" bIns="0" rtlCol="0" anchor="ctr"/>
          <a:lstStyle/>
          <a:p>
            <a:pPr indent="0" marL="0">
              <a:buNone/>
            </a:pPr>
            <a:r>
              <a:rPr lang="en-US" sz="1300" b="1" spc="300" kern="0" dirty="0">
                <a:solidFill>
                  <a:srgbClr val="E58A5B"/>
                </a:solidFill>
                <a:latin typeface="Calibri" pitchFamily="34" charset="0"/>
                <a:ea typeface="Calibri" pitchFamily="34" charset="-122"/>
                <a:cs typeface="Calibri" pitchFamily="34" charset="-120"/>
              </a:rPr>
              <a:t>MÓDULO II · SESIÓN 6</a:t>
            </a:r>
            <a:endParaRPr lang="en-US" sz="1300" dirty="0"/>
          </a:p>
        </p:txBody>
      </p:sp>
      <p:sp>
        <p:nvSpPr>
          <p:cNvPr id="5" name="Text 3"/>
          <p:cNvSpPr txBox="1"/>
          <p:nvPr/>
        </p:nvSpPr>
        <p:spPr>
          <a:xfrm>
            <a:off x="822960" y="2148840"/>
            <a:ext cx="10241280" cy="1554480"/>
          </a:xfrm>
          <a:prstGeom prst="rect">
            <a:avLst/>
          </a:prstGeom>
          <a:noFill/>
          <a:ln/>
        </p:spPr>
        <p:txBody>
          <a:bodyPr wrap="square" lIns="0" tIns="0" rIns="0" bIns="0" rtlCol="0" anchor="ctr"/>
          <a:lstStyle/>
          <a:p>
            <a:pPr indent="0" marL="0">
              <a:lnSpc>
                <a:spcPct val="98000"/>
              </a:lnSpc>
              <a:buNone/>
            </a:pPr>
            <a:r>
              <a:rPr lang="en-US" sz="3800" b="1" dirty="0">
                <a:solidFill>
                  <a:srgbClr val="FFFFFF"/>
                </a:solidFill>
                <a:latin typeface="Calibri" pitchFamily="34" charset="0"/>
                <a:ea typeface="Calibri" pitchFamily="34" charset="-122"/>
                <a:cs typeface="Calibri" pitchFamily="34" charset="-120"/>
              </a:rPr>
              <a:t>Cómo medir la calidad de lo que la IA extrae y clasifica</a:t>
            </a:r>
            <a:endParaRPr lang="en-US" sz="3800" dirty="0"/>
          </a:p>
        </p:txBody>
      </p:sp>
      <p:sp>
        <p:nvSpPr>
          <p:cNvPr id="6" name="Text 4"/>
          <p:cNvSpPr txBox="1"/>
          <p:nvPr/>
        </p:nvSpPr>
        <p:spPr>
          <a:xfrm>
            <a:off x="822960" y="3886200"/>
            <a:ext cx="10058400" cy="457200"/>
          </a:xfrm>
          <a:prstGeom prst="rect">
            <a:avLst/>
          </a:prstGeom>
          <a:noFill/>
          <a:ln/>
        </p:spPr>
        <p:txBody>
          <a:bodyPr wrap="square" lIns="0" tIns="0" rIns="0" bIns="0" rtlCol="0" anchor="ctr"/>
          <a:lstStyle/>
          <a:p>
            <a:pPr indent="0" marL="0">
              <a:buNone/>
            </a:pPr>
            <a:r>
              <a:rPr lang="en-US" sz="1700" dirty="0">
                <a:solidFill>
                  <a:srgbClr val="E4EAF0"/>
                </a:solidFill>
                <a:latin typeface="Calibri" pitchFamily="34" charset="0"/>
                <a:ea typeface="Calibri" pitchFamily="34" charset="-122"/>
                <a:cs typeface="Calibri" pitchFamily="34" charset="-120"/>
              </a:rPr>
              <a:t>Precisión, recuperación y acuerdo (kappa) sobre documentos normativos</a:t>
            </a:r>
            <a:endParaRPr lang="en-US" sz="1700" dirty="0"/>
          </a:p>
        </p:txBody>
      </p:sp>
      <p:sp>
        <p:nvSpPr>
          <p:cNvPr id="7" name="Shape 5"/>
          <p:cNvSpPr/>
          <p:nvPr/>
        </p:nvSpPr>
        <p:spPr>
          <a:xfrm>
            <a:off x="841248" y="4709160"/>
            <a:ext cx="2926080" cy="0"/>
          </a:xfrm>
          <a:prstGeom prst="line">
            <a:avLst/>
          </a:prstGeom>
          <a:noFill/>
          <a:ln w="25400">
            <a:solidFill>
              <a:srgbClr val="CB5E2E"/>
            </a:solidFill>
            <a:prstDash val="solid"/>
          </a:ln>
        </p:spPr>
      </p:sp>
      <p:sp>
        <p:nvSpPr>
          <p:cNvPr id="8" name="Text 6"/>
          <p:cNvSpPr txBox="1"/>
          <p:nvPr/>
        </p:nvSpPr>
        <p:spPr>
          <a:xfrm>
            <a:off x="822960" y="4937760"/>
            <a:ext cx="10058400" cy="365760"/>
          </a:xfrm>
          <a:prstGeom prst="rect">
            <a:avLst/>
          </a:prstGeom>
          <a:noFill/>
          <a:ln/>
        </p:spPr>
        <p:txBody>
          <a:bodyPr wrap="square" lIns="0" tIns="0" rIns="0" bIns="0" rtlCol="0" anchor="ctr"/>
          <a:lstStyle/>
          <a:p>
            <a:pPr indent="0" marL="0">
              <a:buNone/>
            </a:pPr>
            <a:r>
              <a:rPr lang="en-US" sz="1300" dirty="0">
                <a:solidFill>
                  <a:srgbClr val="E4EAF0"/>
                </a:solidFill>
                <a:latin typeface="Calibri" pitchFamily="34" charset="0"/>
                <a:ea typeface="Calibri" pitchFamily="34" charset="-122"/>
                <a:cs typeface="Calibri" pitchFamily="34" charset="-120"/>
              </a:rPr>
              <a:t>Curso de Inteligencia Artificial Aplicada · INEGI 2026</a:t>
            </a:r>
            <a:endParaRPr lang="en-US" sz="1300" dirty="0"/>
          </a:p>
        </p:txBody>
      </p:sp>
      <p:sp>
        <p:nvSpPr>
          <p:cNvPr id="9" name="Text 7"/>
          <p:cNvSpPr txBox="1"/>
          <p:nvPr/>
        </p:nvSpPr>
        <p:spPr>
          <a:xfrm>
            <a:off x="822960" y="5285232"/>
            <a:ext cx="10058400" cy="365760"/>
          </a:xfrm>
          <a:prstGeom prst="rect">
            <a:avLst/>
          </a:prstGeom>
          <a:noFill/>
          <a:ln/>
        </p:spPr>
        <p:txBody>
          <a:bodyPr wrap="square" lIns="0" tIns="0" rIns="0" bIns="0" rtlCol="0" anchor="ctr"/>
          <a:lstStyle/>
          <a:p>
            <a:pPr indent="0" marL="0">
              <a:buNone/>
            </a:pPr>
            <a:r>
              <a:rPr lang="en-US" sz="1300" dirty="0">
                <a:solidFill>
                  <a:srgbClr val="60707E"/>
                </a:solidFill>
                <a:latin typeface="Calibri" pitchFamily="34" charset="0"/>
                <a:ea typeface="Calibri" pitchFamily="34" charset="-122"/>
                <a:cs typeface="Calibri" pitchFamily="34" charset="-120"/>
              </a:rPr>
              <a:t>Laboratorio Práctico 2 · cierra el bloque cualitativo · 11:00 a 13:30 h</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1E2A35"/>
                </a:solidFill>
                <a:latin typeface="Calibri" pitchFamily="34" charset="0"/>
                <a:ea typeface="Calibri" pitchFamily="34" charset="-122"/>
                <a:cs typeface="Calibri" pitchFamily="34" charset="-120"/>
              </a:rPr>
              <a:t>Cómo usamos los 150 minutos</a:t>
            </a:r>
            <a:endParaRPr lang="en-US" sz="2900" dirty="0"/>
          </a:p>
        </p:txBody>
      </p:sp>
      <p:sp>
        <p:nvSpPr>
          <p:cNvPr id="3" name="Text 1"/>
          <p:cNvSpPr txBox="1"/>
          <p:nvPr/>
        </p:nvSpPr>
        <p:spPr>
          <a:xfrm>
            <a:off x="548640" y="1042416"/>
            <a:ext cx="11091672" cy="457200"/>
          </a:xfrm>
          <a:prstGeom prst="rect">
            <a:avLst/>
          </a:prstGeom>
          <a:noFill/>
          <a:ln/>
        </p:spPr>
        <p:txBody>
          <a:bodyPr wrap="square" lIns="0" tIns="0" rIns="0" bIns="0" rtlCol="0" anchor="ctr"/>
          <a:lstStyle/>
          <a:p>
            <a:pPr indent="0" marL="0">
              <a:buNone/>
            </a:pPr>
            <a:r>
              <a:rPr lang="en-US" sz="1400" dirty="0">
                <a:solidFill>
                  <a:srgbClr val="60707E"/>
                </a:solidFill>
                <a:latin typeface="Calibri" pitchFamily="34" charset="0"/>
                <a:ea typeface="Calibri" pitchFamily="34" charset="-122"/>
                <a:cs typeface="Calibri" pitchFamily="34" charset="-120"/>
              </a:rPr>
              <a:t>Dos bloques de concepto, un receso y una sola práctica aplicada.</a:t>
            </a:r>
            <a:endParaRPr lang="en-US" sz="1400" dirty="0"/>
          </a:p>
        </p:txBody>
      </p:sp>
      <p:sp>
        <p:nvSpPr>
          <p:cNvPr id="4" name="Shape 2"/>
          <p:cNvSpPr/>
          <p:nvPr/>
        </p:nvSpPr>
        <p:spPr>
          <a:xfrm>
            <a:off x="548640" y="1691640"/>
            <a:ext cx="11091672" cy="548640"/>
          </a:xfrm>
          <a:prstGeom prst="rect">
            <a:avLst/>
          </a:prstGeom>
          <a:solidFill>
            <a:srgbClr val="EEF2F5"/>
          </a:solidFill>
          <a:ln w="6350">
            <a:solidFill>
              <a:srgbClr val="D5DCE3"/>
            </a:solidFill>
            <a:prstDash val="solid"/>
          </a:ln>
        </p:spPr>
      </p:sp>
      <p:sp>
        <p:nvSpPr>
          <p:cNvPr id="5" name="Text 3"/>
          <p:cNvSpPr txBox="1"/>
          <p:nvPr/>
        </p:nvSpPr>
        <p:spPr>
          <a:xfrm>
            <a:off x="685800" y="1691640"/>
            <a:ext cx="1371600" cy="548640"/>
          </a:xfrm>
          <a:prstGeom prst="rect">
            <a:avLst/>
          </a:prstGeom>
          <a:noFill/>
          <a:ln/>
        </p:spPr>
        <p:txBody>
          <a:bodyPr wrap="square" lIns="0" tIns="0" rIns="0" bIns="0" rtlCol="0" anchor="ctr"/>
          <a:lstStyle/>
          <a:p>
            <a:pPr indent="0" marL="0">
              <a:buNone/>
            </a:pPr>
            <a:r>
              <a:rPr lang="en-US" sz="1700" b="1" dirty="0">
                <a:solidFill>
                  <a:srgbClr val="CB5E2E"/>
                </a:solidFill>
                <a:latin typeface="Cambria" pitchFamily="34" charset="0"/>
                <a:ea typeface="Cambria" pitchFamily="34" charset="-122"/>
                <a:cs typeface="Cambria" pitchFamily="34" charset="-120"/>
              </a:rPr>
              <a:t>11:00</a:t>
            </a:r>
            <a:endParaRPr lang="en-US" sz="1700" dirty="0"/>
          </a:p>
        </p:txBody>
      </p:sp>
      <p:sp>
        <p:nvSpPr>
          <p:cNvPr id="6" name="Text 4"/>
          <p:cNvSpPr txBox="1"/>
          <p:nvPr/>
        </p:nvSpPr>
        <p:spPr>
          <a:xfrm>
            <a:off x="2194560" y="1691640"/>
            <a:ext cx="9262872" cy="548640"/>
          </a:xfrm>
          <a:prstGeom prst="rect">
            <a:avLst/>
          </a:prstGeom>
          <a:noFill/>
          <a:ln/>
        </p:spPr>
        <p:txBody>
          <a:bodyPr wrap="square" lIns="0" tIns="0" rIns="0" bIns="0" rtlCol="0" anchor="ctr"/>
          <a:lstStyle/>
          <a:p>
            <a:pPr indent="0" marL="0">
              <a:buNone/>
            </a:pPr>
            <a:r>
              <a:rPr lang="en-US" sz="1400" dirty="0">
                <a:solidFill>
                  <a:srgbClr val="1E2A35"/>
                </a:solidFill>
                <a:latin typeface="Calibri" pitchFamily="34" charset="0"/>
                <a:ea typeface="Calibri" pitchFamily="34" charset="-122"/>
                <a:cs typeface="Calibri" pitchFamily="34" charset="-120"/>
              </a:rPr>
              <a:t>Apertura: la pregunta de hoy</a:t>
            </a:r>
            <a:endParaRPr lang="en-US" sz="1400" dirty="0"/>
          </a:p>
        </p:txBody>
      </p:sp>
      <p:sp>
        <p:nvSpPr>
          <p:cNvPr id="7" name="Shape 5"/>
          <p:cNvSpPr/>
          <p:nvPr/>
        </p:nvSpPr>
        <p:spPr>
          <a:xfrm>
            <a:off x="548640" y="2240280"/>
            <a:ext cx="11091672" cy="548640"/>
          </a:xfrm>
          <a:prstGeom prst="rect">
            <a:avLst/>
          </a:prstGeom>
          <a:solidFill>
            <a:srgbClr val="FFFFFF"/>
          </a:solidFill>
          <a:ln w="6350">
            <a:solidFill>
              <a:srgbClr val="D5DCE3"/>
            </a:solidFill>
            <a:prstDash val="solid"/>
          </a:ln>
        </p:spPr>
      </p:sp>
      <p:sp>
        <p:nvSpPr>
          <p:cNvPr id="8" name="Text 6"/>
          <p:cNvSpPr txBox="1"/>
          <p:nvPr/>
        </p:nvSpPr>
        <p:spPr>
          <a:xfrm>
            <a:off x="685800" y="2240280"/>
            <a:ext cx="1371600" cy="548640"/>
          </a:xfrm>
          <a:prstGeom prst="rect">
            <a:avLst/>
          </a:prstGeom>
          <a:noFill/>
          <a:ln/>
        </p:spPr>
        <p:txBody>
          <a:bodyPr wrap="square" lIns="0" tIns="0" rIns="0" bIns="0" rtlCol="0" anchor="ctr"/>
          <a:lstStyle/>
          <a:p>
            <a:pPr indent="0" marL="0">
              <a:buNone/>
            </a:pPr>
            <a:r>
              <a:rPr lang="en-US" sz="1700" b="1" dirty="0">
                <a:solidFill>
                  <a:srgbClr val="CB5E2E"/>
                </a:solidFill>
                <a:latin typeface="Cambria" pitchFamily="34" charset="0"/>
                <a:ea typeface="Cambria" pitchFamily="34" charset="-122"/>
                <a:cs typeface="Cambria" pitchFamily="34" charset="-120"/>
              </a:rPr>
              <a:t>11:12</a:t>
            </a:r>
            <a:endParaRPr lang="en-US" sz="1700" dirty="0"/>
          </a:p>
        </p:txBody>
      </p:sp>
      <p:sp>
        <p:nvSpPr>
          <p:cNvPr id="9" name="Text 7"/>
          <p:cNvSpPr txBox="1"/>
          <p:nvPr/>
        </p:nvSpPr>
        <p:spPr>
          <a:xfrm>
            <a:off x="2194560" y="2240280"/>
            <a:ext cx="9262872" cy="548640"/>
          </a:xfrm>
          <a:prstGeom prst="rect">
            <a:avLst/>
          </a:prstGeom>
          <a:noFill/>
          <a:ln/>
        </p:spPr>
        <p:txBody>
          <a:bodyPr wrap="square" lIns="0" tIns="0" rIns="0" bIns="0" rtlCol="0" anchor="ctr"/>
          <a:lstStyle/>
          <a:p>
            <a:pPr indent="0" marL="0">
              <a:buNone/>
            </a:pPr>
            <a:r>
              <a:rPr lang="en-US" sz="1400" dirty="0">
                <a:solidFill>
                  <a:srgbClr val="1E2A35"/>
                </a:solidFill>
                <a:latin typeface="Calibri" pitchFamily="34" charset="0"/>
                <a:ea typeface="Calibri" pitchFamily="34" charset="-122"/>
                <a:cs typeface="Calibri" pitchFamily="34" charset="-120"/>
              </a:rPr>
              <a:t>Bloque 1 · Precisión y recuperación (medir lo que la IA extrae)</a:t>
            </a:r>
            <a:endParaRPr lang="en-US" sz="1400" dirty="0"/>
          </a:p>
        </p:txBody>
      </p:sp>
      <p:sp>
        <p:nvSpPr>
          <p:cNvPr id="10" name="Shape 8"/>
          <p:cNvSpPr/>
          <p:nvPr/>
        </p:nvSpPr>
        <p:spPr>
          <a:xfrm>
            <a:off x="548640" y="2788920"/>
            <a:ext cx="11091672" cy="548640"/>
          </a:xfrm>
          <a:prstGeom prst="rect">
            <a:avLst/>
          </a:prstGeom>
          <a:solidFill>
            <a:srgbClr val="FBEEE5"/>
          </a:solidFill>
          <a:ln w="6350">
            <a:solidFill>
              <a:srgbClr val="D5DCE3"/>
            </a:solidFill>
            <a:prstDash val="solid"/>
          </a:ln>
        </p:spPr>
      </p:sp>
      <p:sp>
        <p:nvSpPr>
          <p:cNvPr id="11" name="Text 9"/>
          <p:cNvSpPr txBox="1"/>
          <p:nvPr/>
        </p:nvSpPr>
        <p:spPr>
          <a:xfrm>
            <a:off x="685800" y="2788920"/>
            <a:ext cx="1371600" cy="548640"/>
          </a:xfrm>
          <a:prstGeom prst="rect">
            <a:avLst/>
          </a:prstGeom>
          <a:noFill/>
          <a:ln/>
        </p:spPr>
        <p:txBody>
          <a:bodyPr wrap="square" lIns="0" tIns="0" rIns="0" bIns="0" rtlCol="0" anchor="ctr"/>
          <a:lstStyle/>
          <a:p>
            <a:pPr indent="0" marL="0">
              <a:buNone/>
            </a:pPr>
            <a:r>
              <a:rPr lang="en-US" sz="1700" b="1" dirty="0">
                <a:solidFill>
                  <a:srgbClr val="8C3E19"/>
                </a:solidFill>
                <a:latin typeface="Cambria" pitchFamily="34" charset="0"/>
                <a:ea typeface="Cambria" pitchFamily="34" charset="-122"/>
                <a:cs typeface="Cambria" pitchFamily="34" charset="-120"/>
              </a:rPr>
              <a:t>11:45</a:t>
            </a:r>
            <a:endParaRPr lang="en-US" sz="1700" dirty="0"/>
          </a:p>
        </p:txBody>
      </p:sp>
      <p:sp>
        <p:nvSpPr>
          <p:cNvPr id="12" name="Text 10"/>
          <p:cNvSpPr txBox="1"/>
          <p:nvPr/>
        </p:nvSpPr>
        <p:spPr>
          <a:xfrm>
            <a:off x="2194560" y="2788920"/>
            <a:ext cx="9262872" cy="548640"/>
          </a:xfrm>
          <a:prstGeom prst="rect">
            <a:avLst/>
          </a:prstGeom>
          <a:noFill/>
          <a:ln/>
        </p:spPr>
        <p:txBody>
          <a:bodyPr wrap="square" lIns="0" tIns="0" rIns="0" bIns="0" rtlCol="0" anchor="ctr"/>
          <a:lstStyle/>
          <a:p>
            <a:pPr indent="0" marL="0">
              <a:buNone/>
            </a:pPr>
            <a:r>
              <a:rPr lang="en-US" sz="1400" b="1" dirty="0">
                <a:solidFill>
                  <a:srgbClr val="8C3E19"/>
                </a:solidFill>
                <a:latin typeface="Calibri" pitchFamily="34" charset="0"/>
                <a:ea typeface="Calibri" pitchFamily="34" charset="-122"/>
                <a:cs typeface="Calibri" pitchFamily="34" charset="-120"/>
              </a:rPr>
              <a:t>Receso · 10 minutos</a:t>
            </a:r>
            <a:endParaRPr lang="en-US" sz="1400" dirty="0"/>
          </a:p>
        </p:txBody>
      </p:sp>
      <p:sp>
        <p:nvSpPr>
          <p:cNvPr id="13" name="Shape 11"/>
          <p:cNvSpPr/>
          <p:nvPr/>
        </p:nvSpPr>
        <p:spPr>
          <a:xfrm>
            <a:off x="548640" y="3337560"/>
            <a:ext cx="11091672" cy="548640"/>
          </a:xfrm>
          <a:prstGeom prst="rect">
            <a:avLst/>
          </a:prstGeom>
          <a:solidFill>
            <a:srgbClr val="FFFFFF"/>
          </a:solidFill>
          <a:ln w="6350">
            <a:solidFill>
              <a:srgbClr val="D5DCE3"/>
            </a:solidFill>
            <a:prstDash val="solid"/>
          </a:ln>
        </p:spPr>
      </p:sp>
      <p:sp>
        <p:nvSpPr>
          <p:cNvPr id="14" name="Text 12"/>
          <p:cNvSpPr txBox="1"/>
          <p:nvPr/>
        </p:nvSpPr>
        <p:spPr>
          <a:xfrm>
            <a:off x="685800" y="3337560"/>
            <a:ext cx="1371600" cy="548640"/>
          </a:xfrm>
          <a:prstGeom prst="rect">
            <a:avLst/>
          </a:prstGeom>
          <a:noFill/>
          <a:ln/>
        </p:spPr>
        <p:txBody>
          <a:bodyPr wrap="square" lIns="0" tIns="0" rIns="0" bIns="0" rtlCol="0" anchor="ctr"/>
          <a:lstStyle/>
          <a:p>
            <a:pPr indent="0" marL="0">
              <a:buNone/>
            </a:pPr>
            <a:r>
              <a:rPr lang="en-US" sz="1700" b="1" dirty="0">
                <a:solidFill>
                  <a:srgbClr val="CB5E2E"/>
                </a:solidFill>
                <a:latin typeface="Cambria" pitchFamily="34" charset="0"/>
                <a:ea typeface="Cambria" pitchFamily="34" charset="-122"/>
                <a:cs typeface="Cambria" pitchFamily="34" charset="-120"/>
              </a:rPr>
              <a:t>11:55</a:t>
            </a:r>
            <a:endParaRPr lang="en-US" sz="1700" dirty="0"/>
          </a:p>
        </p:txBody>
      </p:sp>
      <p:sp>
        <p:nvSpPr>
          <p:cNvPr id="15" name="Text 13"/>
          <p:cNvSpPr txBox="1"/>
          <p:nvPr/>
        </p:nvSpPr>
        <p:spPr>
          <a:xfrm>
            <a:off x="2194560" y="3337560"/>
            <a:ext cx="9262872" cy="548640"/>
          </a:xfrm>
          <a:prstGeom prst="rect">
            <a:avLst/>
          </a:prstGeom>
          <a:noFill/>
          <a:ln/>
        </p:spPr>
        <p:txBody>
          <a:bodyPr wrap="square" lIns="0" tIns="0" rIns="0" bIns="0" rtlCol="0" anchor="ctr"/>
          <a:lstStyle/>
          <a:p>
            <a:pPr indent="0" marL="0">
              <a:buNone/>
            </a:pPr>
            <a:r>
              <a:rPr lang="en-US" sz="1400" dirty="0">
                <a:solidFill>
                  <a:srgbClr val="1E2A35"/>
                </a:solidFill>
                <a:latin typeface="Calibri" pitchFamily="34" charset="0"/>
                <a:ea typeface="Calibri" pitchFamily="34" charset="-122"/>
                <a:cs typeface="Calibri" pitchFamily="34" charset="-120"/>
              </a:rPr>
              <a:t>Bloque 2 · Acuerdo y kappa (medir lo que la IA clasifica)</a:t>
            </a:r>
            <a:endParaRPr lang="en-US" sz="1400" dirty="0"/>
          </a:p>
        </p:txBody>
      </p:sp>
      <p:sp>
        <p:nvSpPr>
          <p:cNvPr id="16" name="Shape 14"/>
          <p:cNvSpPr/>
          <p:nvPr/>
        </p:nvSpPr>
        <p:spPr>
          <a:xfrm>
            <a:off x="548640" y="3886200"/>
            <a:ext cx="11091672" cy="548640"/>
          </a:xfrm>
          <a:prstGeom prst="rect">
            <a:avLst/>
          </a:prstGeom>
          <a:solidFill>
            <a:srgbClr val="EEF2F5"/>
          </a:solidFill>
          <a:ln w="6350">
            <a:solidFill>
              <a:srgbClr val="D5DCE3"/>
            </a:solidFill>
            <a:prstDash val="solid"/>
          </a:ln>
        </p:spPr>
      </p:sp>
      <p:sp>
        <p:nvSpPr>
          <p:cNvPr id="17" name="Text 15"/>
          <p:cNvSpPr txBox="1"/>
          <p:nvPr/>
        </p:nvSpPr>
        <p:spPr>
          <a:xfrm>
            <a:off x="685800" y="3886200"/>
            <a:ext cx="1371600" cy="548640"/>
          </a:xfrm>
          <a:prstGeom prst="rect">
            <a:avLst/>
          </a:prstGeom>
          <a:noFill/>
          <a:ln/>
        </p:spPr>
        <p:txBody>
          <a:bodyPr wrap="square" lIns="0" tIns="0" rIns="0" bIns="0" rtlCol="0" anchor="ctr"/>
          <a:lstStyle/>
          <a:p>
            <a:pPr indent="0" marL="0">
              <a:buNone/>
            </a:pPr>
            <a:r>
              <a:rPr lang="en-US" sz="1700" b="1" dirty="0">
                <a:solidFill>
                  <a:srgbClr val="CB5E2E"/>
                </a:solidFill>
                <a:latin typeface="Cambria" pitchFamily="34" charset="0"/>
                <a:ea typeface="Cambria" pitchFamily="34" charset="-122"/>
                <a:cs typeface="Cambria" pitchFamily="34" charset="-120"/>
              </a:rPr>
              <a:t>12:30</a:t>
            </a:r>
            <a:endParaRPr lang="en-US" sz="1700" dirty="0"/>
          </a:p>
        </p:txBody>
      </p:sp>
      <p:sp>
        <p:nvSpPr>
          <p:cNvPr id="18" name="Text 16"/>
          <p:cNvSpPr txBox="1"/>
          <p:nvPr/>
        </p:nvSpPr>
        <p:spPr>
          <a:xfrm>
            <a:off x="2194560" y="3886200"/>
            <a:ext cx="9262872" cy="548640"/>
          </a:xfrm>
          <a:prstGeom prst="rect">
            <a:avLst/>
          </a:prstGeom>
          <a:noFill/>
          <a:ln/>
        </p:spPr>
        <p:txBody>
          <a:bodyPr wrap="square" lIns="0" tIns="0" rIns="0" bIns="0" rtlCol="0" anchor="ctr"/>
          <a:lstStyle/>
          <a:p>
            <a:pPr indent="0" marL="0">
              <a:buNone/>
            </a:pPr>
            <a:r>
              <a:rPr lang="en-US" sz="1400" dirty="0">
                <a:solidFill>
                  <a:srgbClr val="1E2A35"/>
                </a:solidFill>
                <a:latin typeface="Calibri" pitchFamily="34" charset="0"/>
                <a:ea typeface="Calibri" pitchFamily="34" charset="-122"/>
                <a:cs typeface="Calibri" pitchFamily="34" charset="-120"/>
              </a:rPr>
              <a:t>De la medición al informe: la matriz de evidencia</a:t>
            </a:r>
            <a:endParaRPr lang="en-US" sz="1400" dirty="0"/>
          </a:p>
        </p:txBody>
      </p:sp>
      <p:sp>
        <p:nvSpPr>
          <p:cNvPr id="19" name="Shape 17"/>
          <p:cNvSpPr/>
          <p:nvPr/>
        </p:nvSpPr>
        <p:spPr>
          <a:xfrm>
            <a:off x="548640" y="4434840"/>
            <a:ext cx="11091672" cy="548640"/>
          </a:xfrm>
          <a:prstGeom prst="rect">
            <a:avLst/>
          </a:prstGeom>
          <a:solidFill>
            <a:srgbClr val="FFFFFF"/>
          </a:solidFill>
          <a:ln w="6350">
            <a:solidFill>
              <a:srgbClr val="D5DCE3"/>
            </a:solidFill>
            <a:prstDash val="solid"/>
          </a:ln>
        </p:spPr>
      </p:sp>
      <p:sp>
        <p:nvSpPr>
          <p:cNvPr id="20" name="Text 18"/>
          <p:cNvSpPr txBox="1"/>
          <p:nvPr/>
        </p:nvSpPr>
        <p:spPr>
          <a:xfrm>
            <a:off x="685800" y="4434840"/>
            <a:ext cx="1371600" cy="548640"/>
          </a:xfrm>
          <a:prstGeom prst="rect">
            <a:avLst/>
          </a:prstGeom>
          <a:noFill/>
          <a:ln/>
        </p:spPr>
        <p:txBody>
          <a:bodyPr wrap="square" lIns="0" tIns="0" rIns="0" bIns="0" rtlCol="0" anchor="ctr"/>
          <a:lstStyle/>
          <a:p>
            <a:pPr indent="0" marL="0">
              <a:buNone/>
            </a:pPr>
            <a:r>
              <a:rPr lang="en-US" sz="1700" b="1" dirty="0">
                <a:solidFill>
                  <a:srgbClr val="CB5E2E"/>
                </a:solidFill>
                <a:latin typeface="Cambria" pitchFamily="34" charset="0"/>
                <a:ea typeface="Cambria" pitchFamily="34" charset="-122"/>
                <a:cs typeface="Cambria" pitchFamily="34" charset="-120"/>
              </a:rPr>
              <a:t>12:40</a:t>
            </a:r>
            <a:endParaRPr lang="en-US" sz="1700" dirty="0"/>
          </a:p>
        </p:txBody>
      </p:sp>
      <p:sp>
        <p:nvSpPr>
          <p:cNvPr id="21" name="Text 19"/>
          <p:cNvSpPr txBox="1"/>
          <p:nvPr/>
        </p:nvSpPr>
        <p:spPr>
          <a:xfrm>
            <a:off x="2194560" y="4434840"/>
            <a:ext cx="9262872" cy="548640"/>
          </a:xfrm>
          <a:prstGeom prst="rect">
            <a:avLst/>
          </a:prstGeom>
          <a:noFill/>
          <a:ln/>
        </p:spPr>
        <p:txBody>
          <a:bodyPr wrap="square" lIns="0" tIns="0" rIns="0" bIns="0" rtlCol="0" anchor="ctr"/>
          <a:lstStyle/>
          <a:p>
            <a:pPr indent="0" marL="0">
              <a:buNone/>
            </a:pPr>
            <a:r>
              <a:rPr lang="en-US" sz="1400" dirty="0">
                <a:solidFill>
                  <a:srgbClr val="1E2A35"/>
                </a:solidFill>
                <a:latin typeface="Calibri" pitchFamily="34" charset="0"/>
                <a:ea typeface="Calibri" pitchFamily="34" charset="-122"/>
                <a:cs typeface="Calibri" pitchFamily="34" charset="-120"/>
              </a:rPr>
              <a:t>Laboratorio Práctico 2 · una sola práctica</a:t>
            </a:r>
            <a:endParaRPr lang="en-US" sz="1400" dirty="0"/>
          </a:p>
        </p:txBody>
      </p:sp>
      <p:sp>
        <p:nvSpPr>
          <p:cNvPr id="22" name="Shape 20"/>
          <p:cNvSpPr/>
          <p:nvPr/>
        </p:nvSpPr>
        <p:spPr>
          <a:xfrm>
            <a:off x="548640" y="4983480"/>
            <a:ext cx="11091672" cy="548640"/>
          </a:xfrm>
          <a:prstGeom prst="rect">
            <a:avLst/>
          </a:prstGeom>
          <a:solidFill>
            <a:srgbClr val="EEF2F5"/>
          </a:solidFill>
          <a:ln w="6350">
            <a:solidFill>
              <a:srgbClr val="D5DCE3"/>
            </a:solidFill>
            <a:prstDash val="solid"/>
          </a:ln>
        </p:spPr>
      </p:sp>
      <p:sp>
        <p:nvSpPr>
          <p:cNvPr id="23" name="Text 21"/>
          <p:cNvSpPr txBox="1"/>
          <p:nvPr/>
        </p:nvSpPr>
        <p:spPr>
          <a:xfrm>
            <a:off x="685800" y="4983480"/>
            <a:ext cx="1371600" cy="548640"/>
          </a:xfrm>
          <a:prstGeom prst="rect">
            <a:avLst/>
          </a:prstGeom>
          <a:noFill/>
          <a:ln/>
        </p:spPr>
        <p:txBody>
          <a:bodyPr wrap="square" lIns="0" tIns="0" rIns="0" bIns="0" rtlCol="0" anchor="ctr"/>
          <a:lstStyle/>
          <a:p>
            <a:pPr indent="0" marL="0">
              <a:buNone/>
            </a:pPr>
            <a:r>
              <a:rPr lang="en-US" sz="1700" b="1" dirty="0">
                <a:solidFill>
                  <a:srgbClr val="CB5E2E"/>
                </a:solidFill>
                <a:latin typeface="Cambria" pitchFamily="34" charset="0"/>
                <a:ea typeface="Cambria" pitchFamily="34" charset="-122"/>
                <a:cs typeface="Cambria" pitchFamily="34" charset="-120"/>
              </a:rPr>
              <a:t>13:22</a:t>
            </a:r>
            <a:endParaRPr lang="en-US" sz="1700" dirty="0"/>
          </a:p>
        </p:txBody>
      </p:sp>
      <p:sp>
        <p:nvSpPr>
          <p:cNvPr id="24" name="Text 22"/>
          <p:cNvSpPr txBox="1"/>
          <p:nvPr/>
        </p:nvSpPr>
        <p:spPr>
          <a:xfrm>
            <a:off x="2194560" y="4983480"/>
            <a:ext cx="9262872" cy="548640"/>
          </a:xfrm>
          <a:prstGeom prst="rect">
            <a:avLst/>
          </a:prstGeom>
          <a:noFill/>
          <a:ln/>
        </p:spPr>
        <p:txBody>
          <a:bodyPr wrap="square" lIns="0" tIns="0" rIns="0" bIns="0" rtlCol="0" anchor="ctr"/>
          <a:lstStyle/>
          <a:p>
            <a:pPr indent="0" marL="0">
              <a:buNone/>
            </a:pPr>
            <a:r>
              <a:rPr lang="en-US" sz="1400" dirty="0">
                <a:solidFill>
                  <a:srgbClr val="1E2A35"/>
                </a:solidFill>
                <a:latin typeface="Calibri" pitchFamily="34" charset="0"/>
                <a:ea typeface="Calibri" pitchFamily="34" charset="-122"/>
                <a:cs typeface="Calibri" pitchFamily="34" charset="-120"/>
              </a:rPr>
              <a:t>Cierre y entregables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1E2A35"/>
                </a:solidFill>
                <a:latin typeface="Calibri" pitchFamily="34" charset="0"/>
                <a:ea typeface="Calibri" pitchFamily="34" charset="-122"/>
                <a:cs typeface="Calibri" pitchFamily="34" charset="-120"/>
              </a:rPr>
              <a:t>La IA le entrega candidatos, no verdades</a:t>
            </a:r>
            <a:endParaRPr lang="en-US" sz="2900" dirty="0"/>
          </a:p>
        </p:txBody>
      </p:sp>
      <p:sp>
        <p:nvSpPr>
          <p:cNvPr id="3" name="Text 1"/>
          <p:cNvSpPr txBox="1"/>
          <p:nvPr/>
        </p:nvSpPr>
        <p:spPr>
          <a:xfrm>
            <a:off x="548640" y="1042416"/>
            <a:ext cx="11091672" cy="457200"/>
          </a:xfrm>
          <a:prstGeom prst="rect">
            <a:avLst/>
          </a:prstGeom>
          <a:noFill/>
          <a:ln/>
        </p:spPr>
        <p:txBody>
          <a:bodyPr wrap="square" lIns="0" tIns="0" rIns="0" bIns="0" rtlCol="0" anchor="ctr"/>
          <a:lstStyle/>
          <a:p>
            <a:pPr indent="0" marL="0">
              <a:buNone/>
            </a:pPr>
            <a:r>
              <a:rPr lang="en-US" sz="1400" dirty="0">
                <a:solidFill>
                  <a:srgbClr val="60707E"/>
                </a:solidFill>
                <a:latin typeface="Calibri" pitchFamily="34" charset="0"/>
                <a:ea typeface="Calibri" pitchFamily="34" charset="-122"/>
                <a:cs typeface="Calibri" pitchFamily="34" charset="-120"/>
              </a:rPr>
              <a:t>Resumir, extraer a una tabla, agrupar y clasificar: todo lo que hicieron en el módulo produce candidatos. Decidir si un candidato es cierto sigue siendo trabajo de ustedes, y hoy se hace con números.</a:t>
            </a:r>
            <a:endParaRPr lang="en-US" sz="1400" dirty="0"/>
          </a:p>
        </p:txBody>
      </p:sp>
      <p:sp>
        <p:nvSpPr>
          <p:cNvPr id="4" name="Shape 2"/>
          <p:cNvSpPr/>
          <p:nvPr/>
        </p:nvSpPr>
        <p:spPr>
          <a:xfrm>
            <a:off x="548640" y="2148840"/>
            <a:ext cx="3502152" cy="3063240"/>
          </a:xfrm>
          <a:prstGeom prst="roundRect">
            <a:avLst>
              <a:gd name="adj" fmla="val 1791"/>
            </a:avLst>
          </a:prstGeom>
          <a:solidFill>
            <a:srgbClr val="EEF2F5"/>
          </a:solidFill>
          <a:ln w="9525">
            <a:solidFill>
              <a:srgbClr val="D5DCE3"/>
            </a:solidFill>
            <a:prstDash val="solid"/>
          </a:ln>
        </p:spPr>
      </p:sp>
      <p:sp>
        <p:nvSpPr>
          <p:cNvPr id="5" name="Shape 3"/>
          <p:cNvSpPr/>
          <p:nvPr/>
        </p:nvSpPr>
        <p:spPr>
          <a:xfrm>
            <a:off x="804672" y="2423160"/>
            <a:ext cx="502920" cy="502920"/>
          </a:xfrm>
          <a:prstGeom prst="ellipse">
            <a:avLst/>
          </a:prstGeom>
          <a:solidFill>
            <a:srgbClr val="CB5E2E"/>
          </a:solidFill>
          <a:ln/>
        </p:spPr>
      </p:sp>
      <p:sp>
        <p:nvSpPr>
          <p:cNvPr id="6" name="Text 4"/>
          <p:cNvSpPr txBox="1"/>
          <p:nvPr/>
        </p:nvSpPr>
        <p:spPr>
          <a:xfrm>
            <a:off x="804672" y="24231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txBox="1"/>
          <p:nvPr/>
        </p:nvSpPr>
        <p:spPr>
          <a:xfrm>
            <a:off x="804672" y="3063240"/>
            <a:ext cx="2990088" cy="502920"/>
          </a:xfrm>
          <a:prstGeom prst="rect">
            <a:avLst/>
          </a:prstGeom>
          <a:noFill/>
          <a:ln/>
        </p:spPr>
        <p:txBody>
          <a:bodyPr wrap="square" lIns="0" tIns="0" rIns="0" bIns="0" rtlCol="0" anchor="ctr"/>
          <a:lstStyle/>
          <a:p>
            <a:pPr indent="0" marL="0">
              <a:buNone/>
            </a:pPr>
            <a:r>
              <a:rPr lang="en-US" sz="1600" b="1" dirty="0">
                <a:solidFill>
                  <a:srgbClr val="1E2A35"/>
                </a:solidFill>
                <a:latin typeface="Calibri" pitchFamily="34" charset="0"/>
                <a:ea typeface="Calibri" pitchFamily="34" charset="-122"/>
                <a:cs typeface="Calibri" pitchFamily="34" charset="-120"/>
              </a:rPr>
              <a:t>Omite o inventa</a:t>
            </a:r>
            <a:endParaRPr lang="en-US" sz="1600" dirty="0"/>
          </a:p>
        </p:txBody>
      </p:sp>
      <p:sp>
        <p:nvSpPr>
          <p:cNvPr id="8" name="Text 6"/>
          <p:cNvSpPr txBox="1"/>
          <p:nvPr/>
        </p:nvSpPr>
        <p:spPr>
          <a:xfrm>
            <a:off x="804672" y="3566160"/>
            <a:ext cx="2990088" cy="1051560"/>
          </a:xfrm>
          <a:prstGeom prst="rect">
            <a:avLst/>
          </a:prstGeom>
          <a:noFill/>
          <a:ln/>
        </p:spPr>
        <p:txBody>
          <a:bodyPr wrap="square" lIns="0" tIns="0" rIns="0" bIns="0" rtlCol="0" anchor="ctr"/>
          <a:lstStyle/>
          <a:p>
            <a:pPr indent="0" marL="0">
              <a:lnSpc>
                <a:spcPct val="100000"/>
              </a:lnSpc>
              <a:buNone/>
            </a:pPr>
            <a:r>
              <a:rPr lang="en-US" sz="1250" dirty="0">
                <a:solidFill>
                  <a:srgbClr val="60707E"/>
                </a:solidFill>
                <a:latin typeface="Calibri" pitchFamily="34" charset="0"/>
                <a:ea typeface="Calibri" pitchFamily="34" charset="-122"/>
                <a:cs typeface="Calibri" pitchFamily="34" charset="-120"/>
              </a:rPr>
              <a:t>El asistente se salta un dato que sí estaba en el documento, o agrega uno que no existe en ninguna parte.</a:t>
            </a:r>
            <a:endParaRPr lang="en-US" sz="1250" dirty="0"/>
          </a:p>
        </p:txBody>
      </p:sp>
      <p:sp>
        <p:nvSpPr>
          <p:cNvPr id="9" name="Shape 7"/>
          <p:cNvSpPr/>
          <p:nvPr/>
        </p:nvSpPr>
        <p:spPr>
          <a:xfrm>
            <a:off x="804672" y="4636008"/>
            <a:ext cx="2990088" cy="0"/>
          </a:xfrm>
          <a:prstGeom prst="line">
            <a:avLst/>
          </a:prstGeom>
          <a:noFill/>
          <a:ln w="9525">
            <a:solidFill>
              <a:srgbClr val="D5DCE3"/>
            </a:solidFill>
            <a:prstDash val="solid"/>
          </a:ln>
        </p:spPr>
      </p:sp>
      <p:sp>
        <p:nvSpPr>
          <p:cNvPr id="10" name="Text 8"/>
          <p:cNvSpPr txBox="1"/>
          <p:nvPr/>
        </p:nvSpPr>
        <p:spPr>
          <a:xfrm>
            <a:off x="804672" y="4690872"/>
            <a:ext cx="2990088" cy="457200"/>
          </a:xfrm>
          <a:prstGeom prst="rect">
            <a:avLst/>
          </a:prstGeom>
          <a:noFill/>
          <a:ln/>
        </p:spPr>
        <p:txBody>
          <a:bodyPr wrap="square" lIns="0" tIns="0" rIns="0" bIns="0" rtlCol="0" anchor="ctr"/>
          <a:lstStyle/>
          <a:p>
            <a:pPr indent="0" marL="0">
              <a:buNone/>
            </a:pPr>
            <a:r>
              <a:rPr lang="en-US" sz="1150" b="1" dirty="0">
                <a:solidFill>
                  <a:srgbClr val="CB5E2E"/>
                </a:solidFill>
                <a:latin typeface="Calibri" pitchFamily="34" charset="0"/>
                <a:ea typeface="Calibri" pitchFamily="34" charset="-122"/>
                <a:cs typeface="Calibri" pitchFamily="34" charset="-120"/>
              </a:rPr>
              <a:t>Se mide con precisión y recuperación</a:t>
            </a:r>
            <a:endParaRPr lang="en-US" sz="1150" dirty="0"/>
          </a:p>
        </p:txBody>
      </p:sp>
      <p:sp>
        <p:nvSpPr>
          <p:cNvPr id="11" name="Shape 9"/>
          <p:cNvSpPr/>
          <p:nvPr/>
        </p:nvSpPr>
        <p:spPr>
          <a:xfrm>
            <a:off x="4343400" y="2148840"/>
            <a:ext cx="3502152" cy="3063240"/>
          </a:xfrm>
          <a:prstGeom prst="roundRect">
            <a:avLst>
              <a:gd name="adj" fmla="val 1791"/>
            </a:avLst>
          </a:prstGeom>
          <a:solidFill>
            <a:srgbClr val="FFFFFF"/>
          </a:solidFill>
          <a:ln w="9525">
            <a:solidFill>
              <a:srgbClr val="D5DCE3"/>
            </a:solidFill>
            <a:prstDash val="solid"/>
          </a:ln>
        </p:spPr>
      </p:sp>
      <p:sp>
        <p:nvSpPr>
          <p:cNvPr id="12" name="Shape 10"/>
          <p:cNvSpPr/>
          <p:nvPr/>
        </p:nvSpPr>
        <p:spPr>
          <a:xfrm>
            <a:off x="4599432" y="2423160"/>
            <a:ext cx="502920" cy="502920"/>
          </a:xfrm>
          <a:prstGeom prst="ellipse">
            <a:avLst/>
          </a:prstGeom>
          <a:solidFill>
            <a:srgbClr val="CB5E2E"/>
          </a:solidFill>
          <a:ln/>
        </p:spPr>
      </p:sp>
      <p:sp>
        <p:nvSpPr>
          <p:cNvPr id="13" name="Text 11"/>
          <p:cNvSpPr txBox="1"/>
          <p:nvPr/>
        </p:nvSpPr>
        <p:spPr>
          <a:xfrm>
            <a:off x="4599432" y="24231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4" name="Text 12"/>
          <p:cNvSpPr txBox="1"/>
          <p:nvPr/>
        </p:nvSpPr>
        <p:spPr>
          <a:xfrm>
            <a:off x="4599432" y="3063240"/>
            <a:ext cx="2990088" cy="502920"/>
          </a:xfrm>
          <a:prstGeom prst="rect">
            <a:avLst/>
          </a:prstGeom>
          <a:noFill/>
          <a:ln/>
        </p:spPr>
        <p:txBody>
          <a:bodyPr wrap="square" lIns="0" tIns="0" rIns="0" bIns="0" rtlCol="0" anchor="ctr"/>
          <a:lstStyle/>
          <a:p>
            <a:pPr indent="0" marL="0">
              <a:buNone/>
            </a:pPr>
            <a:r>
              <a:rPr lang="en-US" sz="1600" b="1" dirty="0">
                <a:solidFill>
                  <a:srgbClr val="1E2A35"/>
                </a:solidFill>
                <a:latin typeface="Calibri" pitchFamily="34" charset="0"/>
                <a:ea typeface="Calibri" pitchFamily="34" charset="-122"/>
                <a:cs typeface="Calibri" pitchFamily="34" charset="-120"/>
              </a:rPr>
              <a:t>La cita no lo sostiene</a:t>
            </a:r>
            <a:endParaRPr lang="en-US" sz="1600" dirty="0"/>
          </a:p>
        </p:txBody>
      </p:sp>
      <p:sp>
        <p:nvSpPr>
          <p:cNvPr id="15" name="Text 13"/>
          <p:cNvSpPr txBox="1"/>
          <p:nvPr/>
        </p:nvSpPr>
        <p:spPr>
          <a:xfrm>
            <a:off x="4599432" y="3566160"/>
            <a:ext cx="2990088" cy="1051560"/>
          </a:xfrm>
          <a:prstGeom prst="rect">
            <a:avLst/>
          </a:prstGeom>
          <a:noFill/>
          <a:ln/>
        </p:spPr>
        <p:txBody>
          <a:bodyPr wrap="square" lIns="0" tIns="0" rIns="0" bIns="0" rtlCol="0" anchor="ctr"/>
          <a:lstStyle/>
          <a:p>
            <a:pPr indent="0" marL="0">
              <a:lnSpc>
                <a:spcPct val="100000"/>
              </a:lnSpc>
              <a:buNone/>
            </a:pPr>
            <a:r>
              <a:rPr lang="en-US" sz="1250" dirty="0">
                <a:solidFill>
                  <a:srgbClr val="60707E"/>
                </a:solidFill>
                <a:latin typeface="Calibri" pitchFamily="34" charset="0"/>
                <a:ea typeface="Calibri" pitchFamily="34" charset="-122"/>
                <a:cs typeface="Calibri" pitchFamily="34" charset="-120"/>
              </a:rPr>
              <a:t>La cita es textual y está bien copiada, pero no dice lo que la afirmación asegura que dice.</a:t>
            </a:r>
            <a:endParaRPr lang="en-US" sz="1250" dirty="0"/>
          </a:p>
        </p:txBody>
      </p:sp>
      <p:sp>
        <p:nvSpPr>
          <p:cNvPr id="16" name="Shape 14"/>
          <p:cNvSpPr/>
          <p:nvPr/>
        </p:nvSpPr>
        <p:spPr>
          <a:xfrm>
            <a:off x="4599432" y="4636008"/>
            <a:ext cx="2990088" cy="0"/>
          </a:xfrm>
          <a:prstGeom prst="line">
            <a:avLst/>
          </a:prstGeom>
          <a:noFill/>
          <a:ln w="9525">
            <a:solidFill>
              <a:srgbClr val="D5DCE3"/>
            </a:solidFill>
            <a:prstDash val="solid"/>
          </a:ln>
        </p:spPr>
      </p:sp>
      <p:sp>
        <p:nvSpPr>
          <p:cNvPr id="17" name="Text 15"/>
          <p:cNvSpPr txBox="1"/>
          <p:nvPr/>
        </p:nvSpPr>
        <p:spPr>
          <a:xfrm>
            <a:off x="4599432" y="4690872"/>
            <a:ext cx="2990088" cy="457200"/>
          </a:xfrm>
          <a:prstGeom prst="rect">
            <a:avLst/>
          </a:prstGeom>
          <a:noFill/>
          <a:ln/>
        </p:spPr>
        <p:txBody>
          <a:bodyPr wrap="square" lIns="0" tIns="0" rIns="0" bIns="0" rtlCol="0" anchor="ctr"/>
          <a:lstStyle/>
          <a:p>
            <a:pPr indent="0" marL="0">
              <a:buNone/>
            </a:pPr>
            <a:r>
              <a:rPr lang="en-US" sz="1150" b="1" dirty="0">
                <a:solidFill>
                  <a:srgbClr val="CB5E2E"/>
                </a:solidFill>
                <a:latin typeface="Calibri" pitchFamily="34" charset="0"/>
                <a:ea typeface="Calibri" pitchFamily="34" charset="-122"/>
                <a:cs typeface="Calibri" pitchFamily="34" charset="-120"/>
              </a:rPr>
              <a:t>Se verifica frase por frase contra la fuente</a:t>
            </a:r>
            <a:endParaRPr lang="en-US" sz="1150" dirty="0"/>
          </a:p>
        </p:txBody>
      </p:sp>
      <p:sp>
        <p:nvSpPr>
          <p:cNvPr id="18" name="Shape 16"/>
          <p:cNvSpPr/>
          <p:nvPr/>
        </p:nvSpPr>
        <p:spPr>
          <a:xfrm>
            <a:off x="8138160" y="2148840"/>
            <a:ext cx="3502152" cy="3063240"/>
          </a:xfrm>
          <a:prstGeom prst="roundRect">
            <a:avLst>
              <a:gd name="adj" fmla="val 1791"/>
            </a:avLst>
          </a:prstGeom>
          <a:solidFill>
            <a:srgbClr val="FFFFFF"/>
          </a:solidFill>
          <a:ln w="9525">
            <a:solidFill>
              <a:srgbClr val="D5DCE3"/>
            </a:solidFill>
            <a:prstDash val="solid"/>
          </a:ln>
        </p:spPr>
      </p:sp>
      <p:sp>
        <p:nvSpPr>
          <p:cNvPr id="19" name="Shape 17"/>
          <p:cNvSpPr/>
          <p:nvPr/>
        </p:nvSpPr>
        <p:spPr>
          <a:xfrm>
            <a:off x="8394192" y="2423160"/>
            <a:ext cx="502920" cy="502920"/>
          </a:xfrm>
          <a:prstGeom prst="ellipse">
            <a:avLst/>
          </a:prstGeom>
          <a:solidFill>
            <a:srgbClr val="CB5E2E"/>
          </a:solidFill>
          <a:ln/>
        </p:spPr>
      </p:sp>
      <p:sp>
        <p:nvSpPr>
          <p:cNvPr id="20" name="Text 18"/>
          <p:cNvSpPr txBox="1"/>
          <p:nvPr/>
        </p:nvSpPr>
        <p:spPr>
          <a:xfrm>
            <a:off x="8394192" y="24231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21" name="Text 19"/>
          <p:cNvSpPr txBox="1"/>
          <p:nvPr/>
        </p:nvSpPr>
        <p:spPr>
          <a:xfrm>
            <a:off x="8394192" y="3063240"/>
            <a:ext cx="2990088" cy="502920"/>
          </a:xfrm>
          <a:prstGeom prst="rect">
            <a:avLst/>
          </a:prstGeom>
          <a:noFill/>
          <a:ln/>
        </p:spPr>
        <p:txBody>
          <a:bodyPr wrap="square" lIns="0" tIns="0" rIns="0" bIns="0" rtlCol="0" anchor="ctr"/>
          <a:lstStyle/>
          <a:p>
            <a:pPr indent="0" marL="0">
              <a:buNone/>
            </a:pPr>
            <a:r>
              <a:rPr lang="en-US" sz="1600" b="1" dirty="0">
                <a:solidFill>
                  <a:srgbClr val="1E2A35"/>
                </a:solidFill>
                <a:latin typeface="Calibri" pitchFamily="34" charset="0"/>
                <a:ea typeface="Calibri" pitchFamily="34" charset="-122"/>
                <a:cs typeface="Calibri" pitchFamily="34" charset="-120"/>
              </a:rPr>
              <a:t>La síntesis dice de más</a:t>
            </a:r>
            <a:endParaRPr lang="en-US" sz="1600" dirty="0"/>
          </a:p>
        </p:txBody>
      </p:sp>
      <p:sp>
        <p:nvSpPr>
          <p:cNvPr id="22" name="Text 20"/>
          <p:cNvSpPr txBox="1"/>
          <p:nvPr/>
        </p:nvSpPr>
        <p:spPr>
          <a:xfrm>
            <a:off x="8394192" y="3566160"/>
            <a:ext cx="2990088" cy="1051560"/>
          </a:xfrm>
          <a:prstGeom prst="rect">
            <a:avLst/>
          </a:prstGeom>
          <a:noFill/>
          <a:ln/>
        </p:spPr>
        <p:txBody>
          <a:bodyPr wrap="square" lIns="0" tIns="0" rIns="0" bIns="0" rtlCol="0" anchor="ctr"/>
          <a:lstStyle/>
          <a:p>
            <a:pPr indent="0" marL="0">
              <a:lnSpc>
                <a:spcPct val="100000"/>
              </a:lnSpc>
              <a:buNone/>
            </a:pPr>
            <a:r>
              <a:rPr lang="en-US" sz="1250" dirty="0">
                <a:solidFill>
                  <a:srgbClr val="60707E"/>
                </a:solidFill>
                <a:latin typeface="Calibri" pitchFamily="34" charset="0"/>
                <a:ea typeface="Calibri" pitchFamily="34" charset="-122"/>
                <a:cs typeface="Calibri" pitchFamily="34" charset="-120"/>
              </a:rPr>
              <a:t>Al redactar aparecen afirmaciones que la evidencia no respalda. Suelen sonar mejor que las que sí lo están.</a:t>
            </a:r>
            <a:endParaRPr lang="en-US" sz="1250" dirty="0"/>
          </a:p>
        </p:txBody>
      </p:sp>
      <p:sp>
        <p:nvSpPr>
          <p:cNvPr id="23" name="Shape 21"/>
          <p:cNvSpPr/>
          <p:nvPr/>
        </p:nvSpPr>
        <p:spPr>
          <a:xfrm>
            <a:off x="8394192" y="4636008"/>
            <a:ext cx="2990088" cy="0"/>
          </a:xfrm>
          <a:prstGeom prst="line">
            <a:avLst/>
          </a:prstGeom>
          <a:noFill/>
          <a:ln w="9525">
            <a:solidFill>
              <a:srgbClr val="D5DCE3"/>
            </a:solidFill>
            <a:prstDash val="solid"/>
          </a:ln>
        </p:spPr>
      </p:sp>
      <p:sp>
        <p:nvSpPr>
          <p:cNvPr id="24" name="Text 22"/>
          <p:cNvSpPr txBox="1"/>
          <p:nvPr/>
        </p:nvSpPr>
        <p:spPr>
          <a:xfrm>
            <a:off x="8394192" y="4690872"/>
            <a:ext cx="2990088" cy="457200"/>
          </a:xfrm>
          <a:prstGeom prst="rect">
            <a:avLst/>
          </a:prstGeom>
          <a:noFill/>
          <a:ln/>
        </p:spPr>
        <p:txBody>
          <a:bodyPr wrap="square" lIns="0" tIns="0" rIns="0" bIns="0" rtlCol="0" anchor="ctr"/>
          <a:lstStyle/>
          <a:p>
            <a:pPr indent="0" marL="0">
              <a:buNone/>
            </a:pPr>
            <a:r>
              <a:rPr lang="en-US" sz="1150" b="1" dirty="0">
                <a:solidFill>
                  <a:srgbClr val="CB5E2E"/>
                </a:solidFill>
                <a:latin typeface="Calibri" pitchFamily="34" charset="0"/>
                <a:ea typeface="Calibri" pitchFamily="34" charset="-122"/>
                <a:cs typeface="Calibri" pitchFamily="34" charset="-120"/>
              </a:rPr>
              <a:t>Se controla con acuerdo entre codificadores</a:t>
            </a:r>
            <a:endParaRPr lang="en-US" sz="1150" dirty="0"/>
          </a:p>
        </p:txBody>
      </p:sp>
      <p:sp>
        <p:nvSpPr>
          <p:cNvPr id="25" name="Shape 23"/>
          <p:cNvSpPr/>
          <p:nvPr/>
        </p:nvSpPr>
        <p:spPr>
          <a:xfrm>
            <a:off x="548640" y="6053328"/>
            <a:ext cx="11091672" cy="603504"/>
          </a:xfrm>
          <a:prstGeom prst="rect">
            <a:avLst/>
          </a:prstGeom>
          <a:solidFill>
            <a:srgbClr val="FBEEE5"/>
          </a:solidFill>
          <a:ln/>
        </p:spPr>
      </p:sp>
      <p:sp>
        <p:nvSpPr>
          <p:cNvPr id="26" name="Shape 24"/>
          <p:cNvSpPr/>
          <p:nvPr/>
        </p:nvSpPr>
        <p:spPr>
          <a:xfrm>
            <a:off x="749808" y="6272784"/>
            <a:ext cx="164592" cy="164592"/>
          </a:xfrm>
          <a:prstGeom prst="roundRect">
            <a:avLst>
              <a:gd name="adj" fmla="val 22222"/>
            </a:avLst>
          </a:prstGeom>
          <a:solidFill>
            <a:srgbClr val="CB5E2E"/>
          </a:solidFill>
          <a:ln/>
        </p:spPr>
      </p:sp>
      <p:sp>
        <p:nvSpPr>
          <p:cNvPr id="27" name="Text 25"/>
          <p:cNvSpPr txBox="1"/>
          <p:nvPr/>
        </p:nvSpPr>
        <p:spPr>
          <a:xfrm>
            <a:off x="1051560" y="6053328"/>
            <a:ext cx="10405872" cy="603504"/>
          </a:xfrm>
          <a:prstGeom prst="rect">
            <a:avLst/>
          </a:prstGeom>
          <a:noFill/>
          <a:ln/>
        </p:spPr>
        <p:txBody>
          <a:bodyPr wrap="square" lIns="0" tIns="0" rIns="0" bIns="0" rtlCol="0" anchor="ctr"/>
          <a:lstStyle/>
          <a:p>
            <a:pPr indent="0" marL="0">
              <a:buNone/>
            </a:pPr>
            <a:r>
              <a:rPr lang="en-US" sz="1250" dirty="0">
                <a:solidFill>
                  <a:srgbClr val="8C3E19"/>
                </a:solidFill>
                <a:latin typeface="Calibri" pitchFamily="34" charset="0"/>
                <a:ea typeface="Calibri" pitchFamily="34" charset="-122"/>
                <a:cs typeface="Calibri" pitchFamily="34" charset="-120"/>
              </a:rPr>
              <a:t>Las tres se ven idénticas en el informe terminado: una oración con una cita al lado. Hoy vemos las dos primeras herramientas de medición; la tercera vive en la matriz de evidencia.</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293B"/>
        </a:solidFill>
      </p:bgPr>
    </p:bg>
    <p:spTree>
      <p:nvGrpSpPr>
        <p:cNvPr id="1" name=""/>
        <p:cNvGrpSpPr/>
        <p:nvPr/>
      </p:nvGrpSpPr>
      <p:grpSpPr>
        <a:xfrm>
          <a:off x="0" y="0"/>
          <a:ext cx="0" cy="0"/>
          <a:chOff x="0" y="0"/>
          <a:chExt cx="0" cy="0"/>
        </a:xfrm>
      </p:grpSpPr>
      <p:sp>
        <p:nvSpPr>
          <p:cNvPr id="2" name="Shape 0"/>
          <p:cNvSpPr/>
          <p:nvPr/>
        </p:nvSpPr>
        <p:spPr>
          <a:xfrm>
            <a:off x="822960" y="2468880"/>
            <a:ext cx="1371600" cy="1371600"/>
          </a:xfrm>
          <a:prstGeom prst="ellipse">
            <a:avLst/>
          </a:prstGeom>
          <a:solidFill>
            <a:srgbClr val="CB5E2E"/>
          </a:solidFill>
          <a:ln/>
        </p:spPr>
      </p:sp>
      <p:sp>
        <p:nvSpPr>
          <p:cNvPr id="3" name="Text 1"/>
          <p:cNvSpPr txBox="1"/>
          <p:nvPr/>
        </p:nvSpPr>
        <p:spPr>
          <a:xfrm>
            <a:off x="822960" y="2468880"/>
            <a:ext cx="1371600" cy="13716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4" name="Text 2"/>
          <p:cNvSpPr txBox="1"/>
          <p:nvPr/>
        </p:nvSpPr>
        <p:spPr>
          <a:xfrm>
            <a:off x="2514600" y="2670048"/>
            <a:ext cx="8961120" cy="411480"/>
          </a:xfrm>
          <a:prstGeom prst="rect">
            <a:avLst/>
          </a:prstGeom>
          <a:noFill/>
          <a:ln/>
        </p:spPr>
        <p:txBody>
          <a:bodyPr wrap="square" lIns="0" tIns="0" rIns="0" bIns="0" rtlCol="0" anchor="ctr"/>
          <a:lstStyle/>
          <a:p>
            <a:pPr indent="0" marL="0">
              <a:buNone/>
            </a:pPr>
            <a:r>
              <a:rPr lang="en-US" sz="1400" b="1" spc="200" kern="0" dirty="0">
                <a:solidFill>
                  <a:srgbClr val="E58A5B"/>
                </a:solidFill>
                <a:latin typeface="Calibri" pitchFamily="34" charset="0"/>
                <a:ea typeface="Calibri" pitchFamily="34" charset="-122"/>
                <a:cs typeface="Calibri" pitchFamily="34" charset="-120"/>
              </a:rPr>
              <a:t>BLOQUE 1</a:t>
            </a:r>
            <a:endParaRPr lang="en-US" sz="1400" dirty="0"/>
          </a:p>
        </p:txBody>
      </p:sp>
      <p:sp>
        <p:nvSpPr>
          <p:cNvPr id="5" name="Text 3"/>
          <p:cNvSpPr txBox="1"/>
          <p:nvPr/>
        </p:nvSpPr>
        <p:spPr>
          <a:xfrm>
            <a:off x="2514600" y="3072384"/>
            <a:ext cx="9052560" cy="118872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Medir lo que la IA extrae</a:t>
            </a:r>
            <a:endParaRPr lang="en-US" sz="3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1E2A35"/>
                </a:solidFill>
                <a:latin typeface="Calibri" pitchFamily="34" charset="0"/>
                <a:ea typeface="Calibri" pitchFamily="34" charset="-122"/>
                <a:cs typeface="Calibri" pitchFamily="34" charset="-120"/>
              </a:rPr>
              <a:t>Dos formas de equivocarse al extraer</a:t>
            </a:r>
            <a:endParaRPr lang="en-US" sz="2900" dirty="0"/>
          </a:p>
        </p:txBody>
      </p:sp>
      <p:sp>
        <p:nvSpPr>
          <p:cNvPr id="3" name="Text 1"/>
          <p:cNvSpPr txBox="1"/>
          <p:nvPr/>
        </p:nvSpPr>
        <p:spPr>
          <a:xfrm>
            <a:off x="548640" y="1042416"/>
            <a:ext cx="11091672" cy="457200"/>
          </a:xfrm>
          <a:prstGeom prst="rect">
            <a:avLst/>
          </a:prstGeom>
          <a:noFill/>
          <a:ln/>
        </p:spPr>
        <p:txBody>
          <a:bodyPr wrap="square" lIns="0" tIns="0" rIns="0" bIns="0" rtlCol="0" anchor="ctr"/>
          <a:lstStyle/>
          <a:p>
            <a:pPr indent="0" marL="0">
              <a:buNone/>
            </a:pPr>
            <a:r>
              <a:rPr lang="en-US" sz="1400" dirty="0">
                <a:solidFill>
                  <a:srgbClr val="60707E"/>
                </a:solidFill>
                <a:latin typeface="Calibri" pitchFamily="34" charset="0"/>
                <a:ea typeface="Calibri" pitchFamily="34" charset="-122"/>
                <a:cs typeface="Calibri" pitchFamily="34" charset="-120"/>
              </a:rPr>
              <a:t>Cuando la IA saca una lista de un documento, cada elemento cae en uno de cuatro casos. Solo dos son errores, y son errores distintos.</a:t>
            </a:r>
            <a:endParaRPr lang="en-US" sz="1400" dirty="0"/>
          </a:p>
        </p:txBody>
      </p:sp>
      <p:sp>
        <p:nvSpPr>
          <p:cNvPr id="4" name="Text 2"/>
          <p:cNvSpPr txBox="1"/>
          <p:nvPr/>
        </p:nvSpPr>
        <p:spPr>
          <a:xfrm>
            <a:off x="2560320" y="1783080"/>
            <a:ext cx="3383280" cy="457200"/>
          </a:xfrm>
          <a:prstGeom prst="rect">
            <a:avLst/>
          </a:prstGeom>
          <a:noFill/>
          <a:ln/>
        </p:spPr>
        <p:txBody>
          <a:bodyPr wrap="square" lIns="0" tIns="0" rIns="0" bIns="0" rtlCol="0" anchor="ctr"/>
          <a:lstStyle/>
          <a:p>
            <a:pPr algn="ctr" indent="0" marL="0">
              <a:buNone/>
            </a:pPr>
            <a:r>
              <a:rPr lang="en-US" sz="1250" b="1" dirty="0">
                <a:solidFill>
                  <a:srgbClr val="1E2A35"/>
                </a:solidFill>
                <a:latin typeface="Calibri" pitchFamily="34" charset="0"/>
                <a:ea typeface="Calibri" pitchFamily="34" charset="-122"/>
                <a:cs typeface="Calibri" pitchFamily="34" charset="-120"/>
              </a:rPr>
              <a:t>Sí está en el documento</a:t>
            </a:r>
            <a:endParaRPr lang="en-US" sz="1250" dirty="0"/>
          </a:p>
        </p:txBody>
      </p:sp>
      <p:sp>
        <p:nvSpPr>
          <p:cNvPr id="5" name="Text 3"/>
          <p:cNvSpPr txBox="1"/>
          <p:nvPr/>
        </p:nvSpPr>
        <p:spPr>
          <a:xfrm>
            <a:off x="5943600" y="1783080"/>
            <a:ext cx="3383280" cy="457200"/>
          </a:xfrm>
          <a:prstGeom prst="rect">
            <a:avLst/>
          </a:prstGeom>
          <a:noFill/>
          <a:ln/>
        </p:spPr>
        <p:txBody>
          <a:bodyPr wrap="square" lIns="0" tIns="0" rIns="0" bIns="0" rtlCol="0" anchor="ctr"/>
          <a:lstStyle/>
          <a:p>
            <a:pPr algn="ctr" indent="0" marL="0">
              <a:buNone/>
            </a:pPr>
            <a:r>
              <a:rPr lang="en-US" sz="1250" b="1" dirty="0">
                <a:solidFill>
                  <a:srgbClr val="1E2A35"/>
                </a:solidFill>
                <a:latin typeface="Calibri" pitchFamily="34" charset="0"/>
                <a:ea typeface="Calibri" pitchFamily="34" charset="-122"/>
                <a:cs typeface="Calibri" pitchFamily="34" charset="-120"/>
              </a:rPr>
              <a:t>No está en el documento</a:t>
            </a:r>
            <a:endParaRPr lang="en-US" sz="1250" dirty="0"/>
          </a:p>
        </p:txBody>
      </p:sp>
      <p:sp>
        <p:nvSpPr>
          <p:cNvPr id="6" name="Text 4"/>
          <p:cNvSpPr txBox="1"/>
          <p:nvPr/>
        </p:nvSpPr>
        <p:spPr>
          <a:xfrm>
            <a:off x="640080" y="2286000"/>
            <a:ext cx="1828800" cy="1234440"/>
          </a:xfrm>
          <a:prstGeom prst="rect">
            <a:avLst/>
          </a:prstGeom>
          <a:noFill/>
          <a:ln/>
        </p:spPr>
        <p:txBody>
          <a:bodyPr wrap="square" lIns="0" tIns="0" rIns="0" bIns="0" rtlCol="0" anchor="ctr"/>
          <a:lstStyle/>
          <a:p>
            <a:pPr algn="r" indent="0" marL="0">
              <a:buNone/>
            </a:pPr>
            <a:r>
              <a:rPr lang="en-US" sz="1250" b="1" dirty="0">
                <a:solidFill>
                  <a:srgbClr val="1E2A35"/>
                </a:solidFill>
                <a:latin typeface="Calibri" pitchFamily="34" charset="0"/>
                <a:ea typeface="Calibri" pitchFamily="34" charset="-122"/>
                <a:cs typeface="Calibri" pitchFamily="34" charset="-120"/>
              </a:rPr>
              <a:t>La IA</a:t>
            </a:r>
            <a:endParaRPr lang="en-US" sz="1250" dirty="0"/>
          </a:p>
          <a:p>
            <a:pPr algn="r" indent="0" marL="0">
              <a:buNone/>
            </a:pPr>
            <a:r>
              <a:rPr lang="en-US" sz="1250" b="1" dirty="0">
                <a:solidFill>
                  <a:srgbClr val="1E2A35"/>
                </a:solidFill>
                <a:latin typeface="Calibri" pitchFamily="34" charset="0"/>
                <a:ea typeface="Calibri" pitchFamily="34" charset="-122"/>
                <a:cs typeface="Calibri" pitchFamily="34" charset="-120"/>
              </a:rPr>
              <a:t>lo incluyó</a:t>
            </a:r>
            <a:endParaRPr lang="en-US" sz="1250" dirty="0"/>
          </a:p>
        </p:txBody>
      </p:sp>
      <p:sp>
        <p:nvSpPr>
          <p:cNvPr id="7" name="Text 5"/>
          <p:cNvSpPr txBox="1"/>
          <p:nvPr/>
        </p:nvSpPr>
        <p:spPr>
          <a:xfrm>
            <a:off x="640080" y="3520440"/>
            <a:ext cx="1828800" cy="1234440"/>
          </a:xfrm>
          <a:prstGeom prst="rect">
            <a:avLst/>
          </a:prstGeom>
          <a:noFill/>
          <a:ln/>
        </p:spPr>
        <p:txBody>
          <a:bodyPr wrap="square" lIns="0" tIns="0" rIns="0" bIns="0" rtlCol="0" anchor="ctr"/>
          <a:lstStyle/>
          <a:p>
            <a:pPr algn="r" indent="0" marL="0">
              <a:buNone/>
            </a:pPr>
            <a:r>
              <a:rPr lang="en-US" sz="1250" b="1" dirty="0">
                <a:solidFill>
                  <a:srgbClr val="1E2A35"/>
                </a:solidFill>
                <a:latin typeface="Calibri" pitchFamily="34" charset="0"/>
                <a:ea typeface="Calibri" pitchFamily="34" charset="-122"/>
                <a:cs typeface="Calibri" pitchFamily="34" charset="-120"/>
              </a:rPr>
              <a:t>La IA</a:t>
            </a:r>
            <a:endParaRPr lang="en-US" sz="1250" dirty="0"/>
          </a:p>
          <a:p>
            <a:pPr algn="r" indent="0" marL="0">
              <a:buNone/>
            </a:pPr>
            <a:r>
              <a:rPr lang="en-US" sz="1250" b="1" dirty="0">
                <a:solidFill>
                  <a:srgbClr val="1E2A35"/>
                </a:solidFill>
                <a:latin typeface="Calibri" pitchFamily="34" charset="0"/>
                <a:ea typeface="Calibri" pitchFamily="34" charset="-122"/>
                <a:cs typeface="Calibri" pitchFamily="34" charset="-120"/>
              </a:rPr>
              <a:t>lo omitió</a:t>
            </a:r>
            <a:endParaRPr lang="en-US" sz="1250" dirty="0"/>
          </a:p>
        </p:txBody>
      </p:sp>
      <p:sp>
        <p:nvSpPr>
          <p:cNvPr id="8" name="Shape 6"/>
          <p:cNvSpPr/>
          <p:nvPr/>
        </p:nvSpPr>
        <p:spPr>
          <a:xfrm>
            <a:off x="2560320" y="2286000"/>
            <a:ext cx="3383280" cy="1234440"/>
          </a:xfrm>
          <a:prstGeom prst="rect">
            <a:avLst/>
          </a:prstGeom>
          <a:solidFill>
            <a:srgbClr val="E7F2EA"/>
          </a:solidFill>
          <a:ln w="25400">
            <a:solidFill>
              <a:srgbClr val="FFFFFF"/>
            </a:solidFill>
            <a:prstDash val="solid"/>
          </a:ln>
        </p:spPr>
      </p:sp>
      <p:sp>
        <p:nvSpPr>
          <p:cNvPr id="9" name="Text 7"/>
          <p:cNvSpPr txBox="1"/>
          <p:nvPr/>
        </p:nvSpPr>
        <p:spPr>
          <a:xfrm>
            <a:off x="2697480" y="2395728"/>
            <a:ext cx="3108960" cy="457200"/>
          </a:xfrm>
          <a:prstGeom prst="rect">
            <a:avLst/>
          </a:prstGeom>
          <a:noFill/>
          <a:ln/>
        </p:spPr>
        <p:txBody>
          <a:bodyPr wrap="square" lIns="0" tIns="0" rIns="0" bIns="0" rtlCol="0" anchor="ctr"/>
          <a:lstStyle/>
          <a:p>
            <a:pPr indent="0" marL="0">
              <a:buNone/>
            </a:pPr>
            <a:r>
              <a:rPr lang="en-US" sz="1400" b="1" dirty="0">
                <a:solidFill>
                  <a:srgbClr val="2E6E49"/>
                </a:solidFill>
                <a:latin typeface="Calibri" pitchFamily="34" charset="0"/>
                <a:ea typeface="Calibri" pitchFamily="34" charset="-122"/>
                <a:cs typeface="Calibri" pitchFamily="34" charset="-120"/>
              </a:rPr>
              <a:t>Verdadero positivo</a:t>
            </a:r>
            <a:endParaRPr lang="en-US" sz="1400" dirty="0"/>
          </a:p>
        </p:txBody>
      </p:sp>
      <p:sp>
        <p:nvSpPr>
          <p:cNvPr id="10" name="Text 8"/>
          <p:cNvSpPr txBox="1"/>
          <p:nvPr/>
        </p:nvSpPr>
        <p:spPr>
          <a:xfrm>
            <a:off x="2697480" y="2834640"/>
            <a:ext cx="3108960" cy="640080"/>
          </a:xfrm>
          <a:prstGeom prst="rect">
            <a:avLst/>
          </a:prstGeom>
          <a:noFill/>
          <a:ln/>
        </p:spPr>
        <p:txBody>
          <a:bodyPr wrap="square" lIns="0" tIns="0" rIns="0" bIns="0" rtlCol="0" anchor="ctr"/>
          <a:lstStyle/>
          <a:p>
            <a:pPr indent="0" marL="0">
              <a:lnSpc>
                <a:spcPct val="95000"/>
              </a:lnSpc>
              <a:buNone/>
            </a:pPr>
            <a:r>
              <a:rPr lang="en-US" sz="1100" dirty="0">
                <a:solidFill>
                  <a:srgbClr val="1E2A35"/>
                </a:solidFill>
                <a:latin typeface="Calibri" pitchFamily="34" charset="0"/>
                <a:ea typeface="Calibri" pitchFamily="34" charset="-122"/>
                <a:cs typeface="Calibri" pitchFamily="34" charset="-120"/>
              </a:rPr>
              <a:t>Acierto: incluyó algo que sí estaba.</a:t>
            </a:r>
            <a:endParaRPr lang="en-US" sz="1100" dirty="0"/>
          </a:p>
        </p:txBody>
      </p:sp>
      <p:sp>
        <p:nvSpPr>
          <p:cNvPr id="11" name="Shape 9"/>
          <p:cNvSpPr/>
          <p:nvPr/>
        </p:nvSpPr>
        <p:spPr>
          <a:xfrm>
            <a:off x="5943600" y="2286000"/>
            <a:ext cx="3383280" cy="1234440"/>
          </a:xfrm>
          <a:prstGeom prst="rect">
            <a:avLst/>
          </a:prstGeom>
          <a:solidFill>
            <a:srgbClr val="F9E7E3"/>
          </a:solidFill>
          <a:ln w="25400">
            <a:solidFill>
              <a:srgbClr val="FFFFFF"/>
            </a:solidFill>
            <a:prstDash val="solid"/>
          </a:ln>
        </p:spPr>
      </p:sp>
      <p:sp>
        <p:nvSpPr>
          <p:cNvPr id="12" name="Text 10"/>
          <p:cNvSpPr txBox="1"/>
          <p:nvPr/>
        </p:nvSpPr>
        <p:spPr>
          <a:xfrm>
            <a:off x="6080760" y="2395728"/>
            <a:ext cx="3108960" cy="457200"/>
          </a:xfrm>
          <a:prstGeom prst="rect">
            <a:avLst/>
          </a:prstGeom>
          <a:noFill/>
          <a:ln/>
        </p:spPr>
        <p:txBody>
          <a:bodyPr wrap="square" lIns="0" tIns="0" rIns="0" bIns="0" rtlCol="0" anchor="ctr"/>
          <a:lstStyle/>
          <a:p>
            <a:pPr indent="0" marL="0">
              <a:buNone/>
            </a:pPr>
            <a:r>
              <a:rPr lang="en-US" sz="1400" b="1" dirty="0">
                <a:solidFill>
                  <a:srgbClr val="A23B22"/>
                </a:solidFill>
                <a:latin typeface="Calibri" pitchFamily="34" charset="0"/>
                <a:ea typeface="Calibri" pitchFamily="34" charset="-122"/>
                <a:cs typeface="Calibri" pitchFamily="34" charset="-120"/>
              </a:rPr>
              <a:t>Falso positivo   ·   INVENTÓ</a:t>
            </a:r>
            <a:endParaRPr lang="en-US" sz="1400" dirty="0"/>
          </a:p>
        </p:txBody>
      </p:sp>
      <p:sp>
        <p:nvSpPr>
          <p:cNvPr id="13" name="Text 11"/>
          <p:cNvSpPr txBox="1"/>
          <p:nvPr/>
        </p:nvSpPr>
        <p:spPr>
          <a:xfrm>
            <a:off x="6080760" y="2834640"/>
            <a:ext cx="3108960" cy="640080"/>
          </a:xfrm>
          <a:prstGeom prst="rect">
            <a:avLst/>
          </a:prstGeom>
          <a:noFill/>
          <a:ln/>
        </p:spPr>
        <p:txBody>
          <a:bodyPr wrap="square" lIns="0" tIns="0" rIns="0" bIns="0" rtlCol="0" anchor="ctr"/>
          <a:lstStyle/>
          <a:p>
            <a:pPr indent="0" marL="0">
              <a:lnSpc>
                <a:spcPct val="95000"/>
              </a:lnSpc>
              <a:buNone/>
            </a:pPr>
            <a:r>
              <a:rPr lang="en-US" sz="1100" dirty="0">
                <a:solidFill>
                  <a:srgbClr val="1E2A35"/>
                </a:solidFill>
                <a:latin typeface="Calibri" pitchFamily="34" charset="0"/>
                <a:ea typeface="Calibri" pitchFamily="34" charset="-122"/>
                <a:cs typeface="Calibri" pitchFamily="34" charset="-120"/>
              </a:rPr>
              <a:t>Agregó algo que el documento no dice.</a:t>
            </a:r>
            <a:endParaRPr lang="en-US" sz="1100" dirty="0"/>
          </a:p>
        </p:txBody>
      </p:sp>
      <p:sp>
        <p:nvSpPr>
          <p:cNvPr id="14" name="Shape 12"/>
          <p:cNvSpPr/>
          <p:nvPr/>
        </p:nvSpPr>
        <p:spPr>
          <a:xfrm>
            <a:off x="2560320" y="3520440"/>
            <a:ext cx="3383280" cy="1234440"/>
          </a:xfrm>
          <a:prstGeom prst="rect">
            <a:avLst/>
          </a:prstGeom>
          <a:solidFill>
            <a:srgbClr val="F9E7E3"/>
          </a:solidFill>
          <a:ln w="25400">
            <a:solidFill>
              <a:srgbClr val="FFFFFF"/>
            </a:solidFill>
            <a:prstDash val="solid"/>
          </a:ln>
        </p:spPr>
      </p:sp>
      <p:sp>
        <p:nvSpPr>
          <p:cNvPr id="15" name="Text 13"/>
          <p:cNvSpPr txBox="1"/>
          <p:nvPr/>
        </p:nvSpPr>
        <p:spPr>
          <a:xfrm>
            <a:off x="2697480" y="3630168"/>
            <a:ext cx="3108960" cy="457200"/>
          </a:xfrm>
          <a:prstGeom prst="rect">
            <a:avLst/>
          </a:prstGeom>
          <a:noFill/>
          <a:ln/>
        </p:spPr>
        <p:txBody>
          <a:bodyPr wrap="square" lIns="0" tIns="0" rIns="0" bIns="0" rtlCol="0" anchor="ctr"/>
          <a:lstStyle/>
          <a:p>
            <a:pPr indent="0" marL="0">
              <a:buNone/>
            </a:pPr>
            <a:r>
              <a:rPr lang="en-US" sz="1400" b="1" dirty="0">
                <a:solidFill>
                  <a:srgbClr val="A23B22"/>
                </a:solidFill>
                <a:latin typeface="Calibri" pitchFamily="34" charset="0"/>
                <a:ea typeface="Calibri" pitchFamily="34" charset="-122"/>
                <a:cs typeface="Calibri" pitchFamily="34" charset="-120"/>
              </a:rPr>
              <a:t>Falso negativo   ·   OMITIÓ</a:t>
            </a:r>
            <a:endParaRPr lang="en-US" sz="1400" dirty="0"/>
          </a:p>
        </p:txBody>
      </p:sp>
      <p:sp>
        <p:nvSpPr>
          <p:cNvPr id="16" name="Text 14"/>
          <p:cNvSpPr txBox="1"/>
          <p:nvPr/>
        </p:nvSpPr>
        <p:spPr>
          <a:xfrm>
            <a:off x="2697480" y="4069080"/>
            <a:ext cx="3108960" cy="640080"/>
          </a:xfrm>
          <a:prstGeom prst="rect">
            <a:avLst/>
          </a:prstGeom>
          <a:noFill/>
          <a:ln/>
        </p:spPr>
        <p:txBody>
          <a:bodyPr wrap="square" lIns="0" tIns="0" rIns="0" bIns="0" rtlCol="0" anchor="ctr"/>
          <a:lstStyle/>
          <a:p>
            <a:pPr indent="0" marL="0">
              <a:lnSpc>
                <a:spcPct val="95000"/>
              </a:lnSpc>
              <a:buNone/>
            </a:pPr>
            <a:r>
              <a:rPr lang="en-US" sz="1100" dirty="0">
                <a:solidFill>
                  <a:srgbClr val="1E2A35"/>
                </a:solidFill>
                <a:latin typeface="Calibri" pitchFamily="34" charset="0"/>
                <a:ea typeface="Calibri" pitchFamily="34" charset="-122"/>
                <a:cs typeface="Calibri" pitchFamily="34" charset="-120"/>
              </a:rPr>
              <a:t>Se le escapó algo que sí estaba.</a:t>
            </a:r>
            <a:endParaRPr lang="en-US" sz="1100" dirty="0"/>
          </a:p>
        </p:txBody>
      </p:sp>
      <p:sp>
        <p:nvSpPr>
          <p:cNvPr id="17" name="Shape 15"/>
          <p:cNvSpPr/>
          <p:nvPr/>
        </p:nvSpPr>
        <p:spPr>
          <a:xfrm>
            <a:off x="5943600" y="3520440"/>
            <a:ext cx="3383280" cy="1234440"/>
          </a:xfrm>
          <a:prstGeom prst="rect">
            <a:avLst/>
          </a:prstGeom>
          <a:solidFill>
            <a:srgbClr val="EEF2F5"/>
          </a:solidFill>
          <a:ln w="25400">
            <a:solidFill>
              <a:srgbClr val="FFFFFF"/>
            </a:solidFill>
            <a:prstDash val="solid"/>
          </a:ln>
        </p:spPr>
      </p:sp>
      <p:sp>
        <p:nvSpPr>
          <p:cNvPr id="18" name="Text 16"/>
          <p:cNvSpPr txBox="1"/>
          <p:nvPr/>
        </p:nvSpPr>
        <p:spPr>
          <a:xfrm>
            <a:off x="6080760" y="3630168"/>
            <a:ext cx="3108960" cy="457200"/>
          </a:xfrm>
          <a:prstGeom prst="rect">
            <a:avLst/>
          </a:prstGeom>
          <a:noFill/>
          <a:ln/>
        </p:spPr>
        <p:txBody>
          <a:bodyPr wrap="square" lIns="0" tIns="0" rIns="0" bIns="0" rtlCol="0" anchor="ctr"/>
          <a:lstStyle/>
          <a:p>
            <a:pPr indent="0" marL="0">
              <a:buNone/>
            </a:pPr>
            <a:r>
              <a:rPr lang="en-US" sz="1400" b="1" dirty="0">
                <a:solidFill>
                  <a:srgbClr val="60707E"/>
                </a:solidFill>
                <a:latin typeface="Calibri" pitchFamily="34" charset="0"/>
                <a:ea typeface="Calibri" pitchFamily="34" charset="-122"/>
                <a:cs typeface="Calibri" pitchFamily="34" charset="-120"/>
              </a:rPr>
              <a:t>Verdadero negativo</a:t>
            </a:r>
            <a:endParaRPr lang="en-US" sz="1400" dirty="0"/>
          </a:p>
        </p:txBody>
      </p:sp>
      <p:sp>
        <p:nvSpPr>
          <p:cNvPr id="19" name="Text 17"/>
          <p:cNvSpPr txBox="1"/>
          <p:nvPr/>
        </p:nvSpPr>
        <p:spPr>
          <a:xfrm>
            <a:off x="6080760" y="4069080"/>
            <a:ext cx="3108960" cy="640080"/>
          </a:xfrm>
          <a:prstGeom prst="rect">
            <a:avLst/>
          </a:prstGeom>
          <a:noFill/>
          <a:ln/>
        </p:spPr>
        <p:txBody>
          <a:bodyPr wrap="square" lIns="0" tIns="0" rIns="0" bIns="0" rtlCol="0" anchor="ctr"/>
          <a:lstStyle/>
          <a:p>
            <a:pPr indent="0" marL="0">
              <a:lnSpc>
                <a:spcPct val="95000"/>
              </a:lnSpc>
              <a:buNone/>
            </a:pPr>
            <a:r>
              <a:rPr lang="en-US" sz="1100" dirty="0">
                <a:solidFill>
                  <a:srgbClr val="1E2A35"/>
                </a:solidFill>
                <a:latin typeface="Calibri" pitchFamily="34" charset="0"/>
                <a:ea typeface="Calibri" pitchFamily="34" charset="-122"/>
                <a:cs typeface="Calibri" pitchFamily="34" charset="-120"/>
              </a:rPr>
              <a:t>No incluyó algo que tampoco estaba.</a:t>
            </a:r>
            <a:endParaRPr lang="en-US" sz="1100" dirty="0"/>
          </a:p>
        </p:txBody>
      </p:sp>
      <p:sp>
        <p:nvSpPr>
          <p:cNvPr id="20" name="Text 18"/>
          <p:cNvSpPr txBox="1"/>
          <p:nvPr/>
        </p:nvSpPr>
        <p:spPr>
          <a:xfrm>
            <a:off x="640080" y="5029200"/>
            <a:ext cx="8686800" cy="822960"/>
          </a:xfrm>
          <a:prstGeom prst="rect">
            <a:avLst/>
          </a:prstGeom>
          <a:noFill/>
          <a:ln/>
        </p:spPr>
        <p:txBody>
          <a:bodyPr wrap="square" lIns="0" tIns="0" rIns="0" bIns="0" rtlCol="0" anchor="ctr"/>
          <a:lstStyle/>
          <a:p>
            <a:pPr indent="0" marL="0">
              <a:lnSpc>
                <a:spcPct val="100000"/>
              </a:lnSpc>
              <a:buNone/>
            </a:pPr>
            <a:r>
              <a:rPr lang="en-US" sz="1200" b="1" dirty="0">
                <a:solidFill>
                  <a:srgbClr val="1E2A35"/>
                </a:solidFill>
                <a:latin typeface="Calibri" pitchFamily="34" charset="0"/>
                <a:ea typeface="Calibri" pitchFamily="34" charset="-122"/>
                <a:cs typeface="Calibri" pitchFamily="34" charset="-120"/>
              </a:rPr>
              <a:t>El verdadero negativo no se puede contar en extracción. </a:t>
            </a:r>
            <a:pPr indent="0" marL="0">
              <a:lnSpc>
                <a:spcPct val="100000"/>
              </a:lnSpc>
              <a:buNone/>
            </a:pPr>
            <a:r>
              <a:rPr lang="en-US" sz="1200" dirty="0">
                <a:solidFill>
                  <a:srgbClr val="60707E"/>
                </a:solidFill>
                <a:latin typeface="Calibri" pitchFamily="34" charset="0"/>
                <a:ea typeface="Calibri" pitchFamily="34" charset="-122"/>
                <a:cs typeface="Calibri" pitchFamily="34" charset="-120"/>
              </a:rPr>
              <a:t>Nadie puede enumerar todo lo que la IA pudo inventar y no inventó, así que ese casillero no tiene número. Por eso en extracción no se usa exactitud, sino las dos medidas de la lámina siguiente.</a:t>
            </a:r>
            <a:endParaRPr lang="en-US" sz="1200" dirty="0"/>
          </a:p>
        </p:txBody>
      </p:sp>
      <p:sp>
        <p:nvSpPr>
          <p:cNvPr id="21" name="Shape 19"/>
          <p:cNvSpPr/>
          <p:nvPr/>
        </p:nvSpPr>
        <p:spPr>
          <a:xfrm>
            <a:off x="548640" y="6053328"/>
            <a:ext cx="11091672" cy="603504"/>
          </a:xfrm>
          <a:prstGeom prst="rect">
            <a:avLst/>
          </a:prstGeom>
          <a:solidFill>
            <a:srgbClr val="FBEEE5"/>
          </a:solidFill>
          <a:ln/>
        </p:spPr>
      </p:sp>
      <p:sp>
        <p:nvSpPr>
          <p:cNvPr id="22" name="Shape 20"/>
          <p:cNvSpPr/>
          <p:nvPr/>
        </p:nvSpPr>
        <p:spPr>
          <a:xfrm>
            <a:off x="749808" y="6272784"/>
            <a:ext cx="164592" cy="164592"/>
          </a:xfrm>
          <a:prstGeom prst="roundRect">
            <a:avLst>
              <a:gd name="adj" fmla="val 22222"/>
            </a:avLst>
          </a:prstGeom>
          <a:solidFill>
            <a:srgbClr val="CB5E2E"/>
          </a:solidFill>
          <a:ln/>
        </p:spPr>
      </p:sp>
      <p:sp>
        <p:nvSpPr>
          <p:cNvPr id="23" name="Text 21"/>
          <p:cNvSpPr txBox="1"/>
          <p:nvPr/>
        </p:nvSpPr>
        <p:spPr>
          <a:xfrm>
            <a:off x="1051560" y="6053328"/>
            <a:ext cx="10405872" cy="603504"/>
          </a:xfrm>
          <a:prstGeom prst="rect">
            <a:avLst/>
          </a:prstGeom>
          <a:noFill/>
          <a:ln/>
        </p:spPr>
        <p:txBody>
          <a:bodyPr wrap="square" lIns="0" tIns="0" rIns="0" bIns="0" rtlCol="0" anchor="ctr"/>
          <a:lstStyle/>
          <a:p>
            <a:pPr indent="0" marL="0">
              <a:buNone/>
            </a:pPr>
            <a:r>
              <a:rPr lang="en-US" sz="1250" dirty="0">
                <a:solidFill>
                  <a:srgbClr val="8C3E19"/>
                </a:solidFill>
                <a:latin typeface="Calibri" pitchFamily="34" charset="0"/>
                <a:ea typeface="Calibri" pitchFamily="34" charset="-122"/>
                <a:cs typeface="Calibri" pitchFamily="34" charset="-120"/>
              </a:rPr>
              <a:t>Inventar acusa a la entidad de algo que no hizo. Omitir deja la evaluación incompleta. Son riesgos distintos, y conviene medirlos por separado.</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1E2A35"/>
                </a:solidFill>
                <a:latin typeface="Calibri" pitchFamily="34" charset="0"/>
                <a:ea typeface="Calibri" pitchFamily="34" charset="-122"/>
                <a:cs typeface="Calibri" pitchFamily="34" charset="-120"/>
              </a:rPr>
              <a:t>Ejemplo: extraer los requisitos de una beca</a:t>
            </a:r>
            <a:endParaRPr lang="en-US" sz="2900" dirty="0"/>
          </a:p>
        </p:txBody>
      </p:sp>
      <p:sp>
        <p:nvSpPr>
          <p:cNvPr id="3" name="Text 1"/>
          <p:cNvSpPr txBox="1"/>
          <p:nvPr/>
        </p:nvSpPr>
        <p:spPr>
          <a:xfrm>
            <a:off x="548640" y="1042416"/>
            <a:ext cx="11091672" cy="457200"/>
          </a:xfrm>
          <a:prstGeom prst="rect">
            <a:avLst/>
          </a:prstGeom>
          <a:noFill/>
          <a:ln/>
        </p:spPr>
        <p:txBody>
          <a:bodyPr wrap="square" lIns="0" tIns="0" rIns="0" bIns="0" rtlCol="0" anchor="ctr"/>
          <a:lstStyle/>
          <a:p>
            <a:pPr indent="0" marL="0">
              <a:buNone/>
            </a:pPr>
            <a:r>
              <a:rPr lang="en-US" sz="1400" dirty="0">
                <a:solidFill>
                  <a:srgbClr val="60707E"/>
                </a:solidFill>
                <a:latin typeface="Calibri" pitchFamily="34" charset="0"/>
                <a:ea typeface="Calibri" pitchFamily="34" charset="-122"/>
                <a:cs typeface="Calibri" pitchFamily="34" charset="-120"/>
              </a:rPr>
              <a:t>El artículo lista 5 requisitos. Le pedimos a la IA que los extraiga. Marquemos cada renglón.</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5760720"/>
                <a:gridCol w="2743200"/>
                <a:gridCol w="2587752"/>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Requisito en el artículo (la norma)</a:t>
                      </a:r>
                      <a:endParaRPr lang="en-US" sz="13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5293B"/>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¿Apareció en la salida de la IA?</a:t>
                      </a:r>
                      <a:endParaRPr lang="en-US" sz="13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5293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Veredicto</a:t>
                      </a:r>
                      <a:endParaRPr lang="en-US" sz="13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5293B"/>
                    </a:solidFill>
                  </a:tcPr>
                </a:tc>
              </a:tr>
              <a:tr h="457200">
                <a:tc>
                  <a:txBody>
                    <a:bodyPr/>
                    <a:lstStyle/>
                    <a:p>
                      <a:pPr algn="l" indent="0" marL="0">
                        <a:buNone/>
                      </a:pPr>
                      <a:r>
                        <a:rPr lang="en-US" sz="1250" dirty="0">
                          <a:solidFill>
                            <a:srgbClr val="1E2A35"/>
                          </a:solidFill>
                          <a:latin typeface="Calibri" pitchFamily="34" charset="0"/>
                          <a:ea typeface="Calibri" pitchFamily="34" charset="-122"/>
                          <a:cs typeface="Calibri" pitchFamily="34" charset="-120"/>
                        </a:rPr>
                        <a:t>1. Estar inscrito en una institución pública de EMS</a:t>
                      </a:r>
                      <a:endParaRPr lang="en-US" sz="125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2A35"/>
                          </a:solidFill>
                          <a:latin typeface="Calibri" pitchFamily="34" charset="0"/>
                          <a:ea typeface="Calibri" pitchFamily="34" charset="-122"/>
                          <a:cs typeface="Calibri" pitchFamily="34" charset="-120"/>
                        </a:rPr>
                        <a:t>Sí</a:t>
                      </a:r>
                      <a:endParaRPr lang="en-US" sz="125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E6E49"/>
                          </a:solidFill>
                          <a:latin typeface="Calibri" pitchFamily="34" charset="0"/>
                          <a:ea typeface="Calibri" pitchFamily="34" charset="-122"/>
                          <a:cs typeface="Calibri" pitchFamily="34" charset="-120"/>
                        </a:rPr>
                        <a:t>Verdadero positivo</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7F2EA"/>
                    </a:solidFill>
                  </a:tcPr>
                </a:tc>
              </a:tr>
              <a:tr h="457200">
                <a:tc>
                  <a:txBody>
                    <a:bodyPr/>
                    <a:lstStyle/>
                    <a:p>
                      <a:pPr algn="l" indent="0" marL="0">
                        <a:buNone/>
                      </a:pPr>
                      <a:r>
                        <a:rPr lang="en-US" sz="1250" dirty="0">
                          <a:solidFill>
                            <a:srgbClr val="1E2A35"/>
                          </a:solidFill>
                          <a:latin typeface="Calibri" pitchFamily="34" charset="0"/>
                          <a:ea typeface="Calibri" pitchFamily="34" charset="-122"/>
                          <a:cs typeface="Calibri" pitchFamily="34" charset="-120"/>
                        </a:rPr>
                        <a:t>2. Tener menos de 18 años al inicio del ciclo</a:t>
                      </a:r>
                      <a:endParaRPr lang="en-US" sz="125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2A35"/>
                          </a:solidFill>
                          <a:latin typeface="Calibri" pitchFamily="34" charset="0"/>
                          <a:ea typeface="Calibri" pitchFamily="34" charset="-122"/>
                          <a:cs typeface="Calibri" pitchFamily="34" charset="-120"/>
                        </a:rPr>
                        <a:t>Sí</a:t>
                      </a:r>
                      <a:endParaRPr lang="en-US" sz="125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E6E49"/>
                          </a:solidFill>
                          <a:latin typeface="Calibri" pitchFamily="34" charset="0"/>
                          <a:ea typeface="Calibri" pitchFamily="34" charset="-122"/>
                          <a:cs typeface="Calibri" pitchFamily="34" charset="-120"/>
                        </a:rPr>
                        <a:t>Verdadero positivo</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7F2EA"/>
                    </a:solidFill>
                  </a:tcPr>
                </a:tc>
              </a:tr>
              <a:tr h="457200">
                <a:tc>
                  <a:txBody>
                    <a:bodyPr/>
                    <a:lstStyle/>
                    <a:p>
                      <a:pPr algn="l" indent="0" marL="0">
                        <a:buNone/>
                      </a:pPr>
                      <a:r>
                        <a:rPr lang="en-US" sz="1250" dirty="0">
                          <a:solidFill>
                            <a:srgbClr val="1E2A35"/>
                          </a:solidFill>
                          <a:latin typeface="Calibri" pitchFamily="34" charset="0"/>
                          <a:ea typeface="Calibri" pitchFamily="34" charset="-122"/>
                          <a:cs typeface="Calibri" pitchFamily="34" charset="-120"/>
                        </a:rPr>
                        <a:t>3. Promedio mínimo de 8.0 en el ciclo anterior</a:t>
                      </a:r>
                      <a:endParaRPr lang="en-US" sz="125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2A35"/>
                          </a:solidFill>
                          <a:latin typeface="Calibri" pitchFamily="34" charset="0"/>
                          <a:ea typeface="Calibri" pitchFamily="34" charset="-122"/>
                          <a:cs typeface="Calibri" pitchFamily="34" charset="-120"/>
                        </a:rPr>
                        <a:t>Sí</a:t>
                      </a:r>
                      <a:endParaRPr lang="en-US" sz="125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E6E49"/>
                          </a:solidFill>
                          <a:latin typeface="Calibri" pitchFamily="34" charset="0"/>
                          <a:ea typeface="Calibri" pitchFamily="34" charset="-122"/>
                          <a:cs typeface="Calibri" pitchFamily="34" charset="-120"/>
                        </a:rPr>
                        <a:t>Verdadero positivo</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7F2EA"/>
                    </a:solidFill>
                  </a:tcPr>
                </a:tc>
              </a:tr>
              <a:tr h="457200">
                <a:tc>
                  <a:txBody>
                    <a:bodyPr/>
                    <a:lstStyle/>
                    <a:p>
                      <a:pPr algn="l" indent="0" marL="0">
                        <a:buNone/>
                      </a:pPr>
                      <a:r>
                        <a:rPr lang="en-US" sz="1250" dirty="0">
                          <a:solidFill>
                            <a:srgbClr val="1E2A35"/>
                          </a:solidFill>
                          <a:latin typeface="Calibri" pitchFamily="34" charset="0"/>
                          <a:ea typeface="Calibri" pitchFamily="34" charset="-122"/>
                          <a:cs typeface="Calibri" pitchFamily="34" charset="-120"/>
                        </a:rPr>
                        <a:t>4. No ser beneficiario de otra beca federal</a:t>
                      </a:r>
                      <a:endParaRPr lang="en-US" sz="125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2A35"/>
                          </a:solidFill>
                          <a:latin typeface="Calibri" pitchFamily="34" charset="0"/>
                          <a:ea typeface="Calibri" pitchFamily="34" charset="-122"/>
                          <a:cs typeface="Calibri" pitchFamily="34" charset="-120"/>
                        </a:rPr>
                        <a:t>No aparece</a:t>
                      </a:r>
                      <a:endParaRPr lang="en-US" sz="125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A23B22"/>
                          </a:solidFill>
                          <a:latin typeface="Calibri" pitchFamily="34" charset="0"/>
                          <a:ea typeface="Calibri" pitchFamily="34" charset="-122"/>
                          <a:cs typeface="Calibri" pitchFamily="34" charset="-120"/>
                        </a:rPr>
                        <a:t>Falso negativo (omitió)</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9E7E3"/>
                    </a:solidFill>
                  </a:tcPr>
                </a:tc>
              </a:tr>
              <a:tr h="457200">
                <a:tc>
                  <a:txBody>
                    <a:bodyPr/>
                    <a:lstStyle/>
                    <a:p>
                      <a:pPr algn="l" indent="0" marL="0">
                        <a:buNone/>
                      </a:pPr>
                      <a:r>
                        <a:rPr lang="en-US" sz="1250" dirty="0">
                          <a:solidFill>
                            <a:srgbClr val="1E2A35"/>
                          </a:solidFill>
                          <a:latin typeface="Calibri" pitchFamily="34" charset="0"/>
                          <a:ea typeface="Calibri" pitchFamily="34" charset="-122"/>
                          <a:cs typeface="Calibri" pitchFamily="34" charset="-120"/>
                        </a:rPr>
                        <a:t>5. Pertenecer a un hogar en situación de pobreza</a:t>
                      </a:r>
                      <a:endParaRPr lang="en-US" sz="125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2A35"/>
                          </a:solidFill>
                          <a:latin typeface="Calibri" pitchFamily="34" charset="0"/>
                          <a:ea typeface="Calibri" pitchFamily="34" charset="-122"/>
                          <a:cs typeface="Calibri" pitchFamily="34" charset="-120"/>
                        </a:rPr>
                        <a:t>No aparece</a:t>
                      </a:r>
                      <a:endParaRPr lang="en-US" sz="125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A23B22"/>
                          </a:solidFill>
                          <a:latin typeface="Calibri" pitchFamily="34" charset="0"/>
                          <a:ea typeface="Calibri" pitchFamily="34" charset="-122"/>
                          <a:cs typeface="Calibri" pitchFamily="34" charset="-120"/>
                        </a:rPr>
                        <a:t>Falso negativo (omitió)</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9E7E3"/>
                    </a:solidFill>
                  </a:tcPr>
                </a:tc>
              </a:tr>
              <a:tr h="457200">
                <a:tc>
                  <a:txBody>
                    <a:bodyPr/>
                    <a:lstStyle/>
                    <a:p>
                      <a:pPr algn="l" indent="0" marL="0">
                        <a:buNone/>
                      </a:pPr>
                      <a:r>
                        <a:rPr lang="en-US" sz="1250" dirty="0">
                          <a:solidFill>
                            <a:srgbClr val="1E2A35"/>
                          </a:solidFill>
                          <a:latin typeface="Calibri" pitchFamily="34" charset="0"/>
                          <a:ea typeface="Calibri" pitchFamily="34" charset="-122"/>
                          <a:cs typeface="Calibri" pitchFamily="34" charset="-120"/>
                        </a:rPr>
                        <a:t>(+) Carta de recomendación escolar</a:t>
                      </a:r>
                      <a:endParaRPr lang="en-US" sz="125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2A35"/>
                          </a:solidFill>
                          <a:latin typeface="Calibri" pitchFamily="34" charset="0"/>
                          <a:ea typeface="Calibri" pitchFamily="34" charset="-122"/>
                          <a:cs typeface="Calibri" pitchFamily="34" charset="-120"/>
                        </a:rPr>
                        <a:t>La IA la agregó</a:t>
                      </a:r>
                      <a:endParaRPr lang="en-US" sz="125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A23B22"/>
                          </a:solidFill>
                          <a:latin typeface="Calibri" pitchFamily="34" charset="0"/>
                          <a:ea typeface="Calibri" pitchFamily="34" charset="-122"/>
                          <a:cs typeface="Calibri" pitchFamily="34" charset="-120"/>
                        </a:rPr>
                        <a:t>Falso positivo (inventó)</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9E7E3"/>
                    </a:solidFill>
                  </a:tcPr>
                </a:tc>
              </a:tr>
            </a:tbl>
          </a:graphicData>
        </a:graphic>
      </p:graphicFrame>
      <p:sp>
        <p:nvSpPr>
          <p:cNvPr id="5" name="Shape 2"/>
          <p:cNvSpPr/>
          <p:nvPr/>
        </p:nvSpPr>
        <p:spPr>
          <a:xfrm>
            <a:off x="548640" y="5349240"/>
            <a:ext cx="3502152" cy="566928"/>
          </a:xfrm>
          <a:prstGeom prst="roundRect">
            <a:avLst>
              <a:gd name="adj" fmla="val 8065"/>
            </a:avLst>
          </a:prstGeom>
          <a:solidFill>
            <a:srgbClr val="E7F2EA"/>
          </a:solidFill>
          <a:ln/>
        </p:spPr>
      </p:sp>
      <p:sp>
        <p:nvSpPr>
          <p:cNvPr id="6" name="Text 3"/>
          <p:cNvSpPr txBox="1"/>
          <p:nvPr/>
        </p:nvSpPr>
        <p:spPr>
          <a:xfrm>
            <a:off x="731520" y="5349240"/>
            <a:ext cx="3227832" cy="566928"/>
          </a:xfrm>
          <a:prstGeom prst="rect">
            <a:avLst/>
          </a:prstGeom>
          <a:noFill/>
          <a:ln/>
        </p:spPr>
        <p:txBody>
          <a:bodyPr wrap="square" lIns="0" tIns="0" rIns="0" bIns="0" rtlCol="0" anchor="ctr"/>
          <a:lstStyle/>
          <a:p>
            <a:pPr indent="0" marL="0">
              <a:buNone/>
            </a:pPr>
            <a:r>
              <a:rPr lang="en-US" sz="1250" dirty="0">
                <a:solidFill>
                  <a:srgbClr val="2E6E49"/>
                </a:solidFill>
                <a:latin typeface="Calibri" pitchFamily="34" charset="0"/>
                <a:ea typeface="Calibri" pitchFamily="34" charset="-122"/>
                <a:cs typeface="Calibri" pitchFamily="34" charset="-120"/>
              </a:rPr>
              <a:t>Verdaderos positivos  </a:t>
            </a:r>
            <a:pPr indent="0" marL="0">
              <a:buNone/>
            </a:pPr>
            <a:r>
              <a:rPr lang="en-US" sz="1500" b="1" dirty="0">
                <a:solidFill>
                  <a:srgbClr val="2E6E49"/>
                </a:solidFill>
                <a:latin typeface="Calibri" pitchFamily="34" charset="0"/>
                <a:ea typeface="Calibri" pitchFamily="34" charset="-122"/>
                <a:cs typeface="Calibri" pitchFamily="34" charset="-120"/>
              </a:rPr>
              <a:t>3</a:t>
            </a:r>
            <a:endParaRPr lang="en-US" sz="1250" dirty="0"/>
          </a:p>
        </p:txBody>
      </p:sp>
      <p:sp>
        <p:nvSpPr>
          <p:cNvPr id="7" name="Shape 4"/>
          <p:cNvSpPr/>
          <p:nvPr/>
        </p:nvSpPr>
        <p:spPr>
          <a:xfrm>
            <a:off x="4343400" y="5349240"/>
            <a:ext cx="3502152" cy="566928"/>
          </a:xfrm>
          <a:prstGeom prst="roundRect">
            <a:avLst>
              <a:gd name="adj" fmla="val 8065"/>
            </a:avLst>
          </a:prstGeom>
          <a:solidFill>
            <a:srgbClr val="F9E7E3"/>
          </a:solidFill>
          <a:ln/>
        </p:spPr>
      </p:sp>
      <p:sp>
        <p:nvSpPr>
          <p:cNvPr id="8" name="Text 5"/>
          <p:cNvSpPr txBox="1"/>
          <p:nvPr/>
        </p:nvSpPr>
        <p:spPr>
          <a:xfrm>
            <a:off x="4526280" y="5349240"/>
            <a:ext cx="3227832" cy="566928"/>
          </a:xfrm>
          <a:prstGeom prst="rect">
            <a:avLst/>
          </a:prstGeom>
          <a:noFill/>
          <a:ln/>
        </p:spPr>
        <p:txBody>
          <a:bodyPr wrap="square" lIns="0" tIns="0" rIns="0" bIns="0" rtlCol="0" anchor="ctr"/>
          <a:lstStyle/>
          <a:p>
            <a:pPr indent="0" marL="0">
              <a:buNone/>
            </a:pPr>
            <a:r>
              <a:rPr lang="en-US" sz="1250" dirty="0">
                <a:solidFill>
                  <a:srgbClr val="A23B22"/>
                </a:solidFill>
                <a:latin typeface="Calibri" pitchFamily="34" charset="0"/>
                <a:ea typeface="Calibri" pitchFamily="34" charset="-122"/>
                <a:cs typeface="Calibri" pitchFamily="34" charset="-120"/>
              </a:rPr>
              <a:t>Falsos positivos (inventó)  </a:t>
            </a:r>
            <a:pPr indent="0" marL="0">
              <a:buNone/>
            </a:pPr>
            <a:r>
              <a:rPr lang="en-US" sz="1500" b="1" dirty="0">
                <a:solidFill>
                  <a:srgbClr val="A23B22"/>
                </a:solidFill>
                <a:latin typeface="Calibri" pitchFamily="34" charset="0"/>
                <a:ea typeface="Calibri" pitchFamily="34" charset="-122"/>
                <a:cs typeface="Calibri" pitchFamily="34" charset="-120"/>
              </a:rPr>
              <a:t>1</a:t>
            </a:r>
            <a:endParaRPr lang="en-US" sz="1250" dirty="0"/>
          </a:p>
        </p:txBody>
      </p:sp>
      <p:sp>
        <p:nvSpPr>
          <p:cNvPr id="9" name="Shape 6"/>
          <p:cNvSpPr/>
          <p:nvPr/>
        </p:nvSpPr>
        <p:spPr>
          <a:xfrm>
            <a:off x="8138160" y="5349240"/>
            <a:ext cx="3502152" cy="566928"/>
          </a:xfrm>
          <a:prstGeom prst="roundRect">
            <a:avLst>
              <a:gd name="adj" fmla="val 8065"/>
            </a:avLst>
          </a:prstGeom>
          <a:solidFill>
            <a:srgbClr val="F9E7E3"/>
          </a:solidFill>
          <a:ln/>
        </p:spPr>
      </p:sp>
      <p:sp>
        <p:nvSpPr>
          <p:cNvPr id="10" name="Text 7"/>
          <p:cNvSpPr txBox="1"/>
          <p:nvPr/>
        </p:nvSpPr>
        <p:spPr>
          <a:xfrm>
            <a:off x="8321040" y="5349240"/>
            <a:ext cx="3227832" cy="566928"/>
          </a:xfrm>
          <a:prstGeom prst="rect">
            <a:avLst/>
          </a:prstGeom>
          <a:noFill/>
          <a:ln/>
        </p:spPr>
        <p:txBody>
          <a:bodyPr wrap="square" lIns="0" tIns="0" rIns="0" bIns="0" rtlCol="0" anchor="ctr"/>
          <a:lstStyle/>
          <a:p>
            <a:pPr indent="0" marL="0">
              <a:buNone/>
            </a:pPr>
            <a:r>
              <a:rPr lang="en-US" sz="1250" dirty="0">
                <a:solidFill>
                  <a:srgbClr val="A23B22"/>
                </a:solidFill>
                <a:latin typeface="Calibri" pitchFamily="34" charset="0"/>
                <a:ea typeface="Calibri" pitchFamily="34" charset="-122"/>
                <a:cs typeface="Calibri" pitchFamily="34" charset="-120"/>
              </a:rPr>
              <a:t>Falsos negativos (omitió)  </a:t>
            </a:r>
            <a:pPr indent="0" marL="0">
              <a:buNone/>
            </a:pPr>
            <a:r>
              <a:rPr lang="en-US" sz="1500" b="1" dirty="0">
                <a:solidFill>
                  <a:srgbClr val="A23B22"/>
                </a:solidFill>
                <a:latin typeface="Calibri" pitchFamily="34" charset="0"/>
                <a:ea typeface="Calibri" pitchFamily="34" charset="-122"/>
                <a:cs typeface="Calibri" pitchFamily="34" charset="-120"/>
              </a:rPr>
              <a:t>2</a:t>
            </a:r>
            <a:endParaRPr lang="en-US" sz="1250" dirty="0"/>
          </a:p>
        </p:txBody>
      </p:sp>
      <p:sp>
        <p:nvSpPr>
          <p:cNvPr id="11" name="Shape 8"/>
          <p:cNvSpPr/>
          <p:nvPr/>
        </p:nvSpPr>
        <p:spPr>
          <a:xfrm>
            <a:off x="548640" y="6053328"/>
            <a:ext cx="11091672" cy="603504"/>
          </a:xfrm>
          <a:prstGeom prst="rect">
            <a:avLst/>
          </a:prstGeom>
          <a:solidFill>
            <a:srgbClr val="FBEEE5"/>
          </a:solidFill>
          <a:ln/>
        </p:spPr>
      </p:sp>
      <p:sp>
        <p:nvSpPr>
          <p:cNvPr id="12" name="Shape 9"/>
          <p:cNvSpPr/>
          <p:nvPr/>
        </p:nvSpPr>
        <p:spPr>
          <a:xfrm>
            <a:off x="749808" y="6272784"/>
            <a:ext cx="164592" cy="164592"/>
          </a:xfrm>
          <a:prstGeom prst="roundRect">
            <a:avLst>
              <a:gd name="adj" fmla="val 22222"/>
            </a:avLst>
          </a:prstGeom>
          <a:solidFill>
            <a:srgbClr val="CB5E2E"/>
          </a:solidFill>
          <a:ln/>
        </p:spPr>
      </p:sp>
      <p:sp>
        <p:nvSpPr>
          <p:cNvPr id="13" name="Text 10"/>
          <p:cNvSpPr txBox="1"/>
          <p:nvPr/>
        </p:nvSpPr>
        <p:spPr>
          <a:xfrm>
            <a:off x="1051560" y="6053328"/>
            <a:ext cx="10405872" cy="603504"/>
          </a:xfrm>
          <a:prstGeom prst="rect">
            <a:avLst/>
          </a:prstGeom>
          <a:noFill/>
          <a:ln/>
        </p:spPr>
        <p:txBody>
          <a:bodyPr wrap="square" lIns="0" tIns="0" rIns="0" bIns="0" rtlCol="0" anchor="ctr"/>
          <a:lstStyle/>
          <a:p>
            <a:pPr indent="0" marL="0">
              <a:buNone/>
            </a:pPr>
            <a:r>
              <a:rPr lang="en-US" sz="1250" dirty="0">
                <a:solidFill>
                  <a:srgbClr val="8C3E19"/>
                </a:solidFill>
                <a:latin typeface="Calibri" pitchFamily="34" charset="0"/>
                <a:ea typeface="Calibri" pitchFamily="34" charset="-122"/>
                <a:cs typeface="Calibri" pitchFamily="34" charset="-120"/>
              </a:rPr>
              <a:t>La IA entregó 4 elementos: 3 correctos, 1 inventado, y se le escaparon 2. Ahora traducimos eso a tres números.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1E2A35"/>
                </a:solidFill>
                <a:latin typeface="Calibri" pitchFamily="34" charset="0"/>
                <a:ea typeface="Calibri" pitchFamily="34" charset="-122"/>
                <a:cs typeface="Calibri" pitchFamily="34" charset="-120"/>
              </a:rPr>
              <a:t>Precisión, recuperación y F1</a:t>
            </a:r>
            <a:endParaRPr lang="en-US" sz="2900" dirty="0"/>
          </a:p>
        </p:txBody>
      </p:sp>
      <p:sp>
        <p:nvSpPr>
          <p:cNvPr id="3" name="Text 1"/>
          <p:cNvSpPr txBox="1"/>
          <p:nvPr/>
        </p:nvSpPr>
        <p:spPr>
          <a:xfrm>
            <a:off x="548640" y="1042416"/>
            <a:ext cx="11091672" cy="457200"/>
          </a:xfrm>
          <a:prstGeom prst="rect">
            <a:avLst/>
          </a:prstGeom>
          <a:noFill/>
          <a:ln/>
        </p:spPr>
        <p:txBody>
          <a:bodyPr wrap="square" lIns="0" tIns="0" rIns="0" bIns="0" rtlCol="0" anchor="ctr"/>
          <a:lstStyle/>
          <a:p>
            <a:pPr indent="0" marL="0">
              <a:buNone/>
            </a:pPr>
            <a:r>
              <a:rPr lang="en-US" sz="1400" dirty="0">
                <a:solidFill>
                  <a:srgbClr val="60707E"/>
                </a:solidFill>
                <a:latin typeface="Calibri" pitchFamily="34" charset="0"/>
                <a:ea typeface="Calibri" pitchFamily="34" charset="-122"/>
                <a:cs typeface="Calibri" pitchFamily="34" charset="-120"/>
              </a:rPr>
              <a:t>Los mismos conteos (VP=3, FP=1, FN=2), leídos como tres preguntas distintas.</a:t>
            </a:r>
            <a:endParaRPr lang="en-US" sz="1400" dirty="0"/>
          </a:p>
        </p:txBody>
      </p:sp>
      <p:sp>
        <p:nvSpPr>
          <p:cNvPr id="4" name="Shape 2"/>
          <p:cNvSpPr/>
          <p:nvPr/>
        </p:nvSpPr>
        <p:spPr>
          <a:xfrm>
            <a:off x="548640" y="1874520"/>
            <a:ext cx="3502152" cy="2331720"/>
          </a:xfrm>
          <a:prstGeom prst="roundRect">
            <a:avLst>
              <a:gd name="adj" fmla="val 2353"/>
            </a:avLst>
          </a:prstGeom>
          <a:solidFill>
            <a:srgbClr val="FFFFFF"/>
          </a:solidFill>
          <a:ln w="9525">
            <a:solidFill>
              <a:srgbClr val="D5DCE3"/>
            </a:solidFill>
            <a:prstDash val="solid"/>
          </a:ln>
        </p:spPr>
      </p:sp>
      <p:sp>
        <p:nvSpPr>
          <p:cNvPr id="5" name="Text 3"/>
          <p:cNvSpPr txBox="1"/>
          <p:nvPr/>
        </p:nvSpPr>
        <p:spPr>
          <a:xfrm>
            <a:off x="777240" y="2075688"/>
            <a:ext cx="3044952" cy="411480"/>
          </a:xfrm>
          <a:prstGeom prst="rect">
            <a:avLst/>
          </a:prstGeom>
          <a:noFill/>
          <a:ln/>
        </p:spPr>
        <p:txBody>
          <a:bodyPr wrap="square" lIns="0" tIns="0" rIns="0" bIns="0" rtlCol="0" anchor="ctr"/>
          <a:lstStyle/>
          <a:p>
            <a:pPr indent="0" marL="0">
              <a:buNone/>
            </a:pPr>
            <a:r>
              <a:rPr lang="en-US" sz="1700" b="1" dirty="0">
                <a:solidFill>
                  <a:srgbClr val="CB5E2E"/>
                </a:solidFill>
                <a:latin typeface="Calibri" pitchFamily="34" charset="0"/>
                <a:ea typeface="Calibri" pitchFamily="34" charset="-122"/>
                <a:cs typeface="Calibri" pitchFamily="34" charset="-120"/>
              </a:rPr>
              <a:t>Precisión</a:t>
            </a:r>
            <a:endParaRPr lang="en-US" sz="1700" dirty="0"/>
          </a:p>
        </p:txBody>
      </p:sp>
      <p:sp>
        <p:nvSpPr>
          <p:cNvPr id="6" name="Text 4"/>
          <p:cNvSpPr txBox="1"/>
          <p:nvPr/>
        </p:nvSpPr>
        <p:spPr>
          <a:xfrm>
            <a:off x="777240" y="2532888"/>
            <a:ext cx="3044952" cy="685800"/>
          </a:xfrm>
          <a:prstGeom prst="rect">
            <a:avLst/>
          </a:prstGeom>
          <a:noFill/>
          <a:ln/>
        </p:spPr>
        <p:txBody>
          <a:bodyPr wrap="square" lIns="0" tIns="0" rIns="0" bIns="0" rtlCol="0" anchor="ctr"/>
          <a:lstStyle/>
          <a:p>
            <a:pPr indent="0" marL="0">
              <a:lnSpc>
                <a:spcPct val="100000"/>
              </a:lnSpc>
              <a:buNone/>
            </a:pPr>
            <a:r>
              <a:rPr lang="en-US" sz="1250" dirty="0">
                <a:solidFill>
                  <a:srgbClr val="1E2A35"/>
                </a:solidFill>
                <a:latin typeface="Calibri" pitchFamily="34" charset="0"/>
                <a:ea typeface="Calibri" pitchFamily="34" charset="-122"/>
                <a:cs typeface="Calibri" pitchFamily="34" charset="-120"/>
              </a:rPr>
              <a:t>De lo que la IA entregó, ¿cuánto era correcto?</a:t>
            </a:r>
            <a:endParaRPr lang="en-US" sz="1250" dirty="0"/>
          </a:p>
        </p:txBody>
      </p:sp>
      <p:sp>
        <p:nvSpPr>
          <p:cNvPr id="7" name="Text 5"/>
          <p:cNvSpPr txBox="1"/>
          <p:nvPr/>
        </p:nvSpPr>
        <p:spPr>
          <a:xfrm>
            <a:off x="777240" y="3246120"/>
            <a:ext cx="3044952" cy="365760"/>
          </a:xfrm>
          <a:prstGeom prst="rect">
            <a:avLst/>
          </a:prstGeom>
          <a:noFill/>
          <a:ln/>
        </p:spPr>
        <p:txBody>
          <a:bodyPr wrap="square" lIns="0" tIns="0" rIns="0" bIns="0" rtlCol="0" anchor="ctr"/>
          <a:lstStyle/>
          <a:p>
            <a:pPr indent="0" marL="0">
              <a:buNone/>
            </a:pPr>
            <a:r>
              <a:rPr lang="en-US" sz="1250" i="1" dirty="0">
                <a:solidFill>
                  <a:srgbClr val="60707E"/>
                </a:solidFill>
                <a:latin typeface="Cambria" pitchFamily="34" charset="0"/>
                <a:ea typeface="Cambria" pitchFamily="34" charset="-122"/>
                <a:cs typeface="Cambria" pitchFamily="34" charset="-120"/>
              </a:rPr>
              <a:t>VP / (VP + FP)</a:t>
            </a:r>
            <a:endParaRPr lang="en-US" sz="1250" dirty="0"/>
          </a:p>
        </p:txBody>
      </p:sp>
      <p:sp>
        <p:nvSpPr>
          <p:cNvPr id="8" name="Text 6"/>
          <p:cNvSpPr txBox="1"/>
          <p:nvPr/>
        </p:nvSpPr>
        <p:spPr>
          <a:xfrm>
            <a:off x="777240" y="3611880"/>
            <a:ext cx="3044952" cy="320040"/>
          </a:xfrm>
          <a:prstGeom prst="rect">
            <a:avLst/>
          </a:prstGeom>
          <a:noFill/>
          <a:ln/>
        </p:spPr>
        <p:txBody>
          <a:bodyPr wrap="square" lIns="0" tIns="0" rIns="0" bIns="0" rtlCol="0" anchor="ctr"/>
          <a:lstStyle/>
          <a:p>
            <a:pPr indent="0" marL="0">
              <a:buNone/>
            </a:pPr>
            <a:r>
              <a:rPr lang="en-US" sz="1200" dirty="0">
                <a:solidFill>
                  <a:srgbClr val="60707E"/>
                </a:solidFill>
                <a:latin typeface="Calibri" pitchFamily="34" charset="0"/>
                <a:ea typeface="Calibri" pitchFamily="34" charset="-122"/>
                <a:cs typeface="Calibri" pitchFamily="34" charset="-120"/>
              </a:rPr>
              <a:t>3 / (3 + 1)</a:t>
            </a:r>
            <a:endParaRPr lang="en-US" sz="1200" dirty="0"/>
          </a:p>
        </p:txBody>
      </p:sp>
      <p:sp>
        <p:nvSpPr>
          <p:cNvPr id="9" name="Text 7"/>
          <p:cNvSpPr txBox="1"/>
          <p:nvPr/>
        </p:nvSpPr>
        <p:spPr>
          <a:xfrm>
            <a:off x="777240" y="3867912"/>
            <a:ext cx="3044952" cy="274320"/>
          </a:xfrm>
          <a:prstGeom prst="rect">
            <a:avLst/>
          </a:prstGeom>
          <a:noFill/>
          <a:ln/>
        </p:spPr>
        <p:txBody>
          <a:bodyPr wrap="square" lIns="0" tIns="0" rIns="0" bIns="0" rtlCol="0" anchor="ctr"/>
          <a:lstStyle/>
          <a:p>
            <a:pPr indent="0" marL="0">
              <a:buNone/>
            </a:pPr>
            <a:r>
              <a:rPr lang="en-US" sz="1300" b="1" dirty="0">
                <a:solidFill>
                  <a:srgbClr val="1E2A35"/>
                </a:solidFill>
                <a:latin typeface="Cambria" pitchFamily="34" charset="0"/>
                <a:ea typeface="Cambria" pitchFamily="34" charset="-122"/>
                <a:cs typeface="Cambria" pitchFamily="34" charset="-120"/>
              </a:rPr>
              <a:t>= 0.75</a:t>
            </a:r>
            <a:endParaRPr lang="en-US" sz="1300" dirty="0"/>
          </a:p>
        </p:txBody>
      </p:sp>
      <p:sp>
        <p:nvSpPr>
          <p:cNvPr id="10" name="Shape 8"/>
          <p:cNvSpPr/>
          <p:nvPr/>
        </p:nvSpPr>
        <p:spPr>
          <a:xfrm>
            <a:off x="4343400" y="1874520"/>
            <a:ext cx="3502152" cy="2331720"/>
          </a:xfrm>
          <a:prstGeom prst="roundRect">
            <a:avLst>
              <a:gd name="adj" fmla="val 2353"/>
            </a:avLst>
          </a:prstGeom>
          <a:solidFill>
            <a:srgbClr val="FFFFFF"/>
          </a:solidFill>
          <a:ln w="9525">
            <a:solidFill>
              <a:srgbClr val="D5DCE3"/>
            </a:solidFill>
            <a:prstDash val="solid"/>
          </a:ln>
        </p:spPr>
      </p:sp>
      <p:sp>
        <p:nvSpPr>
          <p:cNvPr id="11" name="Text 9"/>
          <p:cNvSpPr txBox="1"/>
          <p:nvPr/>
        </p:nvSpPr>
        <p:spPr>
          <a:xfrm>
            <a:off x="4572000" y="2075688"/>
            <a:ext cx="3044952" cy="411480"/>
          </a:xfrm>
          <a:prstGeom prst="rect">
            <a:avLst/>
          </a:prstGeom>
          <a:noFill/>
          <a:ln/>
        </p:spPr>
        <p:txBody>
          <a:bodyPr wrap="square" lIns="0" tIns="0" rIns="0" bIns="0" rtlCol="0" anchor="ctr"/>
          <a:lstStyle/>
          <a:p>
            <a:pPr indent="0" marL="0">
              <a:buNone/>
            </a:pPr>
            <a:r>
              <a:rPr lang="en-US" sz="1700" b="1" dirty="0">
                <a:solidFill>
                  <a:srgbClr val="CB5E2E"/>
                </a:solidFill>
                <a:latin typeface="Calibri" pitchFamily="34" charset="0"/>
                <a:ea typeface="Calibri" pitchFamily="34" charset="-122"/>
                <a:cs typeface="Calibri" pitchFamily="34" charset="-120"/>
              </a:rPr>
              <a:t>Recuperación</a:t>
            </a:r>
            <a:endParaRPr lang="en-US" sz="1700" dirty="0"/>
          </a:p>
        </p:txBody>
      </p:sp>
      <p:sp>
        <p:nvSpPr>
          <p:cNvPr id="12" name="Text 10"/>
          <p:cNvSpPr txBox="1"/>
          <p:nvPr/>
        </p:nvSpPr>
        <p:spPr>
          <a:xfrm>
            <a:off x="4572000" y="2532888"/>
            <a:ext cx="3044952" cy="685800"/>
          </a:xfrm>
          <a:prstGeom prst="rect">
            <a:avLst/>
          </a:prstGeom>
          <a:noFill/>
          <a:ln/>
        </p:spPr>
        <p:txBody>
          <a:bodyPr wrap="square" lIns="0" tIns="0" rIns="0" bIns="0" rtlCol="0" anchor="ctr"/>
          <a:lstStyle/>
          <a:p>
            <a:pPr indent="0" marL="0">
              <a:lnSpc>
                <a:spcPct val="100000"/>
              </a:lnSpc>
              <a:buNone/>
            </a:pPr>
            <a:r>
              <a:rPr lang="en-US" sz="1250" dirty="0">
                <a:solidFill>
                  <a:srgbClr val="1E2A35"/>
                </a:solidFill>
                <a:latin typeface="Calibri" pitchFamily="34" charset="0"/>
                <a:ea typeface="Calibri" pitchFamily="34" charset="-122"/>
                <a:cs typeface="Calibri" pitchFamily="34" charset="-120"/>
              </a:rPr>
              <a:t>De lo que había que sacar, ¿cuánto encontró?</a:t>
            </a:r>
            <a:endParaRPr lang="en-US" sz="1250" dirty="0"/>
          </a:p>
        </p:txBody>
      </p:sp>
      <p:sp>
        <p:nvSpPr>
          <p:cNvPr id="13" name="Text 11"/>
          <p:cNvSpPr txBox="1"/>
          <p:nvPr/>
        </p:nvSpPr>
        <p:spPr>
          <a:xfrm>
            <a:off x="4572000" y="3246120"/>
            <a:ext cx="3044952" cy="365760"/>
          </a:xfrm>
          <a:prstGeom prst="rect">
            <a:avLst/>
          </a:prstGeom>
          <a:noFill/>
          <a:ln/>
        </p:spPr>
        <p:txBody>
          <a:bodyPr wrap="square" lIns="0" tIns="0" rIns="0" bIns="0" rtlCol="0" anchor="ctr"/>
          <a:lstStyle/>
          <a:p>
            <a:pPr indent="0" marL="0">
              <a:buNone/>
            </a:pPr>
            <a:r>
              <a:rPr lang="en-US" sz="1250" i="1" dirty="0">
                <a:solidFill>
                  <a:srgbClr val="60707E"/>
                </a:solidFill>
                <a:latin typeface="Cambria" pitchFamily="34" charset="0"/>
                <a:ea typeface="Cambria" pitchFamily="34" charset="-122"/>
                <a:cs typeface="Cambria" pitchFamily="34" charset="-120"/>
              </a:rPr>
              <a:t>VP / (VP + FN)</a:t>
            </a:r>
            <a:endParaRPr lang="en-US" sz="1250" dirty="0"/>
          </a:p>
        </p:txBody>
      </p:sp>
      <p:sp>
        <p:nvSpPr>
          <p:cNvPr id="14" name="Text 12"/>
          <p:cNvSpPr txBox="1"/>
          <p:nvPr/>
        </p:nvSpPr>
        <p:spPr>
          <a:xfrm>
            <a:off x="4572000" y="3611880"/>
            <a:ext cx="3044952" cy="320040"/>
          </a:xfrm>
          <a:prstGeom prst="rect">
            <a:avLst/>
          </a:prstGeom>
          <a:noFill/>
          <a:ln/>
        </p:spPr>
        <p:txBody>
          <a:bodyPr wrap="square" lIns="0" tIns="0" rIns="0" bIns="0" rtlCol="0" anchor="ctr"/>
          <a:lstStyle/>
          <a:p>
            <a:pPr indent="0" marL="0">
              <a:buNone/>
            </a:pPr>
            <a:r>
              <a:rPr lang="en-US" sz="1200" dirty="0">
                <a:solidFill>
                  <a:srgbClr val="60707E"/>
                </a:solidFill>
                <a:latin typeface="Calibri" pitchFamily="34" charset="0"/>
                <a:ea typeface="Calibri" pitchFamily="34" charset="-122"/>
                <a:cs typeface="Calibri" pitchFamily="34" charset="-120"/>
              </a:rPr>
              <a:t>3 / (3 + 2)</a:t>
            </a:r>
            <a:endParaRPr lang="en-US" sz="1200" dirty="0"/>
          </a:p>
        </p:txBody>
      </p:sp>
      <p:sp>
        <p:nvSpPr>
          <p:cNvPr id="15" name="Text 13"/>
          <p:cNvSpPr txBox="1"/>
          <p:nvPr/>
        </p:nvSpPr>
        <p:spPr>
          <a:xfrm>
            <a:off x="4572000" y="3867912"/>
            <a:ext cx="3044952" cy="274320"/>
          </a:xfrm>
          <a:prstGeom prst="rect">
            <a:avLst/>
          </a:prstGeom>
          <a:noFill/>
          <a:ln/>
        </p:spPr>
        <p:txBody>
          <a:bodyPr wrap="square" lIns="0" tIns="0" rIns="0" bIns="0" rtlCol="0" anchor="ctr"/>
          <a:lstStyle/>
          <a:p>
            <a:pPr indent="0" marL="0">
              <a:buNone/>
            </a:pPr>
            <a:r>
              <a:rPr lang="en-US" sz="1300" b="1" dirty="0">
                <a:solidFill>
                  <a:srgbClr val="1E2A35"/>
                </a:solidFill>
                <a:latin typeface="Cambria" pitchFamily="34" charset="0"/>
                <a:ea typeface="Cambria" pitchFamily="34" charset="-122"/>
                <a:cs typeface="Cambria" pitchFamily="34" charset="-120"/>
              </a:rPr>
              <a:t>= 0.60</a:t>
            </a:r>
            <a:endParaRPr lang="en-US" sz="1300" dirty="0"/>
          </a:p>
        </p:txBody>
      </p:sp>
      <p:sp>
        <p:nvSpPr>
          <p:cNvPr id="16" name="Shape 14"/>
          <p:cNvSpPr/>
          <p:nvPr/>
        </p:nvSpPr>
        <p:spPr>
          <a:xfrm>
            <a:off x="8138160" y="1874520"/>
            <a:ext cx="3502152" cy="2331720"/>
          </a:xfrm>
          <a:prstGeom prst="roundRect">
            <a:avLst>
              <a:gd name="adj" fmla="val 2353"/>
            </a:avLst>
          </a:prstGeom>
          <a:solidFill>
            <a:srgbClr val="FFFFFF"/>
          </a:solidFill>
          <a:ln w="9525">
            <a:solidFill>
              <a:srgbClr val="D5DCE3"/>
            </a:solidFill>
            <a:prstDash val="solid"/>
          </a:ln>
        </p:spPr>
      </p:sp>
      <p:sp>
        <p:nvSpPr>
          <p:cNvPr id="17" name="Text 15"/>
          <p:cNvSpPr txBox="1"/>
          <p:nvPr/>
        </p:nvSpPr>
        <p:spPr>
          <a:xfrm>
            <a:off x="8366760" y="2075688"/>
            <a:ext cx="3044952" cy="411480"/>
          </a:xfrm>
          <a:prstGeom prst="rect">
            <a:avLst/>
          </a:prstGeom>
          <a:noFill/>
          <a:ln/>
        </p:spPr>
        <p:txBody>
          <a:bodyPr wrap="square" lIns="0" tIns="0" rIns="0" bIns="0" rtlCol="0" anchor="ctr"/>
          <a:lstStyle/>
          <a:p>
            <a:pPr indent="0" marL="0">
              <a:buNone/>
            </a:pPr>
            <a:r>
              <a:rPr lang="en-US" sz="1700" b="1" dirty="0">
                <a:solidFill>
                  <a:srgbClr val="CB5E2E"/>
                </a:solidFill>
                <a:latin typeface="Calibri" pitchFamily="34" charset="0"/>
                <a:ea typeface="Calibri" pitchFamily="34" charset="-122"/>
                <a:cs typeface="Calibri" pitchFamily="34" charset="-120"/>
              </a:rPr>
              <a:t>F1</a:t>
            </a:r>
            <a:endParaRPr lang="en-US" sz="1700" dirty="0"/>
          </a:p>
        </p:txBody>
      </p:sp>
      <p:sp>
        <p:nvSpPr>
          <p:cNvPr id="18" name="Text 16"/>
          <p:cNvSpPr txBox="1"/>
          <p:nvPr/>
        </p:nvSpPr>
        <p:spPr>
          <a:xfrm>
            <a:off x="8366760" y="2532888"/>
            <a:ext cx="3044952" cy="685800"/>
          </a:xfrm>
          <a:prstGeom prst="rect">
            <a:avLst/>
          </a:prstGeom>
          <a:noFill/>
          <a:ln/>
        </p:spPr>
        <p:txBody>
          <a:bodyPr wrap="square" lIns="0" tIns="0" rIns="0" bIns="0" rtlCol="0" anchor="ctr"/>
          <a:lstStyle/>
          <a:p>
            <a:pPr indent="0" marL="0">
              <a:lnSpc>
                <a:spcPct val="100000"/>
              </a:lnSpc>
              <a:buNone/>
            </a:pPr>
            <a:r>
              <a:rPr lang="en-US" sz="1250" dirty="0">
                <a:solidFill>
                  <a:srgbClr val="1E2A35"/>
                </a:solidFill>
                <a:latin typeface="Calibri" pitchFamily="34" charset="0"/>
                <a:ea typeface="Calibri" pitchFamily="34" charset="-122"/>
                <a:cs typeface="Calibri" pitchFamily="34" charset="-120"/>
              </a:rPr>
              <a:t>Las dos en un solo número (media armónica).</a:t>
            </a:r>
            <a:endParaRPr lang="en-US" sz="1250" dirty="0"/>
          </a:p>
        </p:txBody>
      </p:sp>
      <p:sp>
        <p:nvSpPr>
          <p:cNvPr id="19" name="Text 17"/>
          <p:cNvSpPr txBox="1"/>
          <p:nvPr/>
        </p:nvSpPr>
        <p:spPr>
          <a:xfrm>
            <a:off x="8366760" y="3246120"/>
            <a:ext cx="3044952" cy="365760"/>
          </a:xfrm>
          <a:prstGeom prst="rect">
            <a:avLst/>
          </a:prstGeom>
          <a:noFill/>
          <a:ln/>
        </p:spPr>
        <p:txBody>
          <a:bodyPr wrap="square" lIns="0" tIns="0" rIns="0" bIns="0" rtlCol="0" anchor="ctr"/>
          <a:lstStyle/>
          <a:p>
            <a:pPr indent="0" marL="0">
              <a:buNone/>
            </a:pPr>
            <a:r>
              <a:rPr lang="en-US" sz="1250" i="1" dirty="0">
                <a:solidFill>
                  <a:srgbClr val="60707E"/>
                </a:solidFill>
                <a:latin typeface="Cambria" pitchFamily="34" charset="0"/>
                <a:ea typeface="Cambria" pitchFamily="34" charset="-122"/>
                <a:cs typeface="Cambria" pitchFamily="34" charset="-120"/>
              </a:rPr>
              <a:t>2·P·R / (P + R)</a:t>
            </a:r>
            <a:endParaRPr lang="en-US" sz="1250" dirty="0"/>
          </a:p>
        </p:txBody>
      </p:sp>
      <p:sp>
        <p:nvSpPr>
          <p:cNvPr id="20" name="Text 18"/>
          <p:cNvSpPr txBox="1"/>
          <p:nvPr/>
        </p:nvSpPr>
        <p:spPr>
          <a:xfrm>
            <a:off x="8366760" y="3611880"/>
            <a:ext cx="3044952" cy="320040"/>
          </a:xfrm>
          <a:prstGeom prst="rect">
            <a:avLst/>
          </a:prstGeom>
          <a:noFill/>
          <a:ln/>
        </p:spPr>
        <p:txBody>
          <a:bodyPr wrap="square" lIns="0" tIns="0" rIns="0" bIns="0" rtlCol="0" anchor="ctr"/>
          <a:lstStyle/>
          <a:p>
            <a:pPr indent="0" marL="0">
              <a:buNone/>
            </a:pPr>
            <a:r>
              <a:rPr lang="en-US" sz="1200" dirty="0">
                <a:solidFill>
                  <a:srgbClr val="60707E"/>
                </a:solidFill>
                <a:latin typeface="Calibri" pitchFamily="34" charset="0"/>
                <a:ea typeface="Calibri" pitchFamily="34" charset="-122"/>
                <a:cs typeface="Calibri" pitchFamily="34" charset="-120"/>
              </a:rPr>
              <a:t>2·0.75·0.60 / 1.35</a:t>
            </a:r>
            <a:endParaRPr lang="en-US" sz="1200" dirty="0"/>
          </a:p>
        </p:txBody>
      </p:sp>
      <p:sp>
        <p:nvSpPr>
          <p:cNvPr id="21" name="Text 19"/>
          <p:cNvSpPr txBox="1"/>
          <p:nvPr/>
        </p:nvSpPr>
        <p:spPr>
          <a:xfrm>
            <a:off x="8366760" y="3867912"/>
            <a:ext cx="3044952" cy="274320"/>
          </a:xfrm>
          <a:prstGeom prst="rect">
            <a:avLst/>
          </a:prstGeom>
          <a:noFill/>
          <a:ln/>
        </p:spPr>
        <p:txBody>
          <a:bodyPr wrap="square" lIns="0" tIns="0" rIns="0" bIns="0" rtlCol="0" anchor="ctr"/>
          <a:lstStyle/>
          <a:p>
            <a:pPr indent="0" marL="0">
              <a:buNone/>
            </a:pPr>
            <a:r>
              <a:rPr lang="en-US" sz="1300" b="1" dirty="0">
                <a:solidFill>
                  <a:srgbClr val="1E2A35"/>
                </a:solidFill>
                <a:latin typeface="Cambria" pitchFamily="34" charset="0"/>
                <a:ea typeface="Cambria" pitchFamily="34" charset="-122"/>
                <a:cs typeface="Cambria" pitchFamily="34" charset="-120"/>
              </a:rPr>
              <a:t>= 0.67</a:t>
            </a:r>
            <a:endParaRPr lang="en-US" sz="1300" dirty="0"/>
          </a:p>
        </p:txBody>
      </p:sp>
      <p:sp>
        <p:nvSpPr>
          <p:cNvPr id="22" name="Shape 20"/>
          <p:cNvSpPr/>
          <p:nvPr/>
        </p:nvSpPr>
        <p:spPr>
          <a:xfrm>
            <a:off x="548640" y="4480560"/>
            <a:ext cx="3502152" cy="1234440"/>
          </a:xfrm>
          <a:prstGeom prst="roundRect">
            <a:avLst>
              <a:gd name="adj" fmla="val 4444"/>
            </a:avLst>
          </a:prstGeom>
          <a:solidFill>
            <a:srgbClr val="15293B"/>
          </a:solidFill>
          <a:ln/>
        </p:spPr>
      </p:sp>
      <p:sp>
        <p:nvSpPr>
          <p:cNvPr id="23" name="Text 21"/>
          <p:cNvSpPr txBox="1"/>
          <p:nvPr/>
        </p:nvSpPr>
        <p:spPr>
          <a:xfrm>
            <a:off x="777240" y="4590288"/>
            <a:ext cx="3044952"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0.75</a:t>
            </a:r>
            <a:endParaRPr lang="en-US" sz="4400" dirty="0"/>
          </a:p>
        </p:txBody>
      </p:sp>
      <p:sp>
        <p:nvSpPr>
          <p:cNvPr id="24" name="Text 22"/>
          <p:cNvSpPr txBox="1"/>
          <p:nvPr/>
        </p:nvSpPr>
        <p:spPr>
          <a:xfrm>
            <a:off x="777240" y="5376672"/>
            <a:ext cx="3044952" cy="274320"/>
          </a:xfrm>
          <a:prstGeom prst="rect">
            <a:avLst/>
          </a:prstGeom>
          <a:noFill/>
          <a:ln/>
        </p:spPr>
        <p:txBody>
          <a:bodyPr wrap="square" lIns="0" tIns="0" rIns="0" bIns="0" rtlCol="0" anchor="ctr"/>
          <a:lstStyle/>
          <a:p>
            <a:pPr indent="0" marL="0">
              <a:buNone/>
            </a:pPr>
            <a:r>
              <a:rPr lang="en-US" sz="1200" b="1" dirty="0">
                <a:solidFill>
                  <a:srgbClr val="E58A5B"/>
                </a:solidFill>
                <a:latin typeface="Calibri" pitchFamily="34" charset="0"/>
                <a:ea typeface="Calibri" pitchFamily="34" charset="-122"/>
                <a:cs typeface="Calibri" pitchFamily="34" charset="-120"/>
              </a:rPr>
              <a:t>PRECISIÓN</a:t>
            </a:r>
            <a:endParaRPr lang="en-US" sz="1200" dirty="0"/>
          </a:p>
        </p:txBody>
      </p:sp>
      <p:sp>
        <p:nvSpPr>
          <p:cNvPr id="25" name="Shape 23"/>
          <p:cNvSpPr/>
          <p:nvPr/>
        </p:nvSpPr>
        <p:spPr>
          <a:xfrm>
            <a:off x="4343400" y="4480560"/>
            <a:ext cx="3502152" cy="1234440"/>
          </a:xfrm>
          <a:prstGeom prst="roundRect">
            <a:avLst>
              <a:gd name="adj" fmla="val 4444"/>
            </a:avLst>
          </a:prstGeom>
          <a:solidFill>
            <a:srgbClr val="15293B"/>
          </a:solidFill>
          <a:ln/>
        </p:spPr>
      </p:sp>
      <p:sp>
        <p:nvSpPr>
          <p:cNvPr id="26" name="Text 24"/>
          <p:cNvSpPr txBox="1"/>
          <p:nvPr/>
        </p:nvSpPr>
        <p:spPr>
          <a:xfrm>
            <a:off x="4572000" y="4590288"/>
            <a:ext cx="3044952"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0.60</a:t>
            </a:r>
            <a:endParaRPr lang="en-US" sz="4400" dirty="0"/>
          </a:p>
        </p:txBody>
      </p:sp>
      <p:sp>
        <p:nvSpPr>
          <p:cNvPr id="27" name="Text 25"/>
          <p:cNvSpPr txBox="1"/>
          <p:nvPr/>
        </p:nvSpPr>
        <p:spPr>
          <a:xfrm>
            <a:off x="4572000" y="5376672"/>
            <a:ext cx="3044952" cy="274320"/>
          </a:xfrm>
          <a:prstGeom prst="rect">
            <a:avLst/>
          </a:prstGeom>
          <a:noFill/>
          <a:ln/>
        </p:spPr>
        <p:txBody>
          <a:bodyPr wrap="square" lIns="0" tIns="0" rIns="0" bIns="0" rtlCol="0" anchor="ctr"/>
          <a:lstStyle/>
          <a:p>
            <a:pPr indent="0" marL="0">
              <a:buNone/>
            </a:pPr>
            <a:r>
              <a:rPr lang="en-US" sz="1200" b="1" dirty="0">
                <a:solidFill>
                  <a:srgbClr val="E58A5B"/>
                </a:solidFill>
                <a:latin typeface="Calibri" pitchFamily="34" charset="0"/>
                <a:ea typeface="Calibri" pitchFamily="34" charset="-122"/>
                <a:cs typeface="Calibri" pitchFamily="34" charset="-120"/>
              </a:rPr>
              <a:t>RECUPERACIÓN</a:t>
            </a:r>
            <a:endParaRPr lang="en-US" sz="1200" dirty="0"/>
          </a:p>
        </p:txBody>
      </p:sp>
      <p:sp>
        <p:nvSpPr>
          <p:cNvPr id="28" name="Shape 26"/>
          <p:cNvSpPr/>
          <p:nvPr/>
        </p:nvSpPr>
        <p:spPr>
          <a:xfrm>
            <a:off x="8138160" y="4480560"/>
            <a:ext cx="3502152" cy="1234440"/>
          </a:xfrm>
          <a:prstGeom prst="roundRect">
            <a:avLst>
              <a:gd name="adj" fmla="val 4444"/>
            </a:avLst>
          </a:prstGeom>
          <a:solidFill>
            <a:srgbClr val="15293B"/>
          </a:solidFill>
          <a:ln/>
        </p:spPr>
      </p:sp>
      <p:sp>
        <p:nvSpPr>
          <p:cNvPr id="29" name="Text 27"/>
          <p:cNvSpPr txBox="1"/>
          <p:nvPr/>
        </p:nvSpPr>
        <p:spPr>
          <a:xfrm>
            <a:off x="8366760" y="4590288"/>
            <a:ext cx="3044952"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0.67</a:t>
            </a:r>
            <a:endParaRPr lang="en-US" sz="4400" dirty="0"/>
          </a:p>
        </p:txBody>
      </p:sp>
      <p:sp>
        <p:nvSpPr>
          <p:cNvPr id="30" name="Text 28"/>
          <p:cNvSpPr txBox="1"/>
          <p:nvPr/>
        </p:nvSpPr>
        <p:spPr>
          <a:xfrm>
            <a:off x="8366760" y="5376672"/>
            <a:ext cx="3044952" cy="274320"/>
          </a:xfrm>
          <a:prstGeom prst="rect">
            <a:avLst/>
          </a:prstGeom>
          <a:noFill/>
          <a:ln/>
        </p:spPr>
        <p:txBody>
          <a:bodyPr wrap="square" lIns="0" tIns="0" rIns="0" bIns="0" rtlCol="0" anchor="ctr"/>
          <a:lstStyle/>
          <a:p>
            <a:pPr indent="0" marL="0">
              <a:buNone/>
            </a:pPr>
            <a:r>
              <a:rPr lang="en-US" sz="1200" b="1" dirty="0">
                <a:solidFill>
                  <a:srgbClr val="E58A5B"/>
                </a:solidFill>
                <a:latin typeface="Calibri" pitchFamily="34" charset="0"/>
                <a:ea typeface="Calibri" pitchFamily="34" charset="-122"/>
                <a:cs typeface="Calibri" pitchFamily="34" charset="-120"/>
              </a:rPr>
              <a:t>F1</a:t>
            </a:r>
            <a:endParaRPr lang="en-US" sz="1200" dirty="0"/>
          </a:p>
        </p:txBody>
      </p:sp>
      <p:sp>
        <p:nvSpPr>
          <p:cNvPr id="31" name="Shape 29"/>
          <p:cNvSpPr/>
          <p:nvPr/>
        </p:nvSpPr>
        <p:spPr>
          <a:xfrm>
            <a:off x="548640" y="6053328"/>
            <a:ext cx="11091672" cy="603504"/>
          </a:xfrm>
          <a:prstGeom prst="rect">
            <a:avLst/>
          </a:prstGeom>
          <a:solidFill>
            <a:srgbClr val="FBEEE5"/>
          </a:solidFill>
          <a:ln/>
        </p:spPr>
      </p:sp>
      <p:sp>
        <p:nvSpPr>
          <p:cNvPr id="32" name="Shape 30"/>
          <p:cNvSpPr/>
          <p:nvPr/>
        </p:nvSpPr>
        <p:spPr>
          <a:xfrm>
            <a:off x="749808" y="6272784"/>
            <a:ext cx="164592" cy="164592"/>
          </a:xfrm>
          <a:prstGeom prst="roundRect">
            <a:avLst>
              <a:gd name="adj" fmla="val 22222"/>
            </a:avLst>
          </a:prstGeom>
          <a:solidFill>
            <a:srgbClr val="CB5E2E"/>
          </a:solidFill>
          <a:ln/>
        </p:spPr>
      </p:sp>
      <p:sp>
        <p:nvSpPr>
          <p:cNvPr id="33" name="Text 31"/>
          <p:cNvSpPr txBox="1"/>
          <p:nvPr/>
        </p:nvSpPr>
        <p:spPr>
          <a:xfrm>
            <a:off x="1051560" y="6053328"/>
            <a:ext cx="10405872" cy="603504"/>
          </a:xfrm>
          <a:prstGeom prst="rect">
            <a:avLst/>
          </a:prstGeom>
          <a:noFill/>
          <a:ln/>
        </p:spPr>
        <p:txBody>
          <a:bodyPr wrap="square" lIns="0" tIns="0" rIns="0" bIns="0" rtlCol="0" anchor="ctr"/>
          <a:lstStyle/>
          <a:p>
            <a:pPr indent="0" marL="0">
              <a:buNone/>
            </a:pPr>
            <a:r>
              <a:rPr lang="en-US" sz="1250" dirty="0">
                <a:solidFill>
                  <a:srgbClr val="8C3E19"/>
                </a:solidFill>
                <a:latin typeface="Calibri" pitchFamily="34" charset="0"/>
                <a:ea typeface="Calibri" pitchFamily="34" charset="-122"/>
                <a:cs typeface="Calibri" pitchFamily="34" charset="-120"/>
              </a:rPr>
              <a:t>Una recuperación de 0.60 significa que se escaparon 2 de 5 requisitos: en una evaluación que se firma, eso es grave aunque la precisión se vea alta.</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1E2A35"/>
                </a:solidFill>
                <a:latin typeface="Calibri" pitchFamily="34" charset="0"/>
                <a:ea typeface="Calibri" pitchFamily="34" charset="-122"/>
                <a:cs typeface="Calibri" pitchFamily="34" charset="-120"/>
              </a:rPr>
              <a:t>Qué le dice cada número a un evaluador</a:t>
            </a:r>
            <a:endParaRPr lang="en-US" sz="2900" dirty="0"/>
          </a:p>
        </p:txBody>
      </p:sp>
      <p:sp>
        <p:nvSpPr>
          <p:cNvPr id="3" name="Text 1"/>
          <p:cNvSpPr txBox="1"/>
          <p:nvPr/>
        </p:nvSpPr>
        <p:spPr>
          <a:xfrm>
            <a:off x="548640" y="1042416"/>
            <a:ext cx="11091672" cy="457200"/>
          </a:xfrm>
          <a:prstGeom prst="rect">
            <a:avLst/>
          </a:prstGeom>
          <a:noFill/>
          <a:ln/>
        </p:spPr>
        <p:txBody>
          <a:bodyPr wrap="square" lIns="0" tIns="0" rIns="0" bIns="0" rtlCol="0" anchor="ctr"/>
          <a:lstStyle/>
          <a:p>
            <a:pPr indent="0" marL="0">
              <a:buNone/>
            </a:pPr>
            <a:r>
              <a:rPr lang="en-US" sz="1400" dirty="0">
                <a:solidFill>
                  <a:srgbClr val="60707E"/>
                </a:solidFill>
                <a:latin typeface="Calibri" pitchFamily="34" charset="0"/>
                <a:ea typeface="Calibri" pitchFamily="34" charset="-122"/>
                <a:cs typeface="Calibri" pitchFamily="34" charset="-120"/>
              </a:rPr>
              <a:t>No son métricas de ingeniería: cada una nombra un riesgo concreto en su informe.</a:t>
            </a:r>
            <a:endParaRPr lang="en-US" sz="1400" dirty="0"/>
          </a:p>
        </p:txBody>
      </p:sp>
      <p:sp>
        <p:nvSpPr>
          <p:cNvPr id="4" name="Shape 2"/>
          <p:cNvSpPr/>
          <p:nvPr/>
        </p:nvSpPr>
        <p:spPr>
          <a:xfrm>
            <a:off x="548640" y="1965960"/>
            <a:ext cx="5394960" cy="1965960"/>
          </a:xfrm>
          <a:prstGeom prst="roundRect">
            <a:avLst>
              <a:gd name="adj" fmla="val 2791"/>
            </a:avLst>
          </a:prstGeom>
          <a:solidFill>
            <a:srgbClr val="FFFFFF"/>
          </a:solidFill>
          <a:ln w="9525">
            <a:solidFill>
              <a:srgbClr val="D5DCE3"/>
            </a:solidFill>
            <a:prstDash val="solid"/>
          </a:ln>
        </p:spPr>
      </p:sp>
      <p:sp>
        <p:nvSpPr>
          <p:cNvPr id="5" name="Text 3"/>
          <p:cNvSpPr txBox="1"/>
          <p:nvPr/>
        </p:nvSpPr>
        <p:spPr>
          <a:xfrm>
            <a:off x="822960" y="2167128"/>
            <a:ext cx="4846320" cy="411480"/>
          </a:xfrm>
          <a:prstGeom prst="rect">
            <a:avLst/>
          </a:prstGeom>
          <a:noFill/>
          <a:ln/>
        </p:spPr>
        <p:txBody>
          <a:bodyPr wrap="square" lIns="0" tIns="0" rIns="0" bIns="0" rtlCol="0" anchor="ctr"/>
          <a:lstStyle/>
          <a:p>
            <a:pPr indent="0" marL="0">
              <a:buNone/>
            </a:pPr>
            <a:r>
              <a:rPr lang="en-US" sz="1700" b="1" dirty="0">
                <a:solidFill>
                  <a:srgbClr val="A23B22"/>
                </a:solidFill>
                <a:latin typeface="Calibri" pitchFamily="34" charset="0"/>
                <a:ea typeface="Calibri" pitchFamily="34" charset="-122"/>
                <a:cs typeface="Calibri" pitchFamily="34" charset="-120"/>
              </a:rPr>
              <a:t>Precisión baja</a:t>
            </a:r>
            <a:endParaRPr lang="en-US" sz="1700" dirty="0"/>
          </a:p>
        </p:txBody>
      </p:sp>
      <p:sp>
        <p:nvSpPr>
          <p:cNvPr id="6" name="Text 4"/>
          <p:cNvSpPr txBox="1"/>
          <p:nvPr/>
        </p:nvSpPr>
        <p:spPr>
          <a:xfrm>
            <a:off x="822960" y="2624328"/>
            <a:ext cx="4846320" cy="1143000"/>
          </a:xfrm>
          <a:prstGeom prst="rect">
            <a:avLst/>
          </a:prstGeom>
          <a:noFill/>
          <a:ln/>
        </p:spPr>
        <p:txBody>
          <a:bodyPr wrap="square" lIns="0" tIns="0" rIns="0" bIns="0" rtlCol="0" anchor="ctr"/>
          <a:lstStyle/>
          <a:p>
            <a:pPr indent="0" marL="0">
              <a:lnSpc>
                <a:spcPct val="105000"/>
              </a:lnSpc>
              <a:buNone/>
            </a:pPr>
            <a:r>
              <a:rPr lang="en-US" sz="1350" dirty="0">
                <a:solidFill>
                  <a:srgbClr val="1E2A35"/>
                </a:solidFill>
                <a:latin typeface="Calibri" pitchFamily="34" charset="0"/>
                <a:ea typeface="Calibri" pitchFamily="34" charset="-122"/>
                <a:cs typeface="Calibri" pitchFamily="34" charset="-120"/>
              </a:rPr>
              <a:t>La IA inventó algo. Si ese dato llega al informe, la evaluación afirma que una entidad exige o hace algo que la norma no dice. El error acusa.</a:t>
            </a:r>
            <a:endParaRPr lang="en-US" sz="1350" dirty="0"/>
          </a:p>
        </p:txBody>
      </p:sp>
      <p:sp>
        <p:nvSpPr>
          <p:cNvPr id="7" name="Shape 5"/>
          <p:cNvSpPr/>
          <p:nvPr/>
        </p:nvSpPr>
        <p:spPr>
          <a:xfrm>
            <a:off x="6245352" y="1965960"/>
            <a:ext cx="5394960" cy="1965960"/>
          </a:xfrm>
          <a:prstGeom prst="roundRect">
            <a:avLst>
              <a:gd name="adj" fmla="val 2791"/>
            </a:avLst>
          </a:prstGeom>
          <a:solidFill>
            <a:srgbClr val="FFFFFF"/>
          </a:solidFill>
          <a:ln w="9525">
            <a:solidFill>
              <a:srgbClr val="D5DCE3"/>
            </a:solidFill>
            <a:prstDash val="solid"/>
          </a:ln>
        </p:spPr>
      </p:sp>
      <p:sp>
        <p:nvSpPr>
          <p:cNvPr id="8" name="Text 6"/>
          <p:cNvSpPr txBox="1"/>
          <p:nvPr/>
        </p:nvSpPr>
        <p:spPr>
          <a:xfrm>
            <a:off x="6519672" y="2167128"/>
            <a:ext cx="4846320" cy="411480"/>
          </a:xfrm>
          <a:prstGeom prst="rect">
            <a:avLst/>
          </a:prstGeom>
          <a:noFill/>
          <a:ln/>
        </p:spPr>
        <p:txBody>
          <a:bodyPr wrap="square" lIns="0" tIns="0" rIns="0" bIns="0" rtlCol="0" anchor="ctr"/>
          <a:lstStyle/>
          <a:p>
            <a:pPr indent="0" marL="0">
              <a:buNone/>
            </a:pPr>
            <a:r>
              <a:rPr lang="en-US" sz="1700" b="1" dirty="0">
                <a:solidFill>
                  <a:srgbClr val="A23B22"/>
                </a:solidFill>
                <a:latin typeface="Calibri" pitchFamily="34" charset="0"/>
                <a:ea typeface="Calibri" pitchFamily="34" charset="-122"/>
                <a:cs typeface="Calibri" pitchFamily="34" charset="-120"/>
              </a:rPr>
              <a:t>Recuperación baja</a:t>
            </a:r>
            <a:endParaRPr lang="en-US" sz="1700" dirty="0"/>
          </a:p>
        </p:txBody>
      </p:sp>
      <p:sp>
        <p:nvSpPr>
          <p:cNvPr id="9" name="Text 7"/>
          <p:cNvSpPr txBox="1"/>
          <p:nvPr/>
        </p:nvSpPr>
        <p:spPr>
          <a:xfrm>
            <a:off x="6519672" y="2624328"/>
            <a:ext cx="4846320" cy="1143000"/>
          </a:xfrm>
          <a:prstGeom prst="rect">
            <a:avLst/>
          </a:prstGeom>
          <a:noFill/>
          <a:ln/>
        </p:spPr>
        <p:txBody>
          <a:bodyPr wrap="square" lIns="0" tIns="0" rIns="0" bIns="0" rtlCol="0" anchor="ctr"/>
          <a:lstStyle/>
          <a:p>
            <a:pPr indent="0" marL="0">
              <a:lnSpc>
                <a:spcPct val="105000"/>
              </a:lnSpc>
              <a:buNone/>
            </a:pPr>
            <a:r>
              <a:rPr lang="en-US" sz="1350" dirty="0">
                <a:solidFill>
                  <a:srgbClr val="1E2A35"/>
                </a:solidFill>
                <a:latin typeface="Calibri" pitchFamily="34" charset="0"/>
                <a:ea typeface="Calibri" pitchFamily="34" charset="-122"/>
                <a:cs typeface="Calibri" pitchFamily="34" charset="-120"/>
              </a:rPr>
              <a:t>La IA omitió algo. La evaluación queda incompleta: se dictamina sobre un programa sin haber visto un requisito o un hallazgo que sí estaba en el documento.</a:t>
            </a:r>
            <a:endParaRPr lang="en-US" sz="1350" dirty="0"/>
          </a:p>
        </p:txBody>
      </p:sp>
      <p:sp>
        <p:nvSpPr>
          <p:cNvPr id="10" name="Shape 8"/>
          <p:cNvSpPr/>
          <p:nvPr/>
        </p:nvSpPr>
        <p:spPr>
          <a:xfrm>
            <a:off x="548640" y="4206240"/>
            <a:ext cx="11091672" cy="1508760"/>
          </a:xfrm>
          <a:prstGeom prst="roundRect">
            <a:avLst>
              <a:gd name="adj" fmla="val 3636"/>
            </a:avLst>
          </a:prstGeom>
          <a:solidFill>
            <a:srgbClr val="15293B"/>
          </a:solidFill>
          <a:ln/>
        </p:spPr>
      </p:sp>
      <p:sp>
        <p:nvSpPr>
          <p:cNvPr id="11" name="Text 9"/>
          <p:cNvSpPr txBox="1"/>
          <p:nvPr/>
        </p:nvSpPr>
        <p:spPr>
          <a:xfrm>
            <a:off x="868680" y="4389120"/>
            <a:ext cx="10451592"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El costo de los dos errores casi nunca es igual</a:t>
            </a:r>
            <a:endParaRPr lang="en-US" sz="1600" dirty="0"/>
          </a:p>
        </p:txBody>
      </p:sp>
      <p:sp>
        <p:nvSpPr>
          <p:cNvPr id="12" name="Text 10"/>
          <p:cNvSpPr txBox="1"/>
          <p:nvPr/>
        </p:nvSpPr>
        <p:spPr>
          <a:xfrm>
            <a:off x="868680" y="4800600"/>
            <a:ext cx="10451592" cy="822960"/>
          </a:xfrm>
          <a:prstGeom prst="rect">
            <a:avLst/>
          </a:prstGeom>
          <a:noFill/>
          <a:ln/>
        </p:spPr>
        <p:txBody>
          <a:bodyPr wrap="square" lIns="0" tIns="0" rIns="0" bIns="0" rtlCol="0" anchor="ctr"/>
          <a:lstStyle/>
          <a:p>
            <a:pPr indent="0" marL="0">
              <a:lnSpc>
                <a:spcPct val="105000"/>
              </a:lnSpc>
              <a:buNone/>
            </a:pPr>
            <a:r>
              <a:rPr lang="en-US" sz="1300" dirty="0">
                <a:solidFill>
                  <a:srgbClr val="E4EAF0"/>
                </a:solidFill>
                <a:latin typeface="Calibri" pitchFamily="34" charset="0"/>
                <a:ea typeface="Calibri" pitchFamily="34" charset="-122"/>
                <a:cs typeface="Calibri" pitchFamily="34" charset="-120"/>
              </a:rPr>
              <a:t>En un dictamen que se firma, inventar un requisito suele costar más que omitirlo, porque acusa a la entidad. En una revisión donde alguien va a leer todo de todos modos, omitir cuesta más. </a:t>
            </a:r>
            <a:pPr indent="0" marL="0">
              <a:lnSpc>
                <a:spcPct val="105000"/>
              </a:lnSpc>
              <a:buNone/>
            </a:pPr>
            <a:r>
              <a:rPr lang="en-US" sz="1300" b="1" dirty="0">
                <a:solidFill>
                  <a:srgbClr val="E58A5B"/>
                </a:solidFill>
                <a:latin typeface="Calibri" pitchFamily="34" charset="0"/>
                <a:ea typeface="Calibri" pitchFamily="34" charset="-122"/>
                <a:cs typeface="Calibri" pitchFamily="34" charset="-120"/>
              </a:rPr>
              <a:t>Cuál pesa más lo decide el área usuaria antes de medir, no la fórmula.</a:t>
            </a:r>
            <a:endParaRPr lang="en-US" sz="1300" dirty="0"/>
          </a:p>
        </p:txBody>
      </p:sp>
      <p:sp>
        <p:nvSpPr>
          <p:cNvPr id="13" name="Text 11"/>
          <p:cNvSpPr txBox="1"/>
          <p:nvPr/>
        </p:nvSpPr>
        <p:spPr>
          <a:xfrm>
            <a:off x="548640" y="6419088"/>
            <a:ext cx="11091672" cy="292608"/>
          </a:xfrm>
          <a:prstGeom prst="rect">
            <a:avLst/>
          </a:prstGeom>
          <a:noFill/>
          <a:ln/>
        </p:spPr>
        <p:txBody>
          <a:bodyPr wrap="square" lIns="0" tIns="0" rIns="0" bIns="0" rtlCol="0" anchor="ctr"/>
          <a:lstStyle/>
          <a:p>
            <a:pPr indent="0" marL="0">
              <a:buNone/>
            </a:pPr>
            <a:r>
              <a:rPr lang="en-US" sz="900" i="1" dirty="0">
                <a:solidFill>
                  <a:srgbClr val="60707E"/>
                </a:solidFill>
                <a:latin typeface="Calibri" pitchFamily="34" charset="0"/>
                <a:ea typeface="Calibri" pitchFamily="34" charset="-122"/>
                <a:cs typeface="Calibri" pitchFamily="34" charset="-120"/>
              </a:rPr>
              <a:t>Se puede ponderar un error más que el otro con la familia Fβ (van Rijsbergen, 1979): β&gt;1 castiga más la omisión, β&lt;1 castiga más la invención. Aquí no la calculamos; basta saber que la decisión se declara, no se descubre.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5293B"/>
        </a:solidFill>
      </p:bgPr>
    </p:bg>
    <p:spTree>
      <p:nvGrpSpPr>
        <p:cNvPr id="1" name=""/>
        <p:cNvGrpSpPr/>
        <p:nvPr/>
      </p:nvGrpSpPr>
      <p:grpSpPr>
        <a:xfrm>
          <a:off x="0" y="0"/>
          <a:ext cx="0" cy="0"/>
          <a:chOff x="0" y="0"/>
          <a:chExt cx="0" cy="0"/>
        </a:xfrm>
      </p:grpSpPr>
      <p:sp>
        <p:nvSpPr>
          <p:cNvPr id="2" name="Shape 0"/>
          <p:cNvSpPr/>
          <p:nvPr/>
        </p:nvSpPr>
        <p:spPr>
          <a:xfrm>
            <a:off x="822960" y="2468880"/>
            <a:ext cx="1371600" cy="1371600"/>
          </a:xfrm>
          <a:prstGeom prst="ellipse">
            <a:avLst/>
          </a:prstGeom>
          <a:solidFill>
            <a:srgbClr val="CB5E2E"/>
          </a:solidFill>
          <a:ln/>
        </p:spPr>
      </p:sp>
      <p:sp>
        <p:nvSpPr>
          <p:cNvPr id="3" name="Text 1"/>
          <p:cNvSpPr txBox="1"/>
          <p:nvPr/>
        </p:nvSpPr>
        <p:spPr>
          <a:xfrm>
            <a:off x="822960" y="2468880"/>
            <a:ext cx="1371600" cy="13716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4" name="Text 2"/>
          <p:cNvSpPr txBox="1"/>
          <p:nvPr/>
        </p:nvSpPr>
        <p:spPr>
          <a:xfrm>
            <a:off x="2514600" y="2670048"/>
            <a:ext cx="8961120" cy="411480"/>
          </a:xfrm>
          <a:prstGeom prst="rect">
            <a:avLst/>
          </a:prstGeom>
          <a:noFill/>
          <a:ln/>
        </p:spPr>
        <p:txBody>
          <a:bodyPr wrap="square" lIns="0" tIns="0" rIns="0" bIns="0" rtlCol="0" anchor="ctr"/>
          <a:lstStyle/>
          <a:p>
            <a:pPr indent="0" marL="0">
              <a:buNone/>
            </a:pPr>
            <a:r>
              <a:rPr lang="en-US" sz="1400" b="1" spc="200" kern="0" dirty="0">
                <a:solidFill>
                  <a:srgbClr val="E58A5B"/>
                </a:solidFill>
                <a:latin typeface="Calibri" pitchFamily="34" charset="0"/>
                <a:ea typeface="Calibri" pitchFamily="34" charset="-122"/>
                <a:cs typeface="Calibri" pitchFamily="34" charset="-120"/>
              </a:rPr>
              <a:t>BLOQUE 2</a:t>
            </a:r>
            <a:endParaRPr lang="en-US" sz="1400" dirty="0"/>
          </a:p>
        </p:txBody>
      </p:sp>
      <p:sp>
        <p:nvSpPr>
          <p:cNvPr id="5" name="Text 3"/>
          <p:cNvSpPr txBox="1"/>
          <p:nvPr/>
        </p:nvSpPr>
        <p:spPr>
          <a:xfrm>
            <a:off x="2514600" y="3072384"/>
            <a:ext cx="9052560" cy="118872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Medir lo que la IA clasifica</a:t>
            </a:r>
            <a:endParaRPr lang="en-US" sz="3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1E2A35"/>
                </a:solidFill>
                <a:latin typeface="Calibri" pitchFamily="34" charset="0"/>
                <a:ea typeface="Calibri" pitchFamily="34" charset="-122"/>
                <a:cs typeface="Calibri" pitchFamily="34" charset="-120"/>
              </a:rPr>
              <a:t>Cuando no existe una respuesta correcta</a:t>
            </a:r>
            <a:endParaRPr lang="en-US" sz="2900" dirty="0"/>
          </a:p>
        </p:txBody>
      </p:sp>
      <p:sp>
        <p:nvSpPr>
          <p:cNvPr id="3" name="Text 1"/>
          <p:cNvSpPr txBox="1"/>
          <p:nvPr/>
        </p:nvSpPr>
        <p:spPr>
          <a:xfrm>
            <a:off x="548640" y="1042416"/>
            <a:ext cx="11091672" cy="457200"/>
          </a:xfrm>
          <a:prstGeom prst="rect">
            <a:avLst/>
          </a:prstGeom>
          <a:noFill/>
          <a:ln/>
        </p:spPr>
        <p:txBody>
          <a:bodyPr wrap="square" lIns="0" tIns="0" rIns="0" bIns="0" rtlCol="0" anchor="ctr"/>
          <a:lstStyle/>
          <a:p>
            <a:pPr indent="0" marL="0">
              <a:buNone/>
            </a:pPr>
            <a:r>
              <a:rPr lang="en-US" sz="1400" dirty="0">
                <a:solidFill>
                  <a:srgbClr val="60707E"/>
                </a:solidFill>
                <a:latin typeface="Calibri" pitchFamily="34" charset="0"/>
                <a:ea typeface="Calibri" pitchFamily="34" charset="-122"/>
                <a:cs typeface="Calibri" pitchFamily="34" charset="-120"/>
              </a:rPr>
              <a:t>Precisión y recuperación necesitan una lista de referencia. Muchas tareas de evaluación no la tienen.</a:t>
            </a:r>
            <a:endParaRPr lang="en-US" sz="1400" dirty="0"/>
          </a:p>
        </p:txBody>
      </p:sp>
      <p:sp>
        <p:nvSpPr>
          <p:cNvPr id="4" name="Shape 2"/>
          <p:cNvSpPr/>
          <p:nvPr/>
        </p:nvSpPr>
        <p:spPr>
          <a:xfrm>
            <a:off x="548640" y="1920240"/>
            <a:ext cx="5394960" cy="2423160"/>
          </a:xfrm>
          <a:prstGeom prst="roundRect">
            <a:avLst>
              <a:gd name="adj" fmla="val 2264"/>
            </a:avLst>
          </a:prstGeom>
          <a:solidFill>
            <a:srgbClr val="EEF2F5"/>
          </a:solidFill>
          <a:ln w="9525">
            <a:solidFill>
              <a:srgbClr val="D5DCE3"/>
            </a:solidFill>
            <a:prstDash val="solid"/>
          </a:ln>
        </p:spPr>
      </p:sp>
      <p:sp>
        <p:nvSpPr>
          <p:cNvPr id="5" name="Text 3"/>
          <p:cNvSpPr txBox="1"/>
          <p:nvPr/>
        </p:nvSpPr>
        <p:spPr>
          <a:xfrm>
            <a:off x="822960" y="2121408"/>
            <a:ext cx="4846320" cy="365760"/>
          </a:xfrm>
          <a:prstGeom prst="rect">
            <a:avLst/>
          </a:prstGeom>
          <a:noFill/>
          <a:ln/>
        </p:spPr>
        <p:txBody>
          <a:bodyPr wrap="square" lIns="0" tIns="0" rIns="0" bIns="0" rtlCol="0" anchor="ctr"/>
          <a:lstStyle/>
          <a:p>
            <a:pPr indent="0" marL="0">
              <a:buNone/>
            </a:pPr>
            <a:r>
              <a:rPr lang="en-US" sz="1200" b="1" spc="100" kern="0" dirty="0">
                <a:solidFill>
                  <a:srgbClr val="60707E"/>
                </a:solidFill>
                <a:latin typeface="Calibri" pitchFamily="34" charset="0"/>
                <a:ea typeface="Calibri" pitchFamily="34" charset="-122"/>
                <a:cs typeface="Calibri" pitchFamily="34" charset="-120"/>
              </a:rPr>
              <a:t>HAY UNA LISTA CONTRA QUÉ COMPARAR</a:t>
            </a:r>
            <a:endParaRPr lang="en-US" sz="1200" dirty="0"/>
          </a:p>
        </p:txBody>
      </p:sp>
      <p:sp>
        <p:nvSpPr>
          <p:cNvPr id="6" name="Text 4"/>
          <p:cNvSpPr txBox="1"/>
          <p:nvPr/>
        </p:nvSpPr>
        <p:spPr>
          <a:xfrm>
            <a:off x="822960" y="2487168"/>
            <a:ext cx="4846320" cy="502920"/>
          </a:xfrm>
          <a:prstGeom prst="rect">
            <a:avLst/>
          </a:prstGeom>
          <a:noFill/>
          <a:ln/>
        </p:spPr>
        <p:txBody>
          <a:bodyPr wrap="square" lIns="0" tIns="0" rIns="0" bIns="0" rtlCol="0" anchor="ctr"/>
          <a:lstStyle/>
          <a:p>
            <a:pPr indent="0" marL="0">
              <a:buNone/>
            </a:pPr>
            <a:r>
              <a:rPr lang="en-US" sz="1500" b="1" dirty="0">
                <a:solidFill>
                  <a:srgbClr val="1E2A35"/>
                </a:solidFill>
                <a:latin typeface="Calibri" pitchFamily="34" charset="0"/>
                <a:ea typeface="Calibri" pitchFamily="34" charset="-122"/>
                <a:cs typeface="Calibri" pitchFamily="34" charset="-120"/>
              </a:rPr>
              <a:t>¿Cuántos requisitos del artículo acertó la IA?</a:t>
            </a:r>
            <a:endParaRPr lang="en-US" sz="1500" dirty="0"/>
          </a:p>
        </p:txBody>
      </p:sp>
      <p:sp>
        <p:nvSpPr>
          <p:cNvPr id="7" name="Text 5"/>
          <p:cNvSpPr txBox="1"/>
          <p:nvPr/>
        </p:nvSpPr>
        <p:spPr>
          <a:xfrm>
            <a:off x="822960" y="3017520"/>
            <a:ext cx="4846320" cy="822960"/>
          </a:xfrm>
          <a:prstGeom prst="rect">
            <a:avLst/>
          </a:prstGeom>
          <a:noFill/>
          <a:ln/>
        </p:spPr>
        <p:txBody>
          <a:bodyPr wrap="square" lIns="0" tIns="0" rIns="0" bIns="0" rtlCol="0" anchor="ctr"/>
          <a:lstStyle/>
          <a:p>
            <a:pPr indent="0" marL="0">
              <a:lnSpc>
                <a:spcPct val="105000"/>
              </a:lnSpc>
              <a:buNone/>
            </a:pPr>
            <a:r>
              <a:rPr lang="en-US" sz="1300" dirty="0">
                <a:solidFill>
                  <a:srgbClr val="1E2A35"/>
                </a:solidFill>
                <a:latin typeface="Calibri" pitchFamily="34" charset="0"/>
                <a:ea typeface="Calibri" pitchFamily="34" charset="-122"/>
                <a:cs typeface="Calibri" pitchFamily="34" charset="-120"/>
              </a:rPr>
              <a:t>Cualquiera que lea el artículo llega a la misma lista de requisitos. Se puede contar cuántos encontró y cuántos se le fueron.</a:t>
            </a:r>
            <a:endParaRPr lang="en-US" sz="1300" dirty="0"/>
          </a:p>
        </p:txBody>
      </p:sp>
      <p:sp>
        <p:nvSpPr>
          <p:cNvPr id="8" name="Text 6"/>
          <p:cNvSpPr txBox="1"/>
          <p:nvPr/>
        </p:nvSpPr>
        <p:spPr>
          <a:xfrm>
            <a:off x="822960" y="3913632"/>
            <a:ext cx="4846320" cy="274320"/>
          </a:xfrm>
          <a:prstGeom prst="rect">
            <a:avLst/>
          </a:prstGeom>
          <a:noFill/>
          <a:ln/>
        </p:spPr>
        <p:txBody>
          <a:bodyPr wrap="square" lIns="0" tIns="0" rIns="0" bIns="0" rtlCol="0" anchor="ctr"/>
          <a:lstStyle/>
          <a:p>
            <a:pPr indent="0" marL="0">
              <a:buNone/>
            </a:pPr>
            <a:r>
              <a:rPr lang="en-US" sz="1250" b="1" dirty="0">
                <a:solidFill>
                  <a:srgbClr val="2E6E49"/>
                </a:solidFill>
                <a:latin typeface="Calibri" pitchFamily="34" charset="0"/>
                <a:ea typeface="Calibri" pitchFamily="34" charset="-122"/>
                <a:cs typeface="Calibri" pitchFamily="34" charset="-120"/>
              </a:rPr>
              <a:t>Sirven precisión y recuperación.</a:t>
            </a:r>
            <a:endParaRPr lang="en-US" sz="1250" dirty="0"/>
          </a:p>
        </p:txBody>
      </p:sp>
      <p:sp>
        <p:nvSpPr>
          <p:cNvPr id="9" name="Shape 7"/>
          <p:cNvSpPr/>
          <p:nvPr/>
        </p:nvSpPr>
        <p:spPr>
          <a:xfrm>
            <a:off x="6245352" y="1920240"/>
            <a:ext cx="5394960" cy="2423160"/>
          </a:xfrm>
          <a:prstGeom prst="roundRect">
            <a:avLst>
              <a:gd name="adj" fmla="val 2264"/>
            </a:avLst>
          </a:prstGeom>
          <a:solidFill>
            <a:srgbClr val="FFFFFF"/>
          </a:solidFill>
          <a:ln w="9525">
            <a:solidFill>
              <a:srgbClr val="D5DCE3"/>
            </a:solidFill>
            <a:prstDash val="solid"/>
          </a:ln>
        </p:spPr>
      </p:sp>
      <p:sp>
        <p:nvSpPr>
          <p:cNvPr id="10" name="Text 8"/>
          <p:cNvSpPr txBox="1"/>
          <p:nvPr/>
        </p:nvSpPr>
        <p:spPr>
          <a:xfrm>
            <a:off x="6519672" y="2121408"/>
            <a:ext cx="4846320" cy="365760"/>
          </a:xfrm>
          <a:prstGeom prst="rect">
            <a:avLst/>
          </a:prstGeom>
          <a:noFill/>
          <a:ln/>
        </p:spPr>
        <p:txBody>
          <a:bodyPr wrap="square" lIns="0" tIns="0" rIns="0" bIns="0" rtlCol="0" anchor="ctr"/>
          <a:lstStyle/>
          <a:p>
            <a:pPr indent="0" marL="0">
              <a:buNone/>
            </a:pPr>
            <a:r>
              <a:rPr lang="en-US" sz="1200" b="1" spc="100" kern="0" dirty="0">
                <a:solidFill>
                  <a:srgbClr val="60707E"/>
                </a:solidFill>
                <a:latin typeface="Calibri" pitchFamily="34" charset="0"/>
                <a:ea typeface="Calibri" pitchFamily="34" charset="-122"/>
                <a:cs typeface="Calibri" pitchFamily="34" charset="-120"/>
              </a:rPr>
              <a:t>NO HAY CONTRA QUÉ COMPARAR</a:t>
            </a:r>
            <a:endParaRPr lang="en-US" sz="1200" dirty="0"/>
          </a:p>
        </p:txBody>
      </p:sp>
      <p:sp>
        <p:nvSpPr>
          <p:cNvPr id="11" name="Text 9"/>
          <p:cNvSpPr txBox="1"/>
          <p:nvPr/>
        </p:nvSpPr>
        <p:spPr>
          <a:xfrm>
            <a:off x="6519672" y="2487168"/>
            <a:ext cx="4846320" cy="502920"/>
          </a:xfrm>
          <a:prstGeom prst="rect">
            <a:avLst/>
          </a:prstGeom>
          <a:noFill/>
          <a:ln/>
        </p:spPr>
        <p:txBody>
          <a:bodyPr wrap="square" lIns="0" tIns="0" rIns="0" bIns="0" rtlCol="0" anchor="ctr"/>
          <a:lstStyle/>
          <a:p>
            <a:pPr indent="0" marL="0">
              <a:buNone/>
            </a:pPr>
            <a:r>
              <a:rPr lang="en-US" sz="1500" b="1" dirty="0">
                <a:solidFill>
                  <a:srgbClr val="1E2A35"/>
                </a:solidFill>
                <a:latin typeface="Calibri" pitchFamily="34" charset="0"/>
                <a:ea typeface="Calibri" pitchFamily="34" charset="-122"/>
                <a:cs typeface="Calibri" pitchFamily="34" charset="-120"/>
              </a:rPr>
              <a:t>¿Este comentario ciudadano es positivo o negativo?</a:t>
            </a:r>
            <a:endParaRPr lang="en-US" sz="1500" dirty="0"/>
          </a:p>
        </p:txBody>
      </p:sp>
      <p:sp>
        <p:nvSpPr>
          <p:cNvPr id="12" name="Text 10"/>
          <p:cNvSpPr txBox="1"/>
          <p:nvPr/>
        </p:nvSpPr>
        <p:spPr>
          <a:xfrm>
            <a:off x="6519672" y="3017520"/>
            <a:ext cx="4846320" cy="822960"/>
          </a:xfrm>
          <a:prstGeom prst="rect">
            <a:avLst/>
          </a:prstGeom>
          <a:noFill/>
          <a:ln/>
        </p:spPr>
        <p:txBody>
          <a:bodyPr wrap="square" lIns="0" tIns="0" rIns="0" bIns="0" rtlCol="0" anchor="ctr"/>
          <a:lstStyle/>
          <a:p>
            <a:pPr indent="0" marL="0">
              <a:lnSpc>
                <a:spcPct val="105000"/>
              </a:lnSpc>
              <a:buNone/>
            </a:pPr>
            <a:r>
              <a:rPr lang="en-US" sz="1300" dirty="0">
                <a:solidFill>
                  <a:srgbClr val="1E2A35"/>
                </a:solidFill>
                <a:latin typeface="Calibri" pitchFamily="34" charset="0"/>
                <a:ea typeface="Calibri" pitchFamily="34" charset="-122"/>
                <a:cs typeface="Calibri" pitchFamily="34" charset="-120"/>
              </a:rPr>
              <a:t>«Quedó rete bonita la lona nueva» puede ser sincero o sarcástico, y dos evaluadores con criterio pueden leerlo distinto.</a:t>
            </a:r>
            <a:endParaRPr lang="en-US" sz="1300" dirty="0"/>
          </a:p>
        </p:txBody>
      </p:sp>
      <p:sp>
        <p:nvSpPr>
          <p:cNvPr id="13" name="Text 11"/>
          <p:cNvSpPr txBox="1"/>
          <p:nvPr/>
        </p:nvSpPr>
        <p:spPr>
          <a:xfrm>
            <a:off x="6519672" y="3913632"/>
            <a:ext cx="4846320" cy="274320"/>
          </a:xfrm>
          <a:prstGeom prst="rect">
            <a:avLst/>
          </a:prstGeom>
          <a:noFill/>
          <a:ln/>
        </p:spPr>
        <p:txBody>
          <a:bodyPr wrap="square" lIns="0" tIns="0" rIns="0" bIns="0" rtlCol="0" anchor="ctr"/>
          <a:lstStyle/>
          <a:p>
            <a:pPr indent="0" marL="0">
              <a:buNone/>
            </a:pPr>
            <a:r>
              <a:rPr lang="en-US" sz="1250" b="1" dirty="0">
                <a:solidFill>
                  <a:srgbClr val="A23B22"/>
                </a:solidFill>
                <a:latin typeface="Calibri" pitchFamily="34" charset="0"/>
                <a:ea typeface="Calibri" pitchFamily="34" charset="-122"/>
                <a:cs typeface="Calibri" pitchFamily="34" charset="-120"/>
              </a:rPr>
              <a:t>Aquí no se pueden calcular.</a:t>
            </a:r>
            <a:endParaRPr lang="en-US" sz="1250" dirty="0"/>
          </a:p>
        </p:txBody>
      </p:sp>
      <p:sp>
        <p:nvSpPr>
          <p:cNvPr id="14" name="Shape 12"/>
          <p:cNvSpPr/>
          <p:nvPr/>
        </p:nvSpPr>
        <p:spPr>
          <a:xfrm>
            <a:off x="548640" y="4526280"/>
            <a:ext cx="11091672" cy="1371600"/>
          </a:xfrm>
          <a:prstGeom prst="roundRect">
            <a:avLst>
              <a:gd name="adj" fmla="val 4000"/>
            </a:avLst>
          </a:prstGeom>
          <a:solidFill>
            <a:srgbClr val="15293B"/>
          </a:solidFill>
          <a:ln/>
        </p:spPr>
      </p:sp>
      <p:sp>
        <p:nvSpPr>
          <p:cNvPr id="15" name="Text 13"/>
          <p:cNvSpPr txBox="1"/>
          <p:nvPr/>
        </p:nvSpPr>
        <p:spPr>
          <a:xfrm>
            <a:off x="868680" y="4690872"/>
            <a:ext cx="10451592" cy="365760"/>
          </a:xfrm>
          <a:prstGeom prst="rect">
            <a:avLst/>
          </a:prstGeom>
          <a:noFill/>
          <a:ln/>
        </p:spPr>
        <p:txBody>
          <a:bodyPr wrap="square" lIns="0" tIns="0" rIns="0" bIns="0" rtlCol="0" anchor="ctr"/>
          <a:lstStyle/>
          <a:p>
            <a:pPr indent="0" marL="0">
              <a:buNone/>
            </a:pPr>
            <a:r>
              <a:rPr lang="en-US" sz="1600" b="1" dirty="0">
                <a:solidFill>
                  <a:srgbClr val="E58A5B"/>
                </a:solidFill>
                <a:latin typeface="Calibri" pitchFamily="34" charset="0"/>
                <a:ea typeface="Calibri" pitchFamily="34" charset="-122"/>
                <a:cs typeface="Calibri" pitchFamily="34" charset="-120"/>
              </a:rPr>
              <a:t>Entonces se cambia la pregunta</a:t>
            </a:r>
            <a:endParaRPr lang="en-US" sz="1600" dirty="0"/>
          </a:p>
        </p:txBody>
      </p:sp>
      <p:sp>
        <p:nvSpPr>
          <p:cNvPr id="16" name="Text 14"/>
          <p:cNvSpPr txBox="1"/>
          <p:nvPr/>
        </p:nvSpPr>
        <p:spPr>
          <a:xfrm>
            <a:off x="868680" y="5074920"/>
            <a:ext cx="10451592" cy="777240"/>
          </a:xfrm>
          <a:prstGeom prst="rect">
            <a:avLst/>
          </a:prstGeom>
          <a:noFill/>
          <a:ln/>
        </p:spPr>
        <p:txBody>
          <a:bodyPr wrap="square" lIns="0" tIns="0" rIns="0" bIns="0" rtlCol="0" anchor="ctr"/>
          <a:lstStyle/>
          <a:p>
            <a:pPr indent="0" marL="0">
              <a:lnSpc>
                <a:spcPct val="105000"/>
              </a:lnSpc>
              <a:buNone/>
            </a:pPr>
            <a:r>
              <a:rPr lang="en-US" sz="1300" dirty="0">
                <a:solidFill>
                  <a:srgbClr val="E4EAF0"/>
                </a:solidFill>
                <a:latin typeface="Calibri" pitchFamily="34" charset="0"/>
                <a:ea typeface="Calibri" pitchFamily="34" charset="-122"/>
                <a:cs typeface="Calibri" pitchFamily="34" charset="-120"/>
              </a:rPr>
              <a:t>Ya no es «¿acertó?», porque no hay contra qué. Es «¿dos personas que leen lo mismo escriben lo mismo?». Eso se llama </a:t>
            </a:r>
            <a:pPr indent="0" marL="0">
              <a:lnSpc>
                <a:spcPct val="105000"/>
              </a:lnSpc>
              <a:buNone/>
            </a:pPr>
            <a:r>
              <a:rPr lang="en-US" sz="1300" b="1" dirty="0">
                <a:solidFill>
                  <a:srgbClr val="FFFFFF"/>
                </a:solidFill>
                <a:latin typeface="Calibri" pitchFamily="34" charset="0"/>
                <a:ea typeface="Calibri" pitchFamily="34" charset="-122"/>
                <a:cs typeface="Calibri" pitchFamily="34" charset="-120"/>
              </a:rPr>
              <a:t>acuerdo entre codificadores</a:t>
            </a:r>
            <a:pPr indent="0" marL="0">
              <a:lnSpc>
                <a:spcPct val="105000"/>
              </a:lnSpc>
              <a:buNone/>
            </a:pPr>
            <a:r>
              <a:rPr lang="en-US" sz="1300" dirty="0">
                <a:solidFill>
                  <a:srgbClr val="E4EAF0"/>
                </a:solidFill>
                <a:latin typeface="Calibri" pitchFamily="34" charset="0"/>
                <a:ea typeface="Calibri" pitchFamily="34" charset="-122"/>
                <a:cs typeface="Calibri" pitchFamily="34" charset="-120"/>
              </a:rPr>
              <a:t>, y mide confiabilidad, no exactitud. Sin él, las categorías de una evaluación no son reproducibles y no se pueden defender ante un comité.</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1E2A35"/>
                </a:solidFill>
                <a:latin typeface="Calibri" pitchFamily="34" charset="0"/>
                <a:ea typeface="Calibri" pitchFamily="34" charset="-122"/>
                <a:cs typeface="Calibri" pitchFamily="34" charset="-120"/>
              </a:rPr>
              <a:t>Parte del acuerdo sale gratis</a:t>
            </a:r>
            <a:endParaRPr lang="en-US" sz="2900" dirty="0"/>
          </a:p>
        </p:txBody>
      </p:sp>
      <p:sp>
        <p:nvSpPr>
          <p:cNvPr id="3" name="Text 1"/>
          <p:cNvSpPr txBox="1"/>
          <p:nvPr/>
        </p:nvSpPr>
        <p:spPr>
          <a:xfrm>
            <a:off x="548640" y="1042416"/>
            <a:ext cx="11091672" cy="457200"/>
          </a:xfrm>
          <a:prstGeom prst="rect">
            <a:avLst/>
          </a:prstGeom>
          <a:noFill/>
          <a:ln/>
        </p:spPr>
        <p:txBody>
          <a:bodyPr wrap="square" lIns="0" tIns="0" rIns="0" bIns="0" rtlCol="0" anchor="ctr"/>
          <a:lstStyle/>
          <a:p>
            <a:pPr indent="0" marL="0">
              <a:buNone/>
            </a:pPr>
            <a:r>
              <a:rPr lang="en-US" sz="1400" dirty="0">
                <a:solidFill>
                  <a:srgbClr val="60707E"/>
                </a:solidFill>
                <a:latin typeface="Calibri" pitchFamily="34" charset="0"/>
                <a:ea typeface="Calibri" pitchFamily="34" charset="-122"/>
                <a:cs typeface="Calibri" pitchFamily="34" charset="-120"/>
              </a:rPr>
              <a:t>Antes de la fórmula, la intuición: coincidir mucho no siempre tiene mérito.</a:t>
            </a:r>
            <a:endParaRPr lang="en-US" sz="1400" dirty="0"/>
          </a:p>
        </p:txBody>
      </p:sp>
      <p:sp>
        <p:nvSpPr>
          <p:cNvPr id="4" name="Shape 2"/>
          <p:cNvSpPr/>
          <p:nvPr/>
        </p:nvSpPr>
        <p:spPr>
          <a:xfrm>
            <a:off x="548640" y="1965960"/>
            <a:ext cx="11091672" cy="1874520"/>
          </a:xfrm>
          <a:prstGeom prst="roundRect">
            <a:avLst>
              <a:gd name="adj" fmla="val 2927"/>
            </a:avLst>
          </a:prstGeom>
          <a:solidFill>
            <a:srgbClr val="EEF2F5"/>
          </a:solidFill>
          <a:ln w="9525">
            <a:solidFill>
              <a:srgbClr val="D5DCE3"/>
            </a:solidFill>
            <a:prstDash val="solid"/>
          </a:ln>
        </p:spPr>
      </p:sp>
      <p:sp>
        <p:nvSpPr>
          <p:cNvPr id="5" name="Text 3"/>
          <p:cNvSpPr txBox="1"/>
          <p:nvPr/>
        </p:nvSpPr>
        <p:spPr>
          <a:xfrm>
            <a:off x="868680" y="2148840"/>
            <a:ext cx="10451592" cy="457200"/>
          </a:xfrm>
          <a:prstGeom prst="rect">
            <a:avLst/>
          </a:prstGeom>
          <a:noFill/>
          <a:ln/>
        </p:spPr>
        <p:txBody>
          <a:bodyPr wrap="square" lIns="0" tIns="0" rIns="0" bIns="0" rtlCol="0" anchor="ctr"/>
          <a:lstStyle/>
          <a:p>
            <a:pPr indent="0" marL="0">
              <a:buNone/>
            </a:pPr>
            <a:r>
              <a:rPr lang="en-US" sz="1400" dirty="0">
                <a:solidFill>
                  <a:srgbClr val="1E2A35"/>
                </a:solidFill>
                <a:latin typeface="Calibri" pitchFamily="34" charset="0"/>
                <a:ea typeface="Calibri" pitchFamily="34" charset="-122"/>
                <a:cs typeface="Calibri" pitchFamily="34" charset="-120"/>
              </a:rPr>
              <a:t>Imagine dos personas clasificando comentarios como «queja» o «no queja», sin leerlos, tirando un volado en cada uno.</a:t>
            </a:r>
            <a:endParaRPr lang="en-US" sz="1400" dirty="0"/>
          </a:p>
        </p:txBody>
      </p:sp>
      <p:sp>
        <p:nvSpPr>
          <p:cNvPr id="6" name="Text 4"/>
          <p:cNvSpPr txBox="1"/>
          <p:nvPr/>
        </p:nvSpPr>
        <p:spPr>
          <a:xfrm>
            <a:off x="868680" y="2606040"/>
            <a:ext cx="10451592" cy="1005840"/>
          </a:xfrm>
          <a:prstGeom prst="rect">
            <a:avLst/>
          </a:prstGeom>
          <a:noFill/>
          <a:ln/>
        </p:spPr>
        <p:txBody>
          <a:bodyPr wrap="square" lIns="0" tIns="0" rIns="0" bIns="0" rtlCol="0" anchor="ctr"/>
          <a:lstStyle/>
          <a:p>
            <a:pPr indent="0" marL="0">
              <a:lnSpc>
                <a:spcPct val="110000"/>
              </a:lnSpc>
              <a:buNone/>
            </a:pPr>
            <a:r>
              <a:rPr lang="en-US" sz="1400" b="1" dirty="0">
                <a:solidFill>
                  <a:srgbClr val="1E2A35"/>
                </a:solidFill>
                <a:latin typeface="Calibri" pitchFamily="34" charset="0"/>
                <a:ea typeface="Calibri" pitchFamily="34" charset="-122"/>
                <a:cs typeface="Calibri" pitchFamily="34" charset="-120"/>
              </a:rPr>
              <a:t>Aun así van a coincidir cerca de la mitad de las veces, solo por azar. </a:t>
            </a:r>
            <a:pPr indent="0" marL="0">
              <a:lnSpc>
                <a:spcPct val="110000"/>
              </a:lnSpc>
              <a:buNone/>
            </a:pPr>
            <a:r>
              <a:rPr lang="en-US" sz="1400" dirty="0">
                <a:solidFill>
                  <a:srgbClr val="60707E"/>
                </a:solidFill>
                <a:latin typeface="Calibri" pitchFamily="34" charset="0"/>
                <a:ea typeface="Calibri" pitchFamily="34" charset="-122"/>
                <a:cs typeface="Calibri" pitchFamily="34" charset="-120"/>
              </a:rPr>
              <a:t>Si además una categoría es mucho más común que la otra, el acuerdo por azar sube todavía más. Ese acuerdo gratis no dice nada sobre si las categorías son buenas.</a:t>
            </a:r>
            <a:endParaRPr lang="en-US" sz="1400" dirty="0"/>
          </a:p>
        </p:txBody>
      </p:sp>
      <p:sp>
        <p:nvSpPr>
          <p:cNvPr id="7" name="Shape 5"/>
          <p:cNvSpPr/>
          <p:nvPr/>
        </p:nvSpPr>
        <p:spPr>
          <a:xfrm>
            <a:off x="548640" y="4114800"/>
            <a:ext cx="11091672" cy="1554480"/>
          </a:xfrm>
          <a:prstGeom prst="roundRect">
            <a:avLst>
              <a:gd name="adj" fmla="val 3529"/>
            </a:avLst>
          </a:prstGeom>
          <a:solidFill>
            <a:srgbClr val="15293B"/>
          </a:solidFill>
          <a:ln/>
        </p:spPr>
      </p:sp>
      <p:sp>
        <p:nvSpPr>
          <p:cNvPr id="8" name="Text 6"/>
          <p:cNvSpPr txBox="1"/>
          <p:nvPr/>
        </p:nvSpPr>
        <p:spPr>
          <a:xfrm>
            <a:off x="868680" y="4279392"/>
            <a:ext cx="10451592" cy="365760"/>
          </a:xfrm>
          <a:prstGeom prst="rect">
            <a:avLst/>
          </a:prstGeom>
          <a:noFill/>
          <a:ln/>
        </p:spPr>
        <p:txBody>
          <a:bodyPr wrap="square" lIns="0" tIns="0" rIns="0" bIns="0" rtlCol="0" anchor="ctr"/>
          <a:lstStyle/>
          <a:p>
            <a:pPr indent="0" marL="0">
              <a:buNone/>
            </a:pPr>
            <a:r>
              <a:rPr lang="en-US" sz="1600" b="1" dirty="0">
                <a:solidFill>
                  <a:srgbClr val="E58A5B"/>
                </a:solidFill>
                <a:latin typeface="Calibri" pitchFamily="34" charset="0"/>
                <a:ea typeface="Calibri" pitchFamily="34" charset="-122"/>
                <a:cs typeface="Calibri" pitchFamily="34" charset="-120"/>
              </a:rPr>
              <a:t>La idea de kappa</a:t>
            </a:r>
            <a:endParaRPr lang="en-US" sz="1600" dirty="0"/>
          </a:p>
        </p:txBody>
      </p:sp>
      <p:sp>
        <p:nvSpPr>
          <p:cNvPr id="9" name="Text 7"/>
          <p:cNvSpPr txBox="1"/>
          <p:nvPr/>
        </p:nvSpPr>
        <p:spPr>
          <a:xfrm>
            <a:off x="868680" y="4681728"/>
            <a:ext cx="10451592" cy="914400"/>
          </a:xfrm>
          <a:prstGeom prst="rect">
            <a:avLst/>
          </a:prstGeom>
          <a:noFill/>
          <a:ln/>
        </p:spPr>
        <p:txBody>
          <a:bodyPr wrap="square" lIns="0" tIns="0" rIns="0" bIns="0" rtlCol="0" anchor="ctr"/>
          <a:lstStyle/>
          <a:p>
            <a:pPr indent="0" marL="0">
              <a:lnSpc>
                <a:spcPct val="110000"/>
              </a:lnSpc>
              <a:buNone/>
            </a:pPr>
            <a:r>
              <a:rPr lang="en-US" sz="1350" b="1" dirty="0">
                <a:solidFill>
                  <a:srgbClr val="FFFFFF"/>
                </a:solidFill>
                <a:latin typeface="Calibri" pitchFamily="34" charset="0"/>
                <a:ea typeface="Calibri" pitchFamily="34" charset="-122"/>
                <a:cs typeface="Calibri" pitchFamily="34" charset="-120"/>
              </a:rPr>
              <a:t>Kappa mide cuánto del acuerdo va más allá del azar. </a:t>
            </a:r>
            <a:pPr indent="0" marL="0">
              <a:lnSpc>
                <a:spcPct val="110000"/>
              </a:lnSpc>
              <a:buNone/>
            </a:pPr>
            <a:r>
              <a:rPr lang="en-US" sz="1350" dirty="0">
                <a:solidFill>
                  <a:srgbClr val="E4EAF0"/>
                </a:solidFill>
                <a:latin typeface="Calibri" pitchFamily="34" charset="0"/>
                <a:ea typeface="Calibri" pitchFamily="34" charset="-122"/>
                <a:cs typeface="Calibri" pitchFamily="34" charset="-120"/>
              </a:rPr>
              <a:t>Toma el acuerdo observado, le resta el acuerdo que se esperaría por casualidad, y lo divide entre lo que quedaba por ganar. Vale 1 cuando el acuerdo es total, 0 cuando todo el acuerdo era gratis, y puede ser negativo si coinciden menos de lo que el azar predice.</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1E2A35"/>
                </a:solidFill>
                <a:latin typeface="Calibri" pitchFamily="34" charset="0"/>
                <a:ea typeface="Calibri" pitchFamily="34" charset="-122"/>
                <a:cs typeface="Calibri" pitchFamily="34" charset="-120"/>
              </a:rPr>
              <a:t>Kappa de Cohen, con un ejemplo</a:t>
            </a:r>
            <a:endParaRPr lang="en-US" sz="2900" dirty="0"/>
          </a:p>
        </p:txBody>
      </p:sp>
      <p:sp>
        <p:nvSpPr>
          <p:cNvPr id="3" name="Text 1"/>
          <p:cNvSpPr txBox="1"/>
          <p:nvPr/>
        </p:nvSpPr>
        <p:spPr>
          <a:xfrm>
            <a:off x="548640" y="1042416"/>
            <a:ext cx="11091672" cy="457200"/>
          </a:xfrm>
          <a:prstGeom prst="rect">
            <a:avLst/>
          </a:prstGeom>
          <a:noFill/>
          <a:ln/>
        </p:spPr>
        <p:txBody>
          <a:bodyPr wrap="square" lIns="0" tIns="0" rIns="0" bIns="0" rtlCol="0" anchor="ctr"/>
          <a:lstStyle/>
          <a:p>
            <a:pPr indent="0" marL="0">
              <a:buNone/>
            </a:pPr>
            <a:r>
              <a:rPr lang="en-US" sz="1400" dirty="0">
                <a:solidFill>
                  <a:srgbClr val="60707E"/>
                </a:solidFill>
                <a:latin typeface="Calibri" pitchFamily="34" charset="0"/>
                <a:ea typeface="Calibri" pitchFamily="34" charset="-122"/>
                <a:cs typeface="Calibri" pitchFamily="34" charset="-120"/>
              </a:rPr>
              <a:t>20 comentarios, cada uno clasificado como «queja» (sí / no) por un evaluador humano y por la IA.</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5212080" cy="914400"/>
        </p:xfrm>
        <a:graphic>
          <a:graphicData uri="http://schemas.openxmlformats.org/drawingml/2006/table">
            <a:tbl>
              <a:tblPr/>
              <a:tblGrid>
                <a:gridCol w="1645920"/>
                <a:gridCol w="1188720"/>
                <a:gridCol w="1188720"/>
                <a:gridCol w="1188720"/>
              </a:tblGrid>
              <a:tr h="566928">
                <a:tc>
                  <a:txBody>
                    <a:bodyPr/>
                    <a:lstStyle/>
                    <a:p>
                      <a:pPr indent="0" marL="0">
                        <a:buNone/>
                      </a:pPr>
                      <a:endParaRPr lang="en-US" sz="12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solidFill>
                        <a:srgbClr val="FFFFFF"/>
                      </a:solidFill>
                      <a:prstDash val="solid"/>
                      <a:round/>
                      <a:headEnd type="none" w="med" len="med"/>
                      <a:tailEnd type="none" w="med" len="med"/>
                    </a:lnT>
                    <a:lnB w="0" cap="flat" cmpd="sng" algn="ctr">
                      <a:noFill/>
                    </a:lnB>
                    <a:solidFill>
                      <a:srgbClr val="FFFFFF"/>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IA: Sí</a:t>
                      </a:r>
                      <a:endParaRPr lang="en-US" sz="1250" dirty="0">
                        <a:latin typeface="Calibri" charset="0"/>
                        <a:ea typeface="Calibri" charset="0"/>
                        <a:cs typeface="Calibri" charset="0"/>
                      </a:endParaRPr>
                    </a:p>
                  </a:txBody>
                  <a:tcPr marL="91440" marR="91440" marT="45720" marB="45720" anchor="ctr">
                    <a:lnL w="12700" cap="flat" cmpd="sng" algn="ctr">
                      <a:solidFill>
                        <a:srgbClr val="D5DCE3"/>
                      </a:solidFill>
                      <a:prstDash val="solid"/>
                      <a:round/>
                      <a:headEnd type="none" w="med" len="med"/>
                      <a:tailEnd type="none" w="med" len="med"/>
                    </a:lnL>
                    <a:lnR w="12700" cap="flat" cmpd="sng" algn="ctr">
                      <a:solidFill>
                        <a:srgbClr val="D5DCE3"/>
                      </a:solidFill>
                      <a:prstDash val="solid"/>
                      <a:round/>
                      <a:headEnd type="none" w="med" len="med"/>
                      <a:tailEnd type="none" w="med" len="med"/>
                    </a:lnR>
                    <a:lnT w="12700" cap="flat" cmpd="sng" algn="ctr">
                      <a:solidFill>
                        <a:srgbClr val="D5DCE3"/>
                      </a:solidFill>
                      <a:prstDash val="solid"/>
                      <a:round/>
                      <a:headEnd type="none" w="med" len="med"/>
                      <a:tailEnd type="none" w="med" len="med"/>
                    </a:lnT>
                    <a:lnB w="12700" cap="flat" cmpd="sng" algn="ctr">
                      <a:solidFill>
                        <a:srgbClr val="D5DCE3"/>
                      </a:solidFill>
                      <a:prstDash val="solid"/>
                      <a:round/>
                      <a:headEnd type="none" w="med" len="med"/>
                      <a:tailEnd type="none" w="med" len="med"/>
                    </a:lnB>
                    <a:solidFill>
                      <a:srgbClr val="15293B"/>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IA: No</a:t>
                      </a:r>
                      <a:endParaRPr lang="en-US" sz="1250" dirty="0">
                        <a:latin typeface="Calibri" charset="0"/>
                        <a:ea typeface="Calibri" charset="0"/>
                        <a:cs typeface="Calibri" charset="0"/>
                      </a:endParaRPr>
                    </a:p>
                  </a:txBody>
                  <a:tcPr marL="91440" marR="91440" marT="45720" marB="45720" anchor="ctr">
                    <a:lnL w="12700" cap="flat" cmpd="sng" algn="ctr">
                      <a:solidFill>
                        <a:srgbClr val="D5DCE3"/>
                      </a:solidFill>
                      <a:prstDash val="solid"/>
                      <a:round/>
                      <a:headEnd type="none" w="med" len="med"/>
                      <a:tailEnd type="none" w="med" len="med"/>
                    </a:lnL>
                    <a:lnR w="12700" cap="flat" cmpd="sng" algn="ctr">
                      <a:solidFill>
                        <a:srgbClr val="D5DCE3"/>
                      </a:solidFill>
                      <a:prstDash val="solid"/>
                      <a:round/>
                      <a:headEnd type="none" w="med" len="med"/>
                      <a:tailEnd type="none" w="med" len="med"/>
                    </a:lnR>
                    <a:lnT w="12700" cap="flat" cmpd="sng" algn="ctr">
                      <a:solidFill>
                        <a:srgbClr val="D5DCE3"/>
                      </a:solidFill>
                      <a:prstDash val="solid"/>
                      <a:round/>
                      <a:headEnd type="none" w="med" len="med"/>
                      <a:tailEnd type="none" w="med" len="med"/>
                    </a:lnT>
                    <a:lnB w="12700" cap="flat" cmpd="sng" algn="ctr">
                      <a:solidFill>
                        <a:srgbClr val="D5DCE3"/>
                      </a:solidFill>
                      <a:prstDash val="solid"/>
                      <a:round/>
                      <a:headEnd type="none" w="med" len="med"/>
                      <a:tailEnd type="none" w="med" len="med"/>
                    </a:lnB>
                    <a:solidFill>
                      <a:srgbClr val="15293B"/>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Total</a:t>
                      </a:r>
                      <a:endParaRPr lang="en-US" sz="1250" dirty="0">
                        <a:latin typeface="Calibri" charset="0"/>
                        <a:ea typeface="Calibri" charset="0"/>
                        <a:cs typeface="Calibri" charset="0"/>
                      </a:endParaRPr>
                    </a:p>
                  </a:txBody>
                  <a:tcPr marL="91440" marR="91440" marT="45720" marB="45720" anchor="ctr">
                    <a:lnL w="12700" cap="flat" cmpd="sng" algn="ctr">
                      <a:solidFill>
                        <a:srgbClr val="D5DCE3"/>
                      </a:solidFill>
                      <a:prstDash val="solid"/>
                      <a:round/>
                      <a:headEnd type="none" w="med" len="med"/>
                      <a:tailEnd type="none" w="med" len="med"/>
                    </a:lnL>
                    <a:lnR w="12700" cap="flat" cmpd="sng" algn="ctr">
                      <a:solidFill>
                        <a:srgbClr val="D5DCE3"/>
                      </a:solidFill>
                      <a:prstDash val="solid"/>
                      <a:round/>
                      <a:headEnd type="none" w="med" len="med"/>
                      <a:tailEnd type="none" w="med" len="med"/>
                    </a:lnR>
                    <a:lnT w="12700" cap="flat" cmpd="sng" algn="ctr">
                      <a:solidFill>
                        <a:srgbClr val="D5DCE3"/>
                      </a:solidFill>
                      <a:prstDash val="solid"/>
                      <a:round/>
                      <a:headEnd type="none" w="med" len="med"/>
                      <a:tailEnd type="none" w="med" len="med"/>
                    </a:lnT>
                    <a:lnB w="12700" cap="flat" cmpd="sng" algn="ctr">
                      <a:solidFill>
                        <a:srgbClr val="D5DCE3"/>
                      </a:solidFill>
                      <a:prstDash val="solid"/>
                      <a:round/>
                      <a:headEnd type="none" w="med" len="med"/>
                      <a:tailEnd type="none" w="med" len="med"/>
                    </a:lnB>
                    <a:solidFill>
                      <a:srgbClr val="20384F"/>
                    </a:solidFill>
                  </a:tcPr>
                </a:tc>
              </a:tr>
              <a:tr h="56692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Humano: Sí</a:t>
                      </a:r>
                      <a:endParaRPr lang="en-US" sz="1250" dirty="0">
                        <a:latin typeface="Calibri" charset="0"/>
                        <a:ea typeface="Calibri" charset="0"/>
                        <a:cs typeface="Calibri" charset="0"/>
                      </a:endParaRPr>
                    </a:p>
                  </a:txBody>
                  <a:tcPr marL="91440" marR="91440" marT="45720" marB="45720" anchor="ctr">
                    <a:lnL w="12700" cap="flat" cmpd="sng" algn="ctr">
                      <a:solidFill>
                        <a:srgbClr val="D5DCE3"/>
                      </a:solidFill>
                      <a:prstDash val="solid"/>
                      <a:round/>
                      <a:headEnd type="none" w="med" len="med"/>
                      <a:tailEnd type="none" w="med" len="med"/>
                    </a:lnL>
                    <a:lnR w="12700" cap="flat" cmpd="sng" algn="ctr">
                      <a:solidFill>
                        <a:srgbClr val="D5DCE3"/>
                      </a:solidFill>
                      <a:prstDash val="solid"/>
                      <a:round/>
                      <a:headEnd type="none" w="med" len="med"/>
                      <a:tailEnd type="none" w="med" len="med"/>
                    </a:lnR>
                    <a:lnT w="12700" cap="flat" cmpd="sng" algn="ctr">
                      <a:solidFill>
                        <a:srgbClr val="D5DCE3"/>
                      </a:solidFill>
                      <a:prstDash val="solid"/>
                      <a:round/>
                      <a:headEnd type="none" w="med" len="med"/>
                      <a:tailEnd type="none" w="med" len="med"/>
                    </a:lnT>
                    <a:lnB w="12700" cap="flat" cmpd="sng" algn="ctr">
                      <a:solidFill>
                        <a:srgbClr val="D5DCE3"/>
                      </a:solidFill>
                      <a:prstDash val="solid"/>
                      <a:round/>
                      <a:headEnd type="none" w="med" len="med"/>
                      <a:tailEnd type="none" w="med" len="med"/>
                    </a:lnB>
                    <a:solidFill>
                      <a:srgbClr val="15293B"/>
                    </a:solidFill>
                  </a:tcPr>
                </a:tc>
                <a:tc>
                  <a:txBody>
                    <a:bodyPr/>
                    <a:lstStyle/>
                    <a:p>
                      <a:pPr algn="ctr" indent="0" marL="0">
                        <a:buNone/>
                      </a:pPr>
                      <a:r>
                        <a:rPr lang="en-US" sz="1500" b="1" dirty="0">
                          <a:solidFill>
                            <a:srgbClr val="2E6E49"/>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91440" marR="91440" marT="45720" marB="45720" anchor="ctr">
                    <a:lnL w="12700" cap="flat" cmpd="sng" algn="ctr">
                      <a:solidFill>
                        <a:srgbClr val="D5DCE3"/>
                      </a:solidFill>
                      <a:prstDash val="solid"/>
                      <a:round/>
                      <a:headEnd type="none" w="med" len="med"/>
                      <a:tailEnd type="none" w="med" len="med"/>
                    </a:lnL>
                    <a:lnR w="12700" cap="flat" cmpd="sng" algn="ctr">
                      <a:solidFill>
                        <a:srgbClr val="D5DCE3"/>
                      </a:solidFill>
                      <a:prstDash val="solid"/>
                      <a:round/>
                      <a:headEnd type="none" w="med" len="med"/>
                      <a:tailEnd type="none" w="med" len="med"/>
                    </a:lnR>
                    <a:lnT w="12700" cap="flat" cmpd="sng" algn="ctr">
                      <a:solidFill>
                        <a:srgbClr val="D5DCE3"/>
                      </a:solidFill>
                      <a:prstDash val="solid"/>
                      <a:round/>
                      <a:headEnd type="none" w="med" len="med"/>
                      <a:tailEnd type="none" w="med" len="med"/>
                    </a:lnT>
                    <a:lnB w="12700" cap="flat" cmpd="sng" algn="ctr">
                      <a:solidFill>
                        <a:srgbClr val="D5DCE3"/>
                      </a:solidFill>
                      <a:prstDash val="solid"/>
                      <a:round/>
                      <a:headEnd type="none" w="med" len="med"/>
                      <a:tailEnd type="none" w="med" len="med"/>
                    </a:lnB>
                    <a:solidFill>
                      <a:srgbClr val="E7F2EA"/>
                    </a:solidFill>
                  </a:tcPr>
                </a:tc>
                <a:tc>
                  <a:txBody>
                    <a:bodyPr/>
                    <a:lstStyle/>
                    <a:p>
                      <a:pPr algn="ctr" indent="0" marL="0">
                        <a:buNone/>
                      </a:pPr>
                      <a:r>
                        <a:rPr lang="en-US" sz="1500" dirty="0">
                          <a:solidFill>
                            <a:srgbClr val="1E2A35"/>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91440" marR="91440" marT="45720" marB="45720" anchor="ctr">
                    <a:lnL w="12700" cap="flat" cmpd="sng" algn="ctr">
                      <a:solidFill>
                        <a:srgbClr val="D5DCE3"/>
                      </a:solidFill>
                      <a:prstDash val="solid"/>
                      <a:round/>
                      <a:headEnd type="none" w="med" len="med"/>
                      <a:tailEnd type="none" w="med" len="med"/>
                    </a:lnL>
                    <a:lnR w="12700" cap="flat" cmpd="sng" algn="ctr">
                      <a:solidFill>
                        <a:srgbClr val="D5DCE3"/>
                      </a:solidFill>
                      <a:prstDash val="solid"/>
                      <a:round/>
                      <a:headEnd type="none" w="med" len="med"/>
                      <a:tailEnd type="none" w="med" len="med"/>
                    </a:lnR>
                    <a:lnT w="12700" cap="flat" cmpd="sng" algn="ctr">
                      <a:solidFill>
                        <a:srgbClr val="D5DCE3"/>
                      </a:solidFill>
                      <a:prstDash val="solid"/>
                      <a:round/>
                      <a:headEnd type="none" w="med" len="med"/>
                      <a:tailEnd type="none" w="med" len="med"/>
                    </a:lnT>
                    <a:lnB w="12700" cap="flat" cmpd="sng" algn="ctr">
                      <a:solidFill>
                        <a:srgbClr val="D5DC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5"/>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45720" marB="45720" anchor="ctr">
                    <a:lnL w="12700" cap="flat" cmpd="sng" algn="ctr">
                      <a:solidFill>
                        <a:srgbClr val="D5DCE3"/>
                      </a:solidFill>
                      <a:prstDash val="solid"/>
                      <a:round/>
                      <a:headEnd type="none" w="med" len="med"/>
                      <a:tailEnd type="none" w="med" len="med"/>
                    </a:lnL>
                    <a:lnR w="12700" cap="flat" cmpd="sng" algn="ctr">
                      <a:solidFill>
                        <a:srgbClr val="D5DCE3"/>
                      </a:solidFill>
                      <a:prstDash val="solid"/>
                      <a:round/>
                      <a:headEnd type="none" w="med" len="med"/>
                      <a:tailEnd type="none" w="med" len="med"/>
                    </a:lnR>
                    <a:lnT w="12700" cap="flat" cmpd="sng" algn="ctr">
                      <a:solidFill>
                        <a:srgbClr val="D5DCE3"/>
                      </a:solidFill>
                      <a:prstDash val="solid"/>
                      <a:round/>
                      <a:headEnd type="none" w="med" len="med"/>
                      <a:tailEnd type="none" w="med" len="med"/>
                    </a:lnT>
                    <a:lnB w="12700" cap="flat" cmpd="sng" algn="ctr">
                      <a:solidFill>
                        <a:srgbClr val="D5DCE3"/>
                      </a:solidFill>
                      <a:prstDash val="solid"/>
                      <a:round/>
                      <a:headEnd type="none" w="med" len="med"/>
                      <a:tailEnd type="none" w="med" len="med"/>
                    </a:lnB>
                    <a:solidFill>
                      <a:srgbClr val="EEF2F5"/>
                    </a:solidFill>
                  </a:tcPr>
                </a:tc>
              </a:tr>
              <a:tr h="56692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Humano: No</a:t>
                      </a:r>
                      <a:endParaRPr lang="en-US" sz="1250" dirty="0">
                        <a:latin typeface="Calibri" charset="0"/>
                        <a:ea typeface="Calibri" charset="0"/>
                        <a:cs typeface="Calibri" charset="0"/>
                      </a:endParaRPr>
                    </a:p>
                  </a:txBody>
                  <a:tcPr marL="91440" marR="91440" marT="45720" marB="45720" anchor="ctr">
                    <a:lnL w="12700" cap="flat" cmpd="sng" algn="ctr">
                      <a:solidFill>
                        <a:srgbClr val="D5DCE3"/>
                      </a:solidFill>
                      <a:prstDash val="solid"/>
                      <a:round/>
                      <a:headEnd type="none" w="med" len="med"/>
                      <a:tailEnd type="none" w="med" len="med"/>
                    </a:lnL>
                    <a:lnR w="12700" cap="flat" cmpd="sng" algn="ctr">
                      <a:solidFill>
                        <a:srgbClr val="D5DCE3"/>
                      </a:solidFill>
                      <a:prstDash val="solid"/>
                      <a:round/>
                      <a:headEnd type="none" w="med" len="med"/>
                      <a:tailEnd type="none" w="med" len="med"/>
                    </a:lnR>
                    <a:lnT w="12700" cap="flat" cmpd="sng" algn="ctr">
                      <a:solidFill>
                        <a:srgbClr val="D5DCE3"/>
                      </a:solidFill>
                      <a:prstDash val="solid"/>
                      <a:round/>
                      <a:headEnd type="none" w="med" len="med"/>
                      <a:tailEnd type="none" w="med" len="med"/>
                    </a:lnT>
                    <a:lnB w="12700" cap="flat" cmpd="sng" algn="ctr">
                      <a:solidFill>
                        <a:srgbClr val="D5DCE3"/>
                      </a:solidFill>
                      <a:prstDash val="solid"/>
                      <a:round/>
                      <a:headEnd type="none" w="med" len="med"/>
                      <a:tailEnd type="none" w="med" len="med"/>
                    </a:lnB>
                    <a:solidFill>
                      <a:srgbClr val="15293B"/>
                    </a:solidFill>
                  </a:tcPr>
                </a:tc>
                <a:tc>
                  <a:txBody>
                    <a:bodyPr/>
                    <a:lstStyle/>
                    <a:p>
                      <a:pPr algn="ctr" indent="0" marL="0">
                        <a:buNone/>
                      </a:pPr>
                      <a:r>
                        <a:rPr lang="en-US" sz="1500" dirty="0">
                          <a:solidFill>
                            <a:srgbClr val="1E2A35"/>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91440" marR="91440" marT="45720" marB="45720" anchor="ctr">
                    <a:lnL w="12700" cap="flat" cmpd="sng" algn="ctr">
                      <a:solidFill>
                        <a:srgbClr val="D5DCE3"/>
                      </a:solidFill>
                      <a:prstDash val="solid"/>
                      <a:round/>
                      <a:headEnd type="none" w="med" len="med"/>
                      <a:tailEnd type="none" w="med" len="med"/>
                    </a:lnL>
                    <a:lnR w="12700" cap="flat" cmpd="sng" algn="ctr">
                      <a:solidFill>
                        <a:srgbClr val="D5DCE3"/>
                      </a:solidFill>
                      <a:prstDash val="solid"/>
                      <a:round/>
                      <a:headEnd type="none" w="med" len="med"/>
                      <a:tailEnd type="none" w="med" len="med"/>
                    </a:lnR>
                    <a:lnT w="12700" cap="flat" cmpd="sng" algn="ctr">
                      <a:solidFill>
                        <a:srgbClr val="D5DCE3"/>
                      </a:solidFill>
                      <a:prstDash val="solid"/>
                      <a:round/>
                      <a:headEnd type="none" w="med" len="med"/>
                      <a:tailEnd type="none" w="med" len="med"/>
                    </a:lnT>
                    <a:lnB w="12700" cap="flat" cmpd="sng" algn="ctr">
                      <a:solidFill>
                        <a:srgbClr val="D5DC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2E6E49"/>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91440" marR="91440" marT="45720" marB="45720" anchor="ctr">
                    <a:lnL w="12700" cap="flat" cmpd="sng" algn="ctr">
                      <a:solidFill>
                        <a:srgbClr val="D5DCE3"/>
                      </a:solidFill>
                      <a:prstDash val="solid"/>
                      <a:round/>
                      <a:headEnd type="none" w="med" len="med"/>
                      <a:tailEnd type="none" w="med" len="med"/>
                    </a:lnL>
                    <a:lnR w="12700" cap="flat" cmpd="sng" algn="ctr">
                      <a:solidFill>
                        <a:srgbClr val="D5DCE3"/>
                      </a:solidFill>
                      <a:prstDash val="solid"/>
                      <a:round/>
                      <a:headEnd type="none" w="med" len="med"/>
                      <a:tailEnd type="none" w="med" len="med"/>
                    </a:lnR>
                    <a:lnT w="12700" cap="flat" cmpd="sng" algn="ctr">
                      <a:solidFill>
                        <a:srgbClr val="D5DCE3"/>
                      </a:solidFill>
                      <a:prstDash val="solid"/>
                      <a:round/>
                      <a:headEnd type="none" w="med" len="med"/>
                      <a:tailEnd type="none" w="med" len="med"/>
                    </a:lnT>
                    <a:lnB w="12700" cap="flat" cmpd="sng" algn="ctr">
                      <a:solidFill>
                        <a:srgbClr val="D5DCE3"/>
                      </a:solidFill>
                      <a:prstDash val="solid"/>
                      <a:round/>
                      <a:headEnd type="none" w="med" len="med"/>
                      <a:tailEnd type="none" w="med" len="med"/>
                    </a:lnB>
                    <a:solidFill>
                      <a:srgbClr val="E7F2EA"/>
                    </a:solidFill>
                  </a:tcPr>
                </a:tc>
                <a:tc>
                  <a:txBody>
                    <a:bodyPr/>
                    <a:lstStyle/>
                    <a:p>
                      <a:pPr algn="ctr" indent="0" marL="0">
                        <a:buNone/>
                      </a:pPr>
                      <a:r>
                        <a:rPr lang="en-US" sz="1300" dirty="0">
                          <a:solidFill>
                            <a:srgbClr val="1E2A35"/>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45720" marB="45720" anchor="ctr">
                    <a:lnL w="12700" cap="flat" cmpd="sng" algn="ctr">
                      <a:solidFill>
                        <a:srgbClr val="D5DCE3"/>
                      </a:solidFill>
                      <a:prstDash val="solid"/>
                      <a:round/>
                      <a:headEnd type="none" w="med" len="med"/>
                      <a:tailEnd type="none" w="med" len="med"/>
                    </a:lnL>
                    <a:lnR w="12700" cap="flat" cmpd="sng" algn="ctr">
                      <a:solidFill>
                        <a:srgbClr val="D5DCE3"/>
                      </a:solidFill>
                      <a:prstDash val="solid"/>
                      <a:round/>
                      <a:headEnd type="none" w="med" len="med"/>
                      <a:tailEnd type="none" w="med" len="med"/>
                    </a:lnR>
                    <a:lnT w="12700" cap="flat" cmpd="sng" algn="ctr">
                      <a:solidFill>
                        <a:srgbClr val="D5DCE3"/>
                      </a:solidFill>
                      <a:prstDash val="solid"/>
                      <a:round/>
                      <a:headEnd type="none" w="med" len="med"/>
                      <a:tailEnd type="none" w="med" len="med"/>
                    </a:lnT>
                    <a:lnB w="12700" cap="flat" cmpd="sng" algn="ctr">
                      <a:solidFill>
                        <a:srgbClr val="D5DCE3"/>
                      </a:solidFill>
                      <a:prstDash val="solid"/>
                      <a:round/>
                      <a:headEnd type="none" w="med" len="med"/>
                      <a:tailEnd type="none" w="med" len="med"/>
                    </a:lnB>
                    <a:solidFill>
                      <a:srgbClr val="EEF2F5"/>
                    </a:solidFill>
                  </a:tcPr>
                </a:tc>
              </a:tr>
              <a:tr h="56692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Total</a:t>
                      </a:r>
                      <a:endParaRPr lang="en-US" sz="1250" dirty="0">
                        <a:latin typeface="Calibri" charset="0"/>
                        <a:ea typeface="Calibri" charset="0"/>
                        <a:cs typeface="Calibri" charset="0"/>
                      </a:endParaRPr>
                    </a:p>
                  </a:txBody>
                  <a:tcPr marL="91440" marR="91440" marT="45720" marB="45720" anchor="ctr">
                    <a:lnL w="12700" cap="flat" cmpd="sng" algn="ctr">
                      <a:solidFill>
                        <a:srgbClr val="D5DCE3"/>
                      </a:solidFill>
                      <a:prstDash val="solid"/>
                      <a:round/>
                      <a:headEnd type="none" w="med" len="med"/>
                      <a:tailEnd type="none" w="med" len="med"/>
                    </a:lnL>
                    <a:lnR w="12700" cap="flat" cmpd="sng" algn="ctr">
                      <a:solidFill>
                        <a:srgbClr val="D5DCE3"/>
                      </a:solidFill>
                      <a:prstDash val="solid"/>
                      <a:round/>
                      <a:headEnd type="none" w="med" len="med"/>
                      <a:tailEnd type="none" w="med" len="med"/>
                    </a:lnR>
                    <a:lnT w="12700" cap="flat" cmpd="sng" algn="ctr">
                      <a:solidFill>
                        <a:srgbClr val="D5DCE3"/>
                      </a:solidFill>
                      <a:prstDash val="solid"/>
                      <a:round/>
                      <a:headEnd type="none" w="med" len="med"/>
                      <a:tailEnd type="none" w="med" len="med"/>
                    </a:lnT>
                    <a:lnB w="12700" cap="flat" cmpd="sng" algn="ctr">
                      <a:solidFill>
                        <a:srgbClr val="D5DCE3"/>
                      </a:solidFill>
                      <a:prstDash val="solid"/>
                      <a:round/>
                      <a:headEnd type="none" w="med" len="med"/>
                      <a:tailEnd type="none" w="med" len="med"/>
                    </a:lnB>
                    <a:solidFill>
                      <a:srgbClr val="20384F"/>
                    </a:solidFill>
                  </a:tcPr>
                </a:tc>
                <a:tc>
                  <a:txBody>
                    <a:bodyPr/>
                    <a:lstStyle/>
                    <a:p>
                      <a:pPr algn="ctr" indent="0" marL="0">
                        <a:buNone/>
                      </a:pPr>
                      <a:r>
                        <a:rPr lang="en-US" sz="1300" dirty="0">
                          <a:solidFill>
                            <a:srgbClr val="1E2A35"/>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45720" marB="45720" anchor="ctr">
                    <a:lnL w="12700" cap="flat" cmpd="sng" algn="ctr">
                      <a:solidFill>
                        <a:srgbClr val="D5DCE3"/>
                      </a:solidFill>
                      <a:prstDash val="solid"/>
                      <a:round/>
                      <a:headEnd type="none" w="med" len="med"/>
                      <a:tailEnd type="none" w="med" len="med"/>
                    </a:lnL>
                    <a:lnR w="12700" cap="flat" cmpd="sng" algn="ctr">
                      <a:solidFill>
                        <a:srgbClr val="D5DCE3"/>
                      </a:solidFill>
                      <a:prstDash val="solid"/>
                      <a:round/>
                      <a:headEnd type="none" w="med" len="med"/>
                      <a:tailEnd type="none" w="med" len="med"/>
                    </a:lnR>
                    <a:lnT w="12700" cap="flat" cmpd="sng" algn="ctr">
                      <a:solidFill>
                        <a:srgbClr val="D5DCE3"/>
                      </a:solidFill>
                      <a:prstDash val="solid"/>
                      <a:round/>
                      <a:headEnd type="none" w="med" len="med"/>
                      <a:tailEnd type="none" w="med" len="med"/>
                    </a:lnT>
                    <a:lnB w="12700" cap="flat" cmpd="sng" algn="ctr">
                      <a:solidFill>
                        <a:srgbClr val="D5DCE3"/>
                      </a:solidFill>
                      <a:prstDash val="solid"/>
                      <a:round/>
                      <a:headEnd type="none" w="med" len="med"/>
                      <a:tailEnd type="none" w="med" len="med"/>
                    </a:lnB>
                    <a:solidFill>
                      <a:srgbClr val="EEF2F5"/>
                    </a:solidFill>
                  </a:tcPr>
                </a:tc>
                <a:tc>
                  <a:txBody>
                    <a:bodyPr/>
                    <a:lstStyle/>
                    <a:p>
                      <a:pPr algn="ctr" indent="0" marL="0">
                        <a:buNone/>
                      </a:pPr>
                      <a:r>
                        <a:rPr lang="en-US" sz="1300" dirty="0">
                          <a:solidFill>
                            <a:srgbClr val="1E2A35"/>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nchor="ctr">
                    <a:lnL w="12700" cap="flat" cmpd="sng" algn="ctr">
                      <a:solidFill>
                        <a:srgbClr val="D5DCE3"/>
                      </a:solidFill>
                      <a:prstDash val="solid"/>
                      <a:round/>
                      <a:headEnd type="none" w="med" len="med"/>
                      <a:tailEnd type="none" w="med" len="med"/>
                    </a:lnL>
                    <a:lnR w="12700" cap="flat" cmpd="sng" algn="ctr">
                      <a:solidFill>
                        <a:srgbClr val="D5DCE3"/>
                      </a:solidFill>
                      <a:prstDash val="solid"/>
                      <a:round/>
                      <a:headEnd type="none" w="med" len="med"/>
                      <a:tailEnd type="none" w="med" len="med"/>
                    </a:lnR>
                    <a:lnT w="12700" cap="flat" cmpd="sng" algn="ctr">
                      <a:solidFill>
                        <a:srgbClr val="D5DCE3"/>
                      </a:solidFill>
                      <a:prstDash val="solid"/>
                      <a:round/>
                      <a:headEnd type="none" w="med" len="med"/>
                      <a:tailEnd type="none" w="med" len="med"/>
                    </a:lnT>
                    <a:lnB w="12700" cap="flat" cmpd="sng" algn="ctr">
                      <a:solidFill>
                        <a:srgbClr val="D5DCE3"/>
                      </a:solidFill>
                      <a:prstDash val="solid"/>
                      <a:round/>
                      <a:headEnd type="none" w="med" len="med"/>
                      <a:tailEnd type="none" w="med" len="med"/>
                    </a:lnB>
                    <a:solidFill>
                      <a:srgbClr val="EEF2F5"/>
                    </a:solidFill>
                  </a:tcPr>
                </a:tc>
                <a:tc>
                  <a:txBody>
                    <a:bodyPr/>
                    <a:lstStyle/>
                    <a:p>
                      <a:pPr algn="ctr" indent="0" marL="0">
                        <a:buNone/>
                      </a:pPr>
                      <a:r>
                        <a:rPr lang="en-US" sz="1300" b="1" dirty="0">
                          <a:solidFill>
                            <a:srgbClr val="1E2A35"/>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45720" marB="45720" anchor="ctr">
                    <a:lnL w="12700" cap="flat" cmpd="sng" algn="ctr">
                      <a:solidFill>
                        <a:srgbClr val="D5DCE3"/>
                      </a:solidFill>
                      <a:prstDash val="solid"/>
                      <a:round/>
                      <a:headEnd type="none" w="med" len="med"/>
                      <a:tailEnd type="none" w="med" len="med"/>
                    </a:lnL>
                    <a:lnR w="12700" cap="flat" cmpd="sng" algn="ctr">
                      <a:solidFill>
                        <a:srgbClr val="D5DCE3"/>
                      </a:solidFill>
                      <a:prstDash val="solid"/>
                      <a:round/>
                      <a:headEnd type="none" w="med" len="med"/>
                      <a:tailEnd type="none" w="med" len="med"/>
                    </a:lnR>
                    <a:lnT w="12700" cap="flat" cmpd="sng" algn="ctr">
                      <a:solidFill>
                        <a:srgbClr val="D5DCE3"/>
                      </a:solidFill>
                      <a:prstDash val="solid"/>
                      <a:round/>
                      <a:headEnd type="none" w="med" len="med"/>
                      <a:tailEnd type="none" w="med" len="med"/>
                    </a:lnT>
                    <a:lnB w="12700" cap="flat" cmpd="sng" algn="ctr">
                      <a:solidFill>
                        <a:srgbClr val="D5DCE3"/>
                      </a:solidFill>
                      <a:prstDash val="solid"/>
                      <a:round/>
                      <a:headEnd type="none" w="med" len="med"/>
                      <a:tailEnd type="none" w="med" len="med"/>
                    </a:lnB>
                    <a:solidFill>
                      <a:srgbClr val="E4EAF0"/>
                    </a:solidFill>
                  </a:tcPr>
                </a:tc>
              </a:tr>
            </a:tbl>
          </a:graphicData>
        </a:graphic>
      </p:graphicFrame>
      <p:sp>
        <p:nvSpPr>
          <p:cNvPr id="5" name="Text 2"/>
          <p:cNvSpPr txBox="1"/>
          <p:nvPr/>
        </p:nvSpPr>
        <p:spPr>
          <a:xfrm>
            <a:off x="548640" y="4389120"/>
            <a:ext cx="5212080" cy="365760"/>
          </a:xfrm>
          <a:prstGeom prst="rect">
            <a:avLst/>
          </a:prstGeom>
          <a:noFill/>
          <a:ln/>
        </p:spPr>
        <p:txBody>
          <a:bodyPr wrap="square" lIns="0" tIns="0" rIns="0" bIns="0" rtlCol="0" anchor="ctr"/>
          <a:lstStyle/>
          <a:p>
            <a:pPr indent="0" marL="0">
              <a:buNone/>
            </a:pPr>
            <a:r>
              <a:rPr lang="en-US" sz="1150" i="1" dirty="0">
                <a:solidFill>
                  <a:srgbClr val="60707E"/>
                </a:solidFill>
                <a:latin typeface="Calibri" pitchFamily="34" charset="0"/>
                <a:ea typeface="Calibri" pitchFamily="34" charset="-122"/>
                <a:cs typeface="Calibri" pitchFamily="34" charset="-120"/>
              </a:rPr>
              <a:t>Coinciden en la diagonal verde: 8 + 7 = 15 de 20.</a:t>
            </a:r>
            <a:endParaRPr lang="en-US" sz="1150" dirty="0"/>
          </a:p>
        </p:txBody>
      </p:sp>
      <p:sp>
        <p:nvSpPr>
          <p:cNvPr id="6" name="Shape 3"/>
          <p:cNvSpPr/>
          <p:nvPr/>
        </p:nvSpPr>
        <p:spPr>
          <a:xfrm>
            <a:off x="6217920" y="1874520"/>
            <a:ext cx="5422392" cy="713232"/>
          </a:xfrm>
          <a:prstGeom prst="roundRect">
            <a:avLst>
              <a:gd name="adj" fmla="val 6410"/>
            </a:avLst>
          </a:prstGeom>
          <a:solidFill>
            <a:srgbClr val="EEF2F5"/>
          </a:solidFill>
          <a:ln/>
        </p:spPr>
      </p:sp>
      <p:sp>
        <p:nvSpPr>
          <p:cNvPr id="7" name="Text 4"/>
          <p:cNvSpPr txBox="1"/>
          <p:nvPr/>
        </p:nvSpPr>
        <p:spPr>
          <a:xfrm>
            <a:off x="6419088" y="1947672"/>
            <a:ext cx="5020056" cy="274320"/>
          </a:xfrm>
          <a:prstGeom prst="rect">
            <a:avLst/>
          </a:prstGeom>
          <a:noFill/>
          <a:ln/>
        </p:spPr>
        <p:txBody>
          <a:bodyPr wrap="square" lIns="0" tIns="0" rIns="0" bIns="0" rtlCol="0" anchor="ctr"/>
          <a:lstStyle/>
          <a:p>
            <a:pPr indent="0" marL="0">
              <a:buNone/>
            </a:pPr>
            <a:r>
              <a:rPr lang="en-US" sz="1200" b="1" dirty="0">
                <a:solidFill>
                  <a:srgbClr val="CB5E2E"/>
                </a:solidFill>
                <a:latin typeface="Calibri" pitchFamily="34" charset="0"/>
                <a:ea typeface="Calibri" pitchFamily="34" charset="-122"/>
                <a:cs typeface="Calibri" pitchFamily="34" charset="-120"/>
              </a:rPr>
              <a:t>Acuerdo observado (Po)</a:t>
            </a:r>
            <a:endParaRPr lang="en-US" sz="1200" dirty="0"/>
          </a:p>
        </p:txBody>
      </p:sp>
      <p:sp>
        <p:nvSpPr>
          <p:cNvPr id="8" name="Text 5"/>
          <p:cNvSpPr txBox="1"/>
          <p:nvPr/>
        </p:nvSpPr>
        <p:spPr>
          <a:xfrm>
            <a:off x="6419088" y="2221992"/>
            <a:ext cx="5020056" cy="320040"/>
          </a:xfrm>
          <a:prstGeom prst="rect">
            <a:avLst/>
          </a:prstGeom>
          <a:noFill/>
          <a:ln/>
        </p:spPr>
        <p:txBody>
          <a:bodyPr wrap="square" lIns="0" tIns="0" rIns="0" bIns="0" rtlCol="0" anchor="ctr"/>
          <a:lstStyle/>
          <a:p>
            <a:pPr indent="0" marL="0">
              <a:buNone/>
            </a:pPr>
            <a:r>
              <a:rPr lang="en-US" sz="1250" dirty="0">
                <a:solidFill>
                  <a:srgbClr val="60707E"/>
                </a:solidFill>
                <a:latin typeface="Cambria" pitchFamily="34" charset="0"/>
                <a:ea typeface="Cambria" pitchFamily="34" charset="-122"/>
                <a:cs typeface="Cambria" pitchFamily="34" charset="-120"/>
              </a:rPr>
              <a:t>(8 + 7) / 20 =  </a:t>
            </a:r>
            <a:pPr indent="0" marL="0">
              <a:buNone/>
            </a:pPr>
            <a:r>
              <a:rPr lang="en-US" sz="1400" b="1" dirty="0">
                <a:solidFill>
                  <a:srgbClr val="1E2A35"/>
                </a:solidFill>
                <a:latin typeface="Cambria" pitchFamily="34" charset="0"/>
                <a:ea typeface="Cambria" pitchFamily="34" charset="-122"/>
                <a:cs typeface="Cambria" pitchFamily="34" charset="-120"/>
              </a:rPr>
              <a:t>0.75</a:t>
            </a:r>
            <a:endParaRPr lang="en-US" sz="1250" dirty="0"/>
          </a:p>
        </p:txBody>
      </p:sp>
      <p:sp>
        <p:nvSpPr>
          <p:cNvPr id="9" name="Shape 6"/>
          <p:cNvSpPr/>
          <p:nvPr/>
        </p:nvSpPr>
        <p:spPr>
          <a:xfrm>
            <a:off x="6217920" y="2715768"/>
            <a:ext cx="5422392" cy="713232"/>
          </a:xfrm>
          <a:prstGeom prst="roundRect">
            <a:avLst>
              <a:gd name="adj" fmla="val 6410"/>
            </a:avLst>
          </a:prstGeom>
          <a:solidFill>
            <a:srgbClr val="EEF2F5"/>
          </a:solidFill>
          <a:ln/>
        </p:spPr>
      </p:sp>
      <p:sp>
        <p:nvSpPr>
          <p:cNvPr id="10" name="Text 7"/>
          <p:cNvSpPr txBox="1"/>
          <p:nvPr/>
        </p:nvSpPr>
        <p:spPr>
          <a:xfrm>
            <a:off x="6419088" y="2788920"/>
            <a:ext cx="5020056" cy="274320"/>
          </a:xfrm>
          <a:prstGeom prst="rect">
            <a:avLst/>
          </a:prstGeom>
          <a:noFill/>
          <a:ln/>
        </p:spPr>
        <p:txBody>
          <a:bodyPr wrap="square" lIns="0" tIns="0" rIns="0" bIns="0" rtlCol="0" anchor="ctr"/>
          <a:lstStyle/>
          <a:p>
            <a:pPr indent="0" marL="0">
              <a:buNone/>
            </a:pPr>
            <a:r>
              <a:rPr lang="en-US" sz="1200" b="1" dirty="0">
                <a:solidFill>
                  <a:srgbClr val="CB5E2E"/>
                </a:solidFill>
                <a:latin typeface="Calibri" pitchFamily="34" charset="0"/>
                <a:ea typeface="Calibri" pitchFamily="34" charset="-122"/>
                <a:cs typeface="Calibri" pitchFamily="34" charset="-120"/>
              </a:rPr>
              <a:t>Acuerdo esperado por azar (Pe)</a:t>
            </a:r>
            <a:endParaRPr lang="en-US" sz="1200" dirty="0"/>
          </a:p>
        </p:txBody>
      </p:sp>
      <p:sp>
        <p:nvSpPr>
          <p:cNvPr id="11" name="Text 8"/>
          <p:cNvSpPr txBox="1"/>
          <p:nvPr/>
        </p:nvSpPr>
        <p:spPr>
          <a:xfrm>
            <a:off x="6419088" y="3063240"/>
            <a:ext cx="5020056" cy="320040"/>
          </a:xfrm>
          <a:prstGeom prst="rect">
            <a:avLst/>
          </a:prstGeom>
          <a:noFill/>
          <a:ln/>
        </p:spPr>
        <p:txBody>
          <a:bodyPr wrap="square" lIns="0" tIns="0" rIns="0" bIns="0" rtlCol="0" anchor="ctr"/>
          <a:lstStyle/>
          <a:p>
            <a:pPr indent="0" marL="0">
              <a:buNone/>
            </a:pPr>
            <a:r>
              <a:rPr lang="en-US" sz="1250" dirty="0">
                <a:solidFill>
                  <a:srgbClr val="60707E"/>
                </a:solidFill>
                <a:latin typeface="Cambria" pitchFamily="34" charset="0"/>
                <a:ea typeface="Cambria" pitchFamily="34" charset="-122"/>
                <a:cs typeface="Cambria" pitchFamily="34" charset="-120"/>
              </a:rPr>
              <a:t>(10/20)(11/20) + (10/20)(9/20) =  </a:t>
            </a:r>
            <a:pPr indent="0" marL="0">
              <a:buNone/>
            </a:pPr>
            <a:r>
              <a:rPr lang="en-US" sz="1400" b="1" dirty="0">
                <a:solidFill>
                  <a:srgbClr val="1E2A35"/>
                </a:solidFill>
                <a:latin typeface="Cambria" pitchFamily="34" charset="0"/>
                <a:ea typeface="Cambria" pitchFamily="34" charset="-122"/>
                <a:cs typeface="Cambria" pitchFamily="34" charset="-120"/>
              </a:rPr>
              <a:t>0.50</a:t>
            </a:r>
            <a:endParaRPr lang="en-US" sz="1250" dirty="0"/>
          </a:p>
        </p:txBody>
      </p:sp>
      <p:sp>
        <p:nvSpPr>
          <p:cNvPr id="12" name="Shape 9"/>
          <p:cNvSpPr/>
          <p:nvPr/>
        </p:nvSpPr>
        <p:spPr>
          <a:xfrm>
            <a:off x="6217920" y="3557016"/>
            <a:ext cx="5422392" cy="713232"/>
          </a:xfrm>
          <a:prstGeom prst="roundRect">
            <a:avLst>
              <a:gd name="adj" fmla="val 6410"/>
            </a:avLst>
          </a:prstGeom>
          <a:solidFill>
            <a:srgbClr val="15293B"/>
          </a:solidFill>
          <a:ln/>
        </p:spPr>
      </p:sp>
      <p:sp>
        <p:nvSpPr>
          <p:cNvPr id="13" name="Text 10"/>
          <p:cNvSpPr txBox="1"/>
          <p:nvPr/>
        </p:nvSpPr>
        <p:spPr>
          <a:xfrm>
            <a:off x="6419088" y="3630168"/>
            <a:ext cx="5020056" cy="274320"/>
          </a:xfrm>
          <a:prstGeom prst="rect">
            <a:avLst/>
          </a:prstGeom>
          <a:noFill/>
          <a:ln/>
        </p:spPr>
        <p:txBody>
          <a:bodyPr wrap="square" lIns="0" tIns="0" rIns="0" bIns="0" rtlCol="0" anchor="ctr"/>
          <a:lstStyle/>
          <a:p>
            <a:pPr indent="0" marL="0">
              <a:buNone/>
            </a:pPr>
            <a:r>
              <a:rPr lang="en-US" sz="1200" b="1" dirty="0">
                <a:solidFill>
                  <a:srgbClr val="E58A5B"/>
                </a:solidFill>
                <a:latin typeface="Calibri" pitchFamily="34" charset="0"/>
                <a:ea typeface="Calibri" pitchFamily="34" charset="-122"/>
                <a:cs typeface="Calibri" pitchFamily="34" charset="-120"/>
              </a:rPr>
              <a:t>Kappa = (Po − Pe) / (1 − Pe)</a:t>
            </a:r>
            <a:endParaRPr lang="en-US" sz="1200" dirty="0"/>
          </a:p>
        </p:txBody>
      </p:sp>
      <p:sp>
        <p:nvSpPr>
          <p:cNvPr id="14" name="Text 11"/>
          <p:cNvSpPr txBox="1"/>
          <p:nvPr/>
        </p:nvSpPr>
        <p:spPr>
          <a:xfrm>
            <a:off x="6419088" y="3904488"/>
            <a:ext cx="5020056" cy="320040"/>
          </a:xfrm>
          <a:prstGeom prst="rect">
            <a:avLst/>
          </a:prstGeom>
          <a:noFill/>
          <a:ln/>
        </p:spPr>
        <p:txBody>
          <a:bodyPr wrap="square" lIns="0" tIns="0" rIns="0" bIns="0" rtlCol="0" anchor="ctr"/>
          <a:lstStyle/>
          <a:p>
            <a:pPr indent="0" marL="0">
              <a:buNone/>
            </a:pPr>
            <a:r>
              <a:rPr lang="en-US" sz="1250" dirty="0">
                <a:solidFill>
                  <a:srgbClr val="E4EAF0"/>
                </a:solidFill>
                <a:latin typeface="Cambria" pitchFamily="34" charset="0"/>
                <a:ea typeface="Cambria" pitchFamily="34" charset="-122"/>
                <a:cs typeface="Cambria" pitchFamily="34" charset="-120"/>
              </a:rPr>
              <a:t>(0.75 − 0.50) / (1 − 0.50) =  </a:t>
            </a:r>
            <a:pPr indent="0" marL="0">
              <a:buNone/>
            </a:pPr>
            <a:r>
              <a:rPr lang="en-US" sz="1400" b="1" dirty="0">
                <a:solidFill>
                  <a:srgbClr val="FFFFFF"/>
                </a:solidFill>
                <a:latin typeface="Cambria" pitchFamily="34" charset="0"/>
                <a:ea typeface="Cambria" pitchFamily="34" charset="-122"/>
                <a:cs typeface="Cambria" pitchFamily="34" charset="-120"/>
              </a:rPr>
              <a:t>0.50</a:t>
            </a:r>
            <a:endParaRPr lang="en-US" sz="1250" dirty="0"/>
          </a:p>
        </p:txBody>
      </p:sp>
      <p:sp>
        <p:nvSpPr>
          <p:cNvPr id="15" name="Text 12"/>
          <p:cNvSpPr txBox="1"/>
          <p:nvPr/>
        </p:nvSpPr>
        <p:spPr>
          <a:xfrm>
            <a:off x="6217920" y="4434840"/>
            <a:ext cx="5422392" cy="548640"/>
          </a:xfrm>
          <a:prstGeom prst="rect">
            <a:avLst/>
          </a:prstGeom>
          <a:noFill/>
          <a:ln/>
        </p:spPr>
        <p:txBody>
          <a:bodyPr wrap="square" lIns="0" tIns="0" rIns="0" bIns="0" rtlCol="0" anchor="ctr"/>
          <a:lstStyle/>
          <a:p>
            <a:pPr indent="0" marL="0">
              <a:lnSpc>
                <a:spcPct val="100000"/>
              </a:lnSpc>
              <a:buNone/>
            </a:pPr>
            <a:r>
              <a:rPr lang="en-US" sz="1150" i="1" dirty="0">
                <a:solidFill>
                  <a:srgbClr val="60707E"/>
                </a:solidFill>
                <a:latin typeface="Calibri" pitchFamily="34" charset="0"/>
                <a:ea typeface="Calibri" pitchFamily="34" charset="-122"/>
                <a:cs typeface="Calibri" pitchFamily="34" charset="-120"/>
              </a:rPr>
              <a:t>Pe combina las frecuencias con que cada quien usó «sí» y «no». Es la probabilidad de coincidir por casualidad.</a:t>
            </a:r>
            <a:endParaRPr lang="en-US" sz="1150" dirty="0"/>
          </a:p>
        </p:txBody>
      </p:sp>
      <p:sp>
        <p:nvSpPr>
          <p:cNvPr id="16" name="Shape 13"/>
          <p:cNvSpPr/>
          <p:nvPr/>
        </p:nvSpPr>
        <p:spPr>
          <a:xfrm>
            <a:off x="548640" y="6053328"/>
            <a:ext cx="11091672" cy="603504"/>
          </a:xfrm>
          <a:prstGeom prst="rect">
            <a:avLst/>
          </a:prstGeom>
          <a:solidFill>
            <a:srgbClr val="FBEEE5"/>
          </a:solidFill>
          <a:ln/>
        </p:spPr>
      </p:sp>
      <p:sp>
        <p:nvSpPr>
          <p:cNvPr id="17" name="Shape 14"/>
          <p:cNvSpPr/>
          <p:nvPr/>
        </p:nvSpPr>
        <p:spPr>
          <a:xfrm>
            <a:off x="749808" y="6272784"/>
            <a:ext cx="164592" cy="164592"/>
          </a:xfrm>
          <a:prstGeom prst="roundRect">
            <a:avLst>
              <a:gd name="adj" fmla="val 22222"/>
            </a:avLst>
          </a:prstGeom>
          <a:solidFill>
            <a:srgbClr val="CB5E2E"/>
          </a:solidFill>
          <a:ln/>
        </p:spPr>
      </p:sp>
      <p:sp>
        <p:nvSpPr>
          <p:cNvPr id="18" name="Text 15"/>
          <p:cNvSpPr txBox="1"/>
          <p:nvPr/>
        </p:nvSpPr>
        <p:spPr>
          <a:xfrm>
            <a:off x="1051560" y="6053328"/>
            <a:ext cx="10405872" cy="603504"/>
          </a:xfrm>
          <a:prstGeom prst="rect">
            <a:avLst/>
          </a:prstGeom>
          <a:noFill/>
          <a:ln/>
        </p:spPr>
        <p:txBody>
          <a:bodyPr wrap="square" lIns="0" tIns="0" rIns="0" bIns="0" rtlCol="0" anchor="ctr"/>
          <a:lstStyle/>
          <a:p>
            <a:pPr indent="0" marL="0">
              <a:buNone/>
            </a:pPr>
            <a:r>
              <a:rPr lang="en-US" sz="1250" dirty="0">
                <a:solidFill>
                  <a:srgbClr val="8C3E19"/>
                </a:solidFill>
                <a:latin typeface="Calibri" pitchFamily="34" charset="0"/>
                <a:ea typeface="Calibri" pitchFamily="34" charset="-122"/>
                <a:cs typeface="Calibri" pitchFamily="34" charset="-120"/>
              </a:rPr>
              <a:t>El acuerdo bruto fue 75%, que suena bien. Pero la mitad era esperable por azar. Corregido, kappa vale 0.50: acuerdo moderado, no alto.</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1E2A35"/>
                </a:solidFill>
                <a:latin typeface="Calibri" pitchFamily="34" charset="0"/>
                <a:ea typeface="Calibri" pitchFamily="34" charset="-122"/>
                <a:cs typeface="Calibri" pitchFamily="34" charset="-120"/>
              </a:rPr>
              <a:t>Cómo se lee kappa, y una trampa</a:t>
            </a:r>
            <a:endParaRPr lang="en-US" sz="2900" dirty="0"/>
          </a:p>
        </p:txBody>
      </p:sp>
      <p:sp>
        <p:nvSpPr>
          <p:cNvPr id="3" name="Text 1"/>
          <p:cNvSpPr txBox="1"/>
          <p:nvPr/>
        </p:nvSpPr>
        <p:spPr>
          <a:xfrm>
            <a:off x="548640" y="1042416"/>
            <a:ext cx="11091672" cy="457200"/>
          </a:xfrm>
          <a:prstGeom prst="rect">
            <a:avLst/>
          </a:prstGeom>
          <a:noFill/>
          <a:ln/>
        </p:spPr>
        <p:txBody>
          <a:bodyPr wrap="square" lIns="0" tIns="0" rIns="0" bIns="0" rtlCol="0" anchor="ctr"/>
          <a:lstStyle/>
          <a:p>
            <a:pPr indent="0" marL="0">
              <a:buNone/>
            </a:pPr>
            <a:r>
              <a:rPr lang="en-US" sz="1400" dirty="0">
                <a:solidFill>
                  <a:srgbClr val="60707E"/>
                </a:solidFill>
                <a:latin typeface="Calibri" pitchFamily="34" charset="0"/>
                <a:ea typeface="Calibri" pitchFamily="34" charset="-122"/>
                <a:cs typeface="Calibri" pitchFamily="34" charset="-120"/>
              </a:rPr>
              <a:t>Una escala de referencia y una advertencia que hay que conocer antes de reportar.</a:t>
            </a:r>
            <a:endParaRPr lang="en-US" sz="1400" dirty="0"/>
          </a:p>
        </p:txBody>
      </p:sp>
      <p:sp>
        <p:nvSpPr>
          <p:cNvPr id="4" name="Text 2"/>
          <p:cNvSpPr txBox="1"/>
          <p:nvPr/>
        </p:nvSpPr>
        <p:spPr>
          <a:xfrm>
            <a:off x="548640" y="1874520"/>
            <a:ext cx="5212080" cy="320040"/>
          </a:xfrm>
          <a:prstGeom prst="rect">
            <a:avLst/>
          </a:prstGeom>
          <a:noFill/>
          <a:ln/>
        </p:spPr>
        <p:txBody>
          <a:bodyPr wrap="square" lIns="0" tIns="0" rIns="0" bIns="0" rtlCol="0" anchor="ctr"/>
          <a:lstStyle/>
          <a:p>
            <a:pPr indent="0" marL="0">
              <a:buNone/>
            </a:pPr>
            <a:r>
              <a:rPr lang="en-US" sz="1300" b="1" dirty="0">
                <a:solidFill>
                  <a:srgbClr val="1E2A35"/>
                </a:solidFill>
                <a:latin typeface="Calibri" pitchFamily="34" charset="0"/>
                <a:ea typeface="Calibri" pitchFamily="34" charset="-122"/>
                <a:cs typeface="Calibri" pitchFamily="34" charset="-120"/>
              </a:rPr>
              <a:t>Escala de referencia (Landis y Koch, 1977)</a:t>
            </a:r>
            <a:endParaRPr lang="en-US" sz="1300" dirty="0"/>
          </a:p>
        </p:txBody>
      </p:sp>
      <p:sp>
        <p:nvSpPr>
          <p:cNvPr id="5" name="Shape 3"/>
          <p:cNvSpPr/>
          <p:nvPr/>
        </p:nvSpPr>
        <p:spPr>
          <a:xfrm>
            <a:off x="548640" y="2286000"/>
            <a:ext cx="5212080" cy="457200"/>
          </a:xfrm>
          <a:prstGeom prst="rect">
            <a:avLst/>
          </a:prstGeom>
          <a:solidFill>
            <a:srgbClr val="EEF2F5"/>
          </a:solidFill>
          <a:ln w="19050">
            <a:solidFill>
              <a:srgbClr val="FFFFFF"/>
            </a:solidFill>
            <a:prstDash val="solid"/>
          </a:ln>
        </p:spPr>
      </p:sp>
      <p:sp>
        <p:nvSpPr>
          <p:cNvPr id="6" name="Text 4"/>
          <p:cNvSpPr txBox="1"/>
          <p:nvPr/>
        </p:nvSpPr>
        <p:spPr>
          <a:xfrm>
            <a:off x="685800" y="2286000"/>
            <a:ext cx="1737360" cy="457200"/>
          </a:xfrm>
          <a:prstGeom prst="rect">
            <a:avLst/>
          </a:prstGeom>
          <a:noFill/>
          <a:ln/>
        </p:spPr>
        <p:txBody>
          <a:bodyPr wrap="square" lIns="0" tIns="0" rIns="0" bIns="0" rtlCol="0" anchor="ctr"/>
          <a:lstStyle/>
          <a:p>
            <a:pPr indent="0" marL="0">
              <a:buNone/>
            </a:pPr>
            <a:r>
              <a:rPr lang="en-US" sz="1300" b="1" dirty="0">
                <a:solidFill>
                  <a:srgbClr val="1E2A35"/>
                </a:solidFill>
                <a:latin typeface="Cambria" pitchFamily="34" charset="0"/>
                <a:ea typeface="Cambria" pitchFamily="34" charset="-122"/>
                <a:cs typeface="Cambria" pitchFamily="34" charset="-120"/>
              </a:rPr>
              <a:t>&lt; 0.00</a:t>
            </a:r>
            <a:endParaRPr lang="en-US" sz="1300" dirty="0"/>
          </a:p>
        </p:txBody>
      </p:sp>
      <p:sp>
        <p:nvSpPr>
          <p:cNvPr id="7" name="Text 5"/>
          <p:cNvSpPr txBox="1"/>
          <p:nvPr/>
        </p:nvSpPr>
        <p:spPr>
          <a:xfrm>
            <a:off x="2468880" y="2286000"/>
            <a:ext cx="3200400" cy="457200"/>
          </a:xfrm>
          <a:prstGeom prst="rect">
            <a:avLst/>
          </a:prstGeom>
          <a:noFill/>
          <a:ln/>
        </p:spPr>
        <p:txBody>
          <a:bodyPr wrap="square" lIns="0" tIns="0" rIns="0" bIns="0" rtlCol="0" anchor="ctr"/>
          <a:lstStyle/>
          <a:p>
            <a:pPr indent="0" marL="0">
              <a:buNone/>
            </a:pPr>
            <a:r>
              <a:rPr lang="en-US" sz="1250" dirty="0">
                <a:solidFill>
                  <a:srgbClr val="1E2A35"/>
                </a:solidFill>
                <a:latin typeface="Calibri" pitchFamily="34" charset="0"/>
                <a:ea typeface="Calibri" pitchFamily="34" charset="-122"/>
                <a:cs typeface="Calibri" pitchFamily="34" charset="-120"/>
              </a:rPr>
              <a:t>Pobre (peor que el azar)</a:t>
            </a:r>
            <a:endParaRPr lang="en-US" sz="1250" dirty="0"/>
          </a:p>
        </p:txBody>
      </p:sp>
      <p:sp>
        <p:nvSpPr>
          <p:cNvPr id="8" name="Shape 6"/>
          <p:cNvSpPr/>
          <p:nvPr/>
        </p:nvSpPr>
        <p:spPr>
          <a:xfrm>
            <a:off x="548640" y="2743200"/>
            <a:ext cx="5212080" cy="457200"/>
          </a:xfrm>
          <a:prstGeom prst="rect">
            <a:avLst/>
          </a:prstGeom>
          <a:solidFill>
            <a:srgbClr val="EEF2F5"/>
          </a:solidFill>
          <a:ln w="19050">
            <a:solidFill>
              <a:srgbClr val="FFFFFF"/>
            </a:solidFill>
            <a:prstDash val="solid"/>
          </a:ln>
        </p:spPr>
      </p:sp>
      <p:sp>
        <p:nvSpPr>
          <p:cNvPr id="9" name="Text 7"/>
          <p:cNvSpPr txBox="1"/>
          <p:nvPr/>
        </p:nvSpPr>
        <p:spPr>
          <a:xfrm>
            <a:off x="685800" y="2743200"/>
            <a:ext cx="1737360" cy="457200"/>
          </a:xfrm>
          <a:prstGeom prst="rect">
            <a:avLst/>
          </a:prstGeom>
          <a:noFill/>
          <a:ln/>
        </p:spPr>
        <p:txBody>
          <a:bodyPr wrap="square" lIns="0" tIns="0" rIns="0" bIns="0" rtlCol="0" anchor="ctr"/>
          <a:lstStyle/>
          <a:p>
            <a:pPr indent="0" marL="0">
              <a:buNone/>
            </a:pPr>
            <a:r>
              <a:rPr lang="en-US" sz="1300" b="1" dirty="0">
                <a:solidFill>
                  <a:srgbClr val="1E2A35"/>
                </a:solidFill>
                <a:latin typeface="Cambria" pitchFamily="34" charset="0"/>
                <a:ea typeface="Cambria" pitchFamily="34" charset="-122"/>
                <a:cs typeface="Cambria" pitchFamily="34" charset="-120"/>
              </a:rPr>
              <a:t>0.00 a 0.20</a:t>
            </a:r>
            <a:endParaRPr lang="en-US" sz="1300" dirty="0"/>
          </a:p>
        </p:txBody>
      </p:sp>
      <p:sp>
        <p:nvSpPr>
          <p:cNvPr id="10" name="Text 8"/>
          <p:cNvSpPr txBox="1"/>
          <p:nvPr/>
        </p:nvSpPr>
        <p:spPr>
          <a:xfrm>
            <a:off x="2468880" y="2743200"/>
            <a:ext cx="3200400" cy="457200"/>
          </a:xfrm>
          <a:prstGeom prst="rect">
            <a:avLst/>
          </a:prstGeom>
          <a:noFill/>
          <a:ln/>
        </p:spPr>
        <p:txBody>
          <a:bodyPr wrap="square" lIns="0" tIns="0" rIns="0" bIns="0" rtlCol="0" anchor="ctr"/>
          <a:lstStyle/>
          <a:p>
            <a:pPr indent="0" marL="0">
              <a:buNone/>
            </a:pPr>
            <a:r>
              <a:rPr lang="en-US" sz="1250" dirty="0">
                <a:solidFill>
                  <a:srgbClr val="1E2A35"/>
                </a:solidFill>
                <a:latin typeface="Calibri" pitchFamily="34" charset="0"/>
                <a:ea typeface="Calibri" pitchFamily="34" charset="-122"/>
                <a:cs typeface="Calibri" pitchFamily="34" charset="-120"/>
              </a:rPr>
              <a:t>Leve</a:t>
            </a:r>
            <a:endParaRPr lang="en-US" sz="1250" dirty="0"/>
          </a:p>
        </p:txBody>
      </p:sp>
      <p:sp>
        <p:nvSpPr>
          <p:cNvPr id="11" name="Shape 9"/>
          <p:cNvSpPr/>
          <p:nvPr/>
        </p:nvSpPr>
        <p:spPr>
          <a:xfrm>
            <a:off x="548640" y="3200400"/>
            <a:ext cx="5212080" cy="457200"/>
          </a:xfrm>
          <a:prstGeom prst="rect">
            <a:avLst/>
          </a:prstGeom>
          <a:solidFill>
            <a:srgbClr val="EEF2F5"/>
          </a:solidFill>
          <a:ln w="19050">
            <a:solidFill>
              <a:srgbClr val="FFFFFF"/>
            </a:solidFill>
            <a:prstDash val="solid"/>
          </a:ln>
        </p:spPr>
      </p:sp>
      <p:sp>
        <p:nvSpPr>
          <p:cNvPr id="12" name="Text 10"/>
          <p:cNvSpPr txBox="1"/>
          <p:nvPr/>
        </p:nvSpPr>
        <p:spPr>
          <a:xfrm>
            <a:off x="685800" y="3200400"/>
            <a:ext cx="1737360" cy="457200"/>
          </a:xfrm>
          <a:prstGeom prst="rect">
            <a:avLst/>
          </a:prstGeom>
          <a:noFill/>
          <a:ln/>
        </p:spPr>
        <p:txBody>
          <a:bodyPr wrap="square" lIns="0" tIns="0" rIns="0" bIns="0" rtlCol="0" anchor="ctr"/>
          <a:lstStyle/>
          <a:p>
            <a:pPr indent="0" marL="0">
              <a:buNone/>
            </a:pPr>
            <a:r>
              <a:rPr lang="en-US" sz="1300" b="1" dirty="0">
                <a:solidFill>
                  <a:srgbClr val="1E2A35"/>
                </a:solidFill>
                <a:latin typeface="Cambria" pitchFamily="34" charset="0"/>
                <a:ea typeface="Cambria" pitchFamily="34" charset="-122"/>
                <a:cs typeface="Cambria" pitchFamily="34" charset="-120"/>
              </a:rPr>
              <a:t>0.21 a 0.40</a:t>
            </a:r>
            <a:endParaRPr lang="en-US" sz="1300" dirty="0"/>
          </a:p>
        </p:txBody>
      </p:sp>
      <p:sp>
        <p:nvSpPr>
          <p:cNvPr id="13" name="Text 11"/>
          <p:cNvSpPr txBox="1"/>
          <p:nvPr/>
        </p:nvSpPr>
        <p:spPr>
          <a:xfrm>
            <a:off x="2468880" y="3200400"/>
            <a:ext cx="3200400" cy="457200"/>
          </a:xfrm>
          <a:prstGeom prst="rect">
            <a:avLst/>
          </a:prstGeom>
          <a:noFill/>
          <a:ln/>
        </p:spPr>
        <p:txBody>
          <a:bodyPr wrap="square" lIns="0" tIns="0" rIns="0" bIns="0" rtlCol="0" anchor="ctr"/>
          <a:lstStyle/>
          <a:p>
            <a:pPr indent="0" marL="0">
              <a:buNone/>
            </a:pPr>
            <a:r>
              <a:rPr lang="en-US" sz="1250" dirty="0">
                <a:solidFill>
                  <a:srgbClr val="1E2A35"/>
                </a:solidFill>
                <a:latin typeface="Calibri" pitchFamily="34" charset="0"/>
                <a:ea typeface="Calibri" pitchFamily="34" charset="-122"/>
                <a:cs typeface="Calibri" pitchFamily="34" charset="-120"/>
              </a:rPr>
              <a:t>Aceptable</a:t>
            </a:r>
            <a:endParaRPr lang="en-US" sz="1250" dirty="0"/>
          </a:p>
        </p:txBody>
      </p:sp>
      <p:sp>
        <p:nvSpPr>
          <p:cNvPr id="14" name="Shape 12"/>
          <p:cNvSpPr/>
          <p:nvPr/>
        </p:nvSpPr>
        <p:spPr>
          <a:xfrm>
            <a:off x="548640" y="3657600"/>
            <a:ext cx="5212080" cy="457200"/>
          </a:xfrm>
          <a:prstGeom prst="rect">
            <a:avLst/>
          </a:prstGeom>
          <a:solidFill>
            <a:srgbClr val="FBEEE5"/>
          </a:solidFill>
          <a:ln w="19050">
            <a:solidFill>
              <a:srgbClr val="FFFFFF"/>
            </a:solidFill>
            <a:prstDash val="solid"/>
          </a:ln>
        </p:spPr>
      </p:sp>
      <p:sp>
        <p:nvSpPr>
          <p:cNvPr id="15" name="Text 13"/>
          <p:cNvSpPr txBox="1"/>
          <p:nvPr/>
        </p:nvSpPr>
        <p:spPr>
          <a:xfrm>
            <a:off x="685800" y="3657600"/>
            <a:ext cx="1737360" cy="457200"/>
          </a:xfrm>
          <a:prstGeom prst="rect">
            <a:avLst/>
          </a:prstGeom>
          <a:noFill/>
          <a:ln/>
        </p:spPr>
        <p:txBody>
          <a:bodyPr wrap="square" lIns="0" tIns="0" rIns="0" bIns="0" rtlCol="0" anchor="ctr"/>
          <a:lstStyle/>
          <a:p>
            <a:pPr indent="0" marL="0">
              <a:buNone/>
            </a:pPr>
            <a:r>
              <a:rPr lang="en-US" sz="1300" b="1" dirty="0">
                <a:solidFill>
                  <a:srgbClr val="1E2A35"/>
                </a:solidFill>
                <a:latin typeface="Cambria" pitchFamily="34" charset="0"/>
                <a:ea typeface="Cambria" pitchFamily="34" charset="-122"/>
                <a:cs typeface="Cambria" pitchFamily="34" charset="-120"/>
              </a:rPr>
              <a:t>0.41 a 0.60</a:t>
            </a:r>
            <a:endParaRPr lang="en-US" sz="1300" dirty="0"/>
          </a:p>
        </p:txBody>
      </p:sp>
      <p:sp>
        <p:nvSpPr>
          <p:cNvPr id="16" name="Text 14"/>
          <p:cNvSpPr txBox="1"/>
          <p:nvPr/>
        </p:nvSpPr>
        <p:spPr>
          <a:xfrm>
            <a:off x="2468880" y="3657600"/>
            <a:ext cx="3200400" cy="457200"/>
          </a:xfrm>
          <a:prstGeom prst="rect">
            <a:avLst/>
          </a:prstGeom>
          <a:noFill/>
          <a:ln/>
        </p:spPr>
        <p:txBody>
          <a:bodyPr wrap="square" lIns="0" tIns="0" rIns="0" bIns="0" rtlCol="0" anchor="ctr"/>
          <a:lstStyle/>
          <a:p>
            <a:pPr indent="0" marL="0">
              <a:buNone/>
            </a:pPr>
            <a:r>
              <a:rPr lang="en-US" sz="1250" dirty="0">
                <a:solidFill>
                  <a:srgbClr val="1E2A35"/>
                </a:solidFill>
                <a:latin typeface="Calibri" pitchFamily="34" charset="0"/>
                <a:ea typeface="Calibri" pitchFamily="34" charset="-122"/>
                <a:cs typeface="Calibri" pitchFamily="34" charset="-120"/>
              </a:rPr>
              <a:t>Moderado</a:t>
            </a:r>
            <a:endParaRPr lang="en-US" sz="1250" dirty="0"/>
          </a:p>
        </p:txBody>
      </p:sp>
      <p:sp>
        <p:nvSpPr>
          <p:cNvPr id="17" name="Shape 15"/>
          <p:cNvSpPr/>
          <p:nvPr/>
        </p:nvSpPr>
        <p:spPr>
          <a:xfrm>
            <a:off x="548640" y="4114800"/>
            <a:ext cx="5212080" cy="457200"/>
          </a:xfrm>
          <a:prstGeom prst="rect">
            <a:avLst/>
          </a:prstGeom>
          <a:solidFill>
            <a:srgbClr val="E7F2EA"/>
          </a:solidFill>
          <a:ln w="19050">
            <a:solidFill>
              <a:srgbClr val="FFFFFF"/>
            </a:solidFill>
            <a:prstDash val="solid"/>
          </a:ln>
        </p:spPr>
      </p:sp>
      <p:sp>
        <p:nvSpPr>
          <p:cNvPr id="18" name="Text 16"/>
          <p:cNvSpPr txBox="1"/>
          <p:nvPr/>
        </p:nvSpPr>
        <p:spPr>
          <a:xfrm>
            <a:off x="685800" y="4114800"/>
            <a:ext cx="1737360" cy="457200"/>
          </a:xfrm>
          <a:prstGeom prst="rect">
            <a:avLst/>
          </a:prstGeom>
          <a:noFill/>
          <a:ln/>
        </p:spPr>
        <p:txBody>
          <a:bodyPr wrap="square" lIns="0" tIns="0" rIns="0" bIns="0" rtlCol="0" anchor="ctr"/>
          <a:lstStyle/>
          <a:p>
            <a:pPr indent="0" marL="0">
              <a:buNone/>
            </a:pPr>
            <a:r>
              <a:rPr lang="en-US" sz="1300" b="1" dirty="0">
                <a:solidFill>
                  <a:srgbClr val="1E2A35"/>
                </a:solidFill>
                <a:latin typeface="Cambria" pitchFamily="34" charset="0"/>
                <a:ea typeface="Cambria" pitchFamily="34" charset="-122"/>
                <a:cs typeface="Cambria" pitchFamily="34" charset="-120"/>
              </a:rPr>
              <a:t>0.61 a 0.80</a:t>
            </a:r>
            <a:endParaRPr lang="en-US" sz="1300" dirty="0"/>
          </a:p>
        </p:txBody>
      </p:sp>
      <p:sp>
        <p:nvSpPr>
          <p:cNvPr id="19" name="Text 17"/>
          <p:cNvSpPr txBox="1"/>
          <p:nvPr/>
        </p:nvSpPr>
        <p:spPr>
          <a:xfrm>
            <a:off x="2468880" y="4114800"/>
            <a:ext cx="3200400" cy="457200"/>
          </a:xfrm>
          <a:prstGeom prst="rect">
            <a:avLst/>
          </a:prstGeom>
          <a:noFill/>
          <a:ln/>
        </p:spPr>
        <p:txBody>
          <a:bodyPr wrap="square" lIns="0" tIns="0" rIns="0" bIns="0" rtlCol="0" anchor="ctr"/>
          <a:lstStyle/>
          <a:p>
            <a:pPr indent="0" marL="0">
              <a:buNone/>
            </a:pPr>
            <a:r>
              <a:rPr lang="en-US" sz="1250" dirty="0">
                <a:solidFill>
                  <a:srgbClr val="1E2A35"/>
                </a:solidFill>
                <a:latin typeface="Calibri" pitchFamily="34" charset="0"/>
                <a:ea typeface="Calibri" pitchFamily="34" charset="-122"/>
                <a:cs typeface="Calibri" pitchFamily="34" charset="-120"/>
              </a:rPr>
              <a:t>Sustancial</a:t>
            </a:r>
            <a:endParaRPr lang="en-US" sz="1250" dirty="0"/>
          </a:p>
        </p:txBody>
      </p:sp>
      <p:sp>
        <p:nvSpPr>
          <p:cNvPr id="20" name="Shape 18"/>
          <p:cNvSpPr/>
          <p:nvPr/>
        </p:nvSpPr>
        <p:spPr>
          <a:xfrm>
            <a:off x="548640" y="4572000"/>
            <a:ext cx="5212080" cy="457200"/>
          </a:xfrm>
          <a:prstGeom prst="rect">
            <a:avLst/>
          </a:prstGeom>
          <a:solidFill>
            <a:srgbClr val="E7F2EA"/>
          </a:solidFill>
          <a:ln w="19050">
            <a:solidFill>
              <a:srgbClr val="FFFFFF"/>
            </a:solidFill>
            <a:prstDash val="solid"/>
          </a:ln>
        </p:spPr>
      </p:sp>
      <p:sp>
        <p:nvSpPr>
          <p:cNvPr id="21" name="Text 19"/>
          <p:cNvSpPr txBox="1"/>
          <p:nvPr/>
        </p:nvSpPr>
        <p:spPr>
          <a:xfrm>
            <a:off x="685800" y="4572000"/>
            <a:ext cx="1737360" cy="457200"/>
          </a:xfrm>
          <a:prstGeom prst="rect">
            <a:avLst/>
          </a:prstGeom>
          <a:noFill/>
          <a:ln/>
        </p:spPr>
        <p:txBody>
          <a:bodyPr wrap="square" lIns="0" tIns="0" rIns="0" bIns="0" rtlCol="0" anchor="ctr"/>
          <a:lstStyle/>
          <a:p>
            <a:pPr indent="0" marL="0">
              <a:buNone/>
            </a:pPr>
            <a:r>
              <a:rPr lang="en-US" sz="1300" b="1" dirty="0">
                <a:solidFill>
                  <a:srgbClr val="1E2A35"/>
                </a:solidFill>
                <a:latin typeface="Cambria" pitchFamily="34" charset="0"/>
                <a:ea typeface="Cambria" pitchFamily="34" charset="-122"/>
                <a:cs typeface="Cambria" pitchFamily="34" charset="-120"/>
              </a:rPr>
              <a:t>0.81 a 1.00</a:t>
            </a:r>
            <a:endParaRPr lang="en-US" sz="1300" dirty="0"/>
          </a:p>
        </p:txBody>
      </p:sp>
      <p:sp>
        <p:nvSpPr>
          <p:cNvPr id="22" name="Text 20"/>
          <p:cNvSpPr txBox="1"/>
          <p:nvPr/>
        </p:nvSpPr>
        <p:spPr>
          <a:xfrm>
            <a:off x="2468880" y="4572000"/>
            <a:ext cx="3200400" cy="457200"/>
          </a:xfrm>
          <a:prstGeom prst="rect">
            <a:avLst/>
          </a:prstGeom>
          <a:noFill/>
          <a:ln/>
        </p:spPr>
        <p:txBody>
          <a:bodyPr wrap="square" lIns="0" tIns="0" rIns="0" bIns="0" rtlCol="0" anchor="ctr"/>
          <a:lstStyle/>
          <a:p>
            <a:pPr indent="0" marL="0">
              <a:buNone/>
            </a:pPr>
            <a:r>
              <a:rPr lang="en-US" sz="1250" dirty="0">
                <a:solidFill>
                  <a:srgbClr val="1E2A35"/>
                </a:solidFill>
                <a:latin typeface="Calibri" pitchFamily="34" charset="0"/>
                <a:ea typeface="Calibri" pitchFamily="34" charset="-122"/>
                <a:cs typeface="Calibri" pitchFamily="34" charset="-120"/>
              </a:rPr>
              <a:t>Casi perfecto</a:t>
            </a:r>
            <a:endParaRPr lang="en-US" sz="1250" dirty="0"/>
          </a:p>
        </p:txBody>
      </p:sp>
      <p:sp>
        <p:nvSpPr>
          <p:cNvPr id="23" name="Text 21"/>
          <p:cNvSpPr txBox="1"/>
          <p:nvPr/>
        </p:nvSpPr>
        <p:spPr>
          <a:xfrm>
            <a:off x="548640" y="5102352"/>
            <a:ext cx="5212080" cy="548640"/>
          </a:xfrm>
          <a:prstGeom prst="rect">
            <a:avLst/>
          </a:prstGeom>
          <a:noFill/>
          <a:ln/>
        </p:spPr>
        <p:txBody>
          <a:bodyPr wrap="square" lIns="0" tIns="0" rIns="0" bIns="0" rtlCol="0" anchor="ctr"/>
          <a:lstStyle/>
          <a:p>
            <a:pPr indent="0" marL="0">
              <a:lnSpc>
                <a:spcPct val="100000"/>
              </a:lnSpc>
              <a:buNone/>
            </a:pPr>
            <a:r>
              <a:rPr lang="en-US" sz="1100" i="1" dirty="0">
                <a:solidFill>
                  <a:srgbClr val="60707E"/>
                </a:solidFill>
                <a:latin typeface="Calibri" pitchFamily="34" charset="0"/>
                <a:ea typeface="Calibri" pitchFamily="34" charset="-122"/>
                <a:cs typeface="Calibri" pitchFamily="34" charset="-120"/>
              </a:rPr>
              <a:t>Los cortes son convencionales y sus propios autores los llamaron arbitrarios. Reporte el número, no solo la etiqueta.</a:t>
            </a:r>
            <a:endParaRPr lang="en-US" sz="1100" dirty="0"/>
          </a:p>
        </p:txBody>
      </p:sp>
      <p:sp>
        <p:nvSpPr>
          <p:cNvPr id="24" name="Text 22"/>
          <p:cNvSpPr txBox="1"/>
          <p:nvPr/>
        </p:nvSpPr>
        <p:spPr>
          <a:xfrm>
            <a:off x="6217920" y="1874520"/>
            <a:ext cx="5422392" cy="320040"/>
          </a:xfrm>
          <a:prstGeom prst="rect">
            <a:avLst/>
          </a:prstGeom>
          <a:noFill/>
          <a:ln/>
        </p:spPr>
        <p:txBody>
          <a:bodyPr wrap="square" lIns="0" tIns="0" rIns="0" bIns="0" rtlCol="0" anchor="ctr"/>
          <a:lstStyle/>
          <a:p>
            <a:pPr indent="0" marL="0">
              <a:buNone/>
            </a:pPr>
            <a:r>
              <a:rPr lang="en-US" sz="1300" b="1" dirty="0">
                <a:solidFill>
                  <a:srgbClr val="A23B22"/>
                </a:solidFill>
                <a:latin typeface="Calibri" pitchFamily="34" charset="0"/>
                <a:ea typeface="Calibri" pitchFamily="34" charset="-122"/>
                <a:cs typeface="Calibri" pitchFamily="34" charset="-120"/>
              </a:rPr>
              <a:t>La trampa: el mismo 94.7% vale cosas distintas</a:t>
            </a:r>
            <a:endParaRPr lang="en-US" sz="1300" dirty="0"/>
          </a:p>
        </p:txBody>
      </p:sp>
      <p:sp>
        <p:nvSpPr>
          <p:cNvPr id="25" name="Shape 23"/>
          <p:cNvSpPr/>
          <p:nvPr/>
        </p:nvSpPr>
        <p:spPr>
          <a:xfrm>
            <a:off x="6217920" y="2286000"/>
            <a:ext cx="5422392" cy="1316736"/>
          </a:xfrm>
          <a:prstGeom prst="roundRect">
            <a:avLst>
              <a:gd name="adj" fmla="val 3472"/>
            </a:avLst>
          </a:prstGeom>
          <a:solidFill>
            <a:srgbClr val="EEF2F5"/>
          </a:solidFill>
          <a:ln w="9525">
            <a:solidFill>
              <a:srgbClr val="D5DCE3"/>
            </a:solidFill>
            <a:prstDash val="solid"/>
          </a:ln>
        </p:spPr>
      </p:sp>
      <p:sp>
        <p:nvSpPr>
          <p:cNvPr id="26" name="Text 24"/>
          <p:cNvSpPr txBox="1"/>
          <p:nvPr/>
        </p:nvSpPr>
        <p:spPr>
          <a:xfrm>
            <a:off x="6419088" y="2395728"/>
            <a:ext cx="3685032" cy="292608"/>
          </a:xfrm>
          <a:prstGeom prst="rect">
            <a:avLst/>
          </a:prstGeom>
          <a:noFill/>
          <a:ln/>
        </p:spPr>
        <p:txBody>
          <a:bodyPr wrap="square" lIns="0" tIns="0" rIns="0" bIns="0" rtlCol="0" anchor="ctr"/>
          <a:lstStyle/>
          <a:p>
            <a:pPr indent="0" marL="0">
              <a:buNone/>
            </a:pPr>
            <a:r>
              <a:rPr lang="en-US" sz="1250" b="1" dirty="0">
                <a:solidFill>
                  <a:srgbClr val="1E2A35"/>
                </a:solidFill>
                <a:latin typeface="Calibri" pitchFamily="34" charset="0"/>
                <a:ea typeface="Calibri" pitchFamily="34" charset="-122"/>
                <a:cs typeface="Calibri" pitchFamily="34" charset="-120"/>
              </a:rPr>
              <a:t>Cuatro categorías, uso parejo</a:t>
            </a:r>
            <a:endParaRPr lang="en-US" sz="1250" dirty="0"/>
          </a:p>
        </p:txBody>
      </p:sp>
      <p:sp>
        <p:nvSpPr>
          <p:cNvPr id="27" name="Text 25"/>
          <p:cNvSpPr txBox="1"/>
          <p:nvPr/>
        </p:nvSpPr>
        <p:spPr>
          <a:xfrm>
            <a:off x="6419088" y="2697480"/>
            <a:ext cx="3685032" cy="274320"/>
          </a:xfrm>
          <a:prstGeom prst="rect">
            <a:avLst/>
          </a:prstGeom>
          <a:noFill/>
          <a:ln/>
        </p:spPr>
        <p:txBody>
          <a:bodyPr wrap="square" lIns="0" tIns="0" rIns="0" bIns="0" rtlCol="0" anchor="ctr"/>
          <a:lstStyle/>
          <a:p>
            <a:pPr indent="0" marL="0">
              <a:buNone/>
            </a:pPr>
            <a:r>
              <a:rPr lang="en-US" sz="1100" dirty="0">
                <a:solidFill>
                  <a:srgbClr val="60707E"/>
                </a:solidFill>
                <a:latin typeface="Calibri" pitchFamily="34" charset="0"/>
                <a:ea typeface="Calibri" pitchFamily="34" charset="-122"/>
                <a:cs typeface="Calibri" pitchFamily="34" charset="-120"/>
              </a:rPr>
              <a:t>cada una se usa ~25% de las veces</a:t>
            </a:r>
            <a:endParaRPr lang="en-US" sz="1100" dirty="0"/>
          </a:p>
        </p:txBody>
      </p:sp>
      <p:sp>
        <p:nvSpPr>
          <p:cNvPr id="28" name="Text 26"/>
          <p:cNvSpPr txBox="1"/>
          <p:nvPr/>
        </p:nvSpPr>
        <p:spPr>
          <a:xfrm>
            <a:off x="6419088" y="3008376"/>
            <a:ext cx="3685032" cy="411480"/>
          </a:xfrm>
          <a:prstGeom prst="rect">
            <a:avLst/>
          </a:prstGeom>
          <a:noFill/>
          <a:ln/>
        </p:spPr>
        <p:txBody>
          <a:bodyPr wrap="square" lIns="0" tIns="0" rIns="0" bIns="0" rtlCol="0" anchor="ctr"/>
          <a:lstStyle/>
          <a:p>
            <a:pPr indent="0" marL="0">
              <a:lnSpc>
                <a:spcPct val="100000"/>
              </a:lnSpc>
              <a:buNone/>
            </a:pPr>
            <a:r>
              <a:rPr lang="en-US" sz="1250" dirty="0">
                <a:solidFill>
                  <a:srgbClr val="1E2A35"/>
                </a:solidFill>
                <a:latin typeface="Cambria" pitchFamily="34" charset="0"/>
                <a:ea typeface="Cambria" pitchFamily="34" charset="-122"/>
                <a:cs typeface="Cambria" pitchFamily="34" charset="-120"/>
              </a:rPr>
              <a:t>azar ≈ 4 × 0.25² = 25%</a:t>
            </a:r>
            <a:endParaRPr lang="en-US" sz="1250" dirty="0"/>
          </a:p>
        </p:txBody>
      </p:sp>
      <p:sp>
        <p:nvSpPr>
          <p:cNvPr id="29" name="Text 27"/>
          <p:cNvSpPr txBox="1"/>
          <p:nvPr/>
        </p:nvSpPr>
        <p:spPr>
          <a:xfrm>
            <a:off x="10067544" y="2432304"/>
            <a:ext cx="1389888" cy="256032"/>
          </a:xfrm>
          <a:prstGeom prst="rect">
            <a:avLst/>
          </a:prstGeom>
          <a:noFill/>
          <a:ln/>
        </p:spPr>
        <p:txBody>
          <a:bodyPr wrap="square" lIns="0" tIns="0" rIns="0" bIns="0" rtlCol="0" anchor="ctr"/>
          <a:lstStyle/>
          <a:p>
            <a:pPr algn="ctr" indent="0" marL="0">
              <a:buNone/>
            </a:pPr>
            <a:r>
              <a:rPr lang="en-US" sz="1100" dirty="0">
                <a:solidFill>
                  <a:srgbClr val="60707E"/>
                </a:solidFill>
                <a:latin typeface="Calibri" pitchFamily="34" charset="0"/>
                <a:ea typeface="Calibri" pitchFamily="34" charset="-122"/>
                <a:cs typeface="Calibri" pitchFamily="34" charset="-120"/>
              </a:rPr>
              <a:t>kappa</a:t>
            </a:r>
            <a:endParaRPr lang="en-US" sz="1100" dirty="0"/>
          </a:p>
        </p:txBody>
      </p:sp>
      <p:sp>
        <p:nvSpPr>
          <p:cNvPr id="30" name="Text 28"/>
          <p:cNvSpPr txBox="1"/>
          <p:nvPr/>
        </p:nvSpPr>
        <p:spPr>
          <a:xfrm>
            <a:off x="10067544" y="2670048"/>
            <a:ext cx="1389888" cy="548640"/>
          </a:xfrm>
          <a:prstGeom prst="rect">
            <a:avLst/>
          </a:prstGeom>
          <a:noFill/>
          <a:ln/>
        </p:spPr>
        <p:txBody>
          <a:bodyPr wrap="square" lIns="0" tIns="0" rIns="0" bIns="0" rtlCol="0" anchor="ctr"/>
          <a:lstStyle/>
          <a:p>
            <a:pPr algn="ctr" indent="0" marL="0">
              <a:buNone/>
            </a:pPr>
            <a:r>
              <a:rPr lang="en-US" sz="2400" b="1" dirty="0">
                <a:solidFill>
                  <a:srgbClr val="2E6E49"/>
                </a:solidFill>
                <a:latin typeface="Cambria" pitchFamily="34" charset="0"/>
                <a:ea typeface="Cambria" pitchFamily="34" charset="-122"/>
                <a:cs typeface="Cambria" pitchFamily="34" charset="-120"/>
              </a:rPr>
              <a:t>0.93</a:t>
            </a:r>
            <a:endParaRPr lang="en-US" sz="2400" dirty="0"/>
          </a:p>
        </p:txBody>
      </p:sp>
      <p:sp>
        <p:nvSpPr>
          <p:cNvPr id="31" name="Shape 29"/>
          <p:cNvSpPr/>
          <p:nvPr/>
        </p:nvSpPr>
        <p:spPr>
          <a:xfrm>
            <a:off x="6217920" y="3730752"/>
            <a:ext cx="5422392" cy="1316736"/>
          </a:xfrm>
          <a:prstGeom prst="roundRect">
            <a:avLst>
              <a:gd name="adj" fmla="val 3472"/>
            </a:avLst>
          </a:prstGeom>
          <a:solidFill>
            <a:srgbClr val="EEF2F5"/>
          </a:solidFill>
          <a:ln w="9525">
            <a:solidFill>
              <a:srgbClr val="D5DCE3"/>
            </a:solidFill>
            <a:prstDash val="solid"/>
          </a:ln>
        </p:spPr>
      </p:sp>
      <p:sp>
        <p:nvSpPr>
          <p:cNvPr id="32" name="Text 30"/>
          <p:cNvSpPr txBox="1"/>
          <p:nvPr/>
        </p:nvSpPr>
        <p:spPr>
          <a:xfrm>
            <a:off x="6419088" y="3840480"/>
            <a:ext cx="3685032" cy="292608"/>
          </a:xfrm>
          <a:prstGeom prst="rect">
            <a:avLst/>
          </a:prstGeom>
          <a:noFill/>
          <a:ln/>
        </p:spPr>
        <p:txBody>
          <a:bodyPr wrap="square" lIns="0" tIns="0" rIns="0" bIns="0" rtlCol="0" anchor="ctr"/>
          <a:lstStyle/>
          <a:p>
            <a:pPr indent="0" marL="0">
              <a:buNone/>
            </a:pPr>
            <a:r>
              <a:rPr lang="en-US" sz="1250" b="1" dirty="0">
                <a:solidFill>
                  <a:srgbClr val="1E2A35"/>
                </a:solidFill>
                <a:latin typeface="Calibri" pitchFamily="34" charset="0"/>
                <a:ea typeface="Calibri" pitchFamily="34" charset="-122"/>
                <a:cs typeface="Calibri" pitchFamily="34" charset="-120"/>
              </a:rPr>
              <a:t>Una categoría domina</a:t>
            </a:r>
            <a:endParaRPr lang="en-US" sz="1250" dirty="0"/>
          </a:p>
        </p:txBody>
      </p:sp>
      <p:sp>
        <p:nvSpPr>
          <p:cNvPr id="33" name="Text 31"/>
          <p:cNvSpPr txBox="1"/>
          <p:nvPr/>
        </p:nvSpPr>
        <p:spPr>
          <a:xfrm>
            <a:off x="6419088" y="4142232"/>
            <a:ext cx="3685032" cy="274320"/>
          </a:xfrm>
          <a:prstGeom prst="rect">
            <a:avLst/>
          </a:prstGeom>
          <a:noFill/>
          <a:ln/>
        </p:spPr>
        <p:txBody>
          <a:bodyPr wrap="square" lIns="0" tIns="0" rIns="0" bIns="0" rtlCol="0" anchor="ctr"/>
          <a:lstStyle/>
          <a:p>
            <a:pPr indent="0" marL="0">
              <a:buNone/>
            </a:pPr>
            <a:r>
              <a:rPr lang="en-US" sz="1100" dirty="0">
                <a:solidFill>
                  <a:srgbClr val="60707E"/>
                </a:solidFill>
                <a:latin typeface="Calibri" pitchFamily="34" charset="0"/>
                <a:ea typeface="Calibri" pitchFamily="34" charset="-122"/>
                <a:cs typeface="Calibri" pitchFamily="34" charset="-120"/>
              </a:rPr>
              <a:t>cubre 35 de 38 casos (~92%)</a:t>
            </a:r>
            <a:endParaRPr lang="en-US" sz="1100" dirty="0"/>
          </a:p>
        </p:txBody>
      </p:sp>
      <p:sp>
        <p:nvSpPr>
          <p:cNvPr id="34" name="Text 32"/>
          <p:cNvSpPr txBox="1"/>
          <p:nvPr/>
        </p:nvSpPr>
        <p:spPr>
          <a:xfrm>
            <a:off x="6419088" y="4453128"/>
            <a:ext cx="3685032" cy="411480"/>
          </a:xfrm>
          <a:prstGeom prst="rect">
            <a:avLst/>
          </a:prstGeom>
          <a:noFill/>
          <a:ln/>
        </p:spPr>
        <p:txBody>
          <a:bodyPr wrap="square" lIns="0" tIns="0" rIns="0" bIns="0" rtlCol="0" anchor="ctr"/>
          <a:lstStyle/>
          <a:p>
            <a:pPr indent="0" marL="0">
              <a:lnSpc>
                <a:spcPct val="100000"/>
              </a:lnSpc>
              <a:buNone/>
            </a:pPr>
            <a:r>
              <a:rPr lang="en-US" sz="1250" dirty="0">
                <a:solidFill>
                  <a:srgbClr val="1E2A35"/>
                </a:solidFill>
                <a:latin typeface="Cambria" pitchFamily="34" charset="0"/>
                <a:ea typeface="Cambria" pitchFamily="34" charset="-122"/>
                <a:cs typeface="Cambria" pitchFamily="34" charset="-120"/>
              </a:rPr>
              <a:t>azar ≈ 0.92² ≈ 85%</a:t>
            </a:r>
            <a:endParaRPr lang="en-US" sz="1250" dirty="0"/>
          </a:p>
        </p:txBody>
      </p:sp>
      <p:sp>
        <p:nvSpPr>
          <p:cNvPr id="35" name="Text 33"/>
          <p:cNvSpPr txBox="1"/>
          <p:nvPr/>
        </p:nvSpPr>
        <p:spPr>
          <a:xfrm>
            <a:off x="10067544" y="3877056"/>
            <a:ext cx="1389888" cy="256032"/>
          </a:xfrm>
          <a:prstGeom prst="rect">
            <a:avLst/>
          </a:prstGeom>
          <a:noFill/>
          <a:ln/>
        </p:spPr>
        <p:txBody>
          <a:bodyPr wrap="square" lIns="0" tIns="0" rIns="0" bIns="0" rtlCol="0" anchor="ctr"/>
          <a:lstStyle/>
          <a:p>
            <a:pPr algn="ctr" indent="0" marL="0">
              <a:buNone/>
            </a:pPr>
            <a:r>
              <a:rPr lang="en-US" sz="1100" dirty="0">
                <a:solidFill>
                  <a:srgbClr val="60707E"/>
                </a:solidFill>
                <a:latin typeface="Calibri" pitchFamily="34" charset="0"/>
                <a:ea typeface="Calibri" pitchFamily="34" charset="-122"/>
                <a:cs typeface="Calibri" pitchFamily="34" charset="-120"/>
              </a:rPr>
              <a:t>kappa</a:t>
            </a:r>
            <a:endParaRPr lang="en-US" sz="1100" dirty="0"/>
          </a:p>
        </p:txBody>
      </p:sp>
      <p:sp>
        <p:nvSpPr>
          <p:cNvPr id="36" name="Text 34"/>
          <p:cNvSpPr txBox="1"/>
          <p:nvPr/>
        </p:nvSpPr>
        <p:spPr>
          <a:xfrm>
            <a:off x="10067544" y="4114800"/>
            <a:ext cx="1389888" cy="548640"/>
          </a:xfrm>
          <a:prstGeom prst="rect">
            <a:avLst/>
          </a:prstGeom>
          <a:noFill/>
          <a:ln/>
        </p:spPr>
        <p:txBody>
          <a:bodyPr wrap="square" lIns="0" tIns="0" rIns="0" bIns="0" rtlCol="0" anchor="ctr"/>
          <a:lstStyle/>
          <a:p>
            <a:pPr algn="ctr" indent="0" marL="0">
              <a:buNone/>
            </a:pPr>
            <a:r>
              <a:rPr lang="en-US" sz="2400" b="1" dirty="0">
                <a:solidFill>
                  <a:srgbClr val="CB5E2E"/>
                </a:solidFill>
                <a:latin typeface="Cambria" pitchFamily="34" charset="0"/>
                <a:ea typeface="Cambria" pitchFamily="34" charset="-122"/>
                <a:cs typeface="Cambria" pitchFamily="34" charset="-120"/>
              </a:rPr>
              <a:t>0.64</a:t>
            </a:r>
            <a:endParaRPr lang="en-US" sz="2400" dirty="0"/>
          </a:p>
        </p:txBody>
      </p:sp>
      <p:sp>
        <p:nvSpPr>
          <p:cNvPr id="37" name="Text 35"/>
          <p:cNvSpPr txBox="1"/>
          <p:nvPr/>
        </p:nvSpPr>
        <p:spPr>
          <a:xfrm>
            <a:off x="6217920" y="5248656"/>
            <a:ext cx="5422392" cy="777240"/>
          </a:xfrm>
          <a:prstGeom prst="rect">
            <a:avLst/>
          </a:prstGeom>
          <a:noFill/>
          <a:ln/>
        </p:spPr>
        <p:txBody>
          <a:bodyPr wrap="square" lIns="0" tIns="0" rIns="0" bIns="0" rtlCol="0" anchor="ctr"/>
          <a:lstStyle/>
          <a:p>
            <a:pPr indent="0" marL="0">
              <a:lnSpc>
                <a:spcPct val="105000"/>
              </a:lnSpc>
              <a:buNone/>
            </a:pPr>
            <a:r>
              <a:rPr lang="en-US" sz="1150" b="1" dirty="0">
                <a:solidFill>
                  <a:srgbClr val="1E2A35"/>
                </a:solidFill>
                <a:latin typeface="Calibri" pitchFamily="34" charset="0"/>
                <a:ea typeface="Calibri" pitchFamily="34" charset="-122"/>
                <a:cs typeface="Calibri" pitchFamily="34" charset="-120"/>
              </a:rPr>
              <a:t>El acuerdo observado no cambió. </a:t>
            </a:r>
            <a:pPr indent="0" marL="0">
              <a:lnSpc>
                <a:spcPct val="105000"/>
              </a:lnSpc>
              <a:buNone/>
            </a:pPr>
            <a:r>
              <a:rPr lang="en-US" sz="1150" dirty="0">
                <a:solidFill>
                  <a:srgbClr val="1E2A35"/>
                </a:solidFill>
                <a:latin typeface="Calibri" pitchFamily="34" charset="0"/>
                <a:ea typeface="Calibri" pitchFamily="34" charset="-122"/>
                <a:cs typeface="Calibri" pitchFamily="34" charset="-120"/>
              </a:rPr>
              <a:t>Cambió qué tan repartidas están las categorías, y eso solo fija el acuerdo por azar: cuando una domina, casi todo el acuerdo ya venía del azar, y kappa lo descuenta.</a:t>
            </a:r>
            <a:endParaRPr lang="en-US" sz="1150" dirty="0"/>
          </a:p>
        </p:txBody>
      </p:sp>
      <p:sp>
        <p:nvSpPr>
          <p:cNvPr id="38" name="Shape 36"/>
          <p:cNvSpPr/>
          <p:nvPr/>
        </p:nvSpPr>
        <p:spPr>
          <a:xfrm>
            <a:off x="548640" y="6053328"/>
            <a:ext cx="11091672" cy="603504"/>
          </a:xfrm>
          <a:prstGeom prst="rect">
            <a:avLst/>
          </a:prstGeom>
          <a:solidFill>
            <a:srgbClr val="FBEEE5"/>
          </a:solidFill>
          <a:ln/>
        </p:spPr>
      </p:sp>
      <p:sp>
        <p:nvSpPr>
          <p:cNvPr id="39" name="Shape 37"/>
          <p:cNvSpPr/>
          <p:nvPr/>
        </p:nvSpPr>
        <p:spPr>
          <a:xfrm>
            <a:off x="749808" y="6272784"/>
            <a:ext cx="164592" cy="164592"/>
          </a:xfrm>
          <a:prstGeom prst="roundRect">
            <a:avLst>
              <a:gd name="adj" fmla="val 22222"/>
            </a:avLst>
          </a:prstGeom>
          <a:solidFill>
            <a:srgbClr val="CB5E2E"/>
          </a:solidFill>
          <a:ln/>
        </p:spPr>
      </p:sp>
      <p:sp>
        <p:nvSpPr>
          <p:cNvPr id="40" name="Text 38"/>
          <p:cNvSpPr txBox="1"/>
          <p:nvPr/>
        </p:nvSpPr>
        <p:spPr>
          <a:xfrm>
            <a:off x="1051560" y="6053328"/>
            <a:ext cx="10405872" cy="603504"/>
          </a:xfrm>
          <a:prstGeom prst="rect">
            <a:avLst/>
          </a:prstGeom>
          <a:noFill/>
          <a:ln/>
        </p:spPr>
        <p:txBody>
          <a:bodyPr wrap="square" lIns="0" tIns="0" rIns="0" bIns="0" rtlCol="0" anchor="ctr"/>
          <a:lstStyle/>
          <a:p>
            <a:pPr indent="0" marL="0">
              <a:buNone/>
            </a:pPr>
            <a:r>
              <a:rPr lang="en-US" sz="1250" dirty="0">
                <a:solidFill>
                  <a:srgbClr val="8C3E19"/>
                </a:solidFill>
                <a:latin typeface="Calibri" pitchFamily="34" charset="0"/>
                <a:ea typeface="Calibri" pitchFamily="34" charset="-122"/>
                <a:cs typeface="Calibri" pitchFamily="34" charset="-120"/>
              </a:rPr>
              <a:t>Regla práctica: nunca reporte solo el porcentaje de acuerdo. Sin kappa, un 95% puede esconder categorías que no distinguen nada.</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1E2A35"/>
                </a:solidFill>
                <a:latin typeface="Calibri" pitchFamily="34" charset="0"/>
                <a:ea typeface="Calibri" pitchFamily="34" charset="-122"/>
                <a:cs typeface="Calibri" pitchFamily="34" charset="-120"/>
              </a:rPr>
              <a:t>La matriz de evidencia con trazabilidad</a:t>
            </a:r>
            <a:endParaRPr lang="en-US" sz="2900" dirty="0"/>
          </a:p>
        </p:txBody>
      </p:sp>
      <p:sp>
        <p:nvSpPr>
          <p:cNvPr id="3" name="Text 1"/>
          <p:cNvSpPr txBox="1"/>
          <p:nvPr/>
        </p:nvSpPr>
        <p:spPr>
          <a:xfrm>
            <a:off x="548640" y="1042416"/>
            <a:ext cx="11091672" cy="457200"/>
          </a:xfrm>
          <a:prstGeom prst="rect">
            <a:avLst/>
          </a:prstGeom>
          <a:noFill/>
          <a:ln/>
        </p:spPr>
        <p:txBody>
          <a:bodyPr wrap="square" lIns="0" tIns="0" rIns="0" bIns="0" rtlCol="0" anchor="ctr"/>
          <a:lstStyle/>
          <a:p>
            <a:pPr indent="0" marL="0">
              <a:buNone/>
            </a:pPr>
            <a:r>
              <a:rPr lang="en-US" sz="1400" dirty="0">
                <a:solidFill>
                  <a:srgbClr val="60707E"/>
                </a:solidFill>
                <a:latin typeface="Calibri" pitchFamily="34" charset="0"/>
                <a:ea typeface="Calibri" pitchFamily="34" charset="-122"/>
                <a:cs typeface="Calibri" pitchFamily="34" charset="-120"/>
              </a:rPr>
              <a:t>El entregable que conecta todo: una fila por afirmación, con la cita que la sostiene y quién la verificó.</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19072"/>
          <a:ext cx="11091672" cy="914400"/>
        </p:xfrm>
        <a:graphic>
          <a:graphicData uri="http://schemas.openxmlformats.org/drawingml/2006/table">
            <a:tbl>
              <a:tblPr/>
              <a:tblGrid>
                <a:gridCol w="2286000"/>
                <a:gridCol w="4572000"/>
                <a:gridCol w="4233672"/>
              </a:tblGrid>
              <a:tr h="420624">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Columna</a:t>
                      </a:r>
                      <a:endParaRPr lang="en-US" sz="125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529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Qué se escribe ahí</a:t>
                      </a:r>
                      <a:endParaRPr lang="en-US" sz="125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5293B"/>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Por qué importa</a:t>
                      </a:r>
                      <a:endParaRPr lang="en-US" sz="125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15293B"/>
                    </a:solidFill>
                  </a:tcPr>
                </a:tc>
              </a:tr>
              <a:tr h="420624">
                <a:tc>
                  <a:txBody>
                    <a:bodyPr/>
                    <a:lstStyle/>
                    <a:p>
                      <a:pPr indent="0" marL="0">
                        <a:buNone/>
                      </a:pPr>
                      <a:r>
                        <a:rPr lang="en-US" sz="1200" b="1" dirty="0">
                          <a:solidFill>
                            <a:srgbClr val="CB5E2E"/>
                          </a:solidFill>
                          <a:latin typeface="Calibri" pitchFamily="34" charset="0"/>
                          <a:ea typeface="Calibri" pitchFamily="34" charset="-122"/>
                          <a:cs typeface="Calibri" pitchFamily="34" charset="-120"/>
                        </a:rPr>
                        <a:t>Afirmación</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200" dirty="0">
                          <a:solidFill>
                            <a:srgbClr val="1E2A35"/>
                          </a:solidFill>
                          <a:latin typeface="Calibri" pitchFamily="34" charset="0"/>
                          <a:ea typeface="Calibri" pitchFamily="34" charset="-122"/>
                          <a:cs typeface="Calibri" pitchFamily="34" charset="-120"/>
                        </a:rPr>
                        <a:t>Tal como quedará escrita en el informe.</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200" dirty="0">
                          <a:solidFill>
                            <a:srgbClr val="60707E"/>
                          </a:solidFill>
                          <a:latin typeface="Calibri" pitchFamily="34" charset="0"/>
                          <a:ea typeface="Calibri" pitchFamily="34" charset="-122"/>
                          <a:cs typeface="Calibri" pitchFamily="34" charset="-120"/>
                        </a:rPr>
                        <a:t>Si después la redacta distinto, ya no está trazada.</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420624">
                <a:tc>
                  <a:txBody>
                    <a:bodyPr/>
                    <a:lstStyle/>
                    <a:p>
                      <a:pPr indent="0" marL="0">
                        <a:buNone/>
                      </a:pPr>
                      <a:r>
                        <a:rPr lang="en-US" sz="1200" b="1" dirty="0">
                          <a:solidFill>
                            <a:srgbClr val="CB5E2E"/>
                          </a:solidFill>
                          <a:latin typeface="Calibri" pitchFamily="34" charset="0"/>
                          <a:ea typeface="Calibri" pitchFamily="34" charset="-122"/>
                          <a:cs typeface="Calibri" pitchFamily="34" charset="-120"/>
                        </a:rPr>
                        <a:t>Cita textual</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EF2F5"/>
                    </a:solidFill>
                  </a:tcPr>
                </a:tc>
                <a:tc>
                  <a:txBody>
                    <a:bodyPr/>
                    <a:lstStyle/>
                    <a:p>
                      <a:pPr indent="0" marL="0">
                        <a:buNone/>
                      </a:pPr>
                      <a:r>
                        <a:rPr lang="en-US" sz="1200" dirty="0">
                          <a:solidFill>
                            <a:srgbClr val="1E2A35"/>
                          </a:solidFill>
                          <a:latin typeface="Calibri" pitchFamily="34" charset="0"/>
                          <a:ea typeface="Calibri" pitchFamily="34" charset="-122"/>
                          <a:cs typeface="Calibri" pitchFamily="34" charset="-120"/>
                        </a:rPr>
                        <a:t>La frase exacta que la sostiene. Copiada, no parafraseada.</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EF2F5"/>
                    </a:solidFill>
                  </a:tcPr>
                </a:tc>
                <a:tc>
                  <a:txBody>
                    <a:bodyPr/>
                    <a:lstStyle/>
                    <a:p>
                      <a:pPr indent="0" marL="0">
                        <a:buNone/>
                      </a:pPr>
                      <a:r>
                        <a:rPr lang="en-US" sz="1200" dirty="0">
                          <a:solidFill>
                            <a:srgbClr val="60707E"/>
                          </a:solidFill>
                          <a:latin typeface="Calibri" pitchFamily="34" charset="0"/>
                          <a:ea typeface="Calibri" pitchFamily="34" charset="-122"/>
                          <a:cs typeface="Calibri" pitchFamily="34" charset="-120"/>
                        </a:rPr>
                        <a:t>Parafrasear elimina la posibilidad de verificar.</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EF2F5"/>
                    </a:solidFill>
                  </a:tcPr>
                </a:tc>
              </a:tr>
              <a:tr h="420624">
                <a:tc>
                  <a:txBody>
                    <a:bodyPr/>
                    <a:lstStyle/>
                    <a:p>
                      <a:pPr indent="0" marL="0">
                        <a:buNone/>
                      </a:pPr>
                      <a:r>
                        <a:rPr lang="en-US" sz="1200" b="1" dirty="0">
                          <a:solidFill>
                            <a:srgbClr val="CB5E2E"/>
                          </a:solidFill>
                          <a:latin typeface="Calibri" pitchFamily="34" charset="0"/>
                          <a:ea typeface="Calibri" pitchFamily="34" charset="-122"/>
                          <a:cs typeface="Calibri" pitchFamily="34" charset="-120"/>
                        </a:rPr>
                        <a:t>Documento y ubicación</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200" dirty="0">
                          <a:solidFill>
                            <a:srgbClr val="1E2A35"/>
                          </a:solidFill>
                          <a:latin typeface="Calibri" pitchFamily="34" charset="0"/>
                          <a:ea typeface="Calibri" pitchFamily="34" charset="-122"/>
                          <a:cs typeface="Calibri" pitchFamily="34" charset="-120"/>
                        </a:rPr>
                        <a:t>Nombre del documento y artículo, página o apartado.</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200" dirty="0">
                          <a:solidFill>
                            <a:srgbClr val="60707E"/>
                          </a:solidFill>
                          <a:latin typeface="Calibri" pitchFamily="34" charset="0"/>
                          <a:ea typeface="Calibri" pitchFamily="34" charset="-122"/>
                          <a:cs typeface="Calibri" pitchFamily="34" charset="-120"/>
                        </a:rPr>
                        <a:t>Permite que otra persona llegue sola a la fuente.</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420624">
                <a:tc>
                  <a:txBody>
                    <a:bodyPr/>
                    <a:lstStyle/>
                    <a:p>
                      <a:pPr indent="0" marL="0">
                        <a:buNone/>
                      </a:pPr>
                      <a:r>
                        <a:rPr lang="en-US" sz="1200" b="1" dirty="0">
                          <a:solidFill>
                            <a:srgbClr val="CB5E2E"/>
                          </a:solidFill>
                          <a:latin typeface="Calibri" pitchFamily="34" charset="0"/>
                          <a:ea typeface="Calibri" pitchFamily="34" charset="-122"/>
                          <a:cs typeface="Calibri" pitchFamily="34" charset="-120"/>
                        </a:rPr>
                        <a:t>Herramienta usada</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EF2F5"/>
                    </a:solidFill>
                  </a:tcPr>
                </a:tc>
                <a:tc>
                  <a:txBody>
                    <a:bodyPr/>
                    <a:lstStyle/>
                    <a:p>
                      <a:pPr indent="0" marL="0">
                        <a:buNone/>
                      </a:pPr>
                      <a:r>
                        <a:rPr lang="en-US" sz="1200" dirty="0">
                          <a:solidFill>
                            <a:srgbClr val="1E2A35"/>
                          </a:solidFill>
                          <a:latin typeface="Calibri" pitchFamily="34" charset="0"/>
                          <a:ea typeface="Calibri" pitchFamily="34" charset="-122"/>
                          <a:cs typeface="Calibri" pitchFamily="34" charset="-120"/>
                        </a:rPr>
                        <a:t>Cuál la encontró (Copilot, otra).</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EF2F5"/>
                    </a:solidFill>
                  </a:tcPr>
                </a:tc>
                <a:tc>
                  <a:txBody>
                    <a:bodyPr/>
                    <a:lstStyle/>
                    <a:p>
                      <a:pPr indent="0" marL="0">
                        <a:buNone/>
                      </a:pPr>
                      <a:r>
                        <a:rPr lang="en-US" sz="1200" dirty="0">
                          <a:solidFill>
                            <a:srgbClr val="60707E"/>
                          </a:solidFill>
                          <a:latin typeface="Calibri" pitchFamily="34" charset="0"/>
                          <a:ea typeface="Calibri" pitchFamily="34" charset="-122"/>
                          <a:cs typeface="Calibri" pitchFamily="34" charset="-120"/>
                        </a:rPr>
                        <a:t>Para saber qué herramienta rinde en qué tarea.</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EF2F5"/>
                    </a:solidFill>
                  </a:tcPr>
                </a:tc>
              </a:tr>
              <a:tr h="420624">
                <a:tc>
                  <a:txBody>
                    <a:bodyPr/>
                    <a:lstStyle/>
                    <a:p>
                      <a:pPr indent="0" marL="0">
                        <a:buNone/>
                      </a:pPr>
                      <a:r>
                        <a:rPr lang="en-US" sz="1200" b="1" dirty="0">
                          <a:solidFill>
                            <a:srgbClr val="CB5E2E"/>
                          </a:solidFill>
                          <a:latin typeface="Calibri" pitchFamily="34" charset="0"/>
                          <a:ea typeface="Calibri" pitchFamily="34" charset="-122"/>
                          <a:cs typeface="Calibri" pitchFamily="34" charset="-120"/>
                        </a:rPr>
                        <a:t>Verificada por</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200" dirty="0">
                          <a:solidFill>
                            <a:srgbClr val="1E2A35"/>
                          </a:solidFill>
                          <a:latin typeface="Calibri" pitchFamily="34" charset="0"/>
                          <a:ea typeface="Calibri" pitchFamily="34" charset="-122"/>
                          <a:cs typeface="Calibri" pitchFamily="34" charset="-120"/>
                        </a:rPr>
                        <a:t>Nombre de quien fue a la fuente y la comprobó.</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200" dirty="0">
                          <a:solidFill>
                            <a:srgbClr val="60707E"/>
                          </a:solidFill>
                          <a:latin typeface="Calibri" pitchFamily="34" charset="0"/>
                          <a:ea typeface="Calibri" pitchFamily="34" charset="-122"/>
                          <a:cs typeface="Calibri" pitchFamily="34" charset="-120"/>
                        </a:rPr>
                        <a:t>La diferencia entre una afirmación con responsable y una sin él.</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420624">
                <a:tc>
                  <a:txBody>
                    <a:bodyPr/>
                    <a:lstStyle/>
                    <a:p>
                      <a:pPr indent="0" marL="0">
                        <a:buNone/>
                      </a:pPr>
                      <a:r>
                        <a:rPr lang="en-US" sz="1200" b="1" dirty="0">
                          <a:solidFill>
                            <a:srgbClr val="CB5E2E"/>
                          </a:solidFill>
                          <a:latin typeface="Calibri" pitchFamily="34" charset="0"/>
                          <a:ea typeface="Calibri" pitchFamily="34" charset="-122"/>
                          <a:cs typeface="Calibri" pitchFamily="34" charset="-120"/>
                        </a:rPr>
                        <a:t>Nivel de confianza</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EF2F5"/>
                    </a:solidFill>
                  </a:tcPr>
                </a:tc>
                <a:tc>
                  <a:txBody>
                    <a:bodyPr/>
                    <a:lstStyle/>
                    <a:p>
                      <a:pPr indent="0" marL="0">
                        <a:buNone/>
                      </a:pPr>
                      <a:r>
                        <a:rPr lang="en-US" sz="1200" dirty="0">
                          <a:solidFill>
                            <a:srgbClr val="1E2A35"/>
                          </a:solidFill>
                          <a:latin typeface="Calibri" pitchFamily="34" charset="0"/>
                          <a:ea typeface="Calibri" pitchFamily="34" charset="-122"/>
                          <a:cs typeface="Calibri" pitchFamily="34" charset="-120"/>
                        </a:rPr>
                        <a:t>Alta, media o baja. Siempre, incluso cuando es alta.</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EF2F5"/>
                    </a:solidFill>
                  </a:tcPr>
                </a:tc>
                <a:tc>
                  <a:txBody>
                    <a:bodyPr/>
                    <a:lstStyle/>
                    <a:p>
                      <a:pPr indent="0" marL="0">
                        <a:buNone/>
                      </a:pPr>
                      <a:r>
                        <a:rPr lang="en-US" sz="1200" dirty="0">
                          <a:solidFill>
                            <a:srgbClr val="60707E"/>
                          </a:solidFill>
                          <a:latin typeface="Calibri" pitchFamily="34" charset="0"/>
                          <a:ea typeface="Calibri" pitchFamily="34" charset="-122"/>
                          <a:cs typeface="Calibri" pitchFamily="34" charset="-120"/>
                        </a:rPr>
                        <a:t>Quien lee tiene derecho a saber en qué descansa cada frase.</a:t>
                      </a:r>
                      <a:endParaRPr lang="en-US" sz="1200" dirty="0">
                        <a:latin typeface="Calibri" charset="0"/>
                        <a:ea typeface="Calibri" charset="0"/>
                        <a:cs typeface="Calibri" charset="0"/>
                      </a:endParaRPr>
                    </a:p>
                  </a:txBody>
                  <a:tcPr marL="91440" marR="91440" marT="45720" marB="4572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EF2F5"/>
                    </a:solidFill>
                  </a:tcPr>
                </a:tc>
              </a:tr>
            </a:tbl>
          </a:graphicData>
        </a:graphic>
      </p:graphicFrame>
      <p:sp>
        <p:nvSpPr>
          <p:cNvPr id="5" name="Text 2"/>
          <p:cNvSpPr txBox="1"/>
          <p:nvPr/>
        </p:nvSpPr>
        <p:spPr>
          <a:xfrm>
            <a:off x="548640" y="4846320"/>
            <a:ext cx="3657600" cy="320040"/>
          </a:xfrm>
          <a:prstGeom prst="rect">
            <a:avLst/>
          </a:prstGeom>
          <a:noFill/>
          <a:ln/>
        </p:spPr>
        <p:txBody>
          <a:bodyPr wrap="square" lIns="0" tIns="0" rIns="0" bIns="0" rtlCol="0" anchor="ctr"/>
          <a:lstStyle/>
          <a:p>
            <a:pPr indent="0" marL="0">
              <a:buNone/>
            </a:pPr>
            <a:r>
              <a:rPr lang="en-US" sz="1250" b="1" dirty="0">
                <a:solidFill>
                  <a:srgbClr val="1E2A35"/>
                </a:solidFill>
                <a:latin typeface="Calibri" pitchFamily="34" charset="0"/>
                <a:ea typeface="Calibri" pitchFamily="34" charset="-122"/>
                <a:cs typeface="Calibri" pitchFamily="34" charset="-120"/>
              </a:rPr>
              <a:t>Los tres niveles de confianza:</a:t>
            </a:r>
            <a:endParaRPr lang="en-US" sz="1250" dirty="0"/>
          </a:p>
        </p:txBody>
      </p:sp>
      <p:sp>
        <p:nvSpPr>
          <p:cNvPr id="6" name="Shape 3"/>
          <p:cNvSpPr/>
          <p:nvPr/>
        </p:nvSpPr>
        <p:spPr>
          <a:xfrm>
            <a:off x="548640" y="5212080"/>
            <a:ext cx="3502152" cy="777240"/>
          </a:xfrm>
          <a:prstGeom prst="roundRect">
            <a:avLst>
              <a:gd name="adj" fmla="val 5882"/>
            </a:avLst>
          </a:prstGeom>
          <a:solidFill>
            <a:srgbClr val="E7F2EA"/>
          </a:solidFill>
          <a:ln/>
        </p:spPr>
      </p:sp>
      <p:sp>
        <p:nvSpPr>
          <p:cNvPr id="7" name="Text 4"/>
          <p:cNvSpPr txBox="1"/>
          <p:nvPr/>
        </p:nvSpPr>
        <p:spPr>
          <a:xfrm>
            <a:off x="731520" y="5294376"/>
            <a:ext cx="3136392" cy="274320"/>
          </a:xfrm>
          <a:prstGeom prst="rect">
            <a:avLst/>
          </a:prstGeom>
          <a:noFill/>
          <a:ln/>
        </p:spPr>
        <p:txBody>
          <a:bodyPr wrap="square" lIns="0" tIns="0" rIns="0" bIns="0" rtlCol="0" anchor="ctr"/>
          <a:lstStyle/>
          <a:p>
            <a:pPr indent="0" marL="0">
              <a:buNone/>
            </a:pPr>
            <a:r>
              <a:rPr lang="en-US" sz="1300" b="1" dirty="0">
                <a:solidFill>
                  <a:srgbClr val="2E6E49"/>
                </a:solidFill>
                <a:latin typeface="Calibri" pitchFamily="34" charset="0"/>
                <a:ea typeface="Calibri" pitchFamily="34" charset="-122"/>
                <a:cs typeface="Calibri" pitchFamily="34" charset="-120"/>
              </a:rPr>
              <a:t>Alta</a:t>
            </a:r>
            <a:endParaRPr lang="en-US" sz="1300" dirty="0"/>
          </a:p>
        </p:txBody>
      </p:sp>
      <p:sp>
        <p:nvSpPr>
          <p:cNvPr id="8" name="Text 5"/>
          <p:cNvSpPr txBox="1"/>
          <p:nvPr/>
        </p:nvSpPr>
        <p:spPr>
          <a:xfrm>
            <a:off x="731520" y="5550408"/>
            <a:ext cx="3136392" cy="411480"/>
          </a:xfrm>
          <a:prstGeom prst="rect">
            <a:avLst/>
          </a:prstGeom>
          <a:noFill/>
          <a:ln/>
        </p:spPr>
        <p:txBody>
          <a:bodyPr wrap="square" lIns="0" tIns="0" rIns="0" bIns="0" rtlCol="0" anchor="ctr"/>
          <a:lstStyle/>
          <a:p>
            <a:pPr indent="0" marL="0">
              <a:lnSpc>
                <a:spcPct val="95000"/>
              </a:lnSpc>
              <a:buNone/>
            </a:pPr>
            <a:r>
              <a:rPr lang="en-US" sz="1100" dirty="0">
                <a:solidFill>
                  <a:srgbClr val="1E2A35"/>
                </a:solidFill>
                <a:latin typeface="Calibri" pitchFamily="34" charset="0"/>
                <a:ea typeface="Calibri" pitchFamily="34" charset="-122"/>
                <a:cs typeface="Calibri" pitchFamily="34" charset="-120"/>
              </a:rPr>
              <a:t>Dos o más fuentes independientes dicen lo mismo.</a:t>
            </a:r>
            <a:endParaRPr lang="en-US" sz="1100" dirty="0"/>
          </a:p>
        </p:txBody>
      </p:sp>
      <p:sp>
        <p:nvSpPr>
          <p:cNvPr id="9" name="Shape 6"/>
          <p:cNvSpPr/>
          <p:nvPr/>
        </p:nvSpPr>
        <p:spPr>
          <a:xfrm>
            <a:off x="4343400" y="5212080"/>
            <a:ext cx="3502152" cy="777240"/>
          </a:xfrm>
          <a:prstGeom prst="roundRect">
            <a:avLst>
              <a:gd name="adj" fmla="val 5882"/>
            </a:avLst>
          </a:prstGeom>
          <a:solidFill>
            <a:srgbClr val="FCF3DD"/>
          </a:solidFill>
          <a:ln/>
        </p:spPr>
      </p:sp>
      <p:sp>
        <p:nvSpPr>
          <p:cNvPr id="10" name="Text 7"/>
          <p:cNvSpPr txBox="1"/>
          <p:nvPr/>
        </p:nvSpPr>
        <p:spPr>
          <a:xfrm>
            <a:off x="4526280" y="5294376"/>
            <a:ext cx="3136392" cy="274320"/>
          </a:xfrm>
          <a:prstGeom prst="rect">
            <a:avLst/>
          </a:prstGeom>
          <a:noFill/>
          <a:ln/>
        </p:spPr>
        <p:txBody>
          <a:bodyPr wrap="square" lIns="0" tIns="0" rIns="0" bIns="0" rtlCol="0" anchor="ctr"/>
          <a:lstStyle/>
          <a:p>
            <a:pPr indent="0" marL="0">
              <a:buNone/>
            </a:pPr>
            <a:r>
              <a:rPr lang="en-US" sz="1300" b="1" dirty="0">
                <a:solidFill>
                  <a:srgbClr val="8A6D1F"/>
                </a:solidFill>
                <a:latin typeface="Calibri" pitchFamily="34" charset="0"/>
                <a:ea typeface="Calibri" pitchFamily="34" charset="-122"/>
                <a:cs typeface="Calibri" pitchFamily="34" charset="-120"/>
              </a:rPr>
              <a:t>Media</a:t>
            </a:r>
            <a:endParaRPr lang="en-US" sz="1300" dirty="0"/>
          </a:p>
        </p:txBody>
      </p:sp>
      <p:sp>
        <p:nvSpPr>
          <p:cNvPr id="11" name="Text 8"/>
          <p:cNvSpPr txBox="1"/>
          <p:nvPr/>
        </p:nvSpPr>
        <p:spPr>
          <a:xfrm>
            <a:off x="4526280" y="5550408"/>
            <a:ext cx="3136392" cy="411480"/>
          </a:xfrm>
          <a:prstGeom prst="rect">
            <a:avLst/>
          </a:prstGeom>
          <a:noFill/>
          <a:ln/>
        </p:spPr>
        <p:txBody>
          <a:bodyPr wrap="square" lIns="0" tIns="0" rIns="0" bIns="0" rtlCol="0" anchor="ctr"/>
          <a:lstStyle/>
          <a:p>
            <a:pPr indent="0" marL="0">
              <a:lnSpc>
                <a:spcPct val="95000"/>
              </a:lnSpc>
              <a:buNone/>
            </a:pPr>
            <a:r>
              <a:rPr lang="en-US" sz="1100" dirty="0">
                <a:solidFill>
                  <a:srgbClr val="1E2A35"/>
                </a:solidFill>
                <a:latin typeface="Calibri" pitchFamily="34" charset="0"/>
                <a:ea typeface="Calibri" pitchFamily="34" charset="-122"/>
                <a:cs typeface="Calibri" pitchFamily="34" charset="-120"/>
              </a:rPr>
              <a:t>Una sola fuente directa. Alcanza, y hay que decirlo.</a:t>
            </a:r>
            <a:endParaRPr lang="en-US" sz="1100" dirty="0"/>
          </a:p>
        </p:txBody>
      </p:sp>
      <p:sp>
        <p:nvSpPr>
          <p:cNvPr id="12" name="Shape 9"/>
          <p:cNvSpPr/>
          <p:nvPr/>
        </p:nvSpPr>
        <p:spPr>
          <a:xfrm>
            <a:off x="8138160" y="5212080"/>
            <a:ext cx="3502152" cy="777240"/>
          </a:xfrm>
          <a:prstGeom prst="roundRect">
            <a:avLst>
              <a:gd name="adj" fmla="val 5882"/>
            </a:avLst>
          </a:prstGeom>
          <a:solidFill>
            <a:srgbClr val="F9E7E3"/>
          </a:solidFill>
          <a:ln/>
        </p:spPr>
      </p:sp>
      <p:sp>
        <p:nvSpPr>
          <p:cNvPr id="13" name="Text 10"/>
          <p:cNvSpPr txBox="1"/>
          <p:nvPr/>
        </p:nvSpPr>
        <p:spPr>
          <a:xfrm>
            <a:off x="8321040" y="5294376"/>
            <a:ext cx="3136392" cy="274320"/>
          </a:xfrm>
          <a:prstGeom prst="rect">
            <a:avLst/>
          </a:prstGeom>
          <a:noFill/>
          <a:ln/>
        </p:spPr>
        <p:txBody>
          <a:bodyPr wrap="square" lIns="0" tIns="0" rIns="0" bIns="0" rtlCol="0" anchor="ctr"/>
          <a:lstStyle/>
          <a:p>
            <a:pPr indent="0" marL="0">
              <a:buNone/>
            </a:pPr>
            <a:r>
              <a:rPr lang="en-US" sz="1300" b="1" dirty="0">
                <a:solidFill>
                  <a:srgbClr val="A23B22"/>
                </a:solidFill>
                <a:latin typeface="Calibri" pitchFamily="34" charset="0"/>
                <a:ea typeface="Calibri" pitchFamily="34" charset="-122"/>
                <a:cs typeface="Calibri" pitchFamily="34" charset="-120"/>
              </a:rPr>
              <a:t>Baja</a:t>
            </a:r>
            <a:endParaRPr lang="en-US" sz="1300" dirty="0"/>
          </a:p>
        </p:txBody>
      </p:sp>
      <p:sp>
        <p:nvSpPr>
          <p:cNvPr id="14" name="Text 11"/>
          <p:cNvSpPr txBox="1"/>
          <p:nvPr/>
        </p:nvSpPr>
        <p:spPr>
          <a:xfrm>
            <a:off x="8321040" y="5550408"/>
            <a:ext cx="3136392" cy="411480"/>
          </a:xfrm>
          <a:prstGeom prst="rect">
            <a:avLst/>
          </a:prstGeom>
          <a:noFill/>
          <a:ln/>
        </p:spPr>
        <p:txBody>
          <a:bodyPr wrap="square" lIns="0" tIns="0" rIns="0" bIns="0" rtlCol="0" anchor="ctr"/>
          <a:lstStyle/>
          <a:p>
            <a:pPr indent="0" marL="0">
              <a:lnSpc>
                <a:spcPct val="95000"/>
              </a:lnSpc>
              <a:buNone/>
            </a:pPr>
            <a:r>
              <a:rPr lang="en-US" sz="1100" dirty="0">
                <a:solidFill>
                  <a:srgbClr val="1E2A35"/>
                </a:solidFill>
                <a:latin typeface="Calibri" pitchFamily="34" charset="0"/>
                <a:ea typeface="Calibri" pitchFamily="34" charset="-122"/>
                <a:cs typeface="Calibri" pitchFamily="34" charset="-120"/>
              </a:rPr>
              <a:t>Evidencia indirecta o inferencia. Entra como hipótesis.</a:t>
            </a:r>
            <a:endParaRPr lang="en-US" sz="1100" dirty="0"/>
          </a:p>
        </p:txBody>
      </p:sp>
      <p:sp>
        <p:nvSpPr>
          <p:cNvPr id="15" name="Text 12"/>
          <p:cNvSpPr txBox="1"/>
          <p:nvPr/>
        </p:nvSpPr>
        <p:spPr>
          <a:xfrm>
            <a:off x="548640" y="6144768"/>
            <a:ext cx="11091672" cy="457200"/>
          </a:xfrm>
          <a:prstGeom prst="rect">
            <a:avLst/>
          </a:prstGeom>
          <a:noFill/>
          <a:ln/>
        </p:spPr>
        <p:txBody>
          <a:bodyPr wrap="square" lIns="0" tIns="0" rIns="0" bIns="0" rtlCol="0" anchor="ctr"/>
          <a:lstStyle/>
          <a:p>
            <a:pPr indent="0" marL="0">
              <a:lnSpc>
                <a:spcPct val="100000"/>
              </a:lnSpc>
              <a:buNone/>
            </a:pPr>
            <a:r>
              <a:rPr lang="en-US" sz="950" i="1" dirty="0">
                <a:solidFill>
                  <a:srgbClr val="60707E"/>
                </a:solidFill>
                <a:latin typeface="Calibri" pitchFamily="34" charset="0"/>
                <a:ea typeface="Calibri" pitchFamily="34" charset="-122"/>
                <a:cs typeface="Calibri" pitchFamily="34" charset="-120"/>
              </a:rPr>
              <a:t>Estándar en evaluación: el IPCC pide un traceable account con nivel de confianza y CERQual califica la confianza de cada hallazgo. Si al terminar su matriz todas las filas dicen «alta», algo se hizo mal.</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1E2A35"/>
                </a:solidFill>
                <a:latin typeface="Calibri" pitchFamily="34" charset="0"/>
                <a:ea typeface="Calibri" pitchFamily="34" charset="-122"/>
                <a:cs typeface="Calibri" pitchFamily="34" charset="-120"/>
              </a:rPr>
              <a:t>Antes del laboratorio: el semáforo de datos</a:t>
            </a:r>
            <a:endParaRPr lang="en-US" sz="2900" dirty="0"/>
          </a:p>
        </p:txBody>
      </p:sp>
      <p:sp>
        <p:nvSpPr>
          <p:cNvPr id="3" name="Text 1"/>
          <p:cNvSpPr txBox="1"/>
          <p:nvPr/>
        </p:nvSpPr>
        <p:spPr>
          <a:xfrm>
            <a:off x="548640" y="1042416"/>
            <a:ext cx="11091672" cy="457200"/>
          </a:xfrm>
          <a:prstGeom prst="rect">
            <a:avLst/>
          </a:prstGeom>
          <a:noFill/>
          <a:ln/>
        </p:spPr>
        <p:txBody>
          <a:bodyPr wrap="square" lIns="0" tIns="0" rIns="0" bIns="0" rtlCol="0" anchor="ctr"/>
          <a:lstStyle/>
          <a:p>
            <a:pPr indent="0" marL="0">
              <a:buNone/>
            </a:pPr>
            <a:r>
              <a:rPr lang="en-US" sz="1400" dirty="0">
                <a:solidFill>
                  <a:srgbClr val="60707E"/>
                </a:solidFill>
                <a:latin typeface="Calibri" pitchFamily="34" charset="0"/>
                <a:ea typeface="Calibri" pitchFamily="34" charset="-122"/>
                <a:cs typeface="Calibri" pitchFamily="34" charset="-120"/>
              </a:rPr>
              <a:t>Qué información se puede escribir en cada herramienta. Es una regla del Instituto, no una preferencia.</a:t>
            </a:r>
            <a:endParaRPr lang="en-US" sz="1400" dirty="0"/>
          </a:p>
        </p:txBody>
      </p:sp>
      <p:sp>
        <p:nvSpPr>
          <p:cNvPr id="4" name="Shape 2"/>
          <p:cNvSpPr/>
          <p:nvPr/>
        </p:nvSpPr>
        <p:spPr>
          <a:xfrm>
            <a:off x="548640" y="2057400"/>
            <a:ext cx="3502152" cy="2743200"/>
          </a:xfrm>
          <a:prstGeom prst="roundRect">
            <a:avLst>
              <a:gd name="adj" fmla="val 2000"/>
            </a:avLst>
          </a:prstGeom>
          <a:solidFill>
            <a:srgbClr val="FFFFFF"/>
          </a:solidFill>
          <a:ln w="9525">
            <a:solidFill>
              <a:srgbClr val="D5DCE3"/>
            </a:solidFill>
            <a:prstDash val="solid"/>
          </a:ln>
        </p:spPr>
      </p:sp>
      <p:sp>
        <p:nvSpPr>
          <p:cNvPr id="5" name="Shape 3"/>
          <p:cNvSpPr/>
          <p:nvPr/>
        </p:nvSpPr>
        <p:spPr>
          <a:xfrm>
            <a:off x="1933956" y="2331720"/>
            <a:ext cx="731520" cy="731520"/>
          </a:xfrm>
          <a:prstGeom prst="ellipse">
            <a:avLst/>
          </a:prstGeom>
          <a:solidFill>
            <a:srgbClr val="3E9B5B"/>
          </a:solidFill>
          <a:ln/>
        </p:spPr>
      </p:sp>
      <p:sp>
        <p:nvSpPr>
          <p:cNvPr id="6" name="Text 4"/>
          <p:cNvSpPr txBox="1"/>
          <p:nvPr/>
        </p:nvSpPr>
        <p:spPr>
          <a:xfrm>
            <a:off x="777240" y="3200400"/>
            <a:ext cx="3044952" cy="365760"/>
          </a:xfrm>
          <a:prstGeom prst="rect">
            <a:avLst/>
          </a:prstGeom>
          <a:noFill/>
          <a:ln/>
        </p:spPr>
        <p:txBody>
          <a:bodyPr wrap="square" lIns="0" tIns="0" rIns="0" bIns="0" rtlCol="0" anchor="ctr"/>
          <a:lstStyle/>
          <a:p>
            <a:pPr algn="ctr" indent="0" marL="0">
              <a:buNone/>
            </a:pPr>
            <a:r>
              <a:rPr lang="en-US" sz="1600" b="1" dirty="0">
                <a:solidFill>
                  <a:srgbClr val="2E6E49"/>
                </a:solidFill>
                <a:latin typeface="Calibri" pitchFamily="34" charset="0"/>
                <a:ea typeface="Calibri" pitchFamily="34" charset="-122"/>
                <a:cs typeface="Calibri" pitchFamily="34" charset="-120"/>
              </a:rPr>
              <a:t>Verde</a:t>
            </a:r>
            <a:endParaRPr lang="en-US" sz="1600" dirty="0"/>
          </a:p>
        </p:txBody>
      </p:sp>
      <p:sp>
        <p:nvSpPr>
          <p:cNvPr id="7" name="Text 5"/>
          <p:cNvSpPr txBox="1"/>
          <p:nvPr/>
        </p:nvSpPr>
        <p:spPr>
          <a:xfrm>
            <a:off x="777240" y="3611880"/>
            <a:ext cx="3044952" cy="777240"/>
          </a:xfrm>
          <a:prstGeom prst="rect">
            <a:avLst/>
          </a:prstGeom>
          <a:noFill/>
          <a:ln/>
        </p:spPr>
        <p:txBody>
          <a:bodyPr wrap="square" lIns="0" tIns="0" rIns="0" bIns="0" rtlCol="0" anchor="ctr"/>
          <a:lstStyle/>
          <a:p>
            <a:pPr algn="ctr" indent="0" marL="0">
              <a:lnSpc>
                <a:spcPct val="100000"/>
              </a:lnSpc>
              <a:buNone/>
            </a:pPr>
            <a:r>
              <a:rPr lang="en-US" sz="1200" dirty="0">
                <a:solidFill>
                  <a:srgbClr val="1E2A35"/>
                </a:solidFill>
                <a:latin typeface="Calibri" pitchFamily="34" charset="0"/>
                <a:ea typeface="Calibri" pitchFamily="34" charset="-122"/>
                <a:cs typeface="Calibri" pitchFamily="34" charset="-120"/>
              </a:rPr>
              <a:t>Datos ficticios o ya públicos. No identifican a nadie.</a:t>
            </a:r>
            <a:endParaRPr lang="en-US" sz="1200" dirty="0"/>
          </a:p>
        </p:txBody>
      </p:sp>
      <p:sp>
        <p:nvSpPr>
          <p:cNvPr id="8" name="Shape 6"/>
          <p:cNvSpPr/>
          <p:nvPr/>
        </p:nvSpPr>
        <p:spPr>
          <a:xfrm>
            <a:off x="777240" y="4343400"/>
            <a:ext cx="3044952" cy="18288"/>
          </a:xfrm>
          <a:prstGeom prst="rect">
            <a:avLst/>
          </a:prstGeom>
          <a:solidFill>
            <a:srgbClr val="D5DCE3"/>
          </a:solidFill>
          <a:ln/>
        </p:spPr>
      </p:sp>
      <p:sp>
        <p:nvSpPr>
          <p:cNvPr id="9" name="Text 7"/>
          <p:cNvSpPr txBox="1"/>
          <p:nvPr/>
        </p:nvSpPr>
        <p:spPr>
          <a:xfrm>
            <a:off x="777240" y="4398264"/>
            <a:ext cx="3044952" cy="365760"/>
          </a:xfrm>
          <a:prstGeom prst="rect">
            <a:avLst/>
          </a:prstGeom>
          <a:noFill/>
          <a:ln/>
        </p:spPr>
        <p:txBody>
          <a:bodyPr wrap="square" lIns="0" tIns="0" rIns="0" bIns="0" rtlCol="0" anchor="ctr"/>
          <a:lstStyle/>
          <a:p>
            <a:pPr algn="ctr" indent="0" marL="0">
              <a:lnSpc>
                <a:spcPct val="95000"/>
              </a:lnSpc>
              <a:buNone/>
            </a:pPr>
            <a:r>
              <a:rPr lang="en-US" sz="1150" b="1" dirty="0">
                <a:solidFill>
                  <a:srgbClr val="2E6E49"/>
                </a:solidFill>
                <a:latin typeface="Calibri" pitchFamily="34" charset="0"/>
                <a:ea typeface="Calibri" pitchFamily="34" charset="-122"/>
                <a:cs typeface="Calibri" pitchFamily="34" charset="-120"/>
              </a:rPr>
              <a:t>Se pueden usar en cualquier herramienta abierta.</a:t>
            </a:r>
            <a:endParaRPr lang="en-US" sz="1150" dirty="0"/>
          </a:p>
        </p:txBody>
      </p:sp>
      <p:sp>
        <p:nvSpPr>
          <p:cNvPr id="10" name="Shape 8"/>
          <p:cNvSpPr/>
          <p:nvPr/>
        </p:nvSpPr>
        <p:spPr>
          <a:xfrm>
            <a:off x="4343400" y="2057400"/>
            <a:ext cx="3502152" cy="2743200"/>
          </a:xfrm>
          <a:prstGeom prst="roundRect">
            <a:avLst>
              <a:gd name="adj" fmla="val 2000"/>
            </a:avLst>
          </a:prstGeom>
          <a:solidFill>
            <a:srgbClr val="FFFFFF"/>
          </a:solidFill>
          <a:ln w="9525">
            <a:solidFill>
              <a:srgbClr val="D5DCE3"/>
            </a:solidFill>
            <a:prstDash val="solid"/>
          </a:ln>
        </p:spPr>
      </p:sp>
      <p:sp>
        <p:nvSpPr>
          <p:cNvPr id="11" name="Shape 9"/>
          <p:cNvSpPr/>
          <p:nvPr/>
        </p:nvSpPr>
        <p:spPr>
          <a:xfrm>
            <a:off x="5728716" y="2331720"/>
            <a:ext cx="731520" cy="731520"/>
          </a:xfrm>
          <a:prstGeom prst="ellipse">
            <a:avLst/>
          </a:prstGeom>
          <a:solidFill>
            <a:srgbClr val="E0A82E"/>
          </a:solidFill>
          <a:ln/>
        </p:spPr>
      </p:sp>
      <p:sp>
        <p:nvSpPr>
          <p:cNvPr id="12" name="Text 10"/>
          <p:cNvSpPr txBox="1"/>
          <p:nvPr/>
        </p:nvSpPr>
        <p:spPr>
          <a:xfrm>
            <a:off x="4572000" y="3200400"/>
            <a:ext cx="3044952" cy="365760"/>
          </a:xfrm>
          <a:prstGeom prst="rect">
            <a:avLst/>
          </a:prstGeom>
          <a:noFill/>
          <a:ln/>
        </p:spPr>
        <p:txBody>
          <a:bodyPr wrap="square" lIns="0" tIns="0" rIns="0" bIns="0" rtlCol="0" anchor="ctr"/>
          <a:lstStyle/>
          <a:p>
            <a:pPr algn="ctr" indent="0" marL="0">
              <a:buNone/>
            </a:pPr>
            <a:r>
              <a:rPr lang="en-US" sz="1600" b="1" dirty="0">
                <a:solidFill>
                  <a:srgbClr val="8A6D1F"/>
                </a:solidFill>
                <a:latin typeface="Calibri" pitchFamily="34" charset="0"/>
                <a:ea typeface="Calibri" pitchFamily="34" charset="-122"/>
                <a:cs typeface="Calibri" pitchFamily="34" charset="-120"/>
              </a:rPr>
              <a:t>Amarillo</a:t>
            </a:r>
            <a:endParaRPr lang="en-US" sz="1600" dirty="0"/>
          </a:p>
        </p:txBody>
      </p:sp>
      <p:sp>
        <p:nvSpPr>
          <p:cNvPr id="13" name="Text 11"/>
          <p:cNvSpPr txBox="1"/>
          <p:nvPr/>
        </p:nvSpPr>
        <p:spPr>
          <a:xfrm>
            <a:off x="4572000" y="3611880"/>
            <a:ext cx="3044952" cy="777240"/>
          </a:xfrm>
          <a:prstGeom prst="rect">
            <a:avLst/>
          </a:prstGeom>
          <a:noFill/>
          <a:ln/>
        </p:spPr>
        <p:txBody>
          <a:bodyPr wrap="square" lIns="0" tIns="0" rIns="0" bIns="0" rtlCol="0" anchor="ctr"/>
          <a:lstStyle/>
          <a:p>
            <a:pPr algn="ctr" indent="0" marL="0">
              <a:lnSpc>
                <a:spcPct val="100000"/>
              </a:lnSpc>
              <a:buNone/>
            </a:pPr>
            <a:r>
              <a:rPr lang="en-US" sz="1200" dirty="0">
                <a:solidFill>
                  <a:srgbClr val="1E2A35"/>
                </a:solidFill>
                <a:latin typeface="Calibri" pitchFamily="34" charset="0"/>
                <a:ea typeface="Calibri" pitchFamily="34" charset="-122"/>
                <a:cs typeface="Calibri" pitchFamily="34" charset="-120"/>
              </a:rPr>
              <a:t>Datos internos o que permiten identificar a una persona.</a:t>
            </a:r>
            <a:endParaRPr lang="en-US" sz="1200" dirty="0"/>
          </a:p>
        </p:txBody>
      </p:sp>
      <p:sp>
        <p:nvSpPr>
          <p:cNvPr id="14" name="Shape 12"/>
          <p:cNvSpPr/>
          <p:nvPr/>
        </p:nvSpPr>
        <p:spPr>
          <a:xfrm>
            <a:off x="4572000" y="4343400"/>
            <a:ext cx="3044952" cy="18288"/>
          </a:xfrm>
          <a:prstGeom prst="rect">
            <a:avLst/>
          </a:prstGeom>
          <a:solidFill>
            <a:srgbClr val="D5DCE3"/>
          </a:solidFill>
          <a:ln/>
        </p:spPr>
      </p:sp>
      <p:sp>
        <p:nvSpPr>
          <p:cNvPr id="15" name="Text 13"/>
          <p:cNvSpPr txBox="1"/>
          <p:nvPr/>
        </p:nvSpPr>
        <p:spPr>
          <a:xfrm>
            <a:off x="4572000" y="4398264"/>
            <a:ext cx="3044952" cy="365760"/>
          </a:xfrm>
          <a:prstGeom prst="rect">
            <a:avLst/>
          </a:prstGeom>
          <a:noFill/>
          <a:ln/>
        </p:spPr>
        <p:txBody>
          <a:bodyPr wrap="square" lIns="0" tIns="0" rIns="0" bIns="0" rtlCol="0" anchor="ctr"/>
          <a:lstStyle/>
          <a:p>
            <a:pPr algn="ctr" indent="0" marL="0">
              <a:lnSpc>
                <a:spcPct val="95000"/>
              </a:lnSpc>
              <a:buNone/>
            </a:pPr>
            <a:r>
              <a:rPr lang="en-US" sz="1150" b="1" dirty="0">
                <a:solidFill>
                  <a:srgbClr val="8A6D1F"/>
                </a:solidFill>
                <a:latin typeface="Calibri" pitchFamily="34" charset="0"/>
                <a:ea typeface="Calibri" pitchFamily="34" charset="-122"/>
                <a:cs typeface="Calibri" pitchFamily="34" charset="-120"/>
              </a:rPr>
              <a:t>Solo en Copilot institucional, con la cuenta del Instituto.</a:t>
            </a:r>
            <a:endParaRPr lang="en-US" sz="1150" dirty="0"/>
          </a:p>
        </p:txBody>
      </p:sp>
      <p:sp>
        <p:nvSpPr>
          <p:cNvPr id="16" name="Shape 14"/>
          <p:cNvSpPr/>
          <p:nvPr/>
        </p:nvSpPr>
        <p:spPr>
          <a:xfrm>
            <a:off x="8138160" y="2057400"/>
            <a:ext cx="3502152" cy="2743200"/>
          </a:xfrm>
          <a:prstGeom prst="roundRect">
            <a:avLst>
              <a:gd name="adj" fmla="val 2000"/>
            </a:avLst>
          </a:prstGeom>
          <a:solidFill>
            <a:srgbClr val="FFFFFF"/>
          </a:solidFill>
          <a:ln w="9525">
            <a:solidFill>
              <a:srgbClr val="D5DCE3"/>
            </a:solidFill>
            <a:prstDash val="solid"/>
          </a:ln>
        </p:spPr>
      </p:sp>
      <p:sp>
        <p:nvSpPr>
          <p:cNvPr id="17" name="Shape 15"/>
          <p:cNvSpPr/>
          <p:nvPr/>
        </p:nvSpPr>
        <p:spPr>
          <a:xfrm>
            <a:off x="9523476" y="2331720"/>
            <a:ext cx="731520" cy="731520"/>
          </a:xfrm>
          <a:prstGeom prst="ellipse">
            <a:avLst/>
          </a:prstGeom>
          <a:solidFill>
            <a:srgbClr val="C0472B"/>
          </a:solidFill>
          <a:ln/>
        </p:spPr>
      </p:sp>
      <p:sp>
        <p:nvSpPr>
          <p:cNvPr id="18" name="Text 16"/>
          <p:cNvSpPr txBox="1"/>
          <p:nvPr/>
        </p:nvSpPr>
        <p:spPr>
          <a:xfrm>
            <a:off x="8366760" y="3200400"/>
            <a:ext cx="3044952" cy="365760"/>
          </a:xfrm>
          <a:prstGeom prst="rect">
            <a:avLst/>
          </a:prstGeom>
          <a:noFill/>
          <a:ln/>
        </p:spPr>
        <p:txBody>
          <a:bodyPr wrap="square" lIns="0" tIns="0" rIns="0" bIns="0" rtlCol="0" anchor="ctr"/>
          <a:lstStyle/>
          <a:p>
            <a:pPr algn="ctr" indent="0" marL="0">
              <a:buNone/>
            </a:pPr>
            <a:r>
              <a:rPr lang="en-US" sz="1600" b="1" dirty="0">
                <a:solidFill>
                  <a:srgbClr val="A23B22"/>
                </a:solidFill>
                <a:latin typeface="Calibri" pitchFamily="34" charset="0"/>
                <a:ea typeface="Calibri" pitchFamily="34" charset="-122"/>
                <a:cs typeface="Calibri" pitchFamily="34" charset="-120"/>
              </a:rPr>
              <a:t>Rojo</a:t>
            </a:r>
            <a:endParaRPr lang="en-US" sz="1600" dirty="0"/>
          </a:p>
        </p:txBody>
      </p:sp>
      <p:sp>
        <p:nvSpPr>
          <p:cNvPr id="19" name="Text 17"/>
          <p:cNvSpPr txBox="1"/>
          <p:nvPr/>
        </p:nvSpPr>
        <p:spPr>
          <a:xfrm>
            <a:off x="8366760" y="3611880"/>
            <a:ext cx="3044952" cy="777240"/>
          </a:xfrm>
          <a:prstGeom prst="rect">
            <a:avLst/>
          </a:prstGeom>
          <a:noFill/>
          <a:ln/>
        </p:spPr>
        <p:txBody>
          <a:bodyPr wrap="square" lIns="0" tIns="0" rIns="0" bIns="0" rtlCol="0" anchor="ctr"/>
          <a:lstStyle/>
          <a:p>
            <a:pPr algn="ctr" indent="0" marL="0">
              <a:lnSpc>
                <a:spcPct val="100000"/>
              </a:lnSpc>
              <a:buNone/>
            </a:pPr>
            <a:r>
              <a:rPr lang="en-US" sz="1200" dirty="0">
                <a:solidFill>
                  <a:srgbClr val="1E2A35"/>
                </a:solidFill>
                <a:latin typeface="Calibri" pitchFamily="34" charset="0"/>
                <a:ea typeface="Calibri" pitchFamily="34" charset="-122"/>
                <a:cs typeface="Calibri" pitchFamily="34" charset="-120"/>
              </a:rPr>
              <a:t>Datos personales sensibles o confidenciales.</a:t>
            </a:r>
            <a:endParaRPr lang="en-US" sz="1200" dirty="0"/>
          </a:p>
        </p:txBody>
      </p:sp>
      <p:sp>
        <p:nvSpPr>
          <p:cNvPr id="20" name="Shape 18"/>
          <p:cNvSpPr/>
          <p:nvPr/>
        </p:nvSpPr>
        <p:spPr>
          <a:xfrm>
            <a:off x="8366760" y="4343400"/>
            <a:ext cx="3044952" cy="18288"/>
          </a:xfrm>
          <a:prstGeom prst="rect">
            <a:avLst/>
          </a:prstGeom>
          <a:solidFill>
            <a:srgbClr val="D5DCE3"/>
          </a:solidFill>
          <a:ln/>
        </p:spPr>
      </p:sp>
      <p:sp>
        <p:nvSpPr>
          <p:cNvPr id="21" name="Text 19"/>
          <p:cNvSpPr txBox="1"/>
          <p:nvPr/>
        </p:nvSpPr>
        <p:spPr>
          <a:xfrm>
            <a:off x="8366760" y="4398264"/>
            <a:ext cx="3044952" cy="365760"/>
          </a:xfrm>
          <a:prstGeom prst="rect">
            <a:avLst/>
          </a:prstGeom>
          <a:noFill/>
          <a:ln/>
        </p:spPr>
        <p:txBody>
          <a:bodyPr wrap="square" lIns="0" tIns="0" rIns="0" bIns="0" rtlCol="0" anchor="ctr"/>
          <a:lstStyle/>
          <a:p>
            <a:pPr algn="ctr" indent="0" marL="0">
              <a:lnSpc>
                <a:spcPct val="95000"/>
              </a:lnSpc>
              <a:buNone/>
            </a:pPr>
            <a:r>
              <a:rPr lang="en-US" sz="1150" b="1" dirty="0">
                <a:solidFill>
                  <a:srgbClr val="A23B22"/>
                </a:solidFill>
                <a:latin typeface="Calibri" pitchFamily="34" charset="0"/>
                <a:ea typeface="Calibri" pitchFamily="34" charset="-122"/>
                <a:cs typeface="Calibri" pitchFamily="34" charset="-120"/>
              </a:rPr>
              <a:t>No salen a ninguna herramienta de IA.</a:t>
            </a:r>
            <a:endParaRPr lang="en-US" sz="1150" dirty="0"/>
          </a:p>
        </p:txBody>
      </p:sp>
      <p:sp>
        <p:nvSpPr>
          <p:cNvPr id="22" name="Shape 20"/>
          <p:cNvSpPr/>
          <p:nvPr/>
        </p:nvSpPr>
        <p:spPr>
          <a:xfrm>
            <a:off x="548640" y="6053328"/>
            <a:ext cx="11091672" cy="603504"/>
          </a:xfrm>
          <a:prstGeom prst="rect">
            <a:avLst/>
          </a:prstGeom>
          <a:solidFill>
            <a:srgbClr val="FBEEE5"/>
          </a:solidFill>
          <a:ln/>
        </p:spPr>
      </p:sp>
      <p:sp>
        <p:nvSpPr>
          <p:cNvPr id="23" name="Shape 21"/>
          <p:cNvSpPr/>
          <p:nvPr/>
        </p:nvSpPr>
        <p:spPr>
          <a:xfrm>
            <a:off x="749808" y="6272784"/>
            <a:ext cx="164592" cy="164592"/>
          </a:xfrm>
          <a:prstGeom prst="roundRect">
            <a:avLst>
              <a:gd name="adj" fmla="val 22222"/>
            </a:avLst>
          </a:prstGeom>
          <a:solidFill>
            <a:srgbClr val="CB5E2E"/>
          </a:solidFill>
          <a:ln/>
        </p:spPr>
      </p:sp>
      <p:sp>
        <p:nvSpPr>
          <p:cNvPr id="24" name="Text 22"/>
          <p:cNvSpPr txBox="1"/>
          <p:nvPr/>
        </p:nvSpPr>
        <p:spPr>
          <a:xfrm>
            <a:off x="1051560" y="6053328"/>
            <a:ext cx="10405872" cy="603504"/>
          </a:xfrm>
          <a:prstGeom prst="rect">
            <a:avLst/>
          </a:prstGeom>
          <a:noFill/>
          <a:ln/>
        </p:spPr>
        <p:txBody>
          <a:bodyPr wrap="square" lIns="0" tIns="0" rIns="0" bIns="0" rtlCol="0" anchor="ctr"/>
          <a:lstStyle/>
          <a:p>
            <a:pPr indent="0" marL="0">
              <a:buNone/>
            </a:pPr>
            <a:r>
              <a:rPr lang="en-US" sz="1250" dirty="0">
                <a:solidFill>
                  <a:srgbClr val="8C3E19"/>
                </a:solidFill>
                <a:latin typeface="Calibri" pitchFamily="34" charset="0"/>
                <a:ea typeface="Calibri" pitchFamily="34" charset="-122"/>
                <a:cs typeface="Calibri" pitchFamily="34" charset="-120"/>
              </a:rPr>
              <a:t>Todo el material del curso es verde a propósito: programas, cifras y personas son ficticios. Con expedientes reales, el mismo ejercicio sería amarillo.</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5293B"/>
        </a:solidFill>
      </p:bgPr>
    </p:bg>
    <p:spTree>
      <p:nvGrpSpPr>
        <p:cNvPr id="1" name=""/>
        <p:cNvGrpSpPr/>
        <p:nvPr/>
      </p:nvGrpSpPr>
      <p:grpSpPr>
        <a:xfrm>
          <a:off x="0" y="0"/>
          <a:ext cx="0" cy="0"/>
          <a:chOff x="0" y="0"/>
          <a:chExt cx="0" cy="0"/>
        </a:xfrm>
      </p:grpSpPr>
      <p:sp>
        <p:nvSpPr>
          <p:cNvPr id="2" name="Shape 0"/>
          <p:cNvSpPr/>
          <p:nvPr/>
        </p:nvSpPr>
        <p:spPr>
          <a:xfrm>
            <a:off x="822960" y="2468880"/>
            <a:ext cx="1371600" cy="1371600"/>
          </a:xfrm>
          <a:prstGeom prst="ellipse">
            <a:avLst/>
          </a:prstGeom>
          <a:solidFill>
            <a:srgbClr val="CB5E2E"/>
          </a:solidFill>
          <a:ln/>
        </p:spPr>
      </p:sp>
      <p:sp>
        <p:nvSpPr>
          <p:cNvPr id="3" name="Text 1"/>
          <p:cNvSpPr txBox="1"/>
          <p:nvPr/>
        </p:nvSpPr>
        <p:spPr>
          <a:xfrm>
            <a:off x="822960" y="2468880"/>
            <a:ext cx="1371600" cy="13716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4" name="Text 2"/>
          <p:cNvSpPr txBox="1"/>
          <p:nvPr/>
        </p:nvSpPr>
        <p:spPr>
          <a:xfrm>
            <a:off x="2514600" y="2670048"/>
            <a:ext cx="8961120" cy="411480"/>
          </a:xfrm>
          <a:prstGeom prst="rect">
            <a:avLst/>
          </a:prstGeom>
          <a:noFill/>
          <a:ln/>
        </p:spPr>
        <p:txBody>
          <a:bodyPr wrap="square" lIns="0" tIns="0" rIns="0" bIns="0" rtlCol="0" anchor="ctr"/>
          <a:lstStyle/>
          <a:p>
            <a:pPr indent="0" marL="0">
              <a:buNone/>
            </a:pPr>
            <a:r>
              <a:rPr lang="en-US" sz="1400" b="1" spc="200" kern="0" dirty="0">
                <a:solidFill>
                  <a:srgbClr val="E58A5B"/>
                </a:solidFill>
                <a:latin typeface="Calibri" pitchFamily="34" charset="0"/>
                <a:ea typeface="Calibri" pitchFamily="34" charset="-122"/>
                <a:cs typeface="Calibri" pitchFamily="34" charset="-120"/>
              </a:rPr>
              <a:t>LABORATORIO PRÁCTICO 2</a:t>
            </a:r>
            <a:endParaRPr lang="en-US" sz="1400" dirty="0"/>
          </a:p>
        </p:txBody>
      </p:sp>
      <p:sp>
        <p:nvSpPr>
          <p:cNvPr id="5" name="Text 3"/>
          <p:cNvSpPr txBox="1"/>
          <p:nvPr/>
        </p:nvSpPr>
        <p:spPr>
          <a:xfrm>
            <a:off x="2514600" y="3072384"/>
            <a:ext cx="9052560" cy="118872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Extraer, medir y trazar</a:t>
            </a:r>
            <a:endParaRPr lang="en-US" sz="3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1E2A35"/>
                </a:solidFill>
                <a:latin typeface="Calibri" pitchFamily="34" charset="0"/>
                <a:ea typeface="Calibri" pitchFamily="34" charset="-122"/>
                <a:cs typeface="Calibri" pitchFamily="34" charset="-120"/>
              </a:rPr>
              <a:t>Laboratorio: su turno</a:t>
            </a:r>
            <a:endParaRPr lang="en-US" sz="2900" dirty="0"/>
          </a:p>
        </p:txBody>
      </p:sp>
      <p:sp>
        <p:nvSpPr>
          <p:cNvPr id="3" name="Text 1"/>
          <p:cNvSpPr txBox="1"/>
          <p:nvPr/>
        </p:nvSpPr>
        <p:spPr>
          <a:xfrm>
            <a:off x="548640" y="1042416"/>
            <a:ext cx="11091672" cy="457200"/>
          </a:xfrm>
          <a:prstGeom prst="rect">
            <a:avLst/>
          </a:prstGeom>
          <a:noFill/>
          <a:ln/>
        </p:spPr>
        <p:txBody>
          <a:bodyPr wrap="square" lIns="0" tIns="0" rIns="0" bIns="0" rtlCol="0" anchor="ctr"/>
          <a:lstStyle/>
          <a:p>
            <a:pPr indent="0" marL="0">
              <a:buNone/>
            </a:pPr>
            <a:r>
              <a:rPr lang="en-US" sz="1400" dirty="0">
                <a:solidFill>
                  <a:srgbClr val="60707E"/>
                </a:solidFill>
                <a:latin typeface="Calibri" pitchFamily="34" charset="0"/>
                <a:ea typeface="Calibri" pitchFamily="34" charset="-122"/>
                <a:cs typeface="Calibri" pitchFamily="34" charset="-120"/>
              </a:rPr>
              <a:t>Tres partes cortas, cada una en su hoja del archivo Laboratorio_S06.xlsx. Todo el material es ficticio.</a:t>
            </a:r>
            <a:endParaRPr lang="en-US" sz="1400" dirty="0"/>
          </a:p>
        </p:txBody>
      </p:sp>
      <p:sp>
        <p:nvSpPr>
          <p:cNvPr id="4" name="Shape 2"/>
          <p:cNvSpPr/>
          <p:nvPr/>
        </p:nvSpPr>
        <p:spPr>
          <a:xfrm>
            <a:off x="548640" y="1783080"/>
            <a:ext cx="3502152" cy="2743200"/>
          </a:xfrm>
          <a:prstGeom prst="roundRect">
            <a:avLst>
              <a:gd name="adj" fmla="val 2000"/>
            </a:avLst>
          </a:prstGeom>
          <a:solidFill>
            <a:srgbClr val="FFFFFF"/>
          </a:solidFill>
          <a:ln w="9525">
            <a:solidFill>
              <a:srgbClr val="D5DCE3"/>
            </a:solidFill>
            <a:prstDash val="solid"/>
          </a:ln>
        </p:spPr>
      </p:sp>
      <p:sp>
        <p:nvSpPr>
          <p:cNvPr id="5" name="Shape 3"/>
          <p:cNvSpPr/>
          <p:nvPr/>
        </p:nvSpPr>
        <p:spPr>
          <a:xfrm>
            <a:off x="777240" y="2039112"/>
            <a:ext cx="457200" cy="457200"/>
          </a:xfrm>
          <a:prstGeom prst="ellipse">
            <a:avLst/>
          </a:prstGeom>
          <a:solidFill>
            <a:srgbClr val="CB5E2E"/>
          </a:solidFill>
          <a:ln/>
        </p:spPr>
      </p:sp>
      <p:sp>
        <p:nvSpPr>
          <p:cNvPr id="6" name="Text 4"/>
          <p:cNvSpPr txBox="1"/>
          <p:nvPr/>
        </p:nvSpPr>
        <p:spPr>
          <a:xfrm>
            <a:off x="777240" y="203911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371600" y="2075688"/>
            <a:ext cx="2496312" cy="365760"/>
          </a:xfrm>
          <a:prstGeom prst="rect">
            <a:avLst/>
          </a:prstGeom>
          <a:noFill/>
          <a:ln/>
        </p:spPr>
        <p:txBody>
          <a:bodyPr wrap="square" lIns="0" tIns="0" rIns="0" bIns="0" rtlCol="0" anchor="ctr"/>
          <a:lstStyle/>
          <a:p>
            <a:pPr indent="0" marL="0">
              <a:buNone/>
            </a:pPr>
            <a:r>
              <a:rPr lang="en-US" sz="1200" b="1" dirty="0">
                <a:solidFill>
                  <a:srgbClr val="60707E"/>
                </a:solidFill>
                <a:latin typeface="Calibri" pitchFamily="34" charset="0"/>
                <a:ea typeface="Calibri" pitchFamily="34" charset="-122"/>
                <a:cs typeface="Calibri" pitchFamily="34" charset="-120"/>
              </a:rPr>
              <a:t>15 min</a:t>
            </a:r>
            <a:endParaRPr lang="en-US" sz="1200" dirty="0"/>
          </a:p>
        </p:txBody>
      </p:sp>
      <p:sp>
        <p:nvSpPr>
          <p:cNvPr id="8" name="Text 6"/>
          <p:cNvSpPr txBox="1"/>
          <p:nvPr/>
        </p:nvSpPr>
        <p:spPr>
          <a:xfrm>
            <a:off x="777240" y="2624328"/>
            <a:ext cx="3044952" cy="502920"/>
          </a:xfrm>
          <a:prstGeom prst="rect">
            <a:avLst/>
          </a:prstGeom>
          <a:noFill/>
          <a:ln/>
        </p:spPr>
        <p:txBody>
          <a:bodyPr wrap="square" lIns="0" tIns="0" rIns="0" bIns="0" rtlCol="0" anchor="ctr"/>
          <a:lstStyle/>
          <a:p>
            <a:pPr indent="0" marL="0">
              <a:buNone/>
            </a:pPr>
            <a:r>
              <a:rPr lang="en-US" sz="1500" b="1" dirty="0">
                <a:solidFill>
                  <a:srgbClr val="1E2A35"/>
                </a:solidFill>
                <a:latin typeface="Calibri" pitchFamily="34" charset="0"/>
                <a:ea typeface="Calibri" pitchFamily="34" charset="-122"/>
                <a:cs typeface="Calibri" pitchFamily="34" charset="-120"/>
              </a:rPr>
              <a:t>Precisión y recuperación</a:t>
            </a:r>
            <a:endParaRPr lang="en-US" sz="1500" dirty="0"/>
          </a:p>
        </p:txBody>
      </p:sp>
      <p:sp>
        <p:nvSpPr>
          <p:cNvPr id="9" name="Text 7"/>
          <p:cNvSpPr txBox="1"/>
          <p:nvPr/>
        </p:nvSpPr>
        <p:spPr>
          <a:xfrm>
            <a:off x="777240" y="3154680"/>
            <a:ext cx="3044952" cy="1280160"/>
          </a:xfrm>
          <a:prstGeom prst="rect">
            <a:avLst/>
          </a:prstGeom>
          <a:noFill/>
          <a:ln/>
        </p:spPr>
        <p:txBody>
          <a:bodyPr wrap="square" lIns="0" tIns="0" rIns="0" bIns="0" rtlCol="0" anchor="ctr"/>
          <a:lstStyle/>
          <a:p>
            <a:pPr indent="0" marL="0">
              <a:lnSpc>
                <a:spcPct val="105000"/>
              </a:lnSpc>
              <a:buNone/>
            </a:pPr>
            <a:r>
              <a:rPr lang="en-US" sz="1200" dirty="0">
                <a:solidFill>
                  <a:srgbClr val="1E2A35"/>
                </a:solidFill>
                <a:latin typeface="Calibri" pitchFamily="34" charset="0"/>
                <a:ea typeface="Calibri" pitchFamily="34" charset="-122"/>
                <a:cs typeface="Calibri" pitchFamily="34" charset="-120"/>
              </a:rPr>
              <a:t>Comparen la lista que sacó la IA contra el artículo. Marquen VP, FP y FN, y calculen precisión, recuperación y F1 en la calculadora.</a:t>
            </a:r>
            <a:endParaRPr lang="en-US" sz="1200" dirty="0"/>
          </a:p>
        </p:txBody>
      </p:sp>
      <p:sp>
        <p:nvSpPr>
          <p:cNvPr id="10" name="Shape 8"/>
          <p:cNvSpPr/>
          <p:nvPr/>
        </p:nvSpPr>
        <p:spPr>
          <a:xfrm>
            <a:off x="4343400" y="1783080"/>
            <a:ext cx="3502152" cy="2743200"/>
          </a:xfrm>
          <a:prstGeom prst="roundRect">
            <a:avLst>
              <a:gd name="adj" fmla="val 2000"/>
            </a:avLst>
          </a:prstGeom>
          <a:solidFill>
            <a:srgbClr val="FFFFFF"/>
          </a:solidFill>
          <a:ln w="9525">
            <a:solidFill>
              <a:srgbClr val="D5DCE3"/>
            </a:solidFill>
            <a:prstDash val="solid"/>
          </a:ln>
        </p:spPr>
      </p:sp>
      <p:sp>
        <p:nvSpPr>
          <p:cNvPr id="11" name="Shape 9"/>
          <p:cNvSpPr/>
          <p:nvPr/>
        </p:nvSpPr>
        <p:spPr>
          <a:xfrm>
            <a:off x="4572000" y="2039112"/>
            <a:ext cx="457200" cy="457200"/>
          </a:xfrm>
          <a:prstGeom prst="ellipse">
            <a:avLst/>
          </a:prstGeom>
          <a:solidFill>
            <a:srgbClr val="CB5E2E"/>
          </a:solidFill>
          <a:ln/>
        </p:spPr>
      </p:sp>
      <p:sp>
        <p:nvSpPr>
          <p:cNvPr id="12" name="Text 10"/>
          <p:cNvSpPr txBox="1"/>
          <p:nvPr/>
        </p:nvSpPr>
        <p:spPr>
          <a:xfrm>
            <a:off x="4572000" y="203911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5166360" y="2075688"/>
            <a:ext cx="2496312" cy="365760"/>
          </a:xfrm>
          <a:prstGeom prst="rect">
            <a:avLst/>
          </a:prstGeom>
          <a:noFill/>
          <a:ln/>
        </p:spPr>
        <p:txBody>
          <a:bodyPr wrap="square" lIns="0" tIns="0" rIns="0" bIns="0" rtlCol="0" anchor="ctr"/>
          <a:lstStyle/>
          <a:p>
            <a:pPr indent="0" marL="0">
              <a:buNone/>
            </a:pPr>
            <a:r>
              <a:rPr lang="en-US" sz="1200" b="1" dirty="0">
                <a:solidFill>
                  <a:srgbClr val="60707E"/>
                </a:solidFill>
                <a:latin typeface="Calibri" pitchFamily="34" charset="0"/>
                <a:ea typeface="Calibri" pitchFamily="34" charset="-122"/>
                <a:cs typeface="Calibri" pitchFamily="34" charset="-120"/>
              </a:rPr>
              <a:t>15 min</a:t>
            </a:r>
            <a:endParaRPr lang="en-US" sz="1200" dirty="0"/>
          </a:p>
        </p:txBody>
      </p:sp>
      <p:sp>
        <p:nvSpPr>
          <p:cNvPr id="14" name="Text 12"/>
          <p:cNvSpPr txBox="1"/>
          <p:nvPr/>
        </p:nvSpPr>
        <p:spPr>
          <a:xfrm>
            <a:off x="4572000" y="2624328"/>
            <a:ext cx="3044952" cy="502920"/>
          </a:xfrm>
          <a:prstGeom prst="rect">
            <a:avLst/>
          </a:prstGeom>
          <a:noFill/>
          <a:ln/>
        </p:spPr>
        <p:txBody>
          <a:bodyPr wrap="square" lIns="0" tIns="0" rIns="0" bIns="0" rtlCol="0" anchor="ctr"/>
          <a:lstStyle/>
          <a:p>
            <a:pPr indent="0" marL="0">
              <a:buNone/>
            </a:pPr>
            <a:r>
              <a:rPr lang="en-US" sz="1500" b="1" dirty="0">
                <a:solidFill>
                  <a:srgbClr val="1E2A35"/>
                </a:solidFill>
                <a:latin typeface="Calibri" pitchFamily="34" charset="0"/>
                <a:ea typeface="Calibri" pitchFamily="34" charset="-122"/>
                <a:cs typeface="Calibri" pitchFamily="34" charset="-120"/>
              </a:rPr>
              <a:t>Acuerdo y kappa</a:t>
            </a:r>
            <a:endParaRPr lang="en-US" sz="1500" dirty="0"/>
          </a:p>
        </p:txBody>
      </p:sp>
      <p:sp>
        <p:nvSpPr>
          <p:cNvPr id="15" name="Text 13"/>
          <p:cNvSpPr txBox="1"/>
          <p:nvPr/>
        </p:nvSpPr>
        <p:spPr>
          <a:xfrm>
            <a:off x="4572000" y="3154680"/>
            <a:ext cx="3044952" cy="1280160"/>
          </a:xfrm>
          <a:prstGeom prst="rect">
            <a:avLst/>
          </a:prstGeom>
          <a:noFill/>
          <a:ln/>
        </p:spPr>
        <p:txBody>
          <a:bodyPr wrap="square" lIns="0" tIns="0" rIns="0" bIns="0" rtlCol="0" anchor="ctr"/>
          <a:lstStyle/>
          <a:p>
            <a:pPr indent="0" marL="0">
              <a:lnSpc>
                <a:spcPct val="105000"/>
              </a:lnSpc>
              <a:buNone/>
            </a:pPr>
            <a:r>
              <a:rPr lang="en-US" sz="1200" dirty="0">
                <a:solidFill>
                  <a:srgbClr val="1E2A35"/>
                </a:solidFill>
                <a:latin typeface="Calibri" pitchFamily="34" charset="0"/>
                <a:ea typeface="Calibri" pitchFamily="34" charset="-122"/>
                <a:cs typeface="Calibri" pitchFamily="34" charset="-120"/>
              </a:rPr>
              <a:t>20 comentarios ya clasificados por dos evaluadores. Armen la tabla de contingencia y calculen Po, Pe y kappa. Interprétenlo con la escala.</a:t>
            </a:r>
            <a:endParaRPr lang="en-US" sz="1200" dirty="0"/>
          </a:p>
        </p:txBody>
      </p:sp>
      <p:sp>
        <p:nvSpPr>
          <p:cNvPr id="16" name="Shape 14"/>
          <p:cNvSpPr/>
          <p:nvPr/>
        </p:nvSpPr>
        <p:spPr>
          <a:xfrm>
            <a:off x="8138160" y="1783080"/>
            <a:ext cx="3502152" cy="2743200"/>
          </a:xfrm>
          <a:prstGeom prst="roundRect">
            <a:avLst>
              <a:gd name="adj" fmla="val 2000"/>
            </a:avLst>
          </a:prstGeom>
          <a:solidFill>
            <a:srgbClr val="EEF2F5"/>
          </a:solidFill>
          <a:ln w="9525">
            <a:solidFill>
              <a:srgbClr val="D5DCE3"/>
            </a:solidFill>
            <a:prstDash val="solid"/>
          </a:ln>
        </p:spPr>
      </p:sp>
      <p:sp>
        <p:nvSpPr>
          <p:cNvPr id="17" name="Shape 15"/>
          <p:cNvSpPr/>
          <p:nvPr/>
        </p:nvSpPr>
        <p:spPr>
          <a:xfrm>
            <a:off x="8366760" y="2039112"/>
            <a:ext cx="457200" cy="457200"/>
          </a:xfrm>
          <a:prstGeom prst="ellipse">
            <a:avLst/>
          </a:prstGeom>
          <a:solidFill>
            <a:srgbClr val="CB5E2E"/>
          </a:solidFill>
          <a:ln/>
        </p:spPr>
      </p:sp>
      <p:sp>
        <p:nvSpPr>
          <p:cNvPr id="18" name="Text 16"/>
          <p:cNvSpPr txBox="1"/>
          <p:nvPr/>
        </p:nvSpPr>
        <p:spPr>
          <a:xfrm>
            <a:off x="8366760" y="203911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txBox="1"/>
          <p:nvPr/>
        </p:nvSpPr>
        <p:spPr>
          <a:xfrm>
            <a:off x="8961120" y="2075688"/>
            <a:ext cx="2496312" cy="365760"/>
          </a:xfrm>
          <a:prstGeom prst="rect">
            <a:avLst/>
          </a:prstGeom>
          <a:noFill/>
          <a:ln/>
        </p:spPr>
        <p:txBody>
          <a:bodyPr wrap="square" lIns="0" tIns="0" rIns="0" bIns="0" rtlCol="0" anchor="ctr"/>
          <a:lstStyle/>
          <a:p>
            <a:pPr indent="0" marL="0">
              <a:buNone/>
            </a:pPr>
            <a:r>
              <a:rPr lang="en-US" sz="1200" b="1" dirty="0">
                <a:solidFill>
                  <a:srgbClr val="60707E"/>
                </a:solidFill>
                <a:latin typeface="Calibri" pitchFamily="34" charset="0"/>
                <a:ea typeface="Calibri" pitchFamily="34" charset="-122"/>
                <a:cs typeface="Calibri" pitchFamily="34" charset="-120"/>
              </a:rPr>
              <a:t>10 min</a:t>
            </a:r>
            <a:endParaRPr lang="en-US" sz="1200" dirty="0"/>
          </a:p>
        </p:txBody>
      </p:sp>
      <p:sp>
        <p:nvSpPr>
          <p:cNvPr id="20" name="Text 18"/>
          <p:cNvSpPr txBox="1"/>
          <p:nvPr/>
        </p:nvSpPr>
        <p:spPr>
          <a:xfrm>
            <a:off x="8366760" y="2624328"/>
            <a:ext cx="3044952" cy="502920"/>
          </a:xfrm>
          <a:prstGeom prst="rect">
            <a:avLst/>
          </a:prstGeom>
          <a:noFill/>
          <a:ln/>
        </p:spPr>
        <p:txBody>
          <a:bodyPr wrap="square" lIns="0" tIns="0" rIns="0" bIns="0" rtlCol="0" anchor="ctr"/>
          <a:lstStyle/>
          <a:p>
            <a:pPr indent="0" marL="0">
              <a:buNone/>
            </a:pPr>
            <a:r>
              <a:rPr lang="en-US" sz="1500" b="1" dirty="0">
                <a:solidFill>
                  <a:srgbClr val="1E2A35"/>
                </a:solidFill>
                <a:latin typeface="Calibri" pitchFamily="34" charset="0"/>
                <a:ea typeface="Calibri" pitchFamily="34" charset="-122"/>
                <a:cs typeface="Calibri" pitchFamily="34" charset="-120"/>
              </a:rPr>
              <a:t>Matriz de evidencia</a:t>
            </a:r>
            <a:endParaRPr lang="en-US" sz="1500" dirty="0"/>
          </a:p>
        </p:txBody>
      </p:sp>
      <p:sp>
        <p:nvSpPr>
          <p:cNvPr id="21" name="Text 19"/>
          <p:cNvSpPr txBox="1"/>
          <p:nvPr/>
        </p:nvSpPr>
        <p:spPr>
          <a:xfrm>
            <a:off x="8366760" y="3154680"/>
            <a:ext cx="3044952" cy="1280160"/>
          </a:xfrm>
          <a:prstGeom prst="rect">
            <a:avLst/>
          </a:prstGeom>
          <a:noFill/>
          <a:ln/>
        </p:spPr>
        <p:txBody>
          <a:bodyPr wrap="square" lIns="0" tIns="0" rIns="0" bIns="0" rtlCol="0" anchor="ctr"/>
          <a:lstStyle/>
          <a:p>
            <a:pPr indent="0" marL="0">
              <a:lnSpc>
                <a:spcPct val="105000"/>
              </a:lnSpc>
              <a:buNone/>
            </a:pPr>
            <a:r>
              <a:rPr lang="en-US" sz="1200" dirty="0">
                <a:solidFill>
                  <a:srgbClr val="1E2A35"/>
                </a:solidFill>
                <a:latin typeface="Calibri" pitchFamily="34" charset="0"/>
                <a:ea typeface="Calibri" pitchFamily="34" charset="-122"/>
                <a:cs typeface="Calibri" pitchFamily="34" charset="-120"/>
              </a:rPr>
              <a:t>Tomen 3 afirmaciones que sacó la IA y llenen su fila: cita textual, ubicación, quién verificó y nivel de confianza.</a:t>
            </a:r>
            <a:endParaRPr lang="en-US" sz="1200" dirty="0"/>
          </a:p>
        </p:txBody>
      </p:sp>
      <p:sp>
        <p:nvSpPr>
          <p:cNvPr id="22" name="Shape 20"/>
          <p:cNvSpPr/>
          <p:nvPr/>
        </p:nvSpPr>
        <p:spPr>
          <a:xfrm>
            <a:off x="548640" y="4754880"/>
            <a:ext cx="11091672" cy="960120"/>
          </a:xfrm>
          <a:prstGeom prst="roundRect">
            <a:avLst>
              <a:gd name="adj" fmla="val 5714"/>
            </a:avLst>
          </a:prstGeom>
          <a:solidFill>
            <a:srgbClr val="15293B"/>
          </a:solidFill>
          <a:ln/>
        </p:spPr>
      </p:sp>
      <p:sp>
        <p:nvSpPr>
          <p:cNvPr id="23" name="Text 21"/>
          <p:cNvSpPr txBox="1"/>
          <p:nvPr/>
        </p:nvSpPr>
        <p:spPr>
          <a:xfrm>
            <a:off x="868680" y="4901184"/>
            <a:ext cx="2743200" cy="320040"/>
          </a:xfrm>
          <a:prstGeom prst="rect">
            <a:avLst/>
          </a:prstGeom>
          <a:noFill/>
          <a:ln/>
        </p:spPr>
        <p:txBody>
          <a:bodyPr wrap="square" lIns="0" tIns="0" rIns="0" bIns="0" rtlCol="0" anchor="ctr"/>
          <a:lstStyle/>
          <a:p>
            <a:pPr indent="0" marL="0">
              <a:buNone/>
            </a:pPr>
            <a:r>
              <a:rPr lang="en-US" sz="1300" b="1" spc="100" kern="0" dirty="0">
                <a:solidFill>
                  <a:srgbClr val="E58A5B"/>
                </a:solidFill>
                <a:latin typeface="Calibri" pitchFamily="34" charset="0"/>
                <a:ea typeface="Calibri" pitchFamily="34" charset="-122"/>
                <a:cs typeface="Calibri" pitchFamily="34" charset="-120"/>
              </a:rPr>
              <a:t>LA REGLA DURA</a:t>
            </a:r>
            <a:endParaRPr lang="en-US" sz="1300" dirty="0"/>
          </a:p>
        </p:txBody>
      </p:sp>
      <p:sp>
        <p:nvSpPr>
          <p:cNvPr id="24" name="Text 22"/>
          <p:cNvSpPr txBox="1"/>
          <p:nvPr/>
        </p:nvSpPr>
        <p:spPr>
          <a:xfrm>
            <a:off x="868680" y="5212080"/>
            <a:ext cx="10451592" cy="457200"/>
          </a:xfrm>
          <a:prstGeom prst="rect">
            <a:avLst/>
          </a:prstGeom>
          <a:noFill/>
          <a:ln/>
        </p:spPr>
        <p:txBody>
          <a:bodyPr wrap="square" lIns="0" tIns="0" rIns="0" bIns="0" rtlCol="0" anchor="ctr"/>
          <a:lstStyle/>
          <a:p>
            <a:pPr indent="0" marL="0">
              <a:lnSpc>
                <a:spcPct val="100000"/>
              </a:lnSpc>
              <a:buNone/>
            </a:pPr>
            <a:r>
              <a:rPr lang="en-US" sz="1300" dirty="0">
                <a:solidFill>
                  <a:srgbClr val="E4EAF0"/>
                </a:solidFill>
                <a:latin typeface="Calibri" pitchFamily="34" charset="0"/>
                <a:ea typeface="Calibri" pitchFamily="34" charset="-122"/>
                <a:cs typeface="Calibri" pitchFamily="34" charset="-120"/>
              </a:rPr>
              <a:t>Ninguna fila de su matriz puede afirmar algo que la cita no diga. Si le parece evidente y no lo puede trazar, no entra, o entra como hipótesis con confianza baja.</a:t>
            </a:r>
            <a:endParaRPr lang="en-US" sz="1300" dirty="0"/>
          </a:p>
        </p:txBody>
      </p:sp>
      <p:sp>
        <p:nvSpPr>
          <p:cNvPr id="25" name="Text 23"/>
          <p:cNvSpPr txBox="1"/>
          <p:nvPr/>
        </p:nvSpPr>
        <p:spPr>
          <a:xfrm>
            <a:off x="548640" y="5989320"/>
            <a:ext cx="11091672" cy="292608"/>
          </a:xfrm>
          <a:prstGeom prst="rect">
            <a:avLst/>
          </a:prstGeom>
          <a:noFill/>
          <a:ln/>
        </p:spPr>
        <p:txBody>
          <a:bodyPr wrap="square" lIns="0" tIns="0" rIns="0" bIns="0" rtlCol="0" anchor="ctr"/>
          <a:lstStyle/>
          <a:p>
            <a:pPr indent="0" marL="0">
              <a:buNone/>
            </a:pPr>
            <a:r>
              <a:rPr lang="en-US" sz="900" i="1" dirty="0">
                <a:solidFill>
                  <a:srgbClr val="60707E"/>
                </a:solidFill>
                <a:latin typeface="Calibri" pitchFamily="34" charset="0"/>
                <a:ea typeface="Calibri" pitchFamily="34" charset="-122"/>
                <a:cs typeface="Calibri" pitchFamily="34" charset="-120"/>
              </a:rPr>
              <a:t>Archivos: Laboratorio_S06.xlsx (hojas P1, P2 y Matriz de evidencia). Quien programa puede usar el notebook Laboratorio_S06.ipynb y comprobar que los números coinciden.</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1E2A35"/>
                </a:solidFill>
                <a:latin typeface="Calibri" pitchFamily="34" charset="0"/>
                <a:ea typeface="Calibri" pitchFamily="34" charset="-122"/>
                <a:cs typeface="Calibri" pitchFamily="34" charset="-120"/>
              </a:rPr>
              <a:t>Qué se llevan y qué entregan</a:t>
            </a:r>
            <a:endParaRPr lang="en-US" sz="2900" dirty="0"/>
          </a:p>
        </p:txBody>
      </p:sp>
      <p:sp>
        <p:nvSpPr>
          <p:cNvPr id="3" name="Text 1"/>
          <p:cNvSpPr txBox="1"/>
          <p:nvPr/>
        </p:nvSpPr>
        <p:spPr>
          <a:xfrm>
            <a:off x="548640" y="1042416"/>
            <a:ext cx="11091672" cy="457200"/>
          </a:xfrm>
          <a:prstGeom prst="rect">
            <a:avLst/>
          </a:prstGeom>
          <a:noFill/>
          <a:ln/>
        </p:spPr>
        <p:txBody>
          <a:bodyPr wrap="square" lIns="0" tIns="0" rIns="0" bIns="0" rtlCol="0" anchor="ctr"/>
          <a:lstStyle/>
          <a:p>
            <a:pPr indent="0" marL="0">
              <a:buNone/>
            </a:pPr>
            <a:r>
              <a:rPr lang="en-US" sz="1400" dirty="0">
                <a:solidFill>
                  <a:srgbClr val="60707E"/>
                </a:solidFill>
                <a:latin typeface="Calibri" pitchFamily="34" charset="0"/>
                <a:ea typeface="Calibri" pitchFamily="34" charset="-122"/>
                <a:cs typeface="Calibri" pitchFamily="34" charset="-120"/>
              </a:rPr>
              <a:t>Cierre del bloque cualitativo y puente al Módulo III.</a:t>
            </a:r>
            <a:endParaRPr lang="en-US" sz="1400" dirty="0"/>
          </a:p>
        </p:txBody>
      </p:sp>
      <p:sp>
        <p:nvSpPr>
          <p:cNvPr id="4" name="Shape 2"/>
          <p:cNvSpPr/>
          <p:nvPr/>
        </p:nvSpPr>
        <p:spPr>
          <a:xfrm>
            <a:off x="548640" y="1874520"/>
            <a:ext cx="5394960" cy="2286000"/>
          </a:xfrm>
          <a:prstGeom prst="roundRect">
            <a:avLst>
              <a:gd name="adj" fmla="val 2400"/>
            </a:avLst>
          </a:prstGeom>
          <a:solidFill>
            <a:srgbClr val="EEF2F5"/>
          </a:solidFill>
          <a:ln w="9525">
            <a:solidFill>
              <a:srgbClr val="D5DCE3"/>
            </a:solidFill>
            <a:prstDash val="solid"/>
          </a:ln>
        </p:spPr>
      </p:sp>
      <p:sp>
        <p:nvSpPr>
          <p:cNvPr id="5" name="Text 3"/>
          <p:cNvSpPr txBox="1"/>
          <p:nvPr/>
        </p:nvSpPr>
        <p:spPr>
          <a:xfrm>
            <a:off x="822960" y="2057400"/>
            <a:ext cx="4846320" cy="365760"/>
          </a:xfrm>
          <a:prstGeom prst="rect">
            <a:avLst/>
          </a:prstGeom>
          <a:noFill/>
          <a:ln/>
        </p:spPr>
        <p:txBody>
          <a:bodyPr wrap="square" lIns="0" tIns="0" rIns="0" bIns="0" rtlCol="0" anchor="ctr"/>
          <a:lstStyle/>
          <a:p>
            <a:pPr indent="0" marL="0">
              <a:buNone/>
            </a:pPr>
            <a:r>
              <a:rPr lang="en-US" sz="1500" b="1" dirty="0">
                <a:solidFill>
                  <a:srgbClr val="CB5E2E"/>
                </a:solidFill>
                <a:latin typeface="Calibri" pitchFamily="34" charset="0"/>
                <a:ea typeface="Calibri" pitchFamily="34" charset="-122"/>
                <a:cs typeface="Calibri" pitchFamily="34" charset="-120"/>
              </a:rPr>
              <a:t>Las tres ideas del día</a:t>
            </a:r>
            <a:endParaRPr lang="en-US" sz="1500" dirty="0"/>
          </a:p>
        </p:txBody>
      </p:sp>
      <p:sp>
        <p:nvSpPr>
          <p:cNvPr id="6" name="Text 4"/>
          <p:cNvSpPr txBox="1"/>
          <p:nvPr/>
        </p:nvSpPr>
        <p:spPr>
          <a:xfrm>
            <a:off x="822960" y="2468880"/>
            <a:ext cx="4846320" cy="1554480"/>
          </a:xfrm>
          <a:prstGeom prst="rect">
            <a:avLst/>
          </a:prstGeom>
          <a:noFill/>
          <a:ln/>
        </p:spPr>
        <p:txBody>
          <a:bodyPr wrap="square" lIns="0" tIns="0" rIns="0" bIns="0" rtlCol="0" anchor="ctr"/>
          <a:lstStyle/>
          <a:p>
            <a:pPr marL="342900" indent="-342900">
              <a:lnSpc>
                <a:spcPct val="100000"/>
              </a:lnSpc>
              <a:spcAft>
                <a:spcPts val="800"/>
              </a:spcAft>
              <a:buSzPct val="100000"/>
              <a:buChar char="•"/>
            </a:pPr>
            <a:r>
              <a:rPr lang="en-US" sz="1300" dirty="0">
                <a:solidFill>
                  <a:srgbClr val="1E2A35"/>
                </a:solidFill>
                <a:latin typeface="Calibri" pitchFamily="34" charset="0"/>
                <a:ea typeface="Calibri" pitchFamily="34" charset="-122"/>
                <a:cs typeface="Calibri" pitchFamily="34" charset="-120"/>
              </a:rPr>
              <a:t>La IA entrega candidatos, no verdades: la decisión es suya.</a:t>
            </a:r>
            <a:endParaRPr lang="en-US" sz="1300" dirty="0"/>
          </a:p>
          <a:p>
            <a:pPr marL="342900" indent="-342900">
              <a:lnSpc>
                <a:spcPct val="100000"/>
              </a:lnSpc>
              <a:spcAft>
                <a:spcPts val="800"/>
              </a:spcAft>
              <a:buSzPct val="100000"/>
              <a:buChar char="•"/>
            </a:pPr>
            <a:r>
              <a:rPr lang="en-US" sz="1300" dirty="0">
                <a:solidFill>
                  <a:srgbClr val="1E2A35"/>
                </a:solidFill>
                <a:latin typeface="Calibri" pitchFamily="34" charset="0"/>
                <a:ea typeface="Calibri" pitchFamily="34" charset="-122"/>
                <a:cs typeface="Calibri" pitchFamily="34" charset="-120"/>
              </a:rPr>
              <a:t>Con respuesta correcta se mide con precisión y recuperación; sin ella, con kappa.</a:t>
            </a:r>
            <a:endParaRPr lang="en-US" sz="1300" dirty="0"/>
          </a:p>
          <a:p>
            <a:pPr marL="342900" indent="-342900">
              <a:lnSpc>
                <a:spcPct val="100000"/>
              </a:lnSpc>
              <a:spcAft>
                <a:spcPts val="800"/>
              </a:spcAft>
              <a:buSzPct val="100000"/>
              <a:buChar char="•"/>
            </a:pPr>
            <a:r>
              <a:rPr lang="en-US" sz="1300" dirty="0">
                <a:solidFill>
                  <a:srgbClr val="1E2A35"/>
                </a:solidFill>
                <a:latin typeface="Calibri" pitchFamily="34" charset="0"/>
                <a:ea typeface="Calibri" pitchFamily="34" charset="-122"/>
                <a:cs typeface="Calibri" pitchFamily="34" charset="-120"/>
              </a:rPr>
              <a:t>El porcentaje de acuerdo engaña; kappa descuenta el azar.</a:t>
            </a:r>
            <a:endParaRPr lang="en-US" sz="1300" dirty="0"/>
          </a:p>
        </p:txBody>
      </p:sp>
      <p:sp>
        <p:nvSpPr>
          <p:cNvPr id="7" name="Shape 5"/>
          <p:cNvSpPr/>
          <p:nvPr/>
        </p:nvSpPr>
        <p:spPr>
          <a:xfrm>
            <a:off x="6245352" y="1874520"/>
            <a:ext cx="5394960" cy="2286000"/>
          </a:xfrm>
          <a:prstGeom prst="roundRect">
            <a:avLst>
              <a:gd name="adj" fmla="val 2400"/>
            </a:avLst>
          </a:prstGeom>
          <a:solidFill>
            <a:srgbClr val="FFFFFF"/>
          </a:solidFill>
          <a:ln w="9525">
            <a:solidFill>
              <a:srgbClr val="D5DCE3"/>
            </a:solidFill>
            <a:prstDash val="solid"/>
          </a:ln>
        </p:spPr>
      </p:sp>
      <p:sp>
        <p:nvSpPr>
          <p:cNvPr id="8" name="Text 6"/>
          <p:cNvSpPr txBox="1"/>
          <p:nvPr/>
        </p:nvSpPr>
        <p:spPr>
          <a:xfrm>
            <a:off x="6519672" y="2057400"/>
            <a:ext cx="4846320" cy="365760"/>
          </a:xfrm>
          <a:prstGeom prst="rect">
            <a:avLst/>
          </a:prstGeom>
          <a:noFill/>
          <a:ln/>
        </p:spPr>
        <p:txBody>
          <a:bodyPr wrap="square" lIns="0" tIns="0" rIns="0" bIns="0" rtlCol="0" anchor="ctr"/>
          <a:lstStyle/>
          <a:p>
            <a:pPr indent="0" marL="0">
              <a:buNone/>
            </a:pPr>
            <a:r>
              <a:rPr lang="en-US" sz="1500" b="1" dirty="0">
                <a:solidFill>
                  <a:srgbClr val="CB5E2E"/>
                </a:solidFill>
                <a:latin typeface="Calibri" pitchFamily="34" charset="0"/>
                <a:ea typeface="Calibri" pitchFamily="34" charset="-122"/>
                <a:cs typeface="Calibri" pitchFamily="34" charset="-120"/>
              </a:rPr>
              <a:t>Entregables de la sesión</a:t>
            </a:r>
            <a:endParaRPr lang="en-US" sz="1500" dirty="0"/>
          </a:p>
        </p:txBody>
      </p:sp>
      <p:sp>
        <p:nvSpPr>
          <p:cNvPr id="9" name="Text 7"/>
          <p:cNvSpPr txBox="1"/>
          <p:nvPr/>
        </p:nvSpPr>
        <p:spPr>
          <a:xfrm>
            <a:off x="6519672" y="2468880"/>
            <a:ext cx="4846320" cy="1554480"/>
          </a:xfrm>
          <a:prstGeom prst="rect">
            <a:avLst/>
          </a:prstGeom>
          <a:noFill/>
          <a:ln/>
        </p:spPr>
        <p:txBody>
          <a:bodyPr wrap="square" lIns="0" tIns="0" rIns="0" bIns="0" rtlCol="0" anchor="ctr"/>
          <a:lstStyle/>
          <a:p>
            <a:pPr marL="342900" indent="-342900">
              <a:lnSpc>
                <a:spcPct val="100000"/>
              </a:lnSpc>
              <a:spcAft>
                <a:spcPts val="800"/>
              </a:spcAft>
              <a:buSzPct val="100000"/>
              <a:buChar char="•"/>
            </a:pPr>
            <a:r>
              <a:rPr lang="en-US" sz="1300" dirty="0">
                <a:solidFill>
                  <a:srgbClr val="1E2A35"/>
                </a:solidFill>
                <a:latin typeface="Calibri" pitchFamily="34" charset="0"/>
                <a:ea typeface="Calibri" pitchFamily="34" charset="-122"/>
                <a:cs typeface="Calibri" pitchFamily="34" charset="-120"/>
              </a:rPr>
              <a:t>La matriz de evidencia con sus filas trazadas y el nivel de confianza.</a:t>
            </a:r>
            <a:endParaRPr lang="en-US" sz="1300" dirty="0"/>
          </a:p>
          <a:p>
            <a:pPr marL="342900" indent="-342900">
              <a:lnSpc>
                <a:spcPct val="100000"/>
              </a:lnSpc>
              <a:spcAft>
                <a:spcPts val="800"/>
              </a:spcAft>
              <a:buSzPct val="100000"/>
              <a:buChar char="•"/>
            </a:pPr>
            <a:r>
              <a:rPr lang="en-US" sz="1300" dirty="0">
                <a:solidFill>
                  <a:srgbClr val="1E2A35"/>
                </a:solidFill>
                <a:latin typeface="Calibri" pitchFamily="34" charset="0"/>
                <a:ea typeface="Calibri" pitchFamily="34" charset="-122"/>
                <a:cs typeface="Calibri" pitchFamily="34" charset="-120"/>
              </a:rPr>
              <a:t>Los dos números de la medición: F1 de la extracción y kappa del acuerdo.</a:t>
            </a:r>
            <a:endParaRPr lang="en-US" sz="1300" dirty="0"/>
          </a:p>
          <a:p>
            <a:pPr marL="342900" indent="-342900">
              <a:lnSpc>
                <a:spcPct val="100000"/>
              </a:lnSpc>
              <a:spcAft>
                <a:spcPts val="800"/>
              </a:spcAft>
              <a:buSzPct val="100000"/>
              <a:buChar char="•"/>
            </a:pPr>
            <a:r>
              <a:rPr lang="en-US" sz="1300" dirty="0">
                <a:solidFill>
                  <a:srgbClr val="1E2A35"/>
                </a:solidFill>
                <a:latin typeface="Calibri" pitchFamily="34" charset="0"/>
                <a:ea typeface="Calibri" pitchFamily="34" charset="-122"/>
                <a:cs typeface="Calibri" pitchFamily="34" charset="-120"/>
              </a:rPr>
              <a:t>Su definición en una línea de confianza alta, media y baja.</a:t>
            </a:r>
            <a:endParaRPr lang="en-US" sz="1300" dirty="0"/>
          </a:p>
        </p:txBody>
      </p:sp>
      <p:sp>
        <p:nvSpPr>
          <p:cNvPr id="10" name="Shape 8"/>
          <p:cNvSpPr/>
          <p:nvPr/>
        </p:nvSpPr>
        <p:spPr>
          <a:xfrm>
            <a:off x="548640" y="4434840"/>
            <a:ext cx="11091672" cy="1371600"/>
          </a:xfrm>
          <a:prstGeom prst="roundRect">
            <a:avLst>
              <a:gd name="adj" fmla="val 4000"/>
            </a:avLst>
          </a:prstGeom>
          <a:solidFill>
            <a:srgbClr val="15293B"/>
          </a:solidFill>
          <a:ln/>
        </p:spPr>
      </p:sp>
      <p:sp>
        <p:nvSpPr>
          <p:cNvPr id="11" name="Text 9"/>
          <p:cNvSpPr txBox="1"/>
          <p:nvPr/>
        </p:nvSpPr>
        <p:spPr>
          <a:xfrm>
            <a:off x="868680" y="4599432"/>
            <a:ext cx="10451592" cy="365760"/>
          </a:xfrm>
          <a:prstGeom prst="rect">
            <a:avLst/>
          </a:prstGeom>
          <a:noFill/>
          <a:ln/>
        </p:spPr>
        <p:txBody>
          <a:bodyPr wrap="square" lIns="0" tIns="0" rIns="0" bIns="0" rtlCol="0" anchor="ctr"/>
          <a:lstStyle/>
          <a:p>
            <a:pPr indent="0" marL="0">
              <a:buNone/>
            </a:pPr>
            <a:r>
              <a:rPr lang="en-US" sz="1600" b="1" dirty="0">
                <a:solidFill>
                  <a:srgbClr val="E58A5B"/>
                </a:solidFill>
                <a:latin typeface="Calibri" pitchFamily="34" charset="0"/>
                <a:ea typeface="Calibri" pitchFamily="34" charset="-122"/>
                <a:cs typeface="Calibri" pitchFamily="34" charset="-120"/>
              </a:rPr>
              <a:t>El límite que abre el Módulo III</a:t>
            </a:r>
            <a:endParaRPr lang="en-US" sz="1600" dirty="0"/>
          </a:p>
        </p:txBody>
      </p:sp>
      <p:sp>
        <p:nvSpPr>
          <p:cNvPr id="12" name="Text 10"/>
          <p:cNvSpPr txBox="1"/>
          <p:nvPr/>
        </p:nvSpPr>
        <p:spPr>
          <a:xfrm>
            <a:off x="868680" y="4983480"/>
            <a:ext cx="10451592" cy="777240"/>
          </a:xfrm>
          <a:prstGeom prst="rect">
            <a:avLst/>
          </a:prstGeom>
          <a:noFill/>
          <a:ln/>
        </p:spPr>
        <p:txBody>
          <a:bodyPr wrap="square" lIns="0" tIns="0" rIns="0" bIns="0" rtlCol="0" anchor="ctr"/>
          <a:lstStyle/>
          <a:p>
            <a:pPr indent="0" marL="0">
              <a:lnSpc>
                <a:spcPct val="105000"/>
              </a:lnSpc>
              <a:buNone/>
            </a:pPr>
            <a:r>
              <a:rPr lang="en-US" sz="1350" dirty="0">
                <a:solidFill>
                  <a:srgbClr val="E4EAF0"/>
                </a:solidFill>
                <a:latin typeface="Calibri" pitchFamily="34" charset="0"/>
                <a:ea typeface="Calibri" pitchFamily="34" charset="-122"/>
                <a:cs typeface="Calibri" pitchFamily="34" charset="-120"/>
              </a:rPr>
              <a:t>Todo esto fue sobre texto. Calcular kappa a mano sobre 20 comentarios les tomó minutos; sobre miles de registros, eso es una línea de código. Ahí empieza el análisis cuantitativo y los entornos reproducibles.</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40080"/>
          </a:xfrm>
          <a:prstGeom prst="rect">
            <a:avLst/>
          </a:prstGeom>
          <a:noFill/>
          <a:ln/>
        </p:spPr>
        <p:txBody>
          <a:bodyPr wrap="square" lIns="0" tIns="0" rIns="0" bIns="0" rtlCol="0" anchor="ctr"/>
          <a:lstStyle/>
          <a:p>
            <a:pPr indent="0" marL="0">
              <a:buNone/>
            </a:pPr>
            <a:r>
              <a:rPr lang="en-US" sz="2900" b="1" dirty="0">
                <a:solidFill>
                  <a:srgbClr val="1E2A35"/>
                </a:solidFill>
                <a:latin typeface="Calibri" pitchFamily="34" charset="0"/>
                <a:ea typeface="Calibri" pitchFamily="34" charset="-122"/>
                <a:cs typeface="Calibri" pitchFamily="34" charset="-120"/>
              </a:rPr>
              <a:t>Fuentes</a:t>
            </a:r>
            <a:endParaRPr lang="en-US" sz="2900" dirty="0"/>
          </a:p>
        </p:txBody>
      </p:sp>
      <p:sp>
        <p:nvSpPr>
          <p:cNvPr id="3" name="Text 1"/>
          <p:cNvSpPr txBox="1"/>
          <p:nvPr/>
        </p:nvSpPr>
        <p:spPr>
          <a:xfrm>
            <a:off x="548640" y="1042416"/>
            <a:ext cx="11091672" cy="457200"/>
          </a:xfrm>
          <a:prstGeom prst="rect">
            <a:avLst/>
          </a:prstGeom>
          <a:noFill/>
          <a:ln/>
        </p:spPr>
        <p:txBody>
          <a:bodyPr wrap="square" lIns="0" tIns="0" rIns="0" bIns="0" rtlCol="0" anchor="ctr"/>
          <a:lstStyle/>
          <a:p>
            <a:pPr indent="0" marL="0">
              <a:buNone/>
            </a:pPr>
            <a:r>
              <a:rPr lang="en-US" sz="1400" dirty="0">
                <a:solidFill>
                  <a:srgbClr val="60707E"/>
                </a:solidFill>
                <a:latin typeface="Calibri" pitchFamily="34" charset="0"/>
                <a:ea typeface="Calibri" pitchFamily="34" charset="-122"/>
                <a:cs typeface="Calibri" pitchFamily="34" charset="-120"/>
              </a:rPr>
              <a:t>Para quien quiera ir al origen de cada medida.</a:t>
            </a:r>
            <a:endParaRPr lang="en-US" sz="1400" dirty="0"/>
          </a:p>
        </p:txBody>
      </p:sp>
      <p:sp>
        <p:nvSpPr>
          <p:cNvPr id="4" name="Text 2"/>
          <p:cNvSpPr txBox="1"/>
          <p:nvPr/>
        </p:nvSpPr>
        <p:spPr>
          <a:xfrm>
            <a:off x="548640" y="1783080"/>
            <a:ext cx="5212080" cy="365760"/>
          </a:xfrm>
          <a:prstGeom prst="rect">
            <a:avLst/>
          </a:prstGeom>
          <a:noFill/>
          <a:ln/>
        </p:spPr>
        <p:txBody>
          <a:bodyPr wrap="square" lIns="0" tIns="0" rIns="0" bIns="0" rtlCol="0" anchor="ctr"/>
          <a:lstStyle/>
          <a:p>
            <a:pPr indent="0" marL="0">
              <a:buNone/>
            </a:pPr>
            <a:r>
              <a:rPr lang="en-US" sz="1250" b="1" spc="100" kern="0" dirty="0">
                <a:solidFill>
                  <a:srgbClr val="CB5E2E"/>
                </a:solidFill>
                <a:latin typeface="Calibri" pitchFamily="34" charset="0"/>
                <a:ea typeface="Calibri" pitchFamily="34" charset="-122"/>
                <a:cs typeface="Calibri" pitchFamily="34" charset="-120"/>
              </a:rPr>
              <a:t>EXTRACCIÓN: PRECISIÓN Y RECUPERACIÓN</a:t>
            </a:r>
            <a:endParaRPr lang="en-US" sz="1250" dirty="0"/>
          </a:p>
        </p:txBody>
      </p:sp>
      <p:sp>
        <p:nvSpPr>
          <p:cNvPr id="5" name="Text 3"/>
          <p:cNvSpPr txBox="1"/>
          <p:nvPr/>
        </p:nvSpPr>
        <p:spPr>
          <a:xfrm>
            <a:off x="548640" y="2240280"/>
            <a:ext cx="5212080" cy="640080"/>
          </a:xfrm>
          <a:prstGeom prst="rect">
            <a:avLst/>
          </a:prstGeom>
          <a:noFill/>
          <a:ln/>
        </p:spPr>
        <p:txBody>
          <a:bodyPr wrap="square" lIns="0" tIns="0" rIns="0" bIns="0" rtlCol="0" anchor="ctr"/>
          <a:lstStyle/>
          <a:p>
            <a:pPr indent="0" marL="0">
              <a:lnSpc>
                <a:spcPct val="100000"/>
              </a:lnSpc>
              <a:buNone/>
            </a:pPr>
            <a:r>
              <a:rPr lang="en-US" sz="1150" dirty="0">
                <a:solidFill>
                  <a:srgbClr val="1E2A35"/>
                </a:solidFill>
                <a:latin typeface="Calibri" pitchFamily="34" charset="0"/>
                <a:ea typeface="Calibri" pitchFamily="34" charset="-122"/>
                <a:cs typeface="Calibri" pitchFamily="34" charset="-120"/>
              </a:rPr>
              <a:t>van Rijsbergen (1979). Information Retrieval, 2a ed., cap. 7. Origen de la familia Fβ.</a:t>
            </a:r>
            <a:endParaRPr lang="en-US" sz="1150" dirty="0"/>
          </a:p>
        </p:txBody>
      </p:sp>
      <p:sp>
        <p:nvSpPr>
          <p:cNvPr id="6" name="Text 4"/>
          <p:cNvSpPr txBox="1"/>
          <p:nvPr/>
        </p:nvSpPr>
        <p:spPr>
          <a:xfrm>
            <a:off x="548640" y="2898648"/>
            <a:ext cx="5212080" cy="640080"/>
          </a:xfrm>
          <a:prstGeom prst="rect">
            <a:avLst/>
          </a:prstGeom>
          <a:noFill/>
          <a:ln/>
        </p:spPr>
        <p:txBody>
          <a:bodyPr wrap="square" lIns="0" tIns="0" rIns="0" bIns="0" rtlCol="0" anchor="ctr"/>
          <a:lstStyle/>
          <a:p>
            <a:pPr indent="0" marL="0">
              <a:lnSpc>
                <a:spcPct val="100000"/>
              </a:lnSpc>
              <a:buNone/>
            </a:pPr>
            <a:r>
              <a:rPr lang="en-US" sz="1150" dirty="0">
                <a:solidFill>
                  <a:srgbClr val="1E2A35"/>
                </a:solidFill>
                <a:latin typeface="Calibri" pitchFamily="34" charset="0"/>
                <a:ea typeface="Calibri" pitchFamily="34" charset="-122"/>
                <a:cs typeface="Calibri" pitchFamily="34" charset="-120"/>
              </a:rPr>
              <a:t>Manning, Raghavan y Schütze (2008). Introduction to Information Retrieval, §8.3.</a:t>
            </a:r>
            <a:endParaRPr lang="en-US" sz="1150" dirty="0"/>
          </a:p>
        </p:txBody>
      </p:sp>
      <p:sp>
        <p:nvSpPr>
          <p:cNvPr id="7" name="Text 5"/>
          <p:cNvSpPr txBox="1"/>
          <p:nvPr/>
        </p:nvSpPr>
        <p:spPr>
          <a:xfrm>
            <a:off x="548640" y="3557016"/>
            <a:ext cx="5212080" cy="640080"/>
          </a:xfrm>
          <a:prstGeom prst="rect">
            <a:avLst/>
          </a:prstGeom>
          <a:noFill/>
          <a:ln/>
        </p:spPr>
        <p:txBody>
          <a:bodyPr wrap="square" lIns="0" tIns="0" rIns="0" bIns="0" rtlCol="0" anchor="ctr"/>
          <a:lstStyle/>
          <a:p>
            <a:pPr indent="0" marL="0">
              <a:lnSpc>
                <a:spcPct val="100000"/>
              </a:lnSpc>
              <a:buNone/>
            </a:pPr>
            <a:r>
              <a:rPr lang="en-US" sz="1150" dirty="0">
                <a:solidFill>
                  <a:srgbClr val="1E2A35"/>
                </a:solidFill>
                <a:latin typeface="Calibri" pitchFamily="34" charset="0"/>
                <a:ea typeface="Calibri" pitchFamily="34" charset="-122"/>
                <a:cs typeface="Calibri" pitchFamily="34" charset="-120"/>
              </a:rPr>
              <a:t>Chinchor (1992). «MUC-4 Evaluation Metrics». Proceedings of MUC-4.</a:t>
            </a:r>
            <a:endParaRPr lang="en-US" sz="1150" dirty="0"/>
          </a:p>
        </p:txBody>
      </p:sp>
      <p:sp>
        <p:nvSpPr>
          <p:cNvPr id="8" name="Text 6"/>
          <p:cNvSpPr txBox="1"/>
          <p:nvPr/>
        </p:nvSpPr>
        <p:spPr>
          <a:xfrm>
            <a:off x="548640" y="4215384"/>
            <a:ext cx="5212080" cy="640080"/>
          </a:xfrm>
          <a:prstGeom prst="rect">
            <a:avLst/>
          </a:prstGeom>
          <a:noFill/>
          <a:ln/>
        </p:spPr>
        <p:txBody>
          <a:bodyPr wrap="square" lIns="0" tIns="0" rIns="0" bIns="0" rtlCol="0" anchor="ctr"/>
          <a:lstStyle/>
          <a:p>
            <a:pPr indent="0" marL="0">
              <a:lnSpc>
                <a:spcPct val="100000"/>
              </a:lnSpc>
              <a:buNone/>
            </a:pPr>
            <a:r>
              <a:rPr lang="en-US" sz="1150" dirty="0">
                <a:solidFill>
                  <a:srgbClr val="1E2A35"/>
                </a:solidFill>
                <a:latin typeface="Calibri" pitchFamily="34" charset="0"/>
                <a:ea typeface="Calibri" pitchFamily="34" charset="-122"/>
                <a:cs typeface="Calibri" pitchFamily="34" charset="-120"/>
              </a:rPr>
              <a:t>Tjong Kim Sang y De Meulder (2003). «Introduction to the CoNLL-2003 Shared Task».</a:t>
            </a:r>
            <a:endParaRPr lang="en-US" sz="1150" dirty="0"/>
          </a:p>
        </p:txBody>
      </p:sp>
      <p:sp>
        <p:nvSpPr>
          <p:cNvPr id="9" name="Text 7"/>
          <p:cNvSpPr txBox="1"/>
          <p:nvPr/>
        </p:nvSpPr>
        <p:spPr>
          <a:xfrm>
            <a:off x="6309360" y="1783080"/>
            <a:ext cx="5212080" cy="365760"/>
          </a:xfrm>
          <a:prstGeom prst="rect">
            <a:avLst/>
          </a:prstGeom>
          <a:noFill/>
          <a:ln/>
        </p:spPr>
        <p:txBody>
          <a:bodyPr wrap="square" lIns="0" tIns="0" rIns="0" bIns="0" rtlCol="0" anchor="ctr"/>
          <a:lstStyle/>
          <a:p>
            <a:pPr indent="0" marL="0">
              <a:buNone/>
            </a:pPr>
            <a:r>
              <a:rPr lang="en-US" sz="1250" b="1" spc="100" kern="0" dirty="0">
                <a:solidFill>
                  <a:srgbClr val="CB5E2E"/>
                </a:solidFill>
                <a:latin typeface="Calibri" pitchFamily="34" charset="0"/>
                <a:ea typeface="Calibri" pitchFamily="34" charset="-122"/>
                <a:cs typeface="Calibri" pitchFamily="34" charset="-120"/>
              </a:rPr>
              <a:t>ACUERDO ENTRE CODIFICADORES</a:t>
            </a:r>
            <a:endParaRPr lang="en-US" sz="1250" dirty="0"/>
          </a:p>
        </p:txBody>
      </p:sp>
      <p:sp>
        <p:nvSpPr>
          <p:cNvPr id="10" name="Text 8"/>
          <p:cNvSpPr txBox="1"/>
          <p:nvPr/>
        </p:nvSpPr>
        <p:spPr>
          <a:xfrm>
            <a:off x="6309360" y="2240280"/>
            <a:ext cx="5212080" cy="640080"/>
          </a:xfrm>
          <a:prstGeom prst="rect">
            <a:avLst/>
          </a:prstGeom>
          <a:noFill/>
          <a:ln/>
        </p:spPr>
        <p:txBody>
          <a:bodyPr wrap="square" lIns="0" tIns="0" rIns="0" bIns="0" rtlCol="0" anchor="ctr"/>
          <a:lstStyle/>
          <a:p>
            <a:pPr indent="0" marL="0">
              <a:lnSpc>
                <a:spcPct val="100000"/>
              </a:lnSpc>
              <a:buNone/>
            </a:pPr>
            <a:r>
              <a:rPr lang="en-US" sz="1150" dirty="0">
                <a:solidFill>
                  <a:srgbClr val="1E2A35"/>
                </a:solidFill>
                <a:latin typeface="Calibri" pitchFamily="34" charset="0"/>
                <a:ea typeface="Calibri" pitchFamily="34" charset="-122"/>
                <a:cs typeface="Calibri" pitchFamily="34" charset="-120"/>
              </a:rPr>
              <a:t>Cohen (1960). «A coefficient of agreement for nominal scales». Educ. and Psych. Measurement 20(1).</a:t>
            </a:r>
            <a:endParaRPr lang="en-US" sz="1150" dirty="0"/>
          </a:p>
        </p:txBody>
      </p:sp>
      <p:sp>
        <p:nvSpPr>
          <p:cNvPr id="11" name="Text 9"/>
          <p:cNvSpPr txBox="1"/>
          <p:nvPr/>
        </p:nvSpPr>
        <p:spPr>
          <a:xfrm>
            <a:off x="6309360" y="2898648"/>
            <a:ext cx="5212080" cy="640080"/>
          </a:xfrm>
          <a:prstGeom prst="rect">
            <a:avLst/>
          </a:prstGeom>
          <a:noFill/>
          <a:ln/>
        </p:spPr>
        <p:txBody>
          <a:bodyPr wrap="square" lIns="0" tIns="0" rIns="0" bIns="0" rtlCol="0" anchor="ctr"/>
          <a:lstStyle/>
          <a:p>
            <a:pPr indent="0" marL="0">
              <a:lnSpc>
                <a:spcPct val="100000"/>
              </a:lnSpc>
              <a:buNone/>
            </a:pPr>
            <a:r>
              <a:rPr lang="en-US" sz="1150" dirty="0">
                <a:solidFill>
                  <a:srgbClr val="1E2A35"/>
                </a:solidFill>
                <a:latin typeface="Calibri" pitchFamily="34" charset="0"/>
                <a:ea typeface="Calibri" pitchFamily="34" charset="-122"/>
                <a:cs typeface="Calibri" pitchFamily="34" charset="-120"/>
              </a:rPr>
              <a:t>Landis y Koch (1977). «The measurement of observer agreement for categorical data». Biometrics 33(1).</a:t>
            </a:r>
            <a:endParaRPr lang="en-US" sz="1150" dirty="0"/>
          </a:p>
        </p:txBody>
      </p:sp>
      <p:sp>
        <p:nvSpPr>
          <p:cNvPr id="12" name="Text 10"/>
          <p:cNvSpPr txBox="1"/>
          <p:nvPr/>
        </p:nvSpPr>
        <p:spPr>
          <a:xfrm>
            <a:off x="6309360" y="3557016"/>
            <a:ext cx="5212080" cy="640080"/>
          </a:xfrm>
          <a:prstGeom prst="rect">
            <a:avLst/>
          </a:prstGeom>
          <a:noFill/>
          <a:ln/>
        </p:spPr>
        <p:txBody>
          <a:bodyPr wrap="square" lIns="0" tIns="0" rIns="0" bIns="0" rtlCol="0" anchor="ctr"/>
          <a:lstStyle/>
          <a:p>
            <a:pPr indent="0" marL="0">
              <a:lnSpc>
                <a:spcPct val="100000"/>
              </a:lnSpc>
              <a:buNone/>
            </a:pPr>
            <a:r>
              <a:rPr lang="en-US" sz="1150" dirty="0">
                <a:solidFill>
                  <a:srgbClr val="1E2A35"/>
                </a:solidFill>
                <a:latin typeface="Calibri" pitchFamily="34" charset="0"/>
                <a:ea typeface="Calibri" pitchFamily="34" charset="-122"/>
                <a:cs typeface="Calibri" pitchFamily="34" charset="-120"/>
              </a:rPr>
              <a:t>Feinstein y Cicchetti (1990). «High agreement but low kappa». J. Clinical Epidemiology 43(6).</a:t>
            </a:r>
            <a:endParaRPr lang="en-US" sz="1150" dirty="0"/>
          </a:p>
        </p:txBody>
      </p:sp>
      <p:sp>
        <p:nvSpPr>
          <p:cNvPr id="13" name="Text 11"/>
          <p:cNvSpPr txBox="1"/>
          <p:nvPr/>
        </p:nvSpPr>
        <p:spPr>
          <a:xfrm>
            <a:off x="6309360" y="4215384"/>
            <a:ext cx="5212080" cy="365760"/>
          </a:xfrm>
          <a:prstGeom prst="rect">
            <a:avLst/>
          </a:prstGeom>
          <a:noFill/>
          <a:ln/>
        </p:spPr>
        <p:txBody>
          <a:bodyPr wrap="square" lIns="0" tIns="0" rIns="0" bIns="0" rtlCol="0" anchor="ctr"/>
          <a:lstStyle/>
          <a:p>
            <a:pPr indent="0" marL="0">
              <a:buNone/>
            </a:pPr>
            <a:r>
              <a:rPr lang="en-US" sz="1250" b="1" spc="100" kern="0" dirty="0">
                <a:solidFill>
                  <a:srgbClr val="CB5E2E"/>
                </a:solidFill>
                <a:latin typeface="Calibri" pitchFamily="34" charset="0"/>
                <a:ea typeface="Calibri" pitchFamily="34" charset="-122"/>
                <a:cs typeface="Calibri" pitchFamily="34" charset="-120"/>
              </a:rPr>
              <a:t>TRAZABILIDAD Y CONFIANZA</a:t>
            </a:r>
            <a:endParaRPr lang="en-US" sz="1250" dirty="0"/>
          </a:p>
        </p:txBody>
      </p:sp>
      <p:sp>
        <p:nvSpPr>
          <p:cNvPr id="14" name="Text 12"/>
          <p:cNvSpPr txBox="1"/>
          <p:nvPr/>
        </p:nvSpPr>
        <p:spPr>
          <a:xfrm>
            <a:off x="6309360" y="4672584"/>
            <a:ext cx="5212080" cy="640080"/>
          </a:xfrm>
          <a:prstGeom prst="rect">
            <a:avLst/>
          </a:prstGeom>
          <a:noFill/>
          <a:ln/>
        </p:spPr>
        <p:txBody>
          <a:bodyPr wrap="square" lIns="0" tIns="0" rIns="0" bIns="0" rtlCol="0" anchor="ctr"/>
          <a:lstStyle/>
          <a:p>
            <a:pPr indent="0" marL="0">
              <a:lnSpc>
                <a:spcPct val="100000"/>
              </a:lnSpc>
              <a:buNone/>
            </a:pPr>
            <a:r>
              <a:rPr lang="en-US" sz="1150" dirty="0">
                <a:solidFill>
                  <a:srgbClr val="1E2A35"/>
                </a:solidFill>
                <a:latin typeface="Calibri" pitchFamily="34" charset="0"/>
                <a:ea typeface="Calibri" pitchFamily="34" charset="-122"/>
                <a:cs typeface="Calibri" pitchFamily="34" charset="-120"/>
              </a:rPr>
              <a:t>Guba (1981) sobre pista de auditoría; CERQual y el traceable account del IPCC para nivel de confianza.</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2026-09-22T03:24:44Z</dcterms:created>
  <dcterms:modified xsi:type="dcterms:W3CDTF">2026-09-22T03:24:44Z</dcterms:modified>
</cp:coreProperties>
</file>