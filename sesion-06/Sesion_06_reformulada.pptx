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Preséntese y fije la expectativa de la sesión: hoy el objetivo no es entender un caso, es entender tres herramientas de medición que sirven para cualquier documento normativo. Precisión y recuperación para lo que la IA extrae, kappa para lo que la IA clasifica cuando no hay una respuesta unica correcta. Una sola practica al final. Terminamos 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Diga el reloj en voz alta y el porque del orden: los dos bloques de concepto van antes del receso y del laboratorio, para que la practica ya sea aplicar y no aprender. Avise que la sesion tiene mas exposicion que un laboratorio tipico, porque hoy toca fijar tres definiciones. Si va retrasado, el receso puede acortarse, nunca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Este es el mapa de la sesion. Si el grupo se queda con una sola frase del dia, que sea la del banner: las herramientas producen candidatos, no verdades. Hoy medimos la falla 1 (extraccion) con precision y recuperacion, y la falla 3 (clasificacion sin respuesta correcta) con kappa. La falla 2 (atribucion) se atiende verificando la cita, y aterriza en la matriz de evidencia del final. No profundice aqui: cada falla tiene su lamina.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Diga el reloj: unos 33 minutos hasta el receso. En este bloque hay una respuesta correcta contra la cual comparar, y por eso se puede contar cuanto acerto.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Dibuje la matriz con el dedo. La leccion es que hay DOS errores distintos y que confundirlos es lo que hace que una revision no encuentre nada. Inventar (falso positivo) y omitir (falso negativo) tienen consecuencias distintas en un informe. El casillero de verdadero negativo es la razon tecnica por la que no se reporta exactitud en extraccion: no tiene denominador. No entre en formulas todavia.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Este es el corazon del bloque. Recorra la tabla y, antes de revelar la ultima fila, pregunte al grupo cual de los elementos de la IA sobra y cuales faltan. Casi siempre alguien lo encuentra, y el ejercicio vale mas que la explicacion. Los dos requisitos omitidos son plausibles de omitir a proposito: uno es una condicion en negativo (no tener otra beca) y el otro exige cruzar con un padron. Fije el conteo: VP=3, FP=1, FN=2. Estos numeros alimentan la lamina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minutos, la lamina mas tecnica del dia. Las dos definiciones, dichas asi: precision es de lo que me entrego cuanto era cierto; recuperacion es de lo que habia cuanto encontro. Quien se confunde, se confunde por el denominador. No encadene el redondeo: si calcula F1 con 0.75 y 0.60 exactos da 0.6667; usar 0.75 y 0.60 ya redondeados da lo mismo aqui, pero en general redondear temprano contamina. Si lo piden, F1 tambien es 2VP/(2VP+FP+FN)=6/9=0.67, y esa forma deja ver que inventar y omitir pesan igual en F1. Objecion tipica del area de datos: por que no exactitud. Respuesta: no hay verdaderos negativos que contar.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Esta lamina le habla a los 18 economistas: tienen intuicion sobre costos asimetricos aunque no la tengan sobre PLN. La conclusion que se llevan: la metrica no sabe cual error es mas grave; eso lo declara quien va a usar el informe, y se declara antes de medir, igual que se fija el nivel de significancia antes de ver los datos. Mencione F-beta solo de pasada, como en el pie; no la calcule en clase salvo que el area de datos insista.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 minuto. Cambio de terreno: aqui ya no hay una respuesta unica correcta contra la cual comparar. Por eso cambia la pregunta y cambia la medida.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minutos, es el puente conceptual mas importante del dia. Diga la pregunta que destraba al grupo: contra que lista comparo para saber si el comentario esta bien clasificado. No hay ninguna. En el articulo si la habia. El giro, dicho despacio: ya no medimos si acerto, medimos si dos personas coinciden. Eso es confiabilidad y es distinto de exactitud. Objecion tipica: entonces el modelo puede ser el segundo codificador. No: un modelo corriendo dos veces es la misma fuente de error. Se compara humano contra humano, o humano contra modelo, nunca el modelo consigo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Es la lamina que hace entendible la formula. No proyecte algebra todavia. La frase que se llevan: kappa es la fraccion del acuerdo que no se explica por azar. El ejemplo del volado deja clara la idea de acuerdo esperado por azar, que es la parte que casi nadie reporta y la que decide el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minutos. Construya Po primero: es la diagonal, 15 de 20. Luego Pe: sume el producto de marginales de cada categoria. El humano dijo si 10 veces y la IA 11, sobre 20; el humano dijo no 10 y la IA 9. Pe=0.275+0.225=0.50. Kappa=(0.75-0.50)/(1-0.50)=0.50. El punto que se llevan: 75% de acuerdo bruto suena bien, pero la mitad era gratis. Por eso nunca se reporta solo el porcentaje. Si preguntan por mas de dos categorias: la formula es la misma, Po es la suma de la diagonal y Pe suma los productos de marginales de todas las categorias.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escala es de referencia; insista en que los cortes son arbitrarios (los autores lo dicen) y que se reporta el numero. La trampa es lo mas valioso, y ahora si se ve de donde sale: el acuerdo por azar (Pe) lo fijan los marginales, es decir que tan seguido usa cada quien cada categoria, no el acuerdo. Caso izquierdo: cuatro categorias usadas casi por igual (~25% cada una), asi que coincidir por azar es como cuatro volados repartidos, 4 por 0.25 al cuadrado = 0.25. Con Po=0.947 eso da kappa (0.947-0.25)/(1-0.25)=0.93. Caso derecho: una categoria cubre 35 de 38 (~92%), asi que por azar ya coinciden casi siempre, 0.92 al cuadrado que es aprox 0.85; con el mismo Po=0.947, kappa=(0.947-0.85)/(1-0.85)=0.64. Mismo acuerdo bruto, kappa distinta, y la diferencia esta entera en Pe. Es la paradoja de acuerdo alto con kappa baja (Feinstein y Cicchetti, 1990): si en su corpus casi todo cae en una sola categoria, un acuerdo altisimo no prueba que el libro de codigos sirva.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minutos. Esta es la herramienta que aplica todo lo anterior. Verificar una fila es exactamente medir precision de esa afirmacion: se va a la fuente y se confirma que la cita existe y dice lo que la afirmacion asegura. Las columnas que merecen enfasis: afirmacion tal como ira escrita, cita copiada y no parafraseada, y verificada por con nombre. La frase antes de soltarlos al laboratorio: si al terminar todas las filas dicen confianza alta, algo se hizo 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Es la regla que protege al Instituto y a los participantes. La idea: la herramienta no cambia el dato; el dato decide la herramienta. Verde a cualquier lado; amarillo solo en Copilot institucional con la cuenta del Instituto; rojo a ninguna parte. Recuerdeles que el material del curso es ficticio para poder trabajarlo sin riesgo, y que en su trabajo real casi todo sera amarillo.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Divisor. Una sola practica, tres partes cortas. Los entregables son concretos: dos numeros de medicion y tres filas de matriz de evidencia. Cuarenta y dos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el encargo en dos minutos y suelte. Ponga avisos de voz a los cortes. Parte 1 (15 min): lo importante es que identifiquen bien VP, FP y FN antes de meter numeros; la calculadora hace la aritmetica. Parte 2 (15 min): que primero tabulen la contingencia y luego calculen; el resultado da kappa 0.40, aceptable, y los desacuerdos son sarcasmo que la IA leyo como positivo. Parte 3 (10 min): tres filas bien trazadas valen mas que seis a medias. Mientras recorre las mesas, si un equipo se atora, deles una pregunta y no la respuesta. Los seis que programan pueden ir mas rapido con el notebook y ayudar a su mesa. Clave de la Parte 3, el resumen de la IA de la hoja Fuente P3: la afirmacion 1 (cada dos meses) se sostiene con el Art. 14, confianza media por ser una sola fuente directa. La 2 (alta marginacion) se sostiene con el Art. 23 y el Art. 8, confianza alta por dos fuentes. La 3 (2,000 alcanza para alimentar al hogar) dice de mas: el Art. 12 solo respalda el monto, no la suficiencia; se recorta o entra con confianza baja. La 4 (taller cada mes) esta mal atribuida: el Art. 19 dice una vez al ano, no cada mes; se corrige a anual. La 5 (despensas fisicas) esta inventada: el Art. 5 habla de apoyo economico y ninguna cita la sostiene, no entra o entra como hipotesis baja. En corto: tres de las cinco no aguantan tal como estan escritas, que es justo el punto de la matriz.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Repase las tres ideas y confirme los entregables. El puente al Modulo III ya no es abstracto: acaban de vivir que medir a mano no escala. Agradezca y cierre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Lamina de referencia. No se lee en clase; sirve para quien quiera profundizar y para sostener las definiciones si el area de datos pregunta por el origen.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9784080" y="-1188720"/>
            <a:ext cx="3566160" cy="3566160"/>
          </a:xfrm>
          <a:prstGeom prst="ellipse">
            <a:avLst/>
          </a:prstGeom>
          <a:solidFill>
            <a:srgbClr val="20384F"/>
          </a:solidFill>
          <a:ln/>
        </p:spPr>
      </p:sp>
      <p:sp>
        <p:nvSpPr>
          <p:cNvPr id="3" name="Shape 1"/>
          <p:cNvSpPr/>
          <p:nvPr/>
        </p:nvSpPr>
        <p:spPr>
          <a:xfrm>
            <a:off x="10881360" y="4572000"/>
            <a:ext cx="2560320" cy="2560320"/>
          </a:xfrm>
          <a:prstGeom prst="ellipse">
            <a:avLst/>
          </a:prstGeom>
          <a:solidFill>
            <a:srgbClr val="CB5E2E"/>
          </a:solidFill>
          <a:ln/>
        </p:spPr>
      </p:sp>
      <p:sp>
        <p:nvSpPr>
          <p:cNvPr id="4" name="Text 2"/>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300" b="1" spc="300" kern="0" dirty="0">
                <a:solidFill>
                  <a:srgbClr val="E58A5B"/>
                </a:solidFill>
                <a:latin typeface="Calibri" pitchFamily="34" charset="0"/>
                <a:ea typeface="Calibri" pitchFamily="34" charset="-122"/>
                <a:cs typeface="Calibri" pitchFamily="34" charset="-120"/>
              </a:rPr>
              <a:t>MÓDULO II · SESIÓN 6</a:t>
            </a:r>
            <a:endParaRPr lang="en-US" sz="1300" dirty="0"/>
          </a:p>
        </p:txBody>
      </p:sp>
      <p:sp>
        <p:nvSpPr>
          <p:cNvPr id="5" name="Text 3"/>
          <p:cNvSpPr txBox="1"/>
          <p:nvPr/>
        </p:nvSpPr>
        <p:spPr>
          <a:xfrm>
            <a:off x="822960" y="2148840"/>
            <a:ext cx="10241280" cy="1554480"/>
          </a:xfrm>
          <a:prstGeom prst="rect">
            <a:avLst/>
          </a:prstGeom>
          <a:noFill/>
          <a:ln/>
        </p:spPr>
        <p:txBody>
          <a:bodyPr wrap="square" lIns="0" tIns="0" rIns="0" bIns="0" rtlCol="0" anchor="ctr"/>
          <a:lstStyle/>
          <a:p>
            <a:pPr indent="0" marL="0">
              <a:lnSpc>
                <a:spcPct val="98000"/>
              </a:lnSpc>
              <a:buNone/>
            </a:pPr>
            <a:r>
              <a:rPr lang="en-US" sz="3800" b="1" dirty="0">
                <a:solidFill>
                  <a:srgbClr val="FFFFFF"/>
                </a:solidFill>
                <a:latin typeface="Calibri" pitchFamily="34" charset="0"/>
                <a:ea typeface="Calibri" pitchFamily="34" charset="-122"/>
                <a:cs typeface="Calibri" pitchFamily="34" charset="-120"/>
              </a:rPr>
              <a:t>Cómo medir la calidad de lo que la IA extrae y clasifica</a:t>
            </a:r>
            <a:endParaRPr lang="en-US" sz="3800" dirty="0"/>
          </a:p>
        </p:txBody>
      </p:sp>
      <p:sp>
        <p:nvSpPr>
          <p:cNvPr id="6" name="Text 4"/>
          <p:cNvSpPr txBox="1"/>
          <p:nvPr/>
        </p:nvSpPr>
        <p:spPr>
          <a:xfrm>
            <a:off x="822960" y="3886200"/>
            <a:ext cx="10058400" cy="457200"/>
          </a:xfrm>
          <a:prstGeom prst="rect">
            <a:avLst/>
          </a:prstGeom>
          <a:noFill/>
          <a:ln/>
        </p:spPr>
        <p:txBody>
          <a:bodyPr wrap="square" lIns="0" tIns="0" rIns="0" bIns="0" rtlCol="0" anchor="ctr"/>
          <a:lstStyle/>
          <a:p>
            <a:pPr indent="0" marL="0">
              <a:buNone/>
            </a:pPr>
            <a:r>
              <a:rPr lang="en-US" sz="1700" dirty="0">
                <a:solidFill>
                  <a:srgbClr val="E4EAF0"/>
                </a:solidFill>
                <a:latin typeface="Calibri" pitchFamily="34" charset="0"/>
                <a:ea typeface="Calibri" pitchFamily="34" charset="-122"/>
                <a:cs typeface="Calibri" pitchFamily="34" charset="-120"/>
              </a:rPr>
              <a:t>Precisión, recuperación y acuerdo (kappa) sobre documentos normativos</a:t>
            </a:r>
            <a:endParaRPr lang="en-US" sz="1700" dirty="0"/>
          </a:p>
        </p:txBody>
      </p:sp>
      <p:sp>
        <p:nvSpPr>
          <p:cNvPr id="7" name="Shape 5"/>
          <p:cNvSpPr/>
          <p:nvPr/>
        </p:nvSpPr>
        <p:spPr>
          <a:xfrm>
            <a:off x="841248" y="4709160"/>
            <a:ext cx="2926080" cy="0"/>
          </a:xfrm>
          <a:prstGeom prst="line">
            <a:avLst/>
          </a:prstGeom>
          <a:noFill/>
          <a:ln w="25400">
            <a:solidFill>
              <a:srgbClr val="CB5E2E"/>
            </a:solidFill>
            <a:prstDash val="solid"/>
          </a:ln>
        </p:spPr>
      </p:sp>
      <p:sp>
        <p:nvSpPr>
          <p:cNvPr id="8" name="Text 6"/>
          <p:cNvSpPr txBox="1"/>
          <p:nvPr/>
        </p:nvSpPr>
        <p:spPr>
          <a:xfrm>
            <a:off x="822960" y="4937760"/>
            <a:ext cx="10058400" cy="3657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Curso de Inteligencia Artificial Aplicada · INEGI 2026</a:t>
            </a:r>
            <a:endParaRPr lang="en-US" sz="1300" dirty="0"/>
          </a:p>
        </p:txBody>
      </p:sp>
      <p:sp>
        <p:nvSpPr>
          <p:cNvPr id="9" name="Text 7"/>
          <p:cNvSpPr txBox="1"/>
          <p:nvPr/>
        </p:nvSpPr>
        <p:spPr>
          <a:xfrm>
            <a:off x="822960" y="5285232"/>
            <a:ext cx="10058400" cy="365760"/>
          </a:xfrm>
          <a:prstGeom prst="rect">
            <a:avLst/>
          </a:prstGeom>
          <a:noFill/>
          <a:ln/>
        </p:spPr>
        <p:txBody>
          <a:bodyPr wrap="square" lIns="0" tIns="0" rIns="0" bIns="0" rtlCol="0" anchor="ctr"/>
          <a:lstStyle/>
          <a:p>
            <a:pPr indent="0" marL="0">
              <a:buNone/>
            </a:pPr>
            <a:r>
              <a:rPr lang="en-US" sz="1300" dirty="0">
                <a:solidFill>
                  <a:srgbClr val="60707E"/>
                </a:solidFill>
                <a:latin typeface="Calibri" pitchFamily="34" charset="0"/>
                <a:ea typeface="Calibri" pitchFamily="34" charset="-122"/>
                <a:cs typeface="Calibri" pitchFamily="34" charset="-120"/>
              </a:rPr>
              <a:t>Laboratorio Práctico 2 · cierra el bloque cualitativo · 11:00 a 13:30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usamos los 150 minutos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Dos bloques de concepto, un receso y una sola práctica aplicada.</a:t>
            </a:r>
            <a:endParaRPr lang="en-US" sz="1400" dirty="0"/>
          </a:p>
        </p:txBody>
      </p:sp>
      <p:sp>
        <p:nvSpPr>
          <p:cNvPr id="4" name="Shape 2"/>
          <p:cNvSpPr/>
          <p:nvPr/>
        </p:nvSpPr>
        <p:spPr>
          <a:xfrm>
            <a:off x="548640" y="1691640"/>
            <a:ext cx="11091672" cy="548640"/>
          </a:xfrm>
          <a:prstGeom prst="rect">
            <a:avLst/>
          </a:prstGeom>
          <a:solidFill>
            <a:srgbClr val="EEF2F5"/>
          </a:solidFill>
          <a:ln w="6350">
            <a:solidFill>
              <a:srgbClr val="D5DCE3"/>
            </a:solidFill>
            <a:prstDash val="solid"/>
          </a:ln>
        </p:spPr>
      </p:sp>
      <p:sp>
        <p:nvSpPr>
          <p:cNvPr id="5" name="Text 3"/>
          <p:cNvSpPr txBox="1"/>
          <p:nvPr/>
        </p:nvSpPr>
        <p:spPr>
          <a:xfrm>
            <a:off x="685800" y="169164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11:00</a:t>
            </a:r>
            <a:endParaRPr lang="en-US" sz="1700" dirty="0"/>
          </a:p>
        </p:txBody>
      </p:sp>
      <p:sp>
        <p:nvSpPr>
          <p:cNvPr id="6" name="Text 4"/>
          <p:cNvSpPr txBox="1"/>
          <p:nvPr/>
        </p:nvSpPr>
        <p:spPr>
          <a:xfrm>
            <a:off x="2194560" y="169164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Apertura: la pregunta de hoy</a:t>
            </a:r>
            <a:endParaRPr lang="en-US" sz="1400" dirty="0"/>
          </a:p>
        </p:txBody>
      </p:sp>
      <p:sp>
        <p:nvSpPr>
          <p:cNvPr id="7" name="Shape 5"/>
          <p:cNvSpPr/>
          <p:nvPr/>
        </p:nvSpPr>
        <p:spPr>
          <a:xfrm>
            <a:off x="548640" y="2240280"/>
            <a:ext cx="11091672" cy="548640"/>
          </a:xfrm>
          <a:prstGeom prst="rect">
            <a:avLst/>
          </a:prstGeom>
          <a:solidFill>
            <a:srgbClr val="FFFFFF"/>
          </a:solidFill>
          <a:ln w="6350">
            <a:solidFill>
              <a:srgbClr val="D5DCE3"/>
            </a:solidFill>
            <a:prstDash val="solid"/>
          </a:ln>
        </p:spPr>
      </p:sp>
      <p:sp>
        <p:nvSpPr>
          <p:cNvPr id="8" name="Text 6"/>
          <p:cNvSpPr txBox="1"/>
          <p:nvPr/>
        </p:nvSpPr>
        <p:spPr>
          <a:xfrm>
            <a:off x="685800" y="224028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11:12</a:t>
            </a:r>
            <a:endParaRPr lang="en-US" sz="1700" dirty="0"/>
          </a:p>
        </p:txBody>
      </p:sp>
      <p:sp>
        <p:nvSpPr>
          <p:cNvPr id="9" name="Text 7"/>
          <p:cNvSpPr txBox="1"/>
          <p:nvPr/>
        </p:nvSpPr>
        <p:spPr>
          <a:xfrm>
            <a:off x="2194560" y="224028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1 · Precisión y recuperación (medir lo que la IA extrae)</a:t>
            </a:r>
            <a:endParaRPr lang="en-US" sz="1400" dirty="0"/>
          </a:p>
        </p:txBody>
      </p:sp>
      <p:sp>
        <p:nvSpPr>
          <p:cNvPr id="10" name="Shape 8"/>
          <p:cNvSpPr/>
          <p:nvPr/>
        </p:nvSpPr>
        <p:spPr>
          <a:xfrm>
            <a:off x="548640" y="2788920"/>
            <a:ext cx="11091672" cy="548640"/>
          </a:xfrm>
          <a:prstGeom prst="rect">
            <a:avLst/>
          </a:prstGeom>
          <a:solidFill>
            <a:srgbClr val="FBEEE5"/>
          </a:solidFill>
          <a:ln w="6350">
            <a:solidFill>
              <a:srgbClr val="D5DCE3"/>
            </a:solidFill>
            <a:prstDash val="solid"/>
          </a:ln>
        </p:spPr>
      </p:sp>
      <p:sp>
        <p:nvSpPr>
          <p:cNvPr id="11" name="Text 9"/>
          <p:cNvSpPr txBox="1"/>
          <p:nvPr/>
        </p:nvSpPr>
        <p:spPr>
          <a:xfrm>
            <a:off x="685800" y="2788920"/>
            <a:ext cx="1371600" cy="548640"/>
          </a:xfrm>
          <a:prstGeom prst="rect">
            <a:avLst/>
          </a:prstGeom>
          <a:noFill/>
          <a:ln/>
        </p:spPr>
        <p:txBody>
          <a:bodyPr wrap="square" lIns="0" tIns="0" rIns="0" bIns="0" rtlCol="0" anchor="ctr"/>
          <a:lstStyle/>
          <a:p>
            <a:pPr indent="0" marL="0">
              <a:buNone/>
            </a:pPr>
            <a:r>
              <a:rPr lang="en-US" sz="1700" b="1" dirty="0">
                <a:solidFill>
                  <a:srgbClr val="8C3E19"/>
                </a:solidFill>
                <a:latin typeface="Cambria" pitchFamily="34" charset="0"/>
                <a:ea typeface="Cambria" pitchFamily="34" charset="-122"/>
                <a:cs typeface="Cambria" pitchFamily="34" charset="-120"/>
              </a:rPr>
              <a:t>11:45</a:t>
            </a:r>
            <a:endParaRPr lang="en-US" sz="1700" dirty="0"/>
          </a:p>
        </p:txBody>
      </p:sp>
      <p:sp>
        <p:nvSpPr>
          <p:cNvPr id="12" name="Text 10"/>
          <p:cNvSpPr txBox="1"/>
          <p:nvPr/>
        </p:nvSpPr>
        <p:spPr>
          <a:xfrm>
            <a:off x="2194560" y="2788920"/>
            <a:ext cx="9262872" cy="548640"/>
          </a:xfrm>
          <a:prstGeom prst="rect">
            <a:avLst/>
          </a:prstGeom>
          <a:noFill/>
          <a:ln/>
        </p:spPr>
        <p:txBody>
          <a:bodyPr wrap="square" lIns="0" tIns="0" rIns="0" bIns="0" rtlCol="0" anchor="ctr"/>
          <a:lstStyle/>
          <a:p>
            <a:pPr indent="0" marL="0">
              <a:buNone/>
            </a:pPr>
            <a:r>
              <a:rPr lang="en-US" sz="1400" b="1" dirty="0">
                <a:solidFill>
                  <a:srgbClr val="8C3E19"/>
                </a:solidFill>
                <a:latin typeface="Calibri" pitchFamily="34" charset="0"/>
                <a:ea typeface="Calibri" pitchFamily="34" charset="-122"/>
                <a:cs typeface="Calibri" pitchFamily="34" charset="-120"/>
              </a:rPr>
              <a:t>Receso · 10 minutos</a:t>
            </a:r>
            <a:endParaRPr lang="en-US" sz="1400" dirty="0"/>
          </a:p>
        </p:txBody>
      </p:sp>
      <p:sp>
        <p:nvSpPr>
          <p:cNvPr id="13" name="Shape 11"/>
          <p:cNvSpPr/>
          <p:nvPr/>
        </p:nvSpPr>
        <p:spPr>
          <a:xfrm>
            <a:off x="548640" y="3337560"/>
            <a:ext cx="11091672" cy="548640"/>
          </a:xfrm>
          <a:prstGeom prst="rect">
            <a:avLst/>
          </a:prstGeom>
          <a:solidFill>
            <a:srgbClr val="FFFFFF"/>
          </a:solidFill>
          <a:ln w="6350">
            <a:solidFill>
              <a:srgbClr val="D5DCE3"/>
            </a:solidFill>
            <a:prstDash val="solid"/>
          </a:ln>
        </p:spPr>
      </p:sp>
      <p:sp>
        <p:nvSpPr>
          <p:cNvPr id="14" name="Text 12"/>
          <p:cNvSpPr txBox="1"/>
          <p:nvPr/>
        </p:nvSpPr>
        <p:spPr>
          <a:xfrm>
            <a:off x="685800" y="333756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11:55</a:t>
            </a:r>
            <a:endParaRPr lang="en-US" sz="1700" dirty="0"/>
          </a:p>
        </p:txBody>
      </p:sp>
      <p:sp>
        <p:nvSpPr>
          <p:cNvPr id="15" name="Text 13"/>
          <p:cNvSpPr txBox="1"/>
          <p:nvPr/>
        </p:nvSpPr>
        <p:spPr>
          <a:xfrm>
            <a:off x="2194560" y="333756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Bloque 2 · Acuerdo y kappa (medir lo que la IA clasifica)</a:t>
            </a:r>
            <a:endParaRPr lang="en-US" sz="1400" dirty="0"/>
          </a:p>
        </p:txBody>
      </p:sp>
      <p:sp>
        <p:nvSpPr>
          <p:cNvPr id="16" name="Shape 14"/>
          <p:cNvSpPr/>
          <p:nvPr/>
        </p:nvSpPr>
        <p:spPr>
          <a:xfrm>
            <a:off x="548640" y="3886200"/>
            <a:ext cx="11091672" cy="548640"/>
          </a:xfrm>
          <a:prstGeom prst="rect">
            <a:avLst/>
          </a:prstGeom>
          <a:solidFill>
            <a:srgbClr val="EEF2F5"/>
          </a:solidFill>
          <a:ln w="6350">
            <a:solidFill>
              <a:srgbClr val="D5DCE3"/>
            </a:solidFill>
            <a:prstDash val="solid"/>
          </a:ln>
        </p:spPr>
      </p:sp>
      <p:sp>
        <p:nvSpPr>
          <p:cNvPr id="17" name="Text 15"/>
          <p:cNvSpPr txBox="1"/>
          <p:nvPr/>
        </p:nvSpPr>
        <p:spPr>
          <a:xfrm>
            <a:off x="685800" y="388620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12:30</a:t>
            </a:r>
            <a:endParaRPr lang="en-US" sz="1700" dirty="0"/>
          </a:p>
        </p:txBody>
      </p:sp>
      <p:sp>
        <p:nvSpPr>
          <p:cNvPr id="18" name="Text 16"/>
          <p:cNvSpPr txBox="1"/>
          <p:nvPr/>
        </p:nvSpPr>
        <p:spPr>
          <a:xfrm>
            <a:off x="2194560" y="388620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De la medición al informe: la matriz de evidencia</a:t>
            </a:r>
            <a:endParaRPr lang="en-US" sz="1400" dirty="0"/>
          </a:p>
        </p:txBody>
      </p:sp>
      <p:sp>
        <p:nvSpPr>
          <p:cNvPr id="19" name="Shape 17"/>
          <p:cNvSpPr/>
          <p:nvPr/>
        </p:nvSpPr>
        <p:spPr>
          <a:xfrm>
            <a:off x="548640" y="4434840"/>
            <a:ext cx="11091672" cy="548640"/>
          </a:xfrm>
          <a:prstGeom prst="rect">
            <a:avLst/>
          </a:prstGeom>
          <a:solidFill>
            <a:srgbClr val="FFFFFF"/>
          </a:solidFill>
          <a:ln w="6350">
            <a:solidFill>
              <a:srgbClr val="D5DCE3"/>
            </a:solidFill>
            <a:prstDash val="solid"/>
          </a:ln>
        </p:spPr>
      </p:sp>
      <p:sp>
        <p:nvSpPr>
          <p:cNvPr id="20" name="Text 18"/>
          <p:cNvSpPr txBox="1"/>
          <p:nvPr/>
        </p:nvSpPr>
        <p:spPr>
          <a:xfrm>
            <a:off x="685800" y="443484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12:40</a:t>
            </a:r>
            <a:endParaRPr lang="en-US" sz="1700" dirty="0"/>
          </a:p>
        </p:txBody>
      </p:sp>
      <p:sp>
        <p:nvSpPr>
          <p:cNvPr id="21" name="Text 19"/>
          <p:cNvSpPr txBox="1"/>
          <p:nvPr/>
        </p:nvSpPr>
        <p:spPr>
          <a:xfrm>
            <a:off x="2194560" y="443484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Laboratorio Práctico 2 · una sola práctica</a:t>
            </a:r>
            <a:endParaRPr lang="en-US" sz="1400" dirty="0"/>
          </a:p>
        </p:txBody>
      </p:sp>
      <p:sp>
        <p:nvSpPr>
          <p:cNvPr id="22" name="Shape 20"/>
          <p:cNvSpPr/>
          <p:nvPr/>
        </p:nvSpPr>
        <p:spPr>
          <a:xfrm>
            <a:off x="548640" y="4983480"/>
            <a:ext cx="11091672" cy="548640"/>
          </a:xfrm>
          <a:prstGeom prst="rect">
            <a:avLst/>
          </a:prstGeom>
          <a:solidFill>
            <a:srgbClr val="EEF2F5"/>
          </a:solidFill>
          <a:ln w="6350">
            <a:solidFill>
              <a:srgbClr val="D5DCE3"/>
            </a:solidFill>
            <a:prstDash val="solid"/>
          </a:ln>
        </p:spPr>
      </p:sp>
      <p:sp>
        <p:nvSpPr>
          <p:cNvPr id="23" name="Text 21"/>
          <p:cNvSpPr txBox="1"/>
          <p:nvPr/>
        </p:nvSpPr>
        <p:spPr>
          <a:xfrm>
            <a:off x="685800" y="4983480"/>
            <a:ext cx="1371600" cy="548640"/>
          </a:xfrm>
          <a:prstGeom prst="rect">
            <a:avLst/>
          </a:prstGeom>
          <a:noFill/>
          <a:ln/>
        </p:spPr>
        <p:txBody>
          <a:bodyPr wrap="square" lIns="0" tIns="0" rIns="0" bIns="0" rtlCol="0" anchor="ctr"/>
          <a:lstStyle/>
          <a:p>
            <a:pPr indent="0" marL="0">
              <a:buNone/>
            </a:pPr>
            <a:r>
              <a:rPr lang="en-US" sz="1700" b="1" dirty="0">
                <a:solidFill>
                  <a:srgbClr val="CB5E2E"/>
                </a:solidFill>
                <a:latin typeface="Cambria" pitchFamily="34" charset="0"/>
                <a:ea typeface="Cambria" pitchFamily="34" charset="-122"/>
                <a:cs typeface="Cambria" pitchFamily="34" charset="-120"/>
              </a:rPr>
              <a:t>13:22</a:t>
            </a:r>
            <a:endParaRPr lang="en-US" sz="1700" dirty="0"/>
          </a:p>
        </p:txBody>
      </p:sp>
      <p:sp>
        <p:nvSpPr>
          <p:cNvPr id="24" name="Text 22"/>
          <p:cNvSpPr txBox="1"/>
          <p:nvPr/>
        </p:nvSpPr>
        <p:spPr>
          <a:xfrm>
            <a:off x="2194560" y="4983480"/>
            <a:ext cx="9262872" cy="54864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Cierre y entregables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IA le entrega candidatos, no verdades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Resumir, extraer a una tabla, agrupar y clasificar: todo lo que hicieron en el módulo produce candidatos. Decidir si un candidato es cierto sigue siendo trabajo de ustedes, y hoy se hace con números.</a:t>
            </a:r>
            <a:endParaRPr lang="en-US" sz="1400" dirty="0"/>
          </a:p>
        </p:txBody>
      </p:sp>
      <p:sp>
        <p:nvSpPr>
          <p:cNvPr id="4" name="Shape 2"/>
          <p:cNvSpPr/>
          <p:nvPr/>
        </p:nvSpPr>
        <p:spPr>
          <a:xfrm>
            <a:off x="548640" y="2148840"/>
            <a:ext cx="3502152" cy="3063240"/>
          </a:xfrm>
          <a:prstGeom prst="roundRect">
            <a:avLst>
              <a:gd name="adj" fmla="val 1791"/>
            </a:avLst>
          </a:prstGeom>
          <a:solidFill>
            <a:srgbClr val="EEF2F5"/>
          </a:solidFill>
          <a:ln w="9525">
            <a:solidFill>
              <a:srgbClr val="D5DCE3"/>
            </a:solidFill>
            <a:prstDash val="solid"/>
          </a:ln>
        </p:spPr>
      </p:sp>
      <p:sp>
        <p:nvSpPr>
          <p:cNvPr id="5" name="Shape 3"/>
          <p:cNvSpPr/>
          <p:nvPr/>
        </p:nvSpPr>
        <p:spPr>
          <a:xfrm>
            <a:off x="804672" y="2423160"/>
            <a:ext cx="502920" cy="502920"/>
          </a:xfrm>
          <a:prstGeom prst="ellipse">
            <a:avLst/>
          </a:prstGeom>
          <a:solidFill>
            <a:srgbClr val="CB5E2E"/>
          </a:solidFill>
          <a:ln/>
        </p:spPr>
      </p:sp>
      <p:sp>
        <p:nvSpPr>
          <p:cNvPr id="6" name="Text 4"/>
          <p:cNvSpPr txBox="1"/>
          <p:nvPr/>
        </p:nvSpPr>
        <p:spPr>
          <a:xfrm>
            <a:off x="80467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804672" y="3063240"/>
            <a:ext cx="2990088" cy="50292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Omite o inventa</a:t>
            </a:r>
            <a:endParaRPr lang="en-US" sz="1600" dirty="0"/>
          </a:p>
        </p:txBody>
      </p:sp>
      <p:sp>
        <p:nvSpPr>
          <p:cNvPr id="8" name="Text 6"/>
          <p:cNvSpPr txBox="1"/>
          <p:nvPr/>
        </p:nvSpPr>
        <p:spPr>
          <a:xfrm>
            <a:off x="804672" y="3566160"/>
            <a:ext cx="2990088" cy="105156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El asistente se salta un dato que sí estaba en el documento, o agrega uno que no existe en ninguna parte.</a:t>
            </a:r>
            <a:endParaRPr lang="en-US" sz="1250" dirty="0"/>
          </a:p>
        </p:txBody>
      </p:sp>
      <p:sp>
        <p:nvSpPr>
          <p:cNvPr id="9" name="Shape 7"/>
          <p:cNvSpPr/>
          <p:nvPr/>
        </p:nvSpPr>
        <p:spPr>
          <a:xfrm>
            <a:off x="804672" y="4636008"/>
            <a:ext cx="2990088" cy="0"/>
          </a:xfrm>
          <a:prstGeom prst="line">
            <a:avLst/>
          </a:prstGeom>
          <a:noFill/>
          <a:ln w="9525">
            <a:solidFill>
              <a:srgbClr val="D5DCE3"/>
            </a:solidFill>
            <a:prstDash val="solid"/>
          </a:ln>
        </p:spPr>
      </p:sp>
      <p:sp>
        <p:nvSpPr>
          <p:cNvPr id="10" name="Text 8"/>
          <p:cNvSpPr txBox="1"/>
          <p:nvPr/>
        </p:nvSpPr>
        <p:spPr>
          <a:xfrm>
            <a:off x="80467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Se mide con precisión y recuperación</a:t>
            </a:r>
            <a:endParaRPr lang="en-US" sz="1150" dirty="0"/>
          </a:p>
        </p:txBody>
      </p:sp>
      <p:sp>
        <p:nvSpPr>
          <p:cNvPr id="11" name="Shape 9"/>
          <p:cNvSpPr/>
          <p:nvPr/>
        </p:nvSpPr>
        <p:spPr>
          <a:xfrm>
            <a:off x="4343400" y="2148840"/>
            <a:ext cx="3502152" cy="3063240"/>
          </a:xfrm>
          <a:prstGeom prst="roundRect">
            <a:avLst>
              <a:gd name="adj" fmla="val 1791"/>
            </a:avLst>
          </a:prstGeom>
          <a:solidFill>
            <a:srgbClr val="FFFFFF"/>
          </a:solidFill>
          <a:ln w="9525">
            <a:solidFill>
              <a:srgbClr val="D5DCE3"/>
            </a:solidFill>
            <a:prstDash val="solid"/>
          </a:ln>
        </p:spPr>
      </p:sp>
      <p:sp>
        <p:nvSpPr>
          <p:cNvPr id="12" name="Shape 10"/>
          <p:cNvSpPr/>
          <p:nvPr/>
        </p:nvSpPr>
        <p:spPr>
          <a:xfrm>
            <a:off x="4599432" y="2423160"/>
            <a:ext cx="502920" cy="502920"/>
          </a:xfrm>
          <a:prstGeom prst="ellipse">
            <a:avLst/>
          </a:prstGeom>
          <a:solidFill>
            <a:srgbClr val="CB5E2E"/>
          </a:solidFill>
          <a:ln/>
        </p:spPr>
      </p:sp>
      <p:sp>
        <p:nvSpPr>
          <p:cNvPr id="13" name="Text 11"/>
          <p:cNvSpPr txBox="1"/>
          <p:nvPr/>
        </p:nvSpPr>
        <p:spPr>
          <a:xfrm>
            <a:off x="459943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4599432" y="3063240"/>
            <a:ext cx="2990088" cy="50292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La cita no lo sostiene</a:t>
            </a:r>
            <a:endParaRPr lang="en-US" sz="1600" dirty="0"/>
          </a:p>
        </p:txBody>
      </p:sp>
      <p:sp>
        <p:nvSpPr>
          <p:cNvPr id="15" name="Text 13"/>
          <p:cNvSpPr txBox="1"/>
          <p:nvPr/>
        </p:nvSpPr>
        <p:spPr>
          <a:xfrm>
            <a:off x="4599432" y="3566160"/>
            <a:ext cx="2990088" cy="105156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La cita es textual y está bien copiada, pero no dice lo que la afirmación asegura que dice.</a:t>
            </a:r>
            <a:endParaRPr lang="en-US" sz="1250" dirty="0"/>
          </a:p>
        </p:txBody>
      </p:sp>
      <p:sp>
        <p:nvSpPr>
          <p:cNvPr id="16" name="Shape 14"/>
          <p:cNvSpPr/>
          <p:nvPr/>
        </p:nvSpPr>
        <p:spPr>
          <a:xfrm>
            <a:off x="4599432" y="4636008"/>
            <a:ext cx="2990088" cy="0"/>
          </a:xfrm>
          <a:prstGeom prst="line">
            <a:avLst/>
          </a:prstGeom>
          <a:noFill/>
          <a:ln w="9525">
            <a:solidFill>
              <a:srgbClr val="D5DCE3"/>
            </a:solidFill>
            <a:prstDash val="solid"/>
          </a:ln>
        </p:spPr>
      </p:sp>
      <p:sp>
        <p:nvSpPr>
          <p:cNvPr id="17" name="Text 15"/>
          <p:cNvSpPr txBox="1"/>
          <p:nvPr/>
        </p:nvSpPr>
        <p:spPr>
          <a:xfrm>
            <a:off x="459943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Se verifica frase por frase contra la fuente</a:t>
            </a:r>
            <a:endParaRPr lang="en-US" sz="1150" dirty="0"/>
          </a:p>
        </p:txBody>
      </p:sp>
      <p:sp>
        <p:nvSpPr>
          <p:cNvPr id="18" name="Shape 16"/>
          <p:cNvSpPr/>
          <p:nvPr/>
        </p:nvSpPr>
        <p:spPr>
          <a:xfrm>
            <a:off x="8138160" y="2148840"/>
            <a:ext cx="3502152" cy="3063240"/>
          </a:xfrm>
          <a:prstGeom prst="roundRect">
            <a:avLst>
              <a:gd name="adj" fmla="val 1791"/>
            </a:avLst>
          </a:prstGeom>
          <a:solidFill>
            <a:srgbClr val="FFFFFF"/>
          </a:solidFill>
          <a:ln w="9525">
            <a:solidFill>
              <a:srgbClr val="D5DCE3"/>
            </a:solidFill>
            <a:prstDash val="solid"/>
          </a:ln>
        </p:spPr>
      </p:sp>
      <p:sp>
        <p:nvSpPr>
          <p:cNvPr id="19" name="Shape 17"/>
          <p:cNvSpPr/>
          <p:nvPr/>
        </p:nvSpPr>
        <p:spPr>
          <a:xfrm>
            <a:off x="8394192" y="2423160"/>
            <a:ext cx="502920" cy="502920"/>
          </a:xfrm>
          <a:prstGeom prst="ellipse">
            <a:avLst/>
          </a:prstGeom>
          <a:solidFill>
            <a:srgbClr val="CB5E2E"/>
          </a:solidFill>
          <a:ln/>
        </p:spPr>
      </p:sp>
      <p:sp>
        <p:nvSpPr>
          <p:cNvPr id="20" name="Text 18"/>
          <p:cNvSpPr txBox="1"/>
          <p:nvPr/>
        </p:nvSpPr>
        <p:spPr>
          <a:xfrm>
            <a:off x="8394192" y="2423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8394192" y="3063240"/>
            <a:ext cx="2990088" cy="502920"/>
          </a:xfrm>
          <a:prstGeom prst="rect">
            <a:avLst/>
          </a:prstGeom>
          <a:noFill/>
          <a:ln/>
        </p:spPr>
        <p:txBody>
          <a:bodyPr wrap="square" lIns="0" tIns="0" rIns="0" bIns="0" rtlCol="0" anchor="ctr"/>
          <a:lstStyle/>
          <a:p>
            <a:pPr indent="0" marL="0">
              <a:buNone/>
            </a:pPr>
            <a:r>
              <a:rPr lang="en-US" sz="1600" b="1" dirty="0">
                <a:solidFill>
                  <a:srgbClr val="1E2A35"/>
                </a:solidFill>
                <a:latin typeface="Calibri" pitchFamily="34" charset="0"/>
                <a:ea typeface="Calibri" pitchFamily="34" charset="-122"/>
                <a:cs typeface="Calibri" pitchFamily="34" charset="-120"/>
              </a:rPr>
              <a:t>La síntesis dice de más</a:t>
            </a:r>
            <a:endParaRPr lang="en-US" sz="1600" dirty="0"/>
          </a:p>
        </p:txBody>
      </p:sp>
      <p:sp>
        <p:nvSpPr>
          <p:cNvPr id="22" name="Text 20"/>
          <p:cNvSpPr txBox="1"/>
          <p:nvPr/>
        </p:nvSpPr>
        <p:spPr>
          <a:xfrm>
            <a:off x="8394192" y="3566160"/>
            <a:ext cx="2990088" cy="1051560"/>
          </a:xfrm>
          <a:prstGeom prst="rect">
            <a:avLst/>
          </a:prstGeom>
          <a:noFill/>
          <a:ln/>
        </p:spPr>
        <p:txBody>
          <a:bodyPr wrap="square" lIns="0" tIns="0" rIns="0" bIns="0" rtlCol="0" anchor="ctr"/>
          <a:lstStyle/>
          <a:p>
            <a:pPr indent="0" marL="0">
              <a:lnSpc>
                <a:spcPct val="100000"/>
              </a:lnSpc>
              <a:buNone/>
            </a:pPr>
            <a:r>
              <a:rPr lang="en-US" sz="1250" dirty="0">
                <a:solidFill>
                  <a:srgbClr val="60707E"/>
                </a:solidFill>
                <a:latin typeface="Calibri" pitchFamily="34" charset="0"/>
                <a:ea typeface="Calibri" pitchFamily="34" charset="-122"/>
                <a:cs typeface="Calibri" pitchFamily="34" charset="-120"/>
              </a:rPr>
              <a:t>Al redactar aparecen afirmaciones que la evidencia no respalda. Suelen sonar mejor que las que sí lo están.</a:t>
            </a:r>
            <a:endParaRPr lang="en-US" sz="1250" dirty="0"/>
          </a:p>
        </p:txBody>
      </p:sp>
      <p:sp>
        <p:nvSpPr>
          <p:cNvPr id="23" name="Shape 21"/>
          <p:cNvSpPr/>
          <p:nvPr/>
        </p:nvSpPr>
        <p:spPr>
          <a:xfrm>
            <a:off x="8394192" y="4636008"/>
            <a:ext cx="2990088" cy="0"/>
          </a:xfrm>
          <a:prstGeom prst="line">
            <a:avLst/>
          </a:prstGeom>
          <a:noFill/>
          <a:ln w="9525">
            <a:solidFill>
              <a:srgbClr val="D5DCE3"/>
            </a:solidFill>
            <a:prstDash val="solid"/>
          </a:ln>
        </p:spPr>
      </p:sp>
      <p:sp>
        <p:nvSpPr>
          <p:cNvPr id="24" name="Text 22"/>
          <p:cNvSpPr txBox="1"/>
          <p:nvPr/>
        </p:nvSpPr>
        <p:spPr>
          <a:xfrm>
            <a:off x="8394192" y="4690872"/>
            <a:ext cx="2990088" cy="457200"/>
          </a:xfrm>
          <a:prstGeom prst="rect">
            <a:avLst/>
          </a:prstGeom>
          <a:noFill/>
          <a:ln/>
        </p:spPr>
        <p:txBody>
          <a:bodyPr wrap="square" lIns="0" tIns="0" rIns="0" bIns="0" rtlCol="0" anchor="ctr"/>
          <a:lstStyle/>
          <a:p>
            <a:pPr indent="0" marL="0">
              <a:buNone/>
            </a:pPr>
            <a:r>
              <a:rPr lang="en-US" sz="1150" b="1" dirty="0">
                <a:solidFill>
                  <a:srgbClr val="CB5E2E"/>
                </a:solidFill>
                <a:latin typeface="Calibri" pitchFamily="34" charset="0"/>
                <a:ea typeface="Calibri" pitchFamily="34" charset="-122"/>
                <a:cs typeface="Calibri" pitchFamily="34" charset="-120"/>
              </a:rPr>
              <a:t>Se controla con acuerdo entre codificadores</a:t>
            </a:r>
            <a:endParaRPr lang="en-US" sz="1150" dirty="0"/>
          </a:p>
        </p:txBody>
      </p:sp>
      <p:sp>
        <p:nvSpPr>
          <p:cNvPr id="25" name="Shape 23"/>
          <p:cNvSpPr/>
          <p:nvPr/>
        </p:nvSpPr>
        <p:spPr>
          <a:xfrm>
            <a:off x="548640" y="6053328"/>
            <a:ext cx="11091672" cy="603504"/>
          </a:xfrm>
          <a:prstGeom prst="rect">
            <a:avLst/>
          </a:prstGeom>
          <a:solidFill>
            <a:srgbClr val="FBEEE5"/>
          </a:solidFill>
          <a:ln/>
        </p:spPr>
      </p:sp>
      <p:sp>
        <p:nvSpPr>
          <p:cNvPr id="26" name="Shape 24"/>
          <p:cNvSpPr/>
          <p:nvPr/>
        </p:nvSpPr>
        <p:spPr>
          <a:xfrm>
            <a:off x="749808" y="6272784"/>
            <a:ext cx="164592" cy="164592"/>
          </a:xfrm>
          <a:prstGeom prst="roundRect">
            <a:avLst>
              <a:gd name="adj" fmla="val 22222"/>
            </a:avLst>
          </a:prstGeom>
          <a:solidFill>
            <a:srgbClr val="CB5E2E"/>
          </a:solidFill>
          <a:ln/>
        </p:spPr>
      </p:sp>
      <p:sp>
        <p:nvSpPr>
          <p:cNvPr id="27" name="Text 2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Las tres se ven idénticas en el informe terminado: una oración con una cita al lado. Hoy vemos las dos primeras herramientas de medición; la tercera vive en la matriz de evidencia.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1</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Medir lo que la IA extrae</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Dos formas de equivocarse al extraer</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Cuando la IA saca una lista de un documento, cada elemento cae en uno de cuatro casos. Solo dos son errores, y son errores distintos.</a:t>
            </a:r>
            <a:endParaRPr lang="en-US" sz="1400" dirty="0"/>
          </a:p>
        </p:txBody>
      </p:sp>
      <p:sp>
        <p:nvSpPr>
          <p:cNvPr id="4" name="Text 2"/>
          <p:cNvSpPr txBox="1"/>
          <p:nvPr/>
        </p:nvSpPr>
        <p:spPr>
          <a:xfrm>
            <a:off x="2560320" y="1783080"/>
            <a:ext cx="3383280" cy="457200"/>
          </a:xfrm>
          <a:prstGeom prst="rect">
            <a:avLst/>
          </a:prstGeom>
          <a:noFill/>
          <a:ln/>
        </p:spPr>
        <p:txBody>
          <a:bodyPr wrap="square" lIns="0" tIns="0" rIns="0" bIns="0" rtlCol="0" anchor="ctr"/>
          <a:lstStyle/>
          <a:p>
            <a:pPr algn="ctr" indent="0" marL="0">
              <a:buNone/>
            </a:pPr>
            <a:r>
              <a:rPr lang="en-US" sz="1250" b="1" dirty="0">
                <a:solidFill>
                  <a:srgbClr val="1E2A35"/>
                </a:solidFill>
                <a:latin typeface="Calibri" pitchFamily="34" charset="0"/>
                <a:ea typeface="Calibri" pitchFamily="34" charset="-122"/>
                <a:cs typeface="Calibri" pitchFamily="34" charset="-120"/>
              </a:rPr>
              <a:t>Sí está en el documento</a:t>
            </a:r>
            <a:endParaRPr lang="en-US" sz="1250" dirty="0"/>
          </a:p>
        </p:txBody>
      </p:sp>
      <p:sp>
        <p:nvSpPr>
          <p:cNvPr id="5" name="Text 3"/>
          <p:cNvSpPr txBox="1"/>
          <p:nvPr/>
        </p:nvSpPr>
        <p:spPr>
          <a:xfrm>
            <a:off x="5943600" y="1783080"/>
            <a:ext cx="3383280" cy="457200"/>
          </a:xfrm>
          <a:prstGeom prst="rect">
            <a:avLst/>
          </a:prstGeom>
          <a:noFill/>
          <a:ln/>
        </p:spPr>
        <p:txBody>
          <a:bodyPr wrap="square" lIns="0" tIns="0" rIns="0" bIns="0" rtlCol="0" anchor="ctr"/>
          <a:lstStyle/>
          <a:p>
            <a:pPr algn="ctr" indent="0" marL="0">
              <a:buNone/>
            </a:pPr>
            <a:r>
              <a:rPr lang="en-US" sz="1250" b="1" dirty="0">
                <a:solidFill>
                  <a:srgbClr val="1E2A35"/>
                </a:solidFill>
                <a:latin typeface="Calibri" pitchFamily="34" charset="0"/>
                <a:ea typeface="Calibri" pitchFamily="34" charset="-122"/>
                <a:cs typeface="Calibri" pitchFamily="34" charset="-120"/>
              </a:rPr>
              <a:t>No está en el documento</a:t>
            </a:r>
            <a:endParaRPr lang="en-US" sz="1250" dirty="0"/>
          </a:p>
        </p:txBody>
      </p:sp>
      <p:sp>
        <p:nvSpPr>
          <p:cNvPr id="6" name="Text 4"/>
          <p:cNvSpPr txBox="1"/>
          <p:nvPr/>
        </p:nvSpPr>
        <p:spPr>
          <a:xfrm>
            <a:off x="640080" y="2286000"/>
            <a:ext cx="1828800" cy="1234440"/>
          </a:xfrm>
          <a:prstGeom prst="rect">
            <a:avLst/>
          </a:prstGeom>
          <a:noFill/>
          <a:ln/>
        </p:spPr>
        <p:txBody>
          <a:bodyPr wrap="square" lIns="0" tIns="0" rIns="0" bIns="0" rtlCol="0" anchor="ctr"/>
          <a:lstStyle/>
          <a:p>
            <a:pPr algn="r" indent="0" marL="0">
              <a:buNone/>
            </a:pPr>
            <a:r>
              <a:rPr lang="en-US" sz="1250" b="1" dirty="0">
                <a:solidFill>
                  <a:srgbClr val="1E2A35"/>
                </a:solidFill>
                <a:latin typeface="Calibri" pitchFamily="34" charset="0"/>
                <a:ea typeface="Calibri" pitchFamily="34" charset="-122"/>
                <a:cs typeface="Calibri" pitchFamily="34" charset="-120"/>
              </a:rPr>
              <a:t>La IA</a:t>
            </a:r>
            <a:endParaRPr lang="en-US" sz="1250" dirty="0"/>
          </a:p>
          <a:p>
            <a:pPr algn="r" indent="0" marL="0">
              <a:buNone/>
            </a:pPr>
            <a:r>
              <a:rPr lang="en-US" sz="1250" b="1" dirty="0">
                <a:solidFill>
                  <a:srgbClr val="1E2A35"/>
                </a:solidFill>
                <a:latin typeface="Calibri" pitchFamily="34" charset="0"/>
                <a:ea typeface="Calibri" pitchFamily="34" charset="-122"/>
                <a:cs typeface="Calibri" pitchFamily="34" charset="-120"/>
              </a:rPr>
              <a:t>lo incluyó</a:t>
            </a:r>
            <a:endParaRPr lang="en-US" sz="1250" dirty="0"/>
          </a:p>
        </p:txBody>
      </p:sp>
      <p:sp>
        <p:nvSpPr>
          <p:cNvPr id="7" name="Text 5"/>
          <p:cNvSpPr txBox="1"/>
          <p:nvPr/>
        </p:nvSpPr>
        <p:spPr>
          <a:xfrm>
            <a:off x="640080" y="3520440"/>
            <a:ext cx="1828800" cy="1234440"/>
          </a:xfrm>
          <a:prstGeom prst="rect">
            <a:avLst/>
          </a:prstGeom>
          <a:noFill/>
          <a:ln/>
        </p:spPr>
        <p:txBody>
          <a:bodyPr wrap="square" lIns="0" tIns="0" rIns="0" bIns="0" rtlCol="0" anchor="ctr"/>
          <a:lstStyle/>
          <a:p>
            <a:pPr algn="r" indent="0" marL="0">
              <a:buNone/>
            </a:pPr>
            <a:r>
              <a:rPr lang="en-US" sz="1250" b="1" dirty="0">
                <a:solidFill>
                  <a:srgbClr val="1E2A35"/>
                </a:solidFill>
                <a:latin typeface="Calibri" pitchFamily="34" charset="0"/>
                <a:ea typeface="Calibri" pitchFamily="34" charset="-122"/>
                <a:cs typeface="Calibri" pitchFamily="34" charset="-120"/>
              </a:rPr>
              <a:t>La IA</a:t>
            </a:r>
            <a:endParaRPr lang="en-US" sz="1250" dirty="0"/>
          </a:p>
          <a:p>
            <a:pPr algn="r" indent="0" marL="0">
              <a:buNone/>
            </a:pPr>
            <a:r>
              <a:rPr lang="en-US" sz="1250" b="1" dirty="0">
                <a:solidFill>
                  <a:srgbClr val="1E2A35"/>
                </a:solidFill>
                <a:latin typeface="Calibri" pitchFamily="34" charset="0"/>
                <a:ea typeface="Calibri" pitchFamily="34" charset="-122"/>
                <a:cs typeface="Calibri" pitchFamily="34" charset="-120"/>
              </a:rPr>
              <a:t>lo omitió</a:t>
            </a:r>
            <a:endParaRPr lang="en-US" sz="1250" dirty="0"/>
          </a:p>
        </p:txBody>
      </p:sp>
      <p:sp>
        <p:nvSpPr>
          <p:cNvPr id="8" name="Shape 6"/>
          <p:cNvSpPr/>
          <p:nvPr/>
        </p:nvSpPr>
        <p:spPr>
          <a:xfrm>
            <a:off x="2560320" y="2286000"/>
            <a:ext cx="3383280" cy="1234440"/>
          </a:xfrm>
          <a:prstGeom prst="rect">
            <a:avLst/>
          </a:prstGeom>
          <a:solidFill>
            <a:srgbClr val="E7F2EA"/>
          </a:solidFill>
          <a:ln w="25400">
            <a:solidFill>
              <a:srgbClr val="FFFFFF"/>
            </a:solidFill>
            <a:prstDash val="solid"/>
          </a:ln>
        </p:spPr>
      </p:sp>
      <p:sp>
        <p:nvSpPr>
          <p:cNvPr id="9" name="Text 7"/>
          <p:cNvSpPr txBox="1"/>
          <p:nvPr/>
        </p:nvSpPr>
        <p:spPr>
          <a:xfrm>
            <a:off x="2697480" y="2395728"/>
            <a:ext cx="3108960" cy="457200"/>
          </a:xfrm>
          <a:prstGeom prst="rect">
            <a:avLst/>
          </a:prstGeom>
          <a:noFill/>
          <a:ln/>
        </p:spPr>
        <p:txBody>
          <a:bodyPr wrap="square" lIns="0" tIns="0" rIns="0" bIns="0" rtlCol="0" anchor="ctr"/>
          <a:lstStyle/>
          <a:p>
            <a:pPr indent="0" marL="0">
              <a:buNone/>
            </a:pPr>
            <a:r>
              <a:rPr lang="en-US" sz="1400" b="1" dirty="0">
                <a:solidFill>
                  <a:srgbClr val="2E6E49"/>
                </a:solidFill>
                <a:latin typeface="Calibri" pitchFamily="34" charset="0"/>
                <a:ea typeface="Calibri" pitchFamily="34" charset="-122"/>
                <a:cs typeface="Calibri" pitchFamily="34" charset="-120"/>
              </a:rPr>
              <a:t>Verdadero positivo</a:t>
            </a:r>
            <a:endParaRPr lang="en-US" sz="1400" dirty="0"/>
          </a:p>
        </p:txBody>
      </p:sp>
      <p:sp>
        <p:nvSpPr>
          <p:cNvPr id="10" name="Text 8"/>
          <p:cNvSpPr txBox="1"/>
          <p:nvPr/>
        </p:nvSpPr>
        <p:spPr>
          <a:xfrm>
            <a:off x="2697480" y="2834640"/>
            <a:ext cx="3108960" cy="6400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Acierto: incluyó algo que sí estaba.</a:t>
            </a:r>
            <a:endParaRPr lang="en-US" sz="1100" dirty="0"/>
          </a:p>
        </p:txBody>
      </p:sp>
      <p:sp>
        <p:nvSpPr>
          <p:cNvPr id="11" name="Shape 9"/>
          <p:cNvSpPr/>
          <p:nvPr/>
        </p:nvSpPr>
        <p:spPr>
          <a:xfrm>
            <a:off x="5943600" y="2286000"/>
            <a:ext cx="3383280" cy="1234440"/>
          </a:xfrm>
          <a:prstGeom prst="rect">
            <a:avLst/>
          </a:prstGeom>
          <a:solidFill>
            <a:srgbClr val="F9E7E3"/>
          </a:solidFill>
          <a:ln w="25400">
            <a:solidFill>
              <a:srgbClr val="FFFFFF"/>
            </a:solidFill>
            <a:prstDash val="solid"/>
          </a:ln>
        </p:spPr>
      </p:sp>
      <p:sp>
        <p:nvSpPr>
          <p:cNvPr id="12" name="Text 10"/>
          <p:cNvSpPr txBox="1"/>
          <p:nvPr/>
        </p:nvSpPr>
        <p:spPr>
          <a:xfrm>
            <a:off x="6080760" y="2395728"/>
            <a:ext cx="3108960" cy="457200"/>
          </a:xfrm>
          <a:prstGeom prst="rect">
            <a:avLst/>
          </a:prstGeom>
          <a:noFill/>
          <a:ln/>
        </p:spPr>
        <p:txBody>
          <a:bodyPr wrap="square" lIns="0" tIns="0" rIns="0" bIns="0" rtlCol="0" anchor="ctr"/>
          <a:lstStyle/>
          <a:p>
            <a:pPr indent="0" marL="0">
              <a:buNone/>
            </a:pPr>
            <a:r>
              <a:rPr lang="en-US" sz="1400" b="1" dirty="0">
                <a:solidFill>
                  <a:srgbClr val="A23B22"/>
                </a:solidFill>
                <a:latin typeface="Calibri" pitchFamily="34" charset="0"/>
                <a:ea typeface="Calibri" pitchFamily="34" charset="-122"/>
                <a:cs typeface="Calibri" pitchFamily="34" charset="-120"/>
              </a:rPr>
              <a:t>Falso positivo   ·   INVENTÓ</a:t>
            </a:r>
            <a:endParaRPr lang="en-US" sz="1400" dirty="0"/>
          </a:p>
        </p:txBody>
      </p:sp>
      <p:sp>
        <p:nvSpPr>
          <p:cNvPr id="13" name="Text 11"/>
          <p:cNvSpPr txBox="1"/>
          <p:nvPr/>
        </p:nvSpPr>
        <p:spPr>
          <a:xfrm>
            <a:off x="6080760" y="2834640"/>
            <a:ext cx="3108960" cy="6400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Agregó algo que el documento no dice.</a:t>
            </a:r>
            <a:endParaRPr lang="en-US" sz="1100" dirty="0"/>
          </a:p>
        </p:txBody>
      </p:sp>
      <p:sp>
        <p:nvSpPr>
          <p:cNvPr id="14" name="Shape 12"/>
          <p:cNvSpPr/>
          <p:nvPr/>
        </p:nvSpPr>
        <p:spPr>
          <a:xfrm>
            <a:off x="2560320" y="3520440"/>
            <a:ext cx="3383280" cy="1234440"/>
          </a:xfrm>
          <a:prstGeom prst="rect">
            <a:avLst/>
          </a:prstGeom>
          <a:solidFill>
            <a:srgbClr val="F9E7E3"/>
          </a:solidFill>
          <a:ln w="25400">
            <a:solidFill>
              <a:srgbClr val="FFFFFF"/>
            </a:solidFill>
            <a:prstDash val="solid"/>
          </a:ln>
        </p:spPr>
      </p:sp>
      <p:sp>
        <p:nvSpPr>
          <p:cNvPr id="15" name="Text 13"/>
          <p:cNvSpPr txBox="1"/>
          <p:nvPr/>
        </p:nvSpPr>
        <p:spPr>
          <a:xfrm>
            <a:off x="2697480" y="3630168"/>
            <a:ext cx="3108960" cy="457200"/>
          </a:xfrm>
          <a:prstGeom prst="rect">
            <a:avLst/>
          </a:prstGeom>
          <a:noFill/>
          <a:ln/>
        </p:spPr>
        <p:txBody>
          <a:bodyPr wrap="square" lIns="0" tIns="0" rIns="0" bIns="0" rtlCol="0" anchor="ctr"/>
          <a:lstStyle/>
          <a:p>
            <a:pPr indent="0" marL="0">
              <a:buNone/>
            </a:pPr>
            <a:r>
              <a:rPr lang="en-US" sz="1400" b="1" dirty="0">
                <a:solidFill>
                  <a:srgbClr val="A23B22"/>
                </a:solidFill>
                <a:latin typeface="Calibri" pitchFamily="34" charset="0"/>
                <a:ea typeface="Calibri" pitchFamily="34" charset="-122"/>
                <a:cs typeface="Calibri" pitchFamily="34" charset="-120"/>
              </a:rPr>
              <a:t>Falso negativo   ·   OMITIÓ</a:t>
            </a:r>
            <a:endParaRPr lang="en-US" sz="1400" dirty="0"/>
          </a:p>
        </p:txBody>
      </p:sp>
      <p:sp>
        <p:nvSpPr>
          <p:cNvPr id="16" name="Text 14"/>
          <p:cNvSpPr txBox="1"/>
          <p:nvPr/>
        </p:nvSpPr>
        <p:spPr>
          <a:xfrm>
            <a:off x="2697480" y="4069080"/>
            <a:ext cx="3108960" cy="6400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Se le escapó algo que sí estaba.</a:t>
            </a:r>
            <a:endParaRPr lang="en-US" sz="1100" dirty="0"/>
          </a:p>
        </p:txBody>
      </p:sp>
      <p:sp>
        <p:nvSpPr>
          <p:cNvPr id="17" name="Shape 15"/>
          <p:cNvSpPr/>
          <p:nvPr/>
        </p:nvSpPr>
        <p:spPr>
          <a:xfrm>
            <a:off x="5943600" y="3520440"/>
            <a:ext cx="3383280" cy="1234440"/>
          </a:xfrm>
          <a:prstGeom prst="rect">
            <a:avLst/>
          </a:prstGeom>
          <a:solidFill>
            <a:srgbClr val="EEF2F5"/>
          </a:solidFill>
          <a:ln w="25400">
            <a:solidFill>
              <a:srgbClr val="FFFFFF"/>
            </a:solidFill>
            <a:prstDash val="solid"/>
          </a:ln>
        </p:spPr>
      </p:sp>
      <p:sp>
        <p:nvSpPr>
          <p:cNvPr id="18" name="Text 16"/>
          <p:cNvSpPr txBox="1"/>
          <p:nvPr/>
        </p:nvSpPr>
        <p:spPr>
          <a:xfrm>
            <a:off x="6080760" y="3630168"/>
            <a:ext cx="3108960" cy="457200"/>
          </a:xfrm>
          <a:prstGeom prst="rect">
            <a:avLst/>
          </a:prstGeom>
          <a:noFill/>
          <a:ln/>
        </p:spPr>
        <p:txBody>
          <a:bodyPr wrap="square" lIns="0" tIns="0" rIns="0" bIns="0" rtlCol="0" anchor="ctr"/>
          <a:lstStyle/>
          <a:p>
            <a:pPr indent="0" marL="0">
              <a:buNone/>
            </a:pPr>
            <a:r>
              <a:rPr lang="en-US" sz="1400" b="1" dirty="0">
                <a:solidFill>
                  <a:srgbClr val="60707E"/>
                </a:solidFill>
                <a:latin typeface="Calibri" pitchFamily="34" charset="0"/>
                <a:ea typeface="Calibri" pitchFamily="34" charset="-122"/>
                <a:cs typeface="Calibri" pitchFamily="34" charset="-120"/>
              </a:rPr>
              <a:t>Verdadero negativo</a:t>
            </a:r>
            <a:endParaRPr lang="en-US" sz="1400" dirty="0"/>
          </a:p>
        </p:txBody>
      </p:sp>
      <p:sp>
        <p:nvSpPr>
          <p:cNvPr id="19" name="Text 17"/>
          <p:cNvSpPr txBox="1"/>
          <p:nvPr/>
        </p:nvSpPr>
        <p:spPr>
          <a:xfrm>
            <a:off x="6080760" y="4069080"/>
            <a:ext cx="3108960" cy="6400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No incluyó algo que tampoco estaba.</a:t>
            </a:r>
            <a:endParaRPr lang="en-US" sz="1100" dirty="0"/>
          </a:p>
        </p:txBody>
      </p:sp>
      <p:sp>
        <p:nvSpPr>
          <p:cNvPr id="20" name="Text 18"/>
          <p:cNvSpPr txBox="1"/>
          <p:nvPr/>
        </p:nvSpPr>
        <p:spPr>
          <a:xfrm>
            <a:off x="640080" y="5029200"/>
            <a:ext cx="8686800" cy="822960"/>
          </a:xfrm>
          <a:prstGeom prst="rect">
            <a:avLst/>
          </a:prstGeom>
          <a:noFill/>
          <a:ln/>
        </p:spPr>
        <p:txBody>
          <a:bodyPr wrap="square" lIns="0" tIns="0" rIns="0" bIns="0" rtlCol="0" anchor="ctr"/>
          <a:lstStyle/>
          <a:p>
            <a:pPr indent="0" marL="0">
              <a:lnSpc>
                <a:spcPct val="100000"/>
              </a:lnSpc>
              <a:buNone/>
            </a:pPr>
            <a:r>
              <a:rPr lang="en-US" sz="1200" b="1" dirty="0">
                <a:solidFill>
                  <a:srgbClr val="1E2A35"/>
                </a:solidFill>
                <a:latin typeface="Calibri" pitchFamily="34" charset="0"/>
                <a:ea typeface="Calibri" pitchFamily="34" charset="-122"/>
                <a:cs typeface="Calibri" pitchFamily="34" charset="-120"/>
              </a:rPr>
              <a:t>El verdadero negativo no se puede contar en extracción. </a:t>
            </a:r>
            <a:pPr indent="0" marL="0">
              <a:lnSpc>
                <a:spcPct val="100000"/>
              </a:lnSpc>
              <a:buNone/>
            </a:pPr>
            <a:r>
              <a:rPr lang="en-US" sz="1200" dirty="0">
                <a:solidFill>
                  <a:srgbClr val="60707E"/>
                </a:solidFill>
                <a:latin typeface="Calibri" pitchFamily="34" charset="0"/>
                <a:ea typeface="Calibri" pitchFamily="34" charset="-122"/>
                <a:cs typeface="Calibri" pitchFamily="34" charset="-120"/>
              </a:rPr>
              <a:t>Nadie puede enumerar todo lo que la IA pudo inventar y no inventó, así que ese casillero no tiene número. Por eso en extracción no se usa exactitud, sino las dos medidas de la lámina siguiente.</a:t>
            </a:r>
            <a:endParaRPr lang="en-US" sz="1200" dirty="0"/>
          </a:p>
        </p:txBody>
      </p:sp>
      <p:sp>
        <p:nvSpPr>
          <p:cNvPr id="21" name="Shape 19"/>
          <p:cNvSpPr/>
          <p:nvPr/>
        </p:nvSpPr>
        <p:spPr>
          <a:xfrm>
            <a:off x="548640" y="6053328"/>
            <a:ext cx="11091672" cy="603504"/>
          </a:xfrm>
          <a:prstGeom prst="rect">
            <a:avLst/>
          </a:prstGeom>
          <a:solidFill>
            <a:srgbClr val="FBEEE5"/>
          </a:solidFill>
          <a:ln/>
        </p:spPr>
      </p:sp>
      <p:sp>
        <p:nvSpPr>
          <p:cNvPr id="22" name="Shape 20"/>
          <p:cNvSpPr/>
          <p:nvPr/>
        </p:nvSpPr>
        <p:spPr>
          <a:xfrm>
            <a:off x="749808" y="6272784"/>
            <a:ext cx="164592" cy="164592"/>
          </a:xfrm>
          <a:prstGeom prst="roundRect">
            <a:avLst>
              <a:gd name="adj" fmla="val 22222"/>
            </a:avLst>
          </a:prstGeom>
          <a:solidFill>
            <a:srgbClr val="CB5E2E"/>
          </a:solidFill>
          <a:ln/>
        </p:spPr>
      </p:sp>
      <p:sp>
        <p:nvSpPr>
          <p:cNvPr id="23" name="Text 21"/>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Inventar acusa a la entidad de algo que no hizo. Omitir deja la evaluación incompleta. Son riesgos distintos, y conviene medirlos por separado.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Ejemplo: extraer los requisitos de una beca</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El artículo lista 5 requisitos. Le pedimos a la IA que los extraiga. Marquemos cada renglón.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5760720"/>
                <a:gridCol w="2743200"/>
                <a:gridCol w="258775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Requisito en el artículo (la norma)</a:t>
                      </a:r>
                      <a:endParaRPr lang="en-US" sz="13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¿Apareció en la salida de la IA?</a:t>
                      </a:r>
                      <a:endParaRPr lang="en-US" sz="13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Veredicto</a:t>
                      </a:r>
                      <a:endParaRPr lang="en-US" sz="13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r>
              <a:tr h="457200">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1. Estar inscrito en una institución pública de EMS</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Sí</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6E49"/>
                          </a:solidFill>
                          <a:latin typeface="Calibri" pitchFamily="34" charset="0"/>
                          <a:ea typeface="Calibri" pitchFamily="34" charset="-122"/>
                          <a:cs typeface="Calibri" pitchFamily="34" charset="-120"/>
                        </a:rPr>
                        <a:t>Verdadero positivo</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7F2EA"/>
                    </a:solidFill>
                  </a:tcPr>
                </a:tc>
              </a:tr>
              <a:tr h="457200">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2. Tener menos de 18 años al inicio del ciclo</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Sí</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6E49"/>
                          </a:solidFill>
                          <a:latin typeface="Calibri" pitchFamily="34" charset="0"/>
                          <a:ea typeface="Calibri" pitchFamily="34" charset="-122"/>
                          <a:cs typeface="Calibri" pitchFamily="34" charset="-120"/>
                        </a:rPr>
                        <a:t>Verdadero positivo</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7F2EA"/>
                    </a:solidFill>
                  </a:tcPr>
                </a:tc>
              </a:tr>
              <a:tr h="457200">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3. Promedio mínimo de 8.0 en el ciclo anterior</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Sí</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E6E49"/>
                          </a:solidFill>
                          <a:latin typeface="Calibri" pitchFamily="34" charset="0"/>
                          <a:ea typeface="Calibri" pitchFamily="34" charset="-122"/>
                          <a:cs typeface="Calibri" pitchFamily="34" charset="-120"/>
                        </a:rPr>
                        <a:t>Verdadero positivo</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7F2EA"/>
                    </a:solidFill>
                  </a:tcPr>
                </a:tc>
              </a:tr>
              <a:tr h="457200">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4. No ser beneficiario de otra beca federal</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No aparece</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23B22"/>
                          </a:solidFill>
                          <a:latin typeface="Calibri" pitchFamily="34" charset="0"/>
                          <a:ea typeface="Calibri" pitchFamily="34" charset="-122"/>
                          <a:cs typeface="Calibri" pitchFamily="34" charset="-120"/>
                        </a:rPr>
                        <a:t>Falso negativo (omitió)</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r h="457200">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5. Pertenecer a un hogar en situación de pobreza</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No aparece</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23B22"/>
                          </a:solidFill>
                          <a:latin typeface="Calibri" pitchFamily="34" charset="0"/>
                          <a:ea typeface="Calibri" pitchFamily="34" charset="-122"/>
                          <a:cs typeface="Calibri" pitchFamily="34" charset="-120"/>
                        </a:rPr>
                        <a:t>Falso negativo (omitió)</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r h="457200">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 Carta de recomendación escolar</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2A35"/>
                          </a:solidFill>
                          <a:latin typeface="Calibri" pitchFamily="34" charset="0"/>
                          <a:ea typeface="Calibri" pitchFamily="34" charset="-122"/>
                          <a:cs typeface="Calibri" pitchFamily="34" charset="-120"/>
                        </a:rPr>
                        <a:t>La IA la agregó</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23B22"/>
                          </a:solidFill>
                          <a:latin typeface="Calibri" pitchFamily="34" charset="0"/>
                          <a:ea typeface="Calibri" pitchFamily="34" charset="-122"/>
                          <a:cs typeface="Calibri" pitchFamily="34" charset="-120"/>
                        </a:rPr>
                        <a:t>Falso positivo (inventó)</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9E7E3"/>
                    </a:solidFill>
                  </a:tcPr>
                </a:tc>
              </a:tr>
            </a:tbl>
          </a:graphicData>
        </a:graphic>
      </p:graphicFrame>
      <p:sp>
        <p:nvSpPr>
          <p:cNvPr id="5" name="Shape 2"/>
          <p:cNvSpPr/>
          <p:nvPr/>
        </p:nvSpPr>
        <p:spPr>
          <a:xfrm>
            <a:off x="548640" y="5349240"/>
            <a:ext cx="3502152" cy="566928"/>
          </a:xfrm>
          <a:prstGeom prst="roundRect">
            <a:avLst>
              <a:gd name="adj" fmla="val 8065"/>
            </a:avLst>
          </a:prstGeom>
          <a:solidFill>
            <a:srgbClr val="E7F2EA"/>
          </a:solidFill>
          <a:ln/>
        </p:spPr>
      </p:sp>
      <p:sp>
        <p:nvSpPr>
          <p:cNvPr id="6" name="Text 3"/>
          <p:cNvSpPr txBox="1"/>
          <p:nvPr/>
        </p:nvSpPr>
        <p:spPr>
          <a:xfrm>
            <a:off x="731520" y="5349240"/>
            <a:ext cx="3227832" cy="566928"/>
          </a:xfrm>
          <a:prstGeom prst="rect">
            <a:avLst/>
          </a:prstGeom>
          <a:noFill/>
          <a:ln/>
        </p:spPr>
        <p:txBody>
          <a:bodyPr wrap="square" lIns="0" tIns="0" rIns="0" bIns="0" rtlCol="0" anchor="ctr"/>
          <a:lstStyle/>
          <a:p>
            <a:pPr indent="0" marL="0">
              <a:buNone/>
            </a:pPr>
            <a:r>
              <a:rPr lang="en-US" sz="1250" dirty="0">
                <a:solidFill>
                  <a:srgbClr val="2E6E49"/>
                </a:solidFill>
                <a:latin typeface="Calibri" pitchFamily="34" charset="0"/>
                <a:ea typeface="Calibri" pitchFamily="34" charset="-122"/>
                <a:cs typeface="Calibri" pitchFamily="34" charset="-120"/>
              </a:rPr>
              <a:t>Verdaderos positivos  </a:t>
            </a:r>
            <a:pPr indent="0" marL="0">
              <a:buNone/>
            </a:pPr>
            <a:r>
              <a:rPr lang="en-US" sz="1500" b="1" dirty="0">
                <a:solidFill>
                  <a:srgbClr val="2E6E49"/>
                </a:solidFill>
                <a:latin typeface="Calibri" pitchFamily="34" charset="0"/>
                <a:ea typeface="Calibri" pitchFamily="34" charset="-122"/>
                <a:cs typeface="Calibri" pitchFamily="34" charset="-120"/>
              </a:rPr>
              <a:t>3</a:t>
            </a:r>
            <a:endParaRPr lang="en-US" sz="1250" dirty="0"/>
          </a:p>
        </p:txBody>
      </p:sp>
      <p:sp>
        <p:nvSpPr>
          <p:cNvPr id="7" name="Shape 4"/>
          <p:cNvSpPr/>
          <p:nvPr/>
        </p:nvSpPr>
        <p:spPr>
          <a:xfrm>
            <a:off x="4343400" y="5349240"/>
            <a:ext cx="3502152" cy="566928"/>
          </a:xfrm>
          <a:prstGeom prst="roundRect">
            <a:avLst>
              <a:gd name="adj" fmla="val 8065"/>
            </a:avLst>
          </a:prstGeom>
          <a:solidFill>
            <a:srgbClr val="F9E7E3"/>
          </a:solidFill>
          <a:ln/>
        </p:spPr>
      </p:sp>
      <p:sp>
        <p:nvSpPr>
          <p:cNvPr id="8" name="Text 5"/>
          <p:cNvSpPr txBox="1"/>
          <p:nvPr/>
        </p:nvSpPr>
        <p:spPr>
          <a:xfrm>
            <a:off x="4526280" y="5349240"/>
            <a:ext cx="3227832" cy="566928"/>
          </a:xfrm>
          <a:prstGeom prst="rect">
            <a:avLst/>
          </a:prstGeom>
          <a:noFill/>
          <a:ln/>
        </p:spPr>
        <p:txBody>
          <a:bodyPr wrap="square" lIns="0" tIns="0" rIns="0" bIns="0" rtlCol="0" anchor="ctr"/>
          <a:lstStyle/>
          <a:p>
            <a:pPr indent="0" marL="0">
              <a:buNone/>
            </a:pPr>
            <a:r>
              <a:rPr lang="en-US" sz="1250" dirty="0">
                <a:solidFill>
                  <a:srgbClr val="A23B22"/>
                </a:solidFill>
                <a:latin typeface="Calibri" pitchFamily="34" charset="0"/>
                <a:ea typeface="Calibri" pitchFamily="34" charset="-122"/>
                <a:cs typeface="Calibri" pitchFamily="34" charset="-120"/>
              </a:rPr>
              <a:t>Falsos positivos (inventó)  </a:t>
            </a:r>
            <a:pPr indent="0" marL="0">
              <a:buNone/>
            </a:pPr>
            <a:r>
              <a:rPr lang="en-US" sz="1500" b="1" dirty="0">
                <a:solidFill>
                  <a:srgbClr val="A23B22"/>
                </a:solidFill>
                <a:latin typeface="Calibri" pitchFamily="34" charset="0"/>
                <a:ea typeface="Calibri" pitchFamily="34" charset="-122"/>
                <a:cs typeface="Calibri" pitchFamily="34" charset="-120"/>
              </a:rPr>
              <a:t>1</a:t>
            </a:r>
            <a:endParaRPr lang="en-US" sz="1250" dirty="0"/>
          </a:p>
        </p:txBody>
      </p:sp>
      <p:sp>
        <p:nvSpPr>
          <p:cNvPr id="9" name="Shape 6"/>
          <p:cNvSpPr/>
          <p:nvPr/>
        </p:nvSpPr>
        <p:spPr>
          <a:xfrm>
            <a:off x="8138160" y="5349240"/>
            <a:ext cx="3502152" cy="566928"/>
          </a:xfrm>
          <a:prstGeom prst="roundRect">
            <a:avLst>
              <a:gd name="adj" fmla="val 8065"/>
            </a:avLst>
          </a:prstGeom>
          <a:solidFill>
            <a:srgbClr val="F9E7E3"/>
          </a:solidFill>
          <a:ln/>
        </p:spPr>
      </p:sp>
      <p:sp>
        <p:nvSpPr>
          <p:cNvPr id="10" name="Text 7"/>
          <p:cNvSpPr txBox="1"/>
          <p:nvPr/>
        </p:nvSpPr>
        <p:spPr>
          <a:xfrm>
            <a:off x="8321040" y="5349240"/>
            <a:ext cx="3227832" cy="566928"/>
          </a:xfrm>
          <a:prstGeom prst="rect">
            <a:avLst/>
          </a:prstGeom>
          <a:noFill/>
          <a:ln/>
        </p:spPr>
        <p:txBody>
          <a:bodyPr wrap="square" lIns="0" tIns="0" rIns="0" bIns="0" rtlCol="0" anchor="ctr"/>
          <a:lstStyle/>
          <a:p>
            <a:pPr indent="0" marL="0">
              <a:buNone/>
            </a:pPr>
            <a:r>
              <a:rPr lang="en-US" sz="1250" dirty="0">
                <a:solidFill>
                  <a:srgbClr val="A23B22"/>
                </a:solidFill>
                <a:latin typeface="Calibri" pitchFamily="34" charset="0"/>
                <a:ea typeface="Calibri" pitchFamily="34" charset="-122"/>
                <a:cs typeface="Calibri" pitchFamily="34" charset="-120"/>
              </a:rPr>
              <a:t>Falsos negativos (omitió)  </a:t>
            </a:r>
            <a:pPr indent="0" marL="0">
              <a:buNone/>
            </a:pPr>
            <a:r>
              <a:rPr lang="en-US" sz="1500" b="1" dirty="0">
                <a:solidFill>
                  <a:srgbClr val="A23B22"/>
                </a:solidFill>
                <a:latin typeface="Calibri" pitchFamily="34" charset="0"/>
                <a:ea typeface="Calibri" pitchFamily="34" charset="-122"/>
                <a:cs typeface="Calibri" pitchFamily="34" charset="-120"/>
              </a:rPr>
              <a:t>2</a:t>
            </a:r>
            <a:endParaRPr lang="en-US" sz="1250" dirty="0"/>
          </a:p>
        </p:txBody>
      </p:sp>
      <p:sp>
        <p:nvSpPr>
          <p:cNvPr id="11" name="Shape 8"/>
          <p:cNvSpPr/>
          <p:nvPr/>
        </p:nvSpPr>
        <p:spPr>
          <a:xfrm>
            <a:off x="548640" y="6053328"/>
            <a:ext cx="11091672" cy="603504"/>
          </a:xfrm>
          <a:prstGeom prst="rect">
            <a:avLst/>
          </a:prstGeom>
          <a:solidFill>
            <a:srgbClr val="FBEEE5"/>
          </a:solidFill>
          <a:ln/>
        </p:spPr>
      </p:sp>
      <p:sp>
        <p:nvSpPr>
          <p:cNvPr id="12" name="Shape 9"/>
          <p:cNvSpPr/>
          <p:nvPr/>
        </p:nvSpPr>
        <p:spPr>
          <a:xfrm>
            <a:off x="749808" y="6272784"/>
            <a:ext cx="164592" cy="164592"/>
          </a:xfrm>
          <a:prstGeom prst="roundRect">
            <a:avLst>
              <a:gd name="adj" fmla="val 22222"/>
            </a:avLst>
          </a:prstGeom>
          <a:solidFill>
            <a:srgbClr val="CB5E2E"/>
          </a:solidFill>
          <a:ln/>
        </p:spPr>
      </p:sp>
      <p:sp>
        <p:nvSpPr>
          <p:cNvPr id="13" name="Text 10"/>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IA entregó 4 elementos: 3 correctos, 1 inventado, y se le escaparon 2. Ahora traducimos eso a tres números.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Precisión, recuperación y F1</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Los mismos conteos (VP=3, FP=1, FN=2), leídos como tres preguntas distintas.</a:t>
            </a:r>
            <a:endParaRPr lang="en-US" sz="1400" dirty="0"/>
          </a:p>
        </p:txBody>
      </p:sp>
      <p:sp>
        <p:nvSpPr>
          <p:cNvPr id="4" name="Shape 2"/>
          <p:cNvSpPr/>
          <p:nvPr/>
        </p:nvSpPr>
        <p:spPr>
          <a:xfrm>
            <a:off x="548640" y="1874520"/>
            <a:ext cx="3502152" cy="2331720"/>
          </a:xfrm>
          <a:prstGeom prst="roundRect">
            <a:avLst>
              <a:gd name="adj" fmla="val 2353"/>
            </a:avLst>
          </a:prstGeom>
          <a:solidFill>
            <a:srgbClr val="FFFFFF"/>
          </a:solidFill>
          <a:ln w="9525">
            <a:solidFill>
              <a:srgbClr val="D5DCE3"/>
            </a:solidFill>
            <a:prstDash val="solid"/>
          </a:ln>
        </p:spPr>
      </p:sp>
      <p:sp>
        <p:nvSpPr>
          <p:cNvPr id="5" name="Text 3"/>
          <p:cNvSpPr txBox="1"/>
          <p:nvPr/>
        </p:nvSpPr>
        <p:spPr>
          <a:xfrm>
            <a:off x="777240" y="2075688"/>
            <a:ext cx="3044952" cy="411480"/>
          </a:xfrm>
          <a:prstGeom prst="rect">
            <a:avLst/>
          </a:prstGeom>
          <a:noFill/>
          <a:ln/>
        </p:spPr>
        <p:txBody>
          <a:bodyPr wrap="square" lIns="0" tIns="0" rIns="0" bIns="0" rtlCol="0" anchor="ctr"/>
          <a:lstStyle/>
          <a:p>
            <a:pPr indent="0" marL="0">
              <a:buNone/>
            </a:pPr>
            <a:r>
              <a:rPr lang="en-US" sz="1700" b="1" dirty="0">
                <a:solidFill>
                  <a:srgbClr val="CB5E2E"/>
                </a:solidFill>
                <a:latin typeface="Calibri" pitchFamily="34" charset="0"/>
                <a:ea typeface="Calibri" pitchFamily="34" charset="-122"/>
                <a:cs typeface="Calibri" pitchFamily="34" charset="-120"/>
              </a:rPr>
              <a:t>Precisión</a:t>
            </a:r>
            <a:endParaRPr lang="en-US" sz="1700" dirty="0"/>
          </a:p>
        </p:txBody>
      </p:sp>
      <p:sp>
        <p:nvSpPr>
          <p:cNvPr id="6" name="Text 4"/>
          <p:cNvSpPr txBox="1"/>
          <p:nvPr/>
        </p:nvSpPr>
        <p:spPr>
          <a:xfrm>
            <a:off x="777240" y="2532888"/>
            <a:ext cx="3044952" cy="68580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libri" pitchFamily="34" charset="0"/>
                <a:ea typeface="Calibri" pitchFamily="34" charset="-122"/>
                <a:cs typeface="Calibri" pitchFamily="34" charset="-120"/>
              </a:rPr>
              <a:t>De lo que la IA entregó, ¿cuánto era correcto?</a:t>
            </a:r>
            <a:endParaRPr lang="en-US" sz="1250" dirty="0"/>
          </a:p>
        </p:txBody>
      </p:sp>
      <p:sp>
        <p:nvSpPr>
          <p:cNvPr id="7" name="Text 5"/>
          <p:cNvSpPr txBox="1"/>
          <p:nvPr/>
        </p:nvSpPr>
        <p:spPr>
          <a:xfrm>
            <a:off x="777240" y="3246120"/>
            <a:ext cx="3044952" cy="365760"/>
          </a:xfrm>
          <a:prstGeom prst="rect">
            <a:avLst/>
          </a:prstGeom>
          <a:noFill/>
          <a:ln/>
        </p:spPr>
        <p:txBody>
          <a:bodyPr wrap="square" lIns="0" tIns="0" rIns="0" bIns="0" rtlCol="0" anchor="ctr"/>
          <a:lstStyle/>
          <a:p>
            <a:pPr indent="0" marL="0">
              <a:buNone/>
            </a:pPr>
            <a:r>
              <a:rPr lang="en-US" sz="1250" i="1" dirty="0">
                <a:solidFill>
                  <a:srgbClr val="60707E"/>
                </a:solidFill>
                <a:latin typeface="Cambria" pitchFamily="34" charset="0"/>
                <a:ea typeface="Cambria" pitchFamily="34" charset="-122"/>
                <a:cs typeface="Cambria" pitchFamily="34" charset="-120"/>
              </a:rPr>
              <a:t>VP / (VP + FP)</a:t>
            </a:r>
            <a:endParaRPr lang="en-US" sz="1250" dirty="0"/>
          </a:p>
        </p:txBody>
      </p:sp>
      <p:sp>
        <p:nvSpPr>
          <p:cNvPr id="8" name="Text 6"/>
          <p:cNvSpPr txBox="1"/>
          <p:nvPr/>
        </p:nvSpPr>
        <p:spPr>
          <a:xfrm>
            <a:off x="777240" y="3611880"/>
            <a:ext cx="3044952" cy="320040"/>
          </a:xfrm>
          <a:prstGeom prst="rect">
            <a:avLst/>
          </a:prstGeom>
          <a:noFill/>
          <a:ln/>
        </p:spPr>
        <p:txBody>
          <a:bodyPr wrap="square" lIns="0" tIns="0" rIns="0" bIns="0" rtlCol="0" anchor="ctr"/>
          <a:lstStyle/>
          <a:p>
            <a:pPr indent="0" marL="0">
              <a:buNone/>
            </a:pPr>
            <a:r>
              <a:rPr lang="en-US" sz="1200" dirty="0">
                <a:solidFill>
                  <a:srgbClr val="60707E"/>
                </a:solidFill>
                <a:latin typeface="Calibri" pitchFamily="34" charset="0"/>
                <a:ea typeface="Calibri" pitchFamily="34" charset="-122"/>
                <a:cs typeface="Calibri" pitchFamily="34" charset="-120"/>
              </a:rPr>
              <a:t>3 / (3 + 1)</a:t>
            </a:r>
            <a:endParaRPr lang="en-US" sz="1200" dirty="0"/>
          </a:p>
        </p:txBody>
      </p:sp>
      <p:sp>
        <p:nvSpPr>
          <p:cNvPr id="9" name="Text 7"/>
          <p:cNvSpPr txBox="1"/>
          <p:nvPr/>
        </p:nvSpPr>
        <p:spPr>
          <a:xfrm>
            <a:off x="777240" y="3867912"/>
            <a:ext cx="3044952" cy="27432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 0.75</a:t>
            </a:r>
            <a:endParaRPr lang="en-US" sz="1300" dirty="0"/>
          </a:p>
        </p:txBody>
      </p:sp>
      <p:sp>
        <p:nvSpPr>
          <p:cNvPr id="10" name="Shape 8"/>
          <p:cNvSpPr/>
          <p:nvPr/>
        </p:nvSpPr>
        <p:spPr>
          <a:xfrm>
            <a:off x="4343400" y="1874520"/>
            <a:ext cx="3502152" cy="2331720"/>
          </a:xfrm>
          <a:prstGeom prst="roundRect">
            <a:avLst>
              <a:gd name="adj" fmla="val 2353"/>
            </a:avLst>
          </a:prstGeom>
          <a:solidFill>
            <a:srgbClr val="FFFFFF"/>
          </a:solidFill>
          <a:ln w="9525">
            <a:solidFill>
              <a:srgbClr val="D5DCE3"/>
            </a:solidFill>
            <a:prstDash val="solid"/>
          </a:ln>
        </p:spPr>
      </p:sp>
      <p:sp>
        <p:nvSpPr>
          <p:cNvPr id="11" name="Text 9"/>
          <p:cNvSpPr txBox="1"/>
          <p:nvPr/>
        </p:nvSpPr>
        <p:spPr>
          <a:xfrm>
            <a:off x="4572000" y="2075688"/>
            <a:ext cx="3044952" cy="411480"/>
          </a:xfrm>
          <a:prstGeom prst="rect">
            <a:avLst/>
          </a:prstGeom>
          <a:noFill/>
          <a:ln/>
        </p:spPr>
        <p:txBody>
          <a:bodyPr wrap="square" lIns="0" tIns="0" rIns="0" bIns="0" rtlCol="0" anchor="ctr"/>
          <a:lstStyle/>
          <a:p>
            <a:pPr indent="0" marL="0">
              <a:buNone/>
            </a:pPr>
            <a:r>
              <a:rPr lang="en-US" sz="1700" b="1" dirty="0">
                <a:solidFill>
                  <a:srgbClr val="CB5E2E"/>
                </a:solidFill>
                <a:latin typeface="Calibri" pitchFamily="34" charset="0"/>
                <a:ea typeface="Calibri" pitchFamily="34" charset="-122"/>
                <a:cs typeface="Calibri" pitchFamily="34" charset="-120"/>
              </a:rPr>
              <a:t>Recuperación</a:t>
            </a:r>
            <a:endParaRPr lang="en-US" sz="1700" dirty="0"/>
          </a:p>
        </p:txBody>
      </p:sp>
      <p:sp>
        <p:nvSpPr>
          <p:cNvPr id="12" name="Text 10"/>
          <p:cNvSpPr txBox="1"/>
          <p:nvPr/>
        </p:nvSpPr>
        <p:spPr>
          <a:xfrm>
            <a:off x="4572000" y="2532888"/>
            <a:ext cx="3044952" cy="68580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libri" pitchFamily="34" charset="0"/>
                <a:ea typeface="Calibri" pitchFamily="34" charset="-122"/>
                <a:cs typeface="Calibri" pitchFamily="34" charset="-120"/>
              </a:rPr>
              <a:t>De lo que había que sacar, ¿cuánto encontró?</a:t>
            </a:r>
            <a:endParaRPr lang="en-US" sz="1250" dirty="0"/>
          </a:p>
        </p:txBody>
      </p:sp>
      <p:sp>
        <p:nvSpPr>
          <p:cNvPr id="13" name="Text 11"/>
          <p:cNvSpPr txBox="1"/>
          <p:nvPr/>
        </p:nvSpPr>
        <p:spPr>
          <a:xfrm>
            <a:off x="4572000" y="3246120"/>
            <a:ext cx="3044952" cy="365760"/>
          </a:xfrm>
          <a:prstGeom prst="rect">
            <a:avLst/>
          </a:prstGeom>
          <a:noFill/>
          <a:ln/>
        </p:spPr>
        <p:txBody>
          <a:bodyPr wrap="square" lIns="0" tIns="0" rIns="0" bIns="0" rtlCol="0" anchor="ctr"/>
          <a:lstStyle/>
          <a:p>
            <a:pPr indent="0" marL="0">
              <a:buNone/>
            </a:pPr>
            <a:r>
              <a:rPr lang="en-US" sz="1250" i="1" dirty="0">
                <a:solidFill>
                  <a:srgbClr val="60707E"/>
                </a:solidFill>
                <a:latin typeface="Cambria" pitchFamily="34" charset="0"/>
                <a:ea typeface="Cambria" pitchFamily="34" charset="-122"/>
                <a:cs typeface="Cambria" pitchFamily="34" charset="-120"/>
              </a:rPr>
              <a:t>VP / (VP + FN)</a:t>
            </a:r>
            <a:endParaRPr lang="en-US" sz="1250" dirty="0"/>
          </a:p>
        </p:txBody>
      </p:sp>
      <p:sp>
        <p:nvSpPr>
          <p:cNvPr id="14" name="Text 12"/>
          <p:cNvSpPr txBox="1"/>
          <p:nvPr/>
        </p:nvSpPr>
        <p:spPr>
          <a:xfrm>
            <a:off x="4572000" y="3611880"/>
            <a:ext cx="3044952" cy="320040"/>
          </a:xfrm>
          <a:prstGeom prst="rect">
            <a:avLst/>
          </a:prstGeom>
          <a:noFill/>
          <a:ln/>
        </p:spPr>
        <p:txBody>
          <a:bodyPr wrap="square" lIns="0" tIns="0" rIns="0" bIns="0" rtlCol="0" anchor="ctr"/>
          <a:lstStyle/>
          <a:p>
            <a:pPr indent="0" marL="0">
              <a:buNone/>
            </a:pPr>
            <a:r>
              <a:rPr lang="en-US" sz="1200" dirty="0">
                <a:solidFill>
                  <a:srgbClr val="60707E"/>
                </a:solidFill>
                <a:latin typeface="Calibri" pitchFamily="34" charset="0"/>
                <a:ea typeface="Calibri" pitchFamily="34" charset="-122"/>
                <a:cs typeface="Calibri" pitchFamily="34" charset="-120"/>
              </a:rPr>
              <a:t>3 / (3 + 2)</a:t>
            </a:r>
            <a:endParaRPr lang="en-US" sz="1200" dirty="0"/>
          </a:p>
        </p:txBody>
      </p:sp>
      <p:sp>
        <p:nvSpPr>
          <p:cNvPr id="15" name="Text 13"/>
          <p:cNvSpPr txBox="1"/>
          <p:nvPr/>
        </p:nvSpPr>
        <p:spPr>
          <a:xfrm>
            <a:off x="4572000" y="3867912"/>
            <a:ext cx="3044952" cy="27432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 0.60</a:t>
            </a:r>
            <a:endParaRPr lang="en-US" sz="1300" dirty="0"/>
          </a:p>
        </p:txBody>
      </p:sp>
      <p:sp>
        <p:nvSpPr>
          <p:cNvPr id="16" name="Shape 14"/>
          <p:cNvSpPr/>
          <p:nvPr/>
        </p:nvSpPr>
        <p:spPr>
          <a:xfrm>
            <a:off x="8138160" y="1874520"/>
            <a:ext cx="3502152" cy="2331720"/>
          </a:xfrm>
          <a:prstGeom prst="roundRect">
            <a:avLst>
              <a:gd name="adj" fmla="val 2353"/>
            </a:avLst>
          </a:prstGeom>
          <a:solidFill>
            <a:srgbClr val="FFFFFF"/>
          </a:solidFill>
          <a:ln w="9525">
            <a:solidFill>
              <a:srgbClr val="D5DCE3"/>
            </a:solidFill>
            <a:prstDash val="solid"/>
          </a:ln>
        </p:spPr>
      </p:sp>
      <p:sp>
        <p:nvSpPr>
          <p:cNvPr id="17" name="Text 15"/>
          <p:cNvSpPr txBox="1"/>
          <p:nvPr/>
        </p:nvSpPr>
        <p:spPr>
          <a:xfrm>
            <a:off x="8366760" y="2075688"/>
            <a:ext cx="3044952" cy="411480"/>
          </a:xfrm>
          <a:prstGeom prst="rect">
            <a:avLst/>
          </a:prstGeom>
          <a:noFill/>
          <a:ln/>
        </p:spPr>
        <p:txBody>
          <a:bodyPr wrap="square" lIns="0" tIns="0" rIns="0" bIns="0" rtlCol="0" anchor="ctr"/>
          <a:lstStyle/>
          <a:p>
            <a:pPr indent="0" marL="0">
              <a:buNone/>
            </a:pPr>
            <a:r>
              <a:rPr lang="en-US" sz="1700" b="1" dirty="0">
                <a:solidFill>
                  <a:srgbClr val="CB5E2E"/>
                </a:solidFill>
                <a:latin typeface="Calibri" pitchFamily="34" charset="0"/>
                <a:ea typeface="Calibri" pitchFamily="34" charset="-122"/>
                <a:cs typeface="Calibri" pitchFamily="34" charset="-120"/>
              </a:rPr>
              <a:t>F1</a:t>
            </a:r>
            <a:endParaRPr lang="en-US" sz="1700" dirty="0"/>
          </a:p>
        </p:txBody>
      </p:sp>
      <p:sp>
        <p:nvSpPr>
          <p:cNvPr id="18" name="Text 16"/>
          <p:cNvSpPr txBox="1"/>
          <p:nvPr/>
        </p:nvSpPr>
        <p:spPr>
          <a:xfrm>
            <a:off x="8366760" y="2532888"/>
            <a:ext cx="3044952" cy="68580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libri" pitchFamily="34" charset="0"/>
                <a:ea typeface="Calibri" pitchFamily="34" charset="-122"/>
                <a:cs typeface="Calibri" pitchFamily="34" charset="-120"/>
              </a:rPr>
              <a:t>Las dos en un solo número (media armónica).</a:t>
            </a:r>
            <a:endParaRPr lang="en-US" sz="1250" dirty="0"/>
          </a:p>
        </p:txBody>
      </p:sp>
      <p:sp>
        <p:nvSpPr>
          <p:cNvPr id="19" name="Text 17"/>
          <p:cNvSpPr txBox="1"/>
          <p:nvPr/>
        </p:nvSpPr>
        <p:spPr>
          <a:xfrm>
            <a:off x="8366760" y="3246120"/>
            <a:ext cx="3044952" cy="365760"/>
          </a:xfrm>
          <a:prstGeom prst="rect">
            <a:avLst/>
          </a:prstGeom>
          <a:noFill/>
          <a:ln/>
        </p:spPr>
        <p:txBody>
          <a:bodyPr wrap="square" lIns="0" tIns="0" rIns="0" bIns="0" rtlCol="0" anchor="ctr"/>
          <a:lstStyle/>
          <a:p>
            <a:pPr indent="0" marL="0">
              <a:buNone/>
            </a:pPr>
            <a:r>
              <a:rPr lang="en-US" sz="1250" i="1" dirty="0">
                <a:solidFill>
                  <a:srgbClr val="60707E"/>
                </a:solidFill>
                <a:latin typeface="Cambria" pitchFamily="34" charset="0"/>
                <a:ea typeface="Cambria" pitchFamily="34" charset="-122"/>
                <a:cs typeface="Cambria" pitchFamily="34" charset="-120"/>
              </a:rPr>
              <a:t>2·P·R / (P + R)</a:t>
            </a:r>
            <a:endParaRPr lang="en-US" sz="1250" dirty="0"/>
          </a:p>
        </p:txBody>
      </p:sp>
      <p:sp>
        <p:nvSpPr>
          <p:cNvPr id="20" name="Text 18"/>
          <p:cNvSpPr txBox="1"/>
          <p:nvPr/>
        </p:nvSpPr>
        <p:spPr>
          <a:xfrm>
            <a:off x="8366760" y="3611880"/>
            <a:ext cx="3044952" cy="320040"/>
          </a:xfrm>
          <a:prstGeom prst="rect">
            <a:avLst/>
          </a:prstGeom>
          <a:noFill/>
          <a:ln/>
        </p:spPr>
        <p:txBody>
          <a:bodyPr wrap="square" lIns="0" tIns="0" rIns="0" bIns="0" rtlCol="0" anchor="ctr"/>
          <a:lstStyle/>
          <a:p>
            <a:pPr indent="0" marL="0">
              <a:buNone/>
            </a:pPr>
            <a:r>
              <a:rPr lang="en-US" sz="1200" dirty="0">
                <a:solidFill>
                  <a:srgbClr val="60707E"/>
                </a:solidFill>
                <a:latin typeface="Calibri" pitchFamily="34" charset="0"/>
                <a:ea typeface="Calibri" pitchFamily="34" charset="-122"/>
                <a:cs typeface="Calibri" pitchFamily="34" charset="-120"/>
              </a:rPr>
              <a:t>2·0.75·0.60 / 1.35</a:t>
            </a:r>
            <a:endParaRPr lang="en-US" sz="1200" dirty="0"/>
          </a:p>
        </p:txBody>
      </p:sp>
      <p:sp>
        <p:nvSpPr>
          <p:cNvPr id="21" name="Text 19"/>
          <p:cNvSpPr txBox="1"/>
          <p:nvPr/>
        </p:nvSpPr>
        <p:spPr>
          <a:xfrm>
            <a:off x="8366760" y="3867912"/>
            <a:ext cx="3044952" cy="27432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 0.67</a:t>
            </a:r>
            <a:endParaRPr lang="en-US" sz="1300" dirty="0"/>
          </a:p>
        </p:txBody>
      </p:sp>
      <p:sp>
        <p:nvSpPr>
          <p:cNvPr id="22" name="Shape 20"/>
          <p:cNvSpPr/>
          <p:nvPr/>
        </p:nvSpPr>
        <p:spPr>
          <a:xfrm>
            <a:off x="548640" y="4480560"/>
            <a:ext cx="3502152" cy="1234440"/>
          </a:xfrm>
          <a:prstGeom prst="roundRect">
            <a:avLst>
              <a:gd name="adj" fmla="val 4444"/>
            </a:avLst>
          </a:prstGeom>
          <a:solidFill>
            <a:srgbClr val="15293B"/>
          </a:solidFill>
          <a:ln/>
        </p:spPr>
      </p:sp>
      <p:sp>
        <p:nvSpPr>
          <p:cNvPr id="23" name="Text 21"/>
          <p:cNvSpPr txBox="1"/>
          <p:nvPr/>
        </p:nvSpPr>
        <p:spPr>
          <a:xfrm>
            <a:off x="777240" y="4590288"/>
            <a:ext cx="3044952"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0.75</a:t>
            </a:r>
            <a:endParaRPr lang="en-US" sz="4400" dirty="0"/>
          </a:p>
        </p:txBody>
      </p:sp>
      <p:sp>
        <p:nvSpPr>
          <p:cNvPr id="24" name="Text 22"/>
          <p:cNvSpPr txBox="1"/>
          <p:nvPr/>
        </p:nvSpPr>
        <p:spPr>
          <a:xfrm>
            <a:off x="777240" y="5376672"/>
            <a:ext cx="3044952"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PRECISIÓN</a:t>
            </a:r>
            <a:endParaRPr lang="en-US" sz="1200" dirty="0"/>
          </a:p>
        </p:txBody>
      </p:sp>
      <p:sp>
        <p:nvSpPr>
          <p:cNvPr id="25" name="Shape 23"/>
          <p:cNvSpPr/>
          <p:nvPr/>
        </p:nvSpPr>
        <p:spPr>
          <a:xfrm>
            <a:off x="4343400" y="4480560"/>
            <a:ext cx="3502152" cy="1234440"/>
          </a:xfrm>
          <a:prstGeom prst="roundRect">
            <a:avLst>
              <a:gd name="adj" fmla="val 4444"/>
            </a:avLst>
          </a:prstGeom>
          <a:solidFill>
            <a:srgbClr val="15293B"/>
          </a:solidFill>
          <a:ln/>
        </p:spPr>
      </p:sp>
      <p:sp>
        <p:nvSpPr>
          <p:cNvPr id="26" name="Text 24"/>
          <p:cNvSpPr txBox="1"/>
          <p:nvPr/>
        </p:nvSpPr>
        <p:spPr>
          <a:xfrm>
            <a:off x="4572000" y="4590288"/>
            <a:ext cx="3044952"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0.60</a:t>
            </a:r>
            <a:endParaRPr lang="en-US" sz="4400" dirty="0"/>
          </a:p>
        </p:txBody>
      </p:sp>
      <p:sp>
        <p:nvSpPr>
          <p:cNvPr id="27" name="Text 25"/>
          <p:cNvSpPr txBox="1"/>
          <p:nvPr/>
        </p:nvSpPr>
        <p:spPr>
          <a:xfrm>
            <a:off x="4572000" y="5376672"/>
            <a:ext cx="3044952"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RECUPERACIÓN</a:t>
            </a:r>
            <a:endParaRPr lang="en-US" sz="1200" dirty="0"/>
          </a:p>
        </p:txBody>
      </p:sp>
      <p:sp>
        <p:nvSpPr>
          <p:cNvPr id="28" name="Shape 26"/>
          <p:cNvSpPr/>
          <p:nvPr/>
        </p:nvSpPr>
        <p:spPr>
          <a:xfrm>
            <a:off x="8138160" y="4480560"/>
            <a:ext cx="3502152" cy="1234440"/>
          </a:xfrm>
          <a:prstGeom prst="roundRect">
            <a:avLst>
              <a:gd name="adj" fmla="val 4444"/>
            </a:avLst>
          </a:prstGeom>
          <a:solidFill>
            <a:srgbClr val="15293B"/>
          </a:solidFill>
          <a:ln/>
        </p:spPr>
      </p:sp>
      <p:sp>
        <p:nvSpPr>
          <p:cNvPr id="29" name="Text 27"/>
          <p:cNvSpPr txBox="1"/>
          <p:nvPr/>
        </p:nvSpPr>
        <p:spPr>
          <a:xfrm>
            <a:off x="8366760" y="4590288"/>
            <a:ext cx="3044952"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0.67</a:t>
            </a:r>
            <a:endParaRPr lang="en-US" sz="4400" dirty="0"/>
          </a:p>
        </p:txBody>
      </p:sp>
      <p:sp>
        <p:nvSpPr>
          <p:cNvPr id="30" name="Text 28"/>
          <p:cNvSpPr txBox="1"/>
          <p:nvPr/>
        </p:nvSpPr>
        <p:spPr>
          <a:xfrm>
            <a:off x="8366760" y="5376672"/>
            <a:ext cx="3044952"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F1</a:t>
            </a:r>
            <a:endParaRPr lang="en-US" sz="1200" dirty="0"/>
          </a:p>
        </p:txBody>
      </p:sp>
      <p:sp>
        <p:nvSpPr>
          <p:cNvPr id="31" name="Shape 29"/>
          <p:cNvSpPr/>
          <p:nvPr/>
        </p:nvSpPr>
        <p:spPr>
          <a:xfrm>
            <a:off x="548640" y="6053328"/>
            <a:ext cx="11091672" cy="603504"/>
          </a:xfrm>
          <a:prstGeom prst="rect">
            <a:avLst/>
          </a:prstGeom>
          <a:solidFill>
            <a:srgbClr val="FBEEE5"/>
          </a:solidFill>
          <a:ln/>
        </p:spPr>
      </p:sp>
      <p:sp>
        <p:nvSpPr>
          <p:cNvPr id="32" name="Shape 30"/>
          <p:cNvSpPr/>
          <p:nvPr/>
        </p:nvSpPr>
        <p:spPr>
          <a:xfrm>
            <a:off x="749808" y="6272784"/>
            <a:ext cx="164592" cy="164592"/>
          </a:xfrm>
          <a:prstGeom prst="roundRect">
            <a:avLst>
              <a:gd name="adj" fmla="val 22222"/>
            </a:avLst>
          </a:prstGeom>
          <a:solidFill>
            <a:srgbClr val="CB5E2E"/>
          </a:solidFill>
          <a:ln/>
        </p:spPr>
      </p:sp>
      <p:sp>
        <p:nvSpPr>
          <p:cNvPr id="33" name="Text 31"/>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Una recuperación de 0.60 significa que se escaparon 2 de 5 requisitos: en una evaluación que se firma, eso es grave aunque la precisión se vea alta.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le dice cada número a un evaluador</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No son métricas de ingeniería: cada una nombra un riesgo concreto en su informe.</a:t>
            </a:r>
            <a:endParaRPr lang="en-US" sz="1400" dirty="0"/>
          </a:p>
        </p:txBody>
      </p:sp>
      <p:sp>
        <p:nvSpPr>
          <p:cNvPr id="4" name="Shape 2"/>
          <p:cNvSpPr/>
          <p:nvPr/>
        </p:nvSpPr>
        <p:spPr>
          <a:xfrm>
            <a:off x="548640" y="1965960"/>
            <a:ext cx="5394960" cy="1965960"/>
          </a:xfrm>
          <a:prstGeom prst="roundRect">
            <a:avLst>
              <a:gd name="adj" fmla="val 2791"/>
            </a:avLst>
          </a:prstGeom>
          <a:solidFill>
            <a:srgbClr val="FFFFFF"/>
          </a:solidFill>
          <a:ln w="9525">
            <a:solidFill>
              <a:srgbClr val="D5DCE3"/>
            </a:solidFill>
            <a:prstDash val="solid"/>
          </a:ln>
        </p:spPr>
      </p:sp>
      <p:sp>
        <p:nvSpPr>
          <p:cNvPr id="5" name="Text 3"/>
          <p:cNvSpPr txBox="1"/>
          <p:nvPr/>
        </p:nvSpPr>
        <p:spPr>
          <a:xfrm>
            <a:off x="822960" y="2167128"/>
            <a:ext cx="4846320" cy="411480"/>
          </a:xfrm>
          <a:prstGeom prst="rect">
            <a:avLst/>
          </a:prstGeom>
          <a:noFill/>
          <a:ln/>
        </p:spPr>
        <p:txBody>
          <a:bodyPr wrap="square" lIns="0" tIns="0" rIns="0" bIns="0" rtlCol="0" anchor="ctr"/>
          <a:lstStyle/>
          <a:p>
            <a:pPr indent="0" marL="0">
              <a:buNone/>
            </a:pPr>
            <a:r>
              <a:rPr lang="en-US" sz="1700" b="1" dirty="0">
                <a:solidFill>
                  <a:srgbClr val="A23B22"/>
                </a:solidFill>
                <a:latin typeface="Calibri" pitchFamily="34" charset="0"/>
                <a:ea typeface="Calibri" pitchFamily="34" charset="-122"/>
                <a:cs typeface="Calibri" pitchFamily="34" charset="-120"/>
              </a:rPr>
              <a:t>Precisión baja</a:t>
            </a:r>
            <a:endParaRPr lang="en-US" sz="1700" dirty="0"/>
          </a:p>
        </p:txBody>
      </p:sp>
      <p:sp>
        <p:nvSpPr>
          <p:cNvPr id="6" name="Text 4"/>
          <p:cNvSpPr txBox="1"/>
          <p:nvPr/>
        </p:nvSpPr>
        <p:spPr>
          <a:xfrm>
            <a:off x="822960" y="2624328"/>
            <a:ext cx="4846320" cy="1143000"/>
          </a:xfrm>
          <a:prstGeom prst="rect">
            <a:avLst/>
          </a:prstGeom>
          <a:noFill/>
          <a:ln/>
        </p:spPr>
        <p:txBody>
          <a:bodyPr wrap="square" lIns="0" tIns="0" rIns="0" bIns="0" rtlCol="0" anchor="ctr"/>
          <a:lstStyle/>
          <a:p>
            <a:pPr indent="0" marL="0">
              <a:lnSpc>
                <a:spcPct val="105000"/>
              </a:lnSpc>
              <a:buNone/>
            </a:pPr>
            <a:r>
              <a:rPr lang="en-US" sz="1350" dirty="0">
                <a:solidFill>
                  <a:srgbClr val="1E2A35"/>
                </a:solidFill>
                <a:latin typeface="Calibri" pitchFamily="34" charset="0"/>
                <a:ea typeface="Calibri" pitchFamily="34" charset="-122"/>
                <a:cs typeface="Calibri" pitchFamily="34" charset="-120"/>
              </a:rPr>
              <a:t>La IA inventó algo. Si ese dato llega al informe, la evaluación afirma que una entidad exige o hace algo que la norma no dice. El error acusa.</a:t>
            </a:r>
            <a:endParaRPr lang="en-US" sz="1350" dirty="0"/>
          </a:p>
        </p:txBody>
      </p:sp>
      <p:sp>
        <p:nvSpPr>
          <p:cNvPr id="7" name="Shape 5"/>
          <p:cNvSpPr/>
          <p:nvPr/>
        </p:nvSpPr>
        <p:spPr>
          <a:xfrm>
            <a:off x="6245352" y="1965960"/>
            <a:ext cx="5394960" cy="1965960"/>
          </a:xfrm>
          <a:prstGeom prst="roundRect">
            <a:avLst>
              <a:gd name="adj" fmla="val 2791"/>
            </a:avLst>
          </a:prstGeom>
          <a:solidFill>
            <a:srgbClr val="FFFFFF"/>
          </a:solidFill>
          <a:ln w="9525">
            <a:solidFill>
              <a:srgbClr val="D5DCE3"/>
            </a:solidFill>
            <a:prstDash val="solid"/>
          </a:ln>
        </p:spPr>
      </p:sp>
      <p:sp>
        <p:nvSpPr>
          <p:cNvPr id="8" name="Text 6"/>
          <p:cNvSpPr txBox="1"/>
          <p:nvPr/>
        </p:nvSpPr>
        <p:spPr>
          <a:xfrm>
            <a:off x="6519672" y="2167128"/>
            <a:ext cx="4846320" cy="411480"/>
          </a:xfrm>
          <a:prstGeom prst="rect">
            <a:avLst/>
          </a:prstGeom>
          <a:noFill/>
          <a:ln/>
        </p:spPr>
        <p:txBody>
          <a:bodyPr wrap="square" lIns="0" tIns="0" rIns="0" bIns="0" rtlCol="0" anchor="ctr"/>
          <a:lstStyle/>
          <a:p>
            <a:pPr indent="0" marL="0">
              <a:buNone/>
            </a:pPr>
            <a:r>
              <a:rPr lang="en-US" sz="1700" b="1" dirty="0">
                <a:solidFill>
                  <a:srgbClr val="A23B22"/>
                </a:solidFill>
                <a:latin typeface="Calibri" pitchFamily="34" charset="0"/>
                <a:ea typeface="Calibri" pitchFamily="34" charset="-122"/>
                <a:cs typeface="Calibri" pitchFamily="34" charset="-120"/>
              </a:rPr>
              <a:t>Recuperación baja</a:t>
            </a:r>
            <a:endParaRPr lang="en-US" sz="1700" dirty="0"/>
          </a:p>
        </p:txBody>
      </p:sp>
      <p:sp>
        <p:nvSpPr>
          <p:cNvPr id="9" name="Text 7"/>
          <p:cNvSpPr txBox="1"/>
          <p:nvPr/>
        </p:nvSpPr>
        <p:spPr>
          <a:xfrm>
            <a:off x="6519672" y="2624328"/>
            <a:ext cx="4846320" cy="1143000"/>
          </a:xfrm>
          <a:prstGeom prst="rect">
            <a:avLst/>
          </a:prstGeom>
          <a:noFill/>
          <a:ln/>
        </p:spPr>
        <p:txBody>
          <a:bodyPr wrap="square" lIns="0" tIns="0" rIns="0" bIns="0" rtlCol="0" anchor="ctr"/>
          <a:lstStyle/>
          <a:p>
            <a:pPr indent="0" marL="0">
              <a:lnSpc>
                <a:spcPct val="105000"/>
              </a:lnSpc>
              <a:buNone/>
            </a:pPr>
            <a:r>
              <a:rPr lang="en-US" sz="1350" dirty="0">
                <a:solidFill>
                  <a:srgbClr val="1E2A35"/>
                </a:solidFill>
                <a:latin typeface="Calibri" pitchFamily="34" charset="0"/>
                <a:ea typeface="Calibri" pitchFamily="34" charset="-122"/>
                <a:cs typeface="Calibri" pitchFamily="34" charset="-120"/>
              </a:rPr>
              <a:t>La IA omitió algo. La evaluación queda incompleta: se dictamina sobre un programa sin haber visto un requisito o un hallazgo que sí estaba en el documento.</a:t>
            </a:r>
            <a:endParaRPr lang="en-US" sz="1350" dirty="0"/>
          </a:p>
        </p:txBody>
      </p:sp>
      <p:sp>
        <p:nvSpPr>
          <p:cNvPr id="10" name="Shape 8"/>
          <p:cNvSpPr/>
          <p:nvPr/>
        </p:nvSpPr>
        <p:spPr>
          <a:xfrm>
            <a:off x="548640" y="4206240"/>
            <a:ext cx="11091672" cy="1508760"/>
          </a:xfrm>
          <a:prstGeom prst="roundRect">
            <a:avLst>
              <a:gd name="adj" fmla="val 3636"/>
            </a:avLst>
          </a:prstGeom>
          <a:solidFill>
            <a:srgbClr val="15293B"/>
          </a:solidFill>
          <a:ln/>
        </p:spPr>
      </p:sp>
      <p:sp>
        <p:nvSpPr>
          <p:cNvPr id="11" name="Text 9"/>
          <p:cNvSpPr txBox="1"/>
          <p:nvPr/>
        </p:nvSpPr>
        <p:spPr>
          <a:xfrm>
            <a:off x="868680" y="4389120"/>
            <a:ext cx="10451592"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El costo de los dos errores casi nunca es igual</a:t>
            </a:r>
            <a:endParaRPr lang="en-US" sz="1600" dirty="0"/>
          </a:p>
        </p:txBody>
      </p:sp>
      <p:sp>
        <p:nvSpPr>
          <p:cNvPr id="12" name="Text 10"/>
          <p:cNvSpPr txBox="1"/>
          <p:nvPr/>
        </p:nvSpPr>
        <p:spPr>
          <a:xfrm>
            <a:off x="868680" y="4800600"/>
            <a:ext cx="10451592" cy="82296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En un dictamen que se firma, inventar un requisito suele costar más que omitirlo, porque acusa a la entidad. En una revisión donde alguien va a leer todo de todos modos, omitir cuesta más. </a:t>
            </a:r>
            <a:pPr indent="0" marL="0">
              <a:lnSpc>
                <a:spcPct val="105000"/>
              </a:lnSpc>
              <a:buNone/>
            </a:pPr>
            <a:r>
              <a:rPr lang="en-US" sz="1300" b="1" dirty="0">
                <a:solidFill>
                  <a:srgbClr val="E58A5B"/>
                </a:solidFill>
                <a:latin typeface="Calibri" pitchFamily="34" charset="0"/>
                <a:ea typeface="Calibri" pitchFamily="34" charset="-122"/>
                <a:cs typeface="Calibri" pitchFamily="34" charset="-120"/>
              </a:rPr>
              <a:t>Cuál pesa más lo decide el área usuaria antes de medir, no la fórmula.</a:t>
            </a:r>
            <a:endParaRPr lang="en-US" sz="1300" dirty="0"/>
          </a:p>
        </p:txBody>
      </p:sp>
      <p:sp>
        <p:nvSpPr>
          <p:cNvPr id="13" name="Text 11"/>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Se puede ponderar un error más que el otro con la familia Fβ (van Rijsbergen, 1979): β&gt;1 castiga más la omisión, β&lt;1 castiga más la invención. Aquí no la calculamos; basta saber que la decisión se declara, no se descubre.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BLOQUE 2</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Medir lo que la IA clasifica</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Cuando no existe una respuesta correcta</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Precisión y recuperación necesitan una lista de referencia. Muchas tareas de evaluación no la tienen.</a:t>
            </a:r>
            <a:endParaRPr lang="en-US" sz="1400" dirty="0"/>
          </a:p>
        </p:txBody>
      </p:sp>
      <p:sp>
        <p:nvSpPr>
          <p:cNvPr id="4" name="Shape 2"/>
          <p:cNvSpPr/>
          <p:nvPr/>
        </p:nvSpPr>
        <p:spPr>
          <a:xfrm>
            <a:off x="548640" y="1920240"/>
            <a:ext cx="5394960" cy="2423160"/>
          </a:xfrm>
          <a:prstGeom prst="roundRect">
            <a:avLst>
              <a:gd name="adj" fmla="val 2264"/>
            </a:avLst>
          </a:prstGeom>
          <a:solidFill>
            <a:srgbClr val="EEF2F5"/>
          </a:solidFill>
          <a:ln w="9525">
            <a:solidFill>
              <a:srgbClr val="D5DCE3"/>
            </a:solidFill>
            <a:prstDash val="solid"/>
          </a:ln>
        </p:spPr>
      </p:sp>
      <p:sp>
        <p:nvSpPr>
          <p:cNvPr id="5" name="Text 3"/>
          <p:cNvSpPr txBox="1"/>
          <p:nvPr/>
        </p:nvSpPr>
        <p:spPr>
          <a:xfrm>
            <a:off x="822960" y="2121408"/>
            <a:ext cx="4846320" cy="365760"/>
          </a:xfrm>
          <a:prstGeom prst="rect">
            <a:avLst/>
          </a:prstGeom>
          <a:noFill/>
          <a:ln/>
        </p:spPr>
        <p:txBody>
          <a:bodyPr wrap="square" lIns="0" tIns="0" rIns="0" bIns="0" rtlCol="0" anchor="ctr"/>
          <a:lstStyle/>
          <a:p>
            <a:pPr indent="0" marL="0">
              <a:buNone/>
            </a:pPr>
            <a:r>
              <a:rPr lang="en-US" sz="1200" b="1" spc="100" kern="0" dirty="0">
                <a:solidFill>
                  <a:srgbClr val="60707E"/>
                </a:solidFill>
                <a:latin typeface="Calibri" pitchFamily="34" charset="0"/>
                <a:ea typeface="Calibri" pitchFamily="34" charset="-122"/>
                <a:cs typeface="Calibri" pitchFamily="34" charset="-120"/>
              </a:rPr>
              <a:t>HAY UNA LISTA CONTRA QUÉ COMPARAR</a:t>
            </a:r>
            <a:endParaRPr lang="en-US" sz="1200" dirty="0"/>
          </a:p>
        </p:txBody>
      </p:sp>
      <p:sp>
        <p:nvSpPr>
          <p:cNvPr id="6" name="Text 4"/>
          <p:cNvSpPr txBox="1"/>
          <p:nvPr/>
        </p:nvSpPr>
        <p:spPr>
          <a:xfrm>
            <a:off x="822960" y="2487168"/>
            <a:ext cx="4846320"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¿Cuántos requisitos del artículo acertó la IA?</a:t>
            </a:r>
            <a:endParaRPr lang="en-US" sz="1500" dirty="0"/>
          </a:p>
        </p:txBody>
      </p:sp>
      <p:sp>
        <p:nvSpPr>
          <p:cNvPr id="7" name="Text 5"/>
          <p:cNvSpPr txBox="1"/>
          <p:nvPr/>
        </p:nvSpPr>
        <p:spPr>
          <a:xfrm>
            <a:off x="822960" y="3017520"/>
            <a:ext cx="4846320" cy="82296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Cualquiera que lea el artículo llega a la misma lista de requisitos. Se puede contar cuántos encontró y cuántos se le fueron.</a:t>
            </a:r>
            <a:endParaRPr lang="en-US" sz="1300" dirty="0"/>
          </a:p>
        </p:txBody>
      </p:sp>
      <p:sp>
        <p:nvSpPr>
          <p:cNvPr id="8" name="Text 6"/>
          <p:cNvSpPr txBox="1"/>
          <p:nvPr/>
        </p:nvSpPr>
        <p:spPr>
          <a:xfrm>
            <a:off x="822960" y="3913632"/>
            <a:ext cx="4846320" cy="27432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Sirven precisión y recuperación.</a:t>
            </a:r>
            <a:endParaRPr lang="en-US" sz="1250" dirty="0"/>
          </a:p>
        </p:txBody>
      </p:sp>
      <p:sp>
        <p:nvSpPr>
          <p:cNvPr id="9" name="Shape 7"/>
          <p:cNvSpPr/>
          <p:nvPr/>
        </p:nvSpPr>
        <p:spPr>
          <a:xfrm>
            <a:off x="6245352" y="1920240"/>
            <a:ext cx="5394960" cy="2423160"/>
          </a:xfrm>
          <a:prstGeom prst="roundRect">
            <a:avLst>
              <a:gd name="adj" fmla="val 2264"/>
            </a:avLst>
          </a:prstGeom>
          <a:solidFill>
            <a:srgbClr val="FFFFFF"/>
          </a:solidFill>
          <a:ln w="9525">
            <a:solidFill>
              <a:srgbClr val="D5DCE3"/>
            </a:solidFill>
            <a:prstDash val="solid"/>
          </a:ln>
        </p:spPr>
      </p:sp>
      <p:sp>
        <p:nvSpPr>
          <p:cNvPr id="10" name="Text 8"/>
          <p:cNvSpPr txBox="1"/>
          <p:nvPr/>
        </p:nvSpPr>
        <p:spPr>
          <a:xfrm>
            <a:off x="6519672" y="2121408"/>
            <a:ext cx="4846320" cy="365760"/>
          </a:xfrm>
          <a:prstGeom prst="rect">
            <a:avLst/>
          </a:prstGeom>
          <a:noFill/>
          <a:ln/>
        </p:spPr>
        <p:txBody>
          <a:bodyPr wrap="square" lIns="0" tIns="0" rIns="0" bIns="0" rtlCol="0" anchor="ctr"/>
          <a:lstStyle/>
          <a:p>
            <a:pPr indent="0" marL="0">
              <a:buNone/>
            </a:pPr>
            <a:r>
              <a:rPr lang="en-US" sz="1200" b="1" spc="100" kern="0" dirty="0">
                <a:solidFill>
                  <a:srgbClr val="60707E"/>
                </a:solidFill>
                <a:latin typeface="Calibri" pitchFamily="34" charset="0"/>
                <a:ea typeface="Calibri" pitchFamily="34" charset="-122"/>
                <a:cs typeface="Calibri" pitchFamily="34" charset="-120"/>
              </a:rPr>
              <a:t>NO HAY CONTRA QUÉ COMPARAR</a:t>
            </a:r>
            <a:endParaRPr lang="en-US" sz="1200" dirty="0"/>
          </a:p>
        </p:txBody>
      </p:sp>
      <p:sp>
        <p:nvSpPr>
          <p:cNvPr id="11" name="Text 9"/>
          <p:cNvSpPr txBox="1"/>
          <p:nvPr/>
        </p:nvSpPr>
        <p:spPr>
          <a:xfrm>
            <a:off x="6519672" y="2487168"/>
            <a:ext cx="4846320"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¿Este comentario ciudadano es positivo o negativo?</a:t>
            </a:r>
            <a:endParaRPr lang="en-US" sz="1500" dirty="0"/>
          </a:p>
        </p:txBody>
      </p:sp>
      <p:sp>
        <p:nvSpPr>
          <p:cNvPr id="12" name="Text 10"/>
          <p:cNvSpPr txBox="1"/>
          <p:nvPr/>
        </p:nvSpPr>
        <p:spPr>
          <a:xfrm>
            <a:off x="6519672" y="3017520"/>
            <a:ext cx="4846320" cy="82296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«Quedó rete bonita la lona nueva» puede ser sincero o sarcástico, y dos evaluadores con criterio pueden leerlo distinto.</a:t>
            </a:r>
            <a:endParaRPr lang="en-US" sz="1300" dirty="0"/>
          </a:p>
        </p:txBody>
      </p:sp>
      <p:sp>
        <p:nvSpPr>
          <p:cNvPr id="13" name="Text 11"/>
          <p:cNvSpPr txBox="1"/>
          <p:nvPr/>
        </p:nvSpPr>
        <p:spPr>
          <a:xfrm>
            <a:off x="6519672" y="3913632"/>
            <a:ext cx="4846320" cy="274320"/>
          </a:xfrm>
          <a:prstGeom prst="rect">
            <a:avLst/>
          </a:prstGeom>
          <a:noFill/>
          <a:ln/>
        </p:spPr>
        <p:txBody>
          <a:bodyPr wrap="square" lIns="0" tIns="0" rIns="0" bIns="0" rtlCol="0" anchor="ctr"/>
          <a:lstStyle/>
          <a:p>
            <a:pPr indent="0" marL="0">
              <a:buNone/>
            </a:pPr>
            <a:r>
              <a:rPr lang="en-US" sz="1250" b="1" dirty="0">
                <a:solidFill>
                  <a:srgbClr val="A23B22"/>
                </a:solidFill>
                <a:latin typeface="Calibri" pitchFamily="34" charset="0"/>
                <a:ea typeface="Calibri" pitchFamily="34" charset="-122"/>
                <a:cs typeface="Calibri" pitchFamily="34" charset="-120"/>
              </a:rPr>
              <a:t>Aquí no se pueden calcular.</a:t>
            </a:r>
            <a:endParaRPr lang="en-US" sz="1250" dirty="0"/>
          </a:p>
        </p:txBody>
      </p:sp>
      <p:sp>
        <p:nvSpPr>
          <p:cNvPr id="14" name="Shape 12"/>
          <p:cNvSpPr/>
          <p:nvPr/>
        </p:nvSpPr>
        <p:spPr>
          <a:xfrm>
            <a:off x="548640" y="4526280"/>
            <a:ext cx="11091672" cy="1371600"/>
          </a:xfrm>
          <a:prstGeom prst="roundRect">
            <a:avLst>
              <a:gd name="adj" fmla="val 4000"/>
            </a:avLst>
          </a:prstGeom>
          <a:solidFill>
            <a:srgbClr val="15293B"/>
          </a:solidFill>
          <a:ln/>
        </p:spPr>
      </p:sp>
      <p:sp>
        <p:nvSpPr>
          <p:cNvPr id="15" name="Text 13"/>
          <p:cNvSpPr txBox="1"/>
          <p:nvPr/>
        </p:nvSpPr>
        <p:spPr>
          <a:xfrm>
            <a:off x="868680" y="469087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Entonces se cambia la pregunta</a:t>
            </a:r>
            <a:endParaRPr lang="en-US" sz="1600" dirty="0"/>
          </a:p>
        </p:txBody>
      </p:sp>
      <p:sp>
        <p:nvSpPr>
          <p:cNvPr id="16" name="Text 14"/>
          <p:cNvSpPr txBox="1"/>
          <p:nvPr/>
        </p:nvSpPr>
        <p:spPr>
          <a:xfrm>
            <a:off x="868680" y="5074920"/>
            <a:ext cx="10451592" cy="77724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Ya no es «¿acertó?», porque no hay contra qué. Es «¿dos personas que leen lo mismo escriben lo mismo?». Eso se llama </a:t>
            </a:r>
            <a:pPr indent="0" marL="0">
              <a:lnSpc>
                <a:spcPct val="105000"/>
              </a:lnSpc>
              <a:buNone/>
            </a:pPr>
            <a:r>
              <a:rPr lang="en-US" sz="1300" b="1" dirty="0">
                <a:solidFill>
                  <a:srgbClr val="FFFFFF"/>
                </a:solidFill>
                <a:latin typeface="Calibri" pitchFamily="34" charset="0"/>
                <a:ea typeface="Calibri" pitchFamily="34" charset="-122"/>
                <a:cs typeface="Calibri" pitchFamily="34" charset="-120"/>
              </a:rPr>
              <a:t>acuerdo entre codificadores</a:t>
            </a:r>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 y mide confiabilidad, no exactitud. Sin él, las categorías de una evaluación no son reproducibles y no se pueden defender ante un comité.</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Parte del acuerdo sale gratis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Antes de la fórmula, la intuición: coincidir mucho no siempre tiene mérito.</a:t>
            </a:r>
            <a:endParaRPr lang="en-US" sz="1400" dirty="0"/>
          </a:p>
        </p:txBody>
      </p:sp>
      <p:sp>
        <p:nvSpPr>
          <p:cNvPr id="4" name="Shape 2"/>
          <p:cNvSpPr/>
          <p:nvPr/>
        </p:nvSpPr>
        <p:spPr>
          <a:xfrm>
            <a:off x="548640" y="1965960"/>
            <a:ext cx="11091672" cy="1874520"/>
          </a:xfrm>
          <a:prstGeom prst="roundRect">
            <a:avLst>
              <a:gd name="adj" fmla="val 2927"/>
            </a:avLst>
          </a:prstGeom>
          <a:solidFill>
            <a:srgbClr val="EEF2F5"/>
          </a:solidFill>
          <a:ln w="9525">
            <a:solidFill>
              <a:srgbClr val="D5DCE3"/>
            </a:solidFill>
            <a:prstDash val="solid"/>
          </a:ln>
        </p:spPr>
      </p:sp>
      <p:sp>
        <p:nvSpPr>
          <p:cNvPr id="5" name="Text 3"/>
          <p:cNvSpPr txBox="1"/>
          <p:nvPr/>
        </p:nvSpPr>
        <p:spPr>
          <a:xfrm>
            <a:off x="868680" y="2148840"/>
            <a:ext cx="10451592" cy="457200"/>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Imagine dos personas clasificando comentarios como «queja» o «no queja», sin leerlos, tirando un volado en cada uno.</a:t>
            </a:r>
            <a:endParaRPr lang="en-US" sz="1400" dirty="0"/>
          </a:p>
        </p:txBody>
      </p:sp>
      <p:sp>
        <p:nvSpPr>
          <p:cNvPr id="6" name="Text 4"/>
          <p:cNvSpPr txBox="1"/>
          <p:nvPr/>
        </p:nvSpPr>
        <p:spPr>
          <a:xfrm>
            <a:off x="868680" y="2606040"/>
            <a:ext cx="10451592" cy="1005840"/>
          </a:xfrm>
          <a:prstGeom prst="rect">
            <a:avLst/>
          </a:prstGeom>
          <a:noFill/>
          <a:ln/>
        </p:spPr>
        <p:txBody>
          <a:bodyPr wrap="square" lIns="0" tIns="0" rIns="0" bIns="0" rtlCol="0" anchor="ctr"/>
          <a:lstStyle/>
          <a:p>
            <a:pPr indent="0" marL="0">
              <a:lnSpc>
                <a:spcPct val="110000"/>
              </a:lnSpc>
              <a:buNone/>
            </a:pPr>
            <a:r>
              <a:rPr lang="en-US" sz="1400" b="1" dirty="0">
                <a:solidFill>
                  <a:srgbClr val="1E2A35"/>
                </a:solidFill>
                <a:latin typeface="Calibri" pitchFamily="34" charset="0"/>
                <a:ea typeface="Calibri" pitchFamily="34" charset="-122"/>
                <a:cs typeface="Calibri" pitchFamily="34" charset="-120"/>
              </a:rPr>
              <a:t>Aun así van a coincidir cerca de la mitad de las veces, solo por azar. </a:t>
            </a:r>
            <a:pPr indent="0" marL="0">
              <a:lnSpc>
                <a:spcPct val="110000"/>
              </a:lnSpc>
              <a:buNone/>
            </a:pPr>
            <a:r>
              <a:rPr lang="en-US" sz="1400" dirty="0">
                <a:solidFill>
                  <a:srgbClr val="60707E"/>
                </a:solidFill>
                <a:latin typeface="Calibri" pitchFamily="34" charset="0"/>
                <a:ea typeface="Calibri" pitchFamily="34" charset="-122"/>
                <a:cs typeface="Calibri" pitchFamily="34" charset="-120"/>
              </a:rPr>
              <a:t>Si además una categoría es mucho más común que la otra, el acuerdo por azar sube todavía más. Ese acuerdo gratis no dice nada sobre si las categorías son buenas.</a:t>
            </a:r>
            <a:endParaRPr lang="en-US" sz="1400" dirty="0"/>
          </a:p>
        </p:txBody>
      </p:sp>
      <p:sp>
        <p:nvSpPr>
          <p:cNvPr id="7" name="Shape 5"/>
          <p:cNvSpPr/>
          <p:nvPr/>
        </p:nvSpPr>
        <p:spPr>
          <a:xfrm>
            <a:off x="548640" y="4114800"/>
            <a:ext cx="11091672" cy="1554480"/>
          </a:xfrm>
          <a:prstGeom prst="roundRect">
            <a:avLst>
              <a:gd name="adj" fmla="val 3529"/>
            </a:avLst>
          </a:prstGeom>
          <a:solidFill>
            <a:srgbClr val="15293B"/>
          </a:solidFill>
          <a:ln/>
        </p:spPr>
      </p:sp>
      <p:sp>
        <p:nvSpPr>
          <p:cNvPr id="8" name="Text 6"/>
          <p:cNvSpPr txBox="1"/>
          <p:nvPr/>
        </p:nvSpPr>
        <p:spPr>
          <a:xfrm>
            <a:off x="868680" y="427939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La idea de kappa</a:t>
            </a:r>
            <a:endParaRPr lang="en-US" sz="1600" dirty="0"/>
          </a:p>
        </p:txBody>
      </p:sp>
      <p:sp>
        <p:nvSpPr>
          <p:cNvPr id="9" name="Text 7"/>
          <p:cNvSpPr txBox="1"/>
          <p:nvPr/>
        </p:nvSpPr>
        <p:spPr>
          <a:xfrm>
            <a:off x="868680" y="4681728"/>
            <a:ext cx="10451592" cy="914400"/>
          </a:xfrm>
          <a:prstGeom prst="rect">
            <a:avLst/>
          </a:prstGeom>
          <a:noFill/>
          <a:ln/>
        </p:spPr>
        <p:txBody>
          <a:bodyPr wrap="square" lIns="0" tIns="0" rIns="0" bIns="0"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Kappa mide cuánto del acuerdo va más allá del azar. </a:t>
            </a:r>
            <a:pPr indent="0" marL="0">
              <a:lnSpc>
                <a:spcPct val="110000"/>
              </a:lnSpc>
              <a:buNone/>
            </a:pPr>
            <a:r>
              <a:rPr lang="en-US" sz="1350" dirty="0">
                <a:solidFill>
                  <a:srgbClr val="E4EAF0"/>
                </a:solidFill>
                <a:latin typeface="Calibri" pitchFamily="34" charset="0"/>
                <a:ea typeface="Calibri" pitchFamily="34" charset="-122"/>
                <a:cs typeface="Calibri" pitchFamily="34" charset="-120"/>
              </a:rPr>
              <a:t>Toma el acuerdo observado, le resta el acuerdo que se esperaría por casualidad, y lo divide entre lo que quedaba por ganar. Vale 1 cuando el acuerdo es total, 0 cuando todo el acuerdo era gratis, y puede ser negativo si coinciden menos de lo que el azar predice.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Kappa de Cohen, con un ejemplo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20 comentarios, cada uno clasificado como «queja» (sí / no) por un evaluador humano y por la IA.</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212080" cy="914400"/>
        </p:xfrm>
        <a:graphic>
          <a:graphicData uri="http://schemas.openxmlformats.org/drawingml/2006/table">
            <a:tbl>
              <a:tblPr/>
              <a:tblGrid>
                <a:gridCol w="1645920"/>
                <a:gridCol w="1188720"/>
                <a:gridCol w="1188720"/>
                <a:gridCol w="1188720"/>
              </a:tblGrid>
              <a:tr h="566928">
                <a:tc>
                  <a:txBody>
                    <a:bodyPr/>
                    <a:lstStyle/>
                    <a:p>
                      <a:pPr indent="0" marL="0">
                        <a:buNone/>
                      </a:pP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solidFill>
                        <a:srgbClr val="FFFFFF"/>
                      </a:solidFill>
                      <a:prstDash val="solid"/>
                      <a:round/>
                      <a:headEnd type="none" w="med" len="med"/>
                      <a:tailEnd type="none" w="med" len="med"/>
                    </a:lnT>
                    <a:lnB w="0" cap="flat" cmpd="sng" algn="ctr">
                      <a:noFill/>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IA: Sí</a:t>
                      </a:r>
                      <a:endParaRPr lang="en-US" sz="125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15293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IA: No</a:t>
                      </a:r>
                      <a:endParaRPr lang="en-US" sz="125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15293B"/>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20384F"/>
                    </a:solidFill>
                  </a:tcPr>
                </a:tc>
              </a:tr>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Humano: Sí</a:t>
                      </a:r>
                      <a:endParaRPr lang="en-US" sz="125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15293B"/>
                    </a:solidFill>
                  </a:tcPr>
                </a:tc>
                <a:tc>
                  <a:txBody>
                    <a:bodyPr/>
                    <a:lstStyle/>
                    <a:p>
                      <a:pPr algn="ctr" indent="0" marL="0">
                        <a:buNone/>
                      </a:pPr>
                      <a:r>
                        <a:rPr lang="en-US" sz="1500" b="1" dirty="0">
                          <a:solidFill>
                            <a:srgbClr val="2E6E49"/>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7F2EA"/>
                    </a:solidFill>
                  </a:tcPr>
                </a:tc>
                <a:tc>
                  <a:txBody>
                    <a:bodyPr/>
                    <a:lstStyle/>
                    <a:p>
                      <a:pPr algn="ctr" indent="0" marL="0">
                        <a:buNone/>
                      </a:pPr>
                      <a:r>
                        <a:rPr lang="en-US" sz="1500" dirty="0">
                          <a:solidFill>
                            <a:srgbClr val="1E2A35"/>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E2A35"/>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EF2F5"/>
                    </a:solidFill>
                  </a:tcPr>
                </a:tc>
              </a:tr>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Humano: No</a:t>
                      </a:r>
                      <a:endParaRPr lang="en-US" sz="125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15293B"/>
                    </a:solidFill>
                  </a:tcPr>
                </a:tc>
                <a:tc>
                  <a:txBody>
                    <a:bodyPr/>
                    <a:lstStyle/>
                    <a:p>
                      <a:pPr algn="ctr" indent="0" marL="0">
                        <a:buNone/>
                      </a:pPr>
                      <a:r>
                        <a:rPr lang="en-US" sz="1500" dirty="0">
                          <a:solidFill>
                            <a:srgbClr val="1E2A35"/>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2E6E49"/>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7F2EA"/>
                    </a:solidFill>
                  </a:tcPr>
                </a:tc>
                <a:tc>
                  <a:txBody>
                    <a:bodyPr/>
                    <a:lstStyle/>
                    <a:p>
                      <a:pPr algn="ctr" indent="0" marL="0">
                        <a:buNone/>
                      </a:pPr>
                      <a:r>
                        <a:rPr lang="en-US" sz="1300" dirty="0">
                          <a:solidFill>
                            <a:srgbClr val="1E2A35"/>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EF2F5"/>
                    </a:solidFill>
                  </a:tcPr>
                </a:tc>
              </a:tr>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20384F"/>
                    </a:solidFill>
                  </a:tcPr>
                </a:tc>
                <a:tc>
                  <a:txBody>
                    <a:bodyPr/>
                    <a:lstStyle/>
                    <a:p>
                      <a:pPr algn="ctr" indent="0" marL="0">
                        <a:buNone/>
                      </a:pPr>
                      <a:r>
                        <a:rPr lang="en-US" sz="1300" dirty="0">
                          <a:solidFill>
                            <a:srgbClr val="1E2A35"/>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300" dirty="0">
                          <a:solidFill>
                            <a:srgbClr val="1E2A35"/>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EF2F5"/>
                    </a:solidFill>
                  </a:tcPr>
                </a:tc>
                <a:tc>
                  <a:txBody>
                    <a:bodyPr/>
                    <a:lstStyle/>
                    <a:p>
                      <a:pPr algn="ctr" indent="0" marL="0">
                        <a:buNone/>
                      </a:pPr>
                      <a:r>
                        <a:rPr lang="en-US" sz="1300" b="1" dirty="0">
                          <a:solidFill>
                            <a:srgbClr val="1E2A35"/>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D5DCE3"/>
                      </a:solidFill>
                      <a:prstDash val="solid"/>
                      <a:round/>
                      <a:headEnd type="none" w="med" len="med"/>
                      <a:tailEnd type="none" w="med" len="med"/>
                    </a:lnL>
                    <a:lnR w="12700" cap="flat" cmpd="sng" algn="ctr">
                      <a:solidFill>
                        <a:srgbClr val="D5DCE3"/>
                      </a:solidFill>
                      <a:prstDash val="solid"/>
                      <a:round/>
                      <a:headEnd type="none" w="med" len="med"/>
                      <a:tailEnd type="none" w="med" len="med"/>
                    </a:lnR>
                    <a:lnT w="12700" cap="flat" cmpd="sng" algn="ctr">
                      <a:solidFill>
                        <a:srgbClr val="D5DCE3"/>
                      </a:solidFill>
                      <a:prstDash val="solid"/>
                      <a:round/>
                      <a:headEnd type="none" w="med" len="med"/>
                      <a:tailEnd type="none" w="med" len="med"/>
                    </a:lnT>
                    <a:lnB w="12700" cap="flat" cmpd="sng" algn="ctr">
                      <a:solidFill>
                        <a:srgbClr val="D5DCE3"/>
                      </a:solidFill>
                      <a:prstDash val="solid"/>
                      <a:round/>
                      <a:headEnd type="none" w="med" len="med"/>
                      <a:tailEnd type="none" w="med" len="med"/>
                    </a:lnB>
                    <a:solidFill>
                      <a:srgbClr val="E4EAF0"/>
                    </a:solidFill>
                  </a:tcPr>
                </a:tc>
              </a:tr>
            </a:tbl>
          </a:graphicData>
        </a:graphic>
      </p:graphicFrame>
      <p:sp>
        <p:nvSpPr>
          <p:cNvPr id="5" name="Text 2"/>
          <p:cNvSpPr txBox="1"/>
          <p:nvPr/>
        </p:nvSpPr>
        <p:spPr>
          <a:xfrm>
            <a:off x="548640" y="4389120"/>
            <a:ext cx="5212080" cy="365760"/>
          </a:xfrm>
          <a:prstGeom prst="rect">
            <a:avLst/>
          </a:prstGeom>
          <a:noFill/>
          <a:ln/>
        </p:spPr>
        <p:txBody>
          <a:bodyPr wrap="square" lIns="0" tIns="0" rIns="0" bIns="0" rtlCol="0" anchor="ctr"/>
          <a:lstStyle/>
          <a:p>
            <a:pPr indent="0" marL="0">
              <a:buNone/>
            </a:pPr>
            <a:r>
              <a:rPr lang="en-US" sz="1150" i="1" dirty="0">
                <a:solidFill>
                  <a:srgbClr val="60707E"/>
                </a:solidFill>
                <a:latin typeface="Calibri" pitchFamily="34" charset="0"/>
                <a:ea typeface="Calibri" pitchFamily="34" charset="-122"/>
                <a:cs typeface="Calibri" pitchFamily="34" charset="-120"/>
              </a:rPr>
              <a:t>Coinciden en la diagonal verde: 8 + 7 = 15 de 20.</a:t>
            </a:r>
            <a:endParaRPr lang="en-US" sz="1150" dirty="0"/>
          </a:p>
        </p:txBody>
      </p:sp>
      <p:sp>
        <p:nvSpPr>
          <p:cNvPr id="6" name="Shape 3"/>
          <p:cNvSpPr/>
          <p:nvPr/>
        </p:nvSpPr>
        <p:spPr>
          <a:xfrm>
            <a:off x="6217920" y="1874520"/>
            <a:ext cx="5422392" cy="713232"/>
          </a:xfrm>
          <a:prstGeom prst="roundRect">
            <a:avLst>
              <a:gd name="adj" fmla="val 6410"/>
            </a:avLst>
          </a:prstGeom>
          <a:solidFill>
            <a:srgbClr val="EEF2F5"/>
          </a:solidFill>
          <a:ln/>
        </p:spPr>
      </p:sp>
      <p:sp>
        <p:nvSpPr>
          <p:cNvPr id="7" name="Text 4"/>
          <p:cNvSpPr txBox="1"/>
          <p:nvPr/>
        </p:nvSpPr>
        <p:spPr>
          <a:xfrm>
            <a:off x="6419088" y="1947672"/>
            <a:ext cx="5020056" cy="274320"/>
          </a:xfrm>
          <a:prstGeom prst="rect">
            <a:avLst/>
          </a:prstGeom>
          <a:noFill/>
          <a:ln/>
        </p:spPr>
        <p:txBody>
          <a:bodyPr wrap="square" lIns="0" tIns="0" rIns="0" bIns="0" rtlCol="0" anchor="ctr"/>
          <a:lstStyle/>
          <a:p>
            <a:pPr indent="0" marL="0">
              <a:buNone/>
            </a:pPr>
            <a:r>
              <a:rPr lang="en-US" sz="1200" b="1" dirty="0">
                <a:solidFill>
                  <a:srgbClr val="CB5E2E"/>
                </a:solidFill>
                <a:latin typeface="Calibri" pitchFamily="34" charset="0"/>
                <a:ea typeface="Calibri" pitchFamily="34" charset="-122"/>
                <a:cs typeface="Calibri" pitchFamily="34" charset="-120"/>
              </a:rPr>
              <a:t>Acuerdo observado (Po)</a:t>
            </a:r>
            <a:endParaRPr lang="en-US" sz="1200" dirty="0"/>
          </a:p>
        </p:txBody>
      </p:sp>
      <p:sp>
        <p:nvSpPr>
          <p:cNvPr id="8" name="Text 5"/>
          <p:cNvSpPr txBox="1"/>
          <p:nvPr/>
        </p:nvSpPr>
        <p:spPr>
          <a:xfrm>
            <a:off x="6419088" y="2221992"/>
            <a:ext cx="5020056" cy="320040"/>
          </a:xfrm>
          <a:prstGeom prst="rect">
            <a:avLst/>
          </a:prstGeom>
          <a:noFill/>
          <a:ln/>
        </p:spPr>
        <p:txBody>
          <a:bodyPr wrap="square" lIns="0" tIns="0" rIns="0" bIns="0" rtlCol="0" anchor="ctr"/>
          <a:lstStyle/>
          <a:p>
            <a:pPr indent="0" marL="0">
              <a:buNone/>
            </a:pPr>
            <a:r>
              <a:rPr lang="en-US" sz="1250" dirty="0">
                <a:solidFill>
                  <a:srgbClr val="60707E"/>
                </a:solidFill>
                <a:latin typeface="Cambria" pitchFamily="34" charset="0"/>
                <a:ea typeface="Cambria" pitchFamily="34" charset="-122"/>
                <a:cs typeface="Cambria" pitchFamily="34" charset="-120"/>
              </a:rPr>
              <a:t>(8 + 7) / 20 =  </a:t>
            </a:r>
            <a:pPr indent="0" marL="0">
              <a:buNone/>
            </a:pPr>
            <a:r>
              <a:rPr lang="en-US" sz="1400" b="1" dirty="0">
                <a:solidFill>
                  <a:srgbClr val="1E2A35"/>
                </a:solidFill>
                <a:latin typeface="Cambria" pitchFamily="34" charset="0"/>
                <a:ea typeface="Cambria" pitchFamily="34" charset="-122"/>
                <a:cs typeface="Cambria" pitchFamily="34" charset="-120"/>
              </a:rPr>
              <a:t>0.75</a:t>
            </a:r>
            <a:endParaRPr lang="en-US" sz="1250" dirty="0"/>
          </a:p>
        </p:txBody>
      </p:sp>
      <p:sp>
        <p:nvSpPr>
          <p:cNvPr id="9" name="Shape 6"/>
          <p:cNvSpPr/>
          <p:nvPr/>
        </p:nvSpPr>
        <p:spPr>
          <a:xfrm>
            <a:off x="6217920" y="2715768"/>
            <a:ext cx="5422392" cy="713232"/>
          </a:xfrm>
          <a:prstGeom prst="roundRect">
            <a:avLst>
              <a:gd name="adj" fmla="val 6410"/>
            </a:avLst>
          </a:prstGeom>
          <a:solidFill>
            <a:srgbClr val="EEF2F5"/>
          </a:solidFill>
          <a:ln/>
        </p:spPr>
      </p:sp>
      <p:sp>
        <p:nvSpPr>
          <p:cNvPr id="10" name="Text 7"/>
          <p:cNvSpPr txBox="1"/>
          <p:nvPr/>
        </p:nvSpPr>
        <p:spPr>
          <a:xfrm>
            <a:off x="6419088" y="2788920"/>
            <a:ext cx="5020056" cy="274320"/>
          </a:xfrm>
          <a:prstGeom prst="rect">
            <a:avLst/>
          </a:prstGeom>
          <a:noFill/>
          <a:ln/>
        </p:spPr>
        <p:txBody>
          <a:bodyPr wrap="square" lIns="0" tIns="0" rIns="0" bIns="0" rtlCol="0" anchor="ctr"/>
          <a:lstStyle/>
          <a:p>
            <a:pPr indent="0" marL="0">
              <a:buNone/>
            </a:pPr>
            <a:r>
              <a:rPr lang="en-US" sz="1200" b="1" dirty="0">
                <a:solidFill>
                  <a:srgbClr val="CB5E2E"/>
                </a:solidFill>
                <a:latin typeface="Calibri" pitchFamily="34" charset="0"/>
                <a:ea typeface="Calibri" pitchFamily="34" charset="-122"/>
                <a:cs typeface="Calibri" pitchFamily="34" charset="-120"/>
              </a:rPr>
              <a:t>Acuerdo esperado por azar (Pe)</a:t>
            </a:r>
            <a:endParaRPr lang="en-US" sz="1200" dirty="0"/>
          </a:p>
        </p:txBody>
      </p:sp>
      <p:sp>
        <p:nvSpPr>
          <p:cNvPr id="11" name="Text 8"/>
          <p:cNvSpPr txBox="1"/>
          <p:nvPr/>
        </p:nvSpPr>
        <p:spPr>
          <a:xfrm>
            <a:off x="6419088" y="3063240"/>
            <a:ext cx="5020056" cy="320040"/>
          </a:xfrm>
          <a:prstGeom prst="rect">
            <a:avLst/>
          </a:prstGeom>
          <a:noFill/>
          <a:ln/>
        </p:spPr>
        <p:txBody>
          <a:bodyPr wrap="square" lIns="0" tIns="0" rIns="0" bIns="0" rtlCol="0" anchor="ctr"/>
          <a:lstStyle/>
          <a:p>
            <a:pPr indent="0" marL="0">
              <a:buNone/>
            </a:pPr>
            <a:r>
              <a:rPr lang="en-US" sz="1250" dirty="0">
                <a:solidFill>
                  <a:srgbClr val="60707E"/>
                </a:solidFill>
                <a:latin typeface="Cambria" pitchFamily="34" charset="0"/>
                <a:ea typeface="Cambria" pitchFamily="34" charset="-122"/>
                <a:cs typeface="Cambria" pitchFamily="34" charset="-120"/>
              </a:rPr>
              <a:t>(10/20)(11/20) + (10/20)(9/20) =  </a:t>
            </a:r>
            <a:pPr indent="0" marL="0">
              <a:buNone/>
            </a:pPr>
            <a:r>
              <a:rPr lang="en-US" sz="1400" b="1" dirty="0">
                <a:solidFill>
                  <a:srgbClr val="1E2A35"/>
                </a:solidFill>
                <a:latin typeface="Cambria" pitchFamily="34" charset="0"/>
                <a:ea typeface="Cambria" pitchFamily="34" charset="-122"/>
                <a:cs typeface="Cambria" pitchFamily="34" charset="-120"/>
              </a:rPr>
              <a:t>0.50</a:t>
            </a:r>
            <a:endParaRPr lang="en-US" sz="1250" dirty="0"/>
          </a:p>
        </p:txBody>
      </p:sp>
      <p:sp>
        <p:nvSpPr>
          <p:cNvPr id="12" name="Shape 9"/>
          <p:cNvSpPr/>
          <p:nvPr/>
        </p:nvSpPr>
        <p:spPr>
          <a:xfrm>
            <a:off x="6217920" y="3557016"/>
            <a:ext cx="5422392" cy="713232"/>
          </a:xfrm>
          <a:prstGeom prst="roundRect">
            <a:avLst>
              <a:gd name="adj" fmla="val 6410"/>
            </a:avLst>
          </a:prstGeom>
          <a:solidFill>
            <a:srgbClr val="15293B"/>
          </a:solidFill>
          <a:ln/>
        </p:spPr>
      </p:sp>
      <p:sp>
        <p:nvSpPr>
          <p:cNvPr id="13" name="Text 10"/>
          <p:cNvSpPr txBox="1"/>
          <p:nvPr/>
        </p:nvSpPr>
        <p:spPr>
          <a:xfrm>
            <a:off x="6419088" y="3630168"/>
            <a:ext cx="5020056" cy="274320"/>
          </a:xfrm>
          <a:prstGeom prst="rect">
            <a:avLst/>
          </a:prstGeom>
          <a:noFill/>
          <a:ln/>
        </p:spPr>
        <p:txBody>
          <a:bodyPr wrap="square" lIns="0" tIns="0" rIns="0" bIns="0" rtlCol="0" anchor="ctr"/>
          <a:lstStyle/>
          <a:p>
            <a:pPr indent="0" marL="0">
              <a:buNone/>
            </a:pPr>
            <a:r>
              <a:rPr lang="en-US" sz="1200" b="1" dirty="0">
                <a:solidFill>
                  <a:srgbClr val="E58A5B"/>
                </a:solidFill>
                <a:latin typeface="Calibri" pitchFamily="34" charset="0"/>
                <a:ea typeface="Calibri" pitchFamily="34" charset="-122"/>
                <a:cs typeface="Calibri" pitchFamily="34" charset="-120"/>
              </a:rPr>
              <a:t>Kappa = (Po − Pe) / (1 − Pe)</a:t>
            </a:r>
            <a:endParaRPr lang="en-US" sz="1200" dirty="0"/>
          </a:p>
        </p:txBody>
      </p:sp>
      <p:sp>
        <p:nvSpPr>
          <p:cNvPr id="14" name="Text 11"/>
          <p:cNvSpPr txBox="1"/>
          <p:nvPr/>
        </p:nvSpPr>
        <p:spPr>
          <a:xfrm>
            <a:off x="6419088" y="3904488"/>
            <a:ext cx="5020056" cy="320040"/>
          </a:xfrm>
          <a:prstGeom prst="rect">
            <a:avLst/>
          </a:prstGeom>
          <a:noFill/>
          <a:ln/>
        </p:spPr>
        <p:txBody>
          <a:bodyPr wrap="square" lIns="0" tIns="0" rIns="0" bIns="0" rtlCol="0" anchor="ctr"/>
          <a:lstStyle/>
          <a:p>
            <a:pPr indent="0" marL="0">
              <a:buNone/>
            </a:pPr>
            <a:r>
              <a:rPr lang="en-US" sz="1250" dirty="0">
                <a:solidFill>
                  <a:srgbClr val="E4EAF0"/>
                </a:solidFill>
                <a:latin typeface="Cambria" pitchFamily="34" charset="0"/>
                <a:ea typeface="Cambria" pitchFamily="34" charset="-122"/>
                <a:cs typeface="Cambria" pitchFamily="34" charset="-120"/>
              </a:rPr>
              <a:t>(0.75 − 0.50) / (1 − 0.50) =  </a:t>
            </a:r>
            <a:pPr indent="0" marL="0">
              <a:buNone/>
            </a:pPr>
            <a:r>
              <a:rPr lang="en-US" sz="1400" b="1" dirty="0">
                <a:solidFill>
                  <a:srgbClr val="FFFFFF"/>
                </a:solidFill>
                <a:latin typeface="Cambria" pitchFamily="34" charset="0"/>
                <a:ea typeface="Cambria" pitchFamily="34" charset="-122"/>
                <a:cs typeface="Cambria" pitchFamily="34" charset="-120"/>
              </a:rPr>
              <a:t>0.50</a:t>
            </a:r>
            <a:endParaRPr lang="en-US" sz="1250" dirty="0"/>
          </a:p>
        </p:txBody>
      </p:sp>
      <p:sp>
        <p:nvSpPr>
          <p:cNvPr id="15" name="Text 12"/>
          <p:cNvSpPr txBox="1"/>
          <p:nvPr/>
        </p:nvSpPr>
        <p:spPr>
          <a:xfrm>
            <a:off x="6217920" y="4434840"/>
            <a:ext cx="5422392" cy="548640"/>
          </a:xfrm>
          <a:prstGeom prst="rect">
            <a:avLst/>
          </a:prstGeom>
          <a:noFill/>
          <a:ln/>
        </p:spPr>
        <p:txBody>
          <a:bodyPr wrap="square" lIns="0" tIns="0" rIns="0" bIns="0" rtlCol="0" anchor="ctr"/>
          <a:lstStyle/>
          <a:p>
            <a:pPr indent="0" marL="0">
              <a:lnSpc>
                <a:spcPct val="100000"/>
              </a:lnSpc>
              <a:buNone/>
            </a:pPr>
            <a:r>
              <a:rPr lang="en-US" sz="1150" i="1" dirty="0">
                <a:solidFill>
                  <a:srgbClr val="60707E"/>
                </a:solidFill>
                <a:latin typeface="Calibri" pitchFamily="34" charset="0"/>
                <a:ea typeface="Calibri" pitchFamily="34" charset="-122"/>
                <a:cs typeface="Calibri" pitchFamily="34" charset="-120"/>
              </a:rPr>
              <a:t>Pe combina las frecuencias con que cada quien usó «sí» y «no». Es la probabilidad de coincidir por casualidad.</a:t>
            </a:r>
            <a:endParaRPr lang="en-US" sz="1150" dirty="0"/>
          </a:p>
        </p:txBody>
      </p:sp>
      <p:sp>
        <p:nvSpPr>
          <p:cNvPr id="16" name="Shape 13"/>
          <p:cNvSpPr/>
          <p:nvPr/>
        </p:nvSpPr>
        <p:spPr>
          <a:xfrm>
            <a:off x="548640" y="6053328"/>
            <a:ext cx="11091672" cy="603504"/>
          </a:xfrm>
          <a:prstGeom prst="rect">
            <a:avLst/>
          </a:prstGeom>
          <a:solidFill>
            <a:srgbClr val="FBEEE5"/>
          </a:solidFill>
          <a:ln/>
        </p:spPr>
      </p:sp>
      <p:sp>
        <p:nvSpPr>
          <p:cNvPr id="17" name="Shape 14"/>
          <p:cNvSpPr/>
          <p:nvPr/>
        </p:nvSpPr>
        <p:spPr>
          <a:xfrm>
            <a:off x="749808" y="6272784"/>
            <a:ext cx="164592" cy="164592"/>
          </a:xfrm>
          <a:prstGeom prst="roundRect">
            <a:avLst>
              <a:gd name="adj" fmla="val 22222"/>
            </a:avLst>
          </a:prstGeom>
          <a:solidFill>
            <a:srgbClr val="CB5E2E"/>
          </a:solidFill>
          <a:ln/>
        </p:spPr>
      </p:sp>
      <p:sp>
        <p:nvSpPr>
          <p:cNvPr id="18" name="Text 15"/>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El acuerdo bruto fue 75%, que suena bien. Pero la mitad era esperable por azar. Corregido, kappa vale 0.50: acuerdo moderado, no alto.</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se lee kappa, y una trampa</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Una escala de referencia y una advertencia que hay que conocer antes de reportar.</a:t>
            </a:r>
            <a:endParaRPr lang="en-US" sz="1400" dirty="0"/>
          </a:p>
        </p:txBody>
      </p:sp>
      <p:sp>
        <p:nvSpPr>
          <p:cNvPr id="4" name="Text 2"/>
          <p:cNvSpPr txBox="1"/>
          <p:nvPr/>
        </p:nvSpPr>
        <p:spPr>
          <a:xfrm>
            <a:off x="548640" y="1874520"/>
            <a:ext cx="5212080" cy="320040"/>
          </a:xfrm>
          <a:prstGeom prst="rect">
            <a:avLst/>
          </a:prstGeom>
          <a:noFill/>
          <a:ln/>
        </p:spPr>
        <p:txBody>
          <a:bodyPr wrap="square" lIns="0" tIns="0" rIns="0" bIns="0" rtlCol="0" anchor="ctr"/>
          <a:lstStyle/>
          <a:p>
            <a:pPr indent="0" marL="0">
              <a:buNone/>
            </a:pPr>
            <a:r>
              <a:rPr lang="en-US" sz="1300" b="1" dirty="0">
                <a:solidFill>
                  <a:srgbClr val="1E2A35"/>
                </a:solidFill>
                <a:latin typeface="Calibri" pitchFamily="34" charset="0"/>
                <a:ea typeface="Calibri" pitchFamily="34" charset="-122"/>
                <a:cs typeface="Calibri" pitchFamily="34" charset="-120"/>
              </a:rPr>
              <a:t>Escala de referencia (Landis y Koch, 1977)</a:t>
            </a:r>
            <a:endParaRPr lang="en-US" sz="1300" dirty="0"/>
          </a:p>
        </p:txBody>
      </p:sp>
      <p:sp>
        <p:nvSpPr>
          <p:cNvPr id="5" name="Shape 3"/>
          <p:cNvSpPr/>
          <p:nvPr/>
        </p:nvSpPr>
        <p:spPr>
          <a:xfrm>
            <a:off x="548640" y="2286000"/>
            <a:ext cx="5212080" cy="457200"/>
          </a:xfrm>
          <a:prstGeom prst="rect">
            <a:avLst/>
          </a:prstGeom>
          <a:solidFill>
            <a:srgbClr val="EEF2F5"/>
          </a:solidFill>
          <a:ln w="19050">
            <a:solidFill>
              <a:srgbClr val="FFFFFF"/>
            </a:solidFill>
            <a:prstDash val="solid"/>
          </a:ln>
        </p:spPr>
      </p:sp>
      <p:sp>
        <p:nvSpPr>
          <p:cNvPr id="6" name="Text 4"/>
          <p:cNvSpPr txBox="1"/>
          <p:nvPr/>
        </p:nvSpPr>
        <p:spPr>
          <a:xfrm>
            <a:off x="685800" y="2286000"/>
            <a:ext cx="1737360" cy="45720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&lt; 0.00</a:t>
            </a:r>
            <a:endParaRPr lang="en-US" sz="1300" dirty="0"/>
          </a:p>
        </p:txBody>
      </p:sp>
      <p:sp>
        <p:nvSpPr>
          <p:cNvPr id="7" name="Text 5"/>
          <p:cNvSpPr txBox="1"/>
          <p:nvPr/>
        </p:nvSpPr>
        <p:spPr>
          <a:xfrm>
            <a:off x="2468880" y="2286000"/>
            <a:ext cx="3200400" cy="45720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Pobre (peor que el azar)</a:t>
            </a:r>
            <a:endParaRPr lang="en-US" sz="1250" dirty="0"/>
          </a:p>
        </p:txBody>
      </p:sp>
      <p:sp>
        <p:nvSpPr>
          <p:cNvPr id="8" name="Shape 6"/>
          <p:cNvSpPr/>
          <p:nvPr/>
        </p:nvSpPr>
        <p:spPr>
          <a:xfrm>
            <a:off x="548640" y="2743200"/>
            <a:ext cx="5212080" cy="457200"/>
          </a:xfrm>
          <a:prstGeom prst="rect">
            <a:avLst/>
          </a:prstGeom>
          <a:solidFill>
            <a:srgbClr val="EEF2F5"/>
          </a:solidFill>
          <a:ln w="19050">
            <a:solidFill>
              <a:srgbClr val="FFFFFF"/>
            </a:solidFill>
            <a:prstDash val="solid"/>
          </a:ln>
        </p:spPr>
      </p:sp>
      <p:sp>
        <p:nvSpPr>
          <p:cNvPr id="9" name="Text 7"/>
          <p:cNvSpPr txBox="1"/>
          <p:nvPr/>
        </p:nvSpPr>
        <p:spPr>
          <a:xfrm>
            <a:off x="685800" y="2743200"/>
            <a:ext cx="1737360" cy="45720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0.00 a 0.20</a:t>
            </a:r>
            <a:endParaRPr lang="en-US" sz="1300" dirty="0"/>
          </a:p>
        </p:txBody>
      </p:sp>
      <p:sp>
        <p:nvSpPr>
          <p:cNvPr id="10" name="Text 8"/>
          <p:cNvSpPr txBox="1"/>
          <p:nvPr/>
        </p:nvSpPr>
        <p:spPr>
          <a:xfrm>
            <a:off x="2468880" y="2743200"/>
            <a:ext cx="3200400" cy="45720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Leve</a:t>
            </a:r>
            <a:endParaRPr lang="en-US" sz="1250" dirty="0"/>
          </a:p>
        </p:txBody>
      </p:sp>
      <p:sp>
        <p:nvSpPr>
          <p:cNvPr id="11" name="Shape 9"/>
          <p:cNvSpPr/>
          <p:nvPr/>
        </p:nvSpPr>
        <p:spPr>
          <a:xfrm>
            <a:off x="548640" y="3200400"/>
            <a:ext cx="5212080" cy="457200"/>
          </a:xfrm>
          <a:prstGeom prst="rect">
            <a:avLst/>
          </a:prstGeom>
          <a:solidFill>
            <a:srgbClr val="EEF2F5"/>
          </a:solidFill>
          <a:ln w="19050">
            <a:solidFill>
              <a:srgbClr val="FFFFFF"/>
            </a:solidFill>
            <a:prstDash val="solid"/>
          </a:ln>
        </p:spPr>
      </p:sp>
      <p:sp>
        <p:nvSpPr>
          <p:cNvPr id="12" name="Text 10"/>
          <p:cNvSpPr txBox="1"/>
          <p:nvPr/>
        </p:nvSpPr>
        <p:spPr>
          <a:xfrm>
            <a:off x="685800" y="3200400"/>
            <a:ext cx="1737360" cy="45720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0.21 a 0.40</a:t>
            </a:r>
            <a:endParaRPr lang="en-US" sz="1300" dirty="0"/>
          </a:p>
        </p:txBody>
      </p:sp>
      <p:sp>
        <p:nvSpPr>
          <p:cNvPr id="13" name="Text 11"/>
          <p:cNvSpPr txBox="1"/>
          <p:nvPr/>
        </p:nvSpPr>
        <p:spPr>
          <a:xfrm>
            <a:off x="2468880" y="3200400"/>
            <a:ext cx="3200400" cy="45720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Aceptable</a:t>
            </a:r>
            <a:endParaRPr lang="en-US" sz="1250" dirty="0"/>
          </a:p>
        </p:txBody>
      </p:sp>
      <p:sp>
        <p:nvSpPr>
          <p:cNvPr id="14" name="Shape 12"/>
          <p:cNvSpPr/>
          <p:nvPr/>
        </p:nvSpPr>
        <p:spPr>
          <a:xfrm>
            <a:off x="548640" y="3657600"/>
            <a:ext cx="5212080" cy="457200"/>
          </a:xfrm>
          <a:prstGeom prst="rect">
            <a:avLst/>
          </a:prstGeom>
          <a:solidFill>
            <a:srgbClr val="FBEEE5"/>
          </a:solidFill>
          <a:ln w="19050">
            <a:solidFill>
              <a:srgbClr val="FFFFFF"/>
            </a:solidFill>
            <a:prstDash val="solid"/>
          </a:ln>
        </p:spPr>
      </p:sp>
      <p:sp>
        <p:nvSpPr>
          <p:cNvPr id="15" name="Text 13"/>
          <p:cNvSpPr txBox="1"/>
          <p:nvPr/>
        </p:nvSpPr>
        <p:spPr>
          <a:xfrm>
            <a:off x="685800" y="3657600"/>
            <a:ext cx="1737360" cy="45720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0.41 a 0.60</a:t>
            </a:r>
            <a:endParaRPr lang="en-US" sz="1300" dirty="0"/>
          </a:p>
        </p:txBody>
      </p:sp>
      <p:sp>
        <p:nvSpPr>
          <p:cNvPr id="16" name="Text 14"/>
          <p:cNvSpPr txBox="1"/>
          <p:nvPr/>
        </p:nvSpPr>
        <p:spPr>
          <a:xfrm>
            <a:off x="2468880" y="3657600"/>
            <a:ext cx="3200400" cy="45720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Moderado</a:t>
            </a:r>
            <a:endParaRPr lang="en-US" sz="1250" dirty="0"/>
          </a:p>
        </p:txBody>
      </p:sp>
      <p:sp>
        <p:nvSpPr>
          <p:cNvPr id="17" name="Shape 15"/>
          <p:cNvSpPr/>
          <p:nvPr/>
        </p:nvSpPr>
        <p:spPr>
          <a:xfrm>
            <a:off x="548640" y="4114800"/>
            <a:ext cx="5212080" cy="457200"/>
          </a:xfrm>
          <a:prstGeom prst="rect">
            <a:avLst/>
          </a:prstGeom>
          <a:solidFill>
            <a:srgbClr val="E7F2EA"/>
          </a:solidFill>
          <a:ln w="19050">
            <a:solidFill>
              <a:srgbClr val="FFFFFF"/>
            </a:solidFill>
            <a:prstDash val="solid"/>
          </a:ln>
        </p:spPr>
      </p:sp>
      <p:sp>
        <p:nvSpPr>
          <p:cNvPr id="18" name="Text 16"/>
          <p:cNvSpPr txBox="1"/>
          <p:nvPr/>
        </p:nvSpPr>
        <p:spPr>
          <a:xfrm>
            <a:off x="685800" y="4114800"/>
            <a:ext cx="1737360" cy="45720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0.61 a 0.80</a:t>
            </a:r>
            <a:endParaRPr lang="en-US" sz="1300" dirty="0"/>
          </a:p>
        </p:txBody>
      </p:sp>
      <p:sp>
        <p:nvSpPr>
          <p:cNvPr id="19" name="Text 17"/>
          <p:cNvSpPr txBox="1"/>
          <p:nvPr/>
        </p:nvSpPr>
        <p:spPr>
          <a:xfrm>
            <a:off x="2468880" y="4114800"/>
            <a:ext cx="3200400" cy="45720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Sustancial</a:t>
            </a:r>
            <a:endParaRPr lang="en-US" sz="1250" dirty="0"/>
          </a:p>
        </p:txBody>
      </p:sp>
      <p:sp>
        <p:nvSpPr>
          <p:cNvPr id="20" name="Shape 18"/>
          <p:cNvSpPr/>
          <p:nvPr/>
        </p:nvSpPr>
        <p:spPr>
          <a:xfrm>
            <a:off x="548640" y="4572000"/>
            <a:ext cx="5212080" cy="457200"/>
          </a:xfrm>
          <a:prstGeom prst="rect">
            <a:avLst/>
          </a:prstGeom>
          <a:solidFill>
            <a:srgbClr val="E7F2EA"/>
          </a:solidFill>
          <a:ln w="19050">
            <a:solidFill>
              <a:srgbClr val="FFFFFF"/>
            </a:solidFill>
            <a:prstDash val="solid"/>
          </a:ln>
        </p:spPr>
      </p:sp>
      <p:sp>
        <p:nvSpPr>
          <p:cNvPr id="21" name="Text 19"/>
          <p:cNvSpPr txBox="1"/>
          <p:nvPr/>
        </p:nvSpPr>
        <p:spPr>
          <a:xfrm>
            <a:off x="685800" y="4572000"/>
            <a:ext cx="1737360" cy="45720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0.81 a 1.00</a:t>
            </a:r>
            <a:endParaRPr lang="en-US" sz="1300" dirty="0"/>
          </a:p>
        </p:txBody>
      </p:sp>
      <p:sp>
        <p:nvSpPr>
          <p:cNvPr id="22" name="Text 20"/>
          <p:cNvSpPr txBox="1"/>
          <p:nvPr/>
        </p:nvSpPr>
        <p:spPr>
          <a:xfrm>
            <a:off x="2468880" y="4572000"/>
            <a:ext cx="3200400" cy="457200"/>
          </a:xfrm>
          <a:prstGeom prst="rect">
            <a:avLst/>
          </a:prstGeom>
          <a:noFill/>
          <a:ln/>
        </p:spPr>
        <p:txBody>
          <a:bodyPr wrap="square" lIns="0" tIns="0" rIns="0" bIns="0" rtlCol="0" anchor="ctr"/>
          <a:lstStyle/>
          <a:p>
            <a:pPr indent="0" marL="0">
              <a:buNone/>
            </a:pPr>
            <a:r>
              <a:rPr lang="en-US" sz="1250" dirty="0">
                <a:solidFill>
                  <a:srgbClr val="1E2A35"/>
                </a:solidFill>
                <a:latin typeface="Calibri" pitchFamily="34" charset="0"/>
                <a:ea typeface="Calibri" pitchFamily="34" charset="-122"/>
                <a:cs typeface="Calibri" pitchFamily="34" charset="-120"/>
              </a:rPr>
              <a:t>Casi perfecto</a:t>
            </a:r>
            <a:endParaRPr lang="en-US" sz="1250" dirty="0"/>
          </a:p>
        </p:txBody>
      </p:sp>
      <p:sp>
        <p:nvSpPr>
          <p:cNvPr id="23" name="Text 21"/>
          <p:cNvSpPr txBox="1"/>
          <p:nvPr/>
        </p:nvSpPr>
        <p:spPr>
          <a:xfrm>
            <a:off x="548640" y="5102352"/>
            <a:ext cx="5212080" cy="548640"/>
          </a:xfrm>
          <a:prstGeom prst="rect">
            <a:avLst/>
          </a:prstGeom>
          <a:noFill/>
          <a:ln/>
        </p:spPr>
        <p:txBody>
          <a:bodyPr wrap="square" lIns="0" tIns="0" rIns="0" bIns="0" rtlCol="0" anchor="ctr"/>
          <a:lstStyle/>
          <a:p>
            <a:pPr indent="0" marL="0">
              <a:lnSpc>
                <a:spcPct val="100000"/>
              </a:lnSpc>
              <a:buNone/>
            </a:pPr>
            <a:r>
              <a:rPr lang="en-US" sz="1100" i="1" dirty="0">
                <a:solidFill>
                  <a:srgbClr val="60707E"/>
                </a:solidFill>
                <a:latin typeface="Calibri" pitchFamily="34" charset="0"/>
                <a:ea typeface="Calibri" pitchFamily="34" charset="-122"/>
                <a:cs typeface="Calibri" pitchFamily="34" charset="-120"/>
              </a:rPr>
              <a:t>Los cortes son convencionales y sus propios autores los llamaron arbitrarios. Reporte el número, no solo la etiqueta.</a:t>
            </a:r>
            <a:endParaRPr lang="en-US" sz="1100" dirty="0"/>
          </a:p>
        </p:txBody>
      </p:sp>
      <p:sp>
        <p:nvSpPr>
          <p:cNvPr id="24" name="Text 22"/>
          <p:cNvSpPr txBox="1"/>
          <p:nvPr/>
        </p:nvSpPr>
        <p:spPr>
          <a:xfrm>
            <a:off x="6217920" y="1874520"/>
            <a:ext cx="5422392" cy="320040"/>
          </a:xfrm>
          <a:prstGeom prst="rect">
            <a:avLst/>
          </a:prstGeom>
          <a:noFill/>
          <a:ln/>
        </p:spPr>
        <p:txBody>
          <a:bodyPr wrap="square" lIns="0" tIns="0" rIns="0" bIns="0" rtlCol="0" anchor="ctr"/>
          <a:lstStyle/>
          <a:p>
            <a:pPr indent="0" marL="0">
              <a:buNone/>
            </a:pPr>
            <a:r>
              <a:rPr lang="en-US" sz="1300" b="1" dirty="0">
                <a:solidFill>
                  <a:srgbClr val="A23B22"/>
                </a:solidFill>
                <a:latin typeface="Calibri" pitchFamily="34" charset="0"/>
                <a:ea typeface="Calibri" pitchFamily="34" charset="-122"/>
                <a:cs typeface="Calibri" pitchFamily="34" charset="-120"/>
              </a:rPr>
              <a:t>La trampa: el mismo 94.7% vale cosas distintas</a:t>
            </a:r>
            <a:endParaRPr lang="en-US" sz="1300" dirty="0"/>
          </a:p>
        </p:txBody>
      </p:sp>
      <p:sp>
        <p:nvSpPr>
          <p:cNvPr id="25" name="Shape 23"/>
          <p:cNvSpPr/>
          <p:nvPr/>
        </p:nvSpPr>
        <p:spPr>
          <a:xfrm>
            <a:off x="6217920" y="2286000"/>
            <a:ext cx="5422392" cy="1316736"/>
          </a:xfrm>
          <a:prstGeom prst="roundRect">
            <a:avLst>
              <a:gd name="adj" fmla="val 3472"/>
            </a:avLst>
          </a:prstGeom>
          <a:solidFill>
            <a:srgbClr val="EEF2F5"/>
          </a:solidFill>
          <a:ln w="9525">
            <a:solidFill>
              <a:srgbClr val="D5DCE3"/>
            </a:solidFill>
            <a:prstDash val="solid"/>
          </a:ln>
        </p:spPr>
      </p:sp>
      <p:sp>
        <p:nvSpPr>
          <p:cNvPr id="26" name="Text 24"/>
          <p:cNvSpPr txBox="1"/>
          <p:nvPr/>
        </p:nvSpPr>
        <p:spPr>
          <a:xfrm>
            <a:off x="6419088" y="2395728"/>
            <a:ext cx="3685032" cy="292608"/>
          </a:xfrm>
          <a:prstGeom prst="rect">
            <a:avLst/>
          </a:prstGeom>
          <a:noFill/>
          <a:ln/>
        </p:spPr>
        <p:txBody>
          <a:bodyPr wrap="square" lIns="0" tIns="0" rIns="0" bIns="0" rtlCol="0" anchor="ctr"/>
          <a:lstStyle/>
          <a:p>
            <a:pPr indent="0" marL="0">
              <a:buNone/>
            </a:pPr>
            <a:r>
              <a:rPr lang="en-US" sz="1250" b="1" dirty="0">
                <a:solidFill>
                  <a:srgbClr val="1E2A35"/>
                </a:solidFill>
                <a:latin typeface="Calibri" pitchFamily="34" charset="0"/>
                <a:ea typeface="Calibri" pitchFamily="34" charset="-122"/>
                <a:cs typeface="Calibri" pitchFamily="34" charset="-120"/>
              </a:rPr>
              <a:t>Cuatro categorías, uso parejo</a:t>
            </a:r>
            <a:endParaRPr lang="en-US" sz="1250" dirty="0"/>
          </a:p>
        </p:txBody>
      </p:sp>
      <p:sp>
        <p:nvSpPr>
          <p:cNvPr id="27" name="Text 25"/>
          <p:cNvSpPr txBox="1"/>
          <p:nvPr/>
        </p:nvSpPr>
        <p:spPr>
          <a:xfrm>
            <a:off x="6419088" y="2697480"/>
            <a:ext cx="3685032" cy="274320"/>
          </a:xfrm>
          <a:prstGeom prst="rect">
            <a:avLst/>
          </a:prstGeom>
          <a:noFill/>
          <a:ln/>
        </p:spPr>
        <p:txBody>
          <a:bodyPr wrap="square" lIns="0" tIns="0" rIns="0" bIns="0" rtlCol="0" anchor="ctr"/>
          <a:lstStyle/>
          <a:p>
            <a:pPr indent="0" marL="0">
              <a:buNone/>
            </a:pPr>
            <a:r>
              <a:rPr lang="en-US" sz="1100" dirty="0">
                <a:solidFill>
                  <a:srgbClr val="60707E"/>
                </a:solidFill>
                <a:latin typeface="Calibri" pitchFamily="34" charset="0"/>
                <a:ea typeface="Calibri" pitchFamily="34" charset="-122"/>
                <a:cs typeface="Calibri" pitchFamily="34" charset="-120"/>
              </a:rPr>
              <a:t>cada una se usa ~25% de las veces</a:t>
            </a:r>
            <a:endParaRPr lang="en-US" sz="1100" dirty="0"/>
          </a:p>
        </p:txBody>
      </p:sp>
      <p:sp>
        <p:nvSpPr>
          <p:cNvPr id="28" name="Text 26"/>
          <p:cNvSpPr txBox="1"/>
          <p:nvPr/>
        </p:nvSpPr>
        <p:spPr>
          <a:xfrm>
            <a:off x="6419088" y="3008376"/>
            <a:ext cx="3685032" cy="41148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mbria" pitchFamily="34" charset="0"/>
                <a:ea typeface="Cambria" pitchFamily="34" charset="-122"/>
                <a:cs typeface="Cambria" pitchFamily="34" charset="-120"/>
              </a:rPr>
              <a:t>azar ≈ 4 × 0.25² = 25%</a:t>
            </a:r>
            <a:endParaRPr lang="en-US" sz="1250" dirty="0"/>
          </a:p>
        </p:txBody>
      </p:sp>
      <p:sp>
        <p:nvSpPr>
          <p:cNvPr id="29" name="Text 27"/>
          <p:cNvSpPr txBox="1"/>
          <p:nvPr/>
        </p:nvSpPr>
        <p:spPr>
          <a:xfrm>
            <a:off x="10067544" y="2432304"/>
            <a:ext cx="1389888" cy="256032"/>
          </a:xfrm>
          <a:prstGeom prst="rect">
            <a:avLst/>
          </a:prstGeom>
          <a:noFill/>
          <a:ln/>
        </p:spPr>
        <p:txBody>
          <a:bodyPr wrap="square" lIns="0" tIns="0" rIns="0" bIns="0" rtlCol="0" anchor="ctr"/>
          <a:lstStyle/>
          <a:p>
            <a:pPr algn="ctr" indent="0" marL="0">
              <a:buNone/>
            </a:pPr>
            <a:r>
              <a:rPr lang="en-US" sz="1100" dirty="0">
                <a:solidFill>
                  <a:srgbClr val="60707E"/>
                </a:solidFill>
                <a:latin typeface="Calibri" pitchFamily="34" charset="0"/>
                <a:ea typeface="Calibri" pitchFamily="34" charset="-122"/>
                <a:cs typeface="Calibri" pitchFamily="34" charset="-120"/>
              </a:rPr>
              <a:t>kappa</a:t>
            </a:r>
            <a:endParaRPr lang="en-US" sz="1100" dirty="0"/>
          </a:p>
        </p:txBody>
      </p:sp>
      <p:sp>
        <p:nvSpPr>
          <p:cNvPr id="30" name="Text 28"/>
          <p:cNvSpPr txBox="1"/>
          <p:nvPr/>
        </p:nvSpPr>
        <p:spPr>
          <a:xfrm>
            <a:off x="10067544" y="2670048"/>
            <a:ext cx="1389888" cy="548640"/>
          </a:xfrm>
          <a:prstGeom prst="rect">
            <a:avLst/>
          </a:prstGeom>
          <a:noFill/>
          <a:ln/>
        </p:spPr>
        <p:txBody>
          <a:bodyPr wrap="square" lIns="0" tIns="0" rIns="0" bIns="0" rtlCol="0" anchor="ctr"/>
          <a:lstStyle/>
          <a:p>
            <a:pPr algn="ctr" indent="0" marL="0">
              <a:buNone/>
            </a:pPr>
            <a:r>
              <a:rPr lang="en-US" sz="2400" b="1" dirty="0">
                <a:solidFill>
                  <a:srgbClr val="2E6E49"/>
                </a:solidFill>
                <a:latin typeface="Cambria" pitchFamily="34" charset="0"/>
                <a:ea typeface="Cambria" pitchFamily="34" charset="-122"/>
                <a:cs typeface="Cambria" pitchFamily="34" charset="-120"/>
              </a:rPr>
              <a:t>0.93</a:t>
            </a:r>
            <a:endParaRPr lang="en-US" sz="2400" dirty="0"/>
          </a:p>
        </p:txBody>
      </p:sp>
      <p:sp>
        <p:nvSpPr>
          <p:cNvPr id="31" name="Shape 29"/>
          <p:cNvSpPr/>
          <p:nvPr/>
        </p:nvSpPr>
        <p:spPr>
          <a:xfrm>
            <a:off x="6217920" y="3730752"/>
            <a:ext cx="5422392" cy="1316736"/>
          </a:xfrm>
          <a:prstGeom prst="roundRect">
            <a:avLst>
              <a:gd name="adj" fmla="val 3472"/>
            </a:avLst>
          </a:prstGeom>
          <a:solidFill>
            <a:srgbClr val="EEF2F5"/>
          </a:solidFill>
          <a:ln w="9525">
            <a:solidFill>
              <a:srgbClr val="D5DCE3"/>
            </a:solidFill>
            <a:prstDash val="solid"/>
          </a:ln>
        </p:spPr>
      </p:sp>
      <p:sp>
        <p:nvSpPr>
          <p:cNvPr id="32" name="Text 30"/>
          <p:cNvSpPr txBox="1"/>
          <p:nvPr/>
        </p:nvSpPr>
        <p:spPr>
          <a:xfrm>
            <a:off x="6419088" y="3840480"/>
            <a:ext cx="3685032" cy="292608"/>
          </a:xfrm>
          <a:prstGeom prst="rect">
            <a:avLst/>
          </a:prstGeom>
          <a:noFill/>
          <a:ln/>
        </p:spPr>
        <p:txBody>
          <a:bodyPr wrap="square" lIns="0" tIns="0" rIns="0" bIns="0" rtlCol="0" anchor="ctr"/>
          <a:lstStyle/>
          <a:p>
            <a:pPr indent="0" marL="0">
              <a:buNone/>
            </a:pPr>
            <a:r>
              <a:rPr lang="en-US" sz="1250" b="1" dirty="0">
                <a:solidFill>
                  <a:srgbClr val="1E2A35"/>
                </a:solidFill>
                <a:latin typeface="Calibri" pitchFamily="34" charset="0"/>
                <a:ea typeface="Calibri" pitchFamily="34" charset="-122"/>
                <a:cs typeface="Calibri" pitchFamily="34" charset="-120"/>
              </a:rPr>
              <a:t>Una categoría domina</a:t>
            </a:r>
            <a:endParaRPr lang="en-US" sz="1250" dirty="0"/>
          </a:p>
        </p:txBody>
      </p:sp>
      <p:sp>
        <p:nvSpPr>
          <p:cNvPr id="33" name="Text 31"/>
          <p:cNvSpPr txBox="1"/>
          <p:nvPr/>
        </p:nvSpPr>
        <p:spPr>
          <a:xfrm>
            <a:off x="6419088" y="4142232"/>
            <a:ext cx="3685032" cy="274320"/>
          </a:xfrm>
          <a:prstGeom prst="rect">
            <a:avLst/>
          </a:prstGeom>
          <a:noFill/>
          <a:ln/>
        </p:spPr>
        <p:txBody>
          <a:bodyPr wrap="square" lIns="0" tIns="0" rIns="0" bIns="0" rtlCol="0" anchor="ctr"/>
          <a:lstStyle/>
          <a:p>
            <a:pPr indent="0" marL="0">
              <a:buNone/>
            </a:pPr>
            <a:r>
              <a:rPr lang="en-US" sz="1100" dirty="0">
                <a:solidFill>
                  <a:srgbClr val="60707E"/>
                </a:solidFill>
                <a:latin typeface="Calibri" pitchFamily="34" charset="0"/>
                <a:ea typeface="Calibri" pitchFamily="34" charset="-122"/>
                <a:cs typeface="Calibri" pitchFamily="34" charset="-120"/>
              </a:rPr>
              <a:t>cubre 35 de 38 casos (~92%)</a:t>
            </a:r>
            <a:endParaRPr lang="en-US" sz="1100" dirty="0"/>
          </a:p>
        </p:txBody>
      </p:sp>
      <p:sp>
        <p:nvSpPr>
          <p:cNvPr id="34" name="Text 32"/>
          <p:cNvSpPr txBox="1"/>
          <p:nvPr/>
        </p:nvSpPr>
        <p:spPr>
          <a:xfrm>
            <a:off x="6419088" y="4453128"/>
            <a:ext cx="3685032" cy="411480"/>
          </a:xfrm>
          <a:prstGeom prst="rect">
            <a:avLst/>
          </a:prstGeom>
          <a:noFill/>
          <a:ln/>
        </p:spPr>
        <p:txBody>
          <a:bodyPr wrap="square" lIns="0" tIns="0" rIns="0" bIns="0" rtlCol="0" anchor="ctr"/>
          <a:lstStyle/>
          <a:p>
            <a:pPr indent="0" marL="0">
              <a:lnSpc>
                <a:spcPct val="100000"/>
              </a:lnSpc>
              <a:buNone/>
            </a:pPr>
            <a:r>
              <a:rPr lang="en-US" sz="1250" dirty="0">
                <a:solidFill>
                  <a:srgbClr val="1E2A35"/>
                </a:solidFill>
                <a:latin typeface="Cambria" pitchFamily="34" charset="0"/>
                <a:ea typeface="Cambria" pitchFamily="34" charset="-122"/>
                <a:cs typeface="Cambria" pitchFamily="34" charset="-120"/>
              </a:rPr>
              <a:t>azar ≈ 0.92² ≈ 85%</a:t>
            </a:r>
            <a:endParaRPr lang="en-US" sz="1250" dirty="0"/>
          </a:p>
        </p:txBody>
      </p:sp>
      <p:sp>
        <p:nvSpPr>
          <p:cNvPr id="35" name="Text 33"/>
          <p:cNvSpPr txBox="1"/>
          <p:nvPr/>
        </p:nvSpPr>
        <p:spPr>
          <a:xfrm>
            <a:off x="10067544" y="3877056"/>
            <a:ext cx="1389888" cy="256032"/>
          </a:xfrm>
          <a:prstGeom prst="rect">
            <a:avLst/>
          </a:prstGeom>
          <a:noFill/>
          <a:ln/>
        </p:spPr>
        <p:txBody>
          <a:bodyPr wrap="square" lIns="0" tIns="0" rIns="0" bIns="0" rtlCol="0" anchor="ctr"/>
          <a:lstStyle/>
          <a:p>
            <a:pPr algn="ctr" indent="0" marL="0">
              <a:buNone/>
            </a:pPr>
            <a:r>
              <a:rPr lang="en-US" sz="1100" dirty="0">
                <a:solidFill>
                  <a:srgbClr val="60707E"/>
                </a:solidFill>
                <a:latin typeface="Calibri" pitchFamily="34" charset="0"/>
                <a:ea typeface="Calibri" pitchFamily="34" charset="-122"/>
                <a:cs typeface="Calibri" pitchFamily="34" charset="-120"/>
              </a:rPr>
              <a:t>kappa</a:t>
            </a:r>
            <a:endParaRPr lang="en-US" sz="1100" dirty="0"/>
          </a:p>
        </p:txBody>
      </p:sp>
      <p:sp>
        <p:nvSpPr>
          <p:cNvPr id="36" name="Text 34"/>
          <p:cNvSpPr txBox="1"/>
          <p:nvPr/>
        </p:nvSpPr>
        <p:spPr>
          <a:xfrm>
            <a:off x="10067544" y="4114800"/>
            <a:ext cx="1389888" cy="548640"/>
          </a:xfrm>
          <a:prstGeom prst="rect">
            <a:avLst/>
          </a:prstGeom>
          <a:noFill/>
          <a:ln/>
        </p:spPr>
        <p:txBody>
          <a:bodyPr wrap="square" lIns="0" tIns="0" rIns="0" bIns="0" rtlCol="0" anchor="ctr"/>
          <a:lstStyle/>
          <a:p>
            <a:pPr algn="ctr" indent="0" marL="0">
              <a:buNone/>
            </a:pPr>
            <a:r>
              <a:rPr lang="en-US" sz="2400" b="1" dirty="0">
                <a:solidFill>
                  <a:srgbClr val="CB5E2E"/>
                </a:solidFill>
                <a:latin typeface="Cambria" pitchFamily="34" charset="0"/>
                <a:ea typeface="Cambria" pitchFamily="34" charset="-122"/>
                <a:cs typeface="Cambria" pitchFamily="34" charset="-120"/>
              </a:rPr>
              <a:t>0.64</a:t>
            </a:r>
            <a:endParaRPr lang="en-US" sz="2400" dirty="0"/>
          </a:p>
        </p:txBody>
      </p:sp>
      <p:sp>
        <p:nvSpPr>
          <p:cNvPr id="37" name="Text 35"/>
          <p:cNvSpPr txBox="1"/>
          <p:nvPr/>
        </p:nvSpPr>
        <p:spPr>
          <a:xfrm>
            <a:off x="6217920" y="5248656"/>
            <a:ext cx="5422392" cy="777240"/>
          </a:xfrm>
          <a:prstGeom prst="rect">
            <a:avLst/>
          </a:prstGeom>
          <a:noFill/>
          <a:ln/>
        </p:spPr>
        <p:txBody>
          <a:bodyPr wrap="square" lIns="0" tIns="0" rIns="0" bIns="0" rtlCol="0" anchor="ctr"/>
          <a:lstStyle/>
          <a:p>
            <a:pPr indent="0" marL="0">
              <a:lnSpc>
                <a:spcPct val="105000"/>
              </a:lnSpc>
              <a:buNone/>
            </a:pPr>
            <a:r>
              <a:rPr lang="en-US" sz="1150" b="1" dirty="0">
                <a:solidFill>
                  <a:srgbClr val="1E2A35"/>
                </a:solidFill>
                <a:latin typeface="Calibri" pitchFamily="34" charset="0"/>
                <a:ea typeface="Calibri" pitchFamily="34" charset="-122"/>
                <a:cs typeface="Calibri" pitchFamily="34" charset="-120"/>
              </a:rPr>
              <a:t>El acuerdo observado no cambió. </a:t>
            </a:r>
            <a:pPr indent="0" marL="0">
              <a:lnSpc>
                <a:spcPct val="105000"/>
              </a:lnSpc>
              <a:buNone/>
            </a:pPr>
            <a:r>
              <a:rPr lang="en-US" sz="1150" dirty="0">
                <a:solidFill>
                  <a:srgbClr val="1E2A35"/>
                </a:solidFill>
                <a:latin typeface="Calibri" pitchFamily="34" charset="0"/>
                <a:ea typeface="Calibri" pitchFamily="34" charset="-122"/>
                <a:cs typeface="Calibri" pitchFamily="34" charset="-120"/>
              </a:rPr>
              <a:t>Cambió qué tan repartidas están las categorías, y eso solo fija el acuerdo por azar: cuando una domina, casi todo el acuerdo ya venía del azar, y kappa lo descuenta.</a:t>
            </a:r>
            <a:endParaRPr lang="en-US" sz="1150" dirty="0"/>
          </a:p>
        </p:txBody>
      </p:sp>
      <p:sp>
        <p:nvSpPr>
          <p:cNvPr id="38" name="Shape 36"/>
          <p:cNvSpPr/>
          <p:nvPr/>
        </p:nvSpPr>
        <p:spPr>
          <a:xfrm>
            <a:off x="548640" y="6053328"/>
            <a:ext cx="11091672" cy="603504"/>
          </a:xfrm>
          <a:prstGeom prst="rect">
            <a:avLst/>
          </a:prstGeom>
          <a:solidFill>
            <a:srgbClr val="FBEEE5"/>
          </a:solidFill>
          <a:ln/>
        </p:spPr>
      </p:sp>
      <p:sp>
        <p:nvSpPr>
          <p:cNvPr id="39" name="Shape 37"/>
          <p:cNvSpPr/>
          <p:nvPr/>
        </p:nvSpPr>
        <p:spPr>
          <a:xfrm>
            <a:off x="749808" y="6272784"/>
            <a:ext cx="164592" cy="164592"/>
          </a:xfrm>
          <a:prstGeom prst="roundRect">
            <a:avLst>
              <a:gd name="adj" fmla="val 22222"/>
            </a:avLst>
          </a:prstGeom>
          <a:solidFill>
            <a:srgbClr val="CB5E2E"/>
          </a:solidFill>
          <a:ln/>
        </p:spPr>
      </p:sp>
      <p:sp>
        <p:nvSpPr>
          <p:cNvPr id="40" name="Text 38"/>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Regla práctica: nunca reporte solo el porcentaje de acuerdo. Sin kappa, un 95% puede esconder categorías que no distinguen nada.</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matriz de evidencia con trazabilidad</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El entregable que conecta todo: una fila por afirmación, con la cita que la sostiene y quién la verificó.</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91672" cy="914400"/>
        </p:xfrm>
        <a:graphic>
          <a:graphicData uri="http://schemas.openxmlformats.org/drawingml/2006/table">
            <a:tbl>
              <a:tblPr/>
              <a:tblGrid>
                <a:gridCol w="2286000"/>
                <a:gridCol w="4572000"/>
                <a:gridCol w="4233672"/>
              </a:tblGrid>
              <a:tr h="42062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Columna</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Qué se escribe ahí</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Por qué importa</a:t>
                      </a:r>
                      <a:endParaRPr lang="en-US" sz="125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5293B"/>
                    </a:solidFill>
                  </a:tcPr>
                </a:tc>
              </a:tr>
              <a:tr h="420624">
                <a:tc>
                  <a:txBody>
                    <a:bodyPr/>
                    <a:lstStyle/>
                    <a:p>
                      <a:pPr indent="0" marL="0">
                        <a:buNone/>
                      </a:pPr>
                      <a:r>
                        <a:rPr lang="en-US" sz="1200" b="1" dirty="0">
                          <a:solidFill>
                            <a:srgbClr val="CB5E2E"/>
                          </a:solidFill>
                          <a:latin typeface="Calibri" pitchFamily="34" charset="0"/>
                          <a:ea typeface="Calibri" pitchFamily="34" charset="-122"/>
                          <a:cs typeface="Calibri" pitchFamily="34" charset="-120"/>
                        </a:rPr>
                        <a:t>Afirmación</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E2A35"/>
                          </a:solidFill>
                          <a:latin typeface="Calibri" pitchFamily="34" charset="0"/>
                          <a:ea typeface="Calibri" pitchFamily="34" charset="-122"/>
                          <a:cs typeface="Calibri" pitchFamily="34" charset="-120"/>
                        </a:rPr>
                        <a:t>Tal como quedará escrita en el informe.</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60707E"/>
                          </a:solidFill>
                          <a:latin typeface="Calibri" pitchFamily="34" charset="0"/>
                          <a:ea typeface="Calibri" pitchFamily="34" charset="-122"/>
                          <a:cs typeface="Calibri" pitchFamily="34" charset="-120"/>
                        </a:rPr>
                        <a:t>Si después la redacta distinto, ya no está trazada.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CB5E2E"/>
                          </a:solidFill>
                          <a:latin typeface="Calibri" pitchFamily="34" charset="0"/>
                          <a:ea typeface="Calibri" pitchFamily="34" charset="-122"/>
                          <a:cs typeface="Calibri" pitchFamily="34" charset="-120"/>
                        </a:rPr>
                        <a:t>Cita textual</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200" dirty="0">
                          <a:solidFill>
                            <a:srgbClr val="1E2A35"/>
                          </a:solidFill>
                          <a:latin typeface="Calibri" pitchFamily="34" charset="0"/>
                          <a:ea typeface="Calibri" pitchFamily="34" charset="-122"/>
                          <a:cs typeface="Calibri" pitchFamily="34" charset="-120"/>
                        </a:rPr>
                        <a:t>La frase exacta que la sostiene. Copiada, no parafraseada.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200" dirty="0">
                          <a:solidFill>
                            <a:srgbClr val="60707E"/>
                          </a:solidFill>
                          <a:latin typeface="Calibri" pitchFamily="34" charset="0"/>
                          <a:ea typeface="Calibri" pitchFamily="34" charset="-122"/>
                          <a:cs typeface="Calibri" pitchFamily="34" charset="-120"/>
                        </a:rPr>
                        <a:t>Parafrasear elimina la posibilidad de verificar.</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r h="420624">
                <a:tc>
                  <a:txBody>
                    <a:bodyPr/>
                    <a:lstStyle/>
                    <a:p>
                      <a:pPr indent="0" marL="0">
                        <a:buNone/>
                      </a:pPr>
                      <a:r>
                        <a:rPr lang="en-US" sz="1200" b="1" dirty="0">
                          <a:solidFill>
                            <a:srgbClr val="CB5E2E"/>
                          </a:solidFill>
                          <a:latin typeface="Calibri" pitchFamily="34" charset="0"/>
                          <a:ea typeface="Calibri" pitchFamily="34" charset="-122"/>
                          <a:cs typeface="Calibri" pitchFamily="34" charset="-120"/>
                        </a:rPr>
                        <a:t>Documento y ubicación</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E2A35"/>
                          </a:solidFill>
                          <a:latin typeface="Calibri" pitchFamily="34" charset="0"/>
                          <a:ea typeface="Calibri" pitchFamily="34" charset="-122"/>
                          <a:cs typeface="Calibri" pitchFamily="34" charset="-120"/>
                        </a:rPr>
                        <a:t>Nombre del documento y artículo, página o apartado.</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60707E"/>
                          </a:solidFill>
                          <a:latin typeface="Calibri" pitchFamily="34" charset="0"/>
                          <a:ea typeface="Calibri" pitchFamily="34" charset="-122"/>
                          <a:cs typeface="Calibri" pitchFamily="34" charset="-120"/>
                        </a:rPr>
                        <a:t>Permite que otra persona llegue sola a la fuente.</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CB5E2E"/>
                          </a:solidFill>
                          <a:latin typeface="Calibri" pitchFamily="34" charset="0"/>
                          <a:ea typeface="Calibri" pitchFamily="34" charset="-122"/>
                          <a:cs typeface="Calibri" pitchFamily="34" charset="-120"/>
                        </a:rPr>
                        <a:t>Herramienta usada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200" dirty="0">
                          <a:solidFill>
                            <a:srgbClr val="1E2A35"/>
                          </a:solidFill>
                          <a:latin typeface="Calibri" pitchFamily="34" charset="0"/>
                          <a:ea typeface="Calibri" pitchFamily="34" charset="-122"/>
                          <a:cs typeface="Calibri" pitchFamily="34" charset="-120"/>
                        </a:rPr>
                        <a:t>Cuál la encontró (Copilot, otra).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200" dirty="0">
                          <a:solidFill>
                            <a:srgbClr val="60707E"/>
                          </a:solidFill>
                          <a:latin typeface="Calibri" pitchFamily="34" charset="0"/>
                          <a:ea typeface="Calibri" pitchFamily="34" charset="-122"/>
                          <a:cs typeface="Calibri" pitchFamily="34" charset="-120"/>
                        </a:rPr>
                        <a:t>Para saber qué herramienta rinde en qué tarea.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r h="420624">
                <a:tc>
                  <a:txBody>
                    <a:bodyPr/>
                    <a:lstStyle/>
                    <a:p>
                      <a:pPr indent="0" marL="0">
                        <a:buNone/>
                      </a:pPr>
                      <a:r>
                        <a:rPr lang="en-US" sz="1200" b="1" dirty="0">
                          <a:solidFill>
                            <a:srgbClr val="CB5E2E"/>
                          </a:solidFill>
                          <a:latin typeface="Calibri" pitchFamily="34" charset="0"/>
                          <a:ea typeface="Calibri" pitchFamily="34" charset="-122"/>
                          <a:cs typeface="Calibri" pitchFamily="34" charset="-120"/>
                        </a:rPr>
                        <a:t>Verificada por</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1E2A35"/>
                          </a:solidFill>
                          <a:latin typeface="Calibri" pitchFamily="34" charset="0"/>
                          <a:ea typeface="Calibri" pitchFamily="34" charset="-122"/>
                          <a:cs typeface="Calibri" pitchFamily="34" charset="-120"/>
                        </a:rPr>
                        <a:t>Nombre de quien fue a la fuente y la comprobó.</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200" dirty="0">
                          <a:solidFill>
                            <a:srgbClr val="60707E"/>
                          </a:solidFill>
                          <a:latin typeface="Calibri" pitchFamily="34" charset="0"/>
                          <a:ea typeface="Calibri" pitchFamily="34" charset="-122"/>
                          <a:cs typeface="Calibri" pitchFamily="34" charset="-120"/>
                        </a:rPr>
                        <a:t>La diferencia entre una afirmación con responsable y una sin él.</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CB5E2E"/>
                          </a:solidFill>
                          <a:latin typeface="Calibri" pitchFamily="34" charset="0"/>
                          <a:ea typeface="Calibri" pitchFamily="34" charset="-122"/>
                          <a:cs typeface="Calibri" pitchFamily="34" charset="-120"/>
                        </a:rPr>
                        <a:t>Nivel de confianza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200" dirty="0">
                          <a:solidFill>
                            <a:srgbClr val="1E2A35"/>
                          </a:solidFill>
                          <a:latin typeface="Calibri" pitchFamily="34" charset="0"/>
                          <a:ea typeface="Calibri" pitchFamily="34" charset="-122"/>
                          <a:cs typeface="Calibri" pitchFamily="34" charset="-120"/>
                        </a:rPr>
                        <a:t>Alta, media o baja. Siempre, incluso cuando es alta.</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c>
                  <a:txBody>
                    <a:bodyPr/>
                    <a:lstStyle/>
                    <a:p>
                      <a:pPr indent="0" marL="0">
                        <a:buNone/>
                      </a:pPr>
                      <a:r>
                        <a:rPr lang="en-US" sz="1200" dirty="0">
                          <a:solidFill>
                            <a:srgbClr val="60707E"/>
                          </a:solidFill>
                          <a:latin typeface="Calibri" pitchFamily="34" charset="0"/>
                          <a:ea typeface="Calibri" pitchFamily="34" charset="-122"/>
                          <a:cs typeface="Calibri" pitchFamily="34" charset="-120"/>
                        </a:rPr>
                        <a:t>Quien lee tiene derecho a saber en qué descansa cada frase.</a:t>
                      </a:r>
                      <a:endParaRPr lang="en-US" sz="1200" dirty="0">
                        <a:latin typeface="Calibri" charset="0"/>
                        <a:ea typeface="Calibri" charset="0"/>
                        <a:cs typeface="Calibri" charset="0"/>
                      </a:endParaRPr>
                    </a:p>
                  </a:txBody>
                  <a:tcPr marL="91440" marR="91440" marT="45720" marB="4572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2F5"/>
                    </a:solidFill>
                  </a:tcPr>
                </a:tc>
              </a:tr>
            </a:tbl>
          </a:graphicData>
        </a:graphic>
      </p:graphicFrame>
      <p:sp>
        <p:nvSpPr>
          <p:cNvPr id="5" name="Text 2"/>
          <p:cNvSpPr txBox="1"/>
          <p:nvPr/>
        </p:nvSpPr>
        <p:spPr>
          <a:xfrm>
            <a:off x="548640" y="4846320"/>
            <a:ext cx="3657600" cy="320040"/>
          </a:xfrm>
          <a:prstGeom prst="rect">
            <a:avLst/>
          </a:prstGeom>
          <a:noFill/>
          <a:ln/>
        </p:spPr>
        <p:txBody>
          <a:bodyPr wrap="square" lIns="0" tIns="0" rIns="0" bIns="0" rtlCol="0" anchor="ctr"/>
          <a:lstStyle/>
          <a:p>
            <a:pPr indent="0" marL="0">
              <a:buNone/>
            </a:pPr>
            <a:r>
              <a:rPr lang="en-US" sz="1250" b="1" dirty="0">
                <a:solidFill>
                  <a:srgbClr val="1E2A35"/>
                </a:solidFill>
                <a:latin typeface="Calibri" pitchFamily="34" charset="0"/>
                <a:ea typeface="Calibri" pitchFamily="34" charset="-122"/>
                <a:cs typeface="Calibri" pitchFamily="34" charset="-120"/>
              </a:rPr>
              <a:t>Los tres niveles de confianza:</a:t>
            </a:r>
            <a:endParaRPr lang="en-US" sz="1250" dirty="0"/>
          </a:p>
        </p:txBody>
      </p:sp>
      <p:sp>
        <p:nvSpPr>
          <p:cNvPr id="6" name="Shape 3"/>
          <p:cNvSpPr/>
          <p:nvPr/>
        </p:nvSpPr>
        <p:spPr>
          <a:xfrm>
            <a:off x="548640" y="5212080"/>
            <a:ext cx="3502152" cy="777240"/>
          </a:xfrm>
          <a:prstGeom prst="roundRect">
            <a:avLst>
              <a:gd name="adj" fmla="val 5882"/>
            </a:avLst>
          </a:prstGeom>
          <a:solidFill>
            <a:srgbClr val="E7F2EA"/>
          </a:solidFill>
          <a:ln/>
        </p:spPr>
      </p:sp>
      <p:sp>
        <p:nvSpPr>
          <p:cNvPr id="7" name="Text 4"/>
          <p:cNvSpPr txBox="1"/>
          <p:nvPr/>
        </p:nvSpPr>
        <p:spPr>
          <a:xfrm>
            <a:off x="731520" y="5294376"/>
            <a:ext cx="3136392" cy="274320"/>
          </a:xfrm>
          <a:prstGeom prst="rect">
            <a:avLst/>
          </a:prstGeom>
          <a:noFill/>
          <a:ln/>
        </p:spPr>
        <p:txBody>
          <a:bodyPr wrap="square" lIns="0" tIns="0" rIns="0" bIns="0" rtlCol="0" anchor="ctr"/>
          <a:lstStyle/>
          <a:p>
            <a:pPr indent="0" marL="0">
              <a:buNone/>
            </a:pPr>
            <a:r>
              <a:rPr lang="en-US" sz="1300" b="1" dirty="0">
                <a:solidFill>
                  <a:srgbClr val="2E6E49"/>
                </a:solidFill>
                <a:latin typeface="Calibri" pitchFamily="34" charset="0"/>
                <a:ea typeface="Calibri" pitchFamily="34" charset="-122"/>
                <a:cs typeface="Calibri" pitchFamily="34" charset="-120"/>
              </a:rPr>
              <a:t>Alta</a:t>
            </a:r>
            <a:endParaRPr lang="en-US" sz="1300" dirty="0"/>
          </a:p>
        </p:txBody>
      </p:sp>
      <p:sp>
        <p:nvSpPr>
          <p:cNvPr id="8" name="Text 5"/>
          <p:cNvSpPr txBox="1"/>
          <p:nvPr/>
        </p:nvSpPr>
        <p:spPr>
          <a:xfrm>
            <a:off x="731520" y="5550408"/>
            <a:ext cx="3136392" cy="4114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Dos o más fuentes independientes dicen lo mismo.</a:t>
            </a:r>
            <a:endParaRPr lang="en-US" sz="1100" dirty="0"/>
          </a:p>
        </p:txBody>
      </p:sp>
      <p:sp>
        <p:nvSpPr>
          <p:cNvPr id="9" name="Shape 6"/>
          <p:cNvSpPr/>
          <p:nvPr/>
        </p:nvSpPr>
        <p:spPr>
          <a:xfrm>
            <a:off x="4343400" y="5212080"/>
            <a:ext cx="3502152" cy="777240"/>
          </a:xfrm>
          <a:prstGeom prst="roundRect">
            <a:avLst>
              <a:gd name="adj" fmla="val 5882"/>
            </a:avLst>
          </a:prstGeom>
          <a:solidFill>
            <a:srgbClr val="FCF3DD"/>
          </a:solidFill>
          <a:ln/>
        </p:spPr>
      </p:sp>
      <p:sp>
        <p:nvSpPr>
          <p:cNvPr id="10" name="Text 7"/>
          <p:cNvSpPr txBox="1"/>
          <p:nvPr/>
        </p:nvSpPr>
        <p:spPr>
          <a:xfrm>
            <a:off x="4526280" y="5294376"/>
            <a:ext cx="3136392" cy="274320"/>
          </a:xfrm>
          <a:prstGeom prst="rect">
            <a:avLst/>
          </a:prstGeom>
          <a:noFill/>
          <a:ln/>
        </p:spPr>
        <p:txBody>
          <a:bodyPr wrap="square" lIns="0" tIns="0" rIns="0" bIns="0" rtlCol="0" anchor="ctr"/>
          <a:lstStyle/>
          <a:p>
            <a:pPr indent="0" marL="0">
              <a:buNone/>
            </a:pPr>
            <a:r>
              <a:rPr lang="en-US" sz="1300" b="1" dirty="0">
                <a:solidFill>
                  <a:srgbClr val="8A6D1F"/>
                </a:solidFill>
                <a:latin typeface="Calibri" pitchFamily="34" charset="0"/>
                <a:ea typeface="Calibri" pitchFamily="34" charset="-122"/>
                <a:cs typeface="Calibri" pitchFamily="34" charset="-120"/>
              </a:rPr>
              <a:t>Media</a:t>
            </a:r>
            <a:endParaRPr lang="en-US" sz="1300" dirty="0"/>
          </a:p>
        </p:txBody>
      </p:sp>
      <p:sp>
        <p:nvSpPr>
          <p:cNvPr id="11" name="Text 8"/>
          <p:cNvSpPr txBox="1"/>
          <p:nvPr/>
        </p:nvSpPr>
        <p:spPr>
          <a:xfrm>
            <a:off x="4526280" y="5550408"/>
            <a:ext cx="3136392" cy="4114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Una sola fuente directa. Alcanza, y hay que decirlo.</a:t>
            </a:r>
            <a:endParaRPr lang="en-US" sz="1100" dirty="0"/>
          </a:p>
        </p:txBody>
      </p:sp>
      <p:sp>
        <p:nvSpPr>
          <p:cNvPr id="12" name="Shape 9"/>
          <p:cNvSpPr/>
          <p:nvPr/>
        </p:nvSpPr>
        <p:spPr>
          <a:xfrm>
            <a:off x="8138160" y="5212080"/>
            <a:ext cx="3502152" cy="777240"/>
          </a:xfrm>
          <a:prstGeom prst="roundRect">
            <a:avLst>
              <a:gd name="adj" fmla="val 5882"/>
            </a:avLst>
          </a:prstGeom>
          <a:solidFill>
            <a:srgbClr val="F9E7E3"/>
          </a:solidFill>
          <a:ln/>
        </p:spPr>
      </p:sp>
      <p:sp>
        <p:nvSpPr>
          <p:cNvPr id="13" name="Text 10"/>
          <p:cNvSpPr txBox="1"/>
          <p:nvPr/>
        </p:nvSpPr>
        <p:spPr>
          <a:xfrm>
            <a:off x="8321040" y="5294376"/>
            <a:ext cx="3136392" cy="274320"/>
          </a:xfrm>
          <a:prstGeom prst="rect">
            <a:avLst/>
          </a:prstGeom>
          <a:noFill/>
          <a:ln/>
        </p:spPr>
        <p:txBody>
          <a:bodyPr wrap="square" lIns="0" tIns="0" rIns="0" bIns="0" rtlCol="0" anchor="ctr"/>
          <a:lstStyle/>
          <a:p>
            <a:pPr indent="0" marL="0">
              <a:buNone/>
            </a:pPr>
            <a:r>
              <a:rPr lang="en-US" sz="1300" b="1" dirty="0">
                <a:solidFill>
                  <a:srgbClr val="A23B22"/>
                </a:solidFill>
                <a:latin typeface="Calibri" pitchFamily="34" charset="0"/>
                <a:ea typeface="Calibri" pitchFamily="34" charset="-122"/>
                <a:cs typeface="Calibri" pitchFamily="34" charset="-120"/>
              </a:rPr>
              <a:t>Baja</a:t>
            </a:r>
            <a:endParaRPr lang="en-US" sz="1300" dirty="0"/>
          </a:p>
        </p:txBody>
      </p:sp>
      <p:sp>
        <p:nvSpPr>
          <p:cNvPr id="14" name="Text 11"/>
          <p:cNvSpPr txBox="1"/>
          <p:nvPr/>
        </p:nvSpPr>
        <p:spPr>
          <a:xfrm>
            <a:off x="8321040" y="5550408"/>
            <a:ext cx="3136392" cy="411480"/>
          </a:xfrm>
          <a:prstGeom prst="rect">
            <a:avLst/>
          </a:prstGeom>
          <a:noFill/>
          <a:ln/>
        </p:spPr>
        <p:txBody>
          <a:bodyPr wrap="square" lIns="0" tIns="0" rIns="0" bIns="0" rtlCol="0" anchor="ctr"/>
          <a:lstStyle/>
          <a:p>
            <a:pPr indent="0" marL="0">
              <a:lnSpc>
                <a:spcPct val="95000"/>
              </a:lnSpc>
              <a:buNone/>
            </a:pPr>
            <a:r>
              <a:rPr lang="en-US" sz="1100" dirty="0">
                <a:solidFill>
                  <a:srgbClr val="1E2A35"/>
                </a:solidFill>
                <a:latin typeface="Calibri" pitchFamily="34" charset="0"/>
                <a:ea typeface="Calibri" pitchFamily="34" charset="-122"/>
                <a:cs typeface="Calibri" pitchFamily="34" charset="-120"/>
              </a:rPr>
              <a:t>Evidencia indirecta o inferencia. Entra como hipótesis.</a:t>
            </a:r>
            <a:endParaRPr lang="en-US" sz="1100" dirty="0"/>
          </a:p>
        </p:txBody>
      </p:sp>
      <p:sp>
        <p:nvSpPr>
          <p:cNvPr id="15" name="Text 12"/>
          <p:cNvSpPr txBox="1"/>
          <p:nvPr/>
        </p:nvSpPr>
        <p:spPr>
          <a:xfrm>
            <a:off x="548640" y="6144768"/>
            <a:ext cx="11091672" cy="457200"/>
          </a:xfrm>
          <a:prstGeom prst="rect">
            <a:avLst/>
          </a:prstGeom>
          <a:noFill/>
          <a:ln/>
        </p:spPr>
        <p:txBody>
          <a:bodyPr wrap="square" lIns="0" tIns="0" rIns="0" bIns="0" rtlCol="0" anchor="ctr"/>
          <a:lstStyle/>
          <a:p>
            <a:pPr indent="0" marL="0">
              <a:lnSpc>
                <a:spcPct val="100000"/>
              </a:lnSpc>
              <a:buNone/>
            </a:pPr>
            <a:r>
              <a:rPr lang="en-US" sz="950" i="1" dirty="0">
                <a:solidFill>
                  <a:srgbClr val="60707E"/>
                </a:solidFill>
                <a:latin typeface="Calibri" pitchFamily="34" charset="0"/>
                <a:ea typeface="Calibri" pitchFamily="34" charset="-122"/>
                <a:cs typeface="Calibri" pitchFamily="34" charset="-120"/>
              </a:rPr>
              <a:t>Estándar en evaluación: el IPCC pide un traceable account con nivel de confianza y CERQual califica la confianza de cada hallazgo. Si al terminar su matriz todas las filas dicen «alta», algo se hizo mal.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Antes del laboratorio: el semáforo de datos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Qué información se puede escribir en cada herramienta. Es una regla del Instituto, no una preferencia.</a:t>
            </a:r>
            <a:endParaRPr lang="en-US" sz="1400" dirty="0"/>
          </a:p>
        </p:txBody>
      </p:sp>
      <p:sp>
        <p:nvSpPr>
          <p:cNvPr id="4" name="Shape 2"/>
          <p:cNvSpPr/>
          <p:nvPr/>
        </p:nvSpPr>
        <p:spPr>
          <a:xfrm>
            <a:off x="548640" y="205740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1933956" y="2331720"/>
            <a:ext cx="731520" cy="731520"/>
          </a:xfrm>
          <a:prstGeom prst="ellipse">
            <a:avLst/>
          </a:prstGeom>
          <a:solidFill>
            <a:srgbClr val="3E9B5B"/>
          </a:solidFill>
          <a:ln/>
        </p:spPr>
      </p:sp>
      <p:sp>
        <p:nvSpPr>
          <p:cNvPr id="6" name="Text 4"/>
          <p:cNvSpPr txBox="1"/>
          <p:nvPr/>
        </p:nvSpPr>
        <p:spPr>
          <a:xfrm>
            <a:off x="777240" y="3200400"/>
            <a:ext cx="3044952" cy="365760"/>
          </a:xfrm>
          <a:prstGeom prst="rect">
            <a:avLst/>
          </a:prstGeom>
          <a:noFill/>
          <a:ln/>
        </p:spPr>
        <p:txBody>
          <a:bodyPr wrap="square" lIns="0" tIns="0" rIns="0" bIns="0" rtlCol="0" anchor="ctr"/>
          <a:lstStyle/>
          <a:p>
            <a:pPr algn="ctr" indent="0" marL="0">
              <a:buNone/>
            </a:pPr>
            <a:r>
              <a:rPr lang="en-US" sz="1600" b="1" dirty="0">
                <a:solidFill>
                  <a:srgbClr val="2E6E49"/>
                </a:solidFill>
                <a:latin typeface="Calibri" pitchFamily="34" charset="0"/>
                <a:ea typeface="Calibri" pitchFamily="34" charset="-122"/>
                <a:cs typeface="Calibri" pitchFamily="34" charset="-120"/>
              </a:rPr>
              <a:t>Verde</a:t>
            </a:r>
            <a:endParaRPr lang="en-US" sz="1600" dirty="0"/>
          </a:p>
        </p:txBody>
      </p:sp>
      <p:sp>
        <p:nvSpPr>
          <p:cNvPr id="7" name="Text 5"/>
          <p:cNvSpPr txBox="1"/>
          <p:nvPr/>
        </p:nvSpPr>
        <p:spPr>
          <a:xfrm>
            <a:off x="77724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ficticios o ya públicos. No identifican a nadie.</a:t>
            </a:r>
            <a:endParaRPr lang="en-US" sz="1200" dirty="0"/>
          </a:p>
        </p:txBody>
      </p:sp>
      <p:sp>
        <p:nvSpPr>
          <p:cNvPr id="8" name="Shape 6"/>
          <p:cNvSpPr/>
          <p:nvPr/>
        </p:nvSpPr>
        <p:spPr>
          <a:xfrm>
            <a:off x="777240" y="4343400"/>
            <a:ext cx="3044952" cy="18288"/>
          </a:xfrm>
          <a:prstGeom prst="rect">
            <a:avLst/>
          </a:prstGeom>
          <a:solidFill>
            <a:srgbClr val="D5DCE3"/>
          </a:solidFill>
          <a:ln/>
        </p:spPr>
      </p:sp>
      <p:sp>
        <p:nvSpPr>
          <p:cNvPr id="9" name="Text 7"/>
          <p:cNvSpPr txBox="1"/>
          <p:nvPr/>
        </p:nvSpPr>
        <p:spPr>
          <a:xfrm>
            <a:off x="77724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2E6E49"/>
                </a:solidFill>
                <a:latin typeface="Calibri" pitchFamily="34" charset="0"/>
                <a:ea typeface="Calibri" pitchFamily="34" charset="-122"/>
                <a:cs typeface="Calibri" pitchFamily="34" charset="-120"/>
              </a:rPr>
              <a:t>Se pueden usar en cualquier herramienta abierta.</a:t>
            </a:r>
            <a:endParaRPr lang="en-US" sz="1150" dirty="0"/>
          </a:p>
        </p:txBody>
      </p:sp>
      <p:sp>
        <p:nvSpPr>
          <p:cNvPr id="10" name="Shape 8"/>
          <p:cNvSpPr/>
          <p:nvPr/>
        </p:nvSpPr>
        <p:spPr>
          <a:xfrm>
            <a:off x="4343400" y="205740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5728716" y="2331720"/>
            <a:ext cx="731520" cy="731520"/>
          </a:xfrm>
          <a:prstGeom prst="ellipse">
            <a:avLst/>
          </a:prstGeom>
          <a:solidFill>
            <a:srgbClr val="E0A82E"/>
          </a:solidFill>
          <a:ln/>
        </p:spPr>
      </p:sp>
      <p:sp>
        <p:nvSpPr>
          <p:cNvPr id="12" name="Text 10"/>
          <p:cNvSpPr txBox="1"/>
          <p:nvPr/>
        </p:nvSpPr>
        <p:spPr>
          <a:xfrm>
            <a:off x="4572000" y="3200400"/>
            <a:ext cx="3044952" cy="365760"/>
          </a:xfrm>
          <a:prstGeom prst="rect">
            <a:avLst/>
          </a:prstGeom>
          <a:noFill/>
          <a:ln/>
        </p:spPr>
        <p:txBody>
          <a:bodyPr wrap="square" lIns="0" tIns="0" rIns="0" bIns="0" rtlCol="0" anchor="ctr"/>
          <a:lstStyle/>
          <a:p>
            <a:pPr algn="ctr" indent="0" marL="0">
              <a:buNone/>
            </a:pPr>
            <a:r>
              <a:rPr lang="en-US" sz="1600" b="1" dirty="0">
                <a:solidFill>
                  <a:srgbClr val="8A6D1F"/>
                </a:solidFill>
                <a:latin typeface="Calibri" pitchFamily="34" charset="0"/>
                <a:ea typeface="Calibri" pitchFamily="34" charset="-122"/>
                <a:cs typeface="Calibri" pitchFamily="34" charset="-120"/>
              </a:rPr>
              <a:t>Amarillo</a:t>
            </a:r>
            <a:endParaRPr lang="en-US" sz="1600" dirty="0"/>
          </a:p>
        </p:txBody>
      </p:sp>
      <p:sp>
        <p:nvSpPr>
          <p:cNvPr id="13" name="Text 11"/>
          <p:cNvSpPr txBox="1"/>
          <p:nvPr/>
        </p:nvSpPr>
        <p:spPr>
          <a:xfrm>
            <a:off x="457200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internos o que permiten identificar a una persona.</a:t>
            </a:r>
            <a:endParaRPr lang="en-US" sz="1200" dirty="0"/>
          </a:p>
        </p:txBody>
      </p:sp>
      <p:sp>
        <p:nvSpPr>
          <p:cNvPr id="14" name="Shape 12"/>
          <p:cNvSpPr/>
          <p:nvPr/>
        </p:nvSpPr>
        <p:spPr>
          <a:xfrm>
            <a:off x="4572000" y="4343400"/>
            <a:ext cx="3044952" cy="18288"/>
          </a:xfrm>
          <a:prstGeom prst="rect">
            <a:avLst/>
          </a:prstGeom>
          <a:solidFill>
            <a:srgbClr val="D5DCE3"/>
          </a:solidFill>
          <a:ln/>
        </p:spPr>
      </p:sp>
      <p:sp>
        <p:nvSpPr>
          <p:cNvPr id="15" name="Text 13"/>
          <p:cNvSpPr txBox="1"/>
          <p:nvPr/>
        </p:nvSpPr>
        <p:spPr>
          <a:xfrm>
            <a:off x="457200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8A6D1F"/>
                </a:solidFill>
                <a:latin typeface="Calibri" pitchFamily="34" charset="0"/>
                <a:ea typeface="Calibri" pitchFamily="34" charset="-122"/>
                <a:cs typeface="Calibri" pitchFamily="34" charset="-120"/>
              </a:rPr>
              <a:t>Solo en Copilot institucional, con la cuenta del Instituto.</a:t>
            </a:r>
            <a:endParaRPr lang="en-US" sz="1150" dirty="0"/>
          </a:p>
        </p:txBody>
      </p:sp>
      <p:sp>
        <p:nvSpPr>
          <p:cNvPr id="16" name="Shape 14"/>
          <p:cNvSpPr/>
          <p:nvPr/>
        </p:nvSpPr>
        <p:spPr>
          <a:xfrm>
            <a:off x="8138160" y="2057400"/>
            <a:ext cx="3502152" cy="2743200"/>
          </a:xfrm>
          <a:prstGeom prst="roundRect">
            <a:avLst>
              <a:gd name="adj" fmla="val 2000"/>
            </a:avLst>
          </a:prstGeom>
          <a:solidFill>
            <a:srgbClr val="FFFFFF"/>
          </a:solidFill>
          <a:ln w="9525">
            <a:solidFill>
              <a:srgbClr val="D5DCE3"/>
            </a:solidFill>
            <a:prstDash val="solid"/>
          </a:ln>
        </p:spPr>
      </p:sp>
      <p:sp>
        <p:nvSpPr>
          <p:cNvPr id="17" name="Shape 15"/>
          <p:cNvSpPr/>
          <p:nvPr/>
        </p:nvSpPr>
        <p:spPr>
          <a:xfrm>
            <a:off x="9523476" y="2331720"/>
            <a:ext cx="731520" cy="731520"/>
          </a:xfrm>
          <a:prstGeom prst="ellipse">
            <a:avLst/>
          </a:prstGeom>
          <a:solidFill>
            <a:srgbClr val="C0472B"/>
          </a:solidFill>
          <a:ln/>
        </p:spPr>
      </p:sp>
      <p:sp>
        <p:nvSpPr>
          <p:cNvPr id="18" name="Text 16"/>
          <p:cNvSpPr txBox="1"/>
          <p:nvPr/>
        </p:nvSpPr>
        <p:spPr>
          <a:xfrm>
            <a:off x="8366760" y="3200400"/>
            <a:ext cx="3044952" cy="365760"/>
          </a:xfrm>
          <a:prstGeom prst="rect">
            <a:avLst/>
          </a:prstGeom>
          <a:noFill/>
          <a:ln/>
        </p:spPr>
        <p:txBody>
          <a:bodyPr wrap="square" lIns="0" tIns="0" rIns="0" bIns="0" rtlCol="0" anchor="ctr"/>
          <a:lstStyle/>
          <a:p>
            <a:pPr algn="ctr" indent="0" marL="0">
              <a:buNone/>
            </a:pPr>
            <a:r>
              <a:rPr lang="en-US" sz="1600" b="1" dirty="0">
                <a:solidFill>
                  <a:srgbClr val="A23B22"/>
                </a:solidFill>
                <a:latin typeface="Calibri" pitchFamily="34" charset="0"/>
                <a:ea typeface="Calibri" pitchFamily="34" charset="-122"/>
                <a:cs typeface="Calibri" pitchFamily="34" charset="-120"/>
              </a:rPr>
              <a:t>Rojo</a:t>
            </a:r>
            <a:endParaRPr lang="en-US" sz="1600" dirty="0"/>
          </a:p>
        </p:txBody>
      </p:sp>
      <p:sp>
        <p:nvSpPr>
          <p:cNvPr id="19" name="Text 17"/>
          <p:cNvSpPr txBox="1"/>
          <p:nvPr/>
        </p:nvSpPr>
        <p:spPr>
          <a:xfrm>
            <a:off x="8366760" y="3611880"/>
            <a:ext cx="3044952" cy="777240"/>
          </a:xfrm>
          <a:prstGeom prst="rect">
            <a:avLst/>
          </a:prstGeom>
          <a:noFill/>
          <a:ln/>
        </p:spPr>
        <p:txBody>
          <a:bodyPr wrap="square" lIns="0" tIns="0" rIns="0" bIns="0" rtlCol="0" anchor="ctr"/>
          <a:lstStyle/>
          <a:p>
            <a:pPr algn="ctr" indent="0" marL="0">
              <a:lnSpc>
                <a:spcPct val="100000"/>
              </a:lnSpc>
              <a:buNone/>
            </a:pPr>
            <a:r>
              <a:rPr lang="en-US" sz="1200" dirty="0">
                <a:solidFill>
                  <a:srgbClr val="1E2A35"/>
                </a:solidFill>
                <a:latin typeface="Calibri" pitchFamily="34" charset="0"/>
                <a:ea typeface="Calibri" pitchFamily="34" charset="-122"/>
                <a:cs typeface="Calibri" pitchFamily="34" charset="-120"/>
              </a:rPr>
              <a:t>Datos personales sensibles o confidenciales.</a:t>
            </a:r>
            <a:endParaRPr lang="en-US" sz="1200" dirty="0"/>
          </a:p>
        </p:txBody>
      </p:sp>
      <p:sp>
        <p:nvSpPr>
          <p:cNvPr id="20" name="Shape 18"/>
          <p:cNvSpPr/>
          <p:nvPr/>
        </p:nvSpPr>
        <p:spPr>
          <a:xfrm>
            <a:off x="8366760" y="4343400"/>
            <a:ext cx="3044952" cy="18288"/>
          </a:xfrm>
          <a:prstGeom prst="rect">
            <a:avLst/>
          </a:prstGeom>
          <a:solidFill>
            <a:srgbClr val="D5DCE3"/>
          </a:solidFill>
          <a:ln/>
        </p:spPr>
      </p:sp>
      <p:sp>
        <p:nvSpPr>
          <p:cNvPr id="21" name="Text 19"/>
          <p:cNvSpPr txBox="1"/>
          <p:nvPr/>
        </p:nvSpPr>
        <p:spPr>
          <a:xfrm>
            <a:off x="8366760" y="4398264"/>
            <a:ext cx="3044952" cy="365760"/>
          </a:xfrm>
          <a:prstGeom prst="rect">
            <a:avLst/>
          </a:prstGeom>
          <a:noFill/>
          <a:ln/>
        </p:spPr>
        <p:txBody>
          <a:bodyPr wrap="square" lIns="0" tIns="0" rIns="0" bIns="0" rtlCol="0" anchor="ctr"/>
          <a:lstStyle/>
          <a:p>
            <a:pPr algn="ctr" indent="0" marL="0">
              <a:lnSpc>
                <a:spcPct val="95000"/>
              </a:lnSpc>
              <a:buNone/>
            </a:pPr>
            <a:r>
              <a:rPr lang="en-US" sz="1150" b="1" dirty="0">
                <a:solidFill>
                  <a:srgbClr val="A23B22"/>
                </a:solidFill>
                <a:latin typeface="Calibri" pitchFamily="34" charset="0"/>
                <a:ea typeface="Calibri" pitchFamily="34" charset="-122"/>
                <a:cs typeface="Calibri" pitchFamily="34" charset="-120"/>
              </a:rPr>
              <a:t>No salen a ninguna herramienta de IA.</a:t>
            </a:r>
            <a:endParaRPr lang="en-US" sz="1150" dirty="0"/>
          </a:p>
        </p:txBody>
      </p:sp>
      <p:sp>
        <p:nvSpPr>
          <p:cNvPr id="22" name="Shape 20"/>
          <p:cNvSpPr/>
          <p:nvPr/>
        </p:nvSpPr>
        <p:spPr>
          <a:xfrm>
            <a:off x="548640" y="6053328"/>
            <a:ext cx="11091672" cy="603504"/>
          </a:xfrm>
          <a:prstGeom prst="rect">
            <a:avLst/>
          </a:prstGeom>
          <a:solidFill>
            <a:srgbClr val="FBEEE5"/>
          </a:solidFill>
          <a:ln/>
        </p:spPr>
      </p:sp>
      <p:sp>
        <p:nvSpPr>
          <p:cNvPr id="23" name="Shape 21"/>
          <p:cNvSpPr/>
          <p:nvPr/>
        </p:nvSpPr>
        <p:spPr>
          <a:xfrm>
            <a:off x="749808" y="6272784"/>
            <a:ext cx="164592" cy="164592"/>
          </a:xfrm>
          <a:prstGeom prst="roundRect">
            <a:avLst>
              <a:gd name="adj" fmla="val 22222"/>
            </a:avLst>
          </a:prstGeom>
          <a:solidFill>
            <a:srgbClr val="CB5E2E"/>
          </a:solidFill>
          <a:ln/>
        </p:spPr>
      </p:sp>
      <p:sp>
        <p:nvSpPr>
          <p:cNvPr id="24" name="Text 2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Todo el material del curso es verde a propósito: programas, cifras y personas son ficticios. Con expedientes reales, el mismo ejercicio sería amarillo.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822960" y="2468880"/>
            <a:ext cx="1371600" cy="1371600"/>
          </a:xfrm>
          <a:prstGeom prst="ellipse">
            <a:avLst/>
          </a:prstGeom>
          <a:solidFill>
            <a:srgbClr val="CB5E2E"/>
          </a:solidFill>
          <a:ln/>
        </p:spPr>
      </p:sp>
      <p:sp>
        <p:nvSpPr>
          <p:cNvPr id="3" name="Text 1"/>
          <p:cNvSpPr txBox="1"/>
          <p:nvPr/>
        </p:nvSpPr>
        <p:spPr>
          <a:xfrm>
            <a:off x="822960" y="2468880"/>
            <a:ext cx="1371600" cy="13716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2514600" y="2670048"/>
            <a:ext cx="8961120" cy="411480"/>
          </a:xfrm>
          <a:prstGeom prst="rect">
            <a:avLst/>
          </a:prstGeom>
          <a:noFill/>
          <a:ln/>
        </p:spPr>
        <p:txBody>
          <a:bodyPr wrap="square" lIns="0" tIns="0" rIns="0" bIns="0" rtlCol="0" anchor="ctr"/>
          <a:lstStyle/>
          <a:p>
            <a:pPr indent="0" marL="0">
              <a:buNone/>
            </a:pPr>
            <a:r>
              <a:rPr lang="en-US" sz="1400" b="1" spc="200" kern="0" dirty="0">
                <a:solidFill>
                  <a:srgbClr val="E58A5B"/>
                </a:solidFill>
                <a:latin typeface="Calibri" pitchFamily="34" charset="0"/>
                <a:ea typeface="Calibri" pitchFamily="34" charset="-122"/>
                <a:cs typeface="Calibri" pitchFamily="34" charset="-120"/>
              </a:rPr>
              <a:t>LABORATORIO PRÁCTICO 2</a:t>
            </a:r>
            <a:endParaRPr lang="en-US" sz="1400" dirty="0"/>
          </a:p>
        </p:txBody>
      </p:sp>
      <p:sp>
        <p:nvSpPr>
          <p:cNvPr id="5" name="Text 3"/>
          <p:cNvSpPr txBox="1"/>
          <p:nvPr/>
        </p:nvSpPr>
        <p:spPr>
          <a:xfrm>
            <a:off x="2514600" y="3072384"/>
            <a:ext cx="9052560" cy="11887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Extraer, medir y trazar</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Laboratorio: su turno</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Tres partes cortas, cada una en su hoja del archivo Laboratorio_S06.xlsx. Todo el material es ficticio.</a:t>
            </a:r>
            <a:endParaRPr lang="en-US" sz="1400" dirty="0"/>
          </a:p>
        </p:txBody>
      </p:sp>
      <p:sp>
        <p:nvSpPr>
          <p:cNvPr id="4" name="Shape 2"/>
          <p:cNvSpPr/>
          <p:nvPr/>
        </p:nvSpPr>
        <p:spPr>
          <a:xfrm>
            <a:off x="548640" y="1783080"/>
            <a:ext cx="3502152" cy="2743200"/>
          </a:xfrm>
          <a:prstGeom prst="roundRect">
            <a:avLst>
              <a:gd name="adj" fmla="val 2000"/>
            </a:avLst>
          </a:prstGeom>
          <a:solidFill>
            <a:srgbClr val="FFFFFF"/>
          </a:solidFill>
          <a:ln w="9525">
            <a:solidFill>
              <a:srgbClr val="D5DCE3"/>
            </a:solidFill>
            <a:prstDash val="solid"/>
          </a:ln>
        </p:spPr>
      </p:sp>
      <p:sp>
        <p:nvSpPr>
          <p:cNvPr id="5" name="Shape 3"/>
          <p:cNvSpPr/>
          <p:nvPr/>
        </p:nvSpPr>
        <p:spPr>
          <a:xfrm>
            <a:off x="777240" y="2039112"/>
            <a:ext cx="457200" cy="457200"/>
          </a:xfrm>
          <a:prstGeom prst="ellipse">
            <a:avLst/>
          </a:prstGeom>
          <a:solidFill>
            <a:srgbClr val="CB5E2E"/>
          </a:solidFill>
          <a:ln/>
        </p:spPr>
      </p:sp>
      <p:sp>
        <p:nvSpPr>
          <p:cNvPr id="6" name="Text 4"/>
          <p:cNvSpPr txBox="1"/>
          <p:nvPr/>
        </p:nvSpPr>
        <p:spPr>
          <a:xfrm>
            <a:off x="77724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137160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15 min</a:t>
            </a:r>
            <a:endParaRPr lang="en-US" sz="1200" dirty="0"/>
          </a:p>
        </p:txBody>
      </p:sp>
      <p:sp>
        <p:nvSpPr>
          <p:cNvPr id="8" name="Text 6"/>
          <p:cNvSpPr txBox="1"/>
          <p:nvPr/>
        </p:nvSpPr>
        <p:spPr>
          <a:xfrm>
            <a:off x="77724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Precisión y recuperación</a:t>
            </a:r>
            <a:endParaRPr lang="en-US" sz="1500" dirty="0"/>
          </a:p>
        </p:txBody>
      </p:sp>
      <p:sp>
        <p:nvSpPr>
          <p:cNvPr id="9" name="Text 7"/>
          <p:cNvSpPr txBox="1"/>
          <p:nvPr/>
        </p:nvSpPr>
        <p:spPr>
          <a:xfrm>
            <a:off x="77724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Comparen la lista que sacó la IA contra el artículo. Marquen VP, FP y FN, y calculen precisión, recuperación y F1 en la calculadora.</a:t>
            </a:r>
            <a:endParaRPr lang="en-US" sz="1200" dirty="0"/>
          </a:p>
        </p:txBody>
      </p:sp>
      <p:sp>
        <p:nvSpPr>
          <p:cNvPr id="10" name="Shape 8"/>
          <p:cNvSpPr/>
          <p:nvPr/>
        </p:nvSpPr>
        <p:spPr>
          <a:xfrm>
            <a:off x="4343400" y="1783080"/>
            <a:ext cx="3502152" cy="2743200"/>
          </a:xfrm>
          <a:prstGeom prst="roundRect">
            <a:avLst>
              <a:gd name="adj" fmla="val 2000"/>
            </a:avLst>
          </a:prstGeom>
          <a:solidFill>
            <a:srgbClr val="FFFFFF"/>
          </a:solidFill>
          <a:ln w="9525">
            <a:solidFill>
              <a:srgbClr val="D5DCE3"/>
            </a:solidFill>
            <a:prstDash val="solid"/>
          </a:ln>
        </p:spPr>
      </p:sp>
      <p:sp>
        <p:nvSpPr>
          <p:cNvPr id="11" name="Shape 9"/>
          <p:cNvSpPr/>
          <p:nvPr/>
        </p:nvSpPr>
        <p:spPr>
          <a:xfrm>
            <a:off x="4572000" y="2039112"/>
            <a:ext cx="457200" cy="457200"/>
          </a:xfrm>
          <a:prstGeom prst="ellipse">
            <a:avLst/>
          </a:prstGeom>
          <a:solidFill>
            <a:srgbClr val="CB5E2E"/>
          </a:solidFill>
          <a:ln/>
        </p:spPr>
      </p:sp>
      <p:sp>
        <p:nvSpPr>
          <p:cNvPr id="12" name="Text 10"/>
          <p:cNvSpPr txBox="1"/>
          <p:nvPr/>
        </p:nvSpPr>
        <p:spPr>
          <a:xfrm>
            <a:off x="457200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txBox="1"/>
          <p:nvPr/>
        </p:nvSpPr>
        <p:spPr>
          <a:xfrm>
            <a:off x="516636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15 min</a:t>
            </a:r>
            <a:endParaRPr lang="en-US" sz="1200" dirty="0"/>
          </a:p>
        </p:txBody>
      </p:sp>
      <p:sp>
        <p:nvSpPr>
          <p:cNvPr id="14" name="Text 12"/>
          <p:cNvSpPr txBox="1"/>
          <p:nvPr/>
        </p:nvSpPr>
        <p:spPr>
          <a:xfrm>
            <a:off x="457200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Acuerdo y kappa</a:t>
            </a:r>
            <a:endParaRPr lang="en-US" sz="1500" dirty="0"/>
          </a:p>
        </p:txBody>
      </p:sp>
      <p:sp>
        <p:nvSpPr>
          <p:cNvPr id="15" name="Text 13"/>
          <p:cNvSpPr txBox="1"/>
          <p:nvPr/>
        </p:nvSpPr>
        <p:spPr>
          <a:xfrm>
            <a:off x="457200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20 comentarios ya clasificados por dos evaluadores. Armen la tabla de contingencia y calculen Po, Pe y kappa. Interprétenlo con la escala.</a:t>
            </a:r>
            <a:endParaRPr lang="en-US" sz="1200" dirty="0"/>
          </a:p>
        </p:txBody>
      </p:sp>
      <p:sp>
        <p:nvSpPr>
          <p:cNvPr id="16" name="Shape 14"/>
          <p:cNvSpPr/>
          <p:nvPr/>
        </p:nvSpPr>
        <p:spPr>
          <a:xfrm>
            <a:off x="8138160" y="1783080"/>
            <a:ext cx="3502152" cy="2743200"/>
          </a:xfrm>
          <a:prstGeom prst="roundRect">
            <a:avLst>
              <a:gd name="adj" fmla="val 2000"/>
            </a:avLst>
          </a:prstGeom>
          <a:solidFill>
            <a:srgbClr val="EEF2F5"/>
          </a:solidFill>
          <a:ln w="9525">
            <a:solidFill>
              <a:srgbClr val="D5DCE3"/>
            </a:solidFill>
            <a:prstDash val="solid"/>
          </a:ln>
        </p:spPr>
      </p:sp>
      <p:sp>
        <p:nvSpPr>
          <p:cNvPr id="17" name="Shape 15"/>
          <p:cNvSpPr/>
          <p:nvPr/>
        </p:nvSpPr>
        <p:spPr>
          <a:xfrm>
            <a:off x="8366760" y="2039112"/>
            <a:ext cx="457200" cy="457200"/>
          </a:xfrm>
          <a:prstGeom prst="ellipse">
            <a:avLst/>
          </a:prstGeom>
          <a:solidFill>
            <a:srgbClr val="CB5E2E"/>
          </a:solidFill>
          <a:ln/>
        </p:spPr>
      </p:sp>
      <p:sp>
        <p:nvSpPr>
          <p:cNvPr id="18" name="Text 16"/>
          <p:cNvSpPr txBox="1"/>
          <p:nvPr/>
        </p:nvSpPr>
        <p:spPr>
          <a:xfrm>
            <a:off x="8366760" y="20391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961120" y="2075688"/>
            <a:ext cx="2496312" cy="365760"/>
          </a:xfrm>
          <a:prstGeom prst="rect">
            <a:avLst/>
          </a:prstGeom>
          <a:noFill/>
          <a:ln/>
        </p:spPr>
        <p:txBody>
          <a:bodyPr wrap="square" lIns="0" tIns="0" rIns="0" bIns="0" rtlCol="0" anchor="ctr"/>
          <a:lstStyle/>
          <a:p>
            <a:pPr indent="0" marL="0">
              <a:buNone/>
            </a:pPr>
            <a:r>
              <a:rPr lang="en-US" sz="1200" b="1" dirty="0">
                <a:solidFill>
                  <a:srgbClr val="60707E"/>
                </a:solidFill>
                <a:latin typeface="Calibri" pitchFamily="34" charset="0"/>
                <a:ea typeface="Calibri" pitchFamily="34" charset="-122"/>
                <a:cs typeface="Calibri" pitchFamily="34" charset="-120"/>
              </a:rPr>
              <a:t>10 min</a:t>
            </a:r>
            <a:endParaRPr lang="en-US" sz="1200" dirty="0"/>
          </a:p>
        </p:txBody>
      </p:sp>
      <p:sp>
        <p:nvSpPr>
          <p:cNvPr id="20" name="Text 18"/>
          <p:cNvSpPr txBox="1"/>
          <p:nvPr/>
        </p:nvSpPr>
        <p:spPr>
          <a:xfrm>
            <a:off x="8366760" y="2624328"/>
            <a:ext cx="3044952" cy="502920"/>
          </a:xfrm>
          <a:prstGeom prst="rect">
            <a:avLst/>
          </a:prstGeom>
          <a:noFill/>
          <a:ln/>
        </p:spPr>
        <p:txBody>
          <a:bodyPr wrap="square" lIns="0" tIns="0" rIns="0" bIns="0" rtlCol="0" anchor="ctr"/>
          <a:lstStyle/>
          <a:p>
            <a:pPr indent="0" marL="0">
              <a:buNone/>
            </a:pPr>
            <a:r>
              <a:rPr lang="en-US" sz="1500" b="1" dirty="0">
                <a:solidFill>
                  <a:srgbClr val="1E2A35"/>
                </a:solidFill>
                <a:latin typeface="Calibri" pitchFamily="34" charset="0"/>
                <a:ea typeface="Calibri" pitchFamily="34" charset="-122"/>
                <a:cs typeface="Calibri" pitchFamily="34" charset="-120"/>
              </a:rPr>
              <a:t>Matriz de evidencia</a:t>
            </a:r>
            <a:endParaRPr lang="en-US" sz="1500" dirty="0"/>
          </a:p>
        </p:txBody>
      </p:sp>
      <p:sp>
        <p:nvSpPr>
          <p:cNvPr id="21" name="Text 19"/>
          <p:cNvSpPr txBox="1"/>
          <p:nvPr/>
        </p:nvSpPr>
        <p:spPr>
          <a:xfrm>
            <a:off x="8366760" y="3154680"/>
            <a:ext cx="3044952" cy="1280160"/>
          </a:xfrm>
          <a:prstGeom prst="rect">
            <a:avLst/>
          </a:prstGeom>
          <a:noFill/>
          <a:ln/>
        </p:spPr>
        <p:txBody>
          <a:bodyPr wrap="square" lIns="0" tIns="0" rIns="0" bIns="0" rtlCol="0" anchor="ctr"/>
          <a:lstStyle/>
          <a:p>
            <a:pPr indent="0" marL="0">
              <a:lnSpc>
                <a:spcPct val="105000"/>
              </a:lnSpc>
              <a:buNone/>
            </a:pPr>
            <a:r>
              <a:rPr lang="en-US" sz="1200" dirty="0">
                <a:solidFill>
                  <a:srgbClr val="1E2A35"/>
                </a:solidFill>
                <a:latin typeface="Calibri" pitchFamily="34" charset="0"/>
                <a:ea typeface="Calibri" pitchFamily="34" charset="-122"/>
                <a:cs typeface="Calibri" pitchFamily="34" charset="-120"/>
              </a:rPr>
              <a:t>Tomen 3 afirmaciones del resumen de la IA (hoja Fuente P3) y llenen su fila: cita textual, ubicación, quién verificó y nivel de confianza.</a:t>
            </a:r>
            <a:endParaRPr lang="en-US" sz="1200" dirty="0"/>
          </a:p>
        </p:txBody>
      </p:sp>
      <p:sp>
        <p:nvSpPr>
          <p:cNvPr id="22" name="Shape 20"/>
          <p:cNvSpPr/>
          <p:nvPr/>
        </p:nvSpPr>
        <p:spPr>
          <a:xfrm>
            <a:off x="548640" y="4754880"/>
            <a:ext cx="11091672" cy="960120"/>
          </a:xfrm>
          <a:prstGeom prst="roundRect">
            <a:avLst>
              <a:gd name="adj" fmla="val 5714"/>
            </a:avLst>
          </a:prstGeom>
          <a:solidFill>
            <a:srgbClr val="15293B"/>
          </a:solidFill>
          <a:ln/>
        </p:spPr>
      </p:sp>
      <p:sp>
        <p:nvSpPr>
          <p:cNvPr id="23" name="Text 21"/>
          <p:cNvSpPr txBox="1"/>
          <p:nvPr/>
        </p:nvSpPr>
        <p:spPr>
          <a:xfrm>
            <a:off x="868680" y="4901184"/>
            <a:ext cx="2743200" cy="320040"/>
          </a:xfrm>
          <a:prstGeom prst="rect">
            <a:avLst/>
          </a:prstGeom>
          <a:noFill/>
          <a:ln/>
        </p:spPr>
        <p:txBody>
          <a:bodyPr wrap="square" lIns="0" tIns="0" rIns="0" bIns="0" rtlCol="0" anchor="ctr"/>
          <a:lstStyle/>
          <a:p>
            <a:pPr indent="0" marL="0">
              <a:buNone/>
            </a:pPr>
            <a:r>
              <a:rPr lang="en-US" sz="1300" b="1" spc="100" kern="0" dirty="0">
                <a:solidFill>
                  <a:srgbClr val="E58A5B"/>
                </a:solidFill>
                <a:latin typeface="Calibri" pitchFamily="34" charset="0"/>
                <a:ea typeface="Calibri" pitchFamily="34" charset="-122"/>
                <a:cs typeface="Calibri" pitchFamily="34" charset="-120"/>
              </a:rPr>
              <a:t>LA REGLA DURA</a:t>
            </a:r>
            <a:endParaRPr lang="en-US" sz="1300" dirty="0"/>
          </a:p>
        </p:txBody>
      </p:sp>
      <p:sp>
        <p:nvSpPr>
          <p:cNvPr id="24" name="Text 22"/>
          <p:cNvSpPr txBox="1"/>
          <p:nvPr/>
        </p:nvSpPr>
        <p:spPr>
          <a:xfrm>
            <a:off x="868680" y="5212080"/>
            <a:ext cx="10451592" cy="457200"/>
          </a:xfrm>
          <a:prstGeom prst="rect">
            <a:avLst/>
          </a:prstGeom>
          <a:noFill/>
          <a:ln/>
        </p:spPr>
        <p:txBody>
          <a:bodyPr wrap="square" lIns="0" tIns="0" rIns="0" bIns="0" rtlCol="0" anchor="ctr"/>
          <a:lstStyle/>
          <a:p>
            <a:pPr indent="0" marL="0">
              <a:lnSpc>
                <a:spcPct val="100000"/>
              </a:lnSpc>
              <a:buNone/>
            </a:pPr>
            <a:r>
              <a:rPr lang="en-US" sz="1300" dirty="0">
                <a:solidFill>
                  <a:srgbClr val="E4EAF0"/>
                </a:solidFill>
                <a:latin typeface="Calibri" pitchFamily="34" charset="0"/>
                <a:ea typeface="Calibri" pitchFamily="34" charset="-122"/>
                <a:cs typeface="Calibri" pitchFamily="34" charset="-120"/>
              </a:rPr>
              <a:t>Ninguna fila de su matriz puede afirmar algo que la cita no diga. Si le parece evidente y no lo puede trazar, no entra, o entra como hipótesis con confianza baja.</a:t>
            </a:r>
            <a:endParaRPr lang="en-US" sz="1300" dirty="0"/>
          </a:p>
        </p:txBody>
      </p:sp>
      <p:sp>
        <p:nvSpPr>
          <p:cNvPr id="25" name="Text 23"/>
          <p:cNvSpPr txBox="1"/>
          <p:nvPr/>
        </p:nvSpPr>
        <p:spPr>
          <a:xfrm>
            <a:off x="548640" y="5989320"/>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Archivos: Laboratorio_S06.xlsx (hojas P1, P2, Fuente P3 y Matriz de evidencia). Quien programa puede usar el notebook Laboratorio_S06.ipynb y comprobar que los números coinciden.</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Qué se llevan y qué entregan</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Cierre del bloque cualitativo y puente al Módulo III.</a:t>
            </a:r>
            <a:endParaRPr lang="en-US" sz="1400" dirty="0"/>
          </a:p>
        </p:txBody>
      </p:sp>
      <p:sp>
        <p:nvSpPr>
          <p:cNvPr id="4" name="Shape 2"/>
          <p:cNvSpPr/>
          <p:nvPr/>
        </p:nvSpPr>
        <p:spPr>
          <a:xfrm>
            <a:off x="548640" y="1874520"/>
            <a:ext cx="5394960" cy="2286000"/>
          </a:xfrm>
          <a:prstGeom prst="roundRect">
            <a:avLst>
              <a:gd name="adj" fmla="val 2400"/>
            </a:avLst>
          </a:prstGeom>
          <a:solidFill>
            <a:srgbClr val="EEF2F5"/>
          </a:solidFill>
          <a:ln w="9525">
            <a:solidFill>
              <a:srgbClr val="D5DCE3"/>
            </a:solidFill>
            <a:prstDash val="solid"/>
          </a:ln>
        </p:spPr>
      </p:sp>
      <p:sp>
        <p:nvSpPr>
          <p:cNvPr id="5" name="Text 3"/>
          <p:cNvSpPr txBox="1"/>
          <p:nvPr/>
        </p:nvSpPr>
        <p:spPr>
          <a:xfrm>
            <a:off x="822960"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Las tres ideas del día</a:t>
            </a:r>
            <a:endParaRPr lang="en-US" sz="1500" dirty="0"/>
          </a:p>
        </p:txBody>
      </p:sp>
      <p:sp>
        <p:nvSpPr>
          <p:cNvPr id="6" name="Text 4"/>
          <p:cNvSpPr txBox="1"/>
          <p:nvPr/>
        </p:nvSpPr>
        <p:spPr>
          <a:xfrm>
            <a:off x="822960"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IA entrega candidatos, no verdades: la decisión es suya.</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Con respuesta correcta se mide con precisión y recuperación; sin ella, con kappa.</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El porcentaje de acuerdo engaña; kappa descuenta el azar.</a:t>
            </a:r>
            <a:endParaRPr lang="en-US" sz="1300" dirty="0"/>
          </a:p>
        </p:txBody>
      </p:sp>
      <p:sp>
        <p:nvSpPr>
          <p:cNvPr id="7" name="Shape 5"/>
          <p:cNvSpPr/>
          <p:nvPr/>
        </p:nvSpPr>
        <p:spPr>
          <a:xfrm>
            <a:off x="6245352" y="1874520"/>
            <a:ext cx="5394960" cy="2286000"/>
          </a:xfrm>
          <a:prstGeom prst="roundRect">
            <a:avLst>
              <a:gd name="adj" fmla="val 2400"/>
            </a:avLst>
          </a:prstGeom>
          <a:solidFill>
            <a:srgbClr val="FFFFFF"/>
          </a:solidFill>
          <a:ln w="9525">
            <a:solidFill>
              <a:srgbClr val="D5DCE3"/>
            </a:solidFill>
            <a:prstDash val="solid"/>
          </a:ln>
        </p:spPr>
      </p:sp>
      <p:sp>
        <p:nvSpPr>
          <p:cNvPr id="8" name="Text 6"/>
          <p:cNvSpPr txBox="1"/>
          <p:nvPr/>
        </p:nvSpPr>
        <p:spPr>
          <a:xfrm>
            <a:off x="6519672" y="205740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Entregables de la sesión</a:t>
            </a:r>
            <a:endParaRPr lang="en-US" sz="1500" dirty="0"/>
          </a:p>
        </p:txBody>
      </p:sp>
      <p:sp>
        <p:nvSpPr>
          <p:cNvPr id="9" name="Text 7"/>
          <p:cNvSpPr txBox="1"/>
          <p:nvPr/>
        </p:nvSpPr>
        <p:spPr>
          <a:xfrm>
            <a:off x="6519672" y="2468880"/>
            <a:ext cx="4846320" cy="1554480"/>
          </a:xfrm>
          <a:prstGeom prst="rect">
            <a:avLst/>
          </a:prstGeom>
          <a:noFill/>
          <a:ln/>
        </p:spPr>
        <p:txBody>
          <a:bodyPr wrap="square" lIns="0" tIns="0" rIns="0" bIns="0" rtlCol="0" anchor="ctr"/>
          <a:lstStyle/>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La matriz de evidencia con sus filas trazadas y el nivel de confianza.</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Los dos números de la medición: F1 de la extracción y kappa del acuerdo.</a:t>
            </a:r>
            <a:endParaRPr lang="en-US" sz="1300" dirty="0"/>
          </a:p>
          <a:p>
            <a:pPr marL="342900" indent="-342900">
              <a:lnSpc>
                <a:spcPct val="100000"/>
              </a:lnSpc>
              <a:spcAft>
                <a:spcPts val="800"/>
              </a:spcAft>
              <a:buSzPct val="100000"/>
              <a:buChar char="•"/>
            </a:pPr>
            <a:r>
              <a:rPr lang="en-US" sz="1300" dirty="0">
                <a:solidFill>
                  <a:srgbClr val="1E2A35"/>
                </a:solidFill>
                <a:latin typeface="Calibri" pitchFamily="34" charset="0"/>
                <a:ea typeface="Calibri" pitchFamily="34" charset="-122"/>
                <a:cs typeface="Calibri" pitchFamily="34" charset="-120"/>
              </a:rPr>
              <a:t>Su definición en una línea de confianza alta, media y baja.</a:t>
            </a:r>
            <a:endParaRPr lang="en-US" sz="1300" dirty="0"/>
          </a:p>
        </p:txBody>
      </p:sp>
      <p:sp>
        <p:nvSpPr>
          <p:cNvPr id="10" name="Shape 8"/>
          <p:cNvSpPr/>
          <p:nvPr/>
        </p:nvSpPr>
        <p:spPr>
          <a:xfrm>
            <a:off x="548640" y="4434840"/>
            <a:ext cx="11091672" cy="1371600"/>
          </a:xfrm>
          <a:prstGeom prst="roundRect">
            <a:avLst>
              <a:gd name="adj" fmla="val 4000"/>
            </a:avLst>
          </a:prstGeom>
          <a:solidFill>
            <a:srgbClr val="15293B"/>
          </a:solidFill>
          <a:ln/>
        </p:spPr>
      </p:sp>
      <p:sp>
        <p:nvSpPr>
          <p:cNvPr id="11" name="Text 9"/>
          <p:cNvSpPr txBox="1"/>
          <p:nvPr/>
        </p:nvSpPr>
        <p:spPr>
          <a:xfrm>
            <a:off x="868680" y="4599432"/>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El límite que abre el Módulo III</a:t>
            </a:r>
            <a:endParaRPr lang="en-US" sz="1600" dirty="0"/>
          </a:p>
        </p:txBody>
      </p:sp>
      <p:sp>
        <p:nvSpPr>
          <p:cNvPr id="12" name="Text 10"/>
          <p:cNvSpPr txBox="1"/>
          <p:nvPr/>
        </p:nvSpPr>
        <p:spPr>
          <a:xfrm>
            <a:off x="868680" y="4983480"/>
            <a:ext cx="10451592" cy="777240"/>
          </a:xfrm>
          <a:prstGeom prst="rect">
            <a:avLst/>
          </a:prstGeom>
          <a:noFill/>
          <a:ln/>
        </p:spPr>
        <p:txBody>
          <a:bodyPr wrap="square" lIns="0" tIns="0" rIns="0" bIns="0" rtlCol="0" anchor="ctr"/>
          <a:lstStyle/>
          <a:p>
            <a:pPr indent="0" marL="0">
              <a:lnSpc>
                <a:spcPct val="105000"/>
              </a:lnSpc>
              <a:buNone/>
            </a:pPr>
            <a:r>
              <a:rPr lang="en-US" sz="1350" dirty="0">
                <a:solidFill>
                  <a:srgbClr val="E4EAF0"/>
                </a:solidFill>
                <a:latin typeface="Calibri" pitchFamily="34" charset="0"/>
                <a:ea typeface="Calibri" pitchFamily="34" charset="-122"/>
                <a:cs typeface="Calibri" pitchFamily="34" charset="-120"/>
              </a:rPr>
              <a:t>Todo esto fue sobre texto. Calcular kappa a mano sobre 20 comentarios les tomó minutos; sobre miles de registros, eso es una línea de código. Ahí empieza el análisis cuantitativo y los entornos reproducibles.</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Fuentes</a:t>
            </a:r>
            <a:endParaRPr lang="en-US" sz="2900" dirty="0"/>
          </a:p>
        </p:txBody>
      </p:sp>
      <p:sp>
        <p:nvSpPr>
          <p:cNvPr id="3" name="Text 1"/>
          <p:cNvSpPr txBox="1"/>
          <p:nvPr/>
        </p:nvSpPr>
        <p:spPr>
          <a:xfrm>
            <a:off x="548640" y="1042416"/>
            <a:ext cx="11091672" cy="457200"/>
          </a:xfrm>
          <a:prstGeom prst="rect">
            <a:avLst/>
          </a:prstGeom>
          <a:noFill/>
          <a:ln/>
        </p:spPr>
        <p:txBody>
          <a:bodyPr wrap="square" lIns="0" tIns="0" rIns="0" bIns="0" rtlCol="0" anchor="ctr"/>
          <a:lstStyle/>
          <a:p>
            <a:pPr indent="0" marL="0">
              <a:buNone/>
            </a:pPr>
            <a:r>
              <a:rPr lang="en-US" sz="1400" dirty="0">
                <a:solidFill>
                  <a:srgbClr val="60707E"/>
                </a:solidFill>
                <a:latin typeface="Calibri" pitchFamily="34" charset="0"/>
                <a:ea typeface="Calibri" pitchFamily="34" charset="-122"/>
                <a:cs typeface="Calibri" pitchFamily="34" charset="-120"/>
              </a:rPr>
              <a:t>Para quien quiera ir al origen de cada medida.</a:t>
            </a:r>
            <a:endParaRPr lang="en-US" sz="1400" dirty="0"/>
          </a:p>
        </p:txBody>
      </p:sp>
      <p:sp>
        <p:nvSpPr>
          <p:cNvPr id="4" name="Text 2"/>
          <p:cNvSpPr txBox="1"/>
          <p:nvPr/>
        </p:nvSpPr>
        <p:spPr>
          <a:xfrm>
            <a:off x="54864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EXTRACCIÓN: PRECISIÓN Y RECUPERACIÓN</a:t>
            </a:r>
            <a:endParaRPr lang="en-US" sz="1250" dirty="0"/>
          </a:p>
        </p:txBody>
      </p:sp>
      <p:sp>
        <p:nvSpPr>
          <p:cNvPr id="5" name="Text 3"/>
          <p:cNvSpPr txBox="1"/>
          <p:nvPr/>
        </p:nvSpPr>
        <p:spPr>
          <a:xfrm>
            <a:off x="54864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van Rijsbergen (1979). Information Retrieval, 2a ed., cap. 7. Origen de la familia Fβ.</a:t>
            </a:r>
            <a:endParaRPr lang="en-US" sz="1150" dirty="0"/>
          </a:p>
        </p:txBody>
      </p:sp>
      <p:sp>
        <p:nvSpPr>
          <p:cNvPr id="6" name="Text 4"/>
          <p:cNvSpPr txBox="1"/>
          <p:nvPr/>
        </p:nvSpPr>
        <p:spPr>
          <a:xfrm>
            <a:off x="548640" y="2898648"/>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Manning, Raghavan y Schütze (2008). Introduction to Information Retrieval, §8.3.</a:t>
            </a:r>
            <a:endParaRPr lang="en-US" sz="1150" dirty="0"/>
          </a:p>
        </p:txBody>
      </p:sp>
      <p:sp>
        <p:nvSpPr>
          <p:cNvPr id="7" name="Text 5"/>
          <p:cNvSpPr txBox="1"/>
          <p:nvPr/>
        </p:nvSpPr>
        <p:spPr>
          <a:xfrm>
            <a:off x="548640" y="3557016"/>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Chinchor (1992). «MUC-4 Evaluation Metrics». Proceedings of MUC-4.</a:t>
            </a:r>
            <a:endParaRPr lang="en-US" sz="1150" dirty="0"/>
          </a:p>
        </p:txBody>
      </p:sp>
      <p:sp>
        <p:nvSpPr>
          <p:cNvPr id="8" name="Text 6"/>
          <p:cNvSpPr txBox="1"/>
          <p:nvPr/>
        </p:nvSpPr>
        <p:spPr>
          <a:xfrm>
            <a:off x="548640" y="4215384"/>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Tjong Kim Sang y De Meulder (2003). «Introduction to the CoNLL-2003 Shared Task».</a:t>
            </a:r>
            <a:endParaRPr lang="en-US" sz="1150" dirty="0"/>
          </a:p>
        </p:txBody>
      </p:sp>
      <p:sp>
        <p:nvSpPr>
          <p:cNvPr id="9" name="Text 7"/>
          <p:cNvSpPr txBox="1"/>
          <p:nvPr/>
        </p:nvSpPr>
        <p:spPr>
          <a:xfrm>
            <a:off x="6309360" y="1783080"/>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ACUERDO ENTRE CODIFICADORES</a:t>
            </a:r>
            <a:endParaRPr lang="en-US" sz="1250" dirty="0"/>
          </a:p>
        </p:txBody>
      </p:sp>
      <p:sp>
        <p:nvSpPr>
          <p:cNvPr id="10" name="Text 8"/>
          <p:cNvSpPr txBox="1"/>
          <p:nvPr/>
        </p:nvSpPr>
        <p:spPr>
          <a:xfrm>
            <a:off x="6309360" y="2240280"/>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Cohen (1960). «A coefficient of agreement for nominal scales». Educ. and Psych. Measurement 20(1).</a:t>
            </a:r>
            <a:endParaRPr lang="en-US" sz="1150" dirty="0"/>
          </a:p>
        </p:txBody>
      </p:sp>
      <p:sp>
        <p:nvSpPr>
          <p:cNvPr id="11" name="Text 9"/>
          <p:cNvSpPr txBox="1"/>
          <p:nvPr/>
        </p:nvSpPr>
        <p:spPr>
          <a:xfrm>
            <a:off x="6309360" y="2898648"/>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Landis y Koch (1977). «The measurement of observer agreement for categorical data». Biometrics 33(1).</a:t>
            </a:r>
            <a:endParaRPr lang="en-US" sz="1150" dirty="0"/>
          </a:p>
        </p:txBody>
      </p:sp>
      <p:sp>
        <p:nvSpPr>
          <p:cNvPr id="12" name="Text 10"/>
          <p:cNvSpPr txBox="1"/>
          <p:nvPr/>
        </p:nvSpPr>
        <p:spPr>
          <a:xfrm>
            <a:off x="6309360" y="3557016"/>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Feinstein y Cicchetti (1990). «High agreement but low kappa». J. Clinical Epidemiology 43(6).</a:t>
            </a:r>
            <a:endParaRPr lang="en-US" sz="1150" dirty="0"/>
          </a:p>
        </p:txBody>
      </p:sp>
      <p:sp>
        <p:nvSpPr>
          <p:cNvPr id="13" name="Text 11"/>
          <p:cNvSpPr txBox="1"/>
          <p:nvPr/>
        </p:nvSpPr>
        <p:spPr>
          <a:xfrm>
            <a:off x="6309360" y="4215384"/>
            <a:ext cx="5212080" cy="365760"/>
          </a:xfrm>
          <a:prstGeom prst="rect">
            <a:avLst/>
          </a:prstGeom>
          <a:noFill/>
          <a:ln/>
        </p:spPr>
        <p:txBody>
          <a:bodyPr wrap="square" lIns="0" tIns="0" rIns="0" bIns="0" rtlCol="0" anchor="ctr"/>
          <a:lstStyle/>
          <a:p>
            <a:pPr indent="0" marL="0">
              <a:buNone/>
            </a:pPr>
            <a:r>
              <a:rPr lang="en-US" sz="1250" b="1" spc="100" kern="0" dirty="0">
                <a:solidFill>
                  <a:srgbClr val="CB5E2E"/>
                </a:solidFill>
                <a:latin typeface="Calibri" pitchFamily="34" charset="0"/>
                <a:ea typeface="Calibri" pitchFamily="34" charset="-122"/>
                <a:cs typeface="Calibri" pitchFamily="34" charset="-120"/>
              </a:rPr>
              <a:t>TRAZABILIDAD Y CONFIANZA</a:t>
            </a:r>
            <a:endParaRPr lang="en-US" sz="1250" dirty="0"/>
          </a:p>
        </p:txBody>
      </p:sp>
      <p:sp>
        <p:nvSpPr>
          <p:cNvPr id="14" name="Text 12"/>
          <p:cNvSpPr txBox="1"/>
          <p:nvPr/>
        </p:nvSpPr>
        <p:spPr>
          <a:xfrm>
            <a:off x="6309360" y="4672584"/>
            <a:ext cx="5212080" cy="640080"/>
          </a:xfrm>
          <a:prstGeom prst="rect">
            <a:avLst/>
          </a:prstGeom>
          <a:noFill/>
          <a:ln/>
        </p:spPr>
        <p:txBody>
          <a:bodyPr wrap="square" lIns="0" tIns="0" rIns="0" bIns="0" rtlCol="0" anchor="ctr"/>
          <a:lstStyle/>
          <a:p>
            <a:pPr indent="0" marL="0">
              <a:lnSpc>
                <a:spcPct val="100000"/>
              </a:lnSpc>
              <a:buNone/>
            </a:pPr>
            <a:r>
              <a:rPr lang="en-US" sz="1150" dirty="0">
                <a:solidFill>
                  <a:srgbClr val="1E2A35"/>
                </a:solidFill>
                <a:latin typeface="Calibri" pitchFamily="34" charset="0"/>
                <a:ea typeface="Calibri" pitchFamily="34" charset="-122"/>
                <a:cs typeface="Calibri" pitchFamily="34" charset="-120"/>
              </a:rPr>
              <a:t>Guba (1981) sobre pista de auditoría; CERQual y el traceable account del IPCC para nivel de confianza.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2026-09-22T16:16:22Z</dcterms:created>
  <dcterms:modified xsi:type="dcterms:W3CDTF">2026-09-22T16:16:22Z</dcterms:modified>
</cp:coreProperties>
</file>