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Preséntese y encuadre el módulo: cambiamos de terreno. En el Módulo II trabajamos texto; ahora son números y datos tabulares. El objetivo del dia no es aprender estadistica, es aprender a pedirle a la IA que haga analisis cuantitativo y, sobre todo, a no creerle el resultado hasta verificarlo. Tres herramientas: pedir bien, depurar los datos y explorar antes de concluir. Terminamos 13:30. Enlace con la sesion anterior: la IA sigue entregando candidatos, ahora en forma de codigo y numeros.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Diga el reloj y el porque del orden: tres bloques cortos de concepto antes de la practica, para que la practica sea aplicar y no aprender. Este modulo tiene mas exposicion que un laboratorio tipico porque hay que fijar tres ideas nuevas. Ojo con la nomenclatura: el Laboratorio Practico 3 del contrato es la Sesion 9; lo de hoy es una practica guiada, mas corta. Si va retrasado, acorte el receso, nunca la practica.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es el mapa del dia. Si el grupo se lleva una sola frase, que sea la del titulo. Cada una de las tres fallas tiene su bloque: la 1 se ve leyendo el codigo (bloque 2), la 2 se ve explorando los datos (bloque 3), la 3 se controla documentando (la bitacora). Conecte explicitamente con la sesion 6: alla la IA entregaba candidatos de texto; hoy entrega candidatos numericos. La postura critica es la misma, cambia el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Reloj: unos 28 minutos hasta el receso. La idea del bloque: hay dos maneras de pedirle analisis cuantitativo a la IA, y la calidad del resultado depende de la calidad del pedido.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Muchos de los 24 no programan, y la buena noticia es que Copilot en Excel ya les da analisis asistido sin escribir codigo, con los datos donde ya viven. Los que programan usan prompt-to-code. La distincion que se llevan es la de idoneidad tarea-herramienta que vieron en el Modulo I: si lo vas a repetir o auditar, codigo; si es una mirada, hoja. No es religion de herramientas. En ambos casos, lo que sale es un candidato.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Este es el nucleo del bloque 1 y aplica igual a Copilot en Excel que a un prompt de codigo. Lea el prompt vago y pregunte al grupo: cuantas decisiones esta tomando la IA por nosotros. Salen facil cuatro o cinco. El prompt preciso las cierra todas. La leccion: la ambiguedad no truena, se convierte en supuestos invisibles. Un buen prompt cuantitativo nombra columnas, fija la unidad, dice que hacer con lo invalido y pide una salida concreta.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El giro conceptual del dia: que el codigo se ejecute sin error no dice nada sobre si el numero es correcto. Aqui vemos las dos familias de error y un ejemplo trabajado.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Dos familias. La A es de logica: el codigo hace bien algo distinto de lo que querias. La B es de datos: el codigo hace bien lo que pediste, pero sobre datos rotos. Enfatice que las dos corren sin error, igual que en la sesion 6 el falso positivo y el falso negativo se veian iguales en el informe. La de datos (B) es la mas comun con registros administrativos reales y la que veremos en el ejemplo. No entre al ejemplo todavia.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el corazon del dia. Recorra la tabla y, antes de revelar el numero, pregunte al grupo cuanto creen que da el promedio. Casi todos diran 2,500 porque es lo unico que se ve. El truco esta en que las cuatro becas ampliadas de 5,000 estan guardadas como texto (con coma) y un promedio ingenuo las salta, ademas de contar un folio duplicado. Fije los conteos: 9 celdas leidas como numero, 4 ampliadas saltadas, 1 duplicado y 1 vacio. Estos alimentan la lamina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la lamina mas tecnica. Construya los dos numeros despacio. Ingenuo: 9 celdas de 2,500 dan 22,500, entre 9 es 2,500. Correcto: 8 base por 2,500 mas 4 ampliadas por 5,000 son 40,000, entre 12 beneficiarios unicos es 3,333. La brecha: 2,500 es 25% menos que 3,333. Punto que se llevan: la IA no mintio, sumo lo que pudo leer; el error vivia en los datos, no en la formula. Y el sentido de politica publica: subestimar el apoyo promedio en 25% cambia el costo estimado del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Le habla a los 18 evaluadores no programadores: no necesitan escribir el codigo, necesitan saber que preguntas hacerle. La conclusion: un numero mal calculado es peor que ninguno porque parece riguroso. Y la ausencia de error no prueba nada. La disciplina minima es leer que hizo el asistente y contrastar contra algo conocido. Enlace con el Modulo I: es la misma validacion critica, ahora sobre datos y codigo en vez de sobre un informe de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EDA es la revision que atrapa los problemas del bloque 2 antes de que contaminen el resultado. No es un paso avanzado: es mirar los datos antes de creerles.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El contraste es la lamina: el mismo pedido, con y sin exploracion previa. Sin explorar, el 2,500 del ejemplo entra al informe. Explorando, ves que un tercio de los montos es texto y lo arreglas antes. Insista en que EDA no es para expertos ni requiere programar: en Excel es mirar tipos, contar vacios, ordenar para ver rangos, buscar duplicados. Es la higiene basica del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Recorra las seis preguntas; son la rutina que hay que interiorizar. En Excel cada una es una accion sencilla: contar celdas, revisar formato, ordenar, un COUNTIF de duplicados, valores unicos de una columna. En codigo, df.info() y describe() dan casi todo de golpe. Y un asistente lo resume en un prompt. Pero el asistente solo senala candidatos; decidir si un monto de 999,999 es un error o un caso real es juicio del evaluador, no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Es el analogo de la matriz de evidencia de la sesion 6: alla trazabamos citas, aqui trazamos limpieza. Cada renglon es un problema, la correccion, cuantos registros toca y contra que se verifico. La columna de verificacion es la mas importante y la que la gente olvida: no basta arreglar, hay que comprobar que quedo bien contra algo externo (el total del padron, un conteo conocido). La frase de cierre antes de la practica: un promedio sin bitacora es un rumor con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Es la misma regla de la sesion 6, y aqui pega mas fuerte: un padron o un microdato identifica personas por combinacion de campos aunque le quites el nombre, asi que casi siempre es amarillo y no puede subirse a herramientas abiertas, solo a Copilot institucional. Recuerdeles que el registro de la practica es ficticio a proposito. La idea de siempre: la herramienta no cambia el dato; el dato decide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Una practica corta, tres partes: escribir el prompt, depurar el registro y dejar bitacora. Los entregables son concretos: el promedio corregido, la lista de EDA y la bitacora. Cuarenta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en dos minutos y suelte, con avisos de voz en los cortes. Parte 1 (12 min): lo importante es que el prompt cierre las cuatro decisiones; no hay que ejecutar nada, solo redactarlo bien. Parte 2 (18 min): que primero exploren y luego arreglen; el promedio corregido debe dar 3,200 y el ingenuo 2,000 (son datos distintos a los del ejemplo del pizarron, a proposito). Parte 3 (10 min): tres renglones de bitacora bien verificados valen mas que seis a medias. Recorra las mesas; si alguien se atora, deles una pregunta de EDA, no la respuesta. Los seis que programan pueden ir mas rapido con el notebook y ayudar a su mesa.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Repase las tres ideas y confirme los entregables. El puente a la Sesion 8 ya no es abstracto: acaban de vivir que limpiar a mano no escala ni se documenta solo, y que hace falta un procedimiento repetible. Eso son los entornos reproducibles: Jupyter y Colab.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de referencia. No se lee en clase; sostiene las definiciones si el area tecnica pregunta por el origen del EDA o del concepto de tidy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III · SESIÓN 7</a:t>
            </a:r>
            <a:endParaRPr lang="en-US" sz="1300" dirty="0"/>
          </a:p>
        </p:txBody>
      </p:sp>
      <p:sp>
        <p:nvSpPr>
          <p:cNvPr id="5" name="Text 3"/>
          <p:cNvSpPr txBox="1"/>
          <p:nvPr/>
        </p:nvSpPr>
        <p:spPr>
          <a:xfrm>
            <a:off x="822960" y="2148840"/>
            <a:ext cx="10424160" cy="15544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Calibri" pitchFamily="34" charset="0"/>
                <a:ea typeface="Calibri" pitchFamily="34" charset="-122"/>
                <a:cs typeface="Calibri" pitchFamily="34" charset="-120"/>
              </a:rPr>
              <a:t>Análisis cuantitativo con asistentes de IA: pedir, depurar y explorar</a:t>
            </a:r>
            <a:endParaRPr lang="en-US" sz="3600" dirty="0"/>
          </a:p>
        </p:txBody>
      </p:sp>
      <p:sp>
        <p:nvSpPr>
          <p:cNvPr id="6" name="Text 4"/>
          <p:cNvSpPr txBox="1"/>
          <p:nvPr/>
        </p:nvSpPr>
        <p:spPr>
          <a:xfrm>
            <a:off x="822960" y="3931920"/>
            <a:ext cx="10058400" cy="45720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Código generado por IA, limpieza de datos y análisis exploratorio sobre registros administrativos</a:t>
            </a:r>
            <a:endParaRPr lang="en-US" sz="1600" dirty="0"/>
          </a:p>
        </p:txBody>
      </p:sp>
      <p:sp>
        <p:nvSpPr>
          <p:cNvPr id="7" name="Shape 5"/>
          <p:cNvSpPr/>
          <p:nvPr/>
        </p:nvSpPr>
        <p:spPr>
          <a:xfrm>
            <a:off x="841248" y="4754880"/>
            <a:ext cx="2926080" cy="0"/>
          </a:xfrm>
          <a:prstGeom prst="line">
            <a:avLst/>
          </a:prstGeom>
          <a:noFill/>
          <a:ln w="25400">
            <a:solidFill>
              <a:srgbClr val="CB5E2E"/>
            </a:solidFill>
            <a:prstDash val="solid"/>
          </a:ln>
        </p:spPr>
      </p:sp>
      <p:sp>
        <p:nvSpPr>
          <p:cNvPr id="8" name="Text 6"/>
          <p:cNvSpPr txBox="1"/>
          <p:nvPr/>
        </p:nvSpPr>
        <p:spPr>
          <a:xfrm>
            <a:off x="822960" y="4983480"/>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5330952"/>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Módulo III, Sesión 1 · abre el bloque cuantitativo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Tres bloques de concepto, un receso y una práctica guiada.</a:t>
            </a:r>
            <a:endParaRPr lang="en-US" sz="1400" dirty="0"/>
          </a:p>
        </p:txBody>
      </p:sp>
      <p:sp>
        <p:nvSpPr>
          <p:cNvPr id="4" name="Shape 2"/>
          <p:cNvSpPr/>
          <p:nvPr/>
        </p:nvSpPr>
        <p:spPr>
          <a:xfrm>
            <a:off x="548640" y="1691640"/>
            <a:ext cx="11091672" cy="548640"/>
          </a:xfrm>
          <a:prstGeom prst="rect">
            <a:avLst/>
          </a:prstGeom>
          <a:solidFill>
            <a:srgbClr val="EEF2F5"/>
          </a:solidFill>
          <a:ln w="6350">
            <a:solidFill>
              <a:srgbClr val="D5DCE3"/>
            </a:solidFill>
            <a:prstDash val="solid"/>
          </a:ln>
        </p:spPr>
      </p:sp>
      <p:sp>
        <p:nvSpPr>
          <p:cNvPr id="5" name="Text 3"/>
          <p:cNvSpPr txBox="1"/>
          <p:nvPr/>
        </p:nvSpPr>
        <p:spPr>
          <a:xfrm>
            <a:off x="685800" y="16916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11:00</a:t>
            </a:r>
            <a:endParaRPr lang="en-US" sz="1700" dirty="0"/>
          </a:p>
        </p:txBody>
      </p:sp>
      <p:sp>
        <p:nvSpPr>
          <p:cNvPr id="6" name="Text 4"/>
          <p:cNvSpPr txBox="1"/>
          <p:nvPr/>
        </p:nvSpPr>
        <p:spPr>
          <a:xfrm>
            <a:off x="2194560" y="16916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Apertura: del texto a los números</a:t>
            </a:r>
            <a:endParaRPr lang="en-US" sz="1400" dirty="0"/>
          </a:p>
        </p:txBody>
      </p:sp>
      <p:sp>
        <p:nvSpPr>
          <p:cNvPr id="7" name="Shape 5"/>
          <p:cNvSpPr/>
          <p:nvPr/>
        </p:nvSpPr>
        <p:spPr>
          <a:xfrm>
            <a:off x="548640" y="2240280"/>
            <a:ext cx="11091672" cy="548640"/>
          </a:xfrm>
          <a:prstGeom prst="rect">
            <a:avLst/>
          </a:prstGeom>
          <a:solidFill>
            <a:srgbClr val="FFFFFF"/>
          </a:solidFill>
          <a:ln w="6350">
            <a:solidFill>
              <a:srgbClr val="D5DCE3"/>
            </a:solidFill>
            <a:prstDash val="solid"/>
          </a:ln>
        </p:spPr>
      </p:sp>
      <p:sp>
        <p:nvSpPr>
          <p:cNvPr id="8" name="Text 6"/>
          <p:cNvSpPr txBox="1"/>
          <p:nvPr/>
        </p:nvSpPr>
        <p:spPr>
          <a:xfrm>
            <a:off x="685800" y="22402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11:12</a:t>
            </a:r>
            <a:endParaRPr lang="en-US" sz="1700" dirty="0"/>
          </a:p>
        </p:txBody>
      </p:sp>
      <p:sp>
        <p:nvSpPr>
          <p:cNvPr id="9" name="Text 7"/>
          <p:cNvSpPr txBox="1"/>
          <p:nvPr/>
        </p:nvSpPr>
        <p:spPr>
          <a:xfrm>
            <a:off x="2194560" y="22402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1 · Pedirle análisis cuantitativo a la IA</a:t>
            </a:r>
            <a:endParaRPr lang="en-US" sz="1400" dirty="0"/>
          </a:p>
        </p:txBody>
      </p:sp>
      <p:sp>
        <p:nvSpPr>
          <p:cNvPr id="10" name="Shape 8"/>
          <p:cNvSpPr/>
          <p:nvPr/>
        </p:nvSpPr>
        <p:spPr>
          <a:xfrm>
            <a:off x="548640" y="2788920"/>
            <a:ext cx="11091672" cy="548640"/>
          </a:xfrm>
          <a:prstGeom prst="rect">
            <a:avLst/>
          </a:prstGeom>
          <a:solidFill>
            <a:srgbClr val="FBEEE5"/>
          </a:solidFill>
          <a:ln w="6350">
            <a:solidFill>
              <a:srgbClr val="D5DCE3"/>
            </a:solidFill>
            <a:prstDash val="solid"/>
          </a:ln>
        </p:spPr>
      </p:sp>
      <p:sp>
        <p:nvSpPr>
          <p:cNvPr id="11" name="Text 9"/>
          <p:cNvSpPr txBox="1"/>
          <p:nvPr/>
        </p:nvSpPr>
        <p:spPr>
          <a:xfrm>
            <a:off x="685800" y="2788920"/>
            <a:ext cx="1371600" cy="548640"/>
          </a:xfrm>
          <a:prstGeom prst="rect">
            <a:avLst/>
          </a:prstGeom>
          <a:noFill/>
          <a:ln/>
        </p:spPr>
        <p:txBody>
          <a:bodyPr wrap="square" lIns="0" tIns="0" rIns="0" bIns="0" rtlCol="0" anchor="ctr"/>
          <a:lstStyle/>
          <a:p>
            <a:pPr indent="0" marL="0">
              <a:buNone/>
            </a:pPr>
            <a:r>
              <a:rPr lang="en-US" sz="1700" b="1" dirty="0">
                <a:solidFill>
                  <a:srgbClr val="8C3E19"/>
                </a:solidFill>
                <a:latin typeface="Cambria" pitchFamily="34" charset="0"/>
                <a:ea typeface="Cambria" pitchFamily="34" charset="-122"/>
                <a:cs typeface="Cambria" pitchFamily="34" charset="-120"/>
              </a:rPr>
              <a:t>11:40</a:t>
            </a:r>
            <a:endParaRPr lang="en-US" sz="1700" dirty="0"/>
          </a:p>
        </p:txBody>
      </p:sp>
      <p:sp>
        <p:nvSpPr>
          <p:cNvPr id="12" name="Text 10"/>
          <p:cNvSpPr txBox="1"/>
          <p:nvPr/>
        </p:nvSpPr>
        <p:spPr>
          <a:xfrm>
            <a:off x="2194560" y="2788920"/>
            <a:ext cx="9262872" cy="548640"/>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3" name="Shape 11"/>
          <p:cNvSpPr/>
          <p:nvPr/>
        </p:nvSpPr>
        <p:spPr>
          <a:xfrm>
            <a:off x="548640" y="3337560"/>
            <a:ext cx="11091672" cy="548640"/>
          </a:xfrm>
          <a:prstGeom prst="rect">
            <a:avLst/>
          </a:prstGeom>
          <a:solidFill>
            <a:srgbClr val="FFFFFF"/>
          </a:solidFill>
          <a:ln w="6350">
            <a:solidFill>
              <a:srgbClr val="D5DCE3"/>
            </a:solidFill>
            <a:prstDash val="solid"/>
          </a:ln>
        </p:spPr>
      </p:sp>
      <p:sp>
        <p:nvSpPr>
          <p:cNvPr id="14" name="Text 12"/>
          <p:cNvSpPr txBox="1"/>
          <p:nvPr/>
        </p:nvSpPr>
        <p:spPr>
          <a:xfrm>
            <a:off x="685800" y="333756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11:50</a:t>
            </a:r>
            <a:endParaRPr lang="en-US" sz="1700" dirty="0"/>
          </a:p>
        </p:txBody>
      </p:sp>
      <p:sp>
        <p:nvSpPr>
          <p:cNvPr id="15" name="Text 13"/>
          <p:cNvSpPr txBox="1"/>
          <p:nvPr/>
        </p:nvSpPr>
        <p:spPr>
          <a:xfrm>
            <a:off x="2194560" y="333756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2 · Depurar: cuándo un número que corre está mal</a:t>
            </a:r>
            <a:endParaRPr lang="en-US" sz="1400" dirty="0"/>
          </a:p>
        </p:txBody>
      </p:sp>
      <p:sp>
        <p:nvSpPr>
          <p:cNvPr id="16" name="Shape 14"/>
          <p:cNvSpPr/>
          <p:nvPr/>
        </p:nvSpPr>
        <p:spPr>
          <a:xfrm>
            <a:off x="548640" y="3886200"/>
            <a:ext cx="11091672" cy="548640"/>
          </a:xfrm>
          <a:prstGeom prst="rect">
            <a:avLst/>
          </a:prstGeom>
          <a:solidFill>
            <a:srgbClr val="EEF2F5"/>
          </a:solidFill>
          <a:ln w="6350">
            <a:solidFill>
              <a:srgbClr val="D5DCE3"/>
            </a:solidFill>
            <a:prstDash val="solid"/>
          </a:ln>
        </p:spPr>
      </p:sp>
      <p:sp>
        <p:nvSpPr>
          <p:cNvPr id="17" name="Text 15"/>
          <p:cNvSpPr txBox="1"/>
          <p:nvPr/>
        </p:nvSpPr>
        <p:spPr>
          <a:xfrm>
            <a:off x="685800" y="388620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12:20</a:t>
            </a:r>
            <a:endParaRPr lang="en-US" sz="1700" dirty="0"/>
          </a:p>
        </p:txBody>
      </p:sp>
      <p:sp>
        <p:nvSpPr>
          <p:cNvPr id="18" name="Text 16"/>
          <p:cNvSpPr txBox="1"/>
          <p:nvPr/>
        </p:nvSpPr>
        <p:spPr>
          <a:xfrm>
            <a:off x="2194560" y="388620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3 · Explorar antes de concluir (EDA)</a:t>
            </a:r>
            <a:endParaRPr lang="en-US" sz="1400" dirty="0"/>
          </a:p>
        </p:txBody>
      </p:sp>
      <p:sp>
        <p:nvSpPr>
          <p:cNvPr id="19" name="Shape 17"/>
          <p:cNvSpPr/>
          <p:nvPr/>
        </p:nvSpPr>
        <p:spPr>
          <a:xfrm>
            <a:off x="548640" y="4434840"/>
            <a:ext cx="11091672" cy="548640"/>
          </a:xfrm>
          <a:prstGeom prst="rect">
            <a:avLst/>
          </a:prstGeom>
          <a:solidFill>
            <a:srgbClr val="FFFFFF"/>
          </a:solidFill>
          <a:ln w="6350">
            <a:solidFill>
              <a:srgbClr val="D5DCE3"/>
            </a:solidFill>
            <a:prstDash val="solid"/>
          </a:ln>
        </p:spPr>
      </p:sp>
      <p:sp>
        <p:nvSpPr>
          <p:cNvPr id="20" name="Text 18"/>
          <p:cNvSpPr txBox="1"/>
          <p:nvPr/>
        </p:nvSpPr>
        <p:spPr>
          <a:xfrm>
            <a:off x="685800" y="44348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12:40</a:t>
            </a:r>
            <a:endParaRPr lang="en-US" sz="1700" dirty="0"/>
          </a:p>
        </p:txBody>
      </p:sp>
      <p:sp>
        <p:nvSpPr>
          <p:cNvPr id="21" name="Text 19"/>
          <p:cNvSpPr txBox="1"/>
          <p:nvPr/>
        </p:nvSpPr>
        <p:spPr>
          <a:xfrm>
            <a:off x="2194560" y="44348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Práctica guiada</a:t>
            </a:r>
            <a:endParaRPr lang="en-US" sz="1400" dirty="0"/>
          </a:p>
        </p:txBody>
      </p:sp>
      <p:sp>
        <p:nvSpPr>
          <p:cNvPr id="22" name="Shape 20"/>
          <p:cNvSpPr/>
          <p:nvPr/>
        </p:nvSpPr>
        <p:spPr>
          <a:xfrm>
            <a:off x="548640" y="4983480"/>
            <a:ext cx="11091672" cy="548640"/>
          </a:xfrm>
          <a:prstGeom prst="rect">
            <a:avLst/>
          </a:prstGeom>
          <a:solidFill>
            <a:srgbClr val="EEF2F5"/>
          </a:solidFill>
          <a:ln w="6350">
            <a:solidFill>
              <a:srgbClr val="D5DCE3"/>
            </a:solidFill>
            <a:prstDash val="solid"/>
          </a:ln>
        </p:spPr>
      </p:sp>
      <p:sp>
        <p:nvSpPr>
          <p:cNvPr id="23" name="Text 21"/>
          <p:cNvSpPr txBox="1"/>
          <p:nvPr/>
        </p:nvSpPr>
        <p:spPr>
          <a:xfrm>
            <a:off x="685800" y="49834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13:20</a:t>
            </a:r>
            <a:endParaRPr lang="en-US" sz="1700" dirty="0"/>
          </a:p>
        </p:txBody>
      </p:sp>
      <p:sp>
        <p:nvSpPr>
          <p:cNvPr id="24" name="Text 22"/>
          <p:cNvSpPr txBox="1"/>
          <p:nvPr/>
        </p:nvSpPr>
        <p:spPr>
          <a:xfrm>
            <a:off x="2194560" y="49834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puente a la Sesión 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IA escribe el análisis; el número es tuyo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Pedirle a la IA que calcule, limpie o grafique produce un candidato, igual que resumir o clasificar. Que el código corra no dice si el número es correcto, y hay tres maneras distintas de que salga mal.</a:t>
            </a:r>
            <a:endParaRPr lang="en-US" sz="1400" dirty="0"/>
          </a:p>
        </p:txBody>
      </p:sp>
      <p:sp>
        <p:nvSpPr>
          <p:cNvPr id="4" name="Shape 2"/>
          <p:cNvSpPr/>
          <p:nvPr/>
        </p:nvSpPr>
        <p:spPr>
          <a:xfrm>
            <a:off x="548640" y="2148840"/>
            <a:ext cx="3502152" cy="3063240"/>
          </a:xfrm>
          <a:prstGeom prst="roundRect">
            <a:avLst>
              <a:gd name="adj" fmla="val 1791"/>
            </a:avLst>
          </a:prstGeom>
          <a:solidFill>
            <a:srgbClr val="EEF2F5"/>
          </a:solidFill>
          <a:ln w="9525">
            <a:solidFill>
              <a:srgbClr val="D5DCE3"/>
            </a:solidFill>
            <a:prstDash val="solid"/>
          </a:ln>
        </p:spPr>
      </p:sp>
      <p:sp>
        <p:nvSpPr>
          <p:cNvPr id="5" name="Shape 3"/>
          <p:cNvSpPr/>
          <p:nvPr/>
        </p:nvSpPr>
        <p:spPr>
          <a:xfrm>
            <a:off x="804672" y="2423160"/>
            <a:ext cx="502920" cy="502920"/>
          </a:xfrm>
          <a:prstGeom prst="ellipse">
            <a:avLst/>
          </a:prstGeom>
          <a:solidFill>
            <a:srgbClr val="CB5E2E"/>
          </a:solidFill>
          <a:ln/>
        </p:spPr>
      </p:sp>
      <p:sp>
        <p:nvSpPr>
          <p:cNvPr id="6" name="Text 4"/>
          <p:cNvSpPr txBox="1"/>
          <p:nvPr/>
        </p:nvSpPr>
        <p:spPr>
          <a:xfrm>
            <a:off x="80467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04672" y="3063240"/>
            <a:ext cx="2990088" cy="68580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El código no hace lo que pediste</a:t>
            </a:r>
            <a:endParaRPr lang="en-US" sz="1550" dirty="0"/>
          </a:p>
        </p:txBody>
      </p:sp>
      <p:sp>
        <p:nvSpPr>
          <p:cNvPr id="8" name="Text 6"/>
          <p:cNvSpPr txBox="1"/>
          <p:nvPr/>
        </p:nvSpPr>
        <p:spPr>
          <a:xfrm>
            <a:off x="804672" y="3721608"/>
            <a:ext cx="2990088" cy="91440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Toma la columna equivocada, promedia cuando querías mediana, o cuenta renglones en vez de personas. Corre, da un número, y está mal.</a:t>
            </a:r>
            <a:endParaRPr lang="en-US" sz="1250" dirty="0"/>
          </a:p>
        </p:txBody>
      </p:sp>
      <p:sp>
        <p:nvSpPr>
          <p:cNvPr id="9" name="Shape 7"/>
          <p:cNvSpPr/>
          <p:nvPr/>
        </p:nvSpPr>
        <p:spPr>
          <a:xfrm>
            <a:off x="804672" y="4636008"/>
            <a:ext cx="2990088" cy="0"/>
          </a:xfrm>
          <a:prstGeom prst="line">
            <a:avLst/>
          </a:prstGeom>
          <a:noFill/>
          <a:ln w="9525">
            <a:solidFill>
              <a:srgbClr val="D5DCE3"/>
            </a:solidFill>
            <a:prstDash val="solid"/>
          </a:ln>
        </p:spPr>
      </p:sp>
      <p:sp>
        <p:nvSpPr>
          <p:cNvPr id="10" name="Text 8"/>
          <p:cNvSpPr txBox="1"/>
          <p:nvPr/>
        </p:nvSpPr>
        <p:spPr>
          <a:xfrm>
            <a:off x="80467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atrapa leyendo el código</a:t>
            </a:r>
            <a:endParaRPr lang="en-US" sz="1150" dirty="0"/>
          </a:p>
        </p:txBody>
      </p:sp>
      <p:sp>
        <p:nvSpPr>
          <p:cNvPr id="11" name="Shape 9"/>
          <p:cNvSpPr/>
          <p:nvPr/>
        </p:nvSpPr>
        <p:spPr>
          <a:xfrm>
            <a:off x="4343400" y="2148840"/>
            <a:ext cx="3502152" cy="3063240"/>
          </a:xfrm>
          <a:prstGeom prst="roundRect">
            <a:avLst>
              <a:gd name="adj" fmla="val 1791"/>
            </a:avLst>
          </a:prstGeom>
          <a:solidFill>
            <a:srgbClr val="FFFFFF"/>
          </a:solidFill>
          <a:ln w="9525">
            <a:solidFill>
              <a:srgbClr val="D5DCE3"/>
            </a:solidFill>
            <a:prstDash val="solid"/>
          </a:ln>
        </p:spPr>
      </p:sp>
      <p:sp>
        <p:nvSpPr>
          <p:cNvPr id="12" name="Shape 10"/>
          <p:cNvSpPr/>
          <p:nvPr/>
        </p:nvSpPr>
        <p:spPr>
          <a:xfrm>
            <a:off x="4599432" y="2423160"/>
            <a:ext cx="502920" cy="502920"/>
          </a:xfrm>
          <a:prstGeom prst="ellipse">
            <a:avLst/>
          </a:prstGeom>
          <a:solidFill>
            <a:srgbClr val="CB5E2E"/>
          </a:solidFill>
          <a:ln/>
        </p:spPr>
      </p:sp>
      <p:sp>
        <p:nvSpPr>
          <p:cNvPr id="13" name="Text 11"/>
          <p:cNvSpPr txBox="1"/>
          <p:nvPr/>
        </p:nvSpPr>
        <p:spPr>
          <a:xfrm>
            <a:off x="459943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4599432" y="3063240"/>
            <a:ext cx="2990088" cy="68580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Los datos traicionan al código</a:t>
            </a:r>
            <a:endParaRPr lang="en-US" sz="1550" dirty="0"/>
          </a:p>
        </p:txBody>
      </p:sp>
      <p:sp>
        <p:nvSpPr>
          <p:cNvPr id="15" name="Text 13"/>
          <p:cNvSpPr txBox="1"/>
          <p:nvPr/>
        </p:nvSpPr>
        <p:spPr>
          <a:xfrm>
            <a:off x="4599432" y="3721608"/>
            <a:ext cx="2990088" cy="91440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Montos guardados como texto, celdas vacías, folios duplicados o categorías escritas de tres formas. El cálculo se ejecuta sobre datos rotos.</a:t>
            </a:r>
            <a:endParaRPr lang="en-US" sz="1250" dirty="0"/>
          </a:p>
        </p:txBody>
      </p:sp>
      <p:sp>
        <p:nvSpPr>
          <p:cNvPr id="16" name="Shape 14"/>
          <p:cNvSpPr/>
          <p:nvPr/>
        </p:nvSpPr>
        <p:spPr>
          <a:xfrm>
            <a:off x="4599432" y="4636008"/>
            <a:ext cx="2990088" cy="0"/>
          </a:xfrm>
          <a:prstGeom prst="line">
            <a:avLst/>
          </a:prstGeom>
          <a:noFill/>
          <a:ln w="9525">
            <a:solidFill>
              <a:srgbClr val="D5DCE3"/>
            </a:solidFill>
            <a:prstDash val="solid"/>
          </a:ln>
        </p:spPr>
      </p:sp>
      <p:sp>
        <p:nvSpPr>
          <p:cNvPr id="17" name="Text 15"/>
          <p:cNvSpPr txBox="1"/>
          <p:nvPr/>
        </p:nvSpPr>
        <p:spPr>
          <a:xfrm>
            <a:off x="459943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atrapa explorando (EDA)</a:t>
            </a:r>
            <a:endParaRPr lang="en-US" sz="1150" dirty="0"/>
          </a:p>
        </p:txBody>
      </p:sp>
      <p:sp>
        <p:nvSpPr>
          <p:cNvPr id="18" name="Shape 16"/>
          <p:cNvSpPr/>
          <p:nvPr/>
        </p:nvSpPr>
        <p:spPr>
          <a:xfrm>
            <a:off x="8138160" y="2148840"/>
            <a:ext cx="3502152" cy="3063240"/>
          </a:xfrm>
          <a:prstGeom prst="roundRect">
            <a:avLst>
              <a:gd name="adj" fmla="val 1791"/>
            </a:avLst>
          </a:prstGeom>
          <a:solidFill>
            <a:srgbClr val="FFFFFF"/>
          </a:solidFill>
          <a:ln w="9525">
            <a:solidFill>
              <a:srgbClr val="D5DCE3"/>
            </a:solidFill>
            <a:prstDash val="solid"/>
          </a:ln>
        </p:spPr>
      </p:sp>
      <p:sp>
        <p:nvSpPr>
          <p:cNvPr id="19" name="Shape 17"/>
          <p:cNvSpPr/>
          <p:nvPr/>
        </p:nvSpPr>
        <p:spPr>
          <a:xfrm>
            <a:off x="8394192" y="2423160"/>
            <a:ext cx="502920" cy="502920"/>
          </a:xfrm>
          <a:prstGeom prst="ellipse">
            <a:avLst/>
          </a:prstGeom>
          <a:solidFill>
            <a:srgbClr val="CB5E2E"/>
          </a:solidFill>
          <a:ln/>
        </p:spPr>
      </p:sp>
      <p:sp>
        <p:nvSpPr>
          <p:cNvPr id="20" name="Text 18"/>
          <p:cNvSpPr txBox="1"/>
          <p:nvPr/>
        </p:nvSpPr>
        <p:spPr>
          <a:xfrm>
            <a:off x="839419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8394192" y="3063240"/>
            <a:ext cx="2990088" cy="685800"/>
          </a:xfrm>
          <a:prstGeom prst="rect">
            <a:avLst/>
          </a:prstGeom>
          <a:noFill/>
          <a:ln/>
        </p:spPr>
        <p:txBody>
          <a:bodyPr wrap="square" lIns="0" tIns="0" rIns="0" bIns="0" rtlCol="0" anchor="ctr"/>
          <a:lstStyle/>
          <a:p>
            <a:pPr indent="0" marL="0">
              <a:lnSpc>
                <a:spcPct val="95000"/>
              </a:lnSpc>
              <a:buNone/>
            </a:pPr>
            <a:r>
              <a:rPr lang="en-US" sz="1550" b="1" dirty="0">
                <a:solidFill>
                  <a:srgbClr val="1E2A35"/>
                </a:solidFill>
                <a:latin typeface="Calibri" pitchFamily="34" charset="0"/>
                <a:ea typeface="Calibri" pitchFamily="34" charset="-122"/>
                <a:cs typeface="Calibri" pitchFamily="34" charset="-120"/>
              </a:rPr>
              <a:t>El número se ve razonable</a:t>
            </a:r>
            <a:endParaRPr lang="en-US" sz="1550" dirty="0"/>
          </a:p>
        </p:txBody>
      </p:sp>
      <p:sp>
        <p:nvSpPr>
          <p:cNvPr id="22" name="Text 20"/>
          <p:cNvSpPr txBox="1"/>
          <p:nvPr/>
        </p:nvSpPr>
        <p:spPr>
          <a:xfrm>
            <a:off x="8394192" y="3721608"/>
            <a:ext cx="2990088" cy="91440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Sale una cifra plausible, entra al informe y nadie la verifica contra algo conocido. La apariencia de rigor esconde el error.</a:t>
            </a:r>
            <a:endParaRPr lang="en-US" sz="1250" dirty="0"/>
          </a:p>
        </p:txBody>
      </p:sp>
      <p:sp>
        <p:nvSpPr>
          <p:cNvPr id="23" name="Shape 21"/>
          <p:cNvSpPr/>
          <p:nvPr/>
        </p:nvSpPr>
        <p:spPr>
          <a:xfrm>
            <a:off x="8394192" y="4636008"/>
            <a:ext cx="2990088" cy="0"/>
          </a:xfrm>
          <a:prstGeom prst="line">
            <a:avLst/>
          </a:prstGeom>
          <a:noFill/>
          <a:ln w="9525">
            <a:solidFill>
              <a:srgbClr val="D5DCE3"/>
            </a:solidFill>
            <a:prstDash val="solid"/>
          </a:ln>
        </p:spPr>
      </p:sp>
      <p:sp>
        <p:nvSpPr>
          <p:cNvPr id="24" name="Text 22"/>
          <p:cNvSpPr txBox="1"/>
          <p:nvPr/>
        </p:nvSpPr>
        <p:spPr>
          <a:xfrm>
            <a:off x="839419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controla con una bitácora</a:t>
            </a:r>
            <a:endParaRPr lang="en-US" sz="115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En la sesión pasada la IA daba candidatos al extraer y clasificar. Con números y código es lo mismo: un resultado es un candidato hasta que revisas que el código hizo lo que pediste y que los datos lo sostienen.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1</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Pedirle análisis cuantitativo a la IA</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Dos maneras de pedirle números a la IA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Las dos producen un candidato que hay que revisar. La diferencia está en cuándo conviene cada una.</a:t>
            </a:r>
            <a:endParaRPr lang="en-US" sz="1400" dirty="0"/>
          </a:p>
        </p:txBody>
      </p:sp>
      <p:sp>
        <p:nvSpPr>
          <p:cNvPr id="4" name="Shape 2"/>
          <p:cNvSpPr/>
          <p:nvPr/>
        </p:nvSpPr>
        <p:spPr>
          <a:xfrm>
            <a:off x="548640" y="1965960"/>
            <a:ext cx="5394960" cy="2331720"/>
          </a:xfrm>
          <a:prstGeom prst="roundRect">
            <a:avLst>
              <a:gd name="adj" fmla="val 2353"/>
            </a:avLst>
          </a:prstGeom>
          <a:solidFill>
            <a:srgbClr val="EEF2F5"/>
          </a:solidFill>
          <a:ln w="9525">
            <a:solidFill>
              <a:srgbClr val="D5DCE3"/>
            </a:solidFill>
            <a:prstDash val="solid"/>
          </a:ln>
        </p:spPr>
      </p:sp>
      <p:sp>
        <p:nvSpPr>
          <p:cNvPr id="5" name="Text 3"/>
          <p:cNvSpPr txBox="1"/>
          <p:nvPr/>
        </p:nvSpPr>
        <p:spPr>
          <a:xfrm>
            <a:off x="822960" y="2167128"/>
            <a:ext cx="4846320" cy="365760"/>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LENGUAJE A HOJA DE CÁLCULO</a:t>
            </a:r>
            <a:endParaRPr lang="en-US" sz="1200" dirty="0"/>
          </a:p>
        </p:txBody>
      </p:sp>
      <p:sp>
        <p:nvSpPr>
          <p:cNvPr id="6" name="Text 4"/>
          <p:cNvSpPr txBox="1"/>
          <p:nvPr/>
        </p:nvSpPr>
        <p:spPr>
          <a:xfrm>
            <a:off x="822960" y="2514600"/>
            <a:ext cx="4846320" cy="41148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Copilot en Excel</a:t>
            </a:r>
            <a:endParaRPr lang="en-US" sz="1600" dirty="0"/>
          </a:p>
        </p:txBody>
      </p:sp>
      <p:sp>
        <p:nvSpPr>
          <p:cNvPr id="7" name="Text 5"/>
          <p:cNvSpPr txBox="1"/>
          <p:nvPr/>
        </p:nvSpPr>
        <p:spPr>
          <a:xfrm>
            <a:off x="822960" y="2971800"/>
            <a:ext cx="4846320" cy="82296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Describes en palabras lo que quieres y Copilot arma la fórmula, la tabla dinámica o el gráfico dentro de la hoja donde ya están tus datos.</a:t>
            </a:r>
            <a:endParaRPr lang="en-US" sz="1300" dirty="0"/>
          </a:p>
        </p:txBody>
      </p:sp>
      <p:sp>
        <p:nvSpPr>
          <p:cNvPr id="8" name="Text 6"/>
          <p:cNvSpPr txBox="1"/>
          <p:nvPr/>
        </p:nvSpPr>
        <p:spPr>
          <a:xfrm>
            <a:off x="822960" y="3840480"/>
            <a:ext cx="4846320" cy="32004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Bueno para: resúmenes puntuales y tablas.</a:t>
            </a:r>
            <a:endParaRPr lang="en-US" sz="1250" dirty="0"/>
          </a:p>
        </p:txBody>
      </p:sp>
      <p:sp>
        <p:nvSpPr>
          <p:cNvPr id="9" name="Shape 7"/>
          <p:cNvSpPr/>
          <p:nvPr/>
        </p:nvSpPr>
        <p:spPr>
          <a:xfrm>
            <a:off x="6245352" y="1965960"/>
            <a:ext cx="5394960" cy="2331720"/>
          </a:xfrm>
          <a:prstGeom prst="roundRect">
            <a:avLst>
              <a:gd name="adj" fmla="val 2353"/>
            </a:avLst>
          </a:prstGeom>
          <a:solidFill>
            <a:srgbClr val="FFFFFF"/>
          </a:solidFill>
          <a:ln w="9525">
            <a:solidFill>
              <a:srgbClr val="D5DCE3"/>
            </a:solidFill>
            <a:prstDash val="solid"/>
          </a:ln>
        </p:spPr>
      </p:sp>
      <p:sp>
        <p:nvSpPr>
          <p:cNvPr id="10" name="Text 8"/>
          <p:cNvSpPr txBox="1"/>
          <p:nvPr/>
        </p:nvSpPr>
        <p:spPr>
          <a:xfrm>
            <a:off x="6519672" y="2167128"/>
            <a:ext cx="4846320" cy="365760"/>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PROMPT A CÓDIGO</a:t>
            </a:r>
            <a:endParaRPr lang="en-US" sz="1200" dirty="0"/>
          </a:p>
        </p:txBody>
      </p:sp>
      <p:sp>
        <p:nvSpPr>
          <p:cNvPr id="11" name="Text 9"/>
          <p:cNvSpPr txBox="1"/>
          <p:nvPr/>
        </p:nvSpPr>
        <p:spPr>
          <a:xfrm>
            <a:off x="6519672" y="2514600"/>
            <a:ext cx="4846320" cy="41148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Python con un asistente</a:t>
            </a:r>
            <a:endParaRPr lang="en-US" sz="1600" dirty="0"/>
          </a:p>
        </p:txBody>
      </p:sp>
      <p:sp>
        <p:nvSpPr>
          <p:cNvPr id="12" name="Text 10"/>
          <p:cNvSpPr txBox="1"/>
          <p:nvPr/>
        </p:nvSpPr>
        <p:spPr>
          <a:xfrm>
            <a:off x="6519672" y="2971800"/>
            <a:ext cx="4846320" cy="82296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Describes el análisis y el asistente escribe el código; tú lo corres. Queda un procedimiento escrito que se puede leer, repetir y auditar.</a:t>
            </a:r>
            <a:endParaRPr lang="en-US" sz="1300" dirty="0"/>
          </a:p>
        </p:txBody>
      </p:sp>
      <p:sp>
        <p:nvSpPr>
          <p:cNvPr id="13" name="Text 11"/>
          <p:cNvSpPr txBox="1"/>
          <p:nvPr/>
        </p:nvSpPr>
        <p:spPr>
          <a:xfrm>
            <a:off x="6519672" y="3840480"/>
            <a:ext cx="4846320" cy="32004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Bueno para: lo reproducible, lo grande, lo complejo.</a:t>
            </a:r>
            <a:endParaRPr lang="en-US" sz="1250" dirty="0"/>
          </a:p>
        </p:txBody>
      </p:sp>
      <p:sp>
        <p:nvSpPr>
          <p:cNvPr id="14" name="Shape 12"/>
          <p:cNvSpPr/>
          <p:nvPr/>
        </p:nvSpPr>
        <p:spPr>
          <a:xfrm>
            <a:off x="548640" y="4526280"/>
            <a:ext cx="11091672" cy="1188720"/>
          </a:xfrm>
          <a:prstGeom prst="roundRect">
            <a:avLst>
              <a:gd name="adj" fmla="val 4615"/>
            </a:avLst>
          </a:prstGeom>
          <a:solidFill>
            <a:srgbClr val="15293B"/>
          </a:solidFill>
          <a:ln/>
        </p:spPr>
      </p:sp>
      <p:sp>
        <p:nvSpPr>
          <p:cNvPr id="15" name="Text 13"/>
          <p:cNvSpPr txBox="1"/>
          <p:nvPr/>
        </p:nvSpPr>
        <p:spPr>
          <a:xfrm>
            <a:off x="868680" y="4690872"/>
            <a:ext cx="10451592" cy="365760"/>
          </a:xfrm>
          <a:prstGeom prst="rect">
            <a:avLst/>
          </a:prstGeom>
          <a:noFill/>
          <a:ln/>
        </p:spPr>
        <p:txBody>
          <a:bodyPr wrap="square" lIns="0" tIns="0" rIns="0" bIns="0" rtlCol="0" anchor="ctr"/>
          <a:lstStyle/>
          <a:p>
            <a:pPr indent="0" marL="0">
              <a:buNone/>
            </a:pPr>
            <a:r>
              <a:rPr lang="en-US" sz="1500" b="1" dirty="0">
                <a:solidFill>
                  <a:srgbClr val="E58A5B"/>
                </a:solidFill>
                <a:latin typeface="Calibri" pitchFamily="34" charset="0"/>
                <a:ea typeface="Calibri" pitchFamily="34" charset="-122"/>
                <a:cs typeface="Calibri" pitchFamily="34" charset="-120"/>
              </a:rPr>
              <a:t>¿Cuál uso? (idoneidad tarea-herramienta, del Módulo I)</a:t>
            </a:r>
            <a:endParaRPr lang="en-US" sz="1500" dirty="0"/>
          </a:p>
        </p:txBody>
      </p:sp>
      <p:sp>
        <p:nvSpPr>
          <p:cNvPr id="16" name="Text 14"/>
          <p:cNvSpPr txBox="1"/>
          <p:nvPr/>
        </p:nvSpPr>
        <p:spPr>
          <a:xfrm>
            <a:off x="868680" y="5074920"/>
            <a:ext cx="10451592" cy="59436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Una mirada rápida o una tabla que ves una vez: la hoja alcanza. </a:t>
            </a:r>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Un cálculo que vas a repetir, auditar o correr sobre muchos datos: va en código.</a:t>
            </a:r>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 La regla no es cuál es más moderna, sino si necesitas volver a correrlo y demostrar cómo salió.</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Anatomía de un buen prompt cuantitativo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 pedido vago no da error: da un número calculado sobre supuestos que tú no elegiste. Cuatro cosas que el prompt debe fijar.</a:t>
            </a:r>
            <a:endParaRPr lang="en-US" sz="1400" dirty="0"/>
          </a:p>
        </p:txBody>
      </p:sp>
      <p:sp>
        <p:nvSpPr>
          <p:cNvPr id="4" name="Shape 2"/>
          <p:cNvSpPr/>
          <p:nvPr/>
        </p:nvSpPr>
        <p:spPr>
          <a:xfrm>
            <a:off x="548640" y="1783080"/>
            <a:ext cx="5394960" cy="960120"/>
          </a:xfrm>
          <a:prstGeom prst="roundRect">
            <a:avLst>
              <a:gd name="adj" fmla="val 5714"/>
            </a:avLst>
          </a:prstGeom>
          <a:solidFill>
            <a:srgbClr val="FFFFFF"/>
          </a:solidFill>
          <a:ln w="9525">
            <a:solidFill>
              <a:srgbClr val="D5DCE3"/>
            </a:solidFill>
            <a:prstDash val="solid"/>
          </a:ln>
        </p:spPr>
      </p:sp>
      <p:sp>
        <p:nvSpPr>
          <p:cNvPr id="5" name="Shape 3"/>
          <p:cNvSpPr/>
          <p:nvPr/>
        </p:nvSpPr>
        <p:spPr>
          <a:xfrm>
            <a:off x="749808" y="2075688"/>
            <a:ext cx="384048" cy="384048"/>
          </a:xfrm>
          <a:prstGeom prst="ellipse">
            <a:avLst/>
          </a:prstGeom>
          <a:solidFill>
            <a:srgbClr val="CB5E2E"/>
          </a:solidFill>
          <a:ln/>
        </p:spPr>
      </p:sp>
      <p:sp>
        <p:nvSpPr>
          <p:cNvPr id="6" name="Text 4"/>
          <p:cNvSpPr txBox="1"/>
          <p:nvPr/>
        </p:nvSpPr>
        <p:spPr>
          <a:xfrm>
            <a:off x="749808" y="2075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280160" y="1929384"/>
            <a:ext cx="4480560" cy="32004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Nombra las columnas exactas</a:t>
            </a:r>
            <a:endParaRPr lang="en-US" sz="1450" dirty="0"/>
          </a:p>
        </p:txBody>
      </p:sp>
      <p:sp>
        <p:nvSpPr>
          <p:cNvPr id="8" name="Text 6"/>
          <p:cNvSpPr txBox="1"/>
          <p:nvPr/>
        </p:nvSpPr>
        <p:spPr>
          <a:xfrm>
            <a:off x="1280160" y="2258568"/>
            <a:ext cx="4480560" cy="457200"/>
          </a:xfrm>
          <a:prstGeom prst="rect">
            <a:avLst/>
          </a:prstGeom>
          <a:noFill/>
          <a:ln/>
        </p:spPr>
        <p:txBody>
          <a:bodyPr wrap="square" lIns="0" tIns="0" rIns="0" bIns="0" rtlCol="0" anchor="ctr"/>
          <a:lstStyle/>
          <a:p>
            <a:pPr indent="0" marL="0">
              <a:lnSpc>
                <a:spcPct val="95000"/>
              </a:lnSpc>
              <a:buNone/>
            </a:pPr>
            <a:r>
              <a:rPr lang="en-US" sz="1150" dirty="0">
                <a:solidFill>
                  <a:srgbClr val="60707E"/>
                </a:solidFill>
                <a:latin typeface="Calibri" pitchFamily="34" charset="0"/>
                <a:ea typeface="Calibri" pitchFamily="34" charset="-122"/>
                <a:cs typeface="Calibri" pitchFamily="34" charset="-120"/>
              </a:rPr>
              <a:t>«monto_apoyo», «entidad», no «el gasto». La IA no adivina cuál columna es cuál.</a:t>
            </a:r>
            <a:endParaRPr lang="en-US" sz="1150" dirty="0"/>
          </a:p>
        </p:txBody>
      </p:sp>
      <p:sp>
        <p:nvSpPr>
          <p:cNvPr id="9" name="Shape 7"/>
          <p:cNvSpPr/>
          <p:nvPr/>
        </p:nvSpPr>
        <p:spPr>
          <a:xfrm>
            <a:off x="6245352" y="1783080"/>
            <a:ext cx="5394960" cy="960120"/>
          </a:xfrm>
          <a:prstGeom prst="roundRect">
            <a:avLst>
              <a:gd name="adj" fmla="val 5714"/>
            </a:avLst>
          </a:prstGeom>
          <a:solidFill>
            <a:srgbClr val="FFFFFF"/>
          </a:solidFill>
          <a:ln w="9525">
            <a:solidFill>
              <a:srgbClr val="D5DCE3"/>
            </a:solidFill>
            <a:prstDash val="solid"/>
          </a:ln>
        </p:spPr>
      </p:sp>
      <p:sp>
        <p:nvSpPr>
          <p:cNvPr id="10" name="Shape 8"/>
          <p:cNvSpPr/>
          <p:nvPr/>
        </p:nvSpPr>
        <p:spPr>
          <a:xfrm>
            <a:off x="6446520" y="2075688"/>
            <a:ext cx="384048" cy="384048"/>
          </a:xfrm>
          <a:prstGeom prst="ellipse">
            <a:avLst/>
          </a:prstGeom>
          <a:solidFill>
            <a:srgbClr val="CB5E2E"/>
          </a:solidFill>
          <a:ln/>
        </p:spPr>
      </p:sp>
      <p:sp>
        <p:nvSpPr>
          <p:cNvPr id="11" name="Text 9"/>
          <p:cNvSpPr txBox="1"/>
          <p:nvPr/>
        </p:nvSpPr>
        <p:spPr>
          <a:xfrm>
            <a:off x="6446520" y="20756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6976872" y="1929384"/>
            <a:ext cx="4480560" cy="32004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Define la unidad de análisis</a:t>
            </a:r>
            <a:endParaRPr lang="en-US" sz="1450" dirty="0"/>
          </a:p>
        </p:txBody>
      </p:sp>
      <p:sp>
        <p:nvSpPr>
          <p:cNvPr id="13" name="Text 11"/>
          <p:cNvSpPr txBox="1"/>
          <p:nvPr/>
        </p:nvSpPr>
        <p:spPr>
          <a:xfrm>
            <a:off x="6976872" y="2258568"/>
            <a:ext cx="4480560" cy="457200"/>
          </a:xfrm>
          <a:prstGeom prst="rect">
            <a:avLst/>
          </a:prstGeom>
          <a:noFill/>
          <a:ln/>
        </p:spPr>
        <p:txBody>
          <a:bodyPr wrap="square" lIns="0" tIns="0" rIns="0" bIns="0" rtlCol="0" anchor="ctr"/>
          <a:lstStyle/>
          <a:p>
            <a:pPr indent="0" marL="0">
              <a:lnSpc>
                <a:spcPct val="95000"/>
              </a:lnSpc>
              <a:buNone/>
            </a:pPr>
            <a:r>
              <a:rPr lang="en-US" sz="1150" dirty="0">
                <a:solidFill>
                  <a:srgbClr val="60707E"/>
                </a:solidFill>
                <a:latin typeface="Calibri" pitchFamily="34" charset="0"/>
                <a:ea typeface="Calibri" pitchFamily="34" charset="-122"/>
                <a:cs typeface="Calibri" pitchFamily="34" charset="-120"/>
              </a:rPr>
              <a:t>¿Por entidad, por beneficiario, por folio único? Cambia por completo el resultado.</a:t>
            </a:r>
            <a:endParaRPr lang="en-US" sz="1150" dirty="0"/>
          </a:p>
        </p:txBody>
      </p:sp>
      <p:sp>
        <p:nvSpPr>
          <p:cNvPr id="14" name="Shape 12"/>
          <p:cNvSpPr/>
          <p:nvPr/>
        </p:nvSpPr>
        <p:spPr>
          <a:xfrm>
            <a:off x="548640" y="2944368"/>
            <a:ext cx="5394960" cy="960120"/>
          </a:xfrm>
          <a:prstGeom prst="roundRect">
            <a:avLst>
              <a:gd name="adj" fmla="val 5714"/>
            </a:avLst>
          </a:prstGeom>
          <a:solidFill>
            <a:srgbClr val="FFFFFF"/>
          </a:solidFill>
          <a:ln w="9525">
            <a:solidFill>
              <a:srgbClr val="D5DCE3"/>
            </a:solidFill>
            <a:prstDash val="solid"/>
          </a:ln>
        </p:spPr>
      </p:sp>
      <p:sp>
        <p:nvSpPr>
          <p:cNvPr id="15" name="Shape 13"/>
          <p:cNvSpPr/>
          <p:nvPr/>
        </p:nvSpPr>
        <p:spPr>
          <a:xfrm>
            <a:off x="749808" y="3236976"/>
            <a:ext cx="384048" cy="384048"/>
          </a:xfrm>
          <a:prstGeom prst="ellipse">
            <a:avLst/>
          </a:prstGeom>
          <a:solidFill>
            <a:srgbClr val="CB5E2E"/>
          </a:solidFill>
          <a:ln/>
        </p:spPr>
      </p:sp>
      <p:sp>
        <p:nvSpPr>
          <p:cNvPr id="16" name="Text 14"/>
          <p:cNvSpPr txBox="1"/>
          <p:nvPr/>
        </p:nvSpPr>
        <p:spPr>
          <a:xfrm>
            <a:off x="749808" y="3236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280160" y="3090672"/>
            <a:ext cx="4480560" cy="32004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Di qué hacer con lo inválido</a:t>
            </a:r>
            <a:endParaRPr lang="en-US" sz="1450" dirty="0"/>
          </a:p>
        </p:txBody>
      </p:sp>
      <p:sp>
        <p:nvSpPr>
          <p:cNvPr id="18" name="Text 16"/>
          <p:cNvSpPr txBox="1"/>
          <p:nvPr/>
        </p:nvSpPr>
        <p:spPr>
          <a:xfrm>
            <a:off x="1280160" y="3419856"/>
            <a:ext cx="4480560" cy="457200"/>
          </a:xfrm>
          <a:prstGeom prst="rect">
            <a:avLst/>
          </a:prstGeom>
          <a:noFill/>
          <a:ln/>
        </p:spPr>
        <p:txBody>
          <a:bodyPr wrap="square" lIns="0" tIns="0" rIns="0" bIns="0" rtlCol="0" anchor="ctr"/>
          <a:lstStyle/>
          <a:p>
            <a:pPr indent="0" marL="0">
              <a:lnSpc>
                <a:spcPct val="95000"/>
              </a:lnSpc>
              <a:buNone/>
            </a:pPr>
            <a:r>
              <a:rPr lang="en-US" sz="1150" dirty="0">
                <a:solidFill>
                  <a:srgbClr val="60707E"/>
                </a:solidFill>
                <a:latin typeface="Calibri" pitchFamily="34" charset="0"/>
                <a:ea typeface="Calibri" pitchFamily="34" charset="-122"/>
                <a:cs typeface="Calibri" pitchFamily="34" charset="-120"/>
              </a:rPr>
              <a:t>Trata el texto como número, ignora las vacías, cuenta cada folio una sola vez.</a:t>
            </a:r>
            <a:endParaRPr lang="en-US" sz="1150" dirty="0"/>
          </a:p>
        </p:txBody>
      </p:sp>
      <p:sp>
        <p:nvSpPr>
          <p:cNvPr id="19" name="Shape 17"/>
          <p:cNvSpPr/>
          <p:nvPr/>
        </p:nvSpPr>
        <p:spPr>
          <a:xfrm>
            <a:off x="6245352" y="2944368"/>
            <a:ext cx="5394960" cy="960120"/>
          </a:xfrm>
          <a:prstGeom prst="roundRect">
            <a:avLst>
              <a:gd name="adj" fmla="val 5714"/>
            </a:avLst>
          </a:prstGeom>
          <a:solidFill>
            <a:srgbClr val="FFFFFF"/>
          </a:solidFill>
          <a:ln w="9525">
            <a:solidFill>
              <a:srgbClr val="D5DCE3"/>
            </a:solidFill>
            <a:prstDash val="solid"/>
          </a:ln>
        </p:spPr>
      </p:sp>
      <p:sp>
        <p:nvSpPr>
          <p:cNvPr id="20" name="Shape 18"/>
          <p:cNvSpPr/>
          <p:nvPr/>
        </p:nvSpPr>
        <p:spPr>
          <a:xfrm>
            <a:off x="6446520" y="3236976"/>
            <a:ext cx="384048" cy="384048"/>
          </a:xfrm>
          <a:prstGeom prst="ellipse">
            <a:avLst/>
          </a:prstGeom>
          <a:solidFill>
            <a:srgbClr val="CB5E2E"/>
          </a:solidFill>
          <a:ln/>
        </p:spPr>
      </p:sp>
      <p:sp>
        <p:nvSpPr>
          <p:cNvPr id="21" name="Text 19"/>
          <p:cNvSpPr txBox="1"/>
          <p:nvPr/>
        </p:nvSpPr>
        <p:spPr>
          <a:xfrm>
            <a:off x="6446520" y="323697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6976872" y="3090672"/>
            <a:ext cx="4480560" cy="32004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Especifica la salida</a:t>
            </a:r>
            <a:endParaRPr lang="en-US" sz="1450" dirty="0"/>
          </a:p>
        </p:txBody>
      </p:sp>
      <p:sp>
        <p:nvSpPr>
          <p:cNvPr id="23" name="Text 21"/>
          <p:cNvSpPr txBox="1"/>
          <p:nvPr/>
        </p:nvSpPr>
        <p:spPr>
          <a:xfrm>
            <a:off x="6976872" y="3419856"/>
            <a:ext cx="4480560" cy="457200"/>
          </a:xfrm>
          <a:prstGeom prst="rect">
            <a:avLst/>
          </a:prstGeom>
          <a:noFill/>
          <a:ln/>
        </p:spPr>
        <p:txBody>
          <a:bodyPr wrap="square" lIns="0" tIns="0" rIns="0" bIns="0" rtlCol="0" anchor="ctr"/>
          <a:lstStyle/>
          <a:p>
            <a:pPr indent="0" marL="0">
              <a:lnSpc>
                <a:spcPct val="95000"/>
              </a:lnSpc>
              <a:buNone/>
            </a:pPr>
            <a:r>
              <a:rPr lang="en-US" sz="1150" dirty="0">
                <a:solidFill>
                  <a:srgbClr val="60707E"/>
                </a:solidFill>
                <a:latin typeface="Calibri" pitchFamily="34" charset="0"/>
                <a:ea typeface="Calibri" pitchFamily="34" charset="-122"/>
                <a:cs typeface="Calibri" pitchFamily="34" charset="-120"/>
              </a:rPr>
              <a:t>Promedio y conteo, redondeado a pesos, en una tabla. Que no elija el formato por ti.</a:t>
            </a:r>
            <a:endParaRPr lang="en-US" sz="1150" dirty="0"/>
          </a:p>
        </p:txBody>
      </p:sp>
      <p:sp>
        <p:nvSpPr>
          <p:cNvPr id="24" name="Shape 22"/>
          <p:cNvSpPr/>
          <p:nvPr/>
        </p:nvSpPr>
        <p:spPr>
          <a:xfrm>
            <a:off x="548640" y="4160520"/>
            <a:ext cx="5394960" cy="1691640"/>
          </a:xfrm>
          <a:prstGeom prst="roundRect">
            <a:avLst>
              <a:gd name="adj" fmla="val 3243"/>
            </a:avLst>
          </a:prstGeom>
          <a:solidFill>
            <a:srgbClr val="F9E7E3"/>
          </a:solidFill>
          <a:ln w="9525">
            <a:solidFill>
              <a:srgbClr val="D5DCE3"/>
            </a:solidFill>
            <a:prstDash val="solid"/>
          </a:ln>
        </p:spPr>
      </p:sp>
      <p:sp>
        <p:nvSpPr>
          <p:cNvPr id="25" name="Text 23"/>
          <p:cNvSpPr txBox="1"/>
          <p:nvPr/>
        </p:nvSpPr>
        <p:spPr>
          <a:xfrm>
            <a:off x="822960" y="4297680"/>
            <a:ext cx="4846320" cy="27432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VAGO</a:t>
            </a:r>
            <a:endParaRPr lang="en-US" sz="1200" dirty="0"/>
          </a:p>
        </p:txBody>
      </p:sp>
      <p:sp>
        <p:nvSpPr>
          <p:cNvPr id="26" name="Text 24"/>
          <p:cNvSpPr txBox="1"/>
          <p:nvPr/>
        </p:nvSpPr>
        <p:spPr>
          <a:xfrm>
            <a:off x="822960" y="4599432"/>
            <a:ext cx="4846320" cy="365760"/>
          </a:xfrm>
          <a:prstGeom prst="rect">
            <a:avLst/>
          </a:prstGeom>
          <a:noFill/>
          <a:ln/>
        </p:spPr>
        <p:txBody>
          <a:bodyPr wrap="square" lIns="0" tIns="0" rIns="0" bIns="0" rtlCol="0" anchor="ctr"/>
          <a:lstStyle/>
          <a:p>
            <a:pPr indent="0" marL="0">
              <a:buNone/>
            </a:pPr>
            <a:r>
              <a:rPr lang="en-US" sz="1400" i="1" dirty="0">
                <a:solidFill>
                  <a:srgbClr val="1E2A35"/>
                </a:solidFill>
                <a:latin typeface="Cambria" pitchFamily="34" charset="0"/>
                <a:ea typeface="Cambria" pitchFamily="34" charset="-122"/>
                <a:cs typeface="Cambria" pitchFamily="34" charset="-120"/>
              </a:rPr>
              <a:t>«saca el promedio del apoyo»</a:t>
            </a:r>
            <a:endParaRPr lang="en-US" sz="1400" dirty="0"/>
          </a:p>
        </p:txBody>
      </p:sp>
      <p:sp>
        <p:nvSpPr>
          <p:cNvPr id="27" name="Text 25"/>
          <p:cNvSpPr txBox="1"/>
          <p:nvPr/>
        </p:nvSpPr>
        <p:spPr>
          <a:xfrm>
            <a:off x="822960" y="5029200"/>
            <a:ext cx="4846320" cy="73152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La IA adivina la columna, el redondeo, y qué hace con el texto, los vacíos y los duplicados.</a:t>
            </a:r>
            <a:endParaRPr lang="en-US" sz="1200" dirty="0"/>
          </a:p>
        </p:txBody>
      </p:sp>
      <p:sp>
        <p:nvSpPr>
          <p:cNvPr id="28" name="Shape 26"/>
          <p:cNvSpPr/>
          <p:nvPr/>
        </p:nvSpPr>
        <p:spPr>
          <a:xfrm>
            <a:off x="6245352" y="4160520"/>
            <a:ext cx="5394960" cy="1691640"/>
          </a:xfrm>
          <a:prstGeom prst="roundRect">
            <a:avLst>
              <a:gd name="adj" fmla="val 3243"/>
            </a:avLst>
          </a:prstGeom>
          <a:solidFill>
            <a:srgbClr val="E7F2EA"/>
          </a:solidFill>
          <a:ln w="9525">
            <a:solidFill>
              <a:srgbClr val="D5DCE3"/>
            </a:solidFill>
            <a:prstDash val="solid"/>
          </a:ln>
        </p:spPr>
      </p:sp>
      <p:sp>
        <p:nvSpPr>
          <p:cNvPr id="29" name="Text 27"/>
          <p:cNvSpPr txBox="1"/>
          <p:nvPr/>
        </p:nvSpPr>
        <p:spPr>
          <a:xfrm>
            <a:off x="6519672" y="4297680"/>
            <a:ext cx="4846320" cy="274320"/>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PRECISO</a:t>
            </a:r>
            <a:endParaRPr lang="en-US" sz="1200" dirty="0"/>
          </a:p>
        </p:txBody>
      </p:sp>
      <p:sp>
        <p:nvSpPr>
          <p:cNvPr id="30" name="Text 28"/>
          <p:cNvSpPr txBox="1"/>
          <p:nvPr/>
        </p:nvSpPr>
        <p:spPr>
          <a:xfrm>
            <a:off x="6519672" y="4599432"/>
            <a:ext cx="4846320" cy="114300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«promedio de monto_apoyo por entidad, tratando el texto como número, ignorando vacías y contando cada folio una sola vez; redondea a pesos y dame el conteo»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2</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Depurar: cuándo un número que corre está mal</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Dos formas en que un número sale mal</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Las dos se ejecutan sin error. Por eso el número equivocado es más peligroso que el que truena: nadie lo revisa.</a:t>
            </a:r>
            <a:endParaRPr lang="en-US" sz="1400" dirty="0"/>
          </a:p>
        </p:txBody>
      </p:sp>
      <p:sp>
        <p:nvSpPr>
          <p:cNvPr id="4" name="Shape 2"/>
          <p:cNvSpPr/>
          <p:nvPr/>
        </p:nvSpPr>
        <p:spPr>
          <a:xfrm>
            <a:off x="548640" y="1874520"/>
            <a:ext cx="5394960" cy="2743200"/>
          </a:xfrm>
          <a:prstGeom prst="roundRect">
            <a:avLst>
              <a:gd name="adj" fmla="val 2000"/>
            </a:avLst>
          </a:prstGeom>
          <a:solidFill>
            <a:srgbClr val="FFFFFF"/>
          </a:solidFill>
          <a:ln w="9525">
            <a:solidFill>
              <a:srgbClr val="D5DCE3"/>
            </a:solidFill>
            <a:prstDash val="solid"/>
          </a:ln>
        </p:spPr>
      </p:sp>
      <p:sp>
        <p:nvSpPr>
          <p:cNvPr id="5" name="Text 3"/>
          <p:cNvSpPr txBox="1"/>
          <p:nvPr/>
        </p:nvSpPr>
        <p:spPr>
          <a:xfrm>
            <a:off x="822960" y="2075688"/>
            <a:ext cx="4846320" cy="365760"/>
          </a:xfrm>
          <a:prstGeom prst="rect">
            <a:avLst/>
          </a:prstGeom>
          <a:noFill/>
          <a:ln/>
        </p:spPr>
        <p:txBody>
          <a:bodyPr wrap="square" lIns="0" tIns="0" rIns="0" bIns="0" rtlCol="0" anchor="ctr"/>
          <a:lstStyle/>
          <a:p>
            <a:pPr indent="0" marL="0">
              <a:buNone/>
            </a:pPr>
            <a:r>
              <a:rPr lang="en-US" sz="1500" b="1" dirty="0">
                <a:solidFill>
                  <a:srgbClr val="A23B22"/>
                </a:solidFill>
                <a:latin typeface="Calibri" pitchFamily="34" charset="0"/>
                <a:ea typeface="Calibri" pitchFamily="34" charset="-122"/>
                <a:cs typeface="Calibri" pitchFamily="34" charset="-120"/>
              </a:rPr>
              <a:t>A · El código no hace lo que pediste</a:t>
            </a:r>
            <a:endParaRPr lang="en-US" sz="1500" dirty="0"/>
          </a:p>
        </p:txBody>
      </p:sp>
      <p:sp>
        <p:nvSpPr>
          <p:cNvPr id="6" name="Text 4"/>
          <p:cNvSpPr txBox="1"/>
          <p:nvPr/>
        </p:nvSpPr>
        <p:spPr>
          <a:xfrm>
            <a:off x="822960" y="2532888"/>
            <a:ext cx="4846320" cy="56692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Columna equivocada.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usa monto_autorizado en vez de monto_pagado</a:t>
            </a:r>
            <a:endParaRPr lang="en-US" sz="1250" dirty="0"/>
          </a:p>
        </p:txBody>
      </p:sp>
      <p:sp>
        <p:nvSpPr>
          <p:cNvPr id="7" name="Text 5"/>
          <p:cNvSpPr txBox="1"/>
          <p:nvPr/>
        </p:nvSpPr>
        <p:spPr>
          <a:xfrm>
            <a:off x="822960" y="3172968"/>
            <a:ext cx="4846320" cy="56692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Agregación equivocada.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promedia cuando querías la mediana; suma cuando querías contar</a:t>
            </a:r>
            <a:endParaRPr lang="en-US" sz="1250" dirty="0"/>
          </a:p>
        </p:txBody>
      </p:sp>
      <p:sp>
        <p:nvSpPr>
          <p:cNvPr id="8" name="Text 6"/>
          <p:cNvSpPr txBox="1"/>
          <p:nvPr/>
        </p:nvSpPr>
        <p:spPr>
          <a:xfrm>
            <a:off x="822960" y="3813048"/>
            <a:ext cx="4846320" cy="56692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Unidad equivocada.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cuenta renglones, no beneficiarios únicos</a:t>
            </a:r>
            <a:endParaRPr lang="en-US" sz="1250" dirty="0"/>
          </a:p>
        </p:txBody>
      </p:sp>
      <p:sp>
        <p:nvSpPr>
          <p:cNvPr id="9" name="Shape 7"/>
          <p:cNvSpPr/>
          <p:nvPr/>
        </p:nvSpPr>
        <p:spPr>
          <a:xfrm>
            <a:off x="6245352" y="1874520"/>
            <a:ext cx="5394960" cy="2743200"/>
          </a:xfrm>
          <a:prstGeom prst="roundRect">
            <a:avLst>
              <a:gd name="adj" fmla="val 2000"/>
            </a:avLst>
          </a:prstGeom>
          <a:solidFill>
            <a:srgbClr val="FFFFFF"/>
          </a:solidFill>
          <a:ln w="9525">
            <a:solidFill>
              <a:srgbClr val="D5DCE3"/>
            </a:solidFill>
            <a:prstDash val="solid"/>
          </a:ln>
        </p:spPr>
      </p:sp>
      <p:sp>
        <p:nvSpPr>
          <p:cNvPr id="10" name="Text 8"/>
          <p:cNvSpPr txBox="1"/>
          <p:nvPr/>
        </p:nvSpPr>
        <p:spPr>
          <a:xfrm>
            <a:off x="6519672" y="2075688"/>
            <a:ext cx="4846320" cy="365760"/>
          </a:xfrm>
          <a:prstGeom prst="rect">
            <a:avLst/>
          </a:prstGeom>
          <a:noFill/>
          <a:ln/>
        </p:spPr>
        <p:txBody>
          <a:bodyPr wrap="square" lIns="0" tIns="0" rIns="0" bIns="0" rtlCol="0" anchor="ctr"/>
          <a:lstStyle/>
          <a:p>
            <a:pPr indent="0" marL="0">
              <a:buNone/>
            </a:pPr>
            <a:r>
              <a:rPr lang="en-US" sz="1500" b="1" dirty="0">
                <a:solidFill>
                  <a:srgbClr val="A23B22"/>
                </a:solidFill>
                <a:latin typeface="Calibri" pitchFamily="34" charset="0"/>
                <a:ea typeface="Calibri" pitchFamily="34" charset="-122"/>
                <a:cs typeface="Calibri" pitchFamily="34" charset="-120"/>
              </a:rPr>
              <a:t>B · Los datos traicionan al código</a:t>
            </a:r>
            <a:endParaRPr lang="en-US" sz="1500" dirty="0"/>
          </a:p>
        </p:txBody>
      </p:sp>
      <p:sp>
        <p:nvSpPr>
          <p:cNvPr id="11" name="Text 9"/>
          <p:cNvSpPr txBox="1"/>
          <p:nvPr/>
        </p:nvSpPr>
        <p:spPr>
          <a:xfrm>
            <a:off x="6519672" y="2532888"/>
            <a:ext cx="4846320" cy="47548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Texto que parece número.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«5,000» con coma se salta o da error</a:t>
            </a:r>
            <a:endParaRPr lang="en-US" sz="1250" dirty="0"/>
          </a:p>
        </p:txBody>
      </p:sp>
      <p:sp>
        <p:nvSpPr>
          <p:cNvPr id="12" name="Text 10"/>
          <p:cNvSpPr txBox="1"/>
          <p:nvPr/>
        </p:nvSpPr>
        <p:spPr>
          <a:xfrm>
            <a:off x="6519672" y="3035808"/>
            <a:ext cx="4846320" cy="47548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Faltantes.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se caen del cálculo o se cuentan como cero</a:t>
            </a:r>
            <a:endParaRPr lang="en-US" sz="1250" dirty="0"/>
          </a:p>
        </p:txBody>
      </p:sp>
      <p:sp>
        <p:nvSpPr>
          <p:cNvPr id="13" name="Text 11"/>
          <p:cNvSpPr txBox="1"/>
          <p:nvPr/>
        </p:nvSpPr>
        <p:spPr>
          <a:xfrm>
            <a:off x="6519672" y="3538728"/>
            <a:ext cx="4846320" cy="47548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Duplicados.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un folio repetido infla totales y conteos</a:t>
            </a:r>
            <a:endParaRPr lang="en-US" sz="1250" dirty="0"/>
          </a:p>
        </p:txBody>
      </p:sp>
      <p:sp>
        <p:nvSpPr>
          <p:cNvPr id="14" name="Text 12"/>
          <p:cNvSpPr txBox="1"/>
          <p:nvPr/>
        </p:nvSpPr>
        <p:spPr>
          <a:xfrm>
            <a:off x="6519672" y="4041648"/>
            <a:ext cx="4846320" cy="475488"/>
          </a:xfrm>
          <a:prstGeom prst="rect">
            <a:avLst/>
          </a:prstGeom>
          <a:noFill/>
          <a:ln/>
        </p:spPr>
        <p:txBody>
          <a:bodyPr wrap="square" lIns="0" tIns="0" rIns="0" bIns="0" rtlCol="0" anchor="ctr"/>
          <a:lstStyle/>
          <a:p>
            <a:pPr indent="0" marL="0">
              <a:lnSpc>
                <a:spcPct val="100000"/>
              </a:lnSpc>
              <a:buNone/>
            </a:pPr>
            <a:r>
              <a:rPr lang="en-US" sz="1250" b="1" dirty="0">
                <a:solidFill>
                  <a:srgbClr val="1E2A35"/>
                </a:solidFill>
                <a:latin typeface="Calibri" pitchFamily="34" charset="0"/>
                <a:ea typeface="Calibri" pitchFamily="34" charset="-122"/>
                <a:cs typeface="Calibri" pitchFamily="34" charset="-120"/>
              </a:rPr>
              <a:t>Categorías sucias. </a:t>
            </a:r>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«Activo», «activo», «ACTIVO» cuentan como tres</a:t>
            </a:r>
            <a:endParaRPr lang="en-US" sz="1250" dirty="0"/>
          </a:p>
        </p:txBody>
      </p:sp>
      <p:sp>
        <p:nvSpPr>
          <p:cNvPr id="15" name="Shape 13"/>
          <p:cNvSpPr/>
          <p:nvPr/>
        </p:nvSpPr>
        <p:spPr>
          <a:xfrm>
            <a:off x="548640" y="6053328"/>
            <a:ext cx="11091672" cy="603504"/>
          </a:xfrm>
          <a:prstGeom prst="rect">
            <a:avLst/>
          </a:prstGeom>
          <a:solidFill>
            <a:srgbClr val="FBEEE5"/>
          </a:solidFill>
          <a:ln/>
        </p:spPr>
      </p:sp>
      <p:sp>
        <p:nvSpPr>
          <p:cNvPr id="16" name="Shape 14"/>
          <p:cNvSpPr/>
          <p:nvPr/>
        </p:nvSpPr>
        <p:spPr>
          <a:xfrm>
            <a:off x="749808" y="6272784"/>
            <a:ext cx="164592" cy="164592"/>
          </a:xfrm>
          <a:prstGeom prst="roundRect">
            <a:avLst>
              <a:gd name="adj" fmla="val 22222"/>
            </a:avLst>
          </a:prstGeom>
          <a:solidFill>
            <a:srgbClr val="CB5E2E"/>
          </a:solidFill>
          <a:ln/>
        </p:spPr>
      </p:sp>
      <p:sp>
        <p:nvSpPr>
          <p:cNvPr id="17" name="Text 1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Correr no es lo mismo que estar bien. La única defensa es leer lo que hizo el asistente y comparar el número contra algo que ya sabes.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Ejemplo: ¿cuál es el apoyo promedio?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 padrón de un programa de becas (ficticio). Le pedimos a la IA el promedio del monto. Miremos la columna.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645920"/>
                <a:gridCol w="4572000"/>
                <a:gridCol w="4873752"/>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Folio</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monto (como está guardado)</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Cómo lo lee un promedio ingenuo</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B-01</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2500</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E49"/>
                          </a:solidFill>
                          <a:latin typeface="Calibri" pitchFamily="34" charset="0"/>
                          <a:ea typeface="Calibri" pitchFamily="34" charset="-122"/>
                          <a:cs typeface="Calibri" pitchFamily="34" charset="-120"/>
                        </a:rPr>
                        <a:t>número, lo incluye</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7F2EA"/>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B-02</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"5,000"  (texto, con coma)</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A23B22"/>
                          </a:solidFill>
                          <a:latin typeface="Calibri" pitchFamily="34" charset="0"/>
                          <a:ea typeface="Calibri" pitchFamily="34" charset="-122"/>
                          <a:cs typeface="Calibri" pitchFamily="34" charset="-120"/>
                        </a:rPr>
                        <a:t>lo salta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B-03</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2500</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E49"/>
                          </a:solidFill>
                          <a:latin typeface="Calibri" pitchFamily="34" charset="0"/>
                          <a:ea typeface="Calibri" pitchFamily="34" charset="-122"/>
                          <a:cs typeface="Calibri" pitchFamily="34" charset="-120"/>
                        </a:rPr>
                        <a:t>número, lo incluye</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7F2EA"/>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B-04</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"5,000"  (texto, con coma)</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A23B22"/>
                          </a:solidFill>
                          <a:latin typeface="Calibri" pitchFamily="34" charset="0"/>
                          <a:ea typeface="Calibri" pitchFamily="34" charset="-122"/>
                          <a:cs typeface="Calibri" pitchFamily="34" charset="-120"/>
                        </a:rPr>
                        <a:t>lo salta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B-03</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2500   (folio repetido)</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A23B22"/>
                          </a:solidFill>
                          <a:latin typeface="Calibri" pitchFamily="34" charset="0"/>
                          <a:ea typeface="Calibri" pitchFamily="34" charset="-122"/>
                          <a:cs typeface="Calibri" pitchFamily="34" charset="-120"/>
                        </a:rPr>
                        <a:t>lo cuenta otra vez</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r h="420624">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B-09</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mbria" pitchFamily="34" charset="0"/>
                          <a:ea typeface="Cambria" pitchFamily="34" charset="-122"/>
                          <a:cs typeface="Cambria" pitchFamily="34" charset="-120"/>
                        </a:rPr>
                        <a:t>(vacío)</a:t>
                      </a:r>
                      <a:endParaRPr lang="en-US" sz="1250" dirty="0">
                        <a:latin typeface="Cambria" charset="0"/>
                        <a:ea typeface="Cambria" charset="0"/>
                        <a:cs typeface="Cambria"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A23B22"/>
                          </a:solidFill>
                          <a:latin typeface="Calibri" pitchFamily="34" charset="0"/>
                          <a:ea typeface="Calibri" pitchFamily="34" charset="-122"/>
                          <a:cs typeface="Calibri" pitchFamily="34" charset="-120"/>
                        </a:rPr>
                        <a:t>lo salta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bl>
          </a:graphicData>
        </a:graphic>
      </p:graphicFrame>
      <p:sp>
        <p:nvSpPr>
          <p:cNvPr id="5" name="Text 2"/>
          <p:cNvSpPr txBox="1"/>
          <p:nvPr/>
        </p:nvSpPr>
        <p:spPr>
          <a:xfrm>
            <a:off x="548640" y="4709160"/>
            <a:ext cx="11091672" cy="457200"/>
          </a:xfrm>
          <a:prstGeom prst="rect">
            <a:avLst/>
          </a:prstGeom>
          <a:noFill/>
          <a:ln/>
        </p:spPr>
        <p:txBody>
          <a:bodyPr wrap="square" lIns="0" tIns="0" rIns="0" bIns="0" rtlCol="0" anchor="ctr"/>
          <a:lstStyle/>
          <a:p>
            <a:pPr indent="0" marL="0">
              <a:lnSpc>
                <a:spcPct val="100000"/>
              </a:lnSpc>
              <a:buNone/>
            </a:pPr>
            <a:r>
              <a:rPr lang="en-US" sz="1100" i="1" dirty="0">
                <a:solidFill>
                  <a:srgbClr val="60707E"/>
                </a:solidFill>
                <a:latin typeface="Calibri" pitchFamily="34" charset="0"/>
                <a:ea typeface="Calibri" pitchFamily="34" charset="-122"/>
                <a:cs typeface="Calibri" pitchFamily="34" charset="-120"/>
              </a:rPr>
              <a:t>Muestra de 6 renglones. El padrón completo tiene 14 registros: 8 becas base de 2,500, 4 becas ampliadas de 5,000 guardadas como texto, 1 folio duplicado y 1 monto vacío.</a:t>
            </a:r>
            <a:endParaRPr lang="en-US" sz="1100" dirty="0"/>
          </a:p>
        </p:txBody>
      </p:sp>
      <p:sp>
        <p:nvSpPr>
          <p:cNvPr id="6" name="Shape 3"/>
          <p:cNvSpPr/>
          <p:nvPr/>
        </p:nvSpPr>
        <p:spPr>
          <a:xfrm>
            <a:off x="548640" y="5257800"/>
            <a:ext cx="3502152" cy="566928"/>
          </a:xfrm>
          <a:prstGeom prst="roundRect">
            <a:avLst>
              <a:gd name="adj" fmla="val 8065"/>
            </a:avLst>
          </a:prstGeom>
          <a:solidFill>
            <a:srgbClr val="E7F2EA"/>
          </a:solidFill>
          <a:ln/>
        </p:spPr>
      </p:sp>
      <p:sp>
        <p:nvSpPr>
          <p:cNvPr id="7" name="Text 4"/>
          <p:cNvSpPr txBox="1"/>
          <p:nvPr/>
        </p:nvSpPr>
        <p:spPr>
          <a:xfrm>
            <a:off x="731520" y="5257800"/>
            <a:ext cx="3227832" cy="566928"/>
          </a:xfrm>
          <a:prstGeom prst="rect">
            <a:avLst/>
          </a:prstGeom>
          <a:noFill/>
          <a:ln/>
        </p:spPr>
        <p:txBody>
          <a:bodyPr wrap="square" lIns="0" tIns="0" rIns="0" bIns="0" rtlCol="0" anchor="ctr"/>
          <a:lstStyle/>
          <a:p>
            <a:pPr indent="0" marL="0">
              <a:buNone/>
            </a:pPr>
            <a:r>
              <a:rPr lang="en-US" sz="1150" dirty="0">
                <a:solidFill>
                  <a:srgbClr val="2E6E49"/>
                </a:solidFill>
                <a:latin typeface="Calibri" pitchFamily="34" charset="0"/>
                <a:ea typeface="Calibri" pitchFamily="34" charset="-122"/>
                <a:cs typeface="Calibri" pitchFamily="34" charset="-120"/>
              </a:rPr>
              <a:t>Leídos como número  </a:t>
            </a:r>
            <a:pPr indent="0" marL="0">
              <a:buNone/>
            </a:pPr>
            <a:r>
              <a:rPr lang="en-US" sz="1500" b="1" dirty="0">
                <a:solidFill>
                  <a:srgbClr val="2E6E49"/>
                </a:solidFill>
                <a:latin typeface="Calibri" pitchFamily="34" charset="0"/>
                <a:ea typeface="Calibri" pitchFamily="34" charset="-122"/>
                <a:cs typeface="Calibri" pitchFamily="34" charset="-120"/>
              </a:rPr>
              <a:t>9 celdas</a:t>
            </a:r>
            <a:endParaRPr lang="en-US" sz="1150" dirty="0"/>
          </a:p>
        </p:txBody>
      </p:sp>
      <p:sp>
        <p:nvSpPr>
          <p:cNvPr id="8" name="Shape 5"/>
          <p:cNvSpPr/>
          <p:nvPr/>
        </p:nvSpPr>
        <p:spPr>
          <a:xfrm>
            <a:off x="4343400" y="5257800"/>
            <a:ext cx="3502152" cy="566928"/>
          </a:xfrm>
          <a:prstGeom prst="roundRect">
            <a:avLst>
              <a:gd name="adj" fmla="val 8065"/>
            </a:avLst>
          </a:prstGeom>
          <a:solidFill>
            <a:srgbClr val="F9E7E3"/>
          </a:solidFill>
          <a:ln/>
        </p:spPr>
      </p:sp>
      <p:sp>
        <p:nvSpPr>
          <p:cNvPr id="9" name="Text 6"/>
          <p:cNvSpPr txBox="1"/>
          <p:nvPr/>
        </p:nvSpPr>
        <p:spPr>
          <a:xfrm>
            <a:off x="4526280" y="5257800"/>
            <a:ext cx="3227832" cy="566928"/>
          </a:xfrm>
          <a:prstGeom prst="rect">
            <a:avLst/>
          </a:prstGeom>
          <a:noFill/>
          <a:ln/>
        </p:spPr>
        <p:txBody>
          <a:bodyPr wrap="square" lIns="0" tIns="0" rIns="0" bIns="0" rtlCol="0" anchor="ctr"/>
          <a:lstStyle/>
          <a:p>
            <a:pPr indent="0" marL="0">
              <a:buNone/>
            </a:pPr>
            <a:r>
              <a:rPr lang="en-US" sz="1150" dirty="0">
                <a:solidFill>
                  <a:srgbClr val="A23B22"/>
                </a:solidFill>
                <a:latin typeface="Calibri" pitchFamily="34" charset="0"/>
                <a:ea typeface="Calibri" pitchFamily="34" charset="-122"/>
                <a:cs typeface="Calibri" pitchFamily="34" charset="-120"/>
              </a:rPr>
              <a:t>Ampliadas saltadas (texto)  </a:t>
            </a:r>
            <a:pPr indent="0" marL="0">
              <a:buNone/>
            </a:pPr>
            <a:r>
              <a:rPr lang="en-US" sz="1500" b="1" dirty="0">
                <a:solidFill>
                  <a:srgbClr val="A23B22"/>
                </a:solidFill>
                <a:latin typeface="Calibri" pitchFamily="34" charset="0"/>
                <a:ea typeface="Calibri" pitchFamily="34" charset="-122"/>
                <a:cs typeface="Calibri" pitchFamily="34" charset="-120"/>
              </a:rPr>
              <a:t>4</a:t>
            </a:r>
            <a:endParaRPr lang="en-US" sz="1150" dirty="0"/>
          </a:p>
        </p:txBody>
      </p:sp>
      <p:sp>
        <p:nvSpPr>
          <p:cNvPr id="10" name="Shape 7"/>
          <p:cNvSpPr/>
          <p:nvPr/>
        </p:nvSpPr>
        <p:spPr>
          <a:xfrm>
            <a:off x="8138160" y="5257800"/>
            <a:ext cx="3502152" cy="566928"/>
          </a:xfrm>
          <a:prstGeom prst="roundRect">
            <a:avLst>
              <a:gd name="adj" fmla="val 8065"/>
            </a:avLst>
          </a:prstGeom>
          <a:solidFill>
            <a:srgbClr val="F9E7E3"/>
          </a:solidFill>
          <a:ln/>
        </p:spPr>
      </p:sp>
      <p:sp>
        <p:nvSpPr>
          <p:cNvPr id="11" name="Text 8"/>
          <p:cNvSpPr txBox="1"/>
          <p:nvPr/>
        </p:nvSpPr>
        <p:spPr>
          <a:xfrm>
            <a:off x="8321040" y="5257800"/>
            <a:ext cx="3227832" cy="566928"/>
          </a:xfrm>
          <a:prstGeom prst="rect">
            <a:avLst/>
          </a:prstGeom>
          <a:noFill/>
          <a:ln/>
        </p:spPr>
        <p:txBody>
          <a:bodyPr wrap="square" lIns="0" tIns="0" rIns="0" bIns="0" rtlCol="0" anchor="ctr"/>
          <a:lstStyle/>
          <a:p>
            <a:pPr indent="0" marL="0">
              <a:buNone/>
            </a:pPr>
            <a:r>
              <a:rPr lang="en-US" sz="1150" dirty="0">
                <a:solidFill>
                  <a:srgbClr val="A23B22"/>
                </a:solidFill>
                <a:latin typeface="Calibri" pitchFamily="34" charset="0"/>
                <a:ea typeface="Calibri" pitchFamily="34" charset="-122"/>
                <a:cs typeface="Calibri" pitchFamily="34" charset="-120"/>
              </a:rPr>
              <a:t>Duplicado / vacío  </a:t>
            </a:r>
            <a:pPr indent="0" marL="0">
              <a:buNone/>
            </a:pPr>
            <a:r>
              <a:rPr lang="en-US" sz="1500" b="1" dirty="0">
                <a:solidFill>
                  <a:srgbClr val="A23B22"/>
                </a:solidFill>
                <a:latin typeface="Calibri" pitchFamily="34" charset="0"/>
                <a:ea typeface="Calibri" pitchFamily="34" charset="-122"/>
                <a:cs typeface="Calibri" pitchFamily="34" charset="-120"/>
              </a:rPr>
              <a:t>1 y 1</a:t>
            </a:r>
            <a:endParaRPr lang="en-US" sz="1150" dirty="0"/>
          </a:p>
        </p:txBody>
      </p:sp>
      <p:sp>
        <p:nvSpPr>
          <p:cNvPr id="12" name="Shape 9"/>
          <p:cNvSpPr/>
          <p:nvPr/>
        </p:nvSpPr>
        <p:spPr>
          <a:xfrm>
            <a:off x="548640" y="6053328"/>
            <a:ext cx="11091672" cy="603504"/>
          </a:xfrm>
          <a:prstGeom prst="rect">
            <a:avLst/>
          </a:prstGeom>
          <a:solidFill>
            <a:srgbClr val="FBEEE5"/>
          </a:solidFill>
          <a:ln/>
        </p:spPr>
      </p:sp>
      <p:sp>
        <p:nvSpPr>
          <p:cNvPr id="13" name="Shape 10"/>
          <p:cNvSpPr/>
          <p:nvPr/>
        </p:nvSpPr>
        <p:spPr>
          <a:xfrm>
            <a:off x="749808" y="6272784"/>
            <a:ext cx="164592" cy="164592"/>
          </a:xfrm>
          <a:prstGeom prst="roundRect">
            <a:avLst>
              <a:gd name="adj" fmla="val 22222"/>
            </a:avLst>
          </a:prstGeom>
          <a:solidFill>
            <a:srgbClr val="CB5E2E"/>
          </a:solidFill>
          <a:ln/>
        </p:spPr>
      </p:sp>
      <p:sp>
        <p:nvSpPr>
          <p:cNvPr id="14" name="Text 11"/>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promedio ingenuo solo ve 9 celdas de 2,500, incluido un duplicado, y no ve ninguna beca ampliada. Ahora saquemos los dos números.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número ingenuo subestima el apoyo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Los mismos datos, leídos de dos maneras. La diferencia no es de estadística: es de limpieza.</a:t>
            </a:r>
            <a:endParaRPr lang="en-US" sz="1400" dirty="0"/>
          </a:p>
        </p:txBody>
      </p:sp>
      <p:sp>
        <p:nvSpPr>
          <p:cNvPr id="4" name="Shape 2"/>
          <p:cNvSpPr/>
          <p:nvPr/>
        </p:nvSpPr>
        <p:spPr>
          <a:xfrm>
            <a:off x="548640" y="1874520"/>
            <a:ext cx="5394960" cy="2286000"/>
          </a:xfrm>
          <a:prstGeom prst="roundRect">
            <a:avLst>
              <a:gd name="adj" fmla="val 2400"/>
            </a:avLst>
          </a:prstGeom>
          <a:solidFill>
            <a:srgbClr val="F9E7E3"/>
          </a:solidFill>
          <a:ln w="9525">
            <a:solidFill>
              <a:srgbClr val="D5DCE3"/>
            </a:solidFill>
            <a:prstDash val="solid"/>
          </a:ln>
        </p:spPr>
      </p:sp>
      <p:sp>
        <p:nvSpPr>
          <p:cNvPr id="5" name="Text 3"/>
          <p:cNvSpPr txBox="1"/>
          <p:nvPr/>
        </p:nvSpPr>
        <p:spPr>
          <a:xfrm>
            <a:off x="822960" y="2057400"/>
            <a:ext cx="4846320" cy="320040"/>
          </a:xfrm>
          <a:prstGeom prst="rect">
            <a:avLst/>
          </a:prstGeom>
          <a:noFill/>
          <a:ln/>
        </p:spPr>
        <p:txBody>
          <a:bodyPr wrap="square" lIns="0" tIns="0" rIns="0" bIns="0" rtlCol="0" anchor="ctr"/>
          <a:lstStyle/>
          <a:p>
            <a:pPr indent="0" marL="0">
              <a:buNone/>
            </a:pPr>
            <a:r>
              <a:rPr lang="en-US" sz="1250" b="1" spc="100" kern="0" dirty="0">
                <a:solidFill>
                  <a:srgbClr val="A23B22"/>
                </a:solidFill>
                <a:latin typeface="Calibri" pitchFamily="34" charset="0"/>
                <a:ea typeface="Calibri" pitchFamily="34" charset="-122"/>
                <a:cs typeface="Calibri" pitchFamily="34" charset="-120"/>
              </a:rPr>
              <a:t>PROMEDIO INGENUO</a:t>
            </a:r>
            <a:endParaRPr lang="en-US" sz="1250" dirty="0"/>
          </a:p>
        </p:txBody>
      </p:sp>
      <p:sp>
        <p:nvSpPr>
          <p:cNvPr id="6" name="Text 4"/>
          <p:cNvSpPr txBox="1"/>
          <p:nvPr/>
        </p:nvSpPr>
        <p:spPr>
          <a:xfrm>
            <a:off x="822960" y="2423160"/>
            <a:ext cx="4846320" cy="36576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Promedia solo lo que pudo leer como número:</a:t>
            </a:r>
            <a:endParaRPr lang="en-US" sz="1250" dirty="0"/>
          </a:p>
        </p:txBody>
      </p:sp>
      <p:sp>
        <p:nvSpPr>
          <p:cNvPr id="7" name="Text 5"/>
          <p:cNvSpPr txBox="1"/>
          <p:nvPr/>
        </p:nvSpPr>
        <p:spPr>
          <a:xfrm>
            <a:off x="822960" y="2807208"/>
            <a:ext cx="4846320" cy="320040"/>
          </a:xfrm>
          <a:prstGeom prst="rect">
            <a:avLst/>
          </a:prstGeom>
          <a:noFill/>
          <a:ln/>
        </p:spPr>
        <p:txBody>
          <a:bodyPr wrap="square" lIns="0" tIns="0" rIns="0" bIns="0" rtlCol="0" anchor="ctr"/>
          <a:lstStyle/>
          <a:p>
            <a:pPr indent="0" marL="0">
              <a:buNone/>
            </a:pPr>
            <a:r>
              <a:rPr lang="en-US" sz="1300" dirty="0">
                <a:solidFill>
                  <a:srgbClr val="1E2A35"/>
                </a:solidFill>
                <a:latin typeface="Cambria" pitchFamily="34" charset="0"/>
                <a:ea typeface="Cambria" pitchFamily="34" charset="-122"/>
                <a:cs typeface="Cambria" pitchFamily="34" charset="-120"/>
              </a:rPr>
              <a:t>9 celdas de 2,500 = 22,500</a:t>
            </a:r>
            <a:endParaRPr lang="en-US" sz="1300" dirty="0"/>
          </a:p>
        </p:txBody>
      </p:sp>
      <p:sp>
        <p:nvSpPr>
          <p:cNvPr id="8" name="Text 6"/>
          <p:cNvSpPr txBox="1"/>
          <p:nvPr/>
        </p:nvSpPr>
        <p:spPr>
          <a:xfrm>
            <a:off x="822960" y="3172968"/>
            <a:ext cx="4846320" cy="365760"/>
          </a:xfrm>
          <a:prstGeom prst="rect">
            <a:avLst/>
          </a:prstGeom>
          <a:noFill/>
          <a:ln/>
        </p:spPr>
        <p:txBody>
          <a:bodyPr wrap="square" lIns="0" tIns="0" rIns="0" bIns="0" rtlCol="0" anchor="ctr"/>
          <a:lstStyle/>
          <a:p>
            <a:pPr indent="0" marL="0">
              <a:buNone/>
            </a:pPr>
            <a:r>
              <a:rPr lang="en-US" sz="1500" b="1" dirty="0">
                <a:solidFill>
                  <a:srgbClr val="A23B22"/>
                </a:solidFill>
                <a:latin typeface="Cambria" pitchFamily="34" charset="0"/>
                <a:ea typeface="Cambria" pitchFamily="34" charset="-122"/>
                <a:cs typeface="Cambria" pitchFamily="34" charset="-120"/>
              </a:rPr>
              <a:t>22,500 / 9 = 2,500</a:t>
            </a:r>
            <a:endParaRPr lang="en-US" sz="1500" dirty="0"/>
          </a:p>
        </p:txBody>
      </p:sp>
      <p:sp>
        <p:nvSpPr>
          <p:cNvPr id="9" name="Text 7"/>
          <p:cNvSpPr txBox="1"/>
          <p:nvPr/>
        </p:nvSpPr>
        <p:spPr>
          <a:xfrm>
            <a:off x="822960" y="3657600"/>
            <a:ext cx="4846320" cy="411480"/>
          </a:xfrm>
          <a:prstGeom prst="rect">
            <a:avLst/>
          </a:prstGeom>
          <a:noFill/>
          <a:ln/>
        </p:spPr>
        <p:txBody>
          <a:bodyPr wrap="square" lIns="0" tIns="0" rIns="0" bIns="0" rtlCol="0" anchor="ctr"/>
          <a:lstStyle/>
          <a:p>
            <a:pPr indent="0" marL="0">
              <a:lnSpc>
                <a:spcPct val="100000"/>
              </a:lnSpc>
              <a:buNone/>
            </a:pPr>
            <a:r>
              <a:rPr lang="en-US" sz="1150" i="1" dirty="0">
                <a:solidFill>
                  <a:srgbClr val="60707E"/>
                </a:solidFill>
                <a:latin typeface="Calibri" pitchFamily="34" charset="0"/>
                <a:ea typeface="Calibri" pitchFamily="34" charset="-122"/>
                <a:cs typeface="Calibri" pitchFamily="34" charset="-120"/>
              </a:rPr>
              <a:t>No vio ninguna beca ampliada ni descontó el duplicado.</a:t>
            </a:r>
            <a:endParaRPr lang="en-US" sz="1150" dirty="0"/>
          </a:p>
        </p:txBody>
      </p:sp>
      <p:sp>
        <p:nvSpPr>
          <p:cNvPr id="10" name="Shape 8"/>
          <p:cNvSpPr/>
          <p:nvPr/>
        </p:nvSpPr>
        <p:spPr>
          <a:xfrm>
            <a:off x="6245352" y="1874520"/>
            <a:ext cx="5394960" cy="2286000"/>
          </a:xfrm>
          <a:prstGeom prst="roundRect">
            <a:avLst>
              <a:gd name="adj" fmla="val 2400"/>
            </a:avLst>
          </a:prstGeom>
          <a:solidFill>
            <a:srgbClr val="E7F2EA"/>
          </a:solidFill>
          <a:ln w="9525">
            <a:solidFill>
              <a:srgbClr val="D5DCE3"/>
            </a:solidFill>
            <a:prstDash val="solid"/>
          </a:ln>
        </p:spPr>
      </p:sp>
      <p:sp>
        <p:nvSpPr>
          <p:cNvPr id="11" name="Text 9"/>
          <p:cNvSpPr txBox="1"/>
          <p:nvPr/>
        </p:nvSpPr>
        <p:spPr>
          <a:xfrm>
            <a:off x="6519672" y="2057400"/>
            <a:ext cx="4846320" cy="320040"/>
          </a:xfrm>
          <a:prstGeom prst="rect">
            <a:avLst/>
          </a:prstGeom>
          <a:noFill/>
          <a:ln/>
        </p:spPr>
        <p:txBody>
          <a:bodyPr wrap="square" lIns="0" tIns="0" rIns="0" bIns="0" rtlCol="0" anchor="ctr"/>
          <a:lstStyle/>
          <a:p>
            <a:pPr indent="0" marL="0">
              <a:buNone/>
            </a:pPr>
            <a:r>
              <a:rPr lang="en-US" sz="1250" b="1" spc="100" kern="0" dirty="0">
                <a:solidFill>
                  <a:srgbClr val="2E6E49"/>
                </a:solidFill>
                <a:latin typeface="Calibri" pitchFamily="34" charset="0"/>
                <a:ea typeface="Calibri" pitchFamily="34" charset="-122"/>
                <a:cs typeface="Calibri" pitchFamily="34" charset="-120"/>
              </a:rPr>
              <a:t>PROMEDIO CORRECTO</a:t>
            </a:r>
            <a:endParaRPr lang="en-US" sz="1250" dirty="0"/>
          </a:p>
        </p:txBody>
      </p:sp>
      <p:sp>
        <p:nvSpPr>
          <p:cNvPr id="12" name="Text 10"/>
          <p:cNvSpPr txBox="1"/>
          <p:nvPr/>
        </p:nvSpPr>
        <p:spPr>
          <a:xfrm>
            <a:off x="6519672" y="2423160"/>
            <a:ext cx="4846320" cy="36576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Texto a número, quita el duplicado, 12 beneficiarios únicos:</a:t>
            </a:r>
            <a:endParaRPr lang="en-US" sz="1250" dirty="0"/>
          </a:p>
        </p:txBody>
      </p:sp>
      <p:sp>
        <p:nvSpPr>
          <p:cNvPr id="13" name="Text 11"/>
          <p:cNvSpPr txBox="1"/>
          <p:nvPr/>
        </p:nvSpPr>
        <p:spPr>
          <a:xfrm>
            <a:off x="6519672" y="2807208"/>
            <a:ext cx="4846320" cy="320040"/>
          </a:xfrm>
          <a:prstGeom prst="rect">
            <a:avLst/>
          </a:prstGeom>
          <a:noFill/>
          <a:ln/>
        </p:spPr>
        <p:txBody>
          <a:bodyPr wrap="square" lIns="0" tIns="0" rIns="0" bIns="0" rtlCol="0" anchor="ctr"/>
          <a:lstStyle/>
          <a:p>
            <a:pPr indent="0" marL="0">
              <a:buNone/>
            </a:pPr>
            <a:r>
              <a:rPr lang="en-US" sz="1300" dirty="0">
                <a:solidFill>
                  <a:srgbClr val="1E2A35"/>
                </a:solidFill>
                <a:latin typeface="Cambria" pitchFamily="34" charset="0"/>
                <a:ea typeface="Cambria" pitchFamily="34" charset="-122"/>
                <a:cs typeface="Cambria" pitchFamily="34" charset="-120"/>
              </a:rPr>
              <a:t>(8 × 2,500) + (4 × 5,000) = 40,000</a:t>
            </a:r>
            <a:endParaRPr lang="en-US" sz="1300" dirty="0"/>
          </a:p>
        </p:txBody>
      </p:sp>
      <p:sp>
        <p:nvSpPr>
          <p:cNvPr id="14" name="Text 12"/>
          <p:cNvSpPr txBox="1"/>
          <p:nvPr/>
        </p:nvSpPr>
        <p:spPr>
          <a:xfrm>
            <a:off x="6519672" y="3172968"/>
            <a:ext cx="4846320" cy="365760"/>
          </a:xfrm>
          <a:prstGeom prst="rect">
            <a:avLst/>
          </a:prstGeom>
          <a:noFill/>
          <a:ln/>
        </p:spPr>
        <p:txBody>
          <a:bodyPr wrap="square" lIns="0" tIns="0" rIns="0" bIns="0" rtlCol="0" anchor="ctr"/>
          <a:lstStyle/>
          <a:p>
            <a:pPr indent="0" marL="0">
              <a:buNone/>
            </a:pPr>
            <a:r>
              <a:rPr lang="en-US" sz="1500" b="1" dirty="0">
                <a:solidFill>
                  <a:srgbClr val="2E6E49"/>
                </a:solidFill>
                <a:latin typeface="Cambria" pitchFamily="34" charset="0"/>
                <a:ea typeface="Cambria" pitchFamily="34" charset="-122"/>
                <a:cs typeface="Cambria" pitchFamily="34" charset="-120"/>
              </a:rPr>
              <a:t>40,000 / 12 = 3,333</a:t>
            </a:r>
            <a:endParaRPr lang="en-US" sz="1500" dirty="0"/>
          </a:p>
        </p:txBody>
      </p:sp>
      <p:sp>
        <p:nvSpPr>
          <p:cNvPr id="15" name="Text 13"/>
          <p:cNvSpPr txBox="1"/>
          <p:nvPr/>
        </p:nvSpPr>
        <p:spPr>
          <a:xfrm>
            <a:off x="6519672" y="3657600"/>
            <a:ext cx="4846320" cy="411480"/>
          </a:xfrm>
          <a:prstGeom prst="rect">
            <a:avLst/>
          </a:prstGeom>
          <a:noFill/>
          <a:ln/>
        </p:spPr>
        <p:txBody>
          <a:bodyPr wrap="square" lIns="0" tIns="0" rIns="0" bIns="0" rtlCol="0" anchor="ctr"/>
          <a:lstStyle/>
          <a:p>
            <a:pPr indent="0" marL="0">
              <a:lnSpc>
                <a:spcPct val="100000"/>
              </a:lnSpc>
              <a:buNone/>
            </a:pPr>
            <a:r>
              <a:rPr lang="en-US" sz="1150" i="1" dirty="0">
                <a:solidFill>
                  <a:srgbClr val="60707E"/>
                </a:solidFill>
                <a:latin typeface="Calibri" pitchFamily="34" charset="0"/>
                <a:ea typeface="Calibri" pitchFamily="34" charset="-122"/>
                <a:cs typeface="Calibri" pitchFamily="34" charset="-120"/>
              </a:rPr>
              <a:t>Cada beneficiario una vez, cada monto contado.</a:t>
            </a:r>
            <a:endParaRPr lang="en-US" sz="1150" dirty="0"/>
          </a:p>
        </p:txBody>
      </p:sp>
      <p:sp>
        <p:nvSpPr>
          <p:cNvPr id="16" name="Shape 14"/>
          <p:cNvSpPr/>
          <p:nvPr/>
        </p:nvSpPr>
        <p:spPr>
          <a:xfrm>
            <a:off x="548640" y="4343400"/>
            <a:ext cx="3502152" cy="1234440"/>
          </a:xfrm>
          <a:prstGeom prst="roundRect">
            <a:avLst>
              <a:gd name="adj" fmla="val 4444"/>
            </a:avLst>
          </a:prstGeom>
          <a:solidFill>
            <a:srgbClr val="15293B"/>
          </a:solidFill>
          <a:ln/>
        </p:spPr>
      </p:sp>
      <p:sp>
        <p:nvSpPr>
          <p:cNvPr id="17" name="Text 15"/>
          <p:cNvSpPr txBox="1"/>
          <p:nvPr/>
        </p:nvSpPr>
        <p:spPr>
          <a:xfrm>
            <a:off x="777240" y="4453128"/>
            <a:ext cx="3044952"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2,500</a:t>
            </a:r>
            <a:endParaRPr lang="en-US" sz="4000" dirty="0"/>
          </a:p>
        </p:txBody>
      </p:sp>
      <p:sp>
        <p:nvSpPr>
          <p:cNvPr id="18" name="Text 16"/>
          <p:cNvSpPr txBox="1"/>
          <p:nvPr/>
        </p:nvSpPr>
        <p:spPr>
          <a:xfrm>
            <a:off x="777240" y="523951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INGENUO</a:t>
            </a:r>
            <a:endParaRPr lang="en-US" sz="1200" dirty="0"/>
          </a:p>
        </p:txBody>
      </p:sp>
      <p:sp>
        <p:nvSpPr>
          <p:cNvPr id="19" name="Shape 17"/>
          <p:cNvSpPr/>
          <p:nvPr/>
        </p:nvSpPr>
        <p:spPr>
          <a:xfrm>
            <a:off x="4343400" y="4343400"/>
            <a:ext cx="3502152" cy="1234440"/>
          </a:xfrm>
          <a:prstGeom prst="roundRect">
            <a:avLst>
              <a:gd name="adj" fmla="val 4444"/>
            </a:avLst>
          </a:prstGeom>
          <a:solidFill>
            <a:srgbClr val="15293B"/>
          </a:solidFill>
          <a:ln/>
        </p:spPr>
      </p:sp>
      <p:sp>
        <p:nvSpPr>
          <p:cNvPr id="20" name="Text 18"/>
          <p:cNvSpPr txBox="1"/>
          <p:nvPr/>
        </p:nvSpPr>
        <p:spPr>
          <a:xfrm>
            <a:off x="4572000" y="4453128"/>
            <a:ext cx="3044952"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3,333</a:t>
            </a:r>
            <a:endParaRPr lang="en-US" sz="4000" dirty="0"/>
          </a:p>
        </p:txBody>
      </p:sp>
      <p:sp>
        <p:nvSpPr>
          <p:cNvPr id="21" name="Text 19"/>
          <p:cNvSpPr txBox="1"/>
          <p:nvPr/>
        </p:nvSpPr>
        <p:spPr>
          <a:xfrm>
            <a:off x="4572000" y="523951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CORRECTO</a:t>
            </a:r>
            <a:endParaRPr lang="en-US" sz="1200" dirty="0"/>
          </a:p>
        </p:txBody>
      </p:sp>
      <p:sp>
        <p:nvSpPr>
          <p:cNvPr id="22" name="Shape 20"/>
          <p:cNvSpPr/>
          <p:nvPr/>
        </p:nvSpPr>
        <p:spPr>
          <a:xfrm>
            <a:off x="8138160" y="4343400"/>
            <a:ext cx="3502152" cy="1234440"/>
          </a:xfrm>
          <a:prstGeom prst="roundRect">
            <a:avLst>
              <a:gd name="adj" fmla="val 4444"/>
            </a:avLst>
          </a:prstGeom>
          <a:solidFill>
            <a:srgbClr val="15293B"/>
          </a:solidFill>
          <a:ln/>
        </p:spPr>
      </p:sp>
      <p:sp>
        <p:nvSpPr>
          <p:cNvPr id="23" name="Text 21"/>
          <p:cNvSpPr txBox="1"/>
          <p:nvPr/>
        </p:nvSpPr>
        <p:spPr>
          <a:xfrm>
            <a:off x="8366760" y="4453128"/>
            <a:ext cx="3044952"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−25%</a:t>
            </a:r>
            <a:endParaRPr lang="en-US" sz="4000" dirty="0"/>
          </a:p>
        </p:txBody>
      </p:sp>
      <p:sp>
        <p:nvSpPr>
          <p:cNvPr id="24" name="Text 22"/>
          <p:cNvSpPr txBox="1"/>
          <p:nvPr/>
        </p:nvSpPr>
        <p:spPr>
          <a:xfrm>
            <a:off x="8366760" y="523951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LA BRECHA</a:t>
            </a:r>
            <a:endParaRPr lang="en-US" sz="120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número ingenuo corre, se ve razonable y subestima el apoyo promedio en una cuarta parte. En un informe que se firma, eso reprueba.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le dice esto a un evaluador</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El riesgo no es que el cálculo falle, es que tenga éxito con el número equivocado.</a:t>
            </a:r>
            <a:endParaRPr lang="en-US" sz="1400" dirty="0"/>
          </a:p>
        </p:txBody>
      </p:sp>
      <p:sp>
        <p:nvSpPr>
          <p:cNvPr id="4" name="Shape 2"/>
          <p:cNvSpPr/>
          <p:nvPr/>
        </p:nvSpPr>
        <p:spPr>
          <a:xfrm>
            <a:off x="548640" y="1965960"/>
            <a:ext cx="5394960" cy="1965960"/>
          </a:xfrm>
          <a:prstGeom prst="roundRect">
            <a:avLst>
              <a:gd name="adj" fmla="val 2791"/>
            </a:avLst>
          </a:prstGeom>
          <a:solidFill>
            <a:srgbClr val="FFFFFF"/>
          </a:solidFill>
          <a:ln w="9525">
            <a:solidFill>
              <a:srgbClr val="D5DCE3"/>
            </a:solidFill>
            <a:prstDash val="solid"/>
          </a:ln>
        </p:spPr>
      </p:sp>
      <p:sp>
        <p:nvSpPr>
          <p:cNvPr id="5" name="Text 3"/>
          <p:cNvSpPr txBox="1"/>
          <p:nvPr/>
        </p:nvSpPr>
        <p:spPr>
          <a:xfrm>
            <a:off x="822960" y="2167128"/>
            <a:ext cx="4846320" cy="685800"/>
          </a:xfrm>
          <a:prstGeom prst="rect">
            <a:avLst/>
          </a:prstGeom>
          <a:noFill/>
          <a:ln/>
        </p:spPr>
        <p:txBody>
          <a:bodyPr wrap="square" lIns="0" tIns="0" rIns="0" bIns="0" rtlCol="0" anchor="ctr"/>
          <a:lstStyle/>
          <a:p>
            <a:pPr indent="0" marL="0">
              <a:lnSpc>
                <a:spcPct val="95000"/>
              </a:lnSpc>
              <a:buNone/>
            </a:pPr>
            <a:r>
              <a:rPr lang="en-US" sz="1600" b="1" dirty="0">
                <a:solidFill>
                  <a:srgbClr val="A23B22"/>
                </a:solidFill>
                <a:latin typeface="Calibri" pitchFamily="34" charset="0"/>
                <a:ea typeface="Calibri" pitchFamily="34" charset="-122"/>
                <a:cs typeface="Calibri" pitchFamily="34" charset="-120"/>
              </a:rPr>
              <a:t>Un número mal calculado es peor que ninguno</a:t>
            </a:r>
            <a:endParaRPr lang="en-US" sz="1600" dirty="0"/>
          </a:p>
        </p:txBody>
      </p:sp>
      <p:sp>
        <p:nvSpPr>
          <p:cNvPr id="6" name="Text 4"/>
          <p:cNvSpPr txBox="1"/>
          <p:nvPr/>
        </p:nvSpPr>
        <p:spPr>
          <a:xfrm>
            <a:off x="822960" y="2926080"/>
            <a:ext cx="4846320" cy="86868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Un dato que falta deja el análisis incompleto. Un dato mal calculado lo deja falso, y con apariencia de rigor: nadie sospecha de una cifra con decimales.</a:t>
            </a:r>
            <a:endParaRPr lang="en-US" sz="1300" dirty="0"/>
          </a:p>
        </p:txBody>
      </p:sp>
      <p:sp>
        <p:nvSpPr>
          <p:cNvPr id="7" name="Shape 5"/>
          <p:cNvSpPr/>
          <p:nvPr/>
        </p:nvSpPr>
        <p:spPr>
          <a:xfrm>
            <a:off x="6245352" y="1965960"/>
            <a:ext cx="5394960" cy="1965960"/>
          </a:xfrm>
          <a:prstGeom prst="roundRect">
            <a:avLst>
              <a:gd name="adj" fmla="val 2791"/>
            </a:avLst>
          </a:prstGeom>
          <a:solidFill>
            <a:srgbClr val="FFFFFF"/>
          </a:solidFill>
          <a:ln w="9525">
            <a:solidFill>
              <a:srgbClr val="D5DCE3"/>
            </a:solidFill>
            <a:prstDash val="solid"/>
          </a:ln>
        </p:spPr>
      </p:sp>
      <p:sp>
        <p:nvSpPr>
          <p:cNvPr id="8" name="Text 6"/>
          <p:cNvSpPr txBox="1"/>
          <p:nvPr/>
        </p:nvSpPr>
        <p:spPr>
          <a:xfrm>
            <a:off x="6519672" y="2167128"/>
            <a:ext cx="4846320" cy="685800"/>
          </a:xfrm>
          <a:prstGeom prst="rect">
            <a:avLst/>
          </a:prstGeom>
          <a:noFill/>
          <a:ln/>
        </p:spPr>
        <p:txBody>
          <a:bodyPr wrap="square" lIns="0" tIns="0" rIns="0" bIns="0" rtlCol="0" anchor="ctr"/>
          <a:lstStyle/>
          <a:p>
            <a:pPr indent="0" marL="0">
              <a:lnSpc>
                <a:spcPct val="95000"/>
              </a:lnSpc>
              <a:buNone/>
            </a:pPr>
            <a:r>
              <a:rPr lang="en-US" sz="1600" b="1" dirty="0">
                <a:solidFill>
                  <a:srgbClr val="A23B22"/>
                </a:solidFill>
                <a:latin typeface="Calibri" pitchFamily="34" charset="0"/>
                <a:ea typeface="Calibri" pitchFamily="34" charset="-122"/>
                <a:cs typeface="Calibri" pitchFamily="34" charset="-120"/>
              </a:rPr>
              <a:t>El código que corre no se defiende solo</a:t>
            </a:r>
            <a:endParaRPr lang="en-US" sz="1600" dirty="0"/>
          </a:p>
        </p:txBody>
      </p:sp>
      <p:sp>
        <p:nvSpPr>
          <p:cNvPr id="9" name="Text 7"/>
          <p:cNvSpPr txBox="1"/>
          <p:nvPr/>
        </p:nvSpPr>
        <p:spPr>
          <a:xfrm>
            <a:off x="6519672" y="2926080"/>
            <a:ext cx="4846320" cy="86868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Que Copilot o pandas no marquen error no dice nada sobre si el número es correcto. La ausencia de error no es evidencia de acierto.</a:t>
            </a:r>
            <a:endParaRPr lang="en-US" sz="1300" dirty="0"/>
          </a:p>
        </p:txBody>
      </p:sp>
      <p:sp>
        <p:nvSpPr>
          <p:cNvPr id="10" name="Shape 8"/>
          <p:cNvSpPr/>
          <p:nvPr/>
        </p:nvSpPr>
        <p:spPr>
          <a:xfrm>
            <a:off x="548640" y="4206240"/>
            <a:ext cx="11091672" cy="1508760"/>
          </a:xfrm>
          <a:prstGeom prst="roundRect">
            <a:avLst>
              <a:gd name="adj" fmla="val 3636"/>
            </a:avLst>
          </a:prstGeom>
          <a:solidFill>
            <a:srgbClr val="15293B"/>
          </a:solidFill>
          <a:ln/>
        </p:spPr>
      </p:sp>
      <p:sp>
        <p:nvSpPr>
          <p:cNvPr id="11" name="Text 9"/>
          <p:cNvSpPr txBox="1"/>
          <p:nvPr/>
        </p:nvSpPr>
        <p:spPr>
          <a:xfrm>
            <a:off x="868680" y="4389120"/>
            <a:ext cx="10451592"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 disciplina mínima: leer el código y contrastar el número</a:t>
            </a:r>
            <a:endParaRPr lang="en-US" sz="1600" dirty="0"/>
          </a:p>
        </p:txBody>
      </p:sp>
      <p:sp>
        <p:nvSpPr>
          <p:cNvPr id="12" name="Text 10"/>
          <p:cNvSpPr txBox="1"/>
          <p:nvPr/>
        </p:nvSpPr>
        <p:spPr>
          <a:xfrm>
            <a:off x="868680" y="4800600"/>
            <a:ext cx="10451592" cy="82296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Antes de reportar, lea lo que hizo el asistente (qué columna tomó, qué agregación usó, qué hizo con lo inválido) y compare el resultado contra algo que ya sabe: un total conocido, un conteo que pueda verificar, o el orden de magnitud esperado. </a:t>
            </a:r>
            <a:pPr indent="0" marL="0">
              <a:lnSpc>
                <a:spcPct val="105000"/>
              </a:lnSpc>
              <a:buNone/>
            </a:pPr>
            <a:r>
              <a:rPr lang="en-US" sz="1300" b="1" dirty="0">
                <a:solidFill>
                  <a:srgbClr val="E58A5B"/>
                </a:solidFill>
                <a:latin typeface="Calibri" pitchFamily="34" charset="0"/>
                <a:ea typeface="Calibri" pitchFamily="34" charset="-122"/>
                <a:cs typeface="Calibri" pitchFamily="34" charset="-120"/>
              </a:rPr>
              <a:t>La IA no sabe si el número tiene sentido; eso lo pone usted.</a:t>
            </a:r>
            <a:endParaRPr lang="en-US" sz="1300" dirty="0"/>
          </a:p>
        </p:txBody>
      </p:sp>
      <p:sp>
        <p:nvSpPr>
          <p:cNvPr id="13" name="Text 11"/>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Esto extiende la validación crítica del Módulo I (Sesión 3): la verificación cruzada que se aplicó a un informe generado por IA se aplica aquí al código y a los datos que producen cada cifra.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3</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Explorar antes de concluir (EDA)</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Explorar los datos antes de creerles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Análisis exploratorio de datos (EDA): mirar la forma de los datos antes de calcular sobre ellos.</a:t>
            </a:r>
            <a:endParaRPr lang="en-US" sz="1400" dirty="0"/>
          </a:p>
        </p:txBody>
      </p:sp>
      <p:sp>
        <p:nvSpPr>
          <p:cNvPr id="4" name="Shape 2"/>
          <p:cNvSpPr/>
          <p:nvPr/>
        </p:nvSpPr>
        <p:spPr>
          <a:xfrm>
            <a:off x="548640" y="1965960"/>
            <a:ext cx="5394960" cy="2103120"/>
          </a:xfrm>
          <a:prstGeom prst="roundRect">
            <a:avLst>
              <a:gd name="adj" fmla="val 2609"/>
            </a:avLst>
          </a:prstGeom>
          <a:solidFill>
            <a:srgbClr val="F9E7E3"/>
          </a:solidFill>
          <a:ln w="9525">
            <a:solidFill>
              <a:srgbClr val="D5DCE3"/>
            </a:solidFill>
            <a:prstDash val="solid"/>
          </a:ln>
        </p:spPr>
      </p:sp>
      <p:sp>
        <p:nvSpPr>
          <p:cNvPr id="5" name="Text 3"/>
          <p:cNvSpPr txBox="1"/>
          <p:nvPr/>
        </p:nvSpPr>
        <p:spPr>
          <a:xfrm>
            <a:off x="822960" y="2167128"/>
            <a:ext cx="4846320" cy="365760"/>
          </a:xfrm>
          <a:prstGeom prst="rect">
            <a:avLst/>
          </a:prstGeom>
          <a:noFill/>
          <a:ln/>
        </p:spPr>
        <p:txBody>
          <a:bodyPr wrap="square" lIns="0" tIns="0" rIns="0" bIns="0" rtlCol="0" anchor="ctr"/>
          <a:lstStyle/>
          <a:p>
            <a:pPr indent="0" marL="0">
              <a:buNone/>
            </a:pPr>
            <a:r>
              <a:rPr lang="en-US" sz="1200" b="1" spc="100" kern="0" dirty="0">
                <a:solidFill>
                  <a:srgbClr val="A23B22"/>
                </a:solidFill>
                <a:latin typeface="Calibri" pitchFamily="34" charset="0"/>
                <a:ea typeface="Calibri" pitchFamily="34" charset="-122"/>
                <a:cs typeface="Calibri" pitchFamily="34" charset="-120"/>
              </a:rPr>
              <a:t>SIN EXPLORAR</a:t>
            </a:r>
            <a:endParaRPr lang="en-US" sz="1200" dirty="0"/>
          </a:p>
        </p:txBody>
      </p:sp>
      <p:sp>
        <p:nvSpPr>
          <p:cNvPr id="6" name="Text 4"/>
          <p:cNvSpPr txBox="1"/>
          <p:nvPr/>
        </p:nvSpPr>
        <p:spPr>
          <a:xfrm>
            <a:off x="822960" y="2532888"/>
            <a:ext cx="4846320" cy="50292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Pides el promedio, obtienes 2,500, lo reportas.</a:t>
            </a:r>
            <a:endParaRPr lang="en-US" sz="1450" dirty="0"/>
          </a:p>
        </p:txBody>
      </p:sp>
      <p:sp>
        <p:nvSpPr>
          <p:cNvPr id="7" name="Text 5"/>
          <p:cNvSpPr txBox="1"/>
          <p:nvPr/>
        </p:nvSpPr>
        <p:spPr>
          <a:xfrm>
            <a:off x="822960" y="3063240"/>
            <a:ext cx="4846320" cy="9144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Nunca viste que un tercio de los montos era texto ni que había un folio repetido. El error entró al informe sin que nadie lo notara.</a:t>
            </a:r>
            <a:endParaRPr lang="en-US" sz="1300" dirty="0"/>
          </a:p>
        </p:txBody>
      </p:sp>
      <p:sp>
        <p:nvSpPr>
          <p:cNvPr id="8" name="Shape 6"/>
          <p:cNvSpPr/>
          <p:nvPr/>
        </p:nvSpPr>
        <p:spPr>
          <a:xfrm>
            <a:off x="6245352" y="1965960"/>
            <a:ext cx="5394960" cy="2103120"/>
          </a:xfrm>
          <a:prstGeom prst="roundRect">
            <a:avLst>
              <a:gd name="adj" fmla="val 2609"/>
            </a:avLst>
          </a:prstGeom>
          <a:solidFill>
            <a:srgbClr val="E7F2EA"/>
          </a:solidFill>
          <a:ln w="9525">
            <a:solidFill>
              <a:srgbClr val="D5DCE3"/>
            </a:solidFill>
            <a:prstDash val="solid"/>
          </a:ln>
        </p:spPr>
      </p:sp>
      <p:sp>
        <p:nvSpPr>
          <p:cNvPr id="9" name="Text 7"/>
          <p:cNvSpPr txBox="1"/>
          <p:nvPr/>
        </p:nvSpPr>
        <p:spPr>
          <a:xfrm>
            <a:off x="6519672" y="2167128"/>
            <a:ext cx="4846320" cy="365760"/>
          </a:xfrm>
          <a:prstGeom prst="rect">
            <a:avLst/>
          </a:prstGeom>
          <a:noFill/>
          <a:ln/>
        </p:spPr>
        <p:txBody>
          <a:bodyPr wrap="square" lIns="0" tIns="0" rIns="0" bIns="0" rtlCol="0" anchor="ctr"/>
          <a:lstStyle/>
          <a:p>
            <a:pPr indent="0" marL="0">
              <a:buNone/>
            </a:pPr>
            <a:r>
              <a:rPr lang="en-US" sz="1200" b="1" spc="100" kern="0" dirty="0">
                <a:solidFill>
                  <a:srgbClr val="2E6E49"/>
                </a:solidFill>
                <a:latin typeface="Calibri" pitchFamily="34" charset="0"/>
                <a:ea typeface="Calibri" pitchFamily="34" charset="-122"/>
                <a:cs typeface="Calibri" pitchFamily="34" charset="-120"/>
              </a:rPr>
              <a:t>EXPLORANDO PRIMERO</a:t>
            </a:r>
            <a:endParaRPr lang="en-US" sz="1200" dirty="0"/>
          </a:p>
        </p:txBody>
      </p:sp>
      <p:sp>
        <p:nvSpPr>
          <p:cNvPr id="10" name="Text 8"/>
          <p:cNvSpPr txBox="1"/>
          <p:nvPr/>
        </p:nvSpPr>
        <p:spPr>
          <a:xfrm>
            <a:off x="6519672" y="2532888"/>
            <a:ext cx="4846320" cy="502920"/>
          </a:xfrm>
          <a:prstGeom prst="rect">
            <a:avLst/>
          </a:prstGeom>
          <a:noFill/>
          <a:ln/>
        </p:spPr>
        <p:txBody>
          <a:bodyPr wrap="square" lIns="0" tIns="0" rIns="0" bIns="0" rtlCol="0" anchor="ctr"/>
          <a:lstStyle/>
          <a:p>
            <a:pPr indent="0" marL="0">
              <a:buNone/>
            </a:pPr>
            <a:r>
              <a:rPr lang="en-US" sz="1450" b="1" dirty="0">
                <a:solidFill>
                  <a:srgbClr val="1E2A35"/>
                </a:solidFill>
                <a:latin typeface="Calibri" pitchFamily="34" charset="0"/>
                <a:ea typeface="Calibri" pitchFamily="34" charset="-122"/>
                <a:cs typeface="Calibri" pitchFamily="34" charset="-120"/>
              </a:rPr>
              <a:t>Antes de cualquier estadístico, miras la forma.</a:t>
            </a:r>
            <a:endParaRPr lang="en-US" sz="1450" dirty="0"/>
          </a:p>
        </p:txBody>
      </p:sp>
      <p:sp>
        <p:nvSpPr>
          <p:cNvPr id="11" name="Text 9"/>
          <p:cNvSpPr txBox="1"/>
          <p:nvPr/>
        </p:nvSpPr>
        <p:spPr>
          <a:xfrm>
            <a:off x="6519672" y="3063240"/>
            <a:ext cx="4846320" cy="9144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Tipos, faltantes, rangos, duplicados y categorías. Ahí aparecen los problemas del bloque anterior, antes de que contaminen el resultado.</a:t>
            </a:r>
            <a:endParaRPr lang="en-US" sz="1300" dirty="0"/>
          </a:p>
        </p:txBody>
      </p:sp>
      <p:sp>
        <p:nvSpPr>
          <p:cNvPr id="12" name="Shape 10"/>
          <p:cNvSpPr/>
          <p:nvPr/>
        </p:nvSpPr>
        <p:spPr>
          <a:xfrm>
            <a:off x="548640" y="4297680"/>
            <a:ext cx="11091672" cy="1371600"/>
          </a:xfrm>
          <a:prstGeom prst="roundRect">
            <a:avLst>
              <a:gd name="adj" fmla="val 4000"/>
            </a:avLst>
          </a:prstGeom>
          <a:solidFill>
            <a:srgbClr val="15293B"/>
          </a:solidFill>
          <a:ln/>
        </p:spPr>
      </p:sp>
      <p:sp>
        <p:nvSpPr>
          <p:cNvPr id="13" name="Text 11"/>
          <p:cNvSpPr txBox="1"/>
          <p:nvPr/>
        </p:nvSpPr>
        <p:spPr>
          <a:xfrm>
            <a:off x="868680" y="446227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EDA es mirar los datos antes de creerles</a:t>
            </a:r>
            <a:endParaRPr lang="en-US" sz="1600" dirty="0"/>
          </a:p>
        </p:txBody>
      </p:sp>
      <p:sp>
        <p:nvSpPr>
          <p:cNvPr id="14" name="Text 12"/>
          <p:cNvSpPr txBox="1"/>
          <p:nvPr/>
        </p:nvSpPr>
        <p:spPr>
          <a:xfrm>
            <a:off x="868680" y="484632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No es un lujo ni un paso avanzado. Es la revisión que convierte «aquí está el número» en «aquí está el número, y esto es lo que tuve que arreglar para poder confiar en él». Sin ese paso, cualquier estadístico se calcula sobre lo que haya, roto o no.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lista de EDA rápida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Seis preguntas que se le hacen a cualquier registro administrativo antes de calcular nada.</a:t>
            </a:r>
            <a:endParaRPr lang="en-US" sz="1400" dirty="0"/>
          </a:p>
        </p:txBody>
      </p:sp>
      <p:sp>
        <p:nvSpPr>
          <p:cNvPr id="4" name="Shape 2"/>
          <p:cNvSpPr/>
          <p:nvPr/>
        </p:nvSpPr>
        <p:spPr>
          <a:xfrm>
            <a:off x="548640" y="1783080"/>
            <a:ext cx="5394960" cy="749808"/>
          </a:xfrm>
          <a:prstGeom prst="roundRect">
            <a:avLst>
              <a:gd name="adj" fmla="val 7317"/>
            </a:avLst>
          </a:prstGeom>
          <a:solidFill>
            <a:srgbClr val="EEF2F5"/>
          </a:solidFill>
          <a:ln w="9525">
            <a:solidFill>
              <a:srgbClr val="D5DCE3"/>
            </a:solidFill>
            <a:prstDash val="solid"/>
          </a:ln>
        </p:spPr>
      </p:sp>
      <p:sp>
        <p:nvSpPr>
          <p:cNvPr id="5" name="Shape 3"/>
          <p:cNvSpPr/>
          <p:nvPr/>
        </p:nvSpPr>
        <p:spPr>
          <a:xfrm>
            <a:off x="749808" y="2002536"/>
            <a:ext cx="329184" cy="329184"/>
          </a:xfrm>
          <a:prstGeom prst="ellipse">
            <a:avLst/>
          </a:prstGeom>
          <a:solidFill>
            <a:srgbClr val="CB5E2E"/>
          </a:solidFill>
          <a:ln/>
        </p:spPr>
      </p:sp>
      <p:sp>
        <p:nvSpPr>
          <p:cNvPr id="6" name="Text 4"/>
          <p:cNvSpPr txBox="1"/>
          <p:nvPr/>
        </p:nvSpPr>
        <p:spPr>
          <a:xfrm>
            <a:off x="749808" y="200253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207008" y="1783080"/>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¿Cuántos renglones y columnas?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el tamaño real del registro</a:t>
            </a:r>
            <a:endParaRPr lang="en-US" sz="1300" dirty="0"/>
          </a:p>
        </p:txBody>
      </p:sp>
      <p:sp>
        <p:nvSpPr>
          <p:cNvPr id="8" name="Shape 6"/>
          <p:cNvSpPr/>
          <p:nvPr/>
        </p:nvSpPr>
        <p:spPr>
          <a:xfrm>
            <a:off x="6245352" y="1783080"/>
            <a:ext cx="5394960" cy="749808"/>
          </a:xfrm>
          <a:prstGeom prst="roundRect">
            <a:avLst>
              <a:gd name="adj" fmla="val 7317"/>
            </a:avLst>
          </a:prstGeom>
          <a:solidFill>
            <a:srgbClr val="FFFFFF"/>
          </a:solidFill>
          <a:ln w="9525">
            <a:solidFill>
              <a:srgbClr val="D5DCE3"/>
            </a:solidFill>
            <a:prstDash val="solid"/>
          </a:ln>
        </p:spPr>
      </p:sp>
      <p:sp>
        <p:nvSpPr>
          <p:cNvPr id="9" name="Shape 7"/>
          <p:cNvSpPr/>
          <p:nvPr/>
        </p:nvSpPr>
        <p:spPr>
          <a:xfrm>
            <a:off x="6446520" y="2002536"/>
            <a:ext cx="329184" cy="329184"/>
          </a:xfrm>
          <a:prstGeom prst="ellipse">
            <a:avLst/>
          </a:prstGeom>
          <a:solidFill>
            <a:srgbClr val="CB5E2E"/>
          </a:solidFill>
          <a:ln/>
        </p:spPr>
      </p:sp>
      <p:sp>
        <p:nvSpPr>
          <p:cNvPr id="10" name="Text 8"/>
          <p:cNvSpPr txBox="1"/>
          <p:nvPr/>
        </p:nvSpPr>
        <p:spPr>
          <a:xfrm>
            <a:off x="6446520" y="200253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6903720" y="1783080"/>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¿Qué tipo es cada columna?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número, texto o fecha; ¿el monto es número?</a:t>
            </a:r>
            <a:endParaRPr lang="en-US" sz="1300" dirty="0"/>
          </a:p>
        </p:txBody>
      </p:sp>
      <p:sp>
        <p:nvSpPr>
          <p:cNvPr id="12" name="Shape 10"/>
          <p:cNvSpPr/>
          <p:nvPr/>
        </p:nvSpPr>
        <p:spPr>
          <a:xfrm>
            <a:off x="548640" y="2679192"/>
            <a:ext cx="5394960" cy="749808"/>
          </a:xfrm>
          <a:prstGeom prst="roundRect">
            <a:avLst>
              <a:gd name="adj" fmla="val 7317"/>
            </a:avLst>
          </a:prstGeom>
          <a:solidFill>
            <a:srgbClr val="EEF2F5"/>
          </a:solidFill>
          <a:ln w="9525">
            <a:solidFill>
              <a:srgbClr val="D5DCE3"/>
            </a:solidFill>
            <a:prstDash val="solid"/>
          </a:ln>
        </p:spPr>
      </p:sp>
      <p:sp>
        <p:nvSpPr>
          <p:cNvPr id="13" name="Shape 11"/>
          <p:cNvSpPr/>
          <p:nvPr/>
        </p:nvSpPr>
        <p:spPr>
          <a:xfrm>
            <a:off x="749808" y="2898648"/>
            <a:ext cx="329184" cy="329184"/>
          </a:xfrm>
          <a:prstGeom prst="ellipse">
            <a:avLst/>
          </a:prstGeom>
          <a:solidFill>
            <a:srgbClr val="CB5E2E"/>
          </a:solidFill>
          <a:ln/>
        </p:spPr>
      </p:sp>
      <p:sp>
        <p:nvSpPr>
          <p:cNvPr id="14" name="Text 12"/>
          <p:cNvSpPr txBox="1"/>
          <p:nvPr/>
        </p:nvSpPr>
        <p:spPr>
          <a:xfrm>
            <a:off x="749808" y="28986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207008" y="2679192"/>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¿Cuántos faltantes por columna?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dónde hay huecos y qué tan grandes</a:t>
            </a:r>
            <a:endParaRPr lang="en-US" sz="1300" dirty="0"/>
          </a:p>
        </p:txBody>
      </p:sp>
      <p:sp>
        <p:nvSpPr>
          <p:cNvPr id="16" name="Shape 14"/>
          <p:cNvSpPr/>
          <p:nvPr/>
        </p:nvSpPr>
        <p:spPr>
          <a:xfrm>
            <a:off x="6245352" y="2679192"/>
            <a:ext cx="5394960" cy="749808"/>
          </a:xfrm>
          <a:prstGeom prst="roundRect">
            <a:avLst>
              <a:gd name="adj" fmla="val 7317"/>
            </a:avLst>
          </a:prstGeom>
          <a:solidFill>
            <a:srgbClr val="FFFFFF"/>
          </a:solidFill>
          <a:ln w="9525">
            <a:solidFill>
              <a:srgbClr val="D5DCE3"/>
            </a:solidFill>
            <a:prstDash val="solid"/>
          </a:ln>
        </p:spPr>
      </p:sp>
      <p:sp>
        <p:nvSpPr>
          <p:cNvPr id="17" name="Shape 15"/>
          <p:cNvSpPr/>
          <p:nvPr/>
        </p:nvSpPr>
        <p:spPr>
          <a:xfrm>
            <a:off x="6446520" y="2898648"/>
            <a:ext cx="329184" cy="329184"/>
          </a:xfrm>
          <a:prstGeom prst="ellipse">
            <a:avLst/>
          </a:prstGeom>
          <a:solidFill>
            <a:srgbClr val="CB5E2E"/>
          </a:solidFill>
          <a:ln/>
        </p:spPr>
      </p:sp>
      <p:sp>
        <p:nvSpPr>
          <p:cNvPr id="18" name="Text 16"/>
          <p:cNvSpPr txBox="1"/>
          <p:nvPr/>
        </p:nvSpPr>
        <p:spPr>
          <a:xfrm>
            <a:off x="6446520" y="28986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txBox="1"/>
          <p:nvPr/>
        </p:nvSpPr>
        <p:spPr>
          <a:xfrm>
            <a:off x="6903720" y="2679192"/>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¿El rango tiene sentido?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mín y máx; montos negativos, edades de 999</a:t>
            </a:r>
            <a:endParaRPr lang="en-US" sz="1300" dirty="0"/>
          </a:p>
        </p:txBody>
      </p:sp>
      <p:sp>
        <p:nvSpPr>
          <p:cNvPr id="20" name="Shape 18"/>
          <p:cNvSpPr/>
          <p:nvPr/>
        </p:nvSpPr>
        <p:spPr>
          <a:xfrm>
            <a:off x="548640" y="3575304"/>
            <a:ext cx="5394960" cy="749808"/>
          </a:xfrm>
          <a:prstGeom prst="roundRect">
            <a:avLst>
              <a:gd name="adj" fmla="val 7317"/>
            </a:avLst>
          </a:prstGeom>
          <a:solidFill>
            <a:srgbClr val="EEF2F5"/>
          </a:solidFill>
          <a:ln w="9525">
            <a:solidFill>
              <a:srgbClr val="D5DCE3"/>
            </a:solidFill>
            <a:prstDash val="solid"/>
          </a:ln>
        </p:spPr>
      </p:sp>
      <p:sp>
        <p:nvSpPr>
          <p:cNvPr id="21" name="Shape 19"/>
          <p:cNvSpPr/>
          <p:nvPr/>
        </p:nvSpPr>
        <p:spPr>
          <a:xfrm>
            <a:off x="749808" y="3794760"/>
            <a:ext cx="329184" cy="329184"/>
          </a:xfrm>
          <a:prstGeom prst="ellipse">
            <a:avLst/>
          </a:prstGeom>
          <a:solidFill>
            <a:srgbClr val="CB5E2E"/>
          </a:solidFill>
          <a:ln/>
        </p:spPr>
      </p:sp>
      <p:sp>
        <p:nvSpPr>
          <p:cNvPr id="22" name="Text 20"/>
          <p:cNvSpPr txBox="1"/>
          <p:nvPr/>
        </p:nvSpPr>
        <p:spPr>
          <a:xfrm>
            <a:off x="749808" y="37947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3" name="Text 21"/>
          <p:cNvSpPr txBox="1"/>
          <p:nvPr/>
        </p:nvSpPr>
        <p:spPr>
          <a:xfrm>
            <a:off x="1207008" y="3575304"/>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¿Hay duplicados en el identificador?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folios o CURP repetidos</a:t>
            </a:r>
            <a:endParaRPr lang="en-US" sz="1300" dirty="0"/>
          </a:p>
        </p:txBody>
      </p:sp>
      <p:sp>
        <p:nvSpPr>
          <p:cNvPr id="24" name="Shape 22"/>
          <p:cNvSpPr/>
          <p:nvPr/>
        </p:nvSpPr>
        <p:spPr>
          <a:xfrm>
            <a:off x="6245352" y="3575304"/>
            <a:ext cx="5394960" cy="749808"/>
          </a:xfrm>
          <a:prstGeom prst="roundRect">
            <a:avLst>
              <a:gd name="adj" fmla="val 7317"/>
            </a:avLst>
          </a:prstGeom>
          <a:solidFill>
            <a:srgbClr val="FFFFFF"/>
          </a:solidFill>
          <a:ln w="9525">
            <a:solidFill>
              <a:srgbClr val="D5DCE3"/>
            </a:solidFill>
            <a:prstDash val="solid"/>
          </a:ln>
        </p:spPr>
      </p:sp>
      <p:sp>
        <p:nvSpPr>
          <p:cNvPr id="25" name="Shape 23"/>
          <p:cNvSpPr/>
          <p:nvPr/>
        </p:nvSpPr>
        <p:spPr>
          <a:xfrm>
            <a:off x="6446520" y="3794760"/>
            <a:ext cx="329184" cy="329184"/>
          </a:xfrm>
          <a:prstGeom prst="ellipse">
            <a:avLst/>
          </a:prstGeom>
          <a:solidFill>
            <a:srgbClr val="CB5E2E"/>
          </a:solidFill>
          <a:ln/>
        </p:spPr>
      </p:sp>
      <p:sp>
        <p:nvSpPr>
          <p:cNvPr id="26" name="Text 24"/>
          <p:cNvSpPr txBox="1"/>
          <p:nvPr/>
        </p:nvSpPr>
        <p:spPr>
          <a:xfrm>
            <a:off x="6446520" y="37947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7" name="Text 25"/>
          <p:cNvSpPr txBox="1"/>
          <p:nvPr/>
        </p:nvSpPr>
        <p:spPr>
          <a:xfrm>
            <a:off x="6903720" y="3575304"/>
            <a:ext cx="4572000" cy="749808"/>
          </a:xfrm>
          <a:prstGeom prst="rect">
            <a:avLst/>
          </a:prstGeom>
          <a:noFill/>
          <a:ln/>
        </p:spPr>
        <p:txBody>
          <a:bodyPr wrap="square" lIns="0" tIns="0" rIns="0" bIns="0" rtlCol="0" anchor="ctr"/>
          <a:lstStyle/>
          <a:p>
            <a:pPr indent="0" marL="0">
              <a:lnSpc>
                <a:spcPct val="95000"/>
              </a:lnSpc>
              <a:buNone/>
            </a:pPr>
            <a:r>
              <a:rPr lang="en-US" sz="1300" b="1" dirty="0">
                <a:solidFill>
                  <a:srgbClr val="1E2A35"/>
                </a:solidFill>
                <a:latin typeface="Calibri" pitchFamily="34" charset="0"/>
                <a:ea typeface="Calibri" pitchFamily="34" charset="-122"/>
                <a:cs typeface="Calibri" pitchFamily="34" charset="-120"/>
              </a:rPr>
              <a:t>¿Las categorías están limpias?  </a:t>
            </a:r>
            <a:pPr indent="0" marL="0">
              <a:lnSpc>
                <a:spcPct val="95000"/>
              </a:lnSpc>
              <a:buNone/>
            </a:pPr>
            <a:r>
              <a:rPr lang="en-US" sz="1150" dirty="0">
                <a:solidFill>
                  <a:srgbClr val="60707E"/>
                </a:solidFill>
                <a:latin typeface="Calibri" pitchFamily="34" charset="0"/>
                <a:ea typeface="Calibri" pitchFamily="34" charset="-122"/>
                <a:cs typeface="Calibri" pitchFamily="34" charset="-120"/>
              </a:rPr>
              <a:t>cuántos valores distintos tiene «estatus»</a:t>
            </a:r>
            <a:endParaRPr lang="en-US" sz="1300" dirty="0"/>
          </a:p>
        </p:txBody>
      </p:sp>
      <p:sp>
        <p:nvSpPr>
          <p:cNvPr id="28" name="Shape 26"/>
          <p:cNvSpPr/>
          <p:nvPr/>
        </p:nvSpPr>
        <p:spPr>
          <a:xfrm>
            <a:off x="548640" y="6053328"/>
            <a:ext cx="11091672" cy="603504"/>
          </a:xfrm>
          <a:prstGeom prst="rect">
            <a:avLst/>
          </a:prstGeom>
          <a:solidFill>
            <a:srgbClr val="FBEEE5"/>
          </a:solidFill>
          <a:ln/>
        </p:spPr>
      </p:sp>
      <p:sp>
        <p:nvSpPr>
          <p:cNvPr id="29" name="Shape 27"/>
          <p:cNvSpPr/>
          <p:nvPr/>
        </p:nvSpPr>
        <p:spPr>
          <a:xfrm>
            <a:off x="749808" y="6272784"/>
            <a:ext cx="164592" cy="164592"/>
          </a:xfrm>
          <a:prstGeom prst="roundRect">
            <a:avLst>
              <a:gd name="adj" fmla="val 22222"/>
            </a:avLst>
          </a:prstGeom>
          <a:solidFill>
            <a:srgbClr val="CB5E2E"/>
          </a:solidFill>
          <a:ln/>
        </p:spPr>
      </p:sp>
      <p:sp>
        <p:nvSpPr>
          <p:cNvPr id="30" name="Text 2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Un asistente hace este barrido en un prompt: «descríbeme este archivo: tipos, faltantes, duplicados y rangos». Usted lee el resumen con ojo crítico: el asistente señala candidatos a problema, usted decide cuáles lo son.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bitácora de limpieza y verificación</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El entregable que hace defendible cada número: qué estaba mal, qué hiciste y cómo comprobaste que quedó bien.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108960"/>
                <a:gridCol w="2743200"/>
                <a:gridCol w="1737360"/>
                <a:gridCol w="3502152"/>
              </a:tblGrid>
              <a:tr h="6583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Problema encontrado</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Qué hiciste</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Cuántos afecta</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Cómo lo verificaste</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r>
              <a:tr h="658368">
                <a:tc>
                  <a:txBody>
                    <a:bodyPr/>
                    <a:lstStyle/>
                    <a:p>
                      <a:pPr indent="0" marL="0">
                        <a:buNone/>
                      </a:pPr>
                      <a:r>
                        <a:rPr lang="en-US" sz="1150" b="1" dirty="0">
                          <a:solidFill>
                            <a:srgbClr val="1E2A35"/>
                          </a:solidFill>
                          <a:latin typeface="Calibri" pitchFamily="34" charset="0"/>
                          <a:ea typeface="Calibri" pitchFamily="34" charset="-122"/>
                          <a:cs typeface="Calibri" pitchFamily="34" charset="-120"/>
                        </a:rPr>
                        <a:t>Montos ampliados guardados como texto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150" dirty="0">
                          <a:solidFill>
                            <a:srgbClr val="1E2A35"/>
                          </a:solidFill>
                          <a:latin typeface="Calibri" pitchFamily="34" charset="0"/>
                          <a:ea typeface="Calibri" pitchFamily="34" charset="-122"/>
                          <a:cs typeface="Calibri" pitchFamily="34" charset="-120"/>
                        </a:rPr>
                        <a:t>Los convertí a número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60707E"/>
                          </a:solidFill>
                          <a:latin typeface="Calibri" pitchFamily="34" charset="0"/>
                          <a:ea typeface="Calibri" pitchFamily="34" charset="-122"/>
                          <a:cs typeface="Calibri" pitchFamily="34" charset="-120"/>
                        </a:rPr>
                        <a:t>4 de 14</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150" dirty="0">
                          <a:solidFill>
                            <a:srgbClr val="60707E"/>
                          </a:solidFill>
                          <a:latin typeface="Calibri" pitchFamily="34" charset="0"/>
                          <a:ea typeface="Calibri" pitchFamily="34" charset="-122"/>
                          <a:cs typeface="Calibri" pitchFamily="34" charset="-120"/>
                        </a:rPr>
                        <a:t>El total cuadró con el monto ejercido del padrón</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E2A35"/>
                          </a:solidFill>
                          <a:latin typeface="Calibri" pitchFamily="34" charset="0"/>
                          <a:ea typeface="Calibri" pitchFamily="34" charset="-122"/>
                          <a:cs typeface="Calibri" pitchFamily="34" charset="-120"/>
                        </a:rPr>
                        <a:t>Folio duplicado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150" dirty="0">
                          <a:solidFill>
                            <a:srgbClr val="1E2A35"/>
                          </a:solidFill>
                          <a:latin typeface="Calibri" pitchFamily="34" charset="0"/>
                          <a:ea typeface="Calibri" pitchFamily="34" charset="-122"/>
                          <a:cs typeface="Calibri" pitchFamily="34" charset="-120"/>
                        </a:rPr>
                        <a:t>Quité el registro repetido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150" dirty="0">
                          <a:solidFill>
                            <a:srgbClr val="60707E"/>
                          </a:solidFill>
                          <a:latin typeface="Calibri" pitchFamily="34" charset="0"/>
                          <a:ea typeface="Calibri" pitchFamily="34" charset="-122"/>
                          <a:cs typeface="Calibri" pitchFamily="34" charset="-120"/>
                        </a:rPr>
                        <a:t>1 de 14</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150" dirty="0">
                          <a:solidFill>
                            <a:srgbClr val="60707E"/>
                          </a:solidFill>
                          <a:latin typeface="Calibri" pitchFamily="34" charset="0"/>
                          <a:ea typeface="Calibri" pitchFamily="34" charset="-122"/>
                          <a:cs typeface="Calibri" pitchFamily="34" charset="-120"/>
                        </a:rPr>
                        <a:t>El conteo de únicos bajó de 13 a 12</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658368">
                <a:tc>
                  <a:txBody>
                    <a:bodyPr/>
                    <a:lstStyle/>
                    <a:p>
                      <a:pPr indent="0" marL="0">
                        <a:buNone/>
                      </a:pPr>
                      <a:r>
                        <a:rPr lang="en-US" sz="1150" b="1" dirty="0">
                          <a:solidFill>
                            <a:srgbClr val="1E2A35"/>
                          </a:solidFill>
                          <a:latin typeface="Calibri" pitchFamily="34" charset="0"/>
                          <a:ea typeface="Calibri" pitchFamily="34" charset="-122"/>
                          <a:cs typeface="Calibri" pitchFamily="34" charset="-120"/>
                        </a:rPr>
                        <a:t>Monto vacío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150" dirty="0">
                          <a:solidFill>
                            <a:srgbClr val="1E2A35"/>
                          </a:solidFill>
                          <a:latin typeface="Calibri" pitchFamily="34" charset="0"/>
                          <a:ea typeface="Calibri" pitchFamily="34" charset="-122"/>
                          <a:cs typeface="Calibri" pitchFamily="34" charset="-120"/>
                        </a:rPr>
                        <a:t>Lo marqué como faltante, fuera del promedio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60707E"/>
                          </a:solidFill>
                          <a:latin typeface="Calibri" pitchFamily="34" charset="0"/>
                          <a:ea typeface="Calibri" pitchFamily="34" charset="-122"/>
                          <a:cs typeface="Calibri" pitchFamily="34" charset="-120"/>
                        </a:rPr>
                        <a:t>1 de 14</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150" dirty="0">
                          <a:solidFill>
                            <a:srgbClr val="60707E"/>
                          </a:solidFill>
                          <a:latin typeface="Calibri" pitchFamily="34" charset="0"/>
                          <a:ea typeface="Calibri" pitchFamily="34" charset="-122"/>
                          <a:cs typeface="Calibri" pitchFamily="34" charset="-120"/>
                        </a:rPr>
                        <a:t>Reporté la cobertura: 12 de 13 con monto válido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E2A35"/>
                          </a:solidFill>
                          <a:latin typeface="Calibri" pitchFamily="34" charset="0"/>
                          <a:ea typeface="Calibri" pitchFamily="34" charset="-122"/>
                          <a:cs typeface="Calibri" pitchFamily="34" charset="-120"/>
                        </a:rPr>
                        <a:t>Estatus con mayúsculas mezcladas</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150" dirty="0">
                          <a:solidFill>
                            <a:srgbClr val="1E2A35"/>
                          </a:solidFill>
                          <a:latin typeface="Calibri" pitchFamily="34" charset="0"/>
                          <a:ea typeface="Calibri" pitchFamily="34" charset="-122"/>
                          <a:cs typeface="Calibri" pitchFamily="34" charset="-120"/>
                        </a:rPr>
                        <a:t>Unifiqué a un solo valor</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150" dirty="0">
                          <a:solidFill>
                            <a:srgbClr val="60707E"/>
                          </a:solidFill>
                          <a:latin typeface="Calibri" pitchFamily="34" charset="0"/>
                          <a:ea typeface="Calibri" pitchFamily="34" charset="-122"/>
                          <a:cs typeface="Calibri" pitchFamily="34" charset="-120"/>
                        </a:rPr>
                        <a:t>sin efecto en el monto</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150" dirty="0">
                          <a:solidFill>
                            <a:srgbClr val="60707E"/>
                          </a:solidFill>
                          <a:latin typeface="Calibri" pitchFamily="34" charset="0"/>
                          <a:ea typeface="Calibri" pitchFamily="34" charset="-122"/>
                          <a:cs typeface="Calibri" pitchFamily="34" charset="-120"/>
                        </a:rPr>
                        <a:t>Los valores distintos bajaron de 3 a 1</a:t>
                      </a:r>
                      <a:endParaRPr lang="en-US" sz="11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bl>
          </a:graphicData>
        </a:graphic>
      </p:graphicFrame>
      <p:sp>
        <p:nvSpPr>
          <p:cNvPr id="5" name="Shape 2"/>
          <p:cNvSpPr/>
          <p:nvPr/>
        </p:nvSpPr>
        <p:spPr>
          <a:xfrm>
            <a:off x="548640" y="5532120"/>
            <a:ext cx="11091672" cy="603504"/>
          </a:xfrm>
          <a:prstGeom prst="rect">
            <a:avLst/>
          </a:prstGeom>
          <a:solidFill>
            <a:srgbClr val="FBEEE5"/>
          </a:solidFill>
          <a:ln/>
        </p:spPr>
      </p:sp>
      <p:sp>
        <p:nvSpPr>
          <p:cNvPr id="6" name="Shape 3"/>
          <p:cNvSpPr/>
          <p:nvPr/>
        </p:nvSpPr>
        <p:spPr>
          <a:xfrm>
            <a:off x="749808" y="5751576"/>
            <a:ext cx="164592" cy="164592"/>
          </a:xfrm>
          <a:prstGeom prst="roundRect">
            <a:avLst>
              <a:gd name="adj" fmla="val 22222"/>
            </a:avLst>
          </a:prstGeom>
          <a:solidFill>
            <a:srgbClr val="CB5E2E"/>
          </a:solidFill>
          <a:ln/>
        </p:spPr>
      </p:sp>
      <p:sp>
        <p:nvSpPr>
          <p:cNvPr id="7" name="Text 4"/>
          <p:cNvSpPr txBox="1"/>
          <p:nvPr/>
        </p:nvSpPr>
        <p:spPr>
          <a:xfrm>
            <a:off x="1051560" y="5532120"/>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Si al terminar no puedes decir qué arreglaste y cómo lo verificaste, el número no es defendible ante un comité. Un promedio sin bitácora es un rumor con decimales.</a:t>
            </a:r>
            <a:endParaRPr lang="en-US" sz="1250" dirty="0"/>
          </a:p>
        </p:txBody>
      </p:sp>
      <p:sp>
        <p:nvSpPr>
          <p:cNvPr id="8" name="Text 5"/>
          <p:cNvSpPr txBox="1"/>
          <p:nvPr/>
        </p:nvSpPr>
        <p:spPr>
          <a:xfrm>
            <a:off x="548640" y="6263640"/>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Esta bitácora es la semilla del flujo reproducible de la Sesión 8: los mismos pasos, escritos como código que cualquiera puede volver a correr.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semáforo de datos, otra vez</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Con microdatos cuantitativos importa aún más: qué información se puede escribir en cada herramienta.</a:t>
            </a:r>
            <a:endParaRPr lang="en-US" sz="1400" dirty="0"/>
          </a:p>
        </p:txBody>
      </p:sp>
      <p:sp>
        <p:nvSpPr>
          <p:cNvPr id="4" name="Shape 2"/>
          <p:cNvSpPr/>
          <p:nvPr/>
        </p:nvSpPr>
        <p:spPr>
          <a:xfrm>
            <a:off x="548640" y="205740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1933956" y="2331720"/>
            <a:ext cx="731520" cy="731520"/>
          </a:xfrm>
          <a:prstGeom prst="ellipse">
            <a:avLst/>
          </a:prstGeom>
          <a:solidFill>
            <a:srgbClr val="3E9B5B"/>
          </a:solidFill>
          <a:ln/>
        </p:spPr>
      </p:sp>
      <p:sp>
        <p:nvSpPr>
          <p:cNvPr id="6" name="Text 4"/>
          <p:cNvSpPr txBox="1"/>
          <p:nvPr/>
        </p:nvSpPr>
        <p:spPr>
          <a:xfrm>
            <a:off x="777240" y="3200400"/>
            <a:ext cx="3044952" cy="365760"/>
          </a:xfrm>
          <a:prstGeom prst="rect">
            <a:avLst/>
          </a:prstGeom>
          <a:noFill/>
          <a:ln/>
        </p:spPr>
        <p:txBody>
          <a:bodyPr wrap="square" lIns="0" tIns="0" rIns="0" bIns="0" rtlCol="0" anchor="ctr"/>
          <a:lstStyle/>
          <a:p>
            <a:pPr algn="ctr" indent="0" marL="0">
              <a:buNone/>
            </a:pPr>
            <a:r>
              <a:rPr lang="en-US" sz="1600" b="1" dirty="0">
                <a:solidFill>
                  <a:srgbClr val="2E6E49"/>
                </a:solidFill>
                <a:latin typeface="Calibri" pitchFamily="34" charset="0"/>
                <a:ea typeface="Calibri" pitchFamily="34" charset="-122"/>
                <a:cs typeface="Calibri" pitchFamily="34" charset="-120"/>
              </a:rPr>
              <a:t>Verde</a:t>
            </a:r>
            <a:endParaRPr lang="en-US" sz="1600" dirty="0"/>
          </a:p>
        </p:txBody>
      </p:sp>
      <p:sp>
        <p:nvSpPr>
          <p:cNvPr id="7" name="Text 5"/>
          <p:cNvSpPr txBox="1"/>
          <p:nvPr/>
        </p:nvSpPr>
        <p:spPr>
          <a:xfrm>
            <a:off x="77724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ficticios o ya públicos. No identifican a nadie.</a:t>
            </a:r>
            <a:endParaRPr lang="en-US" sz="1200" dirty="0"/>
          </a:p>
        </p:txBody>
      </p:sp>
      <p:sp>
        <p:nvSpPr>
          <p:cNvPr id="8" name="Shape 6"/>
          <p:cNvSpPr/>
          <p:nvPr/>
        </p:nvSpPr>
        <p:spPr>
          <a:xfrm>
            <a:off x="777240" y="4343400"/>
            <a:ext cx="3044952" cy="18288"/>
          </a:xfrm>
          <a:prstGeom prst="rect">
            <a:avLst/>
          </a:prstGeom>
          <a:solidFill>
            <a:srgbClr val="D5DCE3"/>
          </a:solidFill>
          <a:ln/>
        </p:spPr>
      </p:sp>
      <p:sp>
        <p:nvSpPr>
          <p:cNvPr id="9" name="Text 7"/>
          <p:cNvSpPr txBox="1"/>
          <p:nvPr/>
        </p:nvSpPr>
        <p:spPr>
          <a:xfrm>
            <a:off x="77724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2E6E49"/>
                </a:solidFill>
                <a:latin typeface="Calibri" pitchFamily="34" charset="0"/>
                <a:ea typeface="Calibri" pitchFamily="34" charset="-122"/>
                <a:cs typeface="Calibri" pitchFamily="34" charset="-120"/>
              </a:rPr>
              <a:t>Cualquier herramienta abierta.</a:t>
            </a:r>
            <a:endParaRPr lang="en-US" sz="1150" dirty="0"/>
          </a:p>
        </p:txBody>
      </p:sp>
      <p:sp>
        <p:nvSpPr>
          <p:cNvPr id="10" name="Shape 8"/>
          <p:cNvSpPr/>
          <p:nvPr/>
        </p:nvSpPr>
        <p:spPr>
          <a:xfrm>
            <a:off x="4343400" y="205740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5728716" y="2331720"/>
            <a:ext cx="731520" cy="731520"/>
          </a:xfrm>
          <a:prstGeom prst="ellipse">
            <a:avLst/>
          </a:prstGeom>
          <a:solidFill>
            <a:srgbClr val="E0A82E"/>
          </a:solidFill>
          <a:ln/>
        </p:spPr>
      </p:sp>
      <p:sp>
        <p:nvSpPr>
          <p:cNvPr id="12" name="Text 10"/>
          <p:cNvSpPr txBox="1"/>
          <p:nvPr/>
        </p:nvSpPr>
        <p:spPr>
          <a:xfrm>
            <a:off x="4572000" y="3200400"/>
            <a:ext cx="3044952" cy="365760"/>
          </a:xfrm>
          <a:prstGeom prst="rect">
            <a:avLst/>
          </a:prstGeom>
          <a:noFill/>
          <a:ln/>
        </p:spPr>
        <p:txBody>
          <a:bodyPr wrap="square" lIns="0" tIns="0" rIns="0" bIns="0" rtlCol="0" anchor="ctr"/>
          <a:lstStyle/>
          <a:p>
            <a:pPr algn="ctr" indent="0" marL="0">
              <a:buNone/>
            </a:pPr>
            <a:r>
              <a:rPr lang="en-US" sz="1600" b="1" dirty="0">
                <a:solidFill>
                  <a:srgbClr val="8A6D1F"/>
                </a:solidFill>
                <a:latin typeface="Calibri" pitchFamily="34" charset="0"/>
                <a:ea typeface="Calibri" pitchFamily="34" charset="-122"/>
                <a:cs typeface="Calibri" pitchFamily="34" charset="-120"/>
              </a:rPr>
              <a:t>Amarillo</a:t>
            </a:r>
            <a:endParaRPr lang="en-US" sz="1600" dirty="0"/>
          </a:p>
        </p:txBody>
      </p:sp>
      <p:sp>
        <p:nvSpPr>
          <p:cNvPr id="13" name="Text 11"/>
          <p:cNvSpPr txBox="1"/>
          <p:nvPr/>
        </p:nvSpPr>
        <p:spPr>
          <a:xfrm>
            <a:off x="457200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Microdatos o registros que permiten identificar a una persona.</a:t>
            </a:r>
            <a:endParaRPr lang="en-US" sz="1200" dirty="0"/>
          </a:p>
        </p:txBody>
      </p:sp>
      <p:sp>
        <p:nvSpPr>
          <p:cNvPr id="14" name="Shape 12"/>
          <p:cNvSpPr/>
          <p:nvPr/>
        </p:nvSpPr>
        <p:spPr>
          <a:xfrm>
            <a:off x="4572000" y="4343400"/>
            <a:ext cx="3044952" cy="18288"/>
          </a:xfrm>
          <a:prstGeom prst="rect">
            <a:avLst/>
          </a:prstGeom>
          <a:solidFill>
            <a:srgbClr val="D5DCE3"/>
          </a:solidFill>
          <a:ln/>
        </p:spPr>
      </p:sp>
      <p:sp>
        <p:nvSpPr>
          <p:cNvPr id="15" name="Text 13"/>
          <p:cNvSpPr txBox="1"/>
          <p:nvPr/>
        </p:nvSpPr>
        <p:spPr>
          <a:xfrm>
            <a:off x="457200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8A6D1F"/>
                </a:solidFill>
                <a:latin typeface="Calibri" pitchFamily="34" charset="0"/>
                <a:ea typeface="Calibri" pitchFamily="34" charset="-122"/>
                <a:cs typeface="Calibri" pitchFamily="34" charset="-120"/>
              </a:rPr>
              <a:t>Solo Copilot institucional, con la cuenta del Instituto.</a:t>
            </a:r>
            <a:endParaRPr lang="en-US" sz="1150" dirty="0"/>
          </a:p>
        </p:txBody>
      </p:sp>
      <p:sp>
        <p:nvSpPr>
          <p:cNvPr id="16" name="Shape 14"/>
          <p:cNvSpPr/>
          <p:nvPr/>
        </p:nvSpPr>
        <p:spPr>
          <a:xfrm>
            <a:off x="8138160" y="2057400"/>
            <a:ext cx="3502152" cy="2743200"/>
          </a:xfrm>
          <a:prstGeom prst="roundRect">
            <a:avLst>
              <a:gd name="adj" fmla="val 2000"/>
            </a:avLst>
          </a:prstGeom>
          <a:solidFill>
            <a:srgbClr val="FFFFFF"/>
          </a:solidFill>
          <a:ln w="9525">
            <a:solidFill>
              <a:srgbClr val="D5DCE3"/>
            </a:solidFill>
            <a:prstDash val="solid"/>
          </a:ln>
        </p:spPr>
      </p:sp>
      <p:sp>
        <p:nvSpPr>
          <p:cNvPr id="17" name="Shape 15"/>
          <p:cNvSpPr/>
          <p:nvPr/>
        </p:nvSpPr>
        <p:spPr>
          <a:xfrm>
            <a:off x="9523476" y="2331720"/>
            <a:ext cx="731520" cy="731520"/>
          </a:xfrm>
          <a:prstGeom prst="ellipse">
            <a:avLst/>
          </a:prstGeom>
          <a:solidFill>
            <a:srgbClr val="C0472B"/>
          </a:solidFill>
          <a:ln/>
        </p:spPr>
      </p:sp>
      <p:sp>
        <p:nvSpPr>
          <p:cNvPr id="18" name="Text 16"/>
          <p:cNvSpPr txBox="1"/>
          <p:nvPr/>
        </p:nvSpPr>
        <p:spPr>
          <a:xfrm>
            <a:off x="8366760" y="3200400"/>
            <a:ext cx="3044952" cy="365760"/>
          </a:xfrm>
          <a:prstGeom prst="rect">
            <a:avLst/>
          </a:prstGeom>
          <a:noFill/>
          <a:ln/>
        </p:spPr>
        <p:txBody>
          <a:bodyPr wrap="square" lIns="0" tIns="0" rIns="0" bIns="0" rtlCol="0" anchor="ctr"/>
          <a:lstStyle/>
          <a:p>
            <a:pPr algn="ctr" indent="0" marL="0">
              <a:buNone/>
            </a:pPr>
            <a:r>
              <a:rPr lang="en-US" sz="1600" b="1" dirty="0">
                <a:solidFill>
                  <a:srgbClr val="A23B22"/>
                </a:solidFill>
                <a:latin typeface="Calibri" pitchFamily="34" charset="0"/>
                <a:ea typeface="Calibri" pitchFamily="34" charset="-122"/>
                <a:cs typeface="Calibri" pitchFamily="34" charset="-120"/>
              </a:rPr>
              <a:t>Rojo</a:t>
            </a:r>
            <a:endParaRPr lang="en-US" sz="1600" dirty="0"/>
          </a:p>
        </p:txBody>
      </p:sp>
      <p:sp>
        <p:nvSpPr>
          <p:cNvPr id="19" name="Text 17"/>
          <p:cNvSpPr txBox="1"/>
          <p:nvPr/>
        </p:nvSpPr>
        <p:spPr>
          <a:xfrm>
            <a:off x="836676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personales sensibles o confidenciales.</a:t>
            </a:r>
            <a:endParaRPr lang="en-US" sz="1200" dirty="0"/>
          </a:p>
        </p:txBody>
      </p:sp>
      <p:sp>
        <p:nvSpPr>
          <p:cNvPr id="20" name="Shape 18"/>
          <p:cNvSpPr/>
          <p:nvPr/>
        </p:nvSpPr>
        <p:spPr>
          <a:xfrm>
            <a:off x="8366760" y="4343400"/>
            <a:ext cx="3044952" cy="18288"/>
          </a:xfrm>
          <a:prstGeom prst="rect">
            <a:avLst/>
          </a:prstGeom>
          <a:solidFill>
            <a:srgbClr val="D5DCE3"/>
          </a:solidFill>
          <a:ln/>
        </p:spPr>
      </p:sp>
      <p:sp>
        <p:nvSpPr>
          <p:cNvPr id="21" name="Text 19"/>
          <p:cNvSpPr txBox="1"/>
          <p:nvPr/>
        </p:nvSpPr>
        <p:spPr>
          <a:xfrm>
            <a:off x="836676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A23B22"/>
                </a:solidFill>
                <a:latin typeface="Calibri" pitchFamily="34" charset="0"/>
                <a:ea typeface="Calibri" pitchFamily="34" charset="-122"/>
                <a:cs typeface="Calibri" pitchFamily="34" charset="-120"/>
              </a:rPr>
              <a:t>No salen a ninguna herramienta de IA.</a:t>
            </a:r>
            <a:endParaRPr lang="en-US" sz="1150" dirty="0"/>
          </a:p>
        </p:txBody>
      </p:sp>
      <p:sp>
        <p:nvSpPr>
          <p:cNvPr id="22" name="Shape 20"/>
          <p:cNvSpPr/>
          <p:nvPr/>
        </p:nvSpPr>
        <p:spPr>
          <a:xfrm>
            <a:off x="548640" y="6053328"/>
            <a:ext cx="11091672" cy="603504"/>
          </a:xfrm>
          <a:prstGeom prst="rect">
            <a:avLst/>
          </a:prstGeom>
          <a:solidFill>
            <a:srgbClr val="FBEEE5"/>
          </a:solidFill>
          <a:ln/>
        </p:spPr>
      </p:sp>
      <p:sp>
        <p:nvSpPr>
          <p:cNvPr id="23" name="Shape 21"/>
          <p:cNvSpPr/>
          <p:nvPr/>
        </p:nvSpPr>
        <p:spPr>
          <a:xfrm>
            <a:off x="749808" y="6272784"/>
            <a:ext cx="164592" cy="164592"/>
          </a:xfrm>
          <a:prstGeom prst="roundRect">
            <a:avLst>
              <a:gd name="adj" fmla="val 22222"/>
            </a:avLst>
          </a:prstGeom>
          <a:solidFill>
            <a:srgbClr val="CB5E2E"/>
          </a:solidFill>
          <a:ln/>
        </p:spPr>
      </p:sp>
      <p:sp>
        <p:nvSpPr>
          <p:cNvPr id="24" name="Text 2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Los microdatos administrativos casi siempre son amarillo: identifican personas aunque no traigan el nombre. El registro del curso es ficticio (verde) para poder trabajarlo sin riesgo.</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PRÁCTICA GUIADA</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Explorar, depurar y verificar</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Práctica guiada: su turno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Trabajen sobre un padrón sucio (ficticio) en el archivo de Excel. Tres partes.</a:t>
            </a:r>
            <a:endParaRPr lang="en-US" sz="1400" dirty="0"/>
          </a:p>
        </p:txBody>
      </p:sp>
      <p:sp>
        <p:nvSpPr>
          <p:cNvPr id="4" name="Shape 2"/>
          <p:cNvSpPr/>
          <p:nvPr/>
        </p:nvSpPr>
        <p:spPr>
          <a:xfrm>
            <a:off x="548640" y="178308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777240" y="2039112"/>
            <a:ext cx="457200" cy="457200"/>
          </a:xfrm>
          <a:prstGeom prst="ellipse">
            <a:avLst/>
          </a:prstGeom>
          <a:solidFill>
            <a:srgbClr val="CB5E2E"/>
          </a:solidFill>
          <a:ln/>
        </p:spPr>
      </p:sp>
      <p:sp>
        <p:nvSpPr>
          <p:cNvPr id="6" name="Text 4"/>
          <p:cNvSpPr txBox="1"/>
          <p:nvPr/>
        </p:nvSpPr>
        <p:spPr>
          <a:xfrm>
            <a:off x="77724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12 min</a:t>
            </a:r>
            <a:endParaRPr lang="en-US" sz="1200" dirty="0"/>
          </a:p>
        </p:txBody>
      </p:sp>
      <p:sp>
        <p:nvSpPr>
          <p:cNvPr id="8" name="Text 6"/>
          <p:cNvSpPr txBox="1"/>
          <p:nvPr/>
        </p:nvSpPr>
        <p:spPr>
          <a:xfrm>
            <a:off x="77724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Escribir el prompt</a:t>
            </a:r>
            <a:endParaRPr lang="en-US" sz="1500" dirty="0"/>
          </a:p>
        </p:txBody>
      </p:sp>
      <p:sp>
        <p:nvSpPr>
          <p:cNvPr id="9" name="Text 7"/>
          <p:cNvSpPr txBox="1"/>
          <p:nvPr/>
        </p:nvSpPr>
        <p:spPr>
          <a:xfrm>
            <a:off x="77724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Conviertan un pedido vago en uno preciso para calcular el apoyo promedio por entidad: columnas, unidad, qué hacer con lo inválido y la salida.</a:t>
            </a:r>
            <a:endParaRPr lang="en-US" sz="1200" dirty="0"/>
          </a:p>
        </p:txBody>
      </p:sp>
      <p:sp>
        <p:nvSpPr>
          <p:cNvPr id="10" name="Shape 8"/>
          <p:cNvSpPr/>
          <p:nvPr/>
        </p:nvSpPr>
        <p:spPr>
          <a:xfrm>
            <a:off x="4343400" y="178308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4572000" y="2039112"/>
            <a:ext cx="457200" cy="457200"/>
          </a:xfrm>
          <a:prstGeom prst="ellipse">
            <a:avLst/>
          </a:prstGeom>
          <a:solidFill>
            <a:srgbClr val="CB5E2E"/>
          </a:solidFill>
          <a:ln/>
        </p:spPr>
      </p:sp>
      <p:sp>
        <p:nvSpPr>
          <p:cNvPr id="12" name="Text 10"/>
          <p:cNvSpPr txBox="1"/>
          <p:nvPr/>
        </p:nvSpPr>
        <p:spPr>
          <a:xfrm>
            <a:off x="457200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16636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18 min</a:t>
            </a:r>
            <a:endParaRPr lang="en-US" sz="1200" dirty="0"/>
          </a:p>
        </p:txBody>
      </p:sp>
      <p:sp>
        <p:nvSpPr>
          <p:cNvPr id="14" name="Text 12"/>
          <p:cNvSpPr txBox="1"/>
          <p:nvPr/>
        </p:nvSpPr>
        <p:spPr>
          <a:xfrm>
            <a:off x="457200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Depurar y recalcular</a:t>
            </a:r>
            <a:endParaRPr lang="en-US" sz="1500" dirty="0"/>
          </a:p>
        </p:txBody>
      </p:sp>
      <p:sp>
        <p:nvSpPr>
          <p:cNvPr id="15" name="Text 13"/>
          <p:cNvSpPr txBox="1"/>
          <p:nvPr/>
        </p:nvSpPr>
        <p:spPr>
          <a:xfrm>
            <a:off x="457200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Encuentren y arreglen los problemas del padrón (texto como número, duplicados, categorías, faltantes) y comparen el promedio ingenuo contra el corregido.</a:t>
            </a:r>
            <a:endParaRPr lang="en-US" sz="1200" dirty="0"/>
          </a:p>
        </p:txBody>
      </p:sp>
      <p:sp>
        <p:nvSpPr>
          <p:cNvPr id="16" name="Shape 14"/>
          <p:cNvSpPr/>
          <p:nvPr/>
        </p:nvSpPr>
        <p:spPr>
          <a:xfrm>
            <a:off x="8138160" y="1783080"/>
            <a:ext cx="3502152" cy="2743200"/>
          </a:xfrm>
          <a:prstGeom prst="roundRect">
            <a:avLst>
              <a:gd name="adj" fmla="val 2000"/>
            </a:avLst>
          </a:prstGeom>
          <a:solidFill>
            <a:srgbClr val="EEF2F5"/>
          </a:solidFill>
          <a:ln w="9525">
            <a:solidFill>
              <a:srgbClr val="D5DCE3"/>
            </a:solidFill>
            <a:prstDash val="solid"/>
          </a:ln>
        </p:spPr>
      </p:sp>
      <p:sp>
        <p:nvSpPr>
          <p:cNvPr id="17" name="Shape 15"/>
          <p:cNvSpPr/>
          <p:nvPr/>
        </p:nvSpPr>
        <p:spPr>
          <a:xfrm>
            <a:off x="8366760" y="2039112"/>
            <a:ext cx="457200" cy="457200"/>
          </a:xfrm>
          <a:prstGeom prst="ellipse">
            <a:avLst/>
          </a:prstGeom>
          <a:solidFill>
            <a:srgbClr val="CB5E2E"/>
          </a:solidFill>
          <a:ln/>
        </p:spPr>
      </p:sp>
      <p:sp>
        <p:nvSpPr>
          <p:cNvPr id="18" name="Text 16"/>
          <p:cNvSpPr txBox="1"/>
          <p:nvPr/>
        </p:nvSpPr>
        <p:spPr>
          <a:xfrm>
            <a:off x="836676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6112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10 min</a:t>
            </a:r>
            <a:endParaRPr lang="en-US" sz="1200" dirty="0"/>
          </a:p>
        </p:txBody>
      </p:sp>
      <p:sp>
        <p:nvSpPr>
          <p:cNvPr id="20" name="Text 18"/>
          <p:cNvSpPr txBox="1"/>
          <p:nvPr/>
        </p:nvSpPr>
        <p:spPr>
          <a:xfrm>
            <a:off x="836676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EDA y bitácora</a:t>
            </a:r>
            <a:endParaRPr lang="en-US" sz="1500" dirty="0"/>
          </a:p>
        </p:txBody>
      </p:sp>
      <p:sp>
        <p:nvSpPr>
          <p:cNvPr id="21" name="Text 19"/>
          <p:cNvSpPr txBox="1"/>
          <p:nvPr/>
        </p:nvSpPr>
        <p:spPr>
          <a:xfrm>
            <a:off x="836676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Llenen la lista de EDA del registro y anoten en la bitácora qué encontraron, qué arreglaron y cómo lo verificaron.</a:t>
            </a:r>
            <a:endParaRPr lang="en-US" sz="1200" dirty="0"/>
          </a:p>
        </p:txBody>
      </p:sp>
      <p:sp>
        <p:nvSpPr>
          <p:cNvPr id="22" name="Shape 20"/>
          <p:cNvSpPr/>
          <p:nvPr/>
        </p:nvSpPr>
        <p:spPr>
          <a:xfrm>
            <a:off x="548640" y="4754880"/>
            <a:ext cx="11091672" cy="960120"/>
          </a:xfrm>
          <a:prstGeom prst="roundRect">
            <a:avLst>
              <a:gd name="adj" fmla="val 5714"/>
            </a:avLst>
          </a:prstGeom>
          <a:solidFill>
            <a:srgbClr val="15293B"/>
          </a:solidFill>
          <a:ln/>
        </p:spPr>
      </p:sp>
      <p:sp>
        <p:nvSpPr>
          <p:cNvPr id="23" name="Text 21"/>
          <p:cNvSpPr txBox="1"/>
          <p:nvPr/>
        </p:nvSpPr>
        <p:spPr>
          <a:xfrm>
            <a:off x="868680" y="4901184"/>
            <a:ext cx="2743200" cy="320040"/>
          </a:xfrm>
          <a:prstGeom prst="rect">
            <a:avLst/>
          </a:prstGeom>
          <a:noFill/>
          <a:ln/>
        </p:spPr>
        <p:txBody>
          <a:bodyPr wrap="square" lIns="0" tIns="0" rIns="0" bIns="0" rtlCol="0" anchor="ctr"/>
          <a:lstStyle/>
          <a:p>
            <a:pPr indent="0" marL="0">
              <a:buNone/>
            </a:pPr>
            <a:r>
              <a:rPr lang="en-US" sz="1300" b="1" spc="100" kern="0" dirty="0">
                <a:solidFill>
                  <a:srgbClr val="E58A5B"/>
                </a:solidFill>
                <a:latin typeface="Calibri" pitchFamily="34" charset="0"/>
                <a:ea typeface="Calibri" pitchFamily="34" charset="-122"/>
                <a:cs typeface="Calibri" pitchFamily="34" charset="-120"/>
              </a:rPr>
              <a:t>LA REGLA DURA</a:t>
            </a:r>
            <a:endParaRPr lang="en-US" sz="1300" dirty="0"/>
          </a:p>
        </p:txBody>
      </p:sp>
      <p:sp>
        <p:nvSpPr>
          <p:cNvPr id="24" name="Text 22"/>
          <p:cNvSpPr txBox="1"/>
          <p:nvPr/>
        </p:nvSpPr>
        <p:spPr>
          <a:xfrm>
            <a:off x="868680" y="5212080"/>
            <a:ext cx="10451592" cy="457200"/>
          </a:xfrm>
          <a:prstGeom prst="rect">
            <a:avLst/>
          </a:prstGeom>
          <a:noFill/>
          <a:ln/>
        </p:spPr>
        <p:txBody>
          <a:bodyPr wrap="square" lIns="0" tIns="0" rIns="0" bIns="0" rtlCol="0" anchor="ctr"/>
          <a:lstStyle/>
          <a:p>
            <a:pPr indent="0" marL="0">
              <a:lnSpc>
                <a:spcPct val="100000"/>
              </a:lnSpc>
              <a:buNone/>
            </a:pPr>
            <a:r>
              <a:rPr lang="en-US" sz="1300" dirty="0">
                <a:solidFill>
                  <a:srgbClr val="E4EAF0"/>
                </a:solidFill>
                <a:latin typeface="Calibri" pitchFamily="34" charset="0"/>
                <a:ea typeface="Calibri" pitchFamily="34" charset="-122"/>
                <a:cs typeface="Calibri" pitchFamily="34" charset="-120"/>
              </a:rPr>
              <a:t>Ningún número entra al informe sin que sepan qué se limpió para obtenerlo. Un promedio sin bitácora es un rumor con decimales.</a:t>
            </a:r>
            <a:endParaRPr lang="en-US" sz="1300" dirty="0"/>
          </a:p>
        </p:txBody>
      </p:sp>
      <p:sp>
        <p:nvSpPr>
          <p:cNvPr id="25" name="Text 23"/>
          <p:cNvSpPr txBox="1"/>
          <p:nvPr/>
        </p:nvSpPr>
        <p:spPr>
          <a:xfrm>
            <a:off x="548640" y="5989320"/>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Archivo: Laboratorio_S07.xlsx (hojas Prompt, Depuración, EDA y Bitácora). Quien programa: notebook Laboratorio_S07.ipynb con pandas, el mismo registro y una demostración de prompt-to-code.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se llevan y qué entregan</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Cierre del primer bloque cuantitativo y puente a la Sesión 8.</a:t>
            </a:r>
            <a:endParaRPr lang="en-US" sz="1400" dirty="0"/>
          </a:p>
        </p:txBody>
      </p:sp>
      <p:sp>
        <p:nvSpPr>
          <p:cNvPr id="4" name="Shape 2"/>
          <p:cNvSpPr/>
          <p:nvPr/>
        </p:nvSpPr>
        <p:spPr>
          <a:xfrm>
            <a:off x="548640" y="1874520"/>
            <a:ext cx="5394960" cy="2286000"/>
          </a:xfrm>
          <a:prstGeom prst="roundRect">
            <a:avLst>
              <a:gd name="adj" fmla="val 2400"/>
            </a:avLst>
          </a:prstGeom>
          <a:solidFill>
            <a:srgbClr val="EEF2F5"/>
          </a:solidFill>
          <a:ln w="9525">
            <a:solidFill>
              <a:srgbClr val="D5DCE3"/>
            </a:solidFill>
            <a:prstDash val="solid"/>
          </a:ln>
        </p:spPr>
      </p:sp>
      <p:sp>
        <p:nvSpPr>
          <p:cNvPr id="5" name="Text 3"/>
          <p:cNvSpPr txBox="1"/>
          <p:nvPr/>
        </p:nvSpPr>
        <p:spPr>
          <a:xfrm>
            <a:off x="822960"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Las tres ideas del día</a:t>
            </a:r>
            <a:endParaRPr lang="en-US" sz="1500" dirty="0"/>
          </a:p>
        </p:txBody>
      </p:sp>
      <p:sp>
        <p:nvSpPr>
          <p:cNvPr id="6" name="Text 4"/>
          <p:cNvSpPr txBox="1"/>
          <p:nvPr/>
        </p:nvSpPr>
        <p:spPr>
          <a:xfrm>
            <a:off x="822960"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IA escribe el análisis, pero el número es tuyo: correr no es estar bien.</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Los errores rara vez están en la estadística; están en los datos: texto, faltantes, duplicados, categorías.</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Explora antes de concluir y deja bitácora: así el número se puede defender.</a:t>
            </a:r>
            <a:endParaRPr lang="en-US" sz="1300" dirty="0"/>
          </a:p>
        </p:txBody>
      </p:sp>
      <p:sp>
        <p:nvSpPr>
          <p:cNvPr id="7" name="Shape 5"/>
          <p:cNvSpPr/>
          <p:nvPr/>
        </p:nvSpPr>
        <p:spPr>
          <a:xfrm>
            <a:off x="6245352" y="1874520"/>
            <a:ext cx="5394960" cy="2286000"/>
          </a:xfrm>
          <a:prstGeom prst="roundRect">
            <a:avLst>
              <a:gd name="adj" fmla="val 2400"/>
            </a:avLst>
          </a:prstGeom>
          <a:solidFill>
            <a:srgbClr val="FFFFFF"/>
          </a:solidFill>
          <a:ln w="9525">
            <a:solidFill>
              <a:srgbClr val="D5DCE3"/>
            </a:solidFill>
            <a:prstDash val="solid"/>
          </a:ln>
        </p:spPr>
      </p:sp>
      <p:sp>
        <p:nvSpPr>
          <p:cNvPr id="8" name="Text 6"/>
          <p:cNvSpPr txBox="1"/>
          <p:nvPr/>
        </p:nvSpPr>
        <p:spPr>
          <a:xfrm>
            <a:off x="6519672"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Entregables de la práctica</a:t>
            </a:r>
            <a:endParaRPr lang="en-US" sz="1500" dirty="0"/>
          </a:p>
        </p:txBody>
      </p:sp>
      <p:sp>
        <p:nvSpPr>
          <p:cNvPr id="9" name="Text 7"/>
          <p:cNvSpPr txBox="1"/>
          <p:nvPr/>
        </p:nvSpPr>
        <p:spPr>
          <a:xfrm>
            <a:off x="6519672"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El promedio corregido, con su comparación contra el ingenuo.</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lista de EDA del registro (tipos, faltantes, rangos, duplicados).</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bitácora de limpieza y verificación.</a:t>
            </a:r>
            <a:endParaRPr lang="en-US" sz="1300" dirty="0"/>
          </a:p>
        </p:txBody>
      </p:sp>
      <p:sp>
        <p:nvSpPr>
          <p:cNvPr id="10" name="Shape 8"/>
          <p:cNvSpPr/>
          <p:nvPr/>
        </p:nvSpPr>
        <p:spPr>
          <a:xfrm>
            <a:off x="548640" y="4434840"/>
            <a:ext cx="11091672" cy="1371600"/>
          </a:xfrm>
          <a:prstGeom prst="roundRect">
            <a:avLst>
              <a:gd name="adj" fmla="val 4000"/>
            </a:avLst>
          </a:prstGeom>
          <a:solidFill>
            <a:srgbClr val="15293B"/>
          </a:solidFill>
          <a:ln/>
        </p:spPr>
      </p:sp>
      <p:sp>
        <p:nvSpPr>
          <p:cNvPr id="11" name="Text 9"/>
          <p:cNvSpPr txBox="1"/>
          <p:nvPr/>
        </p:nvSpPr>
        <p:spPr>
          <a:xfrm>
            <a:off x="868680" y="459943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Lo que abre la Sesión 8</a:t>
            </a:r>
            <a:endParaRPr lang="en-US" sz="1600" dirty="0"/>
          </a:p>
        </p:txBody>
      </p:sp>
      <p:sp>
        <p:nvSpPr>
          <p:cNvPr id="12" name="Text 10"/>
          <p:cNvSpPr txBox="1"/>
          <p:nvPr/>
        </p:nvSpPr>
        <p:spPr>
          <a:xfrm>
            <a:off x="868680" y="4983480"/>
            <a:ext cx="10451592" cy="777240"/>
          </a:xfrm>
          <a:prstGeom prst="rect">
            <a:avLst/>
          </a:prstGeom>
          <a:noFill/>
          <a:ln/>
        </p:spPr>
        <p:txBody>
          <a:bodyPr wrap="square" lIns="0" tIns="0" rIns="0" bIns="0" rtlCol="0" anchor="ctr"/>
          <a:lstStyle/>
          <a:p>
            <a:pPr indent="0" marL="0">
              <a:lnSpc>
                <a:spcPct val="105000"/>
              </a:lnSpc>
              <a:buNone/>
            </a:pPr>
            <a:r>
              <a:rPr lang="en-US" sz="1350" dirty="0">
                <a:solidFill>
                  <a:srgbClr val="E4EAF0"/>
                </a:solidFill>
                <a:latin typeface="Calibri" pitchFamily="34" charset="0"/>
                <a:ea typeface="Calibri" pitchFamily="34" charset="-122"/>
                <a:cs typeface="Calibri" pitchFamily="34" charset="-120"/>
              </a:rPr>
              <a:t>Hoy limpiaron y verificaron a mano, y lo anotaron en una bitácora. La sesión que sigue convierte esa bitácora en un flujo reproducible: un notebook que cualquiera puede volver a correr y obtener el mismo resultado. Ahí la limpieza deja de ser un acto de fe y se vuelve un procedimiento.</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Fuentes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Para quien quiera ir al origen de cada idea.</a:t>
            </a:r>
            <a:endParaRPr lang="en-US" sz="1400" dirty="0"/>
          </a:p>
        </p:txBody>
      </p:sp>
      <p:sp>
        <p:nvSpPr>
          <p:cNvPr id="4" name="Text 2"/>
          <p:cNvSpPr txBox="1"/>
          <p:nvPr/>
        </p:nvSpPr>
        <p:spPr>
          <a:xfrm>
            <a:off x="54864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EXPLORACIÓN Y CALIDAD DE DATOS</a:t>
            </a:r>
            <a:endParaRPr lang="en-US" sz="1250" dirty="0"/>
          </a:p>
        </p:txBody>
      </p:sp>
      <p:sp>
        <p:nvSpPr>
          <p:cNvPr id="5" name="Text 3"/>
          <p:cNvSpPr txBox="1"/>
          <p:nvPr/>
        </p:nvSpPr>
        <p:spPr>
          <a:xfrm>
            <a:off x="54864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Tukey (1977). Exploratory Data Analysis. Addison-Wesley. Origen del EDA.</a:t>
            </a:r>
            <a:endParaRPr lang="en-US" sz="1150" dirty="0"/>
          </a:p>
        </p:txBody>
      </p:sp>
      <p:sp>
        <p:nvSpPr>
          <p:cNvPr id="6" name="Text 4"/>
          <p:cNvSpPr txBox="1"/>
          <p:nvPr/>
        </p:nvSpPr>
        <p:spPr>
          <a:xfrm>
            <a:off x="548640" y="2898648"/>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Wickham (2014). «Tidy Data». Journal of Statistical Software 59(10).</a:t>
            </a:r>
            <a:endParaRPr lang="en-US" sz="1150" dirty="0"/>
          </a:p>
        </p:txBody>
      </p:sp>
      <p:sp>
        <p:nvSpPr>
          <p:cNvPr id="7" name="Text 5"/>
          <p:cNvSpPr txBox="1"/>
          <p:nvPr/>
        </p:nvSpPr>
        <p:spPr>
          <a:xfrm>
            <a:off x="548640" y="3557016"/>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van der Loo y de Jonge (2018). Statistical Data Cleaning with Applications in R. Wiley.</a:t>
            </a:r>
            <a:endParaRPr lang="en-US" sz="1150" dirty="0"/>
          </a:p>
        </p:txBody>
      </p:sp>
      <p:sp>
        <p:nvSpPr>
          <p:cNvPr id="8" name="Text 6"/>
          <p:cNvSpPr txBox="1"/>
          <p:nvPr/>
        </p:nvSpPr>
        <p:spPr>
          <a:xfrm>
            <a:off x="548640" y="4215384"/>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Kandel et al. (2011). «Research Directions in Data Wrangling». Information Visualization 10(4).</a:t>
            </a:r>
            <a:endParaRPr lang="en-US" sz="1150" dirty="0"/>
          </a:p>
        </p:txBody>
      </p:sp>
      <p:sp>
        <p:nvSpPr>
          <p:cNvPr id="9" name="Text 7"/>
          <p:cNvSpPr txBox="1"/>
          <p:nvPr/>
        </p:nvSpPr>
        <p:spPr>
          <a:xfrm>
            <a:off x="630936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ASISTENTES Y PROMPT-TO-CODE</a:t>
            </a:r>
            <a:endParaRPr lang="en-US" sz="1250" dirty="0"/>
          </a:p>
        </p:txBody>
      </p:sp>
      <p:sp>
        <p:nvSpPr>
          <p:cNvPr id="10" name="Text 8"/>
          <p:cNvSpPr txBox="1"/>
          <p:nvPr/>
        </p:nvSpPr>
        <p:spPr>
          <a:xfrm>
            <a:off x="630936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McKinney (2022). Python for Data Analysis, 3a ed. O'Reilly. pandas.</a:t>
            </a:r>
            <a:endParaRPr lang="en-US" sz="1150" dirty="0"/>
          </a:p>
        </p:txBody>
      </p:sp>
      <p:sp>
        <p:nvSpPr>
          <p:cNvPr id="11" name="Text 9"/>
          <p:cNvSpPr txBox="1"/>
          <p:nvPr/>
        </p:nvSpPr>
        <p:spPr>
          <a:xfrm>
            <a:off x="6309360" y="2898648"/>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Microsoft. Documentación de Copilot en Excel (análisis y fórmulas en lenguaje natural).</a:t>
            </a:r>
            <a:endParaRPr lang="en-US" sz="1150" dirty="0"/>
          </a:p>
        </p:txBody>
      </p:sp>
      <p:sp>
        <p:nvSpPr>
          <p:cNvPr id="12" name="Text 10"/>
          <p:cNvSpPr txBox="1"/>
          <p:nvPr/>
        </p:nvSpPr>
        <p:spPr>
          <a:xfrm>
            <a:off x="6309360" y="3557016"/>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VALIDACIÓN E IDONEIDAD</a:t>
            </a:r>
            <a:endParaRPr lang="en-US" sz="1250" dirty="0"/>
          </a:p>
        </p:txBody>
      </p:sp>
      <p:sp>
        <p:nvSpPr>
          <p:cNvPr id="13" name="Text 11"/>
          <p:cNvSpPr txBox="1"/>
          <p:nvPr/>
        </p:nvSpPr>
        <p:spPr>
          <a:xfrm>
            <a:off x="6309360" y="4014216"/>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Remite al Módulo I, Sesión 3 del curso: validación crítica, verificación cruzada e idoneidad tarea-herramienta.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2026-09-22T04:09:30Z</dcterms:created>
  <dcterms:modified xsi:type="dcterms:W3CDTF">2026-09-22T04:09:30Z</dcterms:modified>
</cp:coreProperties>
</file>