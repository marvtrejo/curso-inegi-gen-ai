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slides/slide12.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6.xml" ContentType="application/vnd.openxmlformats-officedocument.presentationml.slide+xml"/>
  <Override PartName="/ppt/slides/slide14.xml" ContentType="application/vnd.openxmlformats-officedocument.presentationml.slide+xml"/>
  <Override PartName="/ppt/slides/slide21.xml" ContentType="application/vnd.openxmlformats-officedocument.presentationml.slide+xml"/>
  <Override PartName="/ppt/slides/slide15.xml" ContentType="application/vnd.openxmlformats-officedocument.presentationml.slide+xml"/>
  <Override PartName="/ppt/slides/slide3.xml" ContentType="application/vnd.openxmlformats-officedocument.presentationml.slide+xml"/>
  <Override PartName="/ppt/slides/slide20.xml" ContentType="application/vnd.openxmlformats-officedocument.presentationml.slide+xml"/>
  <Override PartName="/ppt/slides/slide18.xml" ContentType="application/vnd.openxmlformats-officedocument.presentationml.slide+xml"/>
  <Override PartName="/ppt/slides/slide1.xml" ContentType="application/vnd.openxmlformats-officedocument.presentationml.slide+xml"/>
  <Override PartName="/ppt/slides/slide16.xml" ContentType="application/vnd.openxmlformats-officedocument.presentationml.slide+xml"/>
  <Override PartName="/ppt/slides/slide7.xml" ContentType="application/vnd.openxmlformats-officedocument.presentationml.slide+xml"/>
  <Override PartName="/ppt/slides/slide2.xml" ContentType="application/vnd.openxmlformats-officedocument.presentationml.slide+xml"/>
  <Override PartName="/ppt/slides/slide17.xml" ContentType="application/vnd.openxmlformats-officedocument.presentationml.slide+xml"/>
  <Override PartName="/ppt/slides/slide13.xml" ContentType="application/vnd.openxmlformats-officedocument.presentationml.slide+xml"/>
  <Override PartName="/ppt/slides/slide9.xml" ContentType="application/vnd.openxmlformats-officedocument.presentationml.slide+xml"/>
  <Override PartName="/ppt/slides/slide4.xml" ContentType="application/vnd.openxmlformats-officedocument.presentationml.slide+xml"/>
  <Override PartName="/ppt/slides/slide11.xml" ContentType="application/vnd.openxmlformats-officedocument.presentationml.slide+xml"/>
  <Override PartName="/ppt/slides/slide19.xml" ContentType="application/vnd.openxmlformats-officedocument.presentationml.slide+xml"/>
  <Override PartName="/ppt/slides/slide23.xml" ContentType="application/vnd.openxmlformats-officedocument.presentationml.slide+xml"/>
  <Override PartName="/ppt/slides/slide22.xml" ContentType="application/vnd.openxmlformats-officedocument.presentationml.slide+xml"/>
  <Override PartName="/ppt/slides/slide5.xml" ContentType="application/vnd.openxmlformats-officedocument.presentationml.slide+xml"/>
  <Override PartName="/ppt/notesSlides/notesSlide12.xml" ContentType="application/vnd.openxmlformats-officedocument.presentationml.notesSlide+xml"/>
  <Override PartName="/ppt/notesSlides/notesSlide9.xml" ContentType="application/vnd.openxmlformats-officedocument.presentationml.notesSlide+xml"/>
  <Override PartName="/ppt/notesSlides/notesSlide5.xml" ContentType="application/vnd.openxmlformats-officedocument.presentationml.notesSlide+xml"/>
  <Override PartName="/ppt/notesSlides/notesSlide4.xml" ContentType="application/vnd.openxmlformats-officedocument.presentationml.notesSlide+xml"/>
  <Override PartName="/ppt/notesSlides/notesSlide23.xml" ContentType="application/vnd.openxmlformats-officedocument.presentationml.notesSlide+xml"/>
  <Override PartName="/ppt/notesSlides/notesSlide16.xml" ContentType="application/vnd.openxmlformats-officedocument.presentationml.notesSlide+xml"/>
  <Override PartName="/ppt/notesSlides/notesSlide7.xml" ContentType="application/vnd.openxmlformats-officedocument.presentationml.notesSlide+xml"/>
  <Override PartName="/ppt/notesSlides/notesSlide21.xml" ContentType="application/vnd.openxmlformats-officedocument.presentationml.notesSlide+xml"/>
  <Override PartName="/ppt/notesSlides/notesSlide10.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18.xml" ContentType="application/vnd.openxmlformats-officedocument.presentationml.notesSlide+xml"/>
  <Override PartName="/ppt/notesSlides/notesSlide17.xml" ContentType="application/vnd.openxmlformats-officedocument.presentationml.notesSlide+xml"/>
  <Override PartName="/ppt/notesSlides/notesSlide6.xml" ContentType="application/vnd.openxmlformats-officedocument.presentationml.notesSlide+xml"/>
  <Override PartName="/ppt/notesSlides/notesSlide22.xml" ContentType="application/vnd.openxmlformats-officedocument.presentationml.notesSlide+xml"/>
  <Override PartName="/ppt/notesSlides/notesSlide15.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11.xml" ContentType="application/vnd.openxmlformats-officedocument.presentationml.notesSlide+xml"/>
  <Override PartName="/ppt/notesSlides/notesSlide8.xml" ContentType="application/vnd.openxmlformats-officedocument.presentationml.notesSlide+xml"/>
  <Override PartName="/ppt/notesSlides/notesSlide3.xml" ContentType="application/vnd.openxmlformats-officedocument.presentationml.notesSlide+xml"/>
  <Override PartName="/ppt/notesSlides/notesSlide13.xml" ContentType="application/vnd.openxmlformats-officedocument.presentationml.notesSlide+xml"/>
  <Override PartName="/ppt/notesSlides/notesSlide1.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Lst>
  <p:sldSz cx="12192000" cy="6858000"/>
  <p:notesSz cx="6858000" cy="12192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 name="PlaceHolder 1"/>
          <p:cNvSpPr>
            <a:spLocks noGrp="1"/>
          </p:cNvSpPr>
          <p:nvPr>
            <p:ph type="sldImg"/>
          </p:nvPr>
        </p:nvSpPr>
        <p:spPr>
          <a:xfrm>
            <a:off x="533520" y="764280"/>
            <a:ext cx="6704640" cy="3771360"/>
          </a:xfrm>
          <a:prstGeom prst="rect">
            <a:avLst/>
          </a:prstGeom>
          <a:noFill/>
          <a:ln w="0">
            <a:noFill/>
          </a:ln>
        </p:spPr>
        <p:txBody>
          <a:bodyPr lIns="0" tIns="0" rIns="0" bIns="0" anchor="ctr">
            <a:noAutofit/>
          </a:bodyPr>
          <a:p>
            <a:r>
              <a:rPr lang="en-US" sz="1800" b="0" u="none" strike="noStrike">
                <a:solidFill>
                  <a:schemeClr val="dk1"/>
                </a:solidFill>
                <a:effectLst/>
                <a:uFillTx/>
                <a:latin typeface="Calibri"/>
              </a:rPr>
              <a:t>Click to move the slide</a:t>
            </a:r>
            <a:endParaRPr lang="en-US" sz="1800" b="0" u="none" strike="noStrike">
              <a:solidFill>
                <a:schemeClr val="dk1"/>
              </a:solidFill>
              <a:effectLst/>
              <a:uFillTx/>
              <a:latin typeface="Calibri"/>
            </a:endParaRPr>
          </a:p>
        </p:txBody>
      </p:sp>
      <p:sp>
        <p:nvSpPr>
          <p:cNvPr id="5" name="PlaceHolder 2"/>
          <p:cNvSpPr>
            <a:spLocks noGrp="1"/>
          </p:cNvSpPr>
          <p:nvPr>
            <p:ph type="body"/>
          </p:nvPr>
        </p:nvSpPr>
        <p:spPr>
          <a:xfrm>
            <a:off x="777240" y="4777560"/>
            <a:ext cx="6217560" cy="4525920"/>
          </a:xfrm>
          <a:prstGeom prst="rect">
            <a:avLst/>
          </a:prstGeom>
          <a:noFill/>
          <a:ln w="0">
            <a:noFill/>
          </a:ln>
        </p:spPr>
        <p:txBody>
          <a:bodyPr lIns="0" tIns="0" rIns="0" bIns="0" anchor="t">
            <a:noAutofit/>
          </a:bodyPr>
          <a:p>
            <a:pPr indent="0" algn="l">
              <a:buNone/>
            </a:pPr>
            <a:r>
              <a:rPr lang="en-US" sz="2000" b="0" u="none" strike="noStrike">
                <a:solidFill>
                  <a:srgbClr val="000000"/>
                </a:solidFill>
                <a:effectLst/>
                <a:uFillTx/>
                <a:latin typeface="Arial"/>
              </a:rPr>
              <a:t>Click to edit the notes format</a:t>
            </a:r>
            <a:endParaRPr lang="en-US" sz="2000" b="0" u="none" strike="noStrike">
              <a:solidFill>
                <a:srgbClr val="000000"/>
              </a:solidFill>
              <a:effectLst/>
              <a:uFillTx/>
              <a:latin typeface="Arial"/>
            </a:endParaRPr>
          </a:p>
        </p:txBody>
      </p:sp>
      <p:sp>
        <p:nvSpPr>
          <p:cNvPr id="6" name="PlaceHolder 3"/>
          <p:cNvSpPr>
            <a:spLocks noGrp="1"/>
          </p:cNvSpPr>
          <p:nvPr>
            <p:ph type="hdr"/>
          </p:nvPr>
        </p:nvSpPr>
        <p:spPr>
          <a:xfrm>
            <a:off x="0" y="0"/>
            <a:ext cx="3372840" cy="502560"/>
          </a:xfrm>
          <a:prstGeom prst="rect">
            <a:avLst/>
          </a:prstGeom>
          <a:noFill/>
          <a:ln w="0">
            <a:noFill/>
          </a:ln>
        </p:spPr>
        <p:txBody>
          <a:bodyPr lIns="0" tIns="0" rIns="0" bIns="0" anchor="t">
            <a:noAutofit/>
          </a:bodyPr>
          <a:p>
            <a:pPr indent="0" algn="l">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7" name="PlaceHolder 4"/>
          <p:cNvSpPr>
            <a:spLocks noGrp="1"/>
          </p:cNvSpPr>
          <p:nvPr>
            <p:ph type="dt" idx="1"/>
          </p:nvPr>
        </p:nvSpPr>
        <p:spPr>
          <a:xfrm>
            <a:off x="4399200" y="0"/>
            <a:ext cx="3372840" cy="50256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8" name="PlaceHolder 5"/>
          <p:cNvSpPr>
            <a:spLocks noGrp="1"/>
          </p:cNvSpPr>
          <p:nvPr>
            <p:ph type="ftr" idx="2"/>
          </p:nvPr>
        </p:nvSpPr>
        <p:spPr>
          <a:xfrm>
            <a:off x="0" y="9555480"/>
            <a:ext cx="3372840" cy="50256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9" name="PlaceHolder 6"/>
          <p:cNvSpPr>
            <a:spLocks noGrp="1"/>
          </p:cNvSpPr>
          <p:nvPr>
            <p:ph type="sldNum" idx="3"/>
          </p:nvPr>
        </p:nvSpPr>
        <p:spPr>
          <a:xfrm>
            <a:off x="4399200" y="9555480"/>
            <a:ext cx="3372840" cy="50256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0DFDD5D2-A27E-4217-8F96-D2440B54BD1E}" type="slidenum">
              <a:rPr lang="en-US" sz="1400" b="0" u="none" strike="noStrike">
                <a:solidFill>
                  <a:srgbClr val="000000"/>
                </a:solidFill>
                <a:effectLst/>
                <a:uFillTx/>
                <a:latin typeface="Times New Roman"/>
              </a:rPr>
              <a:t>1</a:t>
            </a:fld>
            <a:endParaRPr lang="en-US"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1" name="PlaceHolder 1"/>
          <p:cNvSpPr>
            <a:spLocks noGrp="1"/>
          </p:cNvSpPr>
          <p:nvPr>
            <p:ph type="sldImg"/>
          </p:nvPr>
        </p:nvSpPr>
        <p:spPr>
          <a:xfrm>
            <a:off x="685800" y="1143000"/>
            <a:ext cx="5486040" cy="3085920"/>
          </a:xfrm>
          <a:prstGeom prst="rect">
            <a:avLst/>
          </a:prstGeom>
          <a:ln w="0">
            <a:noFill/>
          </a:ln>
        </p:spPr>
      </p:sp>
      <p:sp>
        <p:nvSpPr>
          <p:cNvPr id="45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Dos minutos. Encuadre para este grupo: son economistas, dominan la estadistica, asi que hoy no ensenamos ponderacion ni inferencia desde cero. El tema es como un asistente de IA aplica esos metodos sobre datos de encuesta, y como se equivoca con total seguridad. Tres trampas clasicas: promediar sin ponderar, reportar el error estandar ingenuo, y leer el agregado cuando los subgrupos dicen lo contrario. Todas caben en un mismo analisis, y lo vamos a ver. Terminamos 13:30.</a:t>
            </a:r>
            <a:endParaRPr lang="en-US" sz="2000" b="0" u="none" strike="noStrike">
              <a:solidFill>
                <a:srgbClr val="000000"/>
              </a:solidFill>
              <a:effectLst/>
              <a:uFillTx/>
              <a:latin typeface="Arial"/>
            </a:endParaRPr>
          </a:p>
        </p:txBody>
      </p:sp>
      <p:sp>
        <p:nvSpPr>
          <p:cNvPr id="453" name="PlaceHolder 3"/>
          <p:cNvSpPr>
            <a:spLocks noGrp="1"/>
          </p:cNvSpPr>
          <p:nvPr>
            <p:ph type="sldNum" idx="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51E16483-EA43-4C15-A08F-6AF7D0D71DFC}"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4" name="PlaceHolder 1"/>
          <p:cNvSpPr>
            <a:spLocks noGrp="1"/>
          </p:cNvSpPr>
          <p:nvPr>
            <p:ph type="sldImg"/>
          </p:nvPr>
        </p:nvSpPr>
        <p:spPr>
          <a:xfrm>
            <a:off x="685800" y="1143000"/>
            <a:ext cx="5486040" cy="3085920"/>
          </a:xfrm>
          <a:prstGeom prst="rect">
            <a:avLst/>
          </a:prstGeom>
          <a:ln w="0">
            <a:noFill/>
          </a:ln>
        </p:spPr>
      </p:sp>
      <p:sp>
        <p:nvSpPr>
          <p:cNvPr id="45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Dos minutos. Novedad de formato para estas tres sesiones: el concepto y una demo corta en clase, y la practica a fondo se va de tarea, un R Markdown por sesion. Con tres temas avanzados no cabe un laboratorio largo en 2.5 horas. Si va retrasado, acorte la sintesis, no los tres bloques de concepto. La 9 sera el laboratorio aplicado completo.</a:t>
            </a:r>
            <a:endParaRPr lang="en-US" sz="2000" b="0" u="none" strike="noStrike">
              <a:solidFill>
                <a:srgbClr val="000000"/>
              </a:solidFill>
              <a:effectLst/>
              <a:uFillTx/>
              <a:latin typeface="Arial"/>
            </a:endParaRPr>
          </a:p>
        </p:txBody>
      </p:sp>
      <p:sp>
        <p:nvSpPr>
          <p:cNvPr id="456" name="PlaceHolder 3"/>
          <p:cNvSpPr>
            <a:spLocks noGrp="1"/>
          </p:cNvSpPr>
          <p:nvPr>
            <p:ph type="sldNum" idx="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424E2D7F-BC9C-43B8-965D-616693E678FA}"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7" name="PlaceHolder 1"/>
          <p:cNvSpPr>
            <a:spLocks noGrp="1"/>
          </p:cNvSpPr>
          <p:nvPr>
            <p:ph type="sldImg"/>
          </p:nvPr>
        </p:nvSpPr>
        <p:spPr>
          <a:xfrm>
            <a:off x="685800" y="1143000"/>
            <a:ext cx="5486040" cy="3085920"/>
          </a:xfrm>
          <a:prstGeom prst="rect">
            <a:avLst/>
          </a:prstGeom>
          <a:ln w="0">
            <a:noFill/>
          </a:ln>
        </p:spPr>
      </p:sp>
      <p:sp>
        <p:nvSpPr>
          <p:cNvPr id="45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Seis minutos. Este es el nucleo del bloque 1 y aplica igual a Copilot en Excel que a un prompt de codigo. Lea el prompt vago y pregunte al grupo: cuantas decisiones esta tomando la IA por nosotros. Salen facil cuatro o cinco. El prompt preciso las cierra todas. La leccion: la ambiguedad no truena, se convierte en supuestos invisibles. Un buen prompt cuantitativo nombra columnas, fija la unidad, dice que hacer con lo invalido y pide una salida concreta.</a:t>
            </a:r>
            <a:endParaRPr lang="en-US" sz="2000" b="0" u="none" strike="noStrike">
              <a:solidFill>
                <a:srgbClr val="000000"/>
              </a:solidFill>
              <a:effectLst/>
              <a:uFillTx/>
              <a:latin typeface="Arial"/>
            </a:endParaRPr>
          </a:p>
        </p:txBody>
      </p:sp>
      <p:sp>
        <p:nvSpPr>
          <p:cNvPr id="459" name="PlaceHolder 3"/>
          <p:cNvSpPr>
            <a:spLocks noGrp="1"/>
          </p:cNvSpPr>
          <p:nvPr>
            <p:ph type="sldNum" idx="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8CCA1EC4-0ADD-4C06-93B3-3810E0226A85}"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0" name="PlaceHolder 1"/>
          <p:cNvSpPr>
            <a:spLocks noGrp="1"/>
          </p:cNvSpPr>
          <p:nvPr>
            <p:ph type="sldImg"/>
          </p:nvPr>
        </p:nvSpPr>
        <p:spPr>
          <a:xfrm>
            <a:off x="685800" y="1143000"/>
            <a:ext cx="5486040" cy="3085920"/>
          </a:xfrm>
          <a:prstGeom prst="rect">
            <a:avLst/>
          </a:prstGeom>
          <a:ln w="0">
            <a:noFill/>
          </a:ln>
        </p:spPr>
      </p:sp>
      <p:sp>
        <p:nvSpPr>
          <p:cNvPr id="46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Cuatro minutos, el mapa del dia. La frase ancla: un estimador que corre no es uno correcto. Aclare que no es que la IA sepa menos estadistica que ellos; es que aplica el default, y el default asume una muestra simple, independiente y homogenea, que una encuesta real no es. Las tres tarjetas son los tres bloques y, spoiler, los tres errores caben en un mismo analisis que veremos en la sintesis.</a:t>
            </a:r>
            <a:endParaRPr lang="en-US" sz="2000" b="0" u="none" strike="noStrike">
              <a:solidFill>
                <a:srgbClr val="000000"/>
              </a:solidFill>
              <a:effectLst/>
              <a:uFillTx/>
              <a:latin typeface="Arial"/>
            </a:endParaRPr>
          </a:p>
        </p:txBody>
      </p:sp>
      <p:sp>
        <p:nvSpPr>
          <p:cNvPr id="462" name="PlaceHolder 3"/>
          <p:cNvSpPr>
            <a:spLocks noGrp="1"/>
          </p:cNvSpPr>
          <p:nvPr>
            <p:ph type="sldNum" idx="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EE7C6FA2-75FB-4023-8D32-6BFDAAED06A1}"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3" name="PlaceHolder 1"/>
          <p:cNvSpPr>
            <a:spLocks noGrp="1"/>
          </p:cNvSpPr>
          <p:nvPr>
            <p:ph type="sldImg"/>
          </p:nvPr>
        </p:nvSpPr>
        <p:spPr>
          <a:xfrm>
            <a:off x="685800" y="1143000"/>
            <a:ext cx="5486040" cy="3085920"/>
          </a:xfrm>
          <a:prstGeom prst="rect">
            <a:avLst/>
          </a:prstGeom>
          <a:ln w="0">
            <a:noFill/>
          </a:ln>
        </p:spPr>
      </p:sp>
      <p:sp>
        <p:nvSpPr>
          <p:cNvPr id="46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Tres minutos, y es la lamina que faltaba. Presente aqui, una sola vez, el microdato que usan los tres bloques y la tarea. Es un archivo, ficticio, con forma de encuesta: 400 hogares repartidos en estratos de marginacion, agrupados en UPM, cada uno con su factor de expansion. Cinco variables: estrato, la UPM y el factor que definen el diseno, el ingreso del hogar, si recibe el programa (el tratamiento, 0 o 1) y el score, un indice de resultado de 0 a 100, piensen seguridad alimentaria. El Bloque 1 mira el ingreso; los Bloques 2 y 3 miran el efecto del programa sobre el score. Recalque que es la misma base de la tarea, para que cuando aparezca el programa y el score mas adelante ya sepan que son, y para que la sintesis se entienda: son literalmente los mismos renglones.</a:t>
            </a:r>
            <a:endParaRPr lang="en-US" sz="2000" b="0" u="none" strike="noStrike">
              <a:solidFill>
                <a:srgbClr val="000000"/>
              </a:solidFill>
              <a:effectLst/>
              <a:uFillTx/>
              <a:latin typeface="Arial"/>
            </a:endParaRPr>
          </a:p>
        </p:txBody>
      </p:sp>
      <p:sp>
        <p:nvSpPr>
          <p:cNvPr id="465" name="PlaceHolder 3"/>
          <p:cNvSpPr>
            <a:spLocks noGrp="1"/>
          </p:cNvSpPr>
          <p:nvPr>
            <p:ph type="sldNum" idx="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229F3420-1D59-433A-B336-ABBCF5FAA438}"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6" name="PlaceHolder 1"/>
          <p:cNvSpPr>
            <a:spLocks noGrp="1"/>
          </p:cNvSpPr>
          <p:nvPr>
            <p:ph type="sldImg"/>
          </p:nvPr>
        </p:nvSpPr>
        <p:spPr>
          <a:xfrm>
            <a:off x="685800" y="1143000"/>
            <a:ext cx="5486040" cy="3085920"/>
          </a:xfrm>
          <a:prstGeom prst="rect">
            <a:avLst/>
          </a:prstGeom>
          <a:ln w="0">
            <a:noFill/>
          </a:ln>
        </p:spPr>
      </p:sp>
      <p:sp>
        <p:nvSpPr>
          <p:cNvPr id="46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Divisor, un minuto. Unos 28 minutos al receso. La idea: en una encuesta cada registro representa a un numero distinto de unidades, y promediar crudo trata a todos igual.</a:t>
            </a:r>
            <a:endParaRPr lang="en-US" sz="2000" b="0" u="none" strike="noStrike">
              <a:solidFill>
                <a:srgbClr val="000000"/>
              </a:solidFill>
              <a:effectLst/>
              <a:uFillTx/>
              <a:latin typeface="Arial"/>
            </a:endParaRPr>
          </a:p>
        </p:txBody>
      </p:sp>
      <p:sp>
        <p:nvSpPr>
          <p:cNvPr id="468" name="PlaceHolder 3"/>
          <p:cNvSpPr>
            <a:spLocks noGrp="1"/>
          </p:cNvSpPr>
          <p:nvPr>
            <p:ph type="sldNum" idx="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1A5168FB-ECB4-4B64-B4E1-9AF0E6211876}"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9" name="PlaceHolder 1"/>
          <p:cNvSpPr>
            <a:spLocks noGrp="1"/>
          </p:cNvSpPr>
          <p:nvPr>
            <p:ph type="sldImg"/>
          </p:nvPr>
        </p:nvSpPr>
        <p:spPr>
          <a:xfrm>
            <a:off x="685800" y="1143000"/>
            <a:ext cx="5486040" cy="3085920"/>
          </a:xfrm>
          <a:prstGeom prst="rect">
            <a:avLst/>
          </a:prstGeom>
          <a:ln w="0">
            <a:noFill/>
          </a:ln>
        </p:spPr>
      </p:sp>
      <p:sp>
        <p:nvSpPr>
          <p:cNvPr id="47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Un minuto, la ficha del bloque. Fije las coordenadas antes de entrar al concepto: la columna es ingreso, la operacion es la media, y lo que vamos a contrastar es el promedio crudo contra el ponderado. Con esto no tienen que regresar al slide del microdato para ubicarse.</a:t>
            </a:r>
            <a:endParaRPr lang="en-US" sz="2000" b="0" u="none" strike="noStrike">
              <a:solidFill>
                <a:srgbClr val="000000"/>
              </a:solidFill>
              <a:effectLst/>
              <a:uFillTx/>
              <a:latin typeface="Arial"/>
            </a:endParaRPr>
          </a:p>
        </p:txBody>
      </p:sp>
      <p:sp>
        <p:nvSpPr>
          <p:cNvPr id="471" name="PlaceHolder 3"/>
          <p:cNvSpPr>
            <a:spLocks noGrp="1"/>
          </p:cNvSpPr>
          <p:nvPr>
            <p:ph type="sldNum" idx="1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63CEAD4C-20D2-4C94-8629-689ACA57402B}"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2" name="PlaceHolder 1"/>
          <p:cNvSpPr>
            <a:spLocks noGrp="1"/>
          </p:cNvSpPr>
          <p:nvPr>
            <p:ph type="sldImg"/>
          </p:nvPr>
        </p:nvSpPr>
        <p:spPr>
          <a:xfrm>
            <a:off x="685800" y="1143000"/>
            <a:ext cx="5486040" cy="3085920"/>
          </a:xfrm>
          <a:prstGeom prst="rect">
            <a:avLst/>
          </a:prstGeom>
          <a:ln w="0">
            <a:noFill/>
          </a:ln>
        </p:spPr>
      </p:sp>
      <p:sp>
        <p:nvSpPr>
          <p:cNvPr id="47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Cinco minutos. Publico que ya sabe esto, asi que vaya rapido y aterrice en el punto de IA: el factor de expansion no es un adorno, es lo que convierte muestra en poblacion. El default de un asistente es mean(columna), que asume que todos pesan igual. En una encuesta con diseno estratificado eso da el promedio de la muestra, no el poblacional. La lamina que sigue lo cuantifica.</a:t>
            </a:r>
            <a:endParaRPr lang="en-US" sz="2000" b="0" u="none" strike="noStrike">
              <a:solidFill>
                <a:srgbClr val="000000"/>
              </a:solidFill>
              <a:effectLst/>
              <a:uFillTx/>
              <a:latin typeface="Arial"/>
            </a:endParaRPr>
          </a:p>
        </p:txBody>
      </p:sp>
      <p:sp>
        <p:nvSpPr>
          <p:cNvPr id="474" name="PlaceHolder 3"/>
          <p:cNvSpPr>
            <a:spLocks noGrp="1"/>
          </p:cNvSpPr>
          <p:nvPr>
            <p:ph type="sldNum" idx="1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F5A24BBB-B6A4-4501-9E75-046C7402F506}"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5" name="PlaceHolder 1"/>
          <p:cNvSpPr>
            <a:spLocks noGrp="1"/>
          </p:cNvSpPr>
          <p:nvPr>
            <p:ph type="sldImg"/>
          </p:nvPr>
        </p:nvSpPr>
        <p:spPr>
          <a:xfrm>
            <a:off x="685800" y="1143000"/>
            <a:ext cx="5486040" cy="3085920"/>
          </a:xfrm>
          <a:prstGeom prst="rect">
            <a:avLst/>
          </a:prstGeom>
          <a:ln w="0">
            <a:noFill/>
          </a:ln>
        </p:spPr>
      </p:sp>
      <p:sp>
        <p:nvSpPr>
          <p:cNvPr id="47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Seis minutos, primera lamina insignia. La tabla cuenta la historia: la muestra tiene 50% de Alta marginacion pero la poblacion solo 30%, porque se sobre-muestreo ese estrato por diseno. Como Alta es el de menor ingreso (4,192), el promedio crudo se va hacia abajo: 6,949. El ponderado, que usa los factores de expansion, recupera el poblacional: 8,328. Diferencia de 16.6%, en la direccion que importa. El punto de IA: mean() no esta roto, esta respondiendo otra pregunta. Hay que nombrarle el diseno.</a:t>
            </a:r>
            <a:endParaRPr lang="en-US" sz="2000" b="0" u="none" strike="noStrike">
              <a:solidFill>
                <a:srgbClr val="000000"/>
              </a:solidFill>
              <a:effectLst/>
              <a:uFillTx/>
              <a:latin typeface="Arial"/>
            </a:endParaRPr>
          </a:p>
        </p:txBody>
      </p:sp>
      <p:sp>
        <p:nvSpPr>
          <p:cNvPr id="477" name="PlaceHolder 3"/>
          <p:cNvSpPr>
            <a:spLocks noGrp="1"/>
          </p:cNvSpPr>
          <p:nvPr>
            <p:ph type="sldNum" idx="1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8545C9B7-1C4A-4FFC-8420-418241036230}"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8" name="PlaceHolder 1"/>
          <p:cNvSpPr>
            <a:spLocks noGrp="1"/>
          </p:cNvSpPr>
          <p:nvPr>
            <p:ph type="sldImg"/>
          </p:nvPr>
        </p:nvSpPr>
        <p:spPr>
          <a:xfrm>
            <a:off x="685800" y="1143000"/>
            <a:ext cx="5486040" cy="3085920"/>
          </a:xfrm>
          <a:prstGeom prst="rect">
            <a:avLst/>
          </a:prstGeom>
          <a:ln w="0">
            <a:noFill/>
          </a:ln>
        </p:spPr>
      </p:sp>
      <p:sp>
        <p:nvSpPr>
          <p:cNvPr id="47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Divisor, un minuto. El estimador es una variable aleatoria; el error estandar dice cuanto podria cambiar. El default asume independencia que los datos de encuesta no tienen.</a:t>
            </a:r>
            <a:endParaRPr lang="en-US" sz="2000" b="0" u="none" strike="noStrike">
              <a:solidFill>
                <a:srgbClr val="000000"/>
              </a:solidFill>
              <a:effectLst/>
              <a:uFillTx/>
              <a:latin typeface="Arial"/>
            </a:endParaRPr>
          </a:p>
        </p:txBody>
      </p:sp>
      <p:sp>
        <p:nvSpPr>
          <p:cNvPr id="480" name="PlaceHolder 3"/>
          <p:cNvSpPr>
            <a:spLocks noGrp="1"/>
          </p:cNvSpPr>
          <p:nvPr>
            <p:ph type="sldNum" idx="1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2A71129D-F4B7-4393-AA22-0F62CE374F53}"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1" name="PlaceHolder 1"/>
          <p:cNvSpPr>
            <a:spLocks noGrp="1"/>
          </p:cNvSpPr>
          <p:nvPr>
            <p:ph type="sldImg"/>
          </p:nvPr>
        </p:nvSpPr>
        <p:spPr>
          <a:xfrm>
            <a:off x="685800" y="1143000"/>
            <a:ext cx="5486040" cy="3085920"/>
          </a:xfrm>
          <a:prstGeom prst="rect">
            <a:avLst/>
          </a:prstGeom>
          <a:ln w="0">
            <a:noFill/>
          </a:ln>
        </p:spPr>
      </p:sp>
      <p:sp>
        <p:nvSpPr>
          <p:cNvPr id="48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Un minuto, la ficha del bloque, y aqui se fija el estimando que faltaba nombrar: la diferencia de medias en score entre programa 1 y 0, que es el coeficiente de lm(score ~ programa), menos 4.5. El bloque 2 mide la incertidumbre de ESE numero: EE clasico contra por conglomerado. Ojo, es el mismo numero que el bloque 3 mira por su signo.</a:t>
            </a:r>
            <a:endParaRPr lang="en-US" sz="2000" b="0" u="none" strike="noStrike">
              <a:solidFill>
                <a:srgbClr val="000000"/>
              </a:solidFill>
              <a:effectLst/>
              <a:uFillTx/>
              <a:latin typeface="Arial"/>
            </a:endParaRPr>
          </a:p>
        </p:txBody>
      </p:sp>
      <p:sp>
        <p:nvSpPr>
          <p:cNvPr id="483" name="PlaceHolder 3"/>
          <p:cNvSpPr>
            <a:spLocks noGrp="1"/>
          </p:cNvSpPr>
          <p:nvPr>
            <p:ph type="sldNum" idx="1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532723C8-9DEF-4EE7-9434-E56DDF64E0B3}"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4" name="PlaceHolder 1"/>
          <p:cNvSpPr>
            <a:spLocks noGrp="1"/>
          </p:cNvSpPr>
          <p:nvPr>
            <p:ph type="sldImg"/>
          </p:nvPr>
        </p:nvSpPr>
        <p:spPr>
          <a:xfrm>
            <a:off x="685800" y="1143000"/>
            <a:ext cx="5486040" cy="3085920"/>
          </a:xfrm>
          <a:prstGeom prst="rect">
            <a:avLst/>
          </a:prstGeom>
          <a:ln w="0">
            <a:noFill/>
          </a:ln>
        </p:spPr>
      </p:sp>
      <p:sp>
        <p:nvSpPr>
          <p:cNvPr id="48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Cinco minutos. De nuevo, publico que sabe inferencia, asi que el foco es el default. El error estandar clasico asume observaciones independientes e identicas. En una encuesta por conglomerados eso se rompe: hogares del mismo bloque estan correlacionados, aportan menos informacion, y el EE clasico lo ignora y sale muy chico. Resultado: falsa precision. Tambien menciono el borrado por lista: dropna silencioso cambia la muestra. La lamina que sigue lo pone en numeros.</a:t>
            </a:r>
            <a:endParaRPr lang="en-US" sz="2000" b="0" u="none" strike="noStrike">
              <a:solidFill>
                <a:srgbClr val="000000"/>
              </a:solidFill>
              <a:effectLst/>
              <a:uFillTx/>
              <a:latin typeface="Arial"/>
            </a:endParaRPr>
          </a:p>
        </p:txBody>
      </p:sp>
      <p:sp>
        <p:nvSpPr>
          <p:cNvPr id="486" name="PlaceHolder 3"/>
          <p:cNvSpPr>
            <a:spLocks noGrp="1"/>
          </p:cNvSpPr>
          <p:nvPr>
            <p:ph type="sldNum" idx="1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DE5DD348-AE50-4476-AF6C-E6083DFBC145}"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7" name="PlaceHolder 1"/>
          <p:cNvSpPr>
            <a:spLocks noGrp="1"/>
          </p:cNvSpPr>
          <p:nvPr>
            <p:ph type="sldImg"/>
          </p:nvPr>
        </p:nvSpPr>
        <p:spPr>
          <a:xfrm>
            <a:off x="685800" y="1143000"/>
            <a:ext cx="5486040" cy="3085920"/>
          </a:xfrm>
          <a:prstGeom prst="rect">
            <a:avLst/>
          </a:prstGeom>
          <a:ln w="0">
            <a:noFill/>
          </a:ln>
        </p:spPr>
      </p:sp>
      <p:sp>
        <p:nvSpPr>
          <p:cNvPr id="48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Seis minutos. El punto estimado es identico, menos 4.5 puntos; lo unico que cambia es el error estandar. El clasico, el que sale por default en lm() y summary(), dice 1.46 y p de 0.002: parece solidisimo. El correcto por conglomerado dice 2.19 y p de 0.049: al filo. Un tercio mas de incertidumbre que el default escondia. La leccion: correr la regresion es trivial; saber que el EE clasico esta mal para datos por conglomerado es el trabajo. Un asistente moderno muchas veces ya conglomera, pero hay que verificarlo. Y ojo, ese menos 4.5 lo retomamos en el bloque 3, porque ademas tiene el signo equivocado.</a:t>
            </a:r>
            <a:endParaRPr lang="en-US" sz="2000" b="0" u="none" strike="noStrike">
              <a:solidFill>
                <a:srgbClr val="000000"/>
              </a:solidFill>
              <a:effectLst/>
              <a:uFillTx/>
              <a:latin typeface="Arial"/>
            </a:endParaRPr>
          </a:p>
        </p:txBody>
      </p:sp>
      <p:sp>
        <p:nvSpPr>
          <p:cNvPr id="489" name="PlaceHolder 3"/>
          <p:cNvSpPr>
            <a:spLocks noGrp="1"/>
          </p:cNvSpPr>
          <p:nvPr>
            <p:ph type="sldNum" idx="1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118DEFE9-BF41-4908-AE90-89F1E5397344}"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0" name="PlaceHolder 1"/>
          <p:cNvSpPr>
            <a:spLocks noGrp="1"/>
          </p:cNvSpPr>
          <p:nvPr>
            <p:ph type="sldImg"/>
          </p:nvPr>
        </p:nvSpPr>
        <p:spPr>
          <a:xfrm>
            <a:off x="685800" y="1143000"/>
            <a:ext cx="5486040" cy="3085920"/>
          </a:xfrm>
          <a:prstGeom prst="rect">
            <a:avLst/>
          </a:prstGeom>
          <a:ln w="0">
            <a:noFill/>
          </a:ln>
        </p:spPr>
      </p:sp>
      <p:sp>
        <p:nvSpPr>
          <p:cNvPr id="49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Divisor, un minuto. La paradoja de Simpson: el numero agregado puede decir lo contrario que cada subgrupo, cuando un confusor esta mal repartido. Es la trampa central de evaluar politica.</a:t>
            </a:r>
            <a:endParaRPr lang="en-US" sz="2000" b="0" u="none" strike="noStrike">
              <a:solidFill>
                <a:srgbClr val="000000"/>
              </a:solidFill>
              <a:effectLst/>
              <a:uFillTx/>
              <a:latin typeface="Arial"/>
            </a:endParaRPr>
          </a:p>
        </p:txBody>
      </p:sp>
      <p:sp>
        <p:nvSpPr>
          <p:cNvPr id="492" name="PlaceHolder 3"/>
          <p:cNvSpPr>
            <a:spLocks noGrp="1"/>
          </p:cNvSpPr>
          <p:nvPr>
            <p:ph type="sldNum" idx="1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49C9D572-9F7E-4762-A720-2E2C67005DDF}"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3" name="PlaceHolder 1"/>
          <p:cNvSpPr>
            <a:spLocks noGrp="1"/>
          </p:cNvSpPr>
          <p:nvPr>
            <p:ph type="sldImg"/>
          </p:nvPr>
        </p:nvSpPr>
        <p:spPr>
          <a:xfrm>
            <a:off x="685800" y="1143000"/>
            <a:ext cx="5486040" cy="3085920"/>
          </a:xfrm>
          <a:prstGeom prst="rect">
            <a:avLst/>
          </a:prstGeom>
          <a:ln w="0">
            <a:noFill/>
          </a:ln>
        </p:spPr>
      </p:sp>
      <p:sp>
        <p:nvSpPr>
          <p:cNvPr id="49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Un minuto, la ficha del bloque. Las columnas son las mismas dos mas estrato, el confusor. La operacion es la misma diferencia de medias, pero dentro de cada estrato. Y el contraste es el efecto agregado contra el de cada subgrupo. Enfatice la continuidad: es el mismo numero del bloque 2, ahora visto por su signo.</a:t>
            </a:r>
            <a:endParaRPr lang="en-US" sz="2000" b="0" u="none" strike="noStrike">
              <a:solidFill>
                <a:srgbClr val="000000"/>
              </a:solidFill>
              <a:effectLst/>
              <a:uFillTx/>
              <a:latin typeface="Arial"/>
            </a:endParaRPr>
          </a:p>
        </p:txBody>
      </p:sp>
      <p:sp>
        <p:nvSpPr>
          <p:cNvPr id="495" name="PlaceHolder 3"/>
          <p:cNvSpPr>
            <a:spLocks noGrp="1"/>
          </p:cNvSpPr>
          <p:nvPr>
            <p:ph type="sldNum" idx="1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08B5D31C-74BB-4246-8B6D-AD923E5AEB13}"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6" name="PlaceHolder 1"/>
          <p:cNvSpPr>
            <a:spLocks noGrp="1"/>
          </p:cNvSpPr>
          <p:nvPr>
            <p:ph type="sldImg"/>
          </p:nvPr>
        </p:nvSpPr>
        <p:spPr>
          <a:xfrm>
            <a:off x="685800" y="1143000"/>
            <a:ext cx="5486040" cy="3085920"/>
          </a:xfrm>
          <a:prstGeom prst="rect">
            <a:avLst/>
          </a:prstGeom>
          <a:ln w="0">
            <a:noFill/>
          </a:ln>
        </p:spPr>
      </p:sp>
      <p:sp>
        <p:nvSpPr>
          <p:cNvPr id="49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Cinco minutos. Publico que conoce Simpson, asi que el enfasis es su ubicuidad en evaluacion y el rol de la IA. La mecanica: un confusor mal repartido, aqui el estrato de marginacion. Los programas se focalizan en los mas necesitados, que parten de una base mas baja; comparar crudo mezcla el efecto del programa con la diferencia de base. La IA entrega el agregado sin chistar; preguntar por el confusor que falta es trabajo humano. La lamina que sigue lo muestra con nuestros datos.</a:t>
            </a:r>
            <a:endParaRPr lang="en-US" sz="2000" b="0" u="none" strike="noStrike">
              <a:solidFill>
                <a:srgbClr val="000000"/>
              </a:solidFill>
              <a:effectLst/>
              <a:uFillTx/>
              <a:latin typeface="Arial"/>
            </a:endParaRPr>
          </a:p>
        </p:txBody>
      </p:sp>
      <p:sp>
        <p:nvSpPr>
          <p:cNvPr id="498" name="PlaceHolder 3"/>
          <p:cNvSpPr>
            <a:spLocks noGrp="1"/>
          </p:cNvSpPr>
          <p:nvPr>
            <p:ph type="sldNum" idx="1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E75D6744-8D5D-4565-8E48-79C5E628586B}"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9" name="PlaceHolder 1"/>
          <p:cNvSpPr>
            <a:spLocks noGrp="1"/>
          </p:cNvSpPr>
          <p:nvPr>
            <p:ph type="sldImg"/>
          </p:nvPr>
        </p:nvSpPr>
        <p:spPr>
          <a:xfrm>
            <a:off x="685800" y="1143000"/>
            <a:ext cx="5486040" cy="3085920"/>
          </a:xfrm>
          <a:prstGeom prst="rect">
            <a:avLst/>
          </a:prstGeom>
          <a:ln w="0">
            <a:noFill/>
          </a:ln>
        </p:spPr>
      </p:sp>
      <p:sp>
        <p:nvSpPr>
          <p:cNvPr id="50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Seis minutos, y es el golpe de la sesion, en vivo. Antes de esta lamina, corra el asistente en clase pidiendole codigo para ver si el programa sube o baja el score: es donde de verdad falla, no como en los bloques 1 y 2. En nuestra prueba, DeepSeek-V3.2 ponderó y conglomeró bien (hizo lo mecanico correcto) y aun asi su codigo imprimio la conclusion equivocada: score significativamente menor. La tabla por estrato muestra lo contrario: mas 11 en Alta, mas 11 en Media, mas 12 en Baja. Por que se voltea: 165 de 232 tratados estan en Alta marginacion, el estrato de menor base; ese peso hunde el promedio de los tratados. El agregado confunde el efecto del programa con la diferencia de base entre estratos. La moraleja del dia: lo que faltó no era saber estadistica, el modelo la sabe; era saber que el programa se focalizo en Alta marginacion. Ese contexto es de ustedes, y no se delega.</a:t>
            </a:r>
            <a:endParaRPr lang="en-US" sz="2000" b="0" u="none" strike="noStrike">
              <a:solidFill>
                <a:srgbClr val="000000"/>
              </a:solidFill>
              <a:effectLst/>
              <a:uFillTx/>
              <a:latin typeface="Arial"/>
            </a:endParaRPr>
          </a:p>
        </p:txBody>
      </p:sp>
      <p:sp>
        <p:nvSpPr>
          <p:cNvPr id="501" name="PlaceHolder 3"/>
          <p:cNvSpPr>
            <a:spLocks noGrp="1"/>
          </p:cNvSpPr>
          <p:nvPr>
            <p:ph type="sldNum" idx="2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1BD6D068-0670-46F7-A843-4E86D3EBDC62}"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2" name="PlaceHolder 1"/>
          <p:cNvSpPr>
            <a:spLocks noGrp="1"/>
          </p:cNvSpPr>
          <p:nvPr>
            <p:ph type="sldImg"/>
          </p:nvPr>
        </p:nvSpPr>
        <p:spPr>
          <a:xfrm>
            <a:off x="685800" y="1143000"/>
            <a:ext cx="5486040" cy="3085920"/>
          </a:xfrm>
          <a:prstGeom prst="rect">
            <a:avLst/>
          </a:prstGeom>
          <a:ln w="0">
            <a:noFill/>
          </a:ln>
        </p:spPr>
      </p:sp>
      <p:sp>
        <p:nvSpPr>
          <p:cNvPr id="50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Cinco minutos, lamina de pago. Es el amarre de los tres bloques en un solo analisis. El mismo lm(score ~ programa) que la IA escribe sin pensar tiene el signo mal por Simpson, la precision inflada por ignorar conglomerados, y si fuera una media estaria sin ponderar. Las tres correcciones son ponderar, estratificar, conglomerar. Repita el mensaje de fondo: no es deficit de conocimiento de la IA, es el default, que asume una muestra que la encuesta no es. Por eso hay que nombrarle el diseno, que es justo la siguiente lamina.</a:t>
            </a:r>
            <a:endParaRPr lang="en-US" sz="2000" b="0" u="none" strike="noStrike">
              <a:solidFill>
                <a:srgbClr val="000000"/>
              </a:solidFill>
              <a:effectLst/>
              <a:uFillTx/>
              <a:latin typeface="Arial"/>
            </a:endParaRPr>
          </a:p>
        </p:txBody>
      </p:sp>
      <p:sp>
        <p:nvSpPr>
          <p:cNvPr id="504" name="PlaceHolder 3"/>
          <p:cNvSpPr>
            <a:spLocks noGrp="1"/>
          </p:cNvSpPr>
          <p:nvPr>
            <p:ph type="sldNum" idx="2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F9B4A95F-1754-416C-B8A6-FF750BF96811}"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5" name="PlaceHolder 1"/>
          <p:cNvSpPr>
            <a:spLocks noGrp="1"/>
          </p:cNvSpPr>
          <p:nvPr>
            <p:ph type="sldImg"/>
          </p:nvPr>
        </p:nvSpPr>
        <p:spPr>
          <a:xfrm>
            <a:off x="685800" y="1143000"/>
            <a:ext cx="5486040" cy="3085920"/>
          </a:xfrm>
          <a:prstGeom prst="rect">
            <a:avLst/>
          </a:prstGeom>
          <a:ln w="0">
            <a:noFill/>
          </a:ln>
        </p:spPr>
      </p:sp>
      <p:sp>
        <p:nvSpPr>
          <p:cNvPr id="50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Cuatro minutos. El lado izquierdo es la anatomia del prompt para trabajo con encuestas: nombrar diseno, pedir el EE correcto, pedir subgrupos, pedir el conteo de casos excluidos. El derecho es el limite: el diseno, la comparabilidad, el sentido y la firma no se delegan, porque dependen de conocer la encuesta y la politica, cosa que el modelo no tiene. Este es el habito que quiero que se lleven a la practica.</a:t>
            </a:r>
            <a:endParaRPr lang="en-US" sz="2000" b="0" u="none" strike="noStrike">
              <a:solidFill>
                <a:srgbClr val="000000"/>
              </a:solidFill>
              <a:effectLst/>
              <a:uFillTx/>
              <a:latin typeface="Arial"/>
            </a:endParaRPr>
          </a:p>
        </p:txBody>
      </p:sp>
      <p:sp>
        <p:nvSpPr>
          <p:cNvPr id="507" name="PlaceHolder 3"/>
          <p:cNvSpPr>
            <a:spLocks noGrp="1"/>
          </p:cNvSpPr>
          <p:nvPr>
            <p:ph type="sldNum" idx="2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2806E37D-BF63-4EC6-BCFD-3FC97EE16515}"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8" name="PlaceHolder 1"/>
          <p:cNvSpPr>
            <a:spLocks noGrp="1"/>
          </p:cNvSpPr>
          <p:nvPr>
            <p:ph type="sldImg"/>
          </p:nvPr>
        </p:nvSpPr>
        <p:spPr>
          <a:xfrm>
            <a:off x="685800" y="1143000"/>
            <a:ext cx="5486040" cy="3085920"/>
          </a:xfrm>
          <a:prstGeom prst="rect">
            <a:avLst/>
          </a:prstGeom>
          <a:ln w="0">
            <a:noFill/>
          </a:ln>
        </p:spPr>
      </p:sp>
      <p:sp>
        <p:nvSpPr>
          <p:cNvPr id="50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Divisor. Demo corta en clase y el grueso de tarea. Un R Markdown con tres tareas sobre el microdato sintetico. Veinte minutos en clase, el resto en casa.</a:t>
            </a:r>
            <a:endParaRPr lang="en-US" sz="2000" b="0" u="none" strike="noStrike">
              <a:solidFill>
                <a:srgbClr val="000000"/>
              </a:solidFill>
              <a:effectLst/>
              <a:uFillTx/>
              <a:latin typeface="Arial"/>
            </a:endParaRPr>
          </a:p>
        </p:txBody>
      </p:sp>
      <p:sp>
        <p:nvSpPr>
          <p:cNvPr id="510" name="PlaceHolder 3"/>
          <p:cNvSpPr>
            <a:spLocks noGrp="1"/>
          </p:cNvSpPr>
          <p:nvPr>
            <p:ph type="sldNum" idx="2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DCC5F44D-0454-4271-B24A-514DDA801DAC}"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1" name="PlaceHolder 1"/>
          <p:cNvSpPr>
            <a:spLocks noGrp="1"/>
          </p:cNvSpPr>
          <p:nvPr>
            <p:ph type="sldImg"/>
          </p:nvPr>
        </p:nvSpPr>
        <p:spPr>
          <a:xfrm>
            <a:off x="685800" y="1143000"/>
            <a:ext cx="5486040" cy="3085920"/>
          </a:xfrm>
          <a:prstGeom prst="rect">
            <a:avLst/>
          </a:prstGeom>
          <a:ln w="0">
            <a:noFill/>
          </a:ln>
        </p:spPr>
      </p:sp>
      <p:sp>
        <p:nvSpPr>
          <p:cNvPr id="51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Explique en dos minutos y arranquen la parte 1 juntos. Parte 1: el ingenuo da 6,949, el ponderado 8,328, subestima 16.6%. Parte 2: efecto menos 4.5, EE clasico 1.46 contra conglomerado 2.19, la significancia pasa de p 0.002 a p 0.049. Parte 3: agregado sin programa 63.9 contra con programa 59.5, pero por estrato mas 11 en todos, porque los tratados se concentran en Alta marginacion. El entregable es el Rmd tejido, con la justificacion escrita de cada decision. Es tarea a su ritmo; en clase solo demo y arranque.</a:t>
            </a:r>
            <a:endParaRPr lang="en-US" sz="2000" b="0" u="none" strike="noStrike">
              <a:solidFill>
                <a:srgbClr val="000000"/>
              </a:solidFill>
              <a:effectLst/>
              <a:uFillTx/>
              <a:latin typeface="Arial"/>
            </a:endParaRPr>
          </a:p>
        </p:txBody>
      </p:sp>
      <p:sp>
        <p:nvSpPr>
          <p:cNvPr id="513" name="PlaceHolder 3"/>
          <p:cNvSpPr>
            <a:spLocks noGrp="1"/>
          </p:cNvSpPr>
          <p:nvPr>
            <p:ph type="sldNum" idx="2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2BF38728-069F-43FD-A28A-D2779B9704D7}"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4" name="PlaceHolder 1"/>
          <p:cNvSpPr>
            <a:spLocks noGrp="1"/>
          </p:cNvSpPr>
          <p:nvPr>
            <p:ph type="sldImg"/>
          </p:nvPr>
        </p:nvSpPr>
        <p:spPr>
          <a:xfrm>
            <a:off x="685800" y="1143000"/>
            <a:ext cx="5486040" cy="3085920"/>
          </a:xfrm>
          <a:prstGeom prst="rect">
            <a:avLst/>
          </a:prstGeom>
          <a:ln w="0">
            <a:noFill/>
          </a:ln>
        </p:spPr>
      </p:sp>
      <p:sp>
        <p:nvSpPr>
          <p:cNvPr id="51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Cinco minutos. Repase las tres ideas y confirme el entregable, que es la tarea. El puente a la 8 es directo: hoy fue hacer bien el estimado; la 8 es hacerlo reproducible, con semillas para el remuestreo, que ademas es como se calculan muchos de estos errores estandar, y entorno fijo. Agradezca y cierre a tiempo.</a:t>
            </a:r>
            <a:endParaRPr lang="en-US" sz="2000" b="0" u="none" strike="noStrike">
              <a:solidFill>
                <a:srgbClr val="000000"/>
              </a:solidFill>
              <a:effectLst/>
              <a:uFillTx/>
              <a:latin typeface="Arial"/>
            </a:endParaRPr>
          </a:p>
        </p:txBody>
      </p:sp>
      <p:sp>
        <p:nvSpPr>
          <p:cNvPr id="516" name="PlaceHolder 3"/>
          <p:cNvSpPr>
            <a:spLocks noGrp="1"/>
          </p:cNvSpPr>
          <p:nvPr>
            <p:ph type="sldNum" idx="2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F55BE2B6-6E7E-47F3-8D46-3E1B4D40CEA2}"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7" name="PlaceHolder 1"/>
          <p:cNvSpPr>
            <a:spLocks noGrp="1"/>
          </p:cNvSpPr>
          <p:nvPr>
            <p:ph type="sldImg"/>
          </p:nvPr>
        </p:nvSpPr>
        <p:spPr>
          <a:xfrm>
            <a:off x="685800" y="1143000"/>
            <a:ext cx="5486040" cy="3085920"/>
          </a:xfrm>
          <a:prstGeom prst="rect">
            <a:avLst/>
          </a:prstGeom>
          <a:ln w="0">
            <a:noFill/>
          </a:ln>
        </p:spPr>
      </p:sp>
      <p:sp>
        <p:nvSpPr>
          <p:cNvPr id="51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Lamina de referencia. No se lee en clase. Sostiene el nivel tecnico si el area de estadistica del INEGI pregunta por las fuentes de ponderacion, inferencia con conglomerados o Simpson.</a:t>
            </a:r>
            <a:endParaRPr lang="en-US" sz="2000" b="0" u="none" strike="noStrike">
              <a:solidFill>
                <a:srgbClr val="000000"/>
              </a:solidFill>
              <a:effectLst/>
              <a:uFillTx/>
              <a:latin typeface="Arial"/>
            </a:endParaRPr>
          </a:p>
        </p:txBody>
      </p:sp>
      <p:sp>
        <p:nvSpPr>
          <p:cNvPr id="519" name="PlaceHolder 3"/>
          <p:cNvSpPr>
            <a:spLocks noGrp="1"/>
          </p:cNvSpPr>
          <p:nvPr>
            <p:ph type="sldNum" idx="2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B0AF912B-295F-4E59-B35F-744CE03D5F79}"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lvl1pPr indent="0" algn="l">
              <a:buNone/>
              <a:defRPr lang="en-US" sz="1800" b="0" u="none" strike="noStrike">
                <a:solidFill>
                  <a:schemeClr val="dk1"/>
                </a:solidFill>
                <a:effectLst/>
                <a:uFillTx/>
                <a:latin typeface="Calibri"/>
              </a:defRPr>
            </a:lvl1pPr>
          </a:lstStyle>
          <a:p>
            <a:pPr indent="0" algn="l">
              <a:buNone/>
            </a:pPr>
            <a:r>
              <a:rPr lang="en-US" sz="1800" b="0" u="none" strike="noStrike">
                <a:solidFill>
                  <a:schemeClr val="dk1"/>
                </a:solidFill>
                <a:effectLst/>
                <a:uFillTx/>
                <a:latin typeface="Calibri"/>
              </a:rPr>
              <a:t>Click to edit the title text format</a:t>
            </a:r>
            <a:endParaRPr lang="en-US" sz="1800" b="0" u="none" strike="noStrike">
              <a:solidFill>
                <a:schemeClr val="dk1"/>
              </a:solidFill>
              <a:effectLst/>
              <a:uFillTx/>
              <a:latin typeface="Calibri"/>
            </a:endParaRPr>
          </a:p>
        </p:txBody>
      </p:sp>
      <p:sp>
        <p:nvSpPr>
          <p:cNvPr id="3" name="PlaceHolder 2"/>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en-US" sz="3200" b="0" u="none" strike="noStrike">
                <a:solidFill>
                  <a:schemeClr val="dk1"/>
                </a:solidFill>
                <a:effectLst/>
                <a:uFillTx/>
                <a:latin typeface="Calibri"/>
              </a:defRPr>
            </a:lvl1pPr>
            <a:lvl2pPr lvl="1" algn="l">
              <a:spcBef>
                <a:spcPts val="1134"/>
              </a:spcBef>
              <a:buClr>
                <a:srgbClr val="000000"/>
              </a:buClr>
              <a:buSzPct val="75000"/>
              <a:buFont typeface="Symbol" charset="2"/>
              <a:buChar char=""/>
              <a:defRPr lang="en-US" sz="2400" b="0" u="none" strike="noStrike">
                <a:solidFill>
                  <a:schemeClr val="dk1"/>
                </a:solidFill>
                <a:effectLst/>
                <a:uFillTx/>
                <a:latin typeface="Calibri"/>
              </a:defRPr>
            </a:lvl2pPr>
            <a:lvl3pPr lvl="2" algn="l">
              <a:spcBef>
                <a:spcPts val="850"/>
              </a:spcBef>
              <a:buClr>
                <a:srgbClr val="000000"/>
              </a:buClr>
              <a:buSzPct val="45000"/>
              <a:buFont typeface="Wingdings" charset="2"/>
              <a:buChar char=""/>
              <a:defRPr lang="en-US" sz="2000" b="0" u="none" strike="noStrike">
                <a:solidFill>
                  <a:schemeClr val="dk1"/>
                </a:solidFill>
                <a:effectLst/>
                <a:uFillTx/>
                <a:latin typeface="Calibri"/>
              </a:defRPr>
            </a:lvl3pPr>
            <a:lvl4pPr lvl="3" algn="l">
              <a:spcBef>
                <a:spcPts val="567"/>
              </a:spcBef>
              <a:buClr>
                <a:srgbClr val="000000"/>
              </a:buClr>
              <a:buSzPct val="75000"/>
              <a:buFont typeface="Symbol" charset="2"/>
              <a:buChar char=""/>
              <a:defRPr lang="en-US" sz="2000" b="0" u="none" strike="noStrike">
                <a:solidFill>
                  <a:schemeClr val="dk1"/>
                </a:solidFill>
                <a:effectLst/>
                <a:uFillTx/>
                <a:latin typeface="Calibri"/>
              </a:defRPr>
            </a:lvl4pPr>
            <a:lvl5pPr lvl="4" algn="l">
              <a:spcBef>
                <a:spcPts val="283"/>
              </a:spcBef>
              <a:buClr>
                <a:srgbClr val="000000"/>
              </a:buClr>
              <a:buSzPct val="45000"/>
              <a:buFont typeface="Wingdings" charset="2"/>
              <a:buChar char=""/>
              <a:defRPr lang="en-US" sz="2000" b="0" u="none" strike="noStrike">
                <a:solidFill>
                  <a:schemeClr val="dk1"/>
                </a:solidFill>
                <a:effectLst/>
                <a:uFillTx/>
                <a:latin typeface="Calibri"/>
              </a:defRPr>
            </a:lvl5pPr>
            <a:lvl6pPr lvl="5" algn="l">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marL="432000" indent="-324000" algn="l">
              <a:spcBef>
                <a:spcPts val="1417"/>
              </a:spcBef>
              <a:buClr>
                <a:srgbClr val="000000"/>
              </a:buClr>
              <a:buSzPct val="45000"/>
              <a:buFont typeface="Wingdings" charset="2"/>
              <a:buChar char=""/>
            </a:pPr>
            <a:r>
              <a:rPr lang="en-US" sz="3200" b="0" u="none" strike="noStrike">
                <a:solidFill>
                  <a:schemeClr val="dk1"/>
                </a:solidFill>
                <a:effectLst/>
                <a:uFillTx/>
                <a:latin typeface="Calibri"/>
              </a:rPr>
              <a:t>Click to edit the outline text format</a:t>
            </a:r>
            <a:endParaRPr lang="en-US" sz="3200" b="0" u="none" strike="noStrike">
              <a:solidFill>
                <a:schemeClr val="dk1"/>
              </a:solidFill>
              <a:effectLst/>
              <a:uFillTx/>
              <a:latin typeface="Calibri"/>
            </a:endParaRPr>
          </a:p>
          <a:p>
            <a:pPr marL="864000" lvl="1" indent="-324000" algn="l">
              <a:spcBef>
                <a:spcPts val="1134"/>
              </a:spcBef>
              <a:buClr>
                <a:srgbClr val="000000"/>
              </a:buClr>
              <a:buSzPct val="75000"/>
              <a:buFont typeface="Symbol" charset="2"/>
              <a:buChar char=""/>
            </a:pPr>
            <a:r>
              <a:rPr lang="en-US" sz="2400" b="0" u="none" strike="noStrike">
                <a:solidFill>
                  <a:schemeClr val="dk1"/>
                </a:solidFill>
                <a:effectLst/>
                <a:uFillTx/>
                <a:latin typeface="Calibri"/>
              </a:rPr>
              <a:t>Second Outline Level</a:t>
            </a:r>
            <a:endParaRPr lang="en-US" sz="2400" b="0" u="none" strike="noStrike">
              <a:solidFill>
                <a:schemeClr val="dk1"/>
              </a:solidFill>
              <a:effectLst/>
              <a:uFillTx/>
              <a:latin typeface="Calibri"/>
            </a:endParaRPr>
          </a:p>
          <a:p>
            <a:pPr marL="1296000" lvl="2" indent="-288000" algn="l">
              <a:spcBef>
                <a:spcPts val="850"/>
              </a:spcBef>
              <a:buClr>
                <a:srgbClr val="000000"/>
              </a:buClr>
              <a:buSzPct val="45000"/>
              <a:buFont typeface="Wingdings" charset="2"/>
              <a:buChar char=""/>
            </a:pPr>
            <a:r>
              <a:rPr lang="en-US" sz="2000" b="0" u="none" strike="noStrike">
                <a:solidFill>
                  <a:schemeClr val="dk1"/>
                </a:solidFill>
                <a:effectLst/>
                <a:uFillTx/>
                <a:latin typeface="Calibri"/>
              </a:rPr>
              <a:t>Third Outline Level</a:t>
            </a:r>
            <a:endParaRPr lang="en-US" sz="2000" b="0" u="none" strike="noStrike">
              <a:solidFill>
                <a:schemeClr val="dk1"/>
              </a:solidFill>
              <a:effectLst/>
              <a:uFillTx/>
              <a:latin typeface="Calibri"/>
            </a:endParaRPr>
          </a:p>
          <a:p>
            <a:pPr marL="1728000" lvl="3" indent="-216000" algn="l">
              <a:spcBef>
                <a:spcPts val="567"/>
              </a:spcBef>
              <a:buClr>
                <a:srgbClr val="000000"/>
              </a:buClr>
              <a:buSzPct val="75000"/>
              <a:buFont typeface="Symbol" charset="2"/>
              <a:buChar char=""/>
            </a:pPr>
            <a:r>
              <a:rPr lang="en-US" sz="2000" b="0" u="none" strike="noStrike">
                <a:solidFill>
                  <a:schemeClr val="dk1"/>
                </a:solidFill>
                <a:effectLst/>
                <a:uFillTx/>
                <a:latin typeface="Calibri"/>
              </a:rPr>
              <a:t>Fourth Outline Level</a:t>
            </a:r>
            <a:endParaRPr lang="en-US" sz="2000" b="0" u="none" strike="noStrike">
              <a:solidFill>
                <a:schemeClr val="dk1"/>
              </a:solidFill>
              <a:effectLst/>
              <a:uFillTx/>
              <a:latin typeface="Calibri"/>
            </a:endParaRPr>
          </a:p>
          <a:p>
            <a:pPr marL="2160000" lvl="4" indent="-216000" algn="l">
              <a:spcBef>
                <a:spcPts val="283"/>
              </a:spcBef>
              <a:buClr>
                <a:srgbClr val="000000"/>
              </a:buClr>
              <a:buSzPct val="45000"/>
              <a:buFont typeface="Wingdings" charset="2"/>
              <a:buChar char=""/>
            </a:pPr>
            <a:r>
              <a:rPr lang="en-US" sz="2000" b="0" u="none" strike="noStrike">
                <a:solidFill>
                  <a:schemeClr val="dk1"/>
                </a:solidFill>
                <a:effectLst/>
                <a:uFillTx/>
                <a:latin typeface="Calibri"/>
              </a:rPr>
              <a:t>Fifth Outline Level</a:t>
            </a:r>
            <a:endParaRPr lang="en-US" sz="2000" b="0" u="none" strike="noStrike">
              <a:solidFill>
                <a:schemeClr val="dk1"/>
              </a:solidFill>
              <a:effectLst/>
              <a:uFillTx/>
              <a:latin typeface="Calibri"/>
            </a:endParaRPr>
          </a:p>
          <a:p>
            <a:pPr marL="2592000" lvl="5" indent="-216000" algn="l">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endParaRPr lang="en-US" sz="2000" b="0" u="none" strike="noStrike">
              <a:solidFill>
                <a:schemeClr val="dk1"/>
              </a:solidFill>
              <a:effectLst/>
              <a:uFillTx/>
              <a:latin typeface="Calibri"/>
            </a:endParaRPr>
          </a:p>
          <a:p>
            <a:pPr marL="3024000" lvl="6" indent="-216000" algn="l">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endParaRPr lang="en-US" sz="2000" b="0" u="none" strike="noStrike">
              <a:solidFill>
                <a:schemeClr val="dk1"/>
              </a:solidFill>
              <a:effectLst/>
              <a:uFillTx/>
              <a:latin typeface="Calibri"/>
            </a:endParaRPr>
          </a:p>
        </p:txBody>
      </p:sp>
    </p:spTree>
  </p:cSld>
  <p:clrMap bg1="lt1" tx1="dk1" bg2="lt2" tx2="dk2" accent1="accent1" accent2="accent2" accent3="accent3" accent4="accent4" accent5="accent5" accent6="accent6" hlink="hlink" folHlink="folHlink"/>
  <p:sldLayoutIdLst>
    <p:sldLayoutId id="2147483649"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5293B"/>
        </a:solidFill>
      </p:bgPr>
    </p:bg>
    <p:spTree>
      <p:nvGrpSpPr>
        <p:cNvPr id="1" name=""/>
        <p:cNvGrpSpPr/>
        <p:nvPr/>
      </p:nvGrpSpPr>
      <p:grpSpPr>
        <a:xfrm>
          <a:off x="0" y="0"/>
          <a:ext cx="0" cy="0"/>
          <a:chOff x="0" y="0"/>
          <a:chExt cx="0" cy="0"/>
        </a:xfrm>
      </p:grpSpPr>
      <p:sp>
        <p:nvSpPr>
          <p:cNvPr id="10" name="Shape 0"/>
          <p:cNvSpPr/>
          <p:nvPr/>
        </p:nvSpPr>
        <p:spPr>
          <a:xfrm>
            <a:off x="9784080" y="-1188720"/>
            <a:ext cx="3565800" cy="3565800"/>
          </a:xfrm>
          <a:prstGeom prst="ellipse">
            <a:avLst/>
          </a:prstGeom>
          <a:solidFill>
            <a:srgbClr val="20384F"/>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11" name="Shape 1"/>
          <p:cNvSpPr/>
          <p:nvPr/>
        </p:nvSpPr>
        <p:spPr>
          <a:xfrm>
            <a:off x="10881360" y="4572000"/>
            <a:ext cx="2559960" cy="2559960"/>
          </a:xfrm>
          <a:prstGeom prst="ellipse">
            <a:avLst/>
          </a:prstGeom>
          <a:solidFill>
            <a:srgbClr val="CB5E2E"/>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12" name="Text 2"/>
          <p:cNvSpPr/>
          <p:nvPr/>
        </p:nvSpPr>
        <p:spPr>
          <a:xfrm>
            <a:off x="822960" y="1417320"/>
            <a:ext cx="1005804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pc="300" strike="noStrike">
                <a:solidFill>
                  <a:srgbClr val="E58A5B"/>
                </a:solidFill>
                <a:effectLst/>
                <a:uFillTx/>
                <a:latin typeface="Calibri"/>
                <a:ea typeface="Calibri"/>
              </a:rPr>
              <a:t>MÓDULO III · SESIÓN 7</a:t>
            </a:r>
            <a:endParaRPr lang="en-US" sz="1300" b="0" u="none" strike="noStrike">
              <a:solidFill>
                <a:srgbClr val="FFFFFF"/>
              </a:solidFill>
              <a:effectLst/>
              <a:uFillTx/>
              <a:latin typeface="Arial"/>
            </a:endParaRPr>
          </a:p>
        </p:txBody>
      </p:sp>
      <p:sp>
        <p:nvSpPr>
          <p:cNvPr id="13" name="Text 3"/>
          <p:cNvSpPr/>
          <p:nvPr/>
        </p:nvSpPr>
        <p:spPr>
          <a:xfrm>
            <a:off x="822960" y="2103120"/>
            <a:ext cx="10606680" cy="1645560"/>
          </a:xfrm>
          <a:prstGeom prst="rect">
            <a:avLst/>
          </a:prstGeom>
          <a:noFill/>
          <a:ln w="0">
            <a:noFill/>
          </a:ln>
        </p:spPr>
        <p:style>
          <a:lnRef idx="0"/>
          <a:fillRef idx="0"/>
          <a:effectRef idx="0"/>
          <a:fontRef idx="minor"/>
        </p:style>
        <p:txBody>
          <a:bodyPr lIns="0" tIns="0" rIns="0" bIns="0" anchor="ctr">
            <a:noAutofit/>
          </a:bodyPr>
          <a:p>
            <a:pPr defTabSz="914400">
              <a:lnSpc>
                <a:spcPct val="98000"/>
              </a:lnSpc>
              <a:tabLst>
                <a:tab pos="0" algn="l"/>
              </a:tabLst>
            </a:pPr>
            <a:r>
              <a:rPr lang="en-US" sz="3300" b="1" u="none" strike="noStrike">
                <a:solidFill>
                  <a:srgbClr val="FFFFFF"/>
                </a:solidFill>
                <a:effectLst/>
                <a:uFillTx/>
                <a:latin typeface="Calibri"/>
                <a:ea typeface="Calibri"/>
              </a:rPr>
              <a:t>Asistentes estadísticos: cuando el análisis corre pero está mal</a:t>
            </a:r>
            <a:endParaRPr lang="en-US" sz="3300" b="0" u="none" strike="noStrike">
              <a:solidFill>
                <a:srgbClr val="FFFFFF"/>
              </a:solidFill>
              <a:effectLst/>
              <a:uFillTx/>
              <a:latin typeface="Arial"/>
            </a:endParaRPr>
          </a:p>
        </p:txBody>
      </p:sp>
      <p:sp>
        <p:nvSpPr>
          <p:cNvPr id="14" name="Text 4"/>
          <p:cNvSpPr/>
          <p:nvPr/>
        </p:nvSpPr>
        <p:spPr>
          <a:xfrm>
            <a:off x="822960" y="3977640"/>
            <a:ext cx="1042380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0" u="none" strike="noStrike">
                <a:solidFill>
                  <a:srgbClr val="E4EAF0"/>
                </a:solidFill>
                <a:effectLst/>
                <a:uFillTx/>
                <a:latin typeface="Calibri"/>
                <a:ea typeface="Calibri"/>
              </a:rPr>
              <a:t>Diseño muestral, inferencia y agregación: auditar lo que la IA escribe sobre datos de encuesta</a:t>
            </a:r>
            <a:endParaRPr lang="en-US" sz="1600" b="0" u="none" strike="noStrike">
              <a:solidFill>
                <a:srgbClr val="FFFFFF"/>
              </a:solidFill>
              <a:effectLst/>
              <a:uFillTx/>
              <a:latin typeface="Arial"/>
            </a:endParaRPr>
          </a:p>
        </p:txBody>
      </p:sp>
      <p:sp>
        <p:nvSpPr>
          <p:cNvPr id="15" name="Shape 5"/>
          <p:cNvSpPr/>
          <p:nvPr/>
        </p:nvSpPr>
        <p:spPr>
          <a:xfrm>
            <a:off x="840960" y="4827960"/>
            <a:ext cx="2926080" cy="360"/>
          </a:xfrm>
          <a:prstGeom prst="line">
            <a:avLst/>
          </a:prstGeom>
          <a:ln w="25400">
            <a:solidFill>
              <a:srgbClr val="CB5E2E"/>
            </a:solidFill>
            <a:round/>
          </a:ln>
        </p:spPr>
        <p:style>
          <a:lnRef idx="0"/>
          <a:fillRef idx="0"/>
          <a:effectRef idx="0"/>
          <a:fontRef idx="minor"/>
        </p:style>
        <p:txBody>
          <a:bodyPr lIns="90000" tIns="-44640" rIns="90000" bIns="-44640" anchor="t" anchorCtr="1">
            <a:noAutofit/>
          </a:bodyPr>
          <a:p>
            <a:pPr/>
            <a:endParaRPr lang="en-US" sz="1800" b="0" u="none" strike="noStrike">
              <a:solidFill>
                <a:srgbClr val="FFFFFF"/>
              </a:solidFill>
              <a:effectLst/>
              <a:uFillTx/>
              <a:latin typeface="Arial"/>
            </a:endParaRPr>
          </a:p>
        </p:txBody>
      </p:sp>
      <p:sp>
        <p:nvSpPr>
          <p:cNvPr id="16" name="Text 6"/>
          <p:cNvSpPr/>
          <p:nvPr/>
        </p:nvSpPr>
        <p:spPr>
          <a:xfrm>
            <a:off x="822960" y="5029200"/>
            <a:ext cx="1005804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u="none" strike="noStrike">
                <a:solidFill>
                  <a:srgbClr val="E4EAF0"/>
                </a:solidFill>
                <a:effectLst/>
                <a:uFillTx/>
                <a:latin typeface="Calibri"/>
                <a:ea typeface="Calibri"/>
              </a:rPr>
              <a:t>Curso de Inteligencia Artificial Aplicada · INEGI 2026</a:t>
            </a:r>
            <a:endParaRPr lang="en-US" sz="1300" b="0" u="none" strike="noStrike">
              <a:solidFill>
                <a:srgbClr val="FFFFFF"/>
              </a:solidFill>
              <a:effectLst/>
              <a:uFillTx/>
              <a:latin typeface="Arial"/>
            </a:endParaRPr>
          </a:p>
        </p:txBody>
      </p:sp>
      <p:sp>
        <p:nvSpPr>
          <p:cNvPr id="17" name="Text 7"/>
          <p:cNvSpPr/>
          <p:nvPr/>
        </p:nvSpPr>
        <p:spPr>
          <a:xfrm>
            <a:off x="822960" y="5376600"/>
            <a:ext cx="1005804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u="none" strike="noStrike">
                <a:solidFill>
                  <a:srgbClr val="60707E"/>
                </a:solidFill>
                <a:effectLst/>
                <a:uFillTx/>
                <a:latin typeface="Calibri"/>
                <a:ea typeface="Calibri"/>
              </a:rPr>
              <a:t>Módulo III, Sesión 1 · abre el bloque cuantitativo · 11:00 a 13:30 h</a:t>
            </a:r>
            <a:endParaRPr lang="en-US" sz="13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8" name="Text 0"/>
          <p:cNvSpPr/>
          <p:nvPr/>
        </p:nvSpPr>
        <p:spPr>
          <a:xfrm>
            <a:off x="548640" y="384120"/>
            <a:ext cx="11091240" cy="639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900" b="1" u="none" strike="noStrike">
                <a:solidFill>
                  <a:srgbClr val="1E2A35"/>
                </a:solidFill>
                <a:effectLst/>
                <a:uFillTx/>
                <a:latin typeface="Calibri"/>
                <a:ea typeface="Calibri"/>
              </a:rPr>
              <a:t>Cómo usamos los 150 minutos</a:t>
            </a:r>
            <a:endParaRPr lang="en-US" sz="2900" b="0" u="none" strike="noStrike">
              <a:solidFill>
                <a:srgbClr val="000000"/>
              </a:solidFill>
              <a:effectLst/>
              <a:uFillTx/>
              <a:latin typeface="Arial"/>
            </a:endParaRPr>
          </a:p>
        </p:txBody>
      </p:sp>
      <p:sp>
        <p:nvSpPr>
          <p:cNvPr id="19" name="Text 1"/>
          <p:cNvSpPr/>
          <p:nvPr/>
        </p:nvSpPr>
        <p:spPr>
          <a:xfrm>
            <a:off x="548640" y="1042560"/>
            <a:ext cx="11091240" cy="5666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0" u="none" strike="noStrike">
                <a:solidFill>
                  <a:srgbClr val="60707E"/>
                </a:solidFill>
                <a:effectLst/>
                <a:uFillTx/>
                <a:latin typeface="Calibri"/>
                <a:ea typeface="Calibri"/>
              </a:rPr>
              <a:t>Tres bloques de concepto con demo corta, un receso, y una práctica que se va de tarea.</a:t>
            </a:r>
            <a:endParaRPr lang="en-US" sz="1400" b="0" u="none" strike="noStrike">
              <a:solidFill>
                <a:srgbClr val="000000"/>
              </a:solidFill>
              <a:effectLst/>
              <a:uFillTx/>
              <a:latin typeface="Arial"/>
            </a:endParaRPr>
          </a:p>
        </p:txBody>
      </p:sp>
      <p:sp>
        <p:nvSpPr>
          <p:cNvPr id="20" name="Shape 2"/>
          <p:cNvSpPr/>
          <p:nvPr/>
        </p:nvSpPr>
        <p:spPr>
          <a:xfrm>
            <a:off x="548640" y="1737360"/>
            <a:ext cx="11091240" cy="511560"/>
          </a:xfrm>
          <a:prstGeom prst="rect">
            <a:avLst/>
          </a:prstGeom>
          <a:solidFill>
            <a:srgbClr val="EEF2F5"/>
          </a:solidFill>
          <a:ln w="6350">
            <a:solidFill>
              <a:srgbClr val="D5DCE3"/>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21" name="Text 3"/>
          <p:cNvSpPr/>
          <p:nvPr/>
        </p:nvSpPr>
        <p:spPr>
          <a:xfrm>
            <a:off x="685800" y="1737360"/>
            <a:ext cx="1371240" cy="511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CB5E2E"/>
                </a:solidFill>
                <a:effectLst/>
                <a:uFillTx/>
                <a:latin typeface="Cambria"/>
                <a:ea typeface="Cambria"/>
              </a:rPr>
              <a:t>11:00</a:t>
            </a:r>
            <a:endParaRPr lang="en-US" sz="1600" b="0" u="none" strike="noStrike">
              <a:solidFill>
                <a:srgbClr val="000000"/>
              </a:solidFill>
              <a:effectLst/>
              <a:uFillTx/>
              <a:latin typeface="Arial"/>
            </a:endParaRPr>
          </a:p>
        </p:txBody>
      </p:sp>
      <p:sp>
        <p:nvSpPr>
          <p:cNvPr id="22" name="Text 4"/>
          <p:cNvSpPr/>
          <p:nvPr/>
        </p:nvSpPr>
        <p:spPr>
          <a:xfrm>
            <a:off x="2194560" y="1737360"/>
            <a:ext cx="9262440" cy="511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0" u="none" strike="noStrike">
                <a:solidFill>
                  <a:srgbClr val="1E2A35"/>
                </a:solidFill>
                <a:effectLst/>
                <a:uFillTx/>
                <a:latin typeface="Calibri"/>
                <a:ea typeface="Calibri"/>
              </a:rPr>
              <a:t>Apertura: un estimador que corre no es uno correcto</a:t>
            </a:r>
            <a:endParaRPr lang="en-US" sz="1400" b="0" u="none" strike="noStrike">
              <a:solidFill>
                <a:srgbClr val="000000"/>
              </a:solidFill>
              <a:effectLst/>
              <a:uFillTx/>
              <a:latin typeface="Arial"/>
            </a:endParaRPr>
          </a:p>
        </p:txBody>
      </p:sp>
      <p:sp>
        <p:nvSpPr>
          <p:cNvPr id="23" name="Shape 5"/>
          <p:cNvSpPr/>
          <p:nvPr/>
        </p:nvSpPr>
        <p:spPr>
          <a:xfrm>
            <a:off x="548640" y="2249280"/>
            <a:ext cx="11091240" cy="511560"/>
          </a:xfrm>
          <a:prstGeom prst="rect">
            <a:avLst/>
          </a:prstGeom>
          <a:solidFill>
            <a:srgbClr val="FFFFFF"/>
          </a:solidFill>
          <a:ln w="6350">
            <a:solidFill>
              <a:srgbClr val="D5DCE3"/>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24" name="Text 6"/>
          <p:cNvSpPr/>
          <p:nvPr/>
        </p:nvSpPr>
        <p:spPr>
          <a:xfrm>
            <a:off x="685800" y="2249280"/>
            <a:ext cx="1371240" cy="511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CB5E2E"/>
                </a:solidFill>
                <a:effectLst/>
                <a:uFillTx/>
                <a:latin typeface="Cambria"/>
                <a:ea typeface="Cambria"/>
              </a:rPr>
              <a:t>11:12</a:t>
            </a:r>
            <a:endParaRPr lang="en-US" sz="1600" b="0" u="none" strike="noStrike">
              <a:solidFill>
                <a:srgbClr val="000000"/>
              </a:solidFill>
              <a:effectLst/>
              <a:uFillTx/>
              <a:latin typeface="Arial"/>
            </a:endParaRPr>
          </a:p>
        </p:txBody>
      </p:sp>
      <p:sp>
        <p:nvSpPr>
          <p:cNvPr id="25" name="Text 7"/>
          <p:cNvSpPr/>
          <p:nvPr/>
        </p:nvSpPr>
        <p:spPr>
          <a:xfrm>
            <a:off x="2194560" y="2249280"/>
            <a:ext cx="9262440" cy="511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0" u="none" strike="noStrike">
                <a:solidFill>
                  <a:srgbClr val="1E2A35"/>
                </a:solidFill>
                <a:effectLst/>
                <a:uFillTx/>
                <a:latin typeface="Calibri"/>
                <a:ea typeface="Calibri"/>
              </a:rPr>
              <a:t>Bloque 1 · Diseño muestral y factores de expansión</a:t>
            </a:r>
            <a:endParaRPr lang="en-US" sz="1400" b="0" u="none" strike="noStrike">
              <a:solidFill>
                <a:srgbClr val="000000"/>
              </a:solidFill>
              <a:effectLst/>
              <a:uFillTx/>
              <a:latin typeface="Arial"/>
            </a:endParaRPr>
          </a:p>
        </p:txBody>
      </p:sp>
      <p:sp>
        <p:nvSpPr>
          <p:cNvPr id="26" name="Shape 8"/>
          <p:cNvSpPr/>
          <p:nvPr/>
        </p:nvSpPr>
        <p:spPr>
          <a:xfrm>
            <a:off x="548640" y="2761560"/>
            <a:ext cx="11091240" cy="511560"/>
          </a:xfrm>
          <a:prstGeom prst="rect">
            <a:avLst/>
          </a:prstGeom>
          <a:solidFill>
            <a:srgbClr val="FBEEE5"/>
          </a:solidFill>
          <a:ln w="6350">
            <a:solidFill>
              <a:srgbClr val="D5DCE3"/>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27" name="Text 9"/>
          <p:cNvSpPr/>
          <p:nvPr/>
        </p:nvSpPr>
        <p:spPr>
          <a:xfrm>
            <a:off x="685800" y="2761560"/>
            <a:ext cx="1371240" cy="511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8C3E19"/>
                </a:solidFill>
                <a:effectLst/>
                <a:uFillTx/>
                <a:latin typeface="Cambria"/>
                <a:ea typeface="Cambria"/>
              </a:rPr>
              <a:t>11:40</a:t>
            </a:r>
            <a:endParaRPr lang="en-US" sz="1600" b="0" u="none" strike="noStrike">
              <a:solidFill>
                <a:srgbClr val="000000"/>
              </a:solidFill>
              <a:effectLst/>
              <a:uFillTx/>
              <a:latin typeface="Arial"/>
            </a:endParaRPr>
          </a:p>
        </p:txBody>
      </p:sp>
      <p:sp>
        <p:nvSpPr>
          <p:cNvPr id="28" name="Text 10"/>
          <p:cNvSpPr/>
          <p:nvPr/>
        </p:nvSpPr>
        <p:spPr>
          <a:xfrm>
            <a:off x="2194560" y="2761560"/>
            <a:ext cx="9262440" cy="511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rgbClr val="8C3E19"/>
                </a:solidFill>
                <a:effectLst/>
                <a:uFillTx/>
                <a:latin typeface="Calibri"/>
                <a:ea typeface="Calibri"/>
              </a:rPr>
              <a:t>Receso · 10 minutos</a:t>
            </a:r>
            <a:endParaRPr lang="en-US" sz="1400" b="0" u="none" strike="noStrike">
              <a:solidFill>
                <a:srgbClr val="000000"/>
              </a:solidFill>
              <a:effectLst/>
              <a:uFillTx/>
              <a:latin typeface="Arial"/>
            </a:endParaRPr>
          </a:p>
        </p:txBody>
      </p:sp>
      <p:sp>
        <p:nvSpPr>
          <p:cNvPr id="29" name="Shape 11"/>
          <p:cNvSpPr/>
          <p:nvPr/>
        </p:nvSpPr>
        <p:spPr>
          <a:xfrm>
            <a:off x="548640" y="3273480"/>
            <a:ext cx="11091240" cy="511560"/>
          </a:xfrm>
          <a:prstGeom prst="rect">
            <a:avLst/>
          </a:prstGeom>
          <a:solidFill>
            <a:srgbClr val="FFFFFF"/>
          </a:solidFill>
          <a:ln w="6350">
            <a:solidFill>
              <a:srgbClr val="D5DCE3"/>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30" name="Text 12"/>
          <p:cNvSpPr/>
          <p:nvPr/>
        </p:nvSpPr>
        <p:spPr>
          <a:xfrm>
            <a:off x="685800" y="3273480"/>
            <a:ext cx="1371240" cy="511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CB5E2E"/>
                </a:solidFill>
                <a:effectLst/>
                <a:uFillTx/>
                <a:latin typeface="Cambria"/>
                <a:ea typeface="Cambria"/>
              </a:rPr>
              <a:t>11:50</a:t>
            </a:r>
            <a:endParaRPr lang="en-US" sz="1600" b="0" u="none" strike="noStrike">
              <a:solidFill>
                <a:srgbClr val="000000"/>
              </a:solidFill>
              <a:effectLst/>
              <a:uFillTx/>
              <a:latin typeface="Arial"/>
            </a:endParaRPr>
          </a:p>
        </p:txBody>
      </p:sp>
      <p:sp>
        <p:nvSpPr>
          <p:cNvPr id="31" name="Text 13"/>
          <p:cNvSpPr/>
          <p:nvPr/>
        </p:nvSpPr>
        <p:spPr>
          <a:xfrm>
            <a:off x="2194560" y="3273480"/>
            <a:ext cx="9262440" cy="511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0" u="none" strike="noStrike">
                <a:solidFill>
                  <a:srgbClr val="1E2A35"/>
                </a:solidFill>
                <a:effectLst/>
                <a:uFillTx/>
                <a:latin typeface="Calibri"/>
                <a:ea typeface="Calibri"/>
              </a:rPr>
              <a:t>Bloque 2 · Inferencia y errores estándar</a:t>
            </a:r>
            <a:endParaRPr lang="en-US" sz="1400" b="0" u="none" strike="noStrike">
              <a:solidFill>
                <a:srgbClr val="000000"/>
              </a:solidFill>
              <a:effectLst/>
              <a:uFillTx/>
              <a:latin typeface="Arial"/>
            </a:endParaRPr>
          </a:p>
        </p:txBody>
      </p:sp>
      <p:sp>
        <p:nvSpPr>
          <p:cNvPr id="32" name="Shape 14"/>
          <p:cNvSpPr/>
          <p:nvPr/>
        </p:nvSpPr>
        <p:spPr>
          <a:xfrm>
            <a:off x="548640" y="3785760"/>
            <a:ext cx="11091240" cy="511560"/>
          </a:xfrm>
          <a:prstGeom prst="rect">
            <a:avLst/>
          </a:prstGeom>
          <a:solidFill>
            <a:srgbClr val="EEF2F5"/>
          </a:solidFill>
          <a:ln w="6350">
            <a:solidFill>
              <a:srgbClr val="D5DCE3"/>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33" name="Text 15"/>
          <p:cNvSpPr/>
          <p:nvPr/>
        </p:nvSpPr>
        <p:spPr>
          <a:xfrm>
            <a:off x="685800" y="3785760"/>
            <a:ext cx="1371240" cy="511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CB5E2E"/>
                </a:solidFill>
                <a:effectLst/>
                <a:uFillTx/>
                <a:latin typeface="Cambria"/>
                <a:ea typeface="Cambria"/>
              </a:rPr>
              <a:t>12:20</a:t>
            </a:r>
            <a:endParaRPr lang="en-US" sz="1600" b="0" u="none" strike="noStrike">
              <a:solidFill>
                <a:srgbClr val="000000"/>
              </a:solidFill>
              <a:effectLst/>
              <a:uFillTx/>
              <a:latin typeface="Arial"/>
            </a:endParaRPr>
          </a:p>
        </p:txBody>
      </p:sp>
      <p:sp>
        <p:nvSpPr>
          <p:cNvPr id="34" name="Text 16"/>
          <p:cNvSpPr/>
          <p:nvPr/>
        </p:nvSpPr>
        <p:spPr>
          <a:xfrm>
            <a:off x="2194560" y="3785760"/>
            <a:ext cx="9262440" cy="511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0" u="none" strike="noStrike">
                <a:solidFill>
                  <a:srgbClr val="1E2A35"/>
                </a:solidFill>
                <a:effectLst/>
                <a:uFillTx/>
                <a:latin typeface="Calibri"/>
                <a:ea typeface="Calibri"/>
              </a:rPr>
              <a:t>Bloque 3 · Agregación y paradoja de Simpson</a:t>
            </a:r>
            <a:endParaRPr lang="en-US" sz="1400" b="0" u="none" strike="noStrike">
              <a:solidFill>
                <a:srgbClr val="000000"/>
              </a:solidFill>
              <a:effectLst/>
              <a:uFillTx/>
              <a:latin typeface="Arial"/>
            </a:endParaRPr>
          </a:p>
        </p:txBody>
      </p:sp>
      <p:sp>
        <p:nvSpPr>
          <p:cNvPr id="35" name="Shape 17"/>
          <p:cNvSpPr/>
          <p:nvPr/>
        </p:nvSpPr>
        <p:spPr>
          <a:xfrm>
            <a:off x="548640" y="4297680"/>
            <a:ext cx="11091240" cy="511560"/>
          </a:xfrm>
          <a:prstGeom prst="rect">
            <a:avLst/>
          </a:prstGeom>
          <a:solidFill>
            <a:srgbClr val="FFFFFF"/>
          </a:solidFill>
          <a:ln w="6350">
            <a:solidFill>
              <a:srgbClr val="D5DCE3"/>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36" name="Text 18"/>
          <p:cNvSpPr/>
          <p:nvPr/>
        </p:nvSpPr>
        <p:spPr>
          <a:xfrm>
            <a:off x="685800" y="4297680"/>
            <a:ext cx="1371240" cy="511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CB5E2E"/>
                </a:solidFill>
                <a:effectLst/>
                <a:uFillTx/>
                <a:latin typeface="Cambria"/>
                <a:ea typeface="Cambria"/>
              </a:rPr>
              <a:t>12:45</a:t>
            </a:r>
            <a:endParaRPr lang="en-US" sz="1600" b="0" u="none" strike="noStrike">
              <a:solidFill>
                <a:srgbClr val="000000"/>
              </a:solidFill>
              <a:effectLst/>
              <a:uFillTx/>
              <a:latin typeface="Arial"/>
            </a:endParaRPr>
          </a:p>
        </p:txBody>
      </p:sp>
      <p:sp>
        <p:nvSpPr>
          <p:cNvPr id="37" name="Text 19"/>
          <p:cNvSpPr/>
          <p:nvPr/>
        </p:nvSpPr>
        <p:spPr>
          <a:xfrm>
            <a:off x="2194560" y="4297680"/>
            <a:ext cx="9262440" cy="511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0" u="none" strike="noStrike">
                <a:solidFill>
                  <a:srgbClr val="1E2A35"/>
                </a:solidFill>
                <a:effectLst/>
                <a:uFillTx/>
                <a:latin typeface="Calibri"/>
                <a:ea typeface="Calibri"/>
              </a:rPr>
              <a:t>Síntesis y cómo pedirle el análisis a la IA</a:t>
            </a:r>
            <a:endParaRPr lang="en-US" sz="1400" b="0" u="none" strike="noStrike">
              <a:solidFill>
                <a:srgbClr val="000000"/>
              </a:solidFill>
              <a:effectLst/>
              <a:uFillTx/>
              <a:latin typeface="Arial"/>
            </a:endParaRPr>
          </a:p>
        </p:txBody>
      </p:sp>
      <p:sp>
        <p:nvSpPr>
          <p:cNvPr id="38" name="Shape 20"/>
          <p:cNvSpPr/>
          <p:nvPr/>
        </p:nvSpPr>
        <p:spPr>
          <a:xfrm>
            <a:off x="548640" y="4809600"/>
            <a:ext cx="11091240" cy="511560"/>
          </a:xfrm>
          <a:prstGeom prst="rect">
            <a:avLst/>
          </a:prstGeom>
          <a:solidFill>
            <a:srgbClr val="EEF2F5"/>
          </a:solidFill>
          <a:ln w="6350">
            <a:solidFill>
              <a:srgbClr val="D5DCE3"/>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39" name="Text 21"/>
          <p:cNvSpPr/>
          <p:nvPr/>
        </p:nvSpPr>
        <p:spPr>
          <a:xfrm>
            <a:off x="685800" y="4809600"/>
            <a:ext cx="1371240" cy="511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CB5E2E"/>
                </a:solidFill>
                <a:effectLst/>
                <a:uFillTx/>
                <a:latin typeface="Cambria"/>
                <a:ea typeface="Cambria"/>
              </a:rPr>
              <a:t>13:05</a:t>
            </a:r>
            <a:endParaRPr lang="en-US" sz="1600" b="0" u="none" strike="noStrike">
              <a:solidFill>
                <a:srgbClr val="000000"/>
              </a:solidFill>
              <a:effectLst/>
              <a:uFillTx/>
              <a:latin typeface="Arial"/>
            </a:endParaRPr>
          </a:p>
        </p:txBody>
      </p:sp>
      <p:sp>
        <p:nvSpPr>
          <p:cNvPr id="40" name="Text 22"/>
          <p:cNvSpPr/>
          <p:nvPr/>
        </p:nvSpPr>
        <p:spPr>
          <a:xfrm>
            <a:off x="2194560" y="4809600"/>
            <a:ext cx="9262440" cy="511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0" u="none" strike="noStrike">
                <a:solidFill>
                  <a:srgbClr val="1E2A35"/>
                </a:solidFill>
                <a:effectLst/>
                <a:uFillTx/>
                <a:latin typeface="Calibri"/>
                <a:ea typeface="Calibri"/>
              </a:rPr>
              <a:t>Práctica guiada y encuadre de la tarea</a:t>
            </a:r>
            <a:endParaRPr lang="en-US" sz="1400" b="0" u="none" strike="noStrike">
              <a:solidFill>
                <a:srgbClr val="000000"/>
              </a:solidFill>
              <a:effectLst/>
              <a:uFillTx/>
              <a:latin typeface="Arial"/>
            </a:endParaRPr>
          </a:p>
        </p:txBody>
      </p:sp>
      <p:sp>
        <p:nvSpPr>
          <p:cNvPr id="41" name="Shape 23"/>
          <p:cNvSpPr/>
          <p:nvPr/>
        </p:nvSpPr>
        <p:spPr>
          <a:xfrm>
            <a:off x="548640" y="5321880"/>
            <a:ext cx="11091240" cy="511560"/>
          </a:xfrm>
          <a:prstGeom prst="rect">
            <a:avLst/>
          </a:prstGeom>
          <a:solidFill>
            <a:srgbClr val="FFFFFF"/>
          </a:solidFill>
          <a:ln w="6350">
            <a:solidFill>
              <a:srgbClr val="D5DCE3"/>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42" name="Text 24"/>
          <p:cNvSpPr/>
          <p:nvPr/>
        </p:nvSpPr>
        <p:spPr>
          <a:xfrm>
            <a:off x="685800" y="5321880"/>
            <a:ext cx="1371240" cy="511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CB5E2E"/>
                </a:solidFill>
                <a:effectLst/>
                <a:uFillTx/>
                <a:latin typeface="Cambria"/>
                <a:ea typeface="Cambria"/>
              </a:rPr>
              <a:t>13:25</a:t>
            </a:r>
            <a:endParaRPr lang="en-US" sz="1600" b="0" u="none" strike="noStrike">
              <a:solidFill>
                <a:srgbClr val="000000"/>
              </a:solidFill>
              <a:effectLst/>
              <a:uFillTx/>
              <a:latin typeface="Arial"/>
            </a:endParaRPr>
          </a:p>
        </p:txBody>
      </p:sp>
      <p:sp>
        <p:nvSpPr>
          <p:cNvPr id="43" name="Text 25"/>
          <p:cNvSpPr/>
          <p:nvPr/>
        </p:nvSpPr>
        <p:spPr>
          <a:xfrm>
            <a:off x="2194560" y="5321880"/>
            <a:ext cx="9262440" cy="511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0" u="none" strike="noStrike">
                <a:solidFill>
                  <a:srgbClr val="1E2A35"/>
                </a:solidFill>
                <a:effectLst/>
                <a:uFillTx/>
                <a:latin typeface="Calibri"/>
                <a:ea typeface="Calibri"/>
              </a:rPr>
              <a:t>Cierre y puente a la Sesión 8</a:t>
            </a:r>
            <a:endParaRPr lang="en-US" sz="1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4" name="Text 38"/>
          <p:cNvSpPr/>
          <p:nvPr/>
        </p:nvSpPr>
        <p:spPr>
          <a:xfrm>
            <a:off x="548640" y="384120"/>
            <a:ext cx="11091240" cy="639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900" b="1" u="none" strike="noStrike">
                <a:solidFill>
                  <a:srgbClr val="1E2A35"/>
                </a:solidFill>
                <a:effectLst/>
                <a:uFillTx/>
                <a:latin typeface="Calibri"/>
                <a:ea typeface="Calibri"/>
              </a:rPr>
              <a:t>Anatomía de un buen prompt cuantitativo</a:t>
            </a:r>
            <a:endParaRPr lang="en-US" sz="2900" b="0" u="none" strike="noStrike">
              <a:solidFill>
                <a:srgbClr val="000000"/>
              </a:solidFill>
              <a:effectLst/>
              <a:uFillTx/>
              <a:latin typeface="Arial"/>
            </a:endParaRPr>
          </a:p>
        </p:txBody>
      </p:sp>
      <p:sp>
        <p:nvSpPr>
          <p:cNvPr id="45" name="Text 42"/>
          <p:cNvSpPr/>
          <p:nvPr/>
        </p:nvSpPr>
        <p:spPr>
          <a:xfrm>
            <a:off x="548640" y="1042560"/>
            <a:ext cx="1109124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0" u="none" strike="noStrike">
                <a:solidFill>
                  <a:srgbClr val="60707E"/>
                </a:solidFill>
                <a:effectLst/>
                <a:uFillTx/>
                <a:latin typeface="Calibri"/>
                <a:ea typeface="Calibri"/>
              </a:rPr>
              <a:t>Un pedido vago no da error: da un número calculado sobre supuestos que tú no elegiste. Cuatro cosas que el prompt debe fijar.</a:t>
            </a:r>
            <a:endParaRPr lang="en-US" sz="1400" b="0" u="none" strike="noStrike">
              <a:solidFill>
                <a:srgbClr val="000000"/>
              </a:solidFill>
              <a:effectLst/>
              <a:uFillTx/>
              <a:latin typeface="Arial"/>
            </a:endParaRPr>
          </a:p>
        </p:txBody>
      </p:sp>
      <p:sp>
        <p:nvSpPr>
          <p:cNvPr id="46" name="Shape 2"/>
          <p:cNvSpPr/>
          <p:nvPr/>
        </p:nvSpPr>
        <p:spPr>
          <a:xfrm>
            <a:off x="548640" y="1783080"/>
            <a:ext cx="5394600" cy="959760"/>
          </a:xfrm>
          <a:prstGeom prst="roundRect">
            <a:avLst>
              <a:gd name="adj" fmla="val 5714"/>
            </a:avLst>
          </a:prstGeom>
          <a:solidFill>
            <a:srgbClr val="FFFFFF"/>
          </a:solidFill>
          <a:ln w="9525">
            <a:solidFill>
              <a:srgbClr val="D5DCE3"/>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47" name="Shape 3"/>
          <p:cNvSpPr/>
          <p:nvPr/>
        </p:nvSpPr>
        <p:spPr>
          <a:xfrm>
            <a:off x="749880" y="2075760"/>
            <a:ext cx="383760" cy="383760"/>
          </a:xfrm>
          <a:prstGeom prst="ellipse">
            <a:avLst/>
          </a:prstGeom>
          <a:solidFill>
            <a:srgbClr val="CB5E2E"/>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48" name="Text 46"/>
          <p:cNvSpPr/>
          <p:nvPr/>
        </p:nvSpPr>
        <p:spPr>
          <a:xfrm>
            <a:off x="749880" y="2075760"/>
            <a:ext cx="383760" cy="3837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600" b="1" u="none" strike="noStrike">
                <a:solidFill>
                  <a:srgbClr val="FFFFFF"/>
                </a:solidFill>
                <a:effectLst/>
                <a:uFillTx/>
                <a:latin typeface="Cambria"/>
                <a:ea typeface="Cambria"/>
              </a:rPr>
              <a:t>1</a:t>
            </a:r>
            <a:endParaRPr lang="en-US" sz="1600" b="0" u="none" strike="noStrike">
              <a:solidFill>
                <a:srgbClr val="000000"/>
              </a:solidFill>
              <a:effectLst/>
              <a:uFillTx/>
              <a:latin typeface="Arial"/>
            </a:endParaRPr>
          </a:p>
        </p:txBody>
      </p:sp>
      <p:sp>
        <p:nvSpPr>
          <p:cNvPr id="49" name="Text 50"/>
          <p:cNvSpPr/>
          <p:nvPr/>
        </p:nvSpPr>
        <p:spPr>
          <a:xfrm>
            <a:off x="1280160" y="1929240"/>
            <a:ext cx="448020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50" b="1" u="none" strike="noStrike">
                <a:solidFill>
                  <a:srgbClr val="1E2A35"/>
                </a:solidFill>
                <a:effectLst/>
                <a:uFillTx/>
                <a:latin typeface="Calibri"/>
                <a:ea typeface="Calibri"/>
              </a:rPr>
              <a:t>Nombra las columnas exactas</a:t>
            </a:r>
            <a:endParaRPr lang="en-US" sz="1450" b="0" u="none" strike="noStrike">
              <a:solidFill>
                <a:srgbClr val="000000"/>
              </a:solidFill>
              <a:effectLst/>
              <a:uFillTx/>
              <a:latin typeface="Arial"/>
            </a:endParaRPr>
          </a:p>
        </p:txBody>
      </p:sp>
      <p:sp>
        <p:nvSpPr>
          <p:cNvPr id="50" name="Text 51"/>
          <p:cNvSpPr/>
          <p:nvPr/>
        </p:nvSpPr>
        <p:spPr>
          <a:xfrm>
            <a:off x="1280160" y="2258640"/>
            <a:ext cx="4480200" cy="456840"/>
          </a:xfrm>
          <a:prstGeom prst="rect">
            <a:avLst/>
          </a:prstGeom>
          <a:noFill/>
          <a:ln w="0">
            <a:noFill/>
          </a:ln>
        </p:spPr>
        <p:style>
          <a:lnRef idx="0"/>
          <a:fillRef idx="0"/>
          <a:effectRef idx="0"/>
          <a:fontRef idx="minor"/>
        </p:style>
        <p:txBody>
          <a:bodyPr lIns="0" tIns="0" rIns="0" bIns="0" anchor="ctr">
            <a:noAutofit/>
          </a:bodyPr>
          <a:p>
            <a:pPr defTabSz="914400">
              <a:lnSpc>
                <a:spcPct val="95000"/>
              </a:lnSpc>
              <a:tabLst>
                <a:tab pos="0" algn="l"/>
              </a:tabLst>
            </a:pPr>
            <a:r>
              <a:rPr lang="en-US" sz="1150" b="0" u="none" strike="noStrike">
                <a:solidFill>
                  <a:srgbClr val="60707E"/>
                </a:solidFill>
                <a:effectLst/>
                <a:uFillTx/>
                <a:latin typeface="Calibri"/>
                <a:ea typeface="Calibri"/>
              </a:rPr>
              <a:t>«monto_apoyo», «entidad», no «el gasto». La IA no adivina cuál columna es cuál.</a:t>
            </a:r>
            <a:endParaRPr lang="en-US" sz="1150" b="0" u="none" strike="noStrike">
              <a:solidFill>
                <a:srgbClr val="000000"/>
              </a:solidFill>
              <a:effectLst/>
              <a:uFillTx/>
              <a:latin typeface="Arial"/>
            </a:endParaRPr>
          </a:p>
        </p:txBody>
      </p:sp>
      <p:sp>
        <p:nvSpPr>
          <p:cNvPr id="51" name="Shape 7"/>
          <p:cNvSpPr/>
          <p:nvPr/>
        </p:nvSpPr>
        <p:spPr>
          <a:xfrm>
            <a:off x="6245280" y="1783080"/>
            <a:ext cx="5394600" cy="959760"/>
          </a:xfrm>
          <a:prstGeom prst="roundRect">
            <a:avLst>
              <a:gd name="adj" fmla="val 5714"/>
            </a:avLst>
          </a:prstGeom>
          <a:solidFill>
            <a:srgbClr val="FFFFFF"/>
          </a:solidFill>
          <a:ln w="9525">
            <a:solidFill>
              <a:srgbClr val="D5DCE3"/>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52" name="Shape 8"/>
          <p:cNvSpPr/>
          <p:nvPr/>
        </p:nvSpPr>
        <p:spPr>
          <a:xfrm>
            <a:off x="6446520" y="2075760"/>
            <a:ext cx="383760" cy="383760"/>
          </a:xfrm>
          <a:prstGeom prst="ellipse">
            <a:avLst/>
          </a:prstGeom>
          <a:solidFill>
            <a:srgbClr val="CB5E2E"/>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53" name="Text 54"/>
          <p:cNvSpPr/>
          <p:nvPr/>
        </p:nvSpPr>
        <p:spPr>
          <a:xfrm>
            <a:off x="6446520" y="2075760"/>
            <a:ext cx="383760" cy="3837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600" b="1" u="none" strike="noStrike">
                <a:solidFill>
                  <a:srgbClr val="FFFFFF"/>
                </a:solidFill>
                <a:effectLst/>
                <a:uFillTx/>
                <a:latin typeface="Cambria"/>
                <a:ea typeface="Cambria"/>
              </a:rPr>
              <a:t>2</a:t>
            </a:r>
            <a:endParaRPr lang="en-US" sz="1600" b="0" u="none" strike="noStrike">
              <a:solidFill>
                <a:srgbClr val="000000"/>
              </a:solidFill>
              <a:effectLst/>
              <a:uFillTx/>
              <a:latin typeface="Arial"/>
            </a:endParaRPr>
          </a:p>
        </p:txBody>
      </p:sp>
      <p:sp>
        <p:nvSpPr>
          <p:cNvPr id="54" name="Text 55"/>
          <p:cNvSpPr/>
          <p:nvPr/>
        </p:nvSpPr>
        <p:spPr>
          <a:xfrm>
            <a:off x="6976800" y="1929240"/>
            <a:ext cx="448020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50" b="1" u="none" strike="noStrike">
                <a:solidFill>
                  <a:srgbClr val="1E2A35"/>
                </a:solidFill>
                <a:effectLst/>
                <a:uFillTx/>
                <a:latin typeface="Calibri"/>
                <a:ea typeface="Calibri"/>
              </a:rPr>
              <a:t>Define la unidad de análisis</a:t>
            </a:r>
            <a:endParaRPr lang="en-US" sz="1450" b="0" u="none" strike="noStrike">
              <a:solidFill>
                <a:srgbClr val="000000"/>
              </a:solidFill>
              <a:effectLst/>
              <a:uFillTx/>
              <a:latin typeface="Arial"/>
            </a:endParaRPr>
          </a:p>
        </p:txBody>
      </p:sp>
      <p:sp>
        <p:nvSpPr>
          <p:cNvPr id="55" name="Text 56"/>
          <p:cNvSpPr/>
          <p:nvPr/>
        </p:nvSpPr>
        <p:spPr>
          <a:xfrm>
            <a:off x="6976800" y="2258640"/>
            <a:ext cx="4480200" cy="456840"/>
          </a:xfrm>
          <a:prstGeom prst="rect">
            <a:avLst/>
          </a:prstGeom>
          <a:noFill/>
          <a:ln w="0">
            <a:noFill/>
          </a:ln>
        </p:spPr>
        <p:style>
          <a:lnRef idx="0"/>
          <a:fillRef idx="0"/>
          <a:effectRef idx="0"/>
          <a:fontRef idx="minor"/>
        </p:style>
        <p:txBody>
          <a:bodyPr lIns="0" tIns="0" rIns="0" bIns="0" anchor="ctr">
            <a:noAutofit/>
          </a:bodyPr>
          <a:p>
            <a:pPr defTabSz="914400">
              <a:lnSpc>
                <a:spcPct val="95000"/>
              </a:lnSpc>
              <a:tabLst>
                <a:tab pos="0" algn="l"/>
              </a:tabLst>
            </a:pPr>
            <a:r>
              <a:rPr lang="en-US" sz="1150" b="0" u="none" strike="noStrike">
                <a:solidFill>
                  <a:srgbClr val="60707E"/>
                </a:solidFill>
                <a:effectLst/>
                <a:uFillTx/>
                <a:latin typeface="Calibri"/>
                <a:ea typeface="Calibri"/>
              </a:rPr>
              <a:t>¿Por entidad, por beneficiario, por folio único? Cambia por completo el resultado.</a:t>
            </a:r>
            <a:endParaRPr lang="en-US" sz="1150" b="0" u="none" strike="noStrike">
              <a:solidFill>
                <a:srgbClr val="000000"/>
              </a:solidFill>
              <a:effectLst/>
              <a:uFillTx/>
              <a:latin typeface="Arial"/>
            </a:endParaRPr>
          </a:p>
        </p:txBody>
      </p:sp>
      <p:sp>
        <p:nvSpPr>
          <p:cNvPr id="56" name="Shape 12"/>
          <p:cNvSpPr/>
          <p:nvPr/>
        </p:nvSpPr>
        <p:spPr>
          <a:xfrm>
            <a:off x="548640" y="2944440"/>
            <a:ext cx="5394600" cy="959760"/>
          </a:xfrm>
          <a:prstGeom prst="roundRect">
            <a:avLst>
              <a:gd name="adj" fmla="val 5714"/>
            </a:avLst>
          </a:prstGeom>
          <a:solidFill>
            <a:srgbClr val="FFFFFF"/>
          </a:solidFill>
          <a:ln w="9525">
            <a:solidFill>
              <a:srgbClr val="D5DCE3"/>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57" name="Shape 13"/>
          <p:cNvSpPr/>
          <p:nvPr/>
        </p:nvSpPr>
        <p:spPr>
          <a:xfrm>
            <a:off x="749880" y="3237120"/>
            <a:ext cx="383760" cy="383760"/>
          </a:xfrm>
          <a:prstGeom prst="ellipse">
            <a:avLst/>
          </a:prstGeom>
          <a:solidFill>
            <a:srgbClr val="CB5E2E"/>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58" name="Text 57"/>
          <p:cNvSpPr/>
          <p:nvPr/>
        </p:nvSpPr>
        <p:spPr>
          <a:xfrm>
            <a:off x="749880" y="3237120"/>
            <a:ext cx="383760" cy="3837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600" b="1" u="none" strike="noStrike">
                <a:solidFill>
                  <a:srgbClr val="FFFFFF"/>
                </a:solidFill>
                <a:effectLst/>
                <a:uFillTx/>
                <a:latin typeface="Cambria"/>
                <a:ea typeface="Cambria"/>
              </a:rPr>
              <a:t>3</a:t>
            </a:r>
            <a:endParaRPr lang="en-US" sz="1600" b="0" u="none" strike="noStrike">
              <a:solidFill>
                <a:srgbClr val="000000"/>
              </a:solidFill>
              <a:effectLst/>
              <a:uFillTx/>
              <a:latin typeface="Arial"/>
            </a:endParaRPr>
          </a:p>
        </p:txBody>
      </p:sp>
      <p:sp>
        <p:nvSpPr>
          <p:cNvPr id="59" name="Text 58"/>
          <p:cNvSpPr/>
          <p:nvPr/>
        </p:nvSpPr>
        <p:spPr>
          <a:xfrm>
            <a:off x="1280160" y="3090600"/>
            <a:ext cx="448020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50" b="1" u="none" strike="noStrike">
                <a:solidFill>
                  <a:srgbClr val="1E2A35"/>
                </a:solidFill>
                <a:effectLst/>
                <a:uFillTx/>
                <a:latin typeface="Calibri"/>
                <a:ea typeface="Calibri"/>
              </a:rPr>
              <a:t>Di qué hacer con lo inválido</a:t>
            </a:r>
            <a:endParaRPr lang="en-US" sz="1450" b="0" u="none" strike="noStrike">
              <a:solidFill>
                <a:srgbClr val="000000"/>
              </a:solidFill>
              <a:effectLst/>
              <a:uFillTx/>
              <a:latin typeface="Arial"/>
            </a:endParaRPr>
          </a:p>
        </p:txBody>
      </p:sp>
      <p:sp>
        <p:nvSpPr>
          <p:cNvPr id="60" name="Text 59"/>
          <p:cNvSpPr/>
          <p:nvPr/>
        </p:nvSpPr>
        <p:spPr>
          <a:xfrm>
            <a:off x="1280160" y="3420000"/>
            <a:ext cx="4480200" cy="456840"/>
          </a:xfrm>
          <a:prstGeom prst="rect">
            <a:avLst/>
          </a:prstGeom>
          <a:noFill/>
          <a:ln w="0">
            <a:noFill/>
          </a:ln>
        </p:spPr>
        <p:style>
          <a:lnRef idx="0"/>
          <a:fillRef idx="0"/>
          <a:effectRef idx="0"/>
          <a:fontRef idx="minor"/>
        </p:style>
        <p:txBody>
          <a:bodyPr lIns="0" tIns="0" rIns="0" bIns="0" anchor="ctr">
            <a:noAutofit/>
          </a:bodyPr>
          <a:p>
            <a:pPr defTabSz="914400">
              <a:lnSpc>
                <a:spcPct val="95000"/>
              </a:lnSpc>
              <a:tabLst>
                <a:tab pos="0" algn="l"/>
              </a:tabLst>
            </a:pPr>
            <a:r>
              <a:rPr lang="en-US" sz="1150" b="0" u="none" strike="noStrike">
                <a:solidFill>
                  <a:srgbClr val="60707E"/>
                </a:solidFill>
                <a:effectLst/>
                <a:uFillTx/>
                <a:latin typeface="Calibri"/>
                <a:ea typeface="Calibri"/>
              </a:rPr>
              <a:t>Trata el texto como número, ignora las vacías, cuenta cada folio una sola vez.</a:t>
            </a:r>
            <a:endParaRPr lang="en-US" sz="1150" b="0" u="none" strike="noStrike">
              <a:solidFill>
                <a:srgbClr val="000000"/>
              </a:solidFill>
              <a:effectLst/>
              <a:uFillTx/>
              <a:latin typeface="Arial"/>
            </a:endParaRPr>
          </a:p>
        </p:txBody>
      </p:sp>
      <p:sp>
        <p:nvSpPr>
          <p:cNvPr id="61" name="Shape 17"/>
          <p:cNvSpPr/>
          <p:nvPr/>
        </p:nvSpPr>
        <p:spPr>
          <a:xfrm>
            <a:off x="6245280" y="2944440"/>
            <a:ext cx="5394600" cy="959760"/>
          </a:xfrm>
          <a:prstGeom prst="roundRect">
            <a:avLst>
              <a:gd name="adj" fmla="val 5714"/>
            </a:avLst>
          </a:prstGeom>
          <a:solidFill>
            <a:srgbClr val="FFFFFF"/>
          </a:solidFill>
          <a:ln w="9525">
            <a:solidFill>
              <a:srgbClr val="D5DCE3"/>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62" name="Shape 18"/>
          <p:cNvSpPr/>
          <p:nvPr/>
        </p:nvSpPr>
        <p:spPr>
          <a:xfrm>
            <a:off x="6446520" y="3237120"/>
            <a:ext cx="383760" cy="383760"/>
          </a:xfrm>
          <a:prstGeom prst="ellipse">
            <a:avLst/>
          </a:prstGeom>
          <a:solidFill>
            <a:srgbClr val="CB5E2E"/>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63" name="Text 60"/>
          <p:cNvSpPr/>
          <p:nvPr/>
        </p:nvSpPr>
        <p:spPr>
          <a:xfrm>
            <a:off x="6446520" y="3237120"/>
            <a:ext cx="383760" cy="3837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600" b="1" u="none" strike="noStrike">
                <a:solidFill>
                  <a:srgbClr val="FFFFFF"/>
                </a:solidFill>
                <a:effectLst/>
                <a:uFillTx/>
                <a:latin typeface="Cambria"/>
                <a:ea typeface="Cambria"/>
              </a:rPr>
              <a:t>4</a:t>
            </a:r>
            <a:endParaRPr lang="en-US" sz="1600" b="0" u="none" strike="noStrike">
              <a:solidFill>
                <a:srgbClr val="000000"/>
              </a:solidFill>
              <a:effectLst/>
              <a:uFillTx/>
              <a:latin typeface="Arial"/>
            </a:endParaRPr>
          </a:p>
        </p:txBody>
      </p:sp>
      <p:sp>
        <p:nvSpPr>
          <p:cNvPr id="64" name="Text 61"/>
          <p:cNvSpPr/>
          <p:nvPr/>
        </p:nvSpPr>
        <p:spPr>
          <a:xfrm>
            <a:off x="6976800" y="3090600"/>
            <a:ext cx="448020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50" b="1" u="none" strike="noStrike">
                <a:solidFill>
                  <a:srgbClr val="1E2A35"/>
                </a:solidFill>
                <a:effectLst/>
                <a:uFillTx/>
                <a:latin typeface="Calibri"/>
                <a:ea typeface="Calibri"/>
              </a:rPr>
              <a:t>Especifica la salida</a:t>
            </a:r>
            <a:endParaRPr lang="en-US" sz="1450" b="0" u="none" strike="noStrike">
              <a:solidFill>
                <a:srgbClr val="000000"/>
              </a:solidFill>
              <a:effectLst/>
              <a:uFillTx/>
              <a:latin typeface="Arial"/>
            </a:endParaRPr>
          </a:p>
        </p:txBody>
      </p:sp>
      <p:sp>
        <p:nvSpPr>
          <p:cNvPr id="65" name="Text 62"/>
          <p:cNvSpPr/>
          <p:nvPr/>
        </p:nvSpPr>
        <p:spPr>
          <a:xfrm>
            <a:off x="6976800" y="3420000"/>
            <a:ext cx="4480200" cy="456840"/>
          </a:xfrm>
          <a:prstGeom prst="rect">
            <a:avLst/>
          </a:prstGeom>
          <a:noFill/>
          <a:ln w="0">
            <a:noFill/>
          </a:ln>
        </p:spPr>
        <p:style>
          <a:lnRef idx="0"/>
          <a:fillRef idx="0"/>
          <a:effectRef idx="0"/>
          <a:fontRef idx="minor"/>
        </p:style>
        <p:txBody>
          <a:bodyPr lIns="0" tIns="0" rIns="0" bIns="0" anchor="ctr">
            <a:noAutofit/>
          </a:bodyPr>
          <a:p>
            <a:pPr defTabSz="914400">
              <a:lnSpc>
                <a:spcPct val="95000"/>
              </a:lnSpc>
              <a:tabLst>
                <a:tab pos="0" algn="l"/>
              </a:tabLst>
            </a:pPr>
            <a:r>
              <a:rPr lang="en-US" sz="1150" b="0" u="none" strike="noStrike">
                <a:solidFill>
                  <a:srgbClr val="60707E"/>
                </a:solidFill>
                <a:effectLst/>
                <a:uFillTx/>
                <a:latin typeface="Calibri"/>
                <a:ea typeface="Calibri"/>
              </a:rPr>
              <a:t>Promedio y conteo, redondeado a pesos, en una tabla. Que no elija el formato por ti.</a:t>
            </a:r>
            <a:endParaRPr lang="en-US" sz="1150" b="0" u="none" strike="noStrike">
              <a:solidFill>
                <a:srgbClr val="000000"/>
              </a:solidFill>
              <a:effectLst/>
              <a:uFillTx/>
              <a:latin typeface="Arial"/>
            </a:endParaRPr>
          </a:p>
        </p:txBody>
      </p:sp>
      <p:sp>
        <p:nvSpPr>
          <p:cNvPr id="66" name="Shape 22"/>
          <p:cNvSpPr/>
          <p:nvPr/>
        </p:nvSpPr>
        <p:spPr>
          <a:xfrm>
            <a:off x="548640" y="4160520"/>
            <a:ext cx="5394600" cy="1691280"/>
          </a:xfrm>
          <a:prstGeom prst="roundRect">
            <a:avLst>
              <a:gd name="adj" fmla="val 3243"/>
            </a:avLst>
          </a:prstGeom>
          <a:solidFill>
            <a:srgbClr val="F9E7E3"/>
          </a:solidFill>
          <a:ln w="9525">
            <a:solidFill>
              <a:srgbClr val="D5DCE3"/>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67" name="Text 63"/>
          <p:cNvSpPr/>
          <p:nvPr/>
        </p:nvSpPr>
        <p:spPr>
          <a:xfrm>
            <a:off x="822960" y="4297680"/>
            <a:ext cx="484596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1" u="none" spc="99" strike="noStrike">
                <a:solidFill>
                  <a:srgbClr val="A23B22"/>
                </a:solidFill>
                <a:effectLst/>
                <a:uFillTx/>
                <a:latin typeface="Calibri"/>
                <a:ea typeface="Calibri"/>
              </a:rPr>
              <a:t>VAGO</a:t>
            </a:r>
            <a:endParaRPr lang="en-US" sz="1200" b="0" u="none" strike="noStrike">
              <a:solidFill>
                <a:srgbClr val="000000"/>
              </a:solidFill>
              <a:effectLst/>
              <a:uFillTx/>
              <a:latin typeface="Arial"/>
            </a:endParaRPr>
          </a:p>
        </p:txBody>
      </p:sp>
      <p:sp>
        <p:nvSpPr>
          <p:cNvPr id="68" name="Text 64"/>
          <p:cNvSpPr/>
          <p:nvPr/>
        </p:nvSpPr>
        <p:spPr>
          <a:xfrm>
            <a:off x="822960" y="4599360"/>
            <a:ext cx="484596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0" i="1" u="none" strike="noStrike">
                <a:solidFill>
                  <a:srgbClr val="1E2A35"/>
                </a:solidFill>
                <a:effectLst/>
                <a:uFillTx/>
                <a:latin typeface="Cambria"/>
                <a:ea typeface="Cambria"/>
              </a:rPr>
              <a:t>«saca el promedio del apoyo»</a:t>
            </a:r>
            <a:endParaRPr lang="en-US" sz="1400" b="0" u="none" strike="noStrike">
              <a:solidFill>
                <a:srgbClr val="000000"/>
              </a:solidFill>
              <a:effectLst/>
              <a:uFillTx/>
              <a:latin typeface="Arial"/>
            </a:endParaRPr>
          </a:p>
        </p:txBody>
      </p:sp>
      <p:sp>
        <p:nvSpPr>
          <p:cNvPr id="69" name="Text 65"/>
          <p:cNvSpPr/>
          <p:nvPr/>
        </p:nvSpPr>
        <p:spPr>
          <a:xfrm>
            <a:off x="822960" y="5029200"/>
            <a:ext cx="4845960" cy="731160"/>
          </a:xfrm>
          <a:prstGeom prst="rect">
            <a:avLst/>
          </a:prstGeom>
          <a:noFill/>
          <a:ln w="0">
            <a:noFill/>
          </a:ln>
        </p:spPr>
        <p:style>
          <a:lnRef idx="0"/>
          <a:fillRef idx="0"/>
          <a:effectRef idx="0"/>
          <a:fontRef idx="minor"/>
        </p:style>
        <p:txBody>
          <a:bodyPr lIns="0" tIns="0" rIns="0" bIns="0" anchor="ctr">
            <a:noAutofit/>
          </a:bodyPr>
          <a:p>
            <a:pPr defTabSz="914400">
              <a:lnSpc>
                <a:spcPct val="105000"/>
              </a:lnSpc>
              <a:tabLst>
                <a:tab pos="0" algn="l"/>
              </a:tabLst>
            </a:pPr>
            <a:r>
              <a:rPr lang="en-US" sz="1200" b="0" u="none" strike="noStrike">
                <a:solidFill>
                  <a:srgbClr val="1E2A35"/>
                </a:solidFill>
                <a:effectLst/>
                <a:uFillTx/>
                <a:latin typeface="Calibri"/>
                <a:ea typeface="Calibri"/>
              </a:rPr>
              <a:t>La IA adivina la columna, el redondeo, y qué hace con el texto, los vacíos y los duplicados.</a:t>
            </a:r>
            <a:endParaRPr lang="en-US" sz="1200" b="0" u="none" strike="noStrike">
              <a:solidFill>
                <a:srgbClr val="000000"/>
              </a:solidFill>
              <a:effectLst/>
              <a:uFillTx/>
              <a:latin typeface="Arial"/>
            </a:endParaRPr>
          </a:p>
        </p:txBody>
      </p:sp>
      <p:sp>
        <p:nvSpPr>
          <p:cNvPr id="70" name="Shape 26"/>
          <p:cNvSpPr/>
          <p:nvPr/>
        </p:nvSpPr>
        <p:spPr>
          <a:xfrm>
            <a:off x="6245280" y="4160520"/>
            <a:ext cx="5394600" cy="1691280"/>
          </a:xfrm>
          <a:prstGeom prst="roundRect">
            <a:avLst>
              <a:gd name="adj" fmla="val 3243"/>
            </a:avLst>
          </a:prstGeom>
          <a:solidFill>
            <a:srgbClr val="E7F2EA"/>
          </a:solidFill>
          <a:ln w="9525">
            <a:solidFill>
              <a:srgbClr val="D5DCE3"/>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71" name="Text 66"/>
          <p:cNvSpPr/>
          <p:nvPr/>
        </p:nvSpPr>
        <p:spPr>
          <a:xfrm>
            <a:off x="6519600" y="4297680"/>
            <a:ext cx="484596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1" u="none" spc="99" strike="noStrike">
                <a:solidFill>
                  <a:srgbClr val="2E6E49"/>
                </a:solidFill>
                <a:effectLst/>
                <a:uFillTx/>
                <a:latin typeface="Calibri"/>
                <a:ea typeface="Calibri"/>
              </a:rPr>
              <a:t>PRECISO</a:t>
            </a:r>
            <a:endParaRPr lang="en-US" sz="1200" b="0" u="none" strike="noStrike">
              <a:solidFill>
                <a:srgbClr val="000000"/>
              </a:solidFill>
              <a:effectLst/>
              <a:uFillTx/>
              <a:latin typeface="Arial"/>
            </a:endParaRPr>
          </a:p>
        </p:txBody>
      </p:sp>
      <p:sp>
        <p:nvSpPr>
          <p:cNvPr id="72" name="Text 67"/>
          <p:cNvSpPr/>
          <p:nvPr/>
        </p:nvSpPr>
        <p:spPr>
          <a:xfrm>
            <a:off x="6519600" y="4599360"/>
            <a:ext cx="4845960" cy="1142640"/>
          </a:xfrm>
          <a:prstGeom prst="rect">
            <a:avLst/>
          </a:prstGeom>
          <a:noFill/>
          <a:ln w="0">
            <a:noFill/>
          </a:ln>
        </p:spPr>
        <p:style>
          <a:lnRef idx="0"/>
          <a:fillRef idx="0"/>
          <a:effectRef idx="0"/>
          <a:fontRef idx="minor"/>
        </p:style>
        <p:txBody>
          <a:bodyPr lIns="0" tIns="0" rIns="0" bIns="0" anchor="ctr">
            <a:noAutofit/>
          </a:bodyPr>
          <a:p>
            <a:pPr defTabSz="914400">
              <a:lnSpc>
                <a:spcPct val="105000"/>
              </a:lnSpc>
              <a:tabLst>
                <a:tab pos="0" algn="l"/>
              </a:tabLst>
            </a:pPr>
            <a:r>
              <a:rPr lang="en-US" sz="1200" b="0" u="none" strike="noStrike">
                <a:solidFill>
                  <a:srgbClr val="1E2A35"/>
                </a:solidFill>
                <a:effectLst/>
                <a:uFillTx/>
                <a:latin typeface="Calibri"/>
                <a:ea typeface="Calibri"/>
              </a:rPr>
              <a:t>«promedio de monto_apoyo por entidad, tratando el texto como número, ignorando vacías y contando cada folio una sola vez; redondea a pesos y dame el conteo»</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3" name="Text 0"/>
          <p:cNvSpPr/>
          <p:nvPr/>
        </p:nvSpPr>
        <p:spPr>
          <a:xfrm>
            <a:off x="548640" y="384120"/>
            <a:ext cx="11091240" cy="639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900" b="1" u="none" strike="noStrike">
                <a:solidFill>
                  <a:srgbClr val="1E2A35"/>
                </a:solidFill>
                <a:effectLst/>
                <a:uFillTx/>
                <a:latin typeface="Calibri"/>
                <a:ea typeface="Calibri"/>
              </a:rPr>
              <a:t>Errores comunes al usar IA para análisis cuantitativo</a:t>
            </a:r>
            <a:endParaRPr lang="en-US" sz="2900" b="0" u="none" strike="noStrike">
              <a:solidFill>
                <a:srgbClr val="000000"/>
              </a:solidFill>
              <a:effectLst/>
              <a:uFillTx/>
              <a:latin typeface="Arial"/>
            </a:endParaRPr>
          </a:p>
        </p:txBody>
      </p:sp>
      <p:sp>
        <p:nvSpPr>
          <p:cNvPr id="74" name="Text 1"/>
          <p:cNvSpPr/>
          <p:nvPr/>
        </p:nvSpPr>
        <p:spPr>
          <a:xfrm>
            <a:off x="548640" y="1042560"/>
            <a:ext cx="11091240" cy="5666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0" u="none" strike="noStrike">
                <a:solidFill>
                  <a:srgbClr val="60707E"/>
                </a:solidFill>
                <a:effectLst/>
                <a:uFillTx/>
                <a:latin typeface="Calibri"/>
                <a:ea typeface="Calibri"/>
              </a:rPr>
              <a:t>Ustedes dominan la estadística. Un asistente moderno cada vez acierta más en lo mecánico, ponderar o el error correcto; lo que no puede saber es su contexto. El riesgo es un número que corre, se ve bien, y está mal.</a:t>
            </a:r>
            <a:endParaRPr lang="en-US" sz="1400" b="0" u="none" strike="noStrike">
              <a:solidFill>
                <a:srgbClr val="000000"/>
              </a:solidFill>
              <a:effectLst/>
              <a:uFillTx/>
              <a:latin typeface="Arial"/>
            </a:endParaRPr>
          </a:p>
        </p:txBody>
      </p:sp>
      <p:sp>
        <p:nvSpPr>
          <p:cNvPr id="75" name="Shape 2"/>
          <p:cNvSpPr/>
          <p:nvPr/>
        </p:nvSpPr>
        <p:spPr>
          <a:xfrm>
            <a:off x="548640" y="2240280"/>
            <a:ext cx="3501720" cy="2925720"/>
          </a:xfrm>
          <a:prstGeom prst="roundRect">
            <a:avLst>
              <a:gd name="adj" fmla="val 1875"/>
            </a:avLst>
          </a:prstGeom>
          <a:solidFill>
            <a:srgbClr val="EEF2F5"/>
          </a:solidFill>
          <a:ln w="9525">
            <a:solidFill>
              <a:srgbClr val="D5DCE3"/>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76" name="Shape 3"/>
          <p:cNvSpPr/>
          <p:nvPr/>
        </p:nvSpPr>
        <p:spPr>
          <a:xfrm>
            <a:off x="804600" y="2514600"/>
            <a:ext cx="502560" cy="502560"/>
          </a:xfrm>
          <a:prstGeom prst="ellipse">
            <a:avLst/>
          </a:prstGeom>
          <a:solidFill>
            <a:srgbClr val="CB5E2E"/>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77" name="Text 4"/>
          <p:cNvSpPr/>
          <p:nvPr/>
        </p:nvSpPr>
        <p:spPr>
          <a:xfrm>
            <a:off x="804600" y="2514600"/>
            <a:ext cx="502560" cy="5025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000" b="1" u="none" strike="noStrike">
                <a:solidFill>
                  <a:srgbClr val="FFFFFF"/>
                </a:solidFill>
                <a:effectLst/>
                <a:uFillTx/>
                <a:latin typeface="Cambria"/>
                <a:ea typeface="Cambria"/>
              </a:rPr>
              <a:t>1</a:t>
            </a:r>
            <a:endParaRPr lang="en-US" sz="2000" b="0" u="none" strike="noStrike">
              <a:solidFill>
                <a:srgbClr val="000000"/>
              </a:solidFill>
              <a:effectLst/>
              <a:uFillTx/>
              <a:latin typeface="Arial"/>
            </a:endParaRPr>
          </a:p>
        </p:txBody>
      </p:sp>
      <p:sp>
        <p:nvSpPr>
          <p:cNvPr id="78" name="Text 5"/>
          <p:cNvSpPr/>
          <p:nvPr/>
        </p:nvSpPr>
        <p:spPr>
          <a:xfrm>
            <a:off x="804600" y="3154680"/>
            <a:ext cx="298980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1E2A35"/>
                </a:solidFill>
                <a:effectLst/>
                <a:uFillTx/>
                <a:latin typeface="Calibri"/>
                <a:ea typeface="Calibri"/>
              </a:rPr>
              <a:t>El diseño</a:t>
            </a:r>
            <a:endParaRPr lang="en-US" sz="1600" b="0" u="none" strike="noStrike">
              <a:solidFill>
                <a:srgbClr val="000000"/>
              </a:solidFill>
              <a:effectLst/>
              <a:uFillTx/>
              <a:latin typeface="Arial"/>
            </a:endParaRPr>
          </a:p>
        </p:txBody>
      </p:sp>
      <p:sp>
        <p:nvSpPr>
          <p:cNvPr id="79" name="Text 6"/>
          <p:cNvSpPr/>
          <p:nvPr/>
        </p:nvSpPr>
        <p:spPr>
          <a:xfrm>
            <a:off x="804600" y="3657600"/>
            <a:ext cx="2989800" cy="1371240"/>
          </a:xfrm>
          <a:prstGeom prst="rect">
            <a:avLst/>
          </a:prstGeom>
          <a:noFill/>
          <a:ln w="0">
            <a:noFill/>
          </a:ln>
        </p:spPr>
        <p:style>
          <a:lnRef idx="0"/>
          <a:fillRef idx="0"/>
          <a:effectRef idx="0"/>
          <a:fontRef idx="minor"/>
        </p:style>
        <p:txBody>
          <a:bodyPr lIns="0" tIns="0" rIns="0" bIns="0" anchor="ctr">
            <a:noAutofit/>
          </a:bodyPr>
          <a:p>
            <a:pPr defTabSz="914400">
              <a:lnSpc>
                <a:spcPct val="102000"/>
              </a:lnSpc>
              <a:tabLst>
                <a:tab pos="0" algn="l"/>
              </a:tabLst>
            </a:pPr>
            <a:r>
              <a:rPr lang="en-US" sz="1250" b="0" u="none" strike="noStrike">
                <a:solidFill>
                  <a:srgbClr val="60707E"/>
                </a:solidFill>
                <a:effectLst/>
                <a:uFillTx/>
                <a:latin typeface="Calibri"/>
                <a:ea typeface="Calibri"/>
              </a:rPr>
              <a:t>La IA promedia como si fuera muestra simple. Ignora los factores de expansión, y el número deja de ser poblacional.</a:t>
            </a:r>
            <a:endParaRPr lang="en-US" sz="1250" b="0" u="none" strike="noStrike">
              <a:solidFill>
                <a:srgbClr val="000000"/>
              </a:solidFill>
              <a:effectLst/>
              <a:uFillTx/>
              <a:latin typeface="Arial"/>
            </a:endParaRPr>
          </a:p>
        </p:txBody>
      </p:sp>
      <p:sp>
        <p:nvSpPr>
          <p:cNvPr id="80" name="Shape 7"/>
          <p:cNvSpPr/>
          <p:nvPr/>
        </p:nvSpPr>
        <p:spPr>
          <a:xfrm>
            <a:off x="804600" y="4635720"/>
            <a:ext cx="2990160" cy="360"/>
          </a:xfrm>
          <a:prstGeom prst="line">
            <a:avLst/>
          </a:prstGeom>
          <a:ln w="9525">
            <a:solidFill>
              <a:srgbClr val="D5DCE3"/>
            </a:solidFill>
            <a:round/>
          </a:ln>
        </p:spPr>
        <p:style>
          <a:lnRef idx="0"/>
          <a:fillRef idx="0"/>
          <a:effectRef idx="0"/>
          <a:fontRef idx="minor"/>
        </p:style>
        <p:txBody>
          <a:bodyPr lIns="90000" tIns="-44640" rIns="90000" bIns="-44640" anchor="t" anchorCtr="1">
            <a:noAutofit/>
          </a:bodyPr>
          <a:p>
            <a:pPr/>
            <a:endParaRPr lang="en-US" sz="1800" b="0" u="none" strike="noStrike">
              <a:solidFill>
                <a:srgbClr val="000000"/>
              </a:solidFill>
              <a:effectLst/>
              <a:uFillTx/>
              <a:latin typeface="Arial"/>
            </a:endParaRPr>
          </a:p>
        </p:txBody>
      </p:sp>
      <p:sp>
        <p:nvSpPr>
          <p:cNvPr id="81" name="Text 8"/>
          <p:cNvSpPr/>
          <p:nvPr/>
        </p:nvSpPr>
        <p:spPr>
          <a:xfrm>
            <a:off x="804600" y="4690800"/>
            <a:ext cx="298980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50" b="1" u="none" strike="noStrike">
                <a:solidFill>
                  <a:srgbClr val="CB5E2E"/>
                </a:solidFill>
                <a:effectLst/>
                <a:uFillTx/>
                <a:latin typeface="Calibri"/>
                <a:ea typeface="Calibri"/>
              </a:rPr>
              <a:t>Bloque 1</a:t>
            </a:r>
            <a:endParaRPr lang="en-US" sz="1150" b="0" u="none" strike="noStrike">
              <a:solidFill>
                <a:srgbClr val="000000"/>
              </a:solidFill>
              <a:effectLst/>
              <a:uFillTx/>
              <a:latin typeface="Arial"/>
            </a:endParaRPr>
          </a:p>
        </p:txBody>
      </p:sp>
      <p:sp>
        <p:nvSpPr>
          <p:cNvPr id="82" name="Shape 9"/>
          <p:cNvSpPr/>
          <p:nvPr/>
        </p:nvSpPr>
        <p:spPr>
          <a:xfrm>
            <a:off x="4343400" y="2240280"/>
            <a:ext cx="3501720" cy="2925720"/>
          </a:xfrm>
          <a:prstGeom prst="roundRect">
            <a:avLst>
              <a:gd name="adj" fmla="val 1875"/>
            </a:avLst>
          </a:prstGeom>
          <a:solidFill>
            <a:srgbClr val="FFFFFF"/>
          </a:solidFill>
          <a:ln w="9525">
            <a:solidFill>
              <a:srgbClr val="D5DCE3"/>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83" name="Shape 10"/>
          <p:cNvSpPr/>
          <p:nvPr/>
        </p:nvSpPr>
        <p:spPr>
          <a:xfrm>
            <a:off x="4599360" y="2514600"/>
            <a:ext cx="502560" cy="502560"/>
          </a:xfrm>
          <a:prstGeom prst="ellipse">
            <a:avLst/>
          </a:prstGeom>
          <a:solidFill>
            <a:srgbClr val="CB5E2E"/>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84" name="Text 11"/>
          <p:cNvSpPr/>
          <p:nvPr/>
        </p:nvSpPr>
        <p:spPr>
          <a:xfrm>
            <a:off x="4599360" y="2514600"/>
            <a:ext cx="502560" cy="5025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000" b="1" u="none" strike="noStrike">
                <a:solidFill>
                  <a:srgbClr val="FFFFFF"/>
                </a:solidFill>
                <a:effectLst/>
                <a:uFillTx/>
                <a:latin typeface="Cambria"/>
                <a:ea typeface="Cambria"/>
              </a:rPr>
              <a:t>2</a:t>
            </a:r>
            <a:endParaRPr lang="en-US" sz="2000" b="0" u="none" strike="noStrike">
              <a:solidFill>
                <a:srgbClr val="000000"/>
              </a:solidFill>
              <a:effectLst/>
              <a:uFillTx/>
              <a:latin typeface="Arial"/>
            </a:endParaRPr>
          </a:p>
        </p:txBody>
      </p:sp>
      <p:sp>
        <p:nvSpPr>
          <p:cNvPr id="85" name="Text 12"/>
          <p:cNvSpPr/>
          <p:nvPr/>
        </p:nvSpPr>
        <p:spPr>
          <a:xfrm>
            <a:off x="4599360" y="3154680"/>
            <a:ext cx="298980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1E2A35"/>
                </a:solidFill>
                <a:effectLst/>
                <a:uFillTx/>
                <a:latin typeface="Calibri"/>
                <a:ea typeface="Calibri"/>
              </a:rPr>
              <a:t>El ruido</a:t>
            </a:r>
            <a:endParaRPr lang="en-US" sz="1600" b="0" u="none" strike="noStrike">
              <a:solidFill>
                <a:srgbClr val="000000"/>
              </a:solidFill>
              <a:effectLst/>
              <a:uFillTx/>
              <a:latin typeface="Arial"/>
            </a:endParaRPr>
          </a:p>
        </p:txBody>
      </p:sp>
      <p:sp>
        <p:nvSpPr>
          <p:cNvPr id="86" name="Text 13"/>
          <p:cNvSpPr/>
          <p:nvPr/>
        </p:nvSpPr>
        <p:spPr>
          <a:xfrm>
            <a:off x="4599360" y="3657600"/>
            <a:ext cx="2989800" cy="1371240"/>
          </a:xfrm>
          <a:prstGeom prst="rect">
            <a:avLst/>
          </a:prstGeom>
          <a:noFill/>
          <a:ln w="0">
            <a:noFill/>
          </a:ln>
        </p:spPr>
        <p:style>
          <a:lnRef idx="0"/>
          <a:fillRef idx="0"/>
          <a:effectRef idx="0"/>
          <a:fontRef idx="minor"/>
        </p:style>
        <p:txBody>
          <a:bodyPr lIns="0" tIns="0" rIns="0" bIns="0" anchor="ctr">
            <a:noAutofit/>
          </a:bodyPr>
          <a:p>
            <a:pPr defTabSz="914400">
              <a:lnSpc>
                <a:spcPct val="102000"/>
              </a:lnSpc>
              <a:tabLst>
                <a:tab pos="0" algn="l"/>
              </a:tabLst>
            </a:pPr>
            <a:r>
              <a:rPr lang="en-US" sz="1250" b="0" u="none" strike="noStrike">
                <a:solidFill>
                  <a:srgbClr val="60707E"/>
                </a:solidFill>
                <a:effectLst/>
                <a:uFillTx/>
                <a:latin typeface="Calibri"/>
                <a:ea typeface="Calibri"/>
              </a:rPr>
              <a:t>Reporta el error estándar ingenuo. Promete una precisión que no existe, y así una conclusión firme se cuela sin fundamento.</a:t>
            </a:r>
            <a:endParaRPr lang="en-US" sz="1250" b="0" u="none" strike="noStrike">
              <a:solidFill>
                <a:srgbClr val="000000"/>
              </a:solidFill>
              <a:effectLst/>
              <a:uFillTx/>
              <a:latin typeface="Arial"/>
            </a:endParaRPr>
          </a:p>
        </p:txBody>
      </p:sp>
      <p:sp>
        <p:nvSpPr>
          <p:cNvPr id="87" name="Shape 14"/>
          <p:cNvSpPr/>
          <p:nvPr/>
        </p:nvSpPr>
        <p:spPr>
          <a:xfrm>
            <a:off x="4599360" y="4635720"/>
            <a:ext cx="2990160" cy="360"/>
          </a:xfrm>
          <a:prstGeom prst="line">
            <a:avLst/>
          </a:prstGeom>
          <a:ln w="9525">
            <a:solidFill>
              <a:srgbClr val="D5DCE3"/>
            </a:solidFill>
            <a:round/>
          </a:ln>
        </p:spPr>
        <p:style>
          <a:lnRef idx="0"/>
          <a:fillRef idx="0"/>
          <a:effectRef idx="0"/>
          <a:fontRef idx="minor"/>
        </p:style>
        <p:txBody>
          <a:bodyPr lIns="90000" tIns="-44640" rIns="90000" bIns="-44640" anchor="t" anchorCtr="1">
            <a:noAutofit/>
          </a:bodyPr>
          <a:p>
            <a:pPr/>
            <a:endParaRPr lang="en-US" sz="1800" b="0" u="none" strike="noStrike">
              <a:solidFill>
                <a:srgbClr val="000000"/>
              </a:solidFill>
              <a:effectLst/>
              <a:uFillTx/>
              <a:latin typeface="Arial"/>
            </a:endParaRPr>
          </a:p>
        </p:txBody>
      </p:sp>
      <p:sp>
        <p:nvSpPr>
          <p:cNvPr id="88" name="Text 15"/>
          <p:cNvSpPr/>
          <p:nvPr/>
        </p:nvSpPr>
        <p:spPr>
          <a:xfrm>
            <a:off x="4599360" y="4690800"/>
            <a:ext cx="298980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50" b="1" u="none" strike="noStrike">
                <a:solidFill>
                  <a:srgbClr val="CB5E2E"/>
                </a:solidFill>
                <a:effectLst/>
                <a:uFillTx/>
                <a:latin typeface="Calibri"/>
                <a:ea typeface="Calibri"/>
              </a:rPr>
              <a:t>Bloque 2</a:t>
            </a:r>
            <a:endParaRPr lang="en-US" sz="1150" b="0" u="none" strike="noStrike">
              <a:solidFill>
                <a:srgbClr val="000000"/>
              </a:solidFill>
              <a:effectLst/>
              <a:uFillTx/>
              <a:latin typeface="Arial"/>
            </a:endParaRPr>
          </a:p>
        </p:txBody>
      </p:sp>
      <p:sp>
        <p:nvSpPr>
          <p:cNvPr id="89" name="Shape 16"/>
          <p:cNvSpPr/>
          <p:nvPr/>
        </p:nvSpPr>
        <p:spPr>
          <a:xfrm>
            <a:off x="8138160" y="2240280"/>
            <a:ext cx="3501720" cy="2925720"/>
          </a:xfrm>
          <a:prstGeom prst="roundRect">
            <a:avLst>
              <a:gd name="adj" fmla="val 1875"/>
            </a:avLst>
          </a:prstGeom>
          <a:solidFill>
            <a:srgbClr val="FFFFFF"/>
          </a:solidFill>
          <a:ln w="9525">
            <a:solidFill>
              <a:srgbClr val="D5DCE3"/>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90" name="Shape 17"/>
          <p:cNvSpPr/>
          <p:nvPr/>
        </p:nvSpPr>
        <p:spPr>
          <a:xfrm>
            <a:off x="8394120" y="2514600"/>
            <a:ext cx="502560" cy="502560"/>
          </a:xfrm>
          <a:prstGeom prst="ellipse">
            <a:avLst/>
          </a:prstGeom>
          <a:solidFill>
            <a:srgbClr val="CB5E2E"/>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91" name="Text 18"/>
          <p:cNvSpPr/>
          <p:nvPr/>
        </p:nvSpPr>
        <p:spPr>
          <a:xfrm>
            <a:off x="8394120" y="2514600"/>
            <a:ext cx="502560" cy="5025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000" b="1" u="none" strike="noStrike">
                <a:solidFill>
                  <a:srgbClr val="FFFFFF"/>
                </a:solidFill>
                <a:effectLst/>
                <a:uFillTx/>
                <a:latin typeface="Cambria"/>
                <a:ea typeface="Cambria"/>
              </a:rPr>
              <a:t>3</a:t>
            </a:r>
            <a:endParaRPr lang="en-US" sz="2000" b="0" u="none" strike="noStrike">
              <a:solidFill>
                <a:srgbClr val="000000"/>
              </a:solidFill>
              <a:effectLst/>
              <a:uFillTx/>
              <a:latin typeface="Arial"/>
            </a:endParaRPr>
          </a:p>
        </p:txBody>
      </p:sp>
      <p:sp>
        <p:nvSpPr>
          <p:cNvPr id="92" name="Text 19"/>
          <p:cNvSpPr/>
          <p:nvPr/>
        </p:nvSpPr>
        <p:spPr>
          <a:xfrm>
            <a:off x="8394120" y="3154680"/>
            <a:ext cx="298980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1E2A35"/>
                </a:solidFill>
                <a:effectLst/>
                <a:uFillTx/>
                <a:latin typeface="Calibri"/>
                <a:ea typeface="Calibri"/>
              </a:rPr>
              <a:t>La agregación</a:t>
            </a:r>
            <a:endParaRPr lang="en-US" sz="1600" b="0" u="none" strike="noStrike">
              <a:solidFill>
                <a:srgbClr val="000000"/>
              </a:solidFill>
              <a:effectLst/>
              <a:uFillTx/>
              <a:latin typeface="Arial"/>
            </a:endParaRPr>
          </a:p>
        </p:txBody>
      </p:sp>
      <p:sp>
        <p:nvSpPr>
          <p:cNvPr id="93" name="Text 20"/>
          <p:cNvSpPr/>
          <p:nvPr/>
        </p:nvSpPr>
        <p:spPr>
          <a:xfrm>
            <a:off x="8394120" y="3657600"/>
            <a:ext cx="2989800" cy="1371240"/>
          </a:xfrm>
          <a:prstGeom prst="rect">
            <a:avLst/>
          </a:prstGeom>
          <a:noFill/>
          <a:ln w="0">
            <a:noFill/>
          </a:ln>
        </p:spPr>
        <p:style>
          <a:lnRef idx="0"/>
          <a:fillRef idx="0"/>
          <a:effectRef idx="0"/>
          <a:fontRef idx="minor"/>
        </p:style>
        <p:txBody>
          <a:bodyPr lIns="0" tIns="0" rIns="0" bIns="0" anchor="ctr">
            <a:noAutofit/>
          </a:bodyPr>
          <a:p>
            <a:pPr defTabSz="914400">
              <a:lnSpc>
                <a:spcPct val="102000"/>
              </a:lnSpc>
              <a:tabLst>
                <a:tab pos="0" algn="l"/>
              </a:tabLst>
            </a:pPr>
            <a:r>
              <a:rPr lang="en-US" sz="1250" b="0" u="none" strike="noStrike">
                <a:solidFill>
                  <a:srgbClr val="60707E"/>
                </a:solidFill>
                <a:effectLst/>
                <a:uFillTx/>
                <a:latin typeface="Calibri"/>
                <a:ea typeface="Calibri"/>
              </a:rPr>
              <a:t>Lee el número agregado. Pero al condicionar por subgrupo, la relación puede invertirse por completo.</a:t>
            </a:r>
            <a:endParaRPr lang="en-US" sz="1250" b="0" u="none" strike="noStrike">
              <a:solidFill>
                <a:srgbClr val="000000"/>
              </a:solidFill>
              <a:effectLst/>
              <a:uFillTx/>
              <a:latin typeface="Arial"/>
            </a:endParaRPr>
          </a:p>
        </p:txBody>
      </p:sp>
      <p:sp>
        <p:nvSpPr>
          <p:cNvPr id="94" name="Shape 21"/>
          <p:cNvSpPr/>
          <p:nvPr/>
        </p:nvSpPr>
        <p:spPr>
          <a:xfrm>
            <a:off x="8394120" y="4635720"/>
            <a:ext cx="2990160" cy="360"/>
          </a:xfrm>
          <a:prstGeom prst="line">
            <a:avLst/>
          </a:prstGeom>
          <a:ln w="9525">
            <a:solidFill>
              <a:srgbClr val="D5DCE3"/>
            </a:solidFill>
            <a:round/>
          </a:ln>
        </p:spPr>
        <p:style>
          <a:lnRef idx="0"/>
          <a:fillRef idx="0"/>
          <a:effectRef idx="0"/>
          <a:fontRef idx="minor"/>
        </p:style>
        <p:txBody>
          <a:bodyPr lIns="90000" tIns="-44640" rIns="90000" bIns="-44640" anchor="t" anchorCtr="1">
            <a:noAutofit/>
          </a:bodyPr>
          <a:p>
            <a:pPr/>
            <a:endParaRPr lang="en-US" sz="1800" b="0" u="none" strike="noStrike">
              <a:solidFill>
                <a:srgbClr val="000000"/>
              </a:solidFill>
              <a:effectLst/>
              <a:uFillTx/>
              <a:latin typeface="Arial"/>
            </a:endParaRPr>
          </a:p>
        </p:txBody>
      </p:sp>
      <p:sp>
        <p:nvSpPr>
          <p:cNvPr id="95" name="Text 22"/>
          <p:cNvSpPr/>
          <p:nvPr/>
        </p:nvSpPr>
        <p:spPr>
          <a:xfrm>
            <a:off x="8394120" y="4690800"/>
            <a:ext cx="298980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50" b="1" u="none" strike="noStrike">
                <a:solidFill>
                  <a:srgbClr val="CB5E2E"/>
                </a:solidFill>
                <a:effectLst/>
                <a:uFillTx/>
                <a:latin typeface="Calibri"/>
                <a:ea typeface="Calibri"/>
              </a:rPr>
              <a:t>Bloque 3</a:t>
            </a:r>
            <a:endParaRPr lang="en-US" sz="1150" b="0" u="none" strike="noStrike">
              <a:solidFill>
                <a:srgbClr val="000000"/>
              </a:solidFill>
              <a:effectLst/>
              <a:uFillTx/>
              <a:latin typeface="Arial"/>
            </a:endParaRPr>
          </a:p>
        </p:txBody>
      </p:sp>
      <p:sp>
        <p:nvSpPr>
          <p:cNvPr id="96" name="Shape 23"/>
          <p:cNvSpPr/>
          <p:nvPr/>
        </p:nvSpPr>
        <p:spPr>
          <a:xfrm>
            <a:off x="548640" y="6053400"/>
            <a:ext cx="11091240" cy="603000"/>
          </a:xfrm>
          <a:prstGeom prst="rect">
            <a:avLst/>
          </a:prstGeom>
          <a:solidFill>
            <a:srgbClr val="FBEEE5"/>
          </a:solidFill>
          <a:ln w="0">
            <a:noFill/>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97" name="Shape 24"/>
          <p:cNvSpPr/>
          <p:nvPr/>
        </p:nvSpPr>
        <p:spPr>
          <a:xfrm>
            <a:off x="749880" y="6272640"/>
            <a:ext cx="164160" cy="164160"/>
          </a:xfrm>
          <a:prstGeom prst="roundRect">
            <a:avLst>
              <a:gd name="adj" fmla="val 22222"/>
            </a:avLst>
          </a:prstGeom>
          <a:solidFill>
            <a:srgbClr val="CB5E2E"/>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98" name="Text 25"/>
          <p:cNvSpPr/>
          <p:nvPr/>
        </p:nvSpPr>
        <p:spPr>
          <a:xfrm>
            <a:off x="1051560" y="6053400"/>
            <a:ext cx="10405440" cy="6030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0" u="none" strike="noStrike">
                <a:solidFill>
                  <a:srgbClr val="8C3E19"/>
                </a:solidFill>
                <a:effectLst/>
                <a:uFillTx/>
                <a:latin typeface="Calibri"/>
                <a:ea typeface="Calibri"/>
              </a:rPr>
              <a:t>La IA escribe el código en segundos. Si el estimador respeta el diseño, si la incertidumbre es honesta y si los subgrupos confirman el agregado, eso lo deciden ustedes.</a:t>
            </a:r>
            <a:endParaRPr lang="en-US" sz="12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9" name="Text 0"/>
          <p:cNvSpPr/>
          <p:nvPr/>
        </p:nvSpPr>
        <p:spPr>
          <a:xfrm>
            <a:off x="548640" y="384120"/>
            <a:ext cx="11091240" cy="639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900" b="1" u="none" strike="noStrike">
                <a:solidFill>
                  <a:srgbClr val="1E2A35"/>
                </a:solidFill>
                <a:effectLst/>
                <a:uFillTx/>
                <a:latin typeface="Calibri"/>
                <a:ea typeface="Calibri"/>
              </a:rPr>
              <a:t>La encuesta sintética para hoy</a:t>
            </a:r>
            <a:endParaRPr lang="en-US" sz="2900" b="0" u="none" strike="noStrike">
              <a:solidFill>
                <a:srgbClr val="000000"/>
              </a:solidFill>
              <a:effectLst/>
              <a:uFillTx/>
              <a:latin typeface="Arial"/>
            </a:endParaRPr>
          </a:p>
        </p:txBody>
      </p:sp>
      <p:sp>
        <p:nvSpPr>
          <p:cNvPr id="100" name="Text 1"/>
          <p:cNvSpPr/>
          <p:nvPr/>
        </p:nvSpPr>
        <p:spPr>
          <a:xfrm>
            <a:off x="548640" y="1042560"/>
            <a:ext cx="11091240" cy="5666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0" u="none" strike="noStrike">
                <a:solidFill>
                  <a:srgbClr val="60707E"/>
                </a:solidFill>
                <a:effectLst/>
                <a:uFillTx/>
                <a:latin typeface="Calibri"/>
                <a:ea typeface="Calibri"/>
              </a:rPr>
              <a:t>Un solo archivo para los tres bloques: datos_encuesta_sintetica.csv, 400 hogares de una encuesta ficticia. Cada bloque mira columnas distintas del mismo microdato.</a:t>
            </a:r>
            <a:endParaRPr lang="en-US" sz="1400" b="0" u="none" strike="noStrike">
              <a:solidFill>
                <a:srgbClr val="000000"/>
              </a:solidFill>
              <a:effectLst/>
              <a:uFillTx/>
              <a:latin typeface="Arial"/>
            </a:endParaRPr>
          </a:p>
        </p:txBody>
      </p:sp>
      <p:sp>
        <p:nvSpPr>
          <p:cNvPr id="101" name="Shape 2"/>
          <p:cNvSpPr/>
          <p:nvPr/>
        </p:nvSpPr>
        <p:spPr>
          <a:xfrm>
            <a:off x="548640" y="1783080"/>
            <a:ext cx="2468520" cy="493560"/>
          </a:xfrm>
          <a:prstGeom prst="rect">
            <a:avLst/>
          </a:prstGeom>
          <a:solidFill>
            <a:srgbClr val="15293B"/>
          </a:solidFill>
          <a:ln w="6350">
            <a:solidFill>
              <a:srgbClr val="FFFFFF"/>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102" name="Text 3"/>
          <p:cNvSpPr/>
          <p:nvPr/>
        </p:nvSpPr>
        <p:spPr>
          <a:xfrm>
            <a:off x="548640" y="1783080"/>
            <a:ext cx="2468520" cy="4935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1" u="none" strike="noStrike">
                <a:solidFill>
                  <a:srgbClr val="FFFFFF"/>
                </a:solidFill>
                <a:effectLst/>
                <a:uFillTx/>
                <a:latin typeface="Calibri"/>
                <a:ea typeface="Calibri"/>
              </a:rPr>
              <a:t>Variable</a:t>
            </a:r>
            <a:endParaRPr lang="en-US" sz="1200" b="0" u="none" strike="noStrike">
              <a:solidFill>
                <a:srgbClr val="000000"/>
              </a:solidFill>
              <a:effectLst/>
              <a:uFillTx/>
              <a:latin typeface="Arial"/>
            </a:endParaRPr>
          </a:p>
        </p:txBody>
      </p:sp>
      <p:sp>
        <p:nvSpPr>
          <p:cNvPr id="103" name="Shape 4"/>
          <p:cNvSpPr/>
          <p:nvPr/>
        </p:nvSpPr>
        <p:spPr>
          <a:xfrm>
            <a:off x="3017520" y="1783080"/>
            <a:ext cx="5943240" cy="493560"/>
          </a:xfrm>
          <a:prstGeom prst="rect">
            <a:avLst/>
          </a:prstGeom>
          <a:solidFill>
            <a:srgbClr val="15293B"/>
          </a:solidFill>
          <a:ln w="6350">
            <a:solidFill>
              <a:srgbClr val="FFFFFF"/>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104" name="Text 5"/>
          <p:cNvSpPr/>
          <p:nvPr/>
        </p:nvSpPr>
        <p:spPr>
          <a:xfrm>
            <a:off x="3017520" y="1783080"/>
            <a:ext cx="5943240" cy="4935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1" u="none" strike="noStrike">
                <a:solidFill>
                  <a:srgbClr val="FFFFFF"/>
                </a:solidFill>
                <a:effectLst/>
                <a:uFillTx/>
                <a:latin typeface="Calibri"/>
                <a:ea typeface="Calibri"/>
              </a:rPr>
              <a:t>Qué es</a:t>
            </a:r>
            <a:endParaRPr lang="en-US" sz="1200" b="0" u="none" strike="noStrike">
              <a:solidFill>
                <a:srgbClr val="000000"/>
              </a:solidFill>
              <a:effectLst/>
              <a:uFillTx/>
              <a:latin typeface="Arial"/>
            </a:endParaRPr>
          </a:p>
        </p:txBody>
      </p:sp>
      <p:sp>
        <p:nvSpPr>
          <p:cNvPr id="105" name="Shape 6"/>
          <p:cNvSpPr/>
          <p:nvPr/>
        </p:nvSpPr>
        <p:spPr>
          <a:xfrm>
            <a:off x="8961120" y="1783080"/>
            <a:ext cx="2678760" cy="493560"/>
          </a:xfrm>
          <a:prstGeom prst="rect">
            <a:avLst/>
          </a:prstGeom>
          <a:solidFill>
            <a:srgbClr val="15293B"/>
          </a:solidFill>
          <a:ln w="6350">
            <a:solidFill>
              <a:srgbClr val="FFFFFF"/>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106" name="Text 7"/>
          <p:cNvSpPr/>
          <p:nvPr/>
        </p:nvSpPr>
        <p:spPr>
          <a:xfrm>
            <a:off x="8961120" y="1783080"/>
            <a:ext cx="2678760" cy="4935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1" u="none" strike="noStrike">
                <a:solidFill>
                  <a:srgbClr val="FFFFFF"/>
                </a:solidFill>
                <a:effectLst/>
                <a:uFillTx/>
                <a:latin typeface="Calibri"/>
                <a:ea typeface="Calibri"/>
              </a:rPr>
              <a:t>Se usa en</a:t>
            </a:r>
            <a:endParaRPr lang="en-US" sz="1200" b="0" u="none" strike="noStrike">
              <a:solidFill>
                <a:srgbClr val="000000"/>
              </a:solidFill>
              <a:effectLst/>
              <a:uFillTx/>
              <a:latin typeface="Arial"/>
            </a:endParaRPr>
          </a:p>
        </p:txBody>
      </p:sp>
      <p:sp>
        <p:nvSpPr>
          <p:cNvPr id="107" name="Shape 8"/>
          <p:cNvSpPr/>
          <p:nvPr/>
        </p:nvSpPr>
        <p:spPr>
          <a:xfrm>
            <a:off x="548640" y="2277000"/>
            <a:ext cx="2468520" cy="493560"/>
          </a:xfrm>
          <a:prstGeom prst="rect">
            <a:avLst/>
          </a:prstGeom>
          <a:solidFill>
            <a:srgbClr val="EEF2F5"/>
          </a:solidFill>
          <a:ln w="6350">
            <a:solidFill>
              <a:srgbClr val="D5DCE3"/>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108" name="Text 9"/>
          <p:cNvSpPr/>
          <p:nvPr/>
        </p:nvSpPr>
        <p:spPr>
          <a:xfrm>
            <a:off x="594360" y="2277000"/>
            <a:ext cx="2377080" cy="493560"/>
          </a:xfrm>
          <a:prstGeom prst="rect">
            <a:avLst/>
          </a:prstGeom>
          <a:noFill/>
          <a:ln w="0">
            <a:noFill/>
          </a:ln>
        </p:spPr>
        <p:style>
          <a:lnRef idx="0"/>
          <a:fillRef idx="0"/>
          <a:effectRef idx="0"/>
          <a:fontRef idx="minor"/>
        </p:style>
        <p:txBody>
          <a:bodyPr lIns="76320" tIns="76320" rIns="76320" bIns="76320" anchor="ctr">
            <a:noAutofit/>
          </a:bodyPr>
          <a:p>
            <a:pPr defTabSz="914400">
              <a:lnSpc>
                <a:spcPct val="100000"/>
              </a:lnSpc>
              <a:tabLst>
                <a:tab pos="0" algn="l"/>
              </a:tabLst>
            </a:pPr>
            <a:r>
              <a:rPr lang="en-US" sz="1250" b="0" u="none" strike="noStrike">
                <a:solidFill>
                  <a:srgbClr val="1E2A35"/>
                </a:solidFill>
                <a:effectLst/>
                <a:uFillTx/>
                <a:latin typeface="Calibri"/>
                <a:ea typeface="Calibri"/>
              </a:rPr>
              <a:t>estrato</a:t>
            </a:r>
            <a:endParaRPr lang="en-US" sz="1250" b="0" u="none" strike="noStrike">
              <a:solidFill>
                <a:srgbClr val="000000"/>
              </a:solidFill>
              <a:effectLst/>
              <a:uFillTx/>
              <a:latin typeface="Arial"/>
            </a:endParaRPr>
          </a:p>
        </p:txBody>
      </p:sp>
      <p:sp>
        <p:nvSpPr>
          <p:cNvPr id="109" name="Shape 10"/>
          <p:cNvSpPr/>
          <p:nvPr/>
        </p:nvSpPr>
        <p:spPr>
          <a:xfrm>
            <a:off x="3017520" y="2277000"/>
            <a:ext cx="5943240" cy="493560"/>
          </a:xfrm>
          <a:prstGeom prst="rect">
            <a:avLst/>
          </a:prstGeom>
          <a:solidFill>
            <a:srgbClr val="EEF2F5"/>
          </a:solidFill>
          <a:ln w="6350">
            <a:solidFill>
              <a:srgbClr val="D5DCE3"/>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110" name="Text 11"/>
          <p:cNvSpPr/>
          <p:nvPr/>
        </p:nvSpPr>
        <p:spPr>
          <a:xfrm>
            <a:off x="3063240" y="2277000"/>
            <a:ext cx="5851800" cy="4935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50" b="0" u="none" strike="noStrike">
                <a:solidFill>
                  <a:srgbClr val="1E2A35"/>
                </a:solidFill>
                <a:effectLst/>
                <a:uFillTx/>
                <a:latin typeface="Cambria"/>
                <a:ea typeface="Cambria"/>
              </a:rPr>
              <a:t>Nivel de marginación del hogar: Alta, Media o Baja</a:t>
            </a:r>
            <a:endParaRPr lang="en-US" sz="1250" b="0" u="none" strike="noStrike">
              <a:solidFill>
                <a:srgbClr val="000000"/>
              </a:solidFill>
              <a:effectLst/>
              <a:uFillTx/>
              <a:latin typeface="Arial"/>
            </a:endParaRPr>
          </a:p>
        </p:txBody>
      </p:sp>
      <p:sp>
        <p:nvSpPr>
          <p:cNvPr id="111" name="Shape 12"/>
          <p:cNvSpPr/>
          <p:nvPr/>
        </p:nvSpPr>
        <p:spPr>
          <a:xfrm>
            <a:off x="8961120" y="2277000"/>
            <a:ext cx="2678760" cy="493560"/>
          </a:xfrm>
          <a:prstGeom prst="rect">
            <a:avLst/>
          </a:prstGeom>
          <a:solidFill>
            <a:srgbClr val="EEF2F5"/>
          </a:solidFill>
          <a:ln w="6350">
            <a:solidFill>
              <a:srgbClr val="D5DCE3"/>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112" name="Text 13"/>
          <p:cNvSpPr/>
          <p:nvPr/>
        </p:nvSpPr>
        <p:spPr>
          <a:xfrm>
            <a:off x="9006840" y="2277000"/>
            <a:ext cx="2587320" cy="4935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50" b="0" u="none" strike="noStrike">
                <a:solidFill>
                  <a:srgbClr val="1E2A35"/>
                </a:solidFill>
                <a:effectLst/>
                <a:uFillTx/>
                <a:latin typeface="Cambria"/>
                <a:ea typeface="Cambria"/>
              </a:rPr>
              <a:t>Todo</a:t>
            </a:r>
            <a:endParaRPr lang="en-US" sz="1250" b="0" u="none" strike="noStrike">
              <a:solidFill>
                <a:srgbClr val="000000"/>
              </a:solidFill>
              <a:effectLst/>
              <a:uFillTx/>
              <a:latin typeface="Arial"/>
            </a:endParaRPr>
          </a:p>
        </p:txBody>
      </p:sp>
      <p:sp>
        <p:nvSpPr>
          <p:cNvPr id="113" name="Shape 14"/>
          <p:cNvSpPr/>
          <p:nvPr/>
        </p:nvSpPr>
        <p:spPr>
          <a:xfrm>
            <a:off x="548640" y="2770560"/>
            <a:ext cx="2468520" cy="493560"/>
          </a:xfrm>
          <a:prstGeom prst="rect">
            <a:avLst/>
          </a:prstGeom>
          <a:solidFill>
            <a:srgbClr val="FFFFFF"/>
          </a:solidFill>
          <a:ln w="6350">
            <a:solidFill>
              <a:srgbClr val="D5DCE3"/>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114" name="Text 15"/>
          <p:cNvSpPr/>
          <p:nvPr/>
        </p:nvSpPr>
        <p:spPr>
          <a:xfrm>
            <a:off x="594360" y="2770560"/>
            <a:ext cx="2377080" cy="493560"/>
          </a:xfrm>
          <a:prstGeom prst="rect">
            <a:avLst/>
          </a:prstGeom>
          <a:noFill/>
          <a:ln w="0">
            <a:noFill/>
          </a:ln>
        </p:spPr>
        <p:style>
          <a:lnRef idx="0"/>
          <a:fillRef idx="0"/>
          <a:effectRef idx="0"/>
          <a:fontRef idx="minor"/>
        </p:style>
        <p:txBody>
          <a:bodyPr lIns="76320" tIns="76320" rIns="76320" bIns="76320" anchor="ctr">
            <a:noAutofit/>
          </a:bodyPr>
          <a:p>
            <a:pPr defTabSz="914400">
              <a:lnSpc>
                <a:spcPct val="100000"/>
              </a:lnSpc>
              <a:tabLst>
                <a:tab pos="0" algn="l"/>
              </a:tabLst>
            </a:pPr>
            <a:r>
              <a:rPr lang="en-US" sz="1250" b="0" u="none" strike="noStrike">
                <a:solidFill>
                  <a:srgbClr val="1E2A35"/>
                </a:solidFill>
                <a:effectLst/>
                <a:uFillTx/>
                <a:latin typeface="Calibri"/>
                <a:ea typeface="Calibri"/>
              </a:rPr>
              <a:t>upm  ·  factor</a:t>
            </a:r>
            <a:endParaRPr lang="en-US" sz="1250" b="0" u="none" strike="noStrike">
              <a:solidFill>
                <a:srgbClr val="000000"/>
              </a:solidFill>
              <a:effectLst/>
              <a:uFillTx/>
              <a:latin typeface="Arial"/>
            </a:endParaRPr>
          </a:p>
        </p:txBody>
      </p:sp>
      <p:sp>
        <p:nvSpPr>
          <p:cNvPr id="115" name="Shape 16"/>
          <p:cNvSpPr/>
          <p:nvPr/>
        </p:nvSpPr>
        <p:spPr>
          <a:xfrm>
            <a:off x="3017520" y="2770560"/>
            <a:ext cx="5943240" cy="493560"/>
          </a:xfrm>
          <a:prstGeom prst="rect">
            <a:avLst/>
          </a:prstGeom>
          <a:solidFill>
            <a:srgbClr val="FFFFFF"/>
          </a:solidFill>
          <a:ln w="6350">
            <a:solidFill>
              <a:srgbClr val="D5DCE3"/>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116" name="Text 17"/>
          <p:cNvSpPr/>
          <p:nvPr/>
        </p:nvSpPr>
        <p:spPr>
          <a:xfrm>
            <a:off x="3063240" y="2770560"/>
            <a:ext cx="5851800" cy="4935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50" b="0" u="none" strike="noStrike">
                <a:solidFill>
                  <a:srgbClr val="1E2A35"/>
                </a:solidFill>
                <a:effectLst/>
                <a:uFillTx/>
                <a:latin typeface="Cambria"/>
                <a:ea typeface="Cambria"/>
              </a:rPr>
              <a:t>Conglomerado (unidad primaria de muestreo) y factor de expansión</a:t>
            </a:r>
            <a:endParaRPr lang="en-US" sz="1250" b="0" u="none" strike="noStrike">
              <a:solidFill>
                <a:srgbClr val="000000"/>
              </a:solidFill>
              <a:effectLst/>
              <a:uFillTx/>
              <a:latin typeface="Arial"/>
            </a:endParaRPr>
          </a:p>
        </p:txBody>
      </p:sp>
      <p:sp>
        <p:nvSpPr>
          <p:cNvPr id="117" name="Shape 18"/>
          <p:cNvSpPr/>
          <p:nvPr/>
        </p:nvSpPr>
        <p:spPr>
          <a:xfrm>
            <a:off x="8961120" y="2770560"/>
            <a:ext cx="2678760" cy="493560"/>
          </a:xfrm>
          <a:prstGeom prst="rect">
            <a:avLst/>
          </a:prstGeom>
          <a:solidFill>
            <a:srgbClr val="FFFFFF"/>
          </a:solidFill>
          <a:ln w="6350">
            <a:solidFill>
              <a:srgbClr val="D5DCE3"/>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118" name="Text 19"/>
          <p:cNvSpPr/>
          <p:nvPr/>
        </p:nvSpPr>
        <p:spPr>
          <a:xfrm>
            <a:off x="9006840" y="2770560"/>
            <a:ext cx="2587320" cy="4935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50" b="0" u="none" strike="noStrike">
                <a:solidFill>
                  <a:srgbClr val="1E2A35"/>
                </a:solidFill>
                <a:effectLst/>
                <a:uFillTx/>
                <a:latin typeface="Cambria"/>
                <a:ea typeface="Cambria"/>
              </a:rPr>
              <a:t>Diseño e inferencia</a:t>
            </a:r>
            <a:endParaRPr lang="en-US" sz="1250" b="0" u="none" strike="noStrike">
              <a:solidFill>
                <a:srgbClr val="000000"/>
              </a:solidFill>
              <a:effectLst/>
              <a:uFillTx/>
              <a:latin typeface="Arial"/>
            </a:endParaRPr>
          </a:p>
        </p:txBody>
      </p:sp>
      <p:sp>
        <p:nvSpPr>
          <p:cNvPr id="119" name="Shape 20"/>
          <p:cNvSpPr/>
          <p:nvPr/>
        </p:nvSpPr>
        <p:spPr>
          <a:xfrm>
            <a:off x="548640" y="3264480"/>
            <a:ext cx="2468520" cy="493560"/>
          </a:xfrm>
          <a:prstGeom prst="rect">
            <a:avLst/>
          </a:prstGeom>
          <a:solidFill>
            <a:srgbClr val="EEF2F5"/>
          </a:solidFill>
          <a:ln w="6350">
            <a:solidFill>
              <a:srgbClr val="D5DCE3"/>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120" name="Text 21"/>
          <p:cNvSpPr/>
          <p:nvPr/>
        </p:nvSpPr>
        <p:spPr>
          <a:xfrm>
            <a:off x="594360" y="3264480"/>
            <a:ext cx="2377080" cy="493560"/>
          </a:xfrm>
          <a:prstGeom prst="rect">
            <a:avLst/>
          </a:prstGeom>
          <a:noFill/>
          <a:ln w="0">
            <a:noFill/>
          </a:ln>
        </p:spPr>
        <p:style>
          <a:lnRef idx="0"/>
          <a:fillRef idx="0"/>
          <a:effectRef idx="0"/>
          <a:fontRef idx="minor"/>
        </p:style>
        <p:txBody>
          <a:bodyPr lIns="76320" tIns="76320" rIns="76320" bIns="76320" anchor="ctr">
            <a:noAutofit/>
          </a:bodyPr>
          <a:p>
            <a:pPr defTabSz="914400">
              <a:lnSpc>
                <a:spcPct val="100000"/>
              </a:lnSpc>
              <a:tabLst>
                <a:tab pos="0" algn="l"/>
              </a:tabLst>
            </a:pPr>
            <a:r>
              <a:rPr lang="en-US" sz="1250" b="0" u="none" strike="noStrike">
                <a:solidFill>
                  <a:srgbClr val="1E2A35"/>
                </a:solidFill>
                <a:effectLst/>
                <a:uFillTx/>
                <a:latin typeface="Calibri"/>
                <a:ea typeface="Calibri"/>
              </a:rPr>
              <a:t>ingreso</a:t>
            </a:r>
            <a:endParaRPr lang="en-US" sz="1250" b="0" u="none" strike="noStrike">
              <a:solidFill>
                <a:srgbClr val="000000"/>
              </a:solidFill>
              <a:effectLst/>
              <a:uFillTx/>
              <a:latin typeface="Arial"/>
            </a:endParaRPr>
          </a:p>
        </p:txBody>
      </p:sp>
      <p:sp>
        <p:nvSpPr>
          <p:cNvPr id="121" name="Shape 22"/>
          <p:cNvSpPr/>
          <p:nvPr/>
        </p:nvSpPr>
        <p:spPr>
          <a:xfrm>
            <a:off x="3017520" y="3264480"/>
            <a:ext cx="5943240" cy="493560"/>
          </a:xfrm>
          <a:prstGeom prst="rect">
            <a:avLst/>
          </a:prstGeom>
          <a:solidFill>
            <a:srgbClr val="EEF2F5"/>
          </a:solidFill>
          <a:ln w="6350">
            <a:solidFill>
              <a:srgbClr val="D5DCE3"/>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122" name="Text 23"/>
          <p:cNvSpPr/>
          <p:nvPr/>
        </p:nvSpPr>
        <p:spPr>
          <a:xfrm>
            <a:off x="3063240" y="3264480"/>
            <a:ext cx="5851800" cy="4935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50" b="0" u="none" strike="noStrike">
                <a:solidFill>
                  <a:srgbClr val="1E2A35"/>
                </a:solidFill>
                <a:effectLst/>
                <a:uFillTx/>
                <a:latin typeface="Cambria"/>
                <a:ea typeface="Cambria"/>
              </a:rPr>
              <a:t>Ingreso mensual del hogar, en pesos</a:t>
            </a:r>
            <a:endParaRPr lang="en-US" sz="1250" b="0" u="none" strike="noStrike">
              <a:solidFill>
                <a:srgbClr val="000000"/>
              </a:solidFill>
              <a:effectLst/>
              <a:uFillTx/>
              <a:latin typeface="Arial"/>
            </a:endParaRPr>
          </a:p>
        </p:txBody>
      </p:sp>
      <p:sp>
        <p:nvSpPr>
          <p:cNvPr id="123" name="Shape 24"/>
          <p:cNvSpPr/>
          <p:nvPr/>
        </p:nvSpPr>
        <p:spPr>
          <a:xfrm>
            <a:off x="8961120" y="3264480"/>
            <a:ext cx="2678760" cy="493560"/>
          </a:xfrm>
          <a:prstGeom prst="rect">
            <a:avLst/>
          </a:prstGeom>
          <a:solidFill>
            <a:srgbClr val="EEF2F5"/>
          </a:solidFill>
          <a:ln w="6350">
            <a:solidFill>
              <a:srgbClr val="D5DCE3"/>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124" name="Text 25"/>
          <p:cNvSpPr/>
          <p:nvPr/>
        </p:nvSpPr>
        <p:spPr>
          <a:xfrm>
            <a:off x="9006840" y="3264480"/>
            <a:ext cx="2587320" cy="4935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50" b="0" u="none" strike="noStrike">
                <a:solidFill>
                  <a:srgbClr val="1E2A35"/>
                </a:solidFill>
                <a:effectLst/>
                <a:uFillTx/>
                <a:latin typeface="Cambria"/>
                <a:ea typeface="Cambria"/>
              </a:rPr>
              <a:t>Bloque 1</a:t>
            </a:r>
            <a:endParaRPr lang="en-US" sz="1250" b="0" u="none" strike="noStrike">
              <a:solidFill>
                <a:srgbClr val="000000"/>
              </a:solidFill>
              <a:effectLst/>
              <a:uFillTx/>
              <a:latin typeface="Arial"/>
            </a:endParaRPr>
          </a:p>
        </p:txBody>
      </p:sp>
      <p:sp>
        <p:nvSpPr>
          <p:cNvPr id="125" name="Shape 26"/>
          <p:cNvSpPr/>
          <p:nvPr/>
        </p:nvSpPr>
        <p:spPr>
          <a:xfrm>
            <a:off x="548640" y="3758040"/>
            <a:ext cx="2468520" cy="493560"/>
          </a:xfrm>
          <a:prstGeom prst="rect">
            <a:avLst/>
          </a:prstGeom>
          <a:solidFill>
            <a:srgbClr val="FFFFFF"/>
          </a:solidFill>
          <a:ln w="6350">
            <a:solidFill>
              <a:srgbClr val="D5DCE3"/>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126" name="Text 27"/>
          <p:cNvSpPr/>
          <p:nvPr/>
        </p:nvSpPr>
        <p:spPr>
          <a:xfrm>
            <a:off x="594360" y="3758040"/>
            <a:ext cx="2377080" cy="493560"/>
          </a:xfrm>
          <a:prstGeom prst="rect">
            <a:avLst/>
          </a:prstGeom>
          <a:noFill/>
          <a:ln w="0">
            <a:noFill/>
          </a:ln>
        </p:spPr>
        <p:style>
          <a:lnRef idx="0"/>
          <a:fillRef idx="0"/>
          <a:effectRef idx="0"/>
          <a:fontRef idx="minor"/>
        </p:style>
        <p:txBody>
          <a:bodyPr lIns="76320" tIns="76320" rIns="76320" bIns="76320" anchor="ctr">
            <a:noAutofit/>
          </a:bodyPr>
          <a:p>
            <a:pPr defTabSz="914400">
              <a:lnSpc>
                <a:spcPct val="100000"/>
              </a:lnSpc>
              <a:tabLst>
                <a:tab pos="0" algn="l"/>
              </a:tabLst>
            </a:pPr>
            <a:r>
              <a:rPr lang="en-US" sz="1250" b="0" u="none" strike="noStrike">
                <a:solidFill>
                  <a:srgbClr val="1E2A35"/>
                </a:solidFill>
                <a:effectLst/>
                <a:uFillTx/>
                <a:latin typeface="Calibri"/>
                <a:ea typeface="Calibri"/>
              </a:rPr>
              <a:t>programa</a:t>
            </a:r>
            <a:endParaRPr lang="en-US" sz="1250" b="0" u="none" strike="noStrike">
              <a:solidFill>
                <a:srgbClr val="000000"/>
              </a:solidFill>
              <a:effectLst/>
              <a:uFillTx/>
              <a:latin typeface="Arial"/>
            </a:endParaRPr>
          </a:p>
        </p:txBody>
      </p:sp>
      <p:sp>
        <p:nvSpPr>
          <p:cNvPr id="127" name="Shape 28"/>
          <p:cNvSpPr/>
          <p:nvPr/>
        </p:nvSpPr>
        <p:spPr>
          <a:xfrm>
            <a:off x="3017520" y="3758040"/>
            <a:ext cx="5943240" cy="493560"/>
          </a:xfrm>
          <a:prstGeom prst="rect">
            <a:avLst/>
          </a:prstGeom>
          <a:solidFill>
            <a:srgbClr val="FFFFFF"/>
          </a:solidFill>
          <a:ln w="6350">
            <a:solidFill>
              <a:srgbClr val="D5DCE3"/>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128" name="Text 29"/>
          <p:cNvSpPr/>
          <p:nvPr/>
        </p:nvSpPr>
        <p:spPr>
          <a:xfrm>
            <a:off x="3063240" y="3758040"/>
            <a:ext cx="5851800" cy="4935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50" b="0" u="none" strike="noStrike">
                <a:solidFill>
                  <a:srgbClr val="1E2A35"/>
                </a:solidFill>
                <a:effectLst/>
                <a:uFillTx/>
                <a:latin typeface="Cambria"/>
                <a:ea typeface="Cambria"/>
              </a:rPr>
              <a:t>Recibe el apoyo: 0 = no, 1 = sí (el tratamiento)</a:t>
            </a:r>
            <a:endParaRPr lang="en-US" sz="1250" b="0" u="none" strike="noStrike">
              <a:solidFill>
                <a:srgbClr val="000000"/>
              </a:solidFill>
              <a:effectLst/>
              <a:uFillTx/>
              <a:latin typeface="Arial"/>
            </a:endParaRPr>
          </a:p>
        </p:txBody>
      </p:sp>
      <p:sp>
        <p:nvSpPr>
          <p:cNvPr id="129" name="Shape 30"/>
          <p:cNvSpPr/>
          <p:nvPr/>
        </p:nvSpPr>
        <p:spPr>
          <a:xfrm>
            <a:off x="8961120" y="3758040"/>
            <a:ext cx="2678760" cy="493560"/>
          </a:xfrm>
          <a:prstGeom prst="rect">
            <a:avLst/>
          </a:prstGeom>
          <a:solidFill>
            <a:srgbClr val="FFFFFF"/>
          </a:solidFill>
          <a:ln w="6350">
            <a:solidFill>
              <a:srgbClr val="D5DCE3"/>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130" name="Text 31"/>
          <p:cNvSpPr/>
          <p:nvPr/>
        </p:nvSpPr>
        <p:spPr>
          <a:xfrm>
            <a:off x="9006840" y="3758040"/>
            <a:ext cx="2587320" cy="4935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50" b="0" u="none" strike="noStrike">
                <a:solidFill>
                  <a:srgbClr val="1E2A35"/>
                </a:solidFill>
                <a:effectLst/>
                <a:uFillTx/>
                <a:latin typeface="Cambria"/>
                <a:ea typeface="Cambria"/>
              </a:rPr>
              <a:t>Bloques 2 y 3</a:t>
            </a:r>
            <a:endParaRPr lang="en-US" sz="1250" b="0" u="none" strike="noStrike">
              <a:solidFill>
                <a:srgbClr val="000000"/>
              </a:solidFill>
              <a:effectLst/>
              <a:uFillTx/>
              <a:latin typeface="Arial"/>
            </a:endParaRPr>
          </a:p>
        </p:txBody>
      </p:sp>
      <p:sp>
        <p:nvSpPr>
          <p:cNvPr id="131" name="Shape 32"/>
          <p:cNvSpPr/>
          <p:nvPr/>
        </p:nvSpPr>
        <p:spPr>
          <a:xfrm>
            <a:off x="548640" y="4251960"/>
            <a:ext cx="2468520" cy="493560"/>
          </a:xfrm>
          <a:prstGeom prst="rect">
            <a:avLst/>
          </a:prstGeom>
          <a:solidFill>
            <a:srgbClr val="EEF2F5"/>
          </a:solidFill>
          <a:ln w="6350">
            <a:solidFill>
              <a:srgbClr val="D5DCE3"/>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132" name="Text 33"/>
          <p:cNvSpPr/>
          <p:nvPr/>
        </p:nvSpPr>
        <p:spPr>
          <a:xfrm>
            <a:off x="594360" y="4251960"/>
            <a:ext cx="2377080" cy="493560"/>
          </a:xfrm>
          <a:prstGeom prst="rect">
            <a:avLst/>
          </a:prstGeom>
          <a:noFill/>
          <a:ln w="0">
            <a:noFill/>
          </a:ln>
        </p:spPr>
        <p:style>
          <a:lnRef idx="0"/>
          <a:fillRef idx="0"/>
          <a:effectRef idx="0"/>
          <a:fontRef idx="minor"/>
        </p:style>
        <p:txBody>
          <a:bodyPr lIns="76320" tIns="76320" rIns="76320" bIns="76320" anchor="ctr">
            <a:noAutofit/>
          </a:bodyPr>
          <a:p>
            <a:pPr defTabSz="914400">
              <a:lnSpc>
                <a:spcPct val="100000"/>
              </a:lnSpc>
              <a:tabLst>
                <a:tab pos="0" algn="l"/>
              </a:tabLst>
            </a:pPr>
            <a:r>
              <a:rPr lang="en-US" sz="1250" b="0" u="none" strike="noStrike">
                <a:solidFill>
                  <a:srgbClr val="1E2A35"/>
                </a:solidFill>
                <a:effectLst/>
                <a:uFillTx/>
                <a:latin typeface="Calibri"/>
                <a:ea typeface="Calibri"/>
              </a:rPr>
              <a:t>score</a:t>
            </a:r>
            <a:endParaRPr lang="en-US" sz="1250" b="0" u="none" strike="noStrike">
              <a:solidFill>
                <a:srgbClr val="000000"/>
              </a:solidFill>
              <a:effectLst/>
              <a:uFillTx/>
              <a:latin typeface="Arial"/>
            </a:endParaRPr>
          </a:p>
        </p:txBody>
      </p:sp>
      <p:sp>
        <p:nvSpPr>
          <p:cNvPr id="133" name="Shape 34"/>
          <p:cNvSpPr/>
          <p:nvPr/>
        </p:nvSpPr>
        <p:spPr>
          <a:xfrm>
            <a:off x="3017520" y="4251960"/>
            <a:ext cx="5943240" cy="493560"/>
          </a:xfrm>
          <a:prstGeom prst="rect">
            <a:avLst/>
          </a:prstGeom>
          <a:solidFill>
            <a:srgbClr val="EEF2F5"/>
          </a:solidFill>
          <a:ln w="6350">
            <a:solidFill>
              <a:srgbClr val="D5DCE3"/>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134" name="Text 35"/>
          <p:cNvSpPr/>
          <p:nvPr/>
        </p:nvSpPr>
        <p:spPr>
          <a:xfrm>
            <a:off x="3063240" y="4251960"/>
            <a:ext cx="5851800" cy="4935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50" b="0" u="none" strike="noStrike">
                <a:solidFill>
                  <a:srgbClr val="1E2A35"/>
                </a:solidFill>
                <a:effectLst/>
                <a:uFillTx/>
                <a:latin typeface="Cambria"/>
                <a:ea typeface="Cambria"/>
              </a:rPr>
              <a:t>Índice de resultado de 0 a 100 (p. ej. seguridad alimentaria)</a:t>
            </a:r>
            <a:endParaRPr lang="en-US" sz="1250" b="0" u="none" strike="noStrike">
              <a:solidFill>
                <a:srgbClr val="000000"/>
              </a:solidFill>
              <a:effectLst/>
              <a:uFillTx/>
              <a:latin typeface="Arial"/>
            </a:endParaRPr>
          </a:p>
        </p:txBody>
      </p:sp>
      <p:sp>
        <p:nvSpPr>
          <p:cNvPr id="135" name="Shape 36"/>
          <p:cNvSpPr/>
          <p:nvPr/>
        </p:nvSpPr>
        <p:spPr>
          <a:xfrm>
            <a:off x="8961120" y="4251960"/>
            <a:ext cx="2678760" cy="493560"/>
          </a:xfrm>
          <a:prstGeom prst="rect">
            <a:avLst/>
          </a:prstGeom>
          <a:solidFill>
            <a:srgbClr val="EEF2F5"/>
          </a:solidFill>
          <a:ln w="6350">
            <a:solidFill>
              <a:srgbClr val="D5DCE3"/>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136" name="Text 37"/>
          <p:cNvSpPr/>
          <p:nvPr/>
        </p:nvSpPr>
        <p:spPr>
          <a:xfrm>
            <a:off x="9006840" y="4251960"/>
            <a:ext cx="2587320" cy="4935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50" b="0" u="none" strike="noStrike">
                <a:solidFill>
                  <a:srgbClr val="1E2A35"/>
                </a:solidFill>
                <a:effectLst/>
                <a:uFillTx/>
                <a:latin typeface="Cambria"/>
                <a:ea typeface="Cambria"/>
              </a:rPr>
              <a:t>Bloques 2 y 3</a:t>
            </a:r>
            <a:endParaRPr lang="en-US" sz="1250" b="0" u="none" strike="noStrike">
              <a:solidFill>
                <a:srgbClr val="000000"/>
              </a:solidFill>
              <a:effectLst/>
              <a:uFillTx/>
              <a:latin typeface="Arial"/>
            </a:endParaRPr>
          </a:p>
        </p:txBody>
      </p:sp>
      <p:sp>
        <p:nvSpPr>
          <p:cNvPr id="137" name="Shape 38"/>
          <p:cNvSpPr/>
          <p:nvPr/>
        </p:nvSpPr>
        <p:spPr>
          <a:xfrm>
            <a:off x="548640" y="4709160"/>
            <a:ext cx="11091240" cy="1005480"/>
          </a:xfrm>
          <a:prstGeom prst="roundRect">
            <a:avLst>
              <a:gd name="adj" fmla="val 5455"/>
            </a:avLst>
          </a:prstGeom>
          <a:solidFill>
            <a:srgbClr val="EEF2F5"/>
          </a:solidFill>
          <a:ln w="9525">
            <a:solidFill>
              <a:srgbClr val="D5DCE3"/>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138" name="Text 39"/>
          <p:cNvSpPr/>
          <p:nvPr/>
        </p:nvSpPr>
        <p:spPr>
          <a:xfrm>
            <a:off x="822960" y="4846320"/>
            <a:ext cx="1054260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rgbClr val="CB5E2E"/>
                </a:solidFill>
                <a:effectLst/>
                <a:uFillTx/>
                <a:latin typeface="Calibri"/>
                <a:ea typeface="Calibri"/>
              </a:rPr>
              <a:t>Los tres bloques son el mismo dataset, no tres</a:t>
            </a:r>
            <a:endParaRPr lang="en-US" sz="1400" b="0" u="none" strike="noStrike">
              <a:solidFill>
                <a:srgbClr val="000000"/>
              </a:solidFill>
              <a:effectLst/>
              <a:uFillTx/>
              <a:latin typeface="Arial"/>
            </a:endParaRPr>
          </a:p>
        </p:txBody>
      </p:sp>
      <p:sp>
        <p:nvSpPr>
          <p:cNvPr id="139" name="Text 40"/>
          <p:cNvSpPr/>
          <p:nvPr/>
        </p:nvSpPr>
        <p:spPr>
          <a:xfrm>
            <a:off x="822960" y="5175360"/>
            <a:ext cx="10542600" cy="502560"/>
          </a:xfrm>
          <a:prstGeom prst="rect">
            <a:avLst/>
          </a:prstGeom>
          <a:noFill/>
          <a:ln w="0">
            <a:noFill/>
          </a:ln>
        </p:spPr>
        <p:style>
          <a:lnRef idx="0"/>
          <a:fillRef idx="0"/>
          <a:effectRef idx="0"/>
          <a:fontRef idx="minor"/>
        </p:style>
        <p:txBody>
          <a:bodyPr lIns="0" tIns="0" rIns="0" bIns="0" anchor="ctr">
            <a:noAutofit/>
          </a:bodyPr>
          <a:p>
            <a:pPr defTabSz="914400">
              <a:lnSpc>
                <a:spcPct val="102000"/>
              </a:lnSpc>
              <a:tabLst>
                <a:tab pos="0" algn="l"/>
              </a:tabLst>
            </a:pPr>
            <a:r>
              <a:rPr lang="en-US" sz="1250" b="0" u="none" strike="noStrike">
                <a:solidFill>
                  <a:srgbClr val="1E2A35"/>
                </a:solidFill>
                <a:effectLst/>
                <a:uFillTx/>
                <a:latin typeface="Calibri"/>
                <a:ea typeface="Calibri"/>
              </a:rPr>
              <a:t>El Bloque 1 estima el ingreso; los Bloques 2 y 3 estudian el efecto del programa sobre el score. Todo sobre estos 400 hogares, con su estrato, su UPM y su factor de expansión.</a:t>
            </a:r>
            <a:endParaRPr lang="en-US" sz="1250" b="0" u="none" strike="noStrike">
              <a:solidFill>
                <a:srgbClr val="000000"/>
              </a:solidFill>
              <a:effectLst/>
              <a:uFillTx/>
              <a:latin typeface="Arial"/>
            </a:endParaRPr>
          </a:p>
        </p:txBody>
      </p:sp>
      <p:sp>
        <p:nvSpPr>
          <p:cNvPr id="140" name="Shape 41"/>
          <p:cNvSpPr/>
          <p:nvPr/>
        </p:nvSpPr>
        <p:spPr>
          <a:xfrm>
            <a:off x="548640" y="6053400"/>
            <a:ext cx="11091240" cy="603000"/>
          </a:xfrm>
          <a:prstGeom prst="rect">
            <a:avLst/>
          </a:prstGeom>
          <a:solidFill>
            <a:srgbClr val="FBEEE5"/>
          </a:solidFill>
          <a:ln w="0">
            <a:noFill/>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141" name="Shape 42"/>
          <p:cNvSpPr/>
          <p:nvPr/>
        </p:nvSpPr>
        <p:spPr>
          <a:xfrm>
            <a:off x="749880" y="6272640"/>
            <a:ext cx="164160" cy="164160"/>
          </a:xfrm>
          <a:prstGeom prst="roundRect">
            <a:avLst>
              <a:gd name="adj" fmla="val 22222"/>
            </a:avLst>
          </a:prstGeom>
          <a:solidFill>
            <a:srgbClr val="CB5E2E"/>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142" name="Text 43"/>
          <p:cNvSpPr/>
          <p:nvPr/>
        </p:nvSpPr>
        <p:spPr>
          <a:xfrm>
            <a:off x="1051560" y="6053400"/>
            <a:ext cx="10405440" cy="6030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0" u="none" strike="noStrike">
                <a:solidFill>
                  <a:srgbClr val="8C3E19"/>
                </a:solidFill>
                <a:effectLst/>
                <a:uFillTx/>
                <a:latin typeface="Calibri"/>
                <a:ea typeface="Calibri"/>
              </a:rPr>
              <a:t>Es el mismo microdato de la tarea. Cuando en las próximas láminas veas «el programa» o «el score», son estas columnas, sobre estos mismos hogares.</a:t>
            </a:r>
            <a:endParaRPr lang="en-US" sz="12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5293B"/>
        </a:solidFill>
      </p:bgPr>
    </p:bg>
    <p:spTree>
      <p:nvGrpSpPr>
        <p:cNvPr id="1" name=""/>
        <p:cNvGrpSpPr/>
        <p:nvPr/>
      </p:nvGrpSpPr>
      <p:grpSpPr>
        <a:xfrm>
          <a:off x="0" y="0"/>
          <a:ext cx="0" cy="0"/>
          <a:chOff x="0" y="0"/>
          <a:chExt cx="0" cy="0"/>
        </a:xfrm>
      </p:grpSpPr>
      <p:sp>
        <p:nvSpPr>
          <p:cNvPr id="143" name="Shape 0"/>
          <p:cNvSpPr/>
          <p:nvPr/>
        </p:nvSpPr>
        <p:spPr>
          <a:xfrm>
            <a:off x="822960" y="2468880"/>
            <a:ext cx="1371240" cy="1371240"/>
          </a:xfrm>
          <a:prstGeom prst="ellipse">
            <a:avLst/>
          </a:prstGeom>
          <a:solidFill>
            <a:srgbClr val="CB5E2E"/>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144" name="Text 1"/>
          <p:cNvSpPr/>
          <p:nvPr/>
        </p:nvSpPr>
        <p:spPr>
          <a:xfrm>
            <a:off x="822960" y="2468880"/>
            <a:ext cx="1371240" cy="13712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4000" b="1" u="none" strike="noStrike">
                <a:solidFill>
                  <a:srgbClr val="FFFFFF"/>
                </a:solidFill>
                <a:effectLst/>
                <a:uFillTx/>
                <a:latin typeface="Cambria"/>
                <a:ea typeface="Cambria"/>
              </a:rPr>
              <a:t>1</a:t>
            </a:r>
            <a:endParaRPr lang="en-US" sz="4000" b="0" u="none" strike="noStrike">
              <a:solidFill>
                <a:srgbClr val="FFFFFF"/>
              </a:solidFill>
              <a:effectLst/>
              <a:uFillTx/>
              <a:latin typeface="Arial"/>
            </a:endParaRPr>
          </a:p>
        </p:txBody>
      </p:sp>
      <p:sp>
        <p:nvSpPr>
          <p:cNvPr id="145" name="Text 2"/>
          <p:cNvSpPr/>
          <p:nvPr/>
        </p:nvSpPr>
        <p:spPr>
          <a:xfrm>
            <a:off x="2514600" y="2670120"/>
            <a:ext cx="8960760" cy="411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pc="201" strike="noStrike">
                <a:solidFill>
                  <a:srgbClr val="E58A5B"/>
                </a:solidFill>
                <a:effectLst/>
                <a:uFillTx/>
                <a:latin typeface="Calibri"/>
                <a:ea typeface="Calibri"/>
              </a:rPr>
              <a:t>BLOQUE 1</a:t>
            </a:r>
            <a:endParaRPr lang="en-US" sz="1400" b="0" u="none" strike="noStrike">
              <a:solidFill>
                <a:srgbClr val="FFFFFF"/>
              </a:solidFill>
              <a:effectLst/>
              <a:uFillTx/>
              <a:latin typeface="Arial"/>
            </a:endParaRPr>
          </a:p>
        </p:txBody>
      </p:sp>
      <p:sp>
        <p:nvSpPr>
          <p:cNvPr id="146" name="Text 3"/>
          <p:cNvSpPr/>
          <p:nvPr/>
        </p:nvSpPr>
        <p:spPr>
          <a:xfrm>
            <a:off x="2514600" y="3072240"/>
            <a:ext cx="9052200" cy="11883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900" b="1" u="none" strike="noStrike">
                <a:solidFill>
                  <a:srgbClr val="FFFFFF"/>
                </a:solidFill>
                <a:effectLst/>
                <a:uFillTx/>
                <a:latin typeface="Calibri"/>
                <a:ea typeface="Calibri"/>
              </a:rPr>
              <a:t>Diseño muestral: por qué el promedio crudo miente</a:t>
            </a:r>
            <a:endParaRPr lang="en-US" sz="29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47" name="Text 0"/>
          <p:cNvSpPr/>
          <p:nvPr/>
        </p:nvSpPr>
        <p:spPr>
          <a:xfrm>
            <a:off x="548640" y="384120"/>
            <a:ext cx="11091240" cy="639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900" b="1" u="none" strike="noStrike">
                <a:solidFill>
                  <a:srgbClr val="1E2A35"/>
                </a:solidFill>
                <a:effectLst/>
                <a:uFillTx/>
                <a:latin typeface="Calibri"/>
                <a:ea typeface="Calibri"/>
              </a:rPr>
              <a:t>Bloque 1, en concreto: el promedio de ingreso</a:t>
            </a:r>
            <a:endParaRPr lang="en-US" sz="2900" b="0" u="none" strike="noStrike">
              <a:solidFill>
                <a:srgbClr val="000000"/>
              </a:solidFill>
              <a:effectLst/>
              <a:uFillTx/>
              <a:latin typeface="Arial"/>
            </a:endParaRPr>
          </a:p>
        </p:txBody>
      </p:sp>
      <p:sp>
        <p:nvSpPr>
          <p:cNvPr id="148" name="Text 1"/>
          <p:cNvSpPr/>
          <p:nvPr/>
        </p:nvSpPr>
        <p:spPr>
          <a:xfrm>
            <a:off x="548640" y="1042560"/>
            <a:ext cx="11091240" cy="5666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0" u="none" strike="noStrike">
                <a:solidFill>
                  <a:srgbClr val="60707E"/>
                </a:solidFill>
                <a:effectLst/>
                <a:uFillTx/>
                <a:latin typeface="Calibri"/>
                <a:ea typeface="Calibri"/>
              </a:rPr>
              <a:t>La columna, la operación y lo que vamos a contrastar. Todo sale del microdato de hoy.</a:t>
            </a:r>
            <a:endParaRPr lang="en-US" sz="1400" b="0" u="none" strike="noStrike">
              <a:solidFill>
                <a:srgbClr val="000000"/>
              </a:solidFill>
              <a:effectLst/>
              <a:uFillTx/>
              <a:latin typeface="Arial"/>
            </a:endParaRPr>
          </a:p>
        </p:txBody>
      </p:sp>
      <p:sp>
        <p:nvSpPr>
          <p:cNvPr id="149" name="Shape 2"/>
          <p:cNvSpPr/>
          <p:nvPr/>
        </p:nvSpPr>
        <p:spPr>
          <a:xfrm>
            <a:off x="548640" y="2194560"/>
            <a:ext cx="3501720" cy="2697120"/>
          </a:xfrm>
          <a:prstGeom prst="roundRect">
            <a:avLst>
              <a:gd name="adj" fmla="val 2034"/>
            </a:avLst>
          </a:prstGeom>
          <a:solidFill>
            <a:srgbClr val="FFFFFF"/>
          </a:solidFill>
          <a:ln w="9525">
            <a:solidFill>
              <a:srgbClr val="D5DCE3"/>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150" name="Text 3"/>
          <p:cNvSpPr/>
          <p:nvPr/>
        </p:nvSpPr>
        <p:spPr>
          <a:xfrm>
            <a:off x="804600" y="2432160"/>
            <a:ext cx="298980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1" u="none" spc="99" strike="noStrike">
                <a:solidFill>
                  <a:srgbClr val="CB5E2E"/>
                </a:solidFill>
                <a:effectLst/>
                <a:uFillTx/>
                <a:latin typeface="Calibri"/>
                <a:ea typeface="Calibri"/>
              </a:rPr>
              <a:t>LA COLUMNA</a:t>
            </a:r>
            <a:endParaRPr lang="en-US" sz="1200" b="0" u="none" strike="noStrike">
              <a:solidFill>
                <a:srgbClr val="000000"/>
              </a:solidFill>
              <a:effectLst/>
              <a:uFillTx/>
              <a:latin typeface="Arial"/>
            </a:endParaRPr>
          </a:p>
        </p:txBody>
      </p:sp>
      <p:sp>
        <p:nvSpPr>
          <p:cNvPr id="151" name="Text 4"/>
          <p:cNvSpPr/>
          <p:nvPr/>
        </p:nvSpPr>
        <p:spPr>
          <a:xfrm>
            <a:off x="804600" y="2779920"/>
            <a:ext cx="2989800" cy="914040"/>
          </a:xfrm>
          <a:prstGeom prst="rect">
            <a:avLst/>
          </a:prstGeom>
          <a:noFill/>
          <a:ln w="0">
            <a:noFill/>
          </a:ln>
        </p:spPr>
        <p:style>
          <a:lnRef idx="0"/>
          <a:fillRef idx="0"/>
          <a:effectRef idx="0"/>
          <a:fontRef idx="minor"/>
        </p:style>
        <p:txBody>
          <a:bodyPr lIns="0" tIns="0" rIns="0" bIns="0" anchor="t">
            <a:noAutofit/>
          </a:bodyPr>
          <a:p>
            <a:pPr defTabSz="914400">
              <a:lnSpc>
                <a:spcPct val="98000"/>
              </a:lnSpc>
              <a:tabLst>
                <a:tab pos="0" algn="l"/>
              </a:tabLst>
            </a:pPr>
            <a:r>
              <a:rPr lang="en-US" sz="1600" b="1" u="none" strike="noStrike">
                <a:solidFill>
                  <a:srgbClr val="1E2A35"/>
                </a:solidFill>
                <a:effectLst/>
                <a:uFillTx/>
                <a:latin typeface="Cambria"/>
                <a:ea typeface="Cambria"/>
              </a:rPr>
              <a:t>ingreso</a:t>
            </a:r>
            <a:endParaRPr lang="en-US" sz="1600" b="0" u="none" strike="noStrike">
              <a:solidFill>
                <a:srgbClr val="000000"/>
              </a:solidFill>
              <a:effectLst/>
              <a:uFillTx/>
              <a:latin typeface="Arial"/>
            </a:endParaRPr>
          </a:p>
        </p:txBody>
      </p:sp>
      <p:sp>
        <p:nvSpPr>
          <p:cNvPr id="152" name="Text 5"/>
          <p:cNvSpPr/>
          <p:nvPr/>
        </p:nvSpPr>
        <p:spPr>
          <a:xfrm>
            <a:off x="804600" y="3767400"/>
            <a:ext cx="2989800" cy="1005480"/>
          </a:xfrm>
          <a:prstGeom prst="rect">
            <a:avLst/>
          </a:prstGeom>
          <a:noFill/>
          <a:ln w="0">
            <a:noFill/>
          </a:ln>
        </p:spPr>
        <p:style>
          <a:lnRef idx="0"/>
          <a:fillRef idx="0"/>
          <a:effectRef idx="0"/>
          <a:fontRef idx="minor"/>
        </p:style>
        <p:txBody>
          <a:bodyPr lIns="0" tIns="0" rIns="0" bIns="0" anchor="t">
            <a:noAutofit/>
          </a:bodyPr>
          <a:p>
            <a:pPr defTabSz="914400">
              <a:lnSpc>
                <a:spcPct val="103000"/>
              </a:lnSpc>
              <a:tabLst>
                <a:tab pos="0" algn="l"/>
              </a:tabLst>
            </a:pPr>
            <a:r>
              <a:rPr lang="en-US" sz="1200" b="0" u="none" strike="noStrike">
                <a:solidFill>
                  <a:srgbClr val="60707E"/>
                </a:solidFill>
                <a:effectLst/>
                <a:uFillTx/>
                <a:latin typeface="Calibri"/>
                <a:ea typeface="Calibri"/>
              </a:rPr>
              <a:t>El ingreso mensual del hogar. Un número por hogar.</a:t>
            </a:r>
            <a:endParaRPr lang="en-US" sz="1200" b="0" u="none" strike="noStrike">
              <a:solidFill>
                <a:srgbClr val="000000"/>
              </a:solidFill>
              <a:effectLst/>
              <a:uFillTx/>
              <a:latin typeface="Arial"/>
            </a:endParaRPr>
          </a:p>
        </p:txBody>
      </p:sp>
      <p:sp>
        <p:nvSpPr>
          <p:cNvPr id="153" name="Shape 6"/>
          <p:cNvSpPr/>
          <p:nvPr/>
        </p:nvSpPr>
        <p:spPr>
          <a:xfrm>
            <a:off x="4343400" y="2194560"/>
            <a:ext cx="3501720" cy="2697120"/>
          </a:xfrm>
          <a:prstGeom prst="roundRect">
            <a:avLst>
              <a:gd name="adj" fmla="val 2034"/>
            </a:avLst>
          </a:prstGeom>
          <a:solidFill>
            <a:srgbClr val="FFFFFF"/>
          </a:solidFill>
          <a:ln w="9525">
            <a:solidFill>
              <a:srgbClr val="D5DCE3"/>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154" name="Text 7"/>
          <p:cNvSpPr/>
          <p:nvPr/>
        </p:nvSpPr>
        <p:spPr>
          <a:xfrm>
            <a:off x="4599360" y="2432160"/>
            <a:ext cx="298980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1" u="none" spc="99" strike="noStrike">
                <a:solidFill>
                  <a:srgbClr val="CB5E2E"/>
                </a:solidFill>
                <a:effectLst/>
                <a:uFillTx/>
                <a:latin typeface="Calibri"/>
                <a:ea typeface="Calibri"/>
              </a:rPr>
              <a:t>LA OPERACIÓN</a:t>
            </a:r>
            <a:endParaRPr lang="en-US" sz="1200" b="0" u="none" strike="noStrike">
              <a:solidFill>
                <a:srgbClr val="000000"/>
              </a:solidFill>
              <a:effectLst/>
              <a:uFillTx/>
              <a:latin typeface="Arial"/>
            </a:endParaRPr>
          </a:p>
        </p:txBody>
      </p:sp>
      <p:sp>
        <p:nvSpPr>
          <p:cNvPr id="155" name="Text 8"/>
          <p:cNvSpPr/>
          <p:nvPr/>
        </p:nvSpPr>
        <p:spPr>
          <a:xfrm>
            <a:off x="4599360" y="2779920"/>
            <a:ext cx="2989800" cy="914040"/>
          </a:xfrm>
          <a:prstGeom prst="rect">
            <a:avLst/>
          </a:prstGeom>
          <a:noFill/>
          <a:ln w="0">
            <a:noFill/>
          </a:ln>
        </p:spPr>
        <p:style>
          <a:lnRef idx="0"/>
          <a:fillRef idx="0"/>
          <a:effectRef idx="0"/>
          <a:fontRef idx="minor"/>
        </p:style>
        <p:txBody>
          <a:bodyPr lIns="0" tIns="0" rIns="0" bIns="0" anchor="t">
            <a:noAutofit/>
          </a:bodyPr>
          <a:p>
            <a:pPr defTabSz="914400">
              <a:lnSpc>
                <a:spcPct val="98000"/>
              </a:lnSpc>
              <a:tabLst>
                <a:tab pos="0" algn="l"/>
              </a:tabLst>
            </a:pPr>
            <a:r>
              <a:rPr lang="en-US" sz="1600" b="1" u="none" strike="noStrike">
                <a:solidFill>
                  <a:srgbClr val="1E2A35"/>
                </a:solidFill>
                <a:effectLst/>
                <a:uFillTx/>
                <a:latin typeface="Cambria"/>
                <a:ea typeface="Cambria"/>
              </a:rPr>
              <a:t>la media</a:t>
            </a:r>
            <a:endParaRPr lang="en-US" sz="1600" b="0" u="none" strike="noStrike">
              <a:solidFill>
                <a:srgbClr val="000000"/>
              </a:solidFill>
              <a:effectLst/>
              <a:uFillTx/>
              <a:latin typeface="Arial"/>
            </a:endParaRPr>
          </a:p>
        </p:txBody>
      </p:sp>
      <p:sp>
        <p:nvSpPr>
          <p:cNvPr id="156" name="Text 9"/>
          <p:cNvSpPr/>
          <p:nvPr/>
        </p:nvSpPr>
        <p:spPr>
          <a:xfrm>
            <a:off x="4599360" y="3767400"/>
            <a:ext cx="2989800" cy="1005480"/>
          </a:xfrm>
          <a:prstGeom prst="rect">
            <a:avLst/>
          </a:prstGeom>
          <a:noFill/>
          <a:ln w="0">
            <a:noFill/>
          </a:ln>
        </p:spPr>
        <p:style>
          <a:lnRef idx="0"/>
          <a:fillRef idx="0"/>
          <a:effectRef idx="0"/>
          <a:fontRef idx="minor"/>
        </p:style>
        <p:txBody>
          <a:bodyPr lIns="0" tIns="0" rIns="0" bIns="0" anchor="t">
            <a:noAutofit/>
          </a:bodyPr>
          <a:p>
            <a:pPr defTabSz="914400">
              <a:lnSpc>
                <a:spcPct val="103000"/>
              </a:lnSpc>
              <a:tabLst>
                <a:tab pos="0" algn="l"/>
              </a:tabLst>
            </a:pPr>
            <a:r>
              <a:rPr lang="en-US" sz="1200" b="0" u="none" strike="noStrike">
                <a:solidFill>
                  <a:srgbClr val="60707E"/>
                </a:solidFill>
                <a:effectLst/>
                <a:uFillTx/>
                <a:latin typeface="Calibri"/>
                <a:ea typeface="Calibri"/>
              </a:rPr>
              <a:t>El ingreso promedio de los hogares de la encuesta.</a:t>
            </a:r>
            <a:endParaRPr lang="en-US" sz="1200" b="0" u="none" strike="noStrike">
              <a:solidFill>
                <a:srgbClr val="000000"/>
              </a:solidFill>
              <a:effectLst/>
              <a:uFillTx/>
              <a:latin typeface="Arial"/>
            </a:endParaRPr>
          </a:p>
        </p:txBody>
      </p:sp>
      <p:sp>
        <p:nvSpPr>
          <p:cNvPr id="157" name="Shape 10"/>
          <p:cNvSpPr/>
          <p:nvPr/>
        </p:nvSpPr>
        <p:spPr>
          <a:xfrm>
            <a:off x="8138160" y="2194560"/>
            <a:ext cx="3501720" cy="2697120"/>
          </a:xfrm>
          <a:prstGeom prst="roundRect">
            <a:avLst>
              <a:gd name="adj" fmla="val 2034"/>
            </a:avLst>
          </a:prstGeom>
          <a:solidFill>
            <a:srgbClr val="EEF2F5"/>
          </a:solidFill>
          <a:ln w="9525">
            <a:solidFill>
              <a:srgbClr val="D5DCE3"/>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158" name="Text 11"/>
          <p:cNvSpPr/>
          <p:nvPr/>
        </p:nvSpPr>
        <p:spPr>
          <a:xfrm>
            <a:off x="8394120" y="2432160"/>
            <a:ext cx="298980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1" u="none" spc="99" strike="noStrike">
                <a:solidFill>
                  <a:srgbClr val="CB5E2E"/>
                </a:solidFill>
                <a:effectLst/>
                <a:uFillTx/>
                <a:latin typeface="Calibri"/>
                <a:ea typeface="Calibri"/>
              </a:rPr>
              <a:t>EL CONTRASTE</a:t>
            </a:r>
            <a:endParaRPr lang="en-US" sz="1200" b="0" u="none" strike="noStrike">
              <a:solidFill>
                <a:srgbClr val="000000"/>
              </a:solidFill>
              <a:effectLst/>
              <a:uFillTx/>
              <a:latin typeface="Arial"/>
            </a:endParaRPr>
          </a:p>
        </p:txBody>
      </p:sp>
      <p:sp>
        <p:nvSpPr>
          <p:cNvPr id="159" name="Text 12"/>
          <p:cNvSpPr/>
          <p:nvPr/>
        </p:nvSpPr>
        <p:spPr>
          <a:xfrm>
            <a:off x="8394120" y="2779920"/>
            <a:ext cx="2989800" cy="914040"/>
          </a:xfrm>
          <a:prstGeom prst="rect">
            <a:avLst/>
          </a:prstGeom>
          <a:noFill/>
          <a:ln w="0">
            <a:noFill/>
          </a:ln>
        </p:spPr>
        <p:style>
          <a:lnRef idx="0"/>
          <a:fillRef idx="0"/>
          <a:effectRef idx="0"/>
          <a:fontRef idx="minor"/>
        </p:style>
        <p:txBody>
          <a:bodyPr lIns="0" tIns="0" rIns="0" bIns="0" anchor="t">
            <a:noAutofit/>
          </a:bodyPr>
          <a:p>
            <a:pPr defTabSz="914400">
              <a:lnSpc>
                <a:spcPct val="98000"/>
              </a:lnSpc>
              <a:tabLst>
                <a:tab pos="0" algn="l"/>
              </a:tabLst>
            </a:pPr>
            <a:r>
              <a:rPr lang="en-US" sz="1600" b="1" u="none" strike="noStrike">
                <a:solidFill>
                  <a:srgbClr val="A23B22"/>
                </a:solidFill>
                <a:effectLst/>
                <a:uFillTx/>
                <a:latin typeface="Cambria"/>
                <a:ea typeface="Cambria"/>
              </a:rPr>
              <a:t>crudo </a:t>
            </a:r>
            <a:r>
              <a:rPr lang="en-US" sz="1600" b="1" u="none" strike="noStrike">
                <a:solidFill>
                  <a:srgbClr val="60707E"/>
                </a:solidFill>
                <a:effectLst/>
                <a:uFillTx/>
                <a:latin typeface="Cambria"/>
                <a:ea typeface="Cambria"/>
              </a:rPr>
              <a:t>vs </a:t>
            </a:r>
            <a:r>
              <a:rPr lang="en-US" sz="1600" b="1" u="none" strike="noStrike">
                <a:solidFill>
                  <a:srgbClr val="2E6E49"/>
                </a:solidFill>
                <a:effectLst/>
                <a:uFillTx/>
                <a:latin typeface="Cambria"/>
                <a:ea typeface="Cambria"/>
              </a:rPr>
              <a:t>ponderado</a:t>
            </a:r>
            <a:endParaRPr lang="en-US" sz="1600" b="0" u="none" strike="noStrike">
              <a:solidFill>
                <a:srgbClr val="000000"/>
              </a:solidFill>
              <a:effectLst/>
              <a:uFillTx/>
              <a:latin typeface="Arial"/>
            </a:endParaRPr>
          </a:p>
        </p:txBody>
      </p:sp>
      <p:sp>
        <p:nvSpPr>
          <p:cNvPr id="160" name="Text 13"/>
          <p:cNvSpPr/>
          <p:nvPr/>
        </p:nvSpPr>
        <p:spPr>
          <a:xfrm>
            <a:off x="8394120" y="3767400"/>
            <a:ext cx="2989800" cy="1005480"/>
          </a:xfrm>
          <a:prstGeom prst="rect">
            <a:avLst/>
          </a:prstGeom>
          <a:noFill/>
          <a:ln w="0">
            <a:noFill/>
          </a:ln>
        </p:spPr>
        <p:style>
          <a:lnRef idx="0"/>
          <a:fillRef idx="0"/>
          <a:effectRef idx="0"/>
          <a:fontRef idx="minor"/>
        </p:style>
        <p:txBody>
          <a:bodyPr lIns="0" tIns="0" rIns="0" bIns="0" anchor="t">
            <a:noAutofit/>
          </a:bodyPr>
          <a:p>
            <a:pPr defTabSz="914400">
              <a:lnSpc>
                <a:spcPct val="103000"/>
              </a:lnSpc>
              <a:tabLst>
                <a:tab pos="0" algn="l"/>
              </a:tabLst>
            </a:pPr>
            <a:r>
              <a:rPr lang="en-US" sz="1200" b="0" u="none" strike="noStrike">
                <a:solidFill>
                  <a:srgbClr val="60707E"/>
                </a:solidFill>
                <a:effectLst/>
                <a:uFillTx/>
                <a:latin typeface="Calibri"/>
                <a:ea typeface="Calibri"/>
              </a:rPr>
              <a:t>mean(ingreso) contra svymean con el diseño.</a:t>
            </a:r>
            <a:endParaRPr lang="en-US" sz="1200" b="0" u="none" strike="noStrike">
              <a:solidFill>
                <a:srgbClr val="000000"/>
              </a:solidFill>
              <a:effectLst/>
              <a:uFillTx/>
              <a:latin typeface="Arial"/>
            </a:endParaRPr>
          </a:p>
        </p:txBody>
      </p:sp>
      <p:sp>
        <p:nvSpPr>
          <p:cNvPr id="161" name="Shape 14"/>
          <p:cNvSpPr/>
          <p:nvPr/>
        </p:nvSpPr>
        <p:spPr>
          <a:xfrm>
            <a:off x="548640" y="6053400"/>
            <a:ext cx="11091240" cy="603000"/>
          </a:xfrm>
          <a:prstGeom prst="rect">
            <a:avLst/>
          </a:prstGeom>
          <a:solidFill>
            <a:srgbClr val="FBEEE5"/>
          </a:solidFill>
          <a:ln w="0">
            <a:noFill/>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162" name="Shape 15"/>
          <p:cNvSpPr/>
          <p:nvPr/>
        </p:nvSpPr>
        <p:spPr>
          <a:xfrm>
            <a:off x="749880" y="6272640"/>
            <a:ext cx="164160" cy="164160"/>
          </a:xfrm>
          <a:prstGeom prst="roundRect">
            <a:avLst>
              <a:gd name="adj" fmla="val 22222"/>
            </a:avLst>
          </a:prstGeom>
          <a:solidFill>
            <a:srgbClr val="CB5E2E"/>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163" name="Text 16"/>
          <p:cNvSpPr/>
          <p:nvPr/>
        </p:nvSpPr>
        <p:spPr>
          <a:xfrm>
            <a:off x="1051560" y="6053400"/>
            <a:ext cx="10405440" cy="6030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0" u="none" strike="noStrike">
                <a:solidFill>
                  <a:srgbClr val="8C3E19"/>
                </a:solidFill>
                <a:effectLst/>
                <a:uFillTx/>
                <a:latin typeface="Calibri"/>
                <a:ea typeface="Calibri"/>
              </a:rPr>
              <a:t>En una frase: calculamos el ingreso promedio, y comparamos el promedio crudo contra el ponderado con el diseño.</a:t>
            </a:r>
            <a:endParaRPr lang="en-US" sz="12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64" name="Text 0"/>
          <p:cNvSpPr/>
          <p:nvPr/>
        </p:nvSpPr>
        <p:spPr>
          <a:xfrm>
            <a:off x="548640" y="384120"/>
            <a:ext cx="11091240" cy="639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900" b="1" u="none" strike="noStrike">
                <a:solidFill>
                  <a:srgbClr val="1E2A35"/>
                </a:solidFill>
                <a:effectLst/>
                <a:uFillTx/>
                <a:latin typeface="Calibri"/>
                <a:ea typeface="Calibri"/>
              </a:rPr>
              <a:t>Una encuesta no es una muestra simple</a:t>
            </a:r>
            <a:endParaRPr lang="en-US" sz="2900" b="0" u="none" strike="noStrike">
              <a:solidFill>
                <a:srgbClr val="000000"/>
              </a:solidFill>
              <a:effectLst/>
              <a:uFillTx/>
              <a:latin typeface="Arial"/>
            </a:endParaRPr>
          </a:p>
        </p:txBody>
      </p:sp>
      <p:sp>
        <p:nvSpPr>
          <p:cNvPr id="165" name="Text 1"/>
          <p:cNvSpPr/>
          <p:nvPr/>
        </p:nvSpPr>
        <p:spPr>
          <a:xfrm>
            <a:off x="548640" y="1042560"/>
            <a:ext cx="11091240" cy="5666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0" u="none" strike="noStrike">
                <a:solidFill>
                  <a:srgbClr val="60707E"/>
                </a:solidFill>
                <a:effectLst/>
                <a:uFillTx/>
                <a:latin typeface="Calibri"/>
                <a:ea typeface="Calibri"/>
              </a:rPr>
              <a:t>Se muestrea distinto a propósito, y por eso cada registro trae un peso. Ignorarlo cambia el número.</a:t>
            </a:r>
            <a:endParaRPr lang="en-US" sz="1400" b="0" u="none" strike="noStrike">
              <a:solidFill>
                <a:srgbClr val="000000"/>
              </a:solidFill>
              <a:effectLst/>
              <a:uFillTx/>
              <a:latin typeface="Arial"/>
            </a:endParaRPr>
          </a:p>
        </p:txBody>
      </p:sp>
      <p:sp>
        <p:nvSpPr>
          <p:cNvPr id="166" name="Shape 2"/>
          <p:cNvSpPr/>
          <p:nvPr/>
        </p:nvSpPr>
        <p:spPr>
          <a:xfrm>
            <a:off x="548640" y="1920240"/>
            <a:ext cx="3501720" cy="1828440"/>
          </a:xfrm>
          <a:prstGeom prst="roundRect">
            <a:avLst>
              <a:gd name="adj" fmla="val 3000"/>
            </a:avLst>
          </a:prstGeom>
          <a:solidFill>
            <a:srgbClr val="EEF2F5"/>
          </a:solidFill>
          <a:ln w="9525">
            <a:solidFill>
              <a:srgbClr val="D5DCE3"/>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167" name="Text 3"/>
          <p:cNvSpPr/>
          <p:nvPr/>
        </p:nvSpPr>
        <p:spPr>
          <a:xfrm>
            <a:off x="777240" y="2103120"/>
            <a:ext cx="3044520" cy="411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50" b="1" u="none" strike="noStrike">
                <a:solidFill>
                  <a:srgbClr val="1E2A35"/>
                </a:solidFill>
                <a:effectLst/>
                <a:uFillTx/>
                <a:latin typeface="Calibri"/>
                <a:ea typeface="Calibri"/>
              </a:rPr>
              <a:t>Estratos</a:t>
            </a:r>
            <a:endParaRPr lang="en-US" sz="1550" b="0" u="none" strike="noStrike">
              <a:solidFill>
                <a:srgbClr val="000000"/>
              </a:solidFill>
              <a:effectLst/>
              <a:uFillTx/>
              <a:latin typeface="Arial"/>
            </a:endParaRPr>
          </a:p>
        </p:txBody>
      </p:sp>
      <p:sp>
        <p:nvSpPr>
          <p:cNvPr id="168" name="Text 4"/>
          <p:cNvSpPr/>
          <p:nvPr/>
        </p:nvSpPr>
        <p:spPr>
          <a:xfrm>
            <a:off x="777240" y="2578680"/>
            <a:ext cx="3044520" cy="1051200"/>
          </a:xfrm>
          <a:prstGeom prst="rect">
            <a:avLst/>
          </a:prstGeom>
          <a:noFill/>
          <a:ln w="0">
            <a:noFill/>
          </a:ln>
        </p:spPr>
        <p:style>
          <a:lnRef idx="0"/>
          <a:fillRef idx="0"/>
          <a:effectRef idx="0"/>
          <a:fontRef idx="minor"/>
        </p:style>
        <p:txBody>
          <a:bodyPr lIns="0" tIns="0" rIns="0" bIns="0" anchor="ctr">
            <a:noAutofit/>
          </a:bodyPr>
          <a:p>
            <a:pPr defTabSz="914400">
              <a:lnSpc>
                <a:spcPct val="105000"/>
              </a:lnSpc>
              <a:tabLst>
                <a:tab pos="0" algn="l"/>
              </a:tabLst>
            </a:pPr>
            <a:r>
              <a:rPr lang="en-US" sz="1250" b="0" u="none" strike="noStrike">
                <a:solidFill>
                  <a:srgbClr val="1E2A35"/>
                </a:solidFill>
                <a:effectLst/>
                <a:uFillTx/>
                <a:latin typeface="Calibri"/>
                <a:ea typeface="Calibri"/>
              </a:rPr>
              <a:t>Se muestrea distinto por diseño: unos grupos se sobre-representan para medirlos con precisión.</a:t>
            </a:r>
            <a:endParaRPr lang="en-US" sz="1250" b="0" u="none" strike="noStrike">
              <a:solidFill>
                <a:srgbClr val="000000"/>
              </a:solidFill>
              <a:effectLst/>
              <a:uFillTx/>
              <a:latin typeface="Arial"/>
            </a:endParaRPr>
          </a:p>
        </p:txBody>
      </p:sp>
      <p:sp>
        <p:nvSpPr>
          <p:cNvPr id="169" name="Shape 5"/>
          <p:cNvSpPr/>
          <p:nvPr/>
        </p:nvSpPr>
        <p:spPr>
          <a:xfrm>
            <a:off x="4343400" y="1920240"/>
            <a:ext cx="3501720" cy="1828440"/>
          </a:xfrm>
          <a:prstGeom prst="roundRect">
            <a:avLst>
              <a:gd name="adj" fmla="val 3000"/>
            </a:avLst>
          </a:prstGeom>
          <a:solidFill>
            <a:srgbClr val="E7F2EA"/>
          </a:solidFill>
          <a:ln w="9525">
            <a:solidFill>
              <a:srgbClr val="D5DCE3"/>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170" name="Text 6"/>
          <p:cNvSpPr/>
          <p:nvPr/>
        </p:nvSpPr>
        <p:spPr>
          <a:xfrm>
            <a:off x="4572000" y="2103120"/>
            <a:ext cx="3044520" cy="411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50" b="1" u="none" strike="noStrike">
                <a:solidFill>
                  <a:srgbClr val="2E6E49"/>
                </a:solidFill>
                <a:effectLst/>
                <a:uFillTx/>
                <a:latin typeface="Calibri"/>
                <a:ea typeface="Calibri"/>
              </a:rPr>
              <a:t>Factor de expansión</a:t>
            </a:r>
            <a:endParaRPr lang="en-US" sz="1550" b="0" u="none" strike="noStrike">
              <a:solidFill>
                <a:srgbClr val="000000"/>
              </a:solidFill>
              <a:effectLst/>
              <a:uFillTx/>
              <a:latin typeface="Arial"/>
            </a:endParaRPr>
          </a:p>
        </p:txBody>
      </p:sp>
      <p:sp>
        <p:nvSpPr>
          <p:cNvPr id="171" name="Text 7"/>
          <p:cNvSpPr/>
          <p:nvPr/>
        </p:nvSpPr>
        <p:spPr>
          <a:xfrm>
            <a:off x="4572000" y="2578680"/>
            <a:ext cx="3044520" cy="1051200"/>
          </a:xfrm>
          <a:prstGeom prst="rect">
            <a:avLst/>
          </a:prstGeom>
          <a:noFill/>
          <a:ln w="0">
            <a:noFill/>
          </a:ln>
        </p:spPr>
        <p:style>
          <a:lnRef idx="0"/>
          <a:fillRef idx="0"/>
          <a:effectRef idx="0"/>
          <a:fontRef idx="minor"/>
        </p:style>
        <p:txBody>
          <a:bodyPr lIns="0" tIns="0" rIns="0" bIns="0" anchor="ctr">
            <a:noAutofit/>
          </a:bodyPr>
          <a:p>
            <a:pPr defTabSz="914400">
              <a:lnSpc>
                <a:spcPct val="105000"/>
              </a:lnSpc>
              <a:tabLst>
                <a:tab pos="0" algn="l"/>
              </a:tabLst>
            </a:pPr>
            <a:r>
              <a:rPr lang="en-US" sz="1250" b="0" u="none" strike="noStrike">
                <a:solidFill>
                  <a:srgbClr val="1E2A35"/>
                </a:solidFill>
                <a:effectLst/>
                <a:uFillTx/>
                <a:latin typeface="Calibri"/>
                <a:ea typeface="Calibri"/>
              </a:rPr>
              <a:t>Cada registro pesa lo que representa en la población. Uno puede valer por 1,500 hogares y otro por 4,000.</a:t>
            </a:r>
            <a:endParaRPr lang="en-US" sz="1250" b="0" u="none" strike="noStrike">
              <a:solidFill>
                <a:srgbClr val="000000"/>
              </a:solidFill>
              <a:effectLst/>
              <a:uFillTx/>
              <a:latin typeface="Arial"/>
            </a:endParaRPr>
          </a:p>
        </p:txBody>
      </p:sp>
      <p:sp>
        <p:nvSpPr>
          <p:cNvPr id="172" name="Shape 8"/>
          <p:cNvSpPr/>
          <p:nvPr/>
        </p:nvSpPr>
        <p:spPr>
          <a:xfrm>
            <a:off x="8138160" y="1920240"/>
            <a:ext cx="3501720" cy="1828440"/>
          </a:xfrm>
          <a:prstGeom prst="roundRect">
            <a:avLst>
              <a:gd name="adj" fmla="val 3000"/>
            </a:avLst>
          </a:prstGeom>
          <a:solidFill>
            <a:srgbClr val="F9E7E3"/>
          </a:solidFill>
          <a:ln w="9525">
            <a:solidFill>
              <a:srgbClr val="D5DCE3"/>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173" name="Text 9"/>
          <p:cNvSpPr/>
          <p:nvPr/>
        </p:nvSpPr>
        <p:spPr>
          <a:xfrm>
            <a:off x="8366760" y="2103120"/>
            <a:ext cx="3044520" cy="411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50" b="1" u="none" strike="noStrike">
                <a:solidFill>
                  <a:srgbClr val="A23B22"/>
                </a:solidFill>
                <a:effectLst/>
                <a:uFillTx/>
                <a:latin typeface="Calibri"/>
                <a:ea typeface="Calibri"/>
              </a:rPr>
              <a:t>La trampa</a:t>
            </a:r>
            <a:endParaRPr lang="en-US" sz="1550" b="0" u="none" strike="noStrike">
              <a:solidFill>
                <a:srgbClr val="000000"/>
              </a:solidFill>
              <a:effectLst/>
              <a:uFillTx/>
              <a:latin typeface="Arial"/>
            </a:endParaRPr>
          </a:p>
        </p:txBody>
      </p:sp>
      <p:sp>
        <p:nvSpPr>
          <p:cNvPr id="174" name="Text 10"/>
          <p:cNvSpPr/>
          <p:nvPr/>
        </p:nvSpPr>
        <p:spPr>
          <a:xfrm>
            <a:off x="8366760" y="2578680"/>
            <a:ext cx="3044520" cy="1051200"/>
          </a:xfrm>
          <a:prstGeom prst="rect">
            <a:avLst/>
          </a:prstGeom>
          <a:noFill/>
          <a:ln w="0">
            <a:noFill/>
          </a:ln>
        </p:spPr>
        <p:style>
          <a:lnRef idx="0"/>
          <a:fillRef idx="0"/>
          <a:effectRef idx="0"/>
          <a:fontRef idx="minor"/>
        </p:style>
        <p:txBody>
          <a:bodyPr lIns="0" tIns="0" rIns="0" bIns="0" anchor="ctr">
            <a:noAutofit/>
          </a:bodyPr>
          <a:p>
            <a:pPr defTabSz="914400">
              <a:lnSpc>
                <a:spcPct val="105000"/>
              </a:lnSpc>
              <a:tabLst>
                <a:tab pos="0" algn="l"/>
              </a:tabLst>
            </a:pPr>
            <a:r>
              <a:rPr lang="en-US" sz="1250" b="0" u="none" strike="noStrike">
                <a:solidFill>
                  <a:srgbClr val="1E2A35"/>
                </a:solidFill>
                <a:effectLst/>
                <a:uFillTx/>
                <a:latin typeface="Calibri"/>
                <a:ea typeface="Calibri"/>
              </a:rPr>
              <a:t>Un promedio crudo trata a todos igual. Devuelve el promedio de la muestra, no el de la población.</a:t>
            </a:r>
            <a:endParaRPr lang="en-US" sz="1250" b="0" u="none" strike="noStrike">
              <a:solidFill>
                <a:srgbClr val="000000"/>
              </a:solidFill>
              <a:effectLst/>
              <a:uFillTx/>
              <a:latin typeface="Arial"/>
            </a:endParaRPr>
          </a:p>
        </p:txBody>
      </p:sp>
      <p:sp>
        <p:nvSpPr>
          <p:cNvPr id="175" name="Shape 11"/>
          <p:cNvSpPr/>
          <p:nvPr/>
        </p:nvSpPr>
        <p:spPr>
          <a:xfrm>
            <a:off x="548640" y="4023360"/>
            <a:ext cx="11091240" cy="1371240"/>
          </a:xfrm>
          <a:prstGeom prst="roundRect">
            <a:avLst>
              <a:gd name="adj" fmla="val 4000"/>
            </a:avLst>
          </a:prstGeom>
          <a:solidFill>
            <a:srgbClr val="15293B"/>
          </a:solidFill>
          <a:ln w="9525">
            <a:solidFill>
              <a:srgbClr val="D5DCE3"/>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176" name="Text 12"/>
          <p:cNvSpPr/>
          <p:nvPr/>
        </p:nvSpPr>
        <p:spPr>
          <a:xfrm>
            <a:off x="868680" y="4187880"/>
            <a:ext cx="1045116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E58A5B"/>
                </a:solidFill>
                <a:effectLst/>
                <a:uFillTx/>
                <a:latin typeface="Calibri"/>
                <a:ea typeface="Calibri"/>
              </a:rPr>
              <a:t>Por qué existe el factor de expansión</a:t>
            </a:r>
            <a:endParaRPr lang="en-US" sz="1500" b="0" u="none" strike="noStrike">
              <a:solidFill>
                <a:srgbClr val="000000"/>
              </a:solidFill>
              <a:effectLst/>
              <a:uFillTx/>
              <a:latin typeface="Arial"/>
            </a:endParaRPr>
          </a:p>
        </p:txBody>
      </p:sp>
      <p:sp>
        <p:nvSpPr>
          <p:cNvPr id="177" name="Text 13"/>
          <p:cNvSpPr/>
          <p:nvPr/>
        </p:nvSpPr>
        <p:spPr>
          <a:xfrm>
            <a:off x="868680" y="4572000"/>
            <a:ext cx="10451160" cy="776880"/>
          </a:xfrm>
          <a:prstGeom prst="rect">
            <a:avLst/>
          </a:prstGeom>
          <a:noFill/>
          <a:ln w="0">
            <a:noFill/>
          </a:ln>
        </p:spPr>
        <p:style>
          <a:lnRef idx="0"/>
          <a:fillRef idx="0"/>
          <a:effectRef idx="0"/>
          <a:fontRef idx="minor"/>
        </p:style>
        <p:txBody>
          <a:bodyPr lIns="0" tIns="0" rIns="0" bIns="0" anchor="ctr">
            <a:noAutofit/>
          </a:bodyPr>
          <a:p>
            <a:pPr defTabSz="914400">
              <a:lnSpc>
                <a:spcPct val="105000"/>
              </a:lnSpc>
              <a:tabLst>
                <a:tab pos="0" algn="l"/>
              </a:tabLst>
            </a:pPr>
            <a:r>
              <a:rPr lang="en-US" sz="1300" b="0" u="none" strike="noStrike">
                <a:solidFill>
                  <a:srgbClr val="E4EAF0"/>
                </a:solidFill>
                <a:effectLst/>
                <a:uFillTx/>
                <a:latin typeface="Calibri"/>
                <a:ea typeface="Calibri"/>
              </a:rPr>
              <a:t>En una muestra simple, todos pesan igual y el promedio crudo sirve. En ENIGH, ENOE y casi cualquier encuesta oficial, no: el diseño sobre-representa a unos y sub-representa a otros, y el factor corrige esa distorsión para que el estimado hable de la población, no de la muestra.</a:t>
            </a:r>
            <a:endParaRPr lang="en-US" sz="1300" b="0" u="none" strike="noStrike">
              <a:solidFill>
                <a:srgbClr val="000000"/>
              </a:solidFill>
              <a:effectLst/>
              <a:uFillTx/>
              <a:latin typeface="Arial"/>
            </a:endParaRPr>
          </a:p>
        </p:txBody>
      </p:sp>
      <p:sp>
        <p:nvSpPr>
          <p:cNvPr id="178" name="Shape 14"/>
          <p:cNvSpPr/>
          <p:nvPr/>
        </p:nvSpPr>
        <p:spPr>
          <a:xfrm>
            <a:off x="548640" y="6053400"/>
            <a:ext cx="11091240" cy="603000"/>
          </a:xfrm>
          <a:prstGeom prst="rect">
            <a:avLst/>
          </a:prstGeom>
          <a:solidFill>
            <a:srgbClr val="FBEEE5"/>
          </a:solidFill>
          <a:ln w="0">
            <a:noFill/>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179" name="Shape 15"/>
          <p:cNvSpPr/>
          <p:nvPr/>
        </p:nvSpPr>
        <p:spPr>
          <a:xfrm>
            <a:off x="749880" y="6272640"/>
            <a:ext cx="164160" cy="164160"/>
          </a:xfrm>
          <a:prstGeom prst="roundRect">
            <a:avLst>
              <a:gd name="adj" fmla="val 22222"/>
            </a:avLst>
          </a:prstGeom>
          <a:solidFill>
            <a:srgbClr val="CB5E2E"/>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180" name="Text 16"/>
          <p:cNvSpPr/>
          <p:nvPr/>
        </p:nvSpPr>
        <p:spPr>
          <a:xfrm>
            <a:off x="1051560" y="6053400"/>
            <a:ext cx="10405440" cy="6030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0" u="none" strike="noStrike">
                <a:solidFill>
                  <a:srgbClr val="8C3E19"/>
                </a:solidFill>
                <a:effectLst/>
                <a:uFillTx/>
                <a:latin typeface="Calibri"/>
                <a:ea typeface="Calibri"/>
              </a:rPr>
              <a:t>Si la IA promedia una encuesta con mean(), está asumiendo muestra simple. Casi nunca lo es, y casi nunca lo dice.</a:t>
            </a:r>
            <a:endParaRPr lang="en-US" sz="12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81" name="Text 0"/>
          <p:cNvSpPr/>
          <p:nvPr/>
        </p:nvSpPr>
        <p:spPr>
          <a:xfrm>
            <a:off x="548640" y="384120"/>
            <a:ext cx="11091240" cy="639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900" b="1" u="none" strike="noStrike">
                <a:solidFill>
                  <a:srgbClr val="1E2A35"/>
                </a:solidFill>
                <a:effectLst/>
                <a:uFillTx/>
                <a:latin typeface="Calibri"/>
                <a:ea typeface="Calibri"/>
              </a:rPr>
              <a:t>El promedio crudo contra el ponderado</a:t>
            </a:r>
            <a:endParaRPr lang="en-US" sz="2900" b="0" u="none" strike="noStrike">
              <a:solidFill>
                <a:srgbClr val="000000"/>
              </a:solidFill>
              <a:effectLst/>
              <a:uFillTx/>
              <a:latin typeface="Arial"/>
            </a:endParaRPr>
          </a:p>
        </p:txBody>
      </p:sp>
      <p:sp>
        <p:nvSpPr>
          <p:cNvPr id="182" name="Text 1"/>
          <p:cNvSpPr/>
          <p:nvPr/>
        </p:nvSpPr>
        <p:spPr>
          <a:xfrm>
            <a:off x="548640" y="1042560"/>
            <a:ext cx="11091240" cy="5666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0" u="none" strike="noStrike">
                <a:solidFill>
                  <a:srgbClr val="60707E"/>
                </a:solidFill>
                <a:effectLst/>
                <a:uFillTx/>
                <a:latin typeface="Calibri"/>
                <a:ea typeface="Calibri"/>
              </a:rPr>
              <a:t>Una respuesta ingenua promedia crudo; el estimador de diseño usa los factores. Salida ilustrativa: los asistentes actuales muchas veces ya ponderan solos, pero el diseño y el número los verificas tú.</a:t>
            </a:r>
            <a:endParaRPr lang="en-US" sz="1400" b="0" u="none" strike="noStrike">
              <a:solidFill>
                <a:srgbClr val="000000"/>
              </a:solidFill>
              <a:effectLst/>
              <a:uFillTx/>
              <a:latin typeface="Arial"/>
            </a:endParaRPr>
          </a:p>
        </p:txBody>
      </p:sp>
      <p:sp>
        <p:nvSpPr>
          <p:cNvPr id="183" name="Shape 2"/>
          <p:cNvSpPr/>
          <p:nvPr/>
        </p:nvSpPr>
        <p:spPr>
          <a:xfrm>
            <a:off x="548640" y="1783080"/>
            <a:ext cx="2559960" cy="402120"/>
          </a:xfrm>
          <a:prstGeom prst="rect">
            <a:avLst/>
          </a:prstGeom>
          <a:solidFill>
            <a:srgbClr val="15293B"/>
          </a:solidFill>
          <a:ln w="6350">
            <a:solidFill>
              <a:srgbClr val="FFFFFF"/>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184" name="Text 3"/>
          <p:cNvSpPr/>
          <p:nvPr/>
        </p:nvSpPr>
        <p:spPr>
          <a:xfrm>
            <a:off x="548640" y="1783080"/>
            <a:ext cx="2559960" cy="402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1" u="none" strike="noStrike">
                <a:solidFill>
                  <a:srgbClr val="FFFFFF"/>
                </a:solidFill>
                <a:effectLst/>
                <a:uFillTx/>
                <a:latin typeface="Calibri"/>
                <a:ea typeface="Calibri"/>
              </a:rPr>
              <a:t>Estrato</a:t>
            </a:r>
            <a:endParaRPr lang="en-US" sz="1200" b="0" u="none" strike="noStrike">
              <a:solidFill>
                <a:srgbClr val="000000"/>
              </a:solidFill>
              <a:effectLst/>
              <a:uFillTx/>
              <a:latin typeface="Arial"/>
            </a:endParaRPr>
          </a:p>
        </p:txBody>
      </p:sp>
      <p:sp>
        <p:nvSpPr>
          <p:cNvPr id="185" name="Shape 4"/>
          <p:cNvSpPr/>
          <p:nvPr/>
        </p:nvSpPr>
        <p:spPr>
          <a:xfrm>
            <a:off x="3108960" y="1783080"/>
            <a:ext cx="2011320" cy="402120"/>
          </a:xfrm>
          <a:prstGeom prst="rect">
            <a:avLst/>
          </a:prstGeom>
          <a:solidFill>
            <a:srgbClr val="15293B"/>
          </a:solidFill>
          <a:ln w="6350">
            <a:solidFill>
              <a:srgbClr val="FFFFFF"/>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186" name="Text 5"/>
          <p:cNvSpPr/>
          <p:nvPr/>
        </p:nvSpPr>
        <p:spPr>
          <a:xfrm>
            <a:off x="3108960" y="1783080"/>
            <a:ext cx="2011320" cy="402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1" u="none" strike="noStrike">
                <a:solidFill>
                  <a:srgbClr val="FFFFFF"/>
                </a:solidFill>
                <a:effectLst/>
                <a:uFillTx/>
                <a:latin typeface="Calibri"/>
                <a:ea typeface="Calibri"/>
              </a:rPr>
              <a:t>% población</a:t>
            </a:r>
            <a:endParaRPr lang="en-US" sz="1200" b="0" u="none" strike="noStrike">
              <a:solidFill>
                <a:srgbClr val="000000"/>
              </a:solidFill>
              <a:effectLst/>
              <a:uFillTx/>
              <a:latin typeface="Arial"/>
            </a:endParaRPr>
          </a:p>
        </p:txBody>
      </p:sp>
      <p:sp>
        <p:nvSpPr>
          <p:cNvPr id="187" name="Shape 6"/>
          <p:cNvSpPr/>
          <p:nvPr/>
        </p:nvSpPr>
        <p:spPr>
          <a:xfrm>
            <a:off x="5120640" y="1783080"/>
            <a:ext cx="2011320" cy="402120"/>
          </a:xfrm>
          <a:prstGeom prst="rect">
            <a:avLst/>
          </a:prstGeom>
          <a:solidFill>
            <a:srgbClr val="15293B"/>
          </a:solidFill>
          <a:ln w="6350">
            <a:solidFill>
              <a:srgbClr val="FFFFFF"/>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188" name="Text 7"/>
          <p:cNvSpPr/>
          <p:nvPr/>
        </p:nvSpPr>
        <p:spPr>
          <a:xfrm>
            <a:off x="5120640" y="1783080"/>
            <a:ext cx="2011320" cy="402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1" u="none" strike="noStrike">
                <a:solidFill>
                  <a:srgbClr val="FFFFFF"/>
                </a:solidFill>
                <a:effectLst/>
                <a:uFillTx/>
                <a:latin typeface="Calibri"/>
                <a:ea typeface="Calibri"/>
              </a:rPr>
              <a:t>% muestra</a:t>
            </a:r>
            <a:endParaRPr lang="en-US" sz="1200" b="0" u="none" strike="noStrike">
              <a:solidFill>
                <a:srgbClr val="000000"/>
              </a:solidFill>
              <a:effectLst/>
              <a:uFillTx/>
              <a:latin typeface="Arial"/>
            </a:endParaRPr>
          </a:p>
        </p:txBody>
      </p:sp>
      <p:sp>
        <p:nvSpPr>
          <p:cNvPr id="189" name="Shape 8"/>
          <p:cNvSpPr/>
          <p:nvPr/>
        </p:nvSpPr>
        <p:spPr>
          <a:xfrm>
            <a:off x="7132320" y="1783080"/>
            <a:ext cx="1828440" cy="402120"/>
          </a:xfrm>
          <a:prstGeom prst="rect">
            <a:avLst/>
          </a:prstGeom>
          <a:solidFill>
            <a:srgbClr val="15293B"/>
          </a:solidFill>
          <a:ln w="6350">
            <a:solidFill>
              <a:srgbClr val="FFFFFF"/>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190" name="Text 9"/>
          <p:cNvSpPr/>
          <p:nvPr/>
        </p:nvSpPr>
        <p:spPr>
          <a:xfrm>
            <a:off x="7132320" y="1783080"/>
            <a:ext cx="1828440" cy="402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1" u="none" strike="noStrike">
                <a:solidFill>
                  <a:srgbClr val="FFFFFF"/>
                </a:solidFill>
                <a:effectLst/>
                <a:uFillTx/>
                <a:latin typeface="Calibri"/>
                <a:ea typeface="Calibri"/>
              </a:rPr>
              <a:t>Factor</a:t>
            </a:r>
            <a:endParaRPr lang="en-US" sz="1200" b="0" u="none" strike="noStrike">
              <a:solidFill>
                <a:srgbClr val="000000"/>
              </a:solidFill>
              <a:effectLst/>
              <a:uFillTx/>
              <a:latin typeface="Arial"/>
            </a:endParaRPr>
          </a:p>
        </p:txBody>
      </p:sp>
      <p:sp>
        <p:nvSpPr>
          <p:cNvPr id="191" name="Shape 10"/>
          <p:cNvSpPr/>
          <p:nvPr/>
        </p:nvSpPr>
        <p:spPr>
          <a:xfrm>
            <a:off x="8961120" y="1783080"/>
            <a:ext cx="2678760" cy="402120"/>
          </a:xfrm>
          <a:prstGeom prst="rect">
            <a:avLst/>
          </a:prstGeom>
          <a:solidFill>
            <a:srgbClr val="15293B"/>
          </a:solidFill>
          <a:ln w="6350">
            <a:solidFill>
              <a:srgbClr val="FFFFFF"/>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192" name="Text 11"/>
          <p:cNvSpPr/>
          <p:nvPr/>
        </p:nvSpPr>
        <p:spPr>
          <a:xfrm>
            <a:off x="8961120" y="1783080"/>
            <a:ext cx="2678760" cy="402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1" u="none" strike="noStrike">
                <a:solidFill>
                  <a:srgbClr val="FFFFFF"/>
                </a:solidFill>
                <a:effectLst/>
                <a:uFillTx/>
                <a:latin typeface="Calibri"/>
                <a:ea typeface="Calibri"/>
              </a:rPr>
              <a:t>Ingreso medio</a:t>
            </a:r>
            <a:endParaRPr lang="en-US" sz="1200" b="0" u="none" strike="noStrike">
              <a:solidFill>
                <a:srgbClr val="000000"/>
              </a:solidFill>
              <a:effectLst/>
              <a:uFillTx/>
              <a:latin typeface="Arial"/>
            </a:endParaRPr>
          </a:p>
        </p:txBody>
      </p:sp>
      <p:sp>
        <p:nvSpPr>
          <p:cNvPr id="193" name="Shape 12"/>
          <p:cNvSpPr/>
          <p:nvPr/>
        </p:nvSpPr>
        <p:spPr>
          <a:xfrm>
            <a:off x="548640" y="2185560"/>
            <a:ext cx="2559960" cy="402120"/>
          </a:xfrm>
          <a:prstGeom prst="rect">
            <a:avLst/>
          </a:prstGeom>
          <a:solidFill>
            <a:srgbClr val="EEF2F5"/>
          </a:solidFill>
          <a:ln w="6350">
            <a:solidFill>
              <a:srgbClr val="D5DCE3"/>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194" name="Text 13"/>
          <p:cNvSpPr/>
          <p:nvPr/>
        </p:nvSpPr>
        <p:spPr>
          <a:xfrm>
            <a:off x="594360" y="2185560"/>
            <a:ext cx="2468520" cy="402120"/>
          </a:xfrm>
          <a:prstGeom prst="rect">
            <a:avLst/>
          </a:prstGeom>
          <a:noFill/>
          <a:ln w="0">
            <a:noFill/>
          </a:ln>
        </p:spPr>
        <p:style>
          <a:lnRef idx="0"/>
          <a:fillRef idx="0"/>
          <a:effectRef idx="0"/>
          <a:fontRef idx="minor"/>
        </p:style>
        <p:txBody>
          <a:bodyPr lIns="76320" tIns="76320" rIns="76320" bIns="76320" anchor="ctr">
            <a:noAutofit/>
          </a:bodyPr>
          <a:p>
            <a:pPr defTabSz="914400">
              <a:lnSpc>
                <a:spcPct val="100000"/>
              </a:lnSpc>
              <a:tabLst>
                <a:tab pos="0" algn="l"/>
              </a:tabLst>
            </a:pPr>
            <a:r>
              <a:rPr lang="en-US" sz="1250" b="0" u="none" strike="noStrike">
                <a:solidFill>
                  <a:srgbClr val="1E2A35"/>
                </a:solidFill>
                <a:effectLst/>
                <a:uFillTx/>
                <a:latin typeface="Calibri"/>
                <a:ea typeface="Calibri"/>
              </a:rPr>
              <a:t>Alta marginación</a:t>
            </a:r>
            <a:endParaRPr lang="en-US" sz="1250" b="0" u="none" strike="noStrike">
              <a:solidFill>
                <a:srgbClr val="000000"/>
              </a:solidFill>
              <a:effectLst/>
              <a:uFillTx/>
              <a:latin typeface="Arial"/>
            </a:endParaRPr>
          </a:p>
        </p:txBody>
      </p:sp>
      <p:sp>
        <p:nvSpPr>
          <p:cNvPr id="195" name="Shape 14"/>
          <p:cNvSpPr/>
          <p:nvPr/>
        </p:nvSpPr>
        <p:spPr>
          <a:xfrm>
            <a:off x="3108960" y="2185560"/>
            <a:ext cx="2011320" cy="402120"/>
          </a:xfrm>
          <a:prstGeom prst="rect">
            <a:avLst/>
          </a:prstGeom>
          <a:solidFill>
            <a:srgbClr val="EEF2F5"/>
          </a:solidFill>
          <a:ln w="6350">
            <a:solidFill>
              <a:srgbClr val="D5DCE3"/>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196" name="Text 15"/>
          <p:cNvSpPr/>
          <p:nvPr/>
        </p:nvSpPr>
        <p:spPr>
          <a:xfrm>
            <a:off x="3154680" y="2185560"/>
            <a:ext cx="1919880" cy="402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50" b="0" u="none" strike="noStrike">
                <a:solidFill>
                  <a:srgbClr val="1E2A35"/>
                </a:solidFill>
                <a:effectLst/>
                <a:uFillTx/>
                <a:latin typeface="Cambria"/>
                <a:ea typeface="Cambria"/>
              </a:rPr>
              <a:t>30%</a:t>
            </a:r>
            <a:endParaRPr lang="en-US" sz="1250" b="0" u="none" strike="noStrike">
              <a:solidFill>
                <a:srgbClr val="000000"/>
              </a:solidFill>
              <a:effectLst/>
              <a:uFillTx/>
              <a:latin typeface="Arial"/>
            </a:endParaRPr>
          </a:p>
        </p:txBody>
      </p:sp>
      <p:sp>
        <p:nvSpPr>
          <p:cNvPr id="197" name="Shape 16"/>
          <p:cNvSpPr/>
          <p:nvPr/>
        </p:nvSpPr>
        <p:spPr>
          <a:xfrm>
            <a:off x="5120640" y="2185560"/>
            <a:ext cx="2011320" cy="402120"/>
          </a:xfrm>
          <a:prstGeom prst="rect">
            <a:avLst/>
          </a:prstGeom>
          <a:solidFill>
            <a:srgbClr val="EEF2F5"/>
          </a:solidFill>
          <a:ln w="6350">
            <a:solidFill>
              <a:srgbClr val="D5DCE3"/>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198" name="Text 17"/>
          <p:cNvSpPr/>
          <p:nvPr/>
        </p:nvSpPr>
        <p:spPr>
          <a:xfrm>
            <a:off x="5166360" y="2185560"/>
            <a:ext cx="1919880" cy="402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50" b="0" u="none" strike="noStrike">
                <a:solidFill>
                  <a:srgbClr val="1E2A35"/>
                </a:solidFill>
                <a:effectLst/>
                <a:uFillTx/>
                <a:latin typeface="Cambria"/>
                <a:ea typeface="Cambria"/>
              </a:rPr>
              <a:t>50%</a:t>
            </a:r>
            <a:endParaRPr lang="en-US" sz="1250" b="0" u="none" strike="noStrike">
              <a:solidFill>
                <a:srgbClr val="000000"/>
              </a:solidFill>
              <a:effectLst/>
              <a:uFillTx/>
              <a:latin typeface="Arial"/>
            </a:endParaRPr>
          </a:p>
        </p:txBody>
      </p:sp>
      <p:sp>
        <p:nvSpPr>
          <p:cNvPr id="199" name="Shape 18"/>
          <p:cNvSpPr/>
          <p:nvPr/>
        </p:nvSpPr>
        <p:spPr>
          <a:xfrm>
            <a:off x="7132320" y="2185560"/>
            <a:ext cx="1828440" cy="402120"/>
          </a:xfrm>
          <a:prstGeom prst="rect">
            <a:avLst/>
          </a:prstGeom>
          <a:solidFill>
            <a:srgbClr val="EEF2F5"/>
          </a:solidFill>
          <a:ln w="6350">
            <a:solidFill>
              <a:srgbClr val="D5DCE3"/>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200" name="Text 19"/>
          <p:cNvSpPr/>
          <p:nvPr/>
        </p:nvSpPr>
        <p:spPr>
          <a:xfrm>
            <a:off x="7178040" y="2185560"/>
            <a:ext cx="1737000" cy="402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50" b="0" u="none" strike="noStrike">
                <a:solidFill>
                  <a:srgbClr val="1E2A35"/>
                </a:solidFill>
                <a:effectLst/>
                <a:uFillTx/>
                <a:latin typeface="Cambria"/>
                <a:ea typeface="Cambria"/>
              </a:rPr>
              <a:t>1,500</a:t>
            </a:r>
            <a:endParaRPr lang="en-US" sz="1250" b="0" u="none" strike="noStrike">
              <a:solidFill>
                <a:srgbClr val="000000"/>
              </a:solidFill>
              <a:effectLst/>
              <a:uFillTx/>
              <a:latin typeface="Arial"/>
            </a:endParaRPr>
          </a:p>
        </p:txBody>
      </p:sp>
      <p:sp>
        <p:nvSpPr>
          <p:cNvPr id="201" name="Shape 20"/>
          <p:cNvSpPr/>
          <p:nvPr/>
        </p:nvSpPr>
        <p:spPr>
          <a:xfrm>
            <a:off x="8961120" y="2185560"/>
            <a:ext cx="2678760" cy="402120"/>
          </a:xfrm>
          <a:prstGeom prst="rect">
            <a:avLst/>
          </a:prstGeom>
          <a:solidFill>
            <a:srgbClr val="EEF2F5"/>
          </a:solidFill>
          <a:ln w="6350">
            <a:solidFill>
              <a:srgbClr val="D5DCE3"/>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202" name="Text 21"/>
          <p:cNvSpPr/>
          <p:nvPr/>
        </p:nvSpPr>
        <p:spPr>
          <a:xfrm>
            <a:off x="9006840" y="2185560"/>
            <a:ext cx="2587320" cy="402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50" b="0" u="none" strike="noStrike">
                <a:solidFill>
                  <a:srgbClr val="1E2A35"/>
                </a:solidFill>
                <a:effectLst/>
                <a:uFillTx/>
                <a:latin typeface="Cambria"/>
                <a:ea typeface="Cambria"/>
              </a:rPr>
              <a:t>4,192</a:t>
            </a:r>
            <a:endParaRPr lang="en-US" sz="1250" b="0" u="none" strike="noStrike">
              <a:solidFill>
                <a:srgbClr val="000000"/>
              </a:solidFill>
              <a:effectLst/>
              <a:uFillTx/>
              <a:latin typeface="Arial"/>
            </a:endParaRPr>
          </a:p>
        </p:txBody>
      </p:sp>
      <p:sp>
        <p:nvSpPr>
          <p:cNvPr id="203" name="Shape 22"/>
          <p:cNvSpPr/>
          <p:nvPr/>
        </p:nvSpPr>
        <p:spPr>
          <a:xfrm>
            <a:off x="548640" y="2587680"/>
            <a:ext cx="2559960" cy="402120"/>
          </a:xfrm>
          <a:prstGeom prst="rect">
            <a:avLst/>
          </a:prstGeom>
          <a:solidFill>
            <a:srgbClr val="FFFFFF"/>
          </a:solidFill>
          <a:ln w="6350">
            <a:solidFill>
              <a:srgbClr val="D5DCE3"/>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204" name="Text 23"/>
          <p:cNvSpPr/>
          <p:nvPr/>
        </p:nvSpPr>
        <p:spPr>
          <a:xfrm>
            <a:off x="594360" y="2587680"/>
            <a:ext cx="2468520" cy="402120"/>
          </a:xfrm>
          <a:prstGeom prst="rect">
            <a:avLst/>
          </a:prstGeom>
          <a:noFill/>
          <a:ln w="0">
            <a:noFill/>
          </a:ln>
        </p:spPr>
        <p:style>
          <a:lnRef idx="0"/>
          <a:fillRef idx="0"/>
          <a:effectRef idx="0"/>
          <a:fontRef idx="minor"/>
        </p:style>
        <p:txBody>
          <a:bodyPr lIns="76320" tIns="76320" rIns="76320" bIns="76320" anchor="ctr">
            <a:noAutofit/>
          </a:bodyPr>
          <a:p>
            <a:pPr defTabSz="914400">
              <a:lnSpc>
                <a:spcPct val="100000"/>
              </a:lnSpc>
              <a:tabLst>
                <a:tab pos="0" algn="l"/>
              </a:tabLst>
            </a:pPr>
            <a:r>
              <a:rPr lang="en-US" sz="1250" b="0" u="none" strike="noStrike">
                <a:solidFill>
                  <a:srgbClr val="1E2A35"/>
                </a:solidFill>
                <a:effectLst/>
                <a:uFillTx/>
                <a:latin typeface="Calibri"/>
                <a:ea typeface="Calibri"/>
              </a:rPr>
              <a:t>Media marginación</a:t>
            </a:r>
            <a:endParaRPr lang="en-US" sz="1250" b="0" u="none" strike="noStrike">
              <a:solidFill>
                <a:srgbClr val="000000"/>
              </a:solidFill>
              <a:effectLst/>
              <a:uFillTx/>
              <a:latin typeface="Arial"/>
            </a:endParaRPr>
          </a:p>
        </p:txBody>
      </p:sp>
      <p:sp>
        <p:nvSpPr>
          <p:cNvPr id="205" name="Shape 24"/>
          <p:cNvSpPr/>
          <p:nvPr/>
        </p:nvSpPr>
        <p:spPr>
          <a:xfrm>
            <a:off x="3108960" y="2587680"/>
            <a:ext cx="2011320" cy="402120"/>
          </a:xfrm>
          <a:prstGeom prst="rect">
            <a:avLst/>
          </a:prstGeom>
          <a:solidFill>
            <a:srgbClr val="FFFFFF"/>
          </a:solidFill>
          <a:ln w="6350">
            <a:solidFill>
              <a:srgbClr val="D5DCE3"/>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206" name="Text 25"/>
          <p:cNvSpPr/>
          <p:nvPr/>
        </p:nvSpPr>
        <p:spPr>
          <a:xfrm>
            <a:off x="3154680" y="2587680"/>
            <a:ext cx="1919880" cy="402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50" b="0" u="none" strike="noStrike">
                <a:solidFill>
                  <a:srgbClr val="1E2A35"/>
                </a:solidFill>
                <a:effectLst/>
                <a:uFillTx/>
                <a:latin typeface="Cambria"/>
                <a:ea typeface="Cambria"/>
              </a:rPr>
              <a:t>30%</a:t>
            </a:r>
            <a:endParaRPr lang="en-US" sz="1250" b="0" u="none" strike="noStrike">
              <a:solidFill>
                <a:srgbClr val="000000"/>
              </a:solidFill>
              <a:effectLst/>
              <a:uFillTx/>
              <a:latin typeface="Arial"/>
            </a:endParaRPr>
          </a:p>
        </p:txBody>
      </p:sp>
      <p:sp>
        <p:nvSpPr>
          <p:cNvPr id="207" name="Shape 26"/>
          <p:cNvSpPr/>
          <p:nvPr/>
        </p:nvSpPr>
        <p:spPr>
          <a:xfrm>
            <a:off x="5120640" y="2587680"/>
            <a:ext cx="2011320" cy="402120"/>
          </a:xfrm>
          <a:prstGeom prst="rect">
            <a:avLst/>
          </a:prstGeom>
          <a:solidFill>
            <a:srgbClr val="FFFFFF"/>
          </a:solidFill>
          <a:ln w="6350">
            <a:solidFill>
              <a:srgbClr val="D5DCE3"/>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208" name="Text 27"/>
          <p:cNvSpPr/>
          <p:nvPr/>
        </p:nvSpPr>
        <p:spPr>
          <a:xfrm>
            <a:off x="5166360" y="2587680"/>
            <a:ext cx="1919880" cy="402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50" b="0" u="none" strike="noStrike">
                <a:solidFill>
                  <a:srgbClr val="1E2A35"/>
                </a:solidFill>
                <a:effectLst/>
                <a:uFillTx/>
                <a:latin typeface="Cambria"/>
                <a:ea typeface="Cambria"/>
              </a:rPr>
              <a:t>25%</a:t>
            </a:r>
            <a:endParaRPr lang="en-US" sz="1250" b="0" u="none" strike="noStrike">
              <a:solidFill>
                <a:srgbClr val="000000"/>
              </a:solidFill>
              <a:effectLst/>
              <a:uFillTx/>
              <a:latin typeface="Arial"/>
            </a:endParaRPr>
          </a:p>
        </p:txBody>
      </p:sp>
      <p:sp>
        <p:nvSpPr>
          <p:cNvPr id="209" name="Shape 28"/>
          <p:cNvSpPr/>
          <p:nvPr/>
        </p:nvSpPr>
        <p:spPr>
          <a:xfrm>
            <a:off x="7132320" y="2587680"/>
            <a:ext cx="1828440" cy="402120"/>
          </a:xfrm>
          <a:prstGeom prst="rect">
            <a:avLst/>
          </a:prstGeom>
          <a:solidFill>
            <a:srgbClr val="FFFFFF"/>
          </a:solidFill>
          <a:ln w="6350">
            <a:solidFill>
              <a:srgbClr val="D5DCE3"/>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210" name="Text 29"/>
          <p:cNvSpPr/>
          <p:nvPr/>
        </p:nvSpPr>
        <p:spPr>
          <a:xfrm>
            <a:off x="7178040" y="2587680"/>
            <a:ext cx="1737000" cy="402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50" b="0" u="none" strike="noStrike">
                <a:solidFill>
                  <a:srgbClr val="1E2A35"/>
                </a:solidFill>
                <a:effectLst/>
                <a:uFillTx/>
                <a:latin typeface="Cambria"/>
                <a:ea typeface="Cambria"/>
              </a:rPr>
              <a:t>3,000</a:t>
            </a:r>
            <a:endParaRPr lang="en-US" sz="1250" b="0" u="none" strike="noStrike">
              <a:solidFill>
                <a:srgbClr val="000000"/>
              </a:solidFill>
              <a:effectLst/>
              <a:uFillTx/>
              <a:latin typeface="Arial"/>
            </a:endParaRPr>
          </a:p>
        </p:txBody>
      </p:sp>
      <p:sp>
        <p:nvSpPr>
          <p:cNvPr id="211" name="Shape 30"/>
          <p:cNvSpPr/>
          <p:nvPr/>
        </p:nvSpPr>
        <p:spPr>
          <a:xfrm>
            <a:off x="8961120" y="2587680"/>
            <a:ext cx="2678760" cy="402120"/>
          </a:xfrm>
          <a:prstGeom prst="rect">
            <a:avLst/>
          </a:prstGeom>
          <a:solidFill>
            <a:srgbClr val="FFFFFF"/>
          </a:solidFill>
          <a:ln w="6350">
            <a:solidFill>
              <a:srgbClr val="D5DCE3"/>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212" name="Text 31"/>
          <p:cNvSpPr/>
          <p:nvPr/>
        </p:nvSpPr>
        <p:spPr>
          <a:xfrm>
            <a:off x="9006840" y="2587680"/>
            <a:ext cx="2587320" cy="402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50" b="0" u="none" strike="noStrike">
                <a:solidFill>
                  <a:srgbClr val="1E2A35"/>
                </a:solidFill>
                <a:effectLst/>
                <a:uFillTx/>
                <a:latin typeface="Cambria"/>
                <a:ea typeface="Cambria"/>
              </a:rPr>
              <a:t>6,941</a:t>
            </a:r>
            <a:endParaRPr lang="en-US" sz="1250" b="0" u="none" strike="noStrike">
              <a:solidFill>
                <a:srgbClr val="000000"/>
              </a:solidFill>
              <a:effectLst/>
              <a:uFillTx/>
              <a:latin typeface="Arial"/>
            </a:endParaRPr>
          </a:p>
        </p:txBody>
      </p:sp>
      <p:sp>
        <p:nvSpPr>
          <p:cNvPr id="213" name="Shape 32"/>
          <p:cNvSpPr/>
          <p:nvPr/>
        </p:nvSpPr>
        <p:spPr>
          <a:xfrm>
            <a:off x="548640" y="2990160"/>
            <a:ext cx="2559960" cy="402120"/>
          </a:xfrm>
          <a:prstGeom prst="rect">
            <a:avLst/>
          </a:prstGeom>
          <a:solidFill>
            <a:srgbClr val="EEF2F5"/>
          </a:solidFill>
          <a:ln w="6350">
            <a:solidFill>
              <a:srgbClr val="D5DCE3"/>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214" name="Text 33"/>
          <p:cNvSpPr/>
          <p:nvPr/>
        </p:nvSpPr>
        <p:spPr>
          <a:xfrm>
            <a:off x="594360" y="2990160"/>
            <a:ext cx="2468520" cy="402120"/>
          </a:xfrm>
          <a:prstGeom prst="rect">
            <a:avLst/>
          </a:prstGeom>
          <a:noFill/>
          <a:ln w="0">
            <a:noFill/>
          </a:ln>
        </p:spPr>
        <p:style>
          <a:lnRef idx="0"/>
          <a:fillRef idx="0"/>
          <a:effectRef idx="0"/>
          <a:fontRef idx="minor"/>
        </p:style>
        <p:txBody>
          <a:bodyPr lIns="76320" tIns="76320" rIns="76320" bIns="76320" anchor="ctr">
            <a:noAutofit/>
          </a:bodyPr>
          <a:p>
            <a:pPr defTabSz="914400">
              <a:lnSpc>
                <a:spcPct val="100000"/>
              </a:lnSpc>
              <a:tabLst>
                <a:tab pos="0" algn="l"/>
              </a:tabLst>
            </a:pPr>
            <a:r>
              <a:rPr lang="en-US" sz="1250" b="0" u="none" strike="noStrike">
                <a:solidFill>
                  <a:srgbClr val="1E2A35"/>
                </a:solidFill>
                <a:effectLst/>
                <a:uFillTx/>
                <a:latin typeface="Calibri"/>
                <a:ea typeface="Calibri"/>
              </a:rPr>
              <a:t>Baja marginación</a:t>
            </a:r>
            <a:endParaRPr lang="en-US" sz="1250" b="0" u="none" strike="noStrike">
              <a:solidFill>
                <a:srgbClr val="000000"/>
              </a:solidFill>
              <a:effectLst/>
              <a:uFillTx/>
              <a:latin typeface="Arial"/>
            </a:endParaRPr>
          </a:p>
        </p:txBody>
      </p:sp>
      <p:sp>
        <p:nvSpPr>
          <p:cNvPr id="215" name="Shape 34"/>
          <p:cNvSpPr/>
          <p:nvPr/>
        </p:nvSpPr>
        <p:spPr>
          <a:xfrm>
            <a:off x="3108960" y="2990160"/>
            <a:ext cx="2011320" cy="402120"/>
          </a:xfrm>
          <a:prstGeom prst="rect">
            <a:avLst/>
          </a:prstGeom>
          <a:solidFill>
            <a:srgbClr val="EEF2F5"/>
          </a:solidFill>
          <a:ln w="6350">
            <a:solidFill>
              <a:srgbClr val="D5DCE3"/>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216" name="Text 35"/>
          <p:cNvSpPr/>
          <p:nvPr/>
        </p:nvSpPr>
        <p:spPr>
          <a:xfrm>
            <a:off x="3154680" y="2990160"/>
            <a:ext cx="1919880" cy="402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50" b="0" u="none" strike="noStrike">
                <a:solidFill>
                  <a:srgbClr val="1E2A35"/>
                </a:solidFill>
                <a:effectLst/>
                <a:uFillTx/>
                <a:latin typeface="Cambria"/>
                <a:ea typeface="Cambria"/>
              </a:rPr>
              <a:t>40%</a:t>
            </a:r>
            <a:endParaRPr lang="en-US" sz="1250" b="0" u="none" strike="noStrike">
              <a:solidFill>
                <a:srgbClr val="000000"/>
              </a:solidFill>
              <a:effectLst/>
              <a:uFillTx/>
              <a:latin typeface="Arial"/>
            </a:endParaRPr>
          </a:p>
        </p:txBody>
      </p:sp>
      <p:sp>
        <p:nvSpPr>
          <p:cNvPr id="217" name="Shape 36"/>
          <p:cNvSpPr/>
          <p:nvPr/>
        </p:nvSpPr>
        <p:spPr>
          <a:xfrm>
            <a:off x="5120640" y="2990160"/>
            <a:ext cx="2011320" cy="402120"/>
          </a:xfrm>
          <a:prstGeom prst="rect">
            <a:avLst/>
          </a:prstGeom>
          <a:solidFill>
            <a:srgbClr val="EEF2F5"/>
          </a:solidFill>
          <a:ln w="6350">
            <a:solidFill>
              <a:srgbClr val="D5DCE3"/>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218" name="Text 37"/>
          <p:cNvSpPr/>
          <p:nvPr/>
        </p:nvSpPr>
        <p:spPr>
          <a:xfrm>
            <a:off x="5166360" y="2990160"/>
            <a:ext cx="1919880" cy="402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50" b="0" u="none" strike="noStrike">
                <a:solidFill>
                  <a:srgbClr val="1E2A35"/>
                </a:solidFill>
                <a:effectLst/>
                <a:uFillTx/>
                <a:latin typeface="Cambria"/>
                <a:ea typeface="Cambria"/>
              </a:rPr>
              <a:t>25%</a:t>
            </a:r>
            <a:endParaRPr lang="en-US" sz="1250" b="0" u="none" strike="noStrike">
              <a:solidFill>
                <a:srgbClr val="000000"/>
              </a:solidFill>
              <a:effectLst/>
              <a:uFillTx/>
              <a:latin typeface="Arial"/>
            </a:endParaRPr>
          </a:p>
        </p:txBody>
      </p:sp>
      <p:sp>
        <p:nvSpPr>
          <p:cNvPr id="219" name="Shape 38"/>
          <p:cNvSpPr/>
          <p:nvPr/>
        </p:nvSpPr>
        <p:spPr>
          <a:xfrm>
            <a:off x="7132320" y="2990160"/>
            <a:ext cx="1828440" cy="402120"/>
          </a:xfrm>
          <a:prstGeom prst="rect">
            <a:avLst/>
          </a:prstGeom>
          <a:solidFill>
            <a:srgbClr val="EEF2F5"/>
          </a:solidFill>
          <a:ln w="6350">
            <a:solidFill>
              <a:srgbClr val="D5DCE3"/>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220" name="Text 39"/>
          <p:cNvSpPr/>
          <p:nvPr/>
        </p:nvSpPr>
        <p:spPr>
          <a:xfrm>
            <a:off x="7178040" y="2990160"/>
            <a:ext cx="1737000" cy="402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50" b="0" u="none" strike="noStrike">
                <a:solidFill>
                  <a:srgbClr val="1E2A35"/>
                </a:solidFill>
                <a:effectLst/>
                <a:uFillTx/>
                <a:latin typeface="Cambria"/>
                <a:ea typeface="Cambria"/>
              </a:rPr>
              <a:t>4,000</a:t>
            </a:r>
            <a:endParaRPr lang="en-US" sz="1250" b="0" u="none" strike="noStrike">
              <a:solidFill>
                <a:srgbClr val="000000"/>
              </a:solidFill>
              <a:effectLst/>
              <a:uFillTx/>
              <a:latin typeface="Arial"/>
            </a:endParaRPr>
          </a:p>
        </p:txBody>
      </p:sp>
      <p:sp>
        <p:nvSpPr>
          <p:cNvPr id="221" name="Shape 40"/>
          <p:cNvSpPr/>
          <p:nvPr/>
        </p:nvSpPr>
        <p:spPr>
          <a:xfrm>
            <a:off x="8961120" y="2990160"/>
            <a:ext cx="2678760" cy="402120"/>
          </a:xfrm>
          <a:prstGeom prst="rect">
            <a:avLst/>
          </a:prstGeom>
          <a:solidFill>
            <a:srgbClr val="EEF2F5"/>
          </a:solidFill>
          <a:ln w="6350">
            <a:solidFill>
              <a:srgbClr val="D5DCE3"/>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222" name="Text 41"/>
          <p:cNvSpPr/>
          <p:nvPr/>
        </p:nvSpPr>
        <p:spPr>
          <a:xfrm>
            <a:off x="9006840" y="2990160"/>
            <a:ext cx="2587320" cy="402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50" b="0" u="none" strike="noStrike">
                <a:solidFill>
                  <a:srgbClr val="1E2A35"/>
                </a:solidFill>
                <a:effectLst/>
                <a:uFillTx/>
                <a:latin typeface="Cambria"/>
                <a:ea typeface="Cambria"/>
              </a:rPr>
              <a:t>12,471</a:t>
            </a:r>
            <a:endParaRPr lang="en-US" sz="1250" b="0" u="none" strike="noStrike">
              <a:solidFill>
                <a:srgbClr val="000000"/>
              </a:solidFill>
              <a:effectLst/>
              <a:uFillTx/>
              <a:latin typeface="Arial"/>
            </a:endParaRPr>
          </a:p>
        </p:txBody>
      </p:sp>
      <p:sp>
        <p:nvSpPr>
          <p:cNvPr id="223" name="Shape 42"/>
          <p:cNvSpPr/>
          <p:nvPr/>
        </p:nvSpPr>
        <p:spPr>
          <a:xfrm>
            <a:off x="548640" y="3429000"/>
            <a:ext cx="5394600" cy="1416960"/>
          </a:xfrm>
          <a:prstGeom prst="roundRect">
            <a:avLst>
              <a:gd name="adj" fmla="val 3871"/>
            </a:avLst>
          </a:prstGeom>
          <a:solidFill>
            <a:srgbClr val="F9E7E3"/>
          </a:solidFill>
          <a:ln w="9525">
            <a:solidFill>
              <a:srgbClr val="D5DCE3"/>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224" name="Text 43"/>
          <p:cNvSpPr/>
          <p:nvPr/>
        </p:nvSpPr>
        <p:spPr>
          <a:xfrm>
            <a:off x="822960" y="3593520"/>
            <a:ext cx="484596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1" u="none" strike="noStrike">
                <a:solidFill>
                  <a:srgbClr val="A23B22"/>
                </a:solidFill>
                <a:effectLst/>
                <a:uFillTx/>
                <a:latin typeface="Calibri"/>
                <a:ea typeface="Calibri"/>
              </a:rPr>
              <a:t>mean(ingreso)  ·  el camino ingenuo</a:t>
            </a:r>
            <a:endParaRPr lang="en-US" sz="1250" b="0" u="none" strike="noStrike">
              <a:solidFill>
                <a:srgbClr val="000000"/>
              </a:solidFill>
              <a:effectLst/>
              <a:uFillTx/>
              <a:latin typeface="Arial"/>
            </a:endParaRPr>
          </a:p>
        </p:txBody>
      </p:sp>
      <p:sp>
        <p:nvSpPr>
          <p:cNvPr id="225" name="Text 44"/>
          <p:cNvSpPr/>
          <p:nvPr/>
        </p:nvSpPr>
        <p:spPr>
          <a:xfrm>
            <a:off x="822960" y="3886200"/>
            <a:ext cx="4845960" cy="639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400" b="1" u="none" strike="noStrike">
                <a:solidFill>
                  <a:srgbClr val="A23B22"/>
                </a:solidFill>
                <a:effectLst/>
                <a:uFillTx/>
                <a:latin typeface="Cambria"/>
                <a:ea typeface="Cambria"/>
              </a:rPr>
              <a:t>6,949</a:t>
            </a:r>
            <a:endParaRPr lang="en-US" sz="3400" b="0" u="none" strike="noStrike">
              <a:solidFill>
                <a:srgbClr val="000000"/>
              </a:solidFill>
              <a:effectLst/>
              <a:uFillTx/>
              <a:latin typeface="Arial"/>
            </a:endParaRPr>
          </a:p>
        </p:txBody>
      </p:sp>
      <p:sp>
        <p:nvSpPr>
          <p:cNvPr id="226" name="Text 45"/>
          <p:cNvSpPr/>
          <p:nvPr/>
        </p:nvSpPr>
        <p:spPr>
          <a:xfrm>
            <a:off x="822960" y="4507920"/>
            <a:ext cx="484596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0" i="1" u="none" strike="noStrike">
                <a:solidFill>
                  <a:srgbClr val="60707E"/>
                </a:solidFill>
                <a:effectLst/>
                <a:uFillTx/>
                <a:latin typeface="Calibri"/>
                <a:ea typeface="Calibri"/>
              </a:rPr>
              <a:t>el promedio de la muestra</a:t>
            </a:r>
            <a:endParaRPr lang="en-US" sz="1100" b="0" u="none" strike="noStrike">
              <a:solidFill>
                <a:srgbClr val="000000"/>
              </a:solidFill>
              <a:effectLst/>
              <a:uFillTx/>
              <a:latin typeface="Arial"/>
            </a:endParaRPr>
          </a:p>
        </p:txBody>
      </p:sp>
      <p:sp>
        <p:nvSpPr>
          <p:cNvPr id="227" name="Shape 46"/>
          <p:cNvSpPr/>
          <p:nvPr/>
        </p:nvSpPr>
        <p:spPr>
          <a:xfrm>
            <a:off x="6245280" y="3429000"/>
            <a:ext cx="5394600" cy="1416960"/>
          </a:xfrm>
          <a:prstGeom prst="roundRect">
            <a:avLst>
              <a:gd name="adj" fmla="val 3871"/>
            </a:avLst>
          </a:prstGeom>
          <a:solidFill>
            <a:srgbClr val="E7F2EA"/>
          </a:solidFill>
          <a:ln w="9525">
            <a:solidFill>
              <a:srgbClr val="D5DCE3"/>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228" name="Text 47"/>
          <p:cNvSpPr/>
          <p:nvPr/>
        </p:nvSpPr>
        <p:spPr>
          <a:xfrm>
            <a:off x="6519600" y="3593520"/>
            <a:ext cx="484596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1" u="none" strike="noStrike">
                <a:solidFill>
                  <a:srgbClr val="2E6E49"/>
                </a:solidFill>
                <a:effectLst/>
                <a:uFillTx/>
                <a:latin typeface="Calibri"/>
                <a:ea typeface="Calibri"/>
              </a:rPr>
              <a:t>svymean con el diseño  ·  el correcto</a:t>
            </a:r>
            <a:endParaRPr lang="en-US" sz="1250" b="0" u="none" strike="noStrike">
              <a:solidFill>
                <a:srgbClr val="000000"/>
              </a:solidFill>
              <a:effectLst/>
              <a:uFillTx/>
              <a:latin typeface="Arial"/>
            </a:endParaRPr>
          </a:p>
        </p:txBody>
      </p:sp>
      <p:sp>
        <p:nvSpPr>
          <p:cNvPr id="229" name="Text 48"/>
          <p:cNvSpPr/>
          <p:nvPr/>
        </p:nvSpPr>
        <p:spPr>
          <a:xfrm>
            <a:off x="6519600" y="3886200"/>
            <a:ext cx="4845960" cy="639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400" b="1" u="none" strike="noStrike">
                <a:solidFill>
                  <a:srgbClr val="2E6E49"/>
                </a:solidFill>
                <a:effectLst/>
                <a:uFillTx/>
                <a:latin typeface="Cambria"/>
                <a:ea typeface="Cambria"/>
              </a:rPr>
              <a:t>8,328</a:t>
            </a:r>
            <a:endParaRPr lang="en-US" sz="3400" b="0" u="none" strike="noStrike">
              <a:solidFill>
                <a:srgbClr val="000000"/>
              </a:solidFill>
              <a:effectLst/>
              <a:uFillTx/>
              <a:latin typeface="Arial"/>
            </a:endParaRPr>
          </a:p>
        </p:txBody>
      </p:sp>
      <p:sp>
        <p:nvSpPr>
          <p:cNvPr id="230" name="Text 49"/>
          <p:cNvSpPr/>
          <p:nvPr/>
        </p:nvSpPr>
        <p:spPr>
          <a:xfrm>
            <a:off x="6519600" y="4507920"/>
            <a:ext cx="484596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0" i="1" u="none" strike="noStrike">
                <a:solidFill>
                  <a:srgbClr val="60707E"/>
                </a:solidFill>
                <a:effectLst/>
                <a:uFillTx/>
                <a:latin typeface="Calibri"/>
                <a:ea typeface="Calibri"/>
              </a:rPr>
              <a:t>el ingreso poblacional (EE 232)</a:t>
            </a:r>
            <a:endParaRPr lang="en-US" sz="1100" b="0" u="none" strike="noStrike">
              <a:solidFill>
                <a:srgbClr val="000000"/>
              </a:solidFill>
              <a:effectLst/>
              <a:uFillTx/>
              <a:latin typeface="Arial"/>
            </a:endParaRPr>
          </a:p>
        </p:txBody>
      </p:sp>
      <p:sp>
        <p:nvSpPr>
          <p:cNvPr id="231" name="Shape 50"/>
          <p:cNvSpPr/>
          <p:nvPr/>
        </p:nvSpPr>
        <p:spPr>
          <a:xfrm>
            <a:off x="548640" y="6053400"/>
            <a:ext cx="11091240" cy="603000"/>
          </a:xfrm>
          <a:prstGeom prst="rect">
            <a:avLst/>
          </a:prstGeom>
          <a:solidFill>
            <a:srgbClr val="FBEEE5"/>
          </a:solidFill>
          <a:ln w="0">
            <a:noFill/>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232" name="Shape 51"/>
          <p:cNvSpPr/>
          <p:nvPr/>
        </p:nvSpPr>
        <p:spPr>
          <a:xfrm>
            <a:off x="749880" y="6272640"/>
            <a:ext cx="164160" cy="164160"/>
          </a:xfrm>
          <a:prstGeom prst="roundRect">
            <a:avLst>
              <a:gd name="adj" fmla="val 22222"/>
            </a:avLst>
          </a:prstGeom>
          <a:solidFill>
            <a:srgbClr val="CB5E2E"/>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233" name="Text 52"/>
          <p:cNvSpPr/>
          <p:nvPr/>
        </p:nvSpPr>
        <p:spPr>
          <a:xfrm>
            <a:off x="1051560" y="6053400"/>
            <a:ext cx="10405440" cy="6030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0" u="none" strike="noStrike">
                <a:solidFill>
                  <a:srgbClr val="8C3E19"/>
                </a:solidFill>
                <a:effectLst/>
                <a:uFillTx/>
                <a:latin typeface="Calibri"/>
                <a:ea typeface="Calibri"/>
              </a:rPr>
              <a:t>La muestra sobre-representa Alta marginación (50% vs 30% real), el estrato más pobre; por eso el crudo subestima el poblacional 16.6%.</a:t>
            </a:r>
            <a:endParaRPr lang="en-US" sz="1250" b="0" u="none" strike="noStrike">
              <a:solidFill>
                <a:srgbClr val="000000"/>
              </a:solidFill>
              <a:effectLst/>
              <a:uFillTx/>
              <a:latin typeface="Arial"/>
            </a:endParaRPr>
          </a:p>
        </p:txBody>
      </p:sp>
      <p:sp>
        <p:nvSpPr>
          <p:cNvPr id="234" name="Text 53"/>
          <p:cNvSpPr/>
          <p:nvPr/>
        </p:nvSpPr>
        <p:spPr>
          <a:xfrm>
            <a:off x="548640" y="6419160"/>
            <a:ext cx="1109124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i="1" u="none" strike="noStrike">
                <a:solidFill>
                  <a:srgbClr val="60707E"/>
                </a:solidFill>
                <a:effectLst/>
                <a:uFillTx/>
                <a:latin typeface="Calibri"/>
                <a:ea typeface="Calibri"/>
              </a:rPr>
              <a:t>En R: mean(datos$ingreso) contra svymean(~ingreso, diseño), con svydesign(ids = ~upm, strata = ~estrato, weights = ~factor).</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5293B"/>
        </a:solidFill>
      </p:bgPr>
    </p:bg>
    <p:spTree>
      <p:nvGrpSpPr>
        <p:cNvPr id="1" name=""/>
        <p:cNvGrpSpPr/>
        <p:nvPr/>
      </p:nvGrpSpPr>
      <p:grpSpPr>
        <a:xfrm>
          <a:off x="0" y="0"/>
          <a:ext cx="0" cy="0"/>
          <a:chOff x="0" y="0"/>
          <a:chExt cx="0" cy="0"/>
        </a:xfrm>
      </p:grpSpPr>
      <p:sp>
        <p:nvSpPr>
          <p:cNvPr id="235" name="Shape 0"/>
          <p:cNvSpPr/>
          <p:nvPr/>
        </p:nvSpPr>
        <p:spPr>
          <a:xfrm>
            <a:off x="822960" y="2468880"/>
            <a:ext cx="1371240" cy="1371240"/>
          </a:xfrm>
          <a:prstGeom prst="ellipse">
            <a:avLst/>
          </a:prstGeom>
          <a:solidFill>
            <a:srgbClr val="CB5E2E"/>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236" name="Text 1"/>
          <p:cNvSpPr/>
          <p:nvPr/>
        </p:nvSpPr>
        <p:spPr>
          <a:xfrm>
            <a:off x="822960" y="2468880"/>
            <a:ext cx="1371240" cy="13712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4000" b="1" u="none" strike="noStrike">
                <a:solidFill>
                  <a:srgbClr val="FFFFFF"/>
                </a:solidFill>
                <a:effectLst/>
                <a:uFillTx/>
                <a:latin typeface="Cambria"/>
                <a:ea typeface="Cambria"/>
              </a:rPr>
              <a:t>2</a:t>
            </a:r>
            <a:endParaRPr lang="en-US" sz="4000" b="0" u="none" strike="noStrike">
              <a:solidFill>
                <a:srgbClr val="FFFFFF"/>
              </a:solidFill>
              <a:effectLst/>
              <a:uFillTx/>
              <a:latin typeface="Arial"/>
            </a:endParaRPr>
          </a:p>
        </p:txBody>
      </p:sp>
      <p:sp>
        <p:nvSpPr>
          <p:cNvPr id="237" name="Text 2"/>
          <p:cNvSpPr/>
          <p:nvPr/>
        </p:nvSpPr>
        <p:spPr>
          <a:xfrm>
            <a:off x="2514600" y="2670120"/>
            <a:ext cx="8960760" cy="411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pc="201" strike="noStrike">
                <a:solidFill>
                  <a:srgbClr val="E58A5B"/>
                </a:solidFill>
                <a:effectLst/>
                <a:uFillTx/>
                <a:latin typeface="Calibri"/>
                <a:ea typeface="Calibri"/>
              </a:rPr>
              <a:t>BLOQUE 2</a:t>
            </a:r>
            <a:endParaRPr lang="en-US" sz="1400" b="0" u="none" strike="noStrike">
              <a:solidFill>
                <a:srgbClr val="FFFFFF"/>
              </a:solidFill>
              <a:effectLst/>
              <a:uFillTx/>
              <a:latin typeface="Arial"/>
            </a:endParaRPr>
          </a:p>
        </p:txBody>
      </p:sp>
      <p:sp>
        <p:nvSpPr>
          <p:cNvPr id="238" name="Text 3"/>
          <p:cNvSpPr/>
          <p:nvPr/>
        </p:nvSpPr>
        <p:spPr>
          <a:xfrm>
            <a:off x="2514600" y="3072240"/>
            <a:ext cx="9052200" cy="11883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900" b="1" u="none" strike="noStrike">
                <a:solidFill>
                  <a:srgbClr val="FFFFFF"/>
                </a:solidFill>
                <a:effectLst/>
                <a:uFillTx/>
                <a:latin typeface="Calibri"/>
                <a:ea typeface="Calibri"/>
              </a:rPr>
              <a:t>Inferencia: el número trae ruido, y la IA lo subestima</a:t>
            </a:r>
            <a:endParaRPr lang="en-US" sz="29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39" name="Text 0"/>
          <p:cNvSpPr/>
          <p:nvPr/>
        </p:nvSpPr>
        <p:spPr>
          <a:xfrm>
            <a:off x="548640" y="384120"/>
            <a:ext cx="11091240" cy="639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900" b="1" u="none" strike="noStrike">
                <a:solidFill>
                  <a:srgbClr val="1E2A35"/>
                </a:solidFill>
                <a:effectLst/>
                <a:uFillTx/>
                <a:latin typeface="Calibri"/>
                <a:ea typeface="Calibri"/>
              </a:rPr>
              <a:t>Bloque 2, en concreto: el efecto de programa sobre score</a:t>
            </a:r>
            <a:endParaRPr lang="en-US" sz="2900" b="0" u="none" strike="noStrike">
              <a:solidFill>
                <a:srgbClr val="000000"/>
              </a:solidFill>
              <a:effectLst/>
              <a:uFillTx/>
              <a:latin typeface="Arial"/>
            </a:endParaRPr>
          </a:p>
        </p:txBody>
      </p:sp>
      <p:sp>
        <p:nvSpPr>
          <p:cNvPr id="240" name="Text 1"/>
          <p:cNvSpPr/>
          <p:nvPr/>
        </p:nvSpPr>
        <p:spPr>
          <a:xfrm>
            <a:off x="548640" y="1042560"/>
            <a:ext cx="11091240" cy="5666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0" u="none" strike="noStrike">
                <a:solidFill>
                  <a:srgbClr val="60707E"/>
                </a:solidFill>
                <a:effectLst/>
                <a:uFillTx/>
                <a:latin typeface="Calibri"/>
                <a:ea typeface="Calibri"/>
              </a:rPr>
              <a:t>El mismo microdato. Aquí fijamos qué estimamos, y sobre esa cantidad medimos la incertidumbre.</a:t>
            </a:r>
            <a:endParaRPr lang="en-US" sz="1400" b="0" u="none" strike="noStrike">
              <a:solidFill>
                <a:srgbClr val="000000"/>
              </a:solidFill>
              <a:effectLst/>
              <a:uFillTx/>
              <a:latin typeface="Arial"/>
            </a:endParaRPr>
          </a:p>
        </p:txBody>
      </p:sp>
      <p:sp>
        <p:nvSpPr>
          <p:cNvPr id="241" name="Shape 2"/>
          <p:cNvSpPr/>
          <p:nvPr/>
        </p:nvSpPr>
        <p:spPr>
          <a:xfrm>
            <a:off x="548640" y="2194560"/>
            <a:ext cx="3501720" cy="2697120"/>
          </a:xfrm>
          <a:prstGeom prst="roundRect">
            <a:avLst>
              <a:gd name="adj" fmla="val 2034"/>
            </a:avLst>
          </a:prstGeom>
          <a:solidFill>
            <a:srgbClr val="FFFFFF"/>
          </a:solidFill>
          <a:ln w="9525">
            <a:solidFill>
              <a:srgbClr val="D5DCE3"/>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242" name="Text 3"/>
          <p:cNvSpPr/>
          <p:nvPr/>
        </p:nvSpPr>
        <p:spPr>
          <a:xfrm>
            <a:off x="804600" y="2432160"/>
            <a:ext cx="298980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1" u="none" spc="99" strike="noStrike">
                <a:solidFill>
                  <a:srgbClr val="CB5E2E"/>
                </a:solidFill>
                <a:effectLst/>
                <a:uFillTx/>
                <a:latin typeface="Calibri"/>
                <a:ea typeface="Calibri"/>
              </a:rPr>
              <a:t>LAS COLUMNAS</a:t>
            </a:r>
            <a:endParaRPr lang="en-US" sz="1200" b="0" u="none" strike="noStrike">
              <a:solidFill>
                <a:srgbClr val="000000"/>
              </a:solidFill>
              <a:effectLst/>
              <a:uFillTx/>
              <a:latin typeface="Arial"/>
            </a:endParaRPr>
          </a:p>
        </p:txBody>
      </p:sp>
      <p:sp>
        <p:nvSpPr>
          <p:cNvPr id="243" name="Text 4"/>
          <p:cNvSpPr/>
          <p:nvPr/>
        </p:nvSpPr>
        <p:spPr>
          <a:xfrm>
            <a:off x="804600" y="2779920"/>
            <a:ext cx="2989800" cy="914040"/>
          </a:xfrm>
          <a:prstGeom prst="rect">
            <a:avLst/>
          </a:prstGeom>
          <a:noFill/>
          <a:ln w="0">
            <a:noFill/>
          </a:ln>
        </p:spPr>
        <p:style>
          <a:lnRef idx="0"/>
          <a:fillRef idx="0"/>
          <a:effectRef idx="0"/>
          <a:fontRef idx="minor"/>
        </p:style>
        <p:txBody>
          <a:bodyPr lIns="0" tIns="0" rIns="0" bIns="0" anchor="t">
            <a:noAutofit/>
          </a:bodyPr>
          <a:p>
            <a:pPr defTabSz="914400">
              <a:lnSpc>
                <a:spcPct val="98000"/>
              </a:lnSpc>
              <a:tabLst>
                <a:tab pos="0" algn="l"/>
              </a:tabLst>
            </a:pPr>
            <a:r>
              <a:rPr lang="en-US" sz="1600" b="1" u="none" strike="noStrike">
                <a:solidFill>
                  <a:srgbClr val="1E2A35"/>
                </a:solidFill>
                <a:effectLst/>
                <a:uFillTx/>
                <a:latin typeface="Cambria"/>
                <a:ea typeface="Cambria"/>
              </a:rPr>
              <a:t>programa · score</a:t>
            </a:r>
            <a:endParaRPr lang="en-US" sz="1600" b="0" u="none" strike="noStrike">
              <a:solidFill>
                <a:srgbClr val="000000"/>
              </a:solidFill>
              <a:effectLst/>
              <a:uFillTx/>
              <a:latin typeface="Arial"/>
            </a:endParaRPr>
          </a:p>
        </p:txBody>
      </p:sp>
      <p:sp>
        <p:nvSpPr>
          <p:cNvPr id="244" name="Text 5"/>
          <p:cNvSpPr/>
          <p:nvPr/>
        </p:nvSpPr>
        <p:spPr>
          <a:xfrm>
            <a:off x="804600" y="3767400"/>
            <a:ext cx="2989800" cy="1005480"/>
          </a:xfrm>
          <a:prstGeom prst="rect">
            <a:avLst/>
          </a:prstGeom>
          <a:noFill/>
          <a:ln w="0">
            <a:noFill/>
          </a:ln>
        </p:spPr>
        <p:style>
          <a:lnRef idx="0"/>
          <a:fillRef idx="0"/>
          <a:effectRef idx="0"/>
          <a:fontRef idx="minor"/>
        </p:style>
        <p:txBody>
          <a:bodyPr lIns="0" tIns="0" rIns="0" bIns="0" anchor="t">
            <a:noAutofit/>
          </a:bodyPr>
          <a:p>
            <a:pPr defTabSz="914400">
              <a:lnSpc>
                <a:spcPct val="103000"/>
              </a:lnSpc>
              <a:tabLst>
                <a:tab pos="0" algn="l"/>
              </a:tabLst>
            </a:pPr>
            <a:r>
              <a:rPr lang="en-US" sz="1200" b="0" u="none" strike="noStrike">
                <a:solidFill>
                  <a:srgbClr val="60707E"/>
                </a:solidFill>
                <a:effectLst/>
                <a:uFillTx/>
                <a:latin typeface="Calibri"/>
                <a:ea typeface="Calibri"/>
              </a:rPr>
              <a:t>programa: recibe el apoyo (0 o 1). score: índice de resultado, 0 a 100.</a:t>
            </a:r>
            <a:endParaRPr lang="en-US" sz="1200" b="0" u="none" strike="noStrike">
              <a:solidFill>
                <a:srgbClr val="000000"/>
              </a:solidFill>
              <a:effectLst/>
              <a:uFillTx/>
              <a:latin typeface="Arial"/>
            </a:endParaRPr>
          </a:p>
        </p:txBody>
      </p:sp>
      <p:sp>
        <p:nvSpPr>
          <p:cNvPr id="245" name="Shape 6"/>
          <p:cNvSpPr/>
          <p:nvPr/>
        </p:nvSpPr>
        <p:spPr>
          <a:xfrm>
            <a:off x="4343400" y="2194560"/>
            <a:ext cx="3501720" cy="2697120"/>
          </a:xfrm>
          <a:prstGeom prst="roundRect">
            <a:avLst>
              <a:gd name="adj" fmla="val 2034"/>
            </a:avLst>
          </a:prstGeom>
          <a:solidFill>
            <a:srgbClr val="FFFFFF"/>
          </a:solidFill>
          <a:ln w="9525">
            <a:solidFill>
              <a:srgbClr val="D5DCE3"/>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246" name="Text 7"/>
          <p:cNvSpPr/>
          <p:nvPr/>
        </p:nvSpPr>
        <p:spPr>
          <a:xfrm>
            <a:off x="4599360" y="2432160"/>
            <a:ext cx="298980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1" u="none" spc="99" strike="noStrike">
                <a:solidFill>
                  <a:srgbClr val="CB5E2E"/>
                </a:solidFill>
                <a:effectLst/>
                <a:uFillTx/>
                <a:latin typeface="Calibri"/>
                <a:ea typeface="Calibri"/>
              </a:rPr>
              <a:t>LA OPERACIÓN</a:t>
            </a:r>
            <a:endParaRPr lang="en-US" sz="1200" b="0" u="none" strike="noStrike">
              <a:solidFill>
                <a:srgbClr val="000000"/>
              </a:solidFill>
              <a:effectLst/>
              <a:uFillTx/>
              <a:latin typeface="Arial"/>
            </a:endParaRPr>
          </a:p>
        </p:txBody>
      </p:sp>
      <p:sp>
        <p:nvSpPr>
          <p:cNvPr id="247" name="Text 8"/>
          <p:cNvSpPr/>
          <p:nvPr/>
        </p:nvSpPr>
        <p:spPr>
          <a:xfrm>
            <a:off x="4599360" y="2779920"/>
            <a:ext cx="2989800" cy="914040"/>
          </a:xfrm>
          <a:prstGeom prst="rect">
            <a:avLst/>
          </a:prstGeom>
          <a:noFill/>
          <a:ln w="0">
            <a:noFill/>
          </a:ln>
        </p:spPr>
        <p:style>
          <a:lnRef idx="0"/>
          <a:fillRef idx="0"/>
          <a:effectRef idx="0"/>
          <a:fontRef idx="minor"/>
        </p:style>
        <p:txBody>
          <a:bodyPr lIns="0" tIns="0" rIns="0" bIns="0" anchor="t">
            <a:noAutofit/>
          </a:bodyPr>
          <a:p>
            <a:pPr defTabSz="914400">
              <a:lnSpc>
                <a:spcPct val="98000"/>
              </a:lnSpc>
              <a:tabLst>
                <a:tab pos="0" algn="l"/>
              </a:tabLst>
            </a:pPr>
            <a:r>
              <a:rPr lang="en-US" sz="1600" b="1" u="none" strike="noStrike">
                <a:solidFill>
                  <a:srgbClr val="1E2A35"/>
                </a:solidFill>
                <a:effectLst/>
                <a:uFillTx/>
                <a:latin typeface="Cambria"/>
                <a:ea typeface="Cambria"/>
              </a:rPr>
              <a:t>diferencia de medias</a:t>
            </a:r>
            <a:endParaRPr lang="en-US" sz="1600" b="0" u="none" strike="noStrike">
              <a:solidFill>
                <a:srgbClr val="000000"/>
              </a:solidFill>
              <a:effectLst/>
              <a:uFillTx/>
              <a:latin typeface="Arial"/>
            </a:endParaRPr>
          </a:p>
        </p:txBody>
      </p:sp>
      <p:sp>
        <p:nvSpPr>
          <p:cNvPr id="248" name="Text 9"/>
          <p:cNvSpPr/>
          <p:nvPr/>
        </p:nvSpPr>
        <p:spPr>
          <a:xfrm>
            <a:off x="4599360" y="3767400"/>
            <a:ext cx="2989800" cy="1005480"/>
          </a:xfrm>
          <a:prstGeom prst="rect">
            <a:avLst/>
          </a:prstGeom>
          <a:noFill/>
          <a:ln w="0">
            <a:noFill/>
          </a:ln>
        </p:spPr>
        <p:style>
          <a:lnRef idx="0"/>
          <a:fillRef idx="0"/>
          <a:effectRef idx="0"/>
          <a:fontRef idx="minor"/>
        </p:style>
        <p:txBody>
          <a:bodyPr lIns="0" tIns="0" rIns="0" bIns="0" anchor="t">
            <a:noAutofit/>
          </a:bodyPr>
          <a:p>
            <a:pPr defTabSz="914400">
              <a:lnSpc>
                <a:spcPct val="103000"/>
              </a:lnSpc>
              <a:tabLst>
                <a:tab pos="0" algn="l"/>
              </a:tabLst>
            </a:pPr>
            <a:r>
              <a:rPr lang="en-US" sz="1200" b="0" u="none" strike="noStrike">
                <a:solidFill>
                  <a:srgbClr val="60707E"/>
                </a:solidFill>
                <a:effectLst/>
                <a:uFillTx/>
                <a:latin typeface="Calibri"/>
                <a:ea typeface="Calibri"/>
              </a:rPr>
              <a:t>El score promedio con programa menos sin programa: el coeficiente de lm(score ~ programa), −4.5.</a:t>
            </a:r>
            <a:endParaRPr lang="en-US" sz="1200" b="0" u="none" strike="noStrike">
              <a:solidFill>
                <a:srgbClr val="000000"/>
              </a:solidFill>
              <a:effectLst/>
              <a:uFillTx/>
              <a:latin typeface="Arial"/>
            </a:endParaRPr>
          </a:p>
        </p:txBody>
      </p:sp>
      <p:sp>
        <p:nvSpPr>
          <p:cNvPr id="249" name="Shape 10"/>
          <p:cNvSpPr/>
          <p:nvPr/>
        </p:nvSpPr>
        <p:spPr>
          <a:xfrm>
            <a:off x="8138160" y="2194560"/>
            <a:ext cx="3501720" cy="2697120"/>
          </a:xfrm>
          <a:prstGeom prst="roundRect">
            <a:avLst>
              <a:gd name="adj" fmla="val 2034"/>
            </a:avLst>
          </a:prstGeom>
          <a:solidFill>
            <a:srgbClr val="EEF2F5"/>
          </a:solidFill>
          <a:ln w="9525">
            <a:solidFill>
              <a:srgbClr val="D5DCE3"/>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250" name="Text 11"/>
          <p:cNvSpPr/>
          <p:nvPr/>
        </p:nvSpPr>
        <p:spPr>
          <a:xfrm>
            <a:off x="8394120" y="2432160"/>
            <a:ext cx="298980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1" u="none" spc="99" strike="noStrike">
                <a:solidFill>
                  <a:srgbClr val="CB5E2E"/>
                </a:solidFill>
                <a:effectLst/>
                <a:uFillTx/>
                <a:latin typeface="Calibri"/>
                <a:ea typeface="Calibri"/>
              </a:rPr>
              <a:t>EL CONTRASTE</a:t>
            </a:r>
            <a:endParaRPr lang="en-US" sz="1200" b="0" u="none" strike="noStrike">
              <a:solidFill>
                <a:srgbClr val="000000"/>
              </a:solidFill>
              <a:effectLst/>
              <a:uFillTx/>
              <a:latin typeface="Arial"/>
            </a:endParaRPr>
          </a:p>
        </p:txBody>
      </p:sp>
      <p:sp>
        <p:nvSpPr>
          <p:cNvPr id="251" name="Text 12"/>
          <p:cNvSpPr/>
          <p:nvPr/>
        </p:nvSpPr>
        <p:spPr>
          <a:xfrm>
            <a:off x="8394120" y="2779920"/>
            <a:ext cx="2989800" cy="914040"/>
          </a:xfrm>
          <a:prstGeom prst="rect">
            <a:avLst/>
          </a:prstGeom>
          <a:noFill/>
          <a:ln w="0">
            <a:noFill/>
          </a:ln>
        </p:spPr>
        <p:style>
          <a:lnRef idx="0"/>
          <a:fillRef idx="0"/>
          <a:effectRef idx="0"/>
          <a:fontRef idx="minor"/>
        </p:style>
        <p:txBody>
          <a:bodyPr lIns="0" tIns="0" rIns="0" bIns="0" anchor="t">
            <a:noAutofit/>
          </a:bodyPr>
          <a:p>
            <a:pPr defTabSz="914400">
              <a:lnSpc>
                <a:spcPct val="98000"/>
              </a:lnSpc>
              <a:tabLst>
                <a:tab pos="0" algn="l"/>
              </a:tabLst>
            </a:pPr>
            <a:r>
              <a:rPr lang="en-US" sz="1600" b="1" u="none" strike="noStrike">
                <a:solidFill>
                  <a:srgbClr val="A23B22"/>
                </a:solidFill>
                <a:effectLst/>
                <a:uFillTx/>
                <a:latin typeface="Cambria"/>
                <a:ea typeface="Cambria"/>
              </a:rPr>
              <a:t>EE clásico </a:t>
            </a:r>
            <a:r>
              <a:rPr lang="en-US" sz="1600" b="1" u="none" strike="noStrike">
                <a:solidFill>
                  <a:srgbClr val="60707E"/>
                </a:solidFill>
                <a:effectLst/>
                <a:uFillTx/>
                <a:latin typeface="Cambria"/>
                <a:ea typeface="Cambria"/>
              </a:rPr>
              <a:t>vs </a:t>
            </a:r>
            <a:r>
              <a:rPr lang="en-US" sz="1600" b="1" u="none" strike="noStrike">
                <a:solidFill>
                  <a:srgbClr val="2E6E49"/>
                </a:solidFill>
                <a:effectLst/>
                <a:uFillTx/>
                <a:latin typeface="Cambria"/>
                <a:ea typeface="Cambria"/>
              </a:rPr>
              <a:t>conglomerado</a:t>
            </a:r>
            <a:endParaRPr lang="en-US" sz="1600" b="0" u="none" strike="noStrike">
              <a:solidFill>
                <a:srgbClr val="000000"/>
              </a:solidFill>
              <a:effectLst/>
              <a:uFillTx/>
              <a:latin typeface="Arial"/>
            </a:endParaRPr>
          </a:p>
        </p:txBody>
      </p:sp>
      <p:sp>
        <p:nvSpPr>
          <p:cNvPr id="252" name="Text 13"/>
          <p:cNvSpPr/>
          <p:nvPr/>
        </p:nvSpPr>
        <p:spPr>
          <a:xfrm>
            <a:off x="8394120" y="3767400"/>
            <a:ext cx="2989800" cy="1005480"/>
          </a:xfrm>
          <a:prstGeom prst="rect">
            <a:avLst/>
          </a:prstGeom>
          <a:noFill/>
          <a:ln w="0">
            <a:noFill/>
          </a:ln>
        </p:spPr>
        <p:style>
          <a:lnRef idx="0"/>
          <a:fillRef idx="0"/>
          <a:effectRef idx="0"/>
          <a:fontRef idx="minor"/>
        </p:style>
        <p:txBody>
          <a:bodyPr lIns="0" tIns="0" rIns="0" bIns="0" anchor="t">
            <a:noAutofit/>
          </a:bodyPr>
          <a:p>
            <a:pPr defTabSz="914400">
              <a:lnSpc>
                <a:spcPct val="103000"/>
              </a:lnSpc>
              <a:tabLst>
                <a:tab pos="0" algn="l"/>
              </a:tabLst>
            </a:pPr>
            <a:r>
              <a:rPr lang="en-US" sz="1200" b="0" u="none" strike="noStrike">
                <a:solidFill>
                  <a:srgbClr val="60707E"/>
                </a:solidFill>
                <a:effectLst/>
                <a:uFillTx/>
                <a:latin typeface="Calibri"/>
                <a:ea typeface="Calibri"/>
              </a:rPr>
              <a:t>El error estándar IID contra el que reconoce las UPM.</a:t>
            </a:r>
            <a:endParaRPr lang="en-US" sz="1200" b="0" u="none" strike="noStrike">
              <a:solidFill>
                <a:srgbClr val="000000"/>
              </a:solidFill>
              <a:effectLst/>
              <a:uFillTx/>
              <a:latin typeface="Arial"/>
            </a:endParaRPr>
          </a:p>
        </p:txBody>
      </p:sp>
      <p:sp>
        <p:nvSpPr>
          <p:cNvPr id="253" name="Shape 14"/>
          <p:cNvSpPr/>
          <p:nvPr/>
        </p:nvSpPr>
        <p:spPr>
          <a:xfrm>
            <a:off x="548640" y="6053400"/>
            <a:ext cx="11091240" cy="603000"/>
          </a:xfrm>
          <a:prstGeom prst="rect">
            <a:avLst/>
          </a:prstGeom>
          <a:solidFill>
            <a:srgbClr val="FBEEE5"/>
          </a:solidFill>
          <a:ln w="0">
            <a:noFill/>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254" name="Shape 15"/>
          <p:cNvSpPr/>
          <p:nvPr/>
        </p:nvSpPr>
        <p:spPr>
          <a:xfrm>
            <a:off x="749880" y="6272640"/>
            <a:ext cx="164160" cy="164160"/>
          </a:xfrm>
          <a:prstGeom prst="roundRect">
            <a:avLst>
              <a:gd name="adj" fmla="val 22222"/>
            </a:avLst>
          </a:prstGeom>
          <a:solidFill>
            <a:srgbClr val="CB5E2E"/>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255" name="Text 16"/>
          <p:cNvSpPr/>
          <p:nvPr/>
        </p:nvSpPr>
        <p:spPr>
          <a:xfrm>
            <a:off x="1051560" y="6053400"/>
            <a:ext cx="10405440" cy="6030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0" u="none" strike="noStrike">
                <a:solidFill>
                  <a:srgbClr val="8C3E19"/>
                </a:solidFill>
                <a:effectLst/>
                <a:uFillTx/>
                <a:latin typeface="Calibri"/>
                <a:ea typeface="Calibri"/>
              </a:rPr>
              <a:t>En una frase: estimamos la diferencia de score entre tratados y no tratados, y comparamos su error estándar clásico contra el correcto.</a:t>
            </a:r>
            <a:endParaRPr lang="en-US" sz="12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56" name="Text 0"/>
          <p:cNvSpPr/>
          <p:nvPr/>
        </p:nvSpPr>
        <p:spPr>
          <a:xfrm>
            <a:off x="548640" y="384120"/>
            <a:ext cx="11091240" cy="639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900" b="1" u="none" strike="noStrike">
                <a:solidFill>
                  <a:srgbClr val="1E2A35"/>
                </a:solidFill>
                <a:effectLst/>
                <a:uFillTx/>
                <a:latin typeface="Calibri"/>
                <a:ea typeface="Calibri"/>
              </a:rPr>
              <a:t>El error estándar dice cuánto podría cambiar el número</a:t>
            </a:r>
            <a:endParaRPr lang="en-US" sz="2900" b="0" u="none" strike="noStrike">
              <a:solidFill>
                <a:srgbClr val="000000"/>
              </a:solidFill>
              <a:effectLst/>
              <a:uFillTx/>
              <a:latin typeface="Arial"/>
            </a:endParaRPr>
          </a:p>
        </p:txBody>
      </p:sp>
      <p:sp>
        <p:nvSpPr>
          <p:cNvPr id="257" name="Text 1"/>
          <p:cNvSpPr/>
          <p:nvPr/>
        </p:nvSpPr>
        <p:spPr>
          <a:xfrm>
            <a:off x="548640" y="1042560"/>
            <a:ext cx="11091240" cy="5666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0" u="none" strike="noStrike">
                <a:solidFill>
                  <a:srgbClr val="60707E"/>
                </a:solidFill>
                <a:effectLst/>
                <a:uFillTx/>
                <a:latin typeface="Calibri"/>
                <a:ea typeface="Calibri"/>
              </a:rPr>
              <a:t>Y el default lo calcula asumiendo cosas que una encuesta no cumple.</a:t>
            </a:r>
            <a:endParaRPr lang="en-US" sz="1400" b="0" u="none" strike="noStrike">
              <a:solidFill>
                <a:srgbClr val="000000"/>
              </a:solidFill>
              <a:effectLst/>
              <a:uFillTx/>
              <a:latin typeface="Arial"/>
            </a:endParaRPr>
          </a:p>
        </p:txBody>
      </p:sp>
      <p:sp>
        <p:nvSpPr>
          <p:cNvPr id="258" name="Shape 2"/>
          <p:cNvSpPr/>
          <p:nvPr/>
        </p:nvSpPr>
        <p:spPr>
          <a:xfrm>
            <a:off x="548640" y="1920240"/>
            <a:ext cx="3501720" cy="1828440"/>
          </a:xfrm>
          <a:prstGeom prst="roundRect">
            <a:avLst>
              <a:gd name="adj" fmla="val 3000"/>
            </a:avLst>
          </a:prstGeom>
          <a:solidFill>
            <a:srgbClr val="EEF2F5"/>
          </a:solidFill>
          <a:ln w="9525">
            <a:solidFill>
              <a:srgbClr val="D5DCE3"/>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259" name="Text 3"/>
          <p:cNvSpPr/>
          <p:nvPr/>
        </p:nvSpPr>
        <p:spPr>
          <a:xfrm>
            <a:off x="777240" y="2103120"/>
            <a:ext cx="3044520" cy="411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1E2A35"/>
                </a:solidFill>
                <a:effectLst/>
                <a:uFillTx/>
                <a:latin typeface="Calibri"/>
                <a:ea typeface="Calibri"/>
              </a:rPr>
              <a:t>Qué mide</a:t>
            </a:r>
            <a:endParaRPr lang="en-US" sz="1500" b="0" u="none" strike="noStrike">
              <a:solidFill>
                <a:srgbClr val="000000"/>
              </a:solidFill>
              <a:effectLst/>
              <a:uFillTx/>
              <a:latin typeface="Arial"/>
            </a:endParaRPr>
          </a:p>
        </p:txBody>
      </p:sp>
      <p:sp>
        <p:nvSpPr>
          <p:cNvPr id="260" name="Text 4"/>
          <p:cNvSpPr/>
          <p:nvPr/>
        </p:nvSpPr>
        <p:spPr>
          <a:xfrm>
            <a:off x="777240" y="2578680"/>
            <a:ext cx="3044520" cy="1051200"/>
          </a:xfrm>
          <a:prstGeom prst="rect">
            <a:avLst/>
          </a:prstGeom>
          <a:noFill/>
          <a:ln w="0">
            <a:noFill/>
          </a:ln>
        </p:spPr>
        <p:style>
          <a:lnRef idx="0"/>
          <a:fillRef idx="0"/>
          <a:effectRef idx="0"/>
          <a:fontRef idx="minor"/>
        </p:style>
        <p:txBody>
          <a:bodyPr lIns="0" tIns="0" rIns="0" bIns="0" anchor="ctr">
            <a:noAutofit/>
          </a:bodyPr>
          <a:p>
            <a:pPr defTabSz="914400">
              <a:lnSpc>
                <a:spcPct val="105000"/>
              </a:lnSpc>
              <a:tabLst>
                <a:tab pos="0" algn="l"/>
              </a:tabLst>
            </a:pPr>
            <a:r>
              <a:rPr lang="en-US" sz="1250" b="0" u="none" strike="noStrike">
                <a:solidFill>
                  <a:srgbClr val="1E2A35"/>
                </a:solidFill>
                <a:effectLst/>
                <a:uFillTx/>
                <a:latin typeface="Calibri"/>
                <a:ea typeface="Calibri"/>
              </a:rPr>
              <a:t>Si repitieras el muestreo, ¿cuánto se movería el estimador? El error estándar pone número a ese vaivén.</a:t>
            </a:r>
            <a:endParaRPr lang="en-US" sz="1250" b="0" u="none" strike="noStrike">
              <a:solidFill>
                <a:srgbClr val="000000"/>
              </a:solidFill>
              <a:effectLst/>
              <a:uFillTx/>
              <a:latin typeface="Arial"/>
            </a:endParaRPr>
          </a:p>
        </p:txBody>
      </p:sp>
      <p:sp>
        <p:nvSpPr>
          <p:cNvPr id="261" name="Shape 5"/>
          <p:cNvSpPr/>
          <p:nvPr/>
        </p:nvSpPr>
        <p:spPr>
          <a:xfrm>
            <a:off x="4343400" y="1920240"/>
            <a:ext cx="3501720" cy="1828440"/>
          </a:xfrm>
          <a:prstGeom prst="roundRect">
            <a:avLst>
              <a:gd name="adj" fmla="val 3000"/>
            </a:avLst>
          </a:prstGeom>
          <a:solidFill>
            <a:srgbClr val="F9E7E3"/>
          </a:solidFill>
          <a:ln w="9525">
            <a:solidFill>
              <a:srgbClr val="D5DCE3"/>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262" name="Text 6"/>
          <p:cNvSpPr/>
          <p:nvPr/>
        </p:nvSpPr>
        <p:spPr>
          <a:xfrm>
            <a:off x="4572000" y="2103120"/>
            <a:ext cx="3044520" cy="411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A23B22"/>
                </a:solidFill>
                <a:effectLst/>
                <a:uFillTx/>
                <a:latin typeface="Calibri"/>
                <a:ea typeface="Calibri"/>
              </a:rPr>
              <a:t>El default IID</a:t>
            </a:r>
            <a:endParaRPr lang="en-US" sz="1500" b="0" u="none" strike="noStrike">
              <a:solidFill>
                <a:srgbClr val="000000"/>
              </a:solidFill>
              <a:effectLst/>
              <a:uFillTx/>
              <a:latin typeface="Arial"/>
            </a:endParaRPr>
          </a:p>
        </p:txBody>
      </p:sp>
      <p:sp>
        <p:nvSpPr>
          <p:cNvPr id="263" name="Text 7"/>
          <p:cNvSpPr/>
          <p:nvPr/>
        </p:nvSpPr>
        <p:spPr>
          <a:xfrm>
            <a:off x="4572000" y="2578680"/>
            <a:ext cx="3044520" cy="1051200"/>
          </a:xfrm>
          <a:prstGeom prst="rect">
            <a:avLst/>
          </a:prstGeom>
          <a:noFill/>
          <a:ln w="0">
            <a:noFill/>
          </a:ln>
        </p:spPr>
        <p:style>
          <a:lnRef idx="0"/>
          <a:fillRef idx="0"/>
          <a:effectRef idx="0"/>
          <a:fontRef idx="minor"/>
        </p:style>
        <p:txBody>
          <a:bodyPr lIns="0" tIns="0" rIns="0" bIns="0" anchor="ctr">
            <a:noAutofit/>
          </a:bodyPr>
          <a:p>
            <a:pPr defTabSz="914400">
              <a:lnSpc>
                <a:spcPct val="105000"/>
              </a:lnSpc>
              <a:tabLst>
                <a:tab pos="0" algn="l"/>
              </a:tabLst>
            </a:pPr>
            <a:r>
              <a:rPr lang="en-US" sz="1250" b="0" u="none" strike="noStrike">
                <a:solidFill>
                  <a:srgbClr val="1E2A35"/>
                </a:solidFill>
                <a:effectLst/>
                <a:uFillTx/>
                <a:latin typeface="Calibri"/>
                <a:ea typeface="Calibri"/>
              </a:rPr>
              <a:t>Asume registros independientes e idénticos. Pero los hogares de una misma zona se parecen: hay conglomerados.</a:t>
            </a:r>
            <a:endParaRPr lang="en-US" sz="1250" b="0" u="none" strike="noStrike">
              <a:solidFill>
                <a:srgbClr val="000000"/>
              </a:solidFill>
              <a:effectLst/>
              <a:uFillTx/>
              <a:latin typeface="Arial"/>
            </a:endParaRPr>
          </a:p>
        </p:txBody>
      </p:sp>
      <p:sp>
        <p:nvSpPr>
          <p:cNvPr id="264" name="Shape 8"/>
          <p:cNvSpPr/>
          <p:nvPr/>
        </p:nvSpPr>
        <p:spPr>
          <a:xfrm>
            <a:off x="8138160" y="1920240"/>
            <a:ext cx="3501720" cy="1828440"/>
          </a:xfrm>
          <a:prstGeom prst="roundRect">
            <a:avLst>
              <a:gd name="adj" fmla="val 3000"/>
            </a:avLst>
          </a:prstGeom>
          <a:solidFill>
            <a:srgbClr val="FCF3DD"/>
          </a:solidFill>
          <a:ln w="9525">
            <a:solidFill>
              <a:srgbClr val="D5DCE3"/>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265" name="Text 9"/>
          <p:cNvSpPr/>
          <p:nvPr/>
        </p:nvSpPr>
        <p:spPr>
          <a:xfrm>
            <a:off x="8366760" y="2103120"/>
            <a:ext cx="3044520" cy="411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8A6D1F"/>
                </a:solidFill>
                <a:effectLst/>
                <a:uFillTx/>
                <a:latin typeface="Calibri"/>
                <a:ea typeface="Calibri"/>
              </a:rPr>
              <a:t>El borrado silencioso</a:t>
            </a:r>
            <a:endParaRPr lang="en-US" sz="1500" b="0" u="none" strike="noStrike">
              <a:solidFill>
                <a:srgbClr val="000000"/>
              </a:solidFill>
              <a:effectLst/>
              <a:uFillTx/>
              <a:latin typeface="Arial"/>
            </a:endParaRPr>
          </a:p>
        </p:txBody>
      </p:sp>
      <p:sp>
        <p:nvSpPr>
          <p:cNvPr id="266" name="Text 10"/>
          <p:cNvSpPr/>
          <p:nvPr/>
        </p:nvSpPr>
        <p:spPr>
          <a:xfrm>
            <a:off x="8366760" y="2578680"/>
            <a:ext cx="3044520" cy="1051200"/>
          </a:xfrm>
          <a:prstGeom prst="rect">
            <a:avLst/>
          </a:prstGeom>
          <a:noFill/>
          <a:ln w="0">
            <a:noFill/>
          </a:ln>
        </p:spPr>
        <p:style>
          <a:lnRef idx="0"/>
          <a:fillRef idx="0"/>
          <a:effectRef idx="0"/>
          <a:fontRef idx="minor"/>
        </p:style>
        <p:txBody>
          <a:bodyPr lIns="0" tIns="0" rIns="0" bIns="0" anchor="ctr">
            <a:noAutofit/>
          </a:bodyPr>
          <a:p>
            <a:pPr defTabSz="914400">
              <a:lnSpc>
                <a:spcPct val="105000"/>
              </a:lnSpc>
              <a:tabLst>
                <a:tab pos="0" algn="l"/>
              </a:tabLst>
            </a:pPr>
            <a:r>
              <a:rPr lang="en-US" sz="1250" b="0" u="none" strike="noStrike">
                <a:solidFill>
                  <a:srgbClr val="1E2A35"/>
                </a:solidFill>
                <a:effectLst/>
                <a:uFillTx/>
                <a:latin typeface="Calibri"/>
                <a:ea typeface="Calibri"/>
              </a:rPr>
              <a:t>Quitar renglones con cualquier vacío cambia la muestra sin avisar, y con ella el número y su error.</a:t>
            </a:r>
            <a:endParaRPr lang="en-US" sz="1250" b="0" u="none" strike="noStrike">
              <a:solidFill>
                <a:srgbClr val="000000"/>
              </a:solidFill>
              <a:effectLst/>
              <a:uFillTx/>
              <a:latin typeface="Arial"/>
            </a:endParaRPr>
          </a:p>
        </p:txBody>
      </p:sp>
      <p:sp>
        <p:nvSpPr>
          <p:cNvPr id="267" name="Shape 11"/>
          <p:cNvSpPr/>
          <p:nvPr/>
        </p:nvSpPr>
        <p:spPr>
          <a:xfrm>
            <a:off x="548640" y="4023360"/>
            <a:ext cx="11091240" cy="1371240"/>
          </a:xfrm>
          <a:prstGeom prst="roundRect">
            <a:avLst>
              <a:gd name="adj" fmla="val 4000"/>
            </a:avLst>
          </a:prstGeom>
          <a:solidFill>
            <a:srgbClr val="15293B"/>
          </a:solidFill>
          <a:ln w="9525">
            <a:solidFill>
              <a:srgbClr val="D5DCE3"/>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268" name="Text 12"/>
          <p:cNvSpPr/>
          <p:nvPr/>
        </p:nvSpPr>
        <p:spPr>
          <a:xfrm>
            <a:off x="868680" y="4187880"/>
            <a:ext cx="1045116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E58A5B"/>
                </a:solidFill>
                <a:effectLst/>
                <a:uFillTx/>
                <a:latin typeface="Calibri"/>
                <a:ea typeface="Calibri"/>
              </a:rPr>
              <a:t>Por qué el default falla en encuestas</a:t>
            </a:r>
            <a:endParaRPr lang="en-US" sz="1500" b="0" u="none" strike="noStrike">
              <a:solidFill>
                <a:srgbClr val="000000"/>
              </a:solidFill>
              <a:effectLst/>
              <a:uFillTx/>
              <a:latin typeface="Arial"/>
            </a:endParaRPr>
          </a:p>
        </p:txBody>
      </p:sp>
      <p:sp>
        <p:nvSpPr>
          <p:cNvPr id="269" name="Text 13"/>
          <p:cNvSpPr/>
          <p:nvPr/>
        </p:nvSpPr>
        <p:spPr>
          <a:xfrm>
            <a:off x="868680" y="4572000"/>
            <a:ext cx="10451160" cy="776880"/>
          </a:xfrm>
          <a:prstGeom prst="rect">
            <a:avLst/>
          </a:prstGeom>
          <a:noFill/>
          <a:ln w="0">
            <a:noFill/>
          </a:ln>
        </p:spPr>
        <p:style>
          <a:lnRef idx="0"/>
          <a:fillRef idx="0"/>
          <a:effectRef idx="0"/>
          <a:fontRef idx="minor"/>
        </p:style>
        <p:txBody>
          <a:bodyPr lIns="0" tIns="0" rIns="0" bIns="0" anchor="ctr">
            <a:noAutofit/>
          </a:bodyPr>
          <a:p>
            <a:pPr defTabSz="914400">
              <a:lnSpc>
                <a:spcPct val="105000"/>
              </a:lnSpc>
              <a:tabLst>
                <a:tab pos="0" algn="l"/>
              </a:tabLst>
            </a:pPr>
            <a:r>
              <a:rPr lang="en-US" sz="1300" b="0" u="none" strike="noStrike">
                <a:solidFill>
                  <a:srgbClr val="E4EAF0"/>
                </a:solidFill>
                <a:effectLst/>
                <a:uFillTx/>
                <a:latin typeface="Calibri"/>
                <a:ea typeface="Calibri"/>
              </a:rPr>
              <a:t>Cuando los hogares se muestrean por conglomerados, dos del mismo bloque aportan menos información nueva que dos al azar. El error estándar clásico no lo sabe y sale demasiado chico: da certeza de más. El correcto reconoce el conglomerado y el estrato.</a:t>
            </a:r>
            <a:endParaRPr lang="en-US" sz="1300" b="0" u="none" strike="noStrike">
              <a:solidFill>
                <a:srgbClr val="000000"/>
              </a:solidFill>
              <a:effectLst/>
              <a:uFillTx/>
              <a:latin typeface="Arial"/>
            </a:endParaRPr>
          </a:p>
        </p:txBody>
      </p:sp>
      <p:sp>
        <p:nvSpPr>
          <p:cNvPr id="270" name="Shape 14"/>
          <p:cNvSpPr/>
          <p:nvPr/>
        </p:nvSpPr>
        <p:spPr>
          <a:xfrm>
            <a:off x="548640" y="6053400"/>
            <a:ext cx="11091240" cy="603000"/>
          </a:xfrm>
          <a:prstGeom prst="rect">
            <a:avLst/>
          </a:prstGeom>
          <a:solidFill>
            <a:srgbClr val="FBEEE5"/>
          </a:solidFill>
          <a:ln w="0">
            <a:noFill/>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271" name="Shape 15"/>
          <p:cNvSpPr/>
          <p:nvPr/>
        </p:nvSpPr>
        <p:spPr>
          <a:xfrm>
            <a:off x="749880" y="6272640"/>
            <a:ext cx="164160" cy="164160"/>
          </a:xfrm>
          <a:prstGeom prst="roundRect">
            <a:avLst>
              <a:gd name="adj" fmla="val 22222"/>
            </a:avLst>
          </a:prstGeom>
          <a:solidFill>
            <a:srgbClr val="CB5E2E"/>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272" name="Text 16"/>
          <p:cNvSpPr/>
          <p:nvPr/>
        </p:nvSpPr>
        <p:spPr>
          <a:xfrm>
            <a:off x="1051560" y="6053400"/>
            <a:ext cx="10405440" cy="6030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0" u="none" strike="noStrike">
                <a:solidFill>
                  <a:srgbClr val="8C3E19"/>
                </a:solidFill>
                <a:effectLst/>
                <a:uFillTx/>
                <a:latin typeface="Calibri"/>
                <a:ea typeface="Calibri"/>
              </a:rPr>
              <a:t>El error estándar clásico es el que viene por default en lm() y summary(). Con datos por conglomerado es el equivocado, lo escriba quien lo escriba.</a:t>
            </a:r>
            <a:endParaRPr lang="en-US" sz="12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73" name="Text 0"/>
          <p:cNvSpPr/>
          <p:nvPr/>
        </p:nvSpPr>
        <p:spPr>
          <a:xfrm>
            <a:off x="548640" y="384120"/>
            <a:ext cx="11091240" cy="639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900" b="1" u="none" strike="noStrike">
                <a:solidFill>
                  <a:srgbClr val="1E2A35"/>
                </a:solidFill>
                <a:effectLst/>
                <a:uFillTx/>
                <a:latin typeface="Calibri"/>
                <a:ea typeface="Calibri"/>
              </a:rPr>
              <a:t>Mismo estimador, distinta certeza</a:t>
            </a:r>
            <a:endParaRPr lang="en-US" sz="2900" b="0" u="none" strike="noStrike">
              <a:solidFill>
                <a:srgbClr val="000000"/>
              </a:solidFill>
              <a:effectLst/>
              <a:uFillTx/>
              <a:latin typeface="Arial"/>
            </a:endParaRPr>
          </a:p>
        </p:txBody>
      </p:sp>
      <p:sp>
        <p:nvSpPr>
          <p:cNvPr id="274" name="Text 1"/>
          <p:cNvSpPr/>
          <p:nvPr/>
        </p:nvSpPr>
        <p:spPr>
          <a:xfrm>
            <a:off x="548640" y="1042560"/>
            <a:ext cx="11091240" cy="5666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0" u="none" strike="noStrike">
                <a:solidFill>
                  <a:srgbClr val="60707E"/>
                </a:solidFill>
                <a:effectLst/>
                <a:uFillTx/>
                <a:latin typeface="Calibri"/>
                <a:ea typeface="Calibri"/>
              </a:rPr>
              <a:t>Sobre el mismo microdato. El efecto del programa sobre el score (el índice de resultado) no cambia; cambia lo que dice el error estándar, y con él la conclusión.</a:t>
            </a:r>
            <a:endParaRPr lang="en-US" sz="1400" b="0" u="none" strike="noStrike">
              <a:solidFill>
                <a:srgbClr val="000000"/>
              </a:solidFill>
              <a:effectLst/>
              <a:uFillTx/>
              <a:latin typeface="Arial"/>
            </a:endParaRPr>
          </a:p>
        </p:txBody>
      </p:sp>
      <p:sp>
        <p:nvSpPr>
          <p:cNvPr id="275" name="Shape 2"/>
          <p:cNvSpPr/>
          <p:nvPr/>
        </p:nvSpPr>
        <p:spPr>
          <a:xfrm>
            <a:off x="548640" y="1783080"/>
            <a:ext cx="11091240" cy="868320"/>
          </a:xfrm>
          <a:prstGeom prst="roundRect">
            <a:avLst>
              <a:gd name="adj" fmla="val 6316"/>
            </a:avLst>
          </a:prstGeom>
          <a:solidFill>
            <a:srgbClr val="EEF2F5"/>
          </a:solidFill>
          <a:ln w="9525">
            <a:solidFill>
              <a:srgbClr val="D5DCE3"/>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276" name="Text 3"/>
          <p:cNvSpPr/>
          <p:nvPr/>
        </p:nvSpPr>
        <p:spPr>
          <a:xfrm>
            <a:off x="868680" y="1783080"/>
            <a:ext cx="10451160" cy="868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0" u="none" strike="noStrike">
                <a:solidFill>
                  <a:srgbClr val="1E2A35"/>
                </a:solidFill>
                <a:effectLst/>
                <a:uFillTx/>
                <a:latin typeface="Calibri"/>
              </a:rPr>
              <a:t>Efecto estimado del programa:  </a:t>
            </a:r>
            <a:r>
              <a:rPr lang="en-US" sz="1700" b="1" u="none" strike="noStrike">
                <a:solidFill>
                  <a:srgbClr val="1E2A35"/>
                </a:solidFill>
                <a:effectLst/>
                <a:uFillTx/>
                <a:latin typeface="Cambria"/>
                <a:ea typeface="Cambria"/>
              </a:rPr>
              <a:t>−4.5 puntos</a:t>
            </a:r>
            <a:r>
              <a:rPr lang="en-US" sz="1200" b="0" i="1" u="none" strike="noStrike">
                <a:solidFill>
                  <a:srgbClr val="60707E"/>
                </a:solidFill>
                <a:effectLst/>
                <a:uFillTx/>
                <a:latin typeface="Calibri"/>
                <a:ea typeface="Cambria"/>
              </a:rPr>
              <a:t>     (el punto no cambia; lo que cambia es su margen)</a:t>
            </a:r>
            <a:endParaRPr lang="en-US" sz="1200" b="0" u="none" strike="noStrike">
              <a:solidFill>
                <a:srgbClr val="000000"/>
              </a:solidFill>
              <a:effectLst/>
              <a:uFillTx/>
              <a:latin typeface="Arial"/>
            </a:endParaRPr>
          </a:p>
        </p:txBody>
      </p:sp>
      <p:sp>
        <p:nvSpPr>
          <p:cNvPr id="277" name="Shape 4"/>
          <p:cNvSpPr/>
          <p:nvPr/>
        </p:nvSpPr>
        <p:spPr>
          <a:xfrm>
            <a:off x="548640" y="2880360"/>
            <a:ext cx="5394600" cy="2011320"/>
          </a:xfrm>
          <a:prstGeom prst="roundRect">
            <a:avLst>
              <a:gd name="adj" fmla="val 2727"/>
            </a:avLst>
          </a:prstGeom>
          <a:solidFill>
            <a:srgbClr val="F9E7E3"/>
          </a:solidFill>
          <a:ln w="9525">
            <a:solidFill>
              <a:srgbClr val="D5DCE3"/>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278" name="Text 5"/>
          <p:cNvSpPr/>
          <p:nvPr/>
        </p:nvSpPr>
        <p:spPr>
          <a:xfrm>
            <a:off x="822960" y="3063240"/>
            <a:ext cx="484596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1" u="none" spc="99" strike="noStrike">
                <a:solidFill>
                  <a:srgbClr val="A23B22"/>
                </a:solidFill>
                <a:effectLst/>
                <a:uFillTx/>
                <a:latin typeface="Calibri"/>
                <a:ea typeface="Calibri"/>
              </a:rPr>
              <a:t>ERROR ESTÁNDAR CLÁSICO (IID)</a:t>
            </a:r>
            <a:endParaRPr lang="en-US" sz="1200" b="0" u="none" strike="noStrike">
              <a:solidFill>
                <a:srgbClr val="000000"/>
              </a:solidFill>
              <a:effectLst/>
              <a:uFillTx/>
              <a:latin typeface="Arial"/>
            </a:endParaRPr>
          </a:p>
        </p:txBody>
      </p:sp>
      <p:sp>
        <p:nvSpPr>
          <p:cNvPr id="279" name="Text 6"/>
          <p:cNvSpPr/>
          <p:nvPr/>
        </p:nvSpPr>
        <p:spPr>
          <a:xfrm>
            <a:off x="822960" y="3410640"/>
            <a:ext cx="484596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800" b="1" u="none" strike="noStrike">
                <a:solidFill>
                  <a:srgbClr val="A23B22"/>
                </a:solidFill>
                <a:effectLst/>
                <a:uFillTx/>
                <a:latin typeface="Cambria"/>
                <a:ea typeface="Cambria"/>
              </a:rPr>
              <a:t>± 1.46</a:t>
            </a:r>
            <a:endParaRPr lang="en-US" sz="2800" b="0" u="none" strike="noStrike">
              <a:solidFill>
                <a:srgbClr val="000000"/>
              </a:solidFill>
              <a:effectLst/>
              <a:uFillTx/>
              <a:latin typeface="Arial"/>
            </a:endParaRPr>
          </a:p>
        </p:txBody>
      </p:sp>
      <p:sp>
        <p:nvSpPr>
          <p:cNvPr id="280" name="Text 7"/>
          <p:cNvSpPr/>
          <p:nvPr/>
        </p:nvSpPr>
        <p:spPr>
          <a:xfrm>
            <a:off x="822960" y="4023360"/>
            <a:ext cx="4845960" cy="776880"/>
          </a:xfrm>
          <a:prstGeom prst="rect">
            <a:avLst/>
          </a:prstGeom>
          <a:noFill/>
          <a:ln w="0">
            <a:noFill/>
          </a:ln>
        </p:spPr>
        <p:style>
          <a:lnRef idx="0"/>
          <a:fillRef idx="0"/>
          <a:effectRef idx="0"/>
          <a:fontRef idx="minor"/>
        </p:style>
        <p:txBody>
          <a:bodyPr lIns="0" tIns="0" rIns="0" bIns="0" anchor="ctr">
            <a:noAutofit/>
          </a:bodyPr>
          <a:p>
            <a:pPr/>
            <a:r>
              <a:rPr lang="en-US" sz="1300" b="1" u="none" strike="noStrike">
                <a:solidFill>
                  <a:srgbClr val="1E2A35"/>
                </a:solidFill>
                <a:effectLst/>
                <a:uFillTx/>
                <a:latin typeface="Calibri"/>
                <a:ea typeface="Calibri"/>
              </a:rPr>
              <a:t>t = −3.1,  p = 0.002</a:t>
            </a:r>
            <a:endParaRPr lang="en-US" sz="1300" b="0" u="none" strike="noStrike">
              <a:solidFill>
                <a:srgbClr val="000000"/>
              </a:solidFill>
              <a:effectLst/>
              <a:uFillTx/>
              <a:latin typeface="Arial"/>
            </a:endParaRPr>
          </a:p>
          <a:p>
            <a:pPr defTabSz="914400">
              <a:lnSpc>
                <a:spcPct val="105000"/>
              </a:lnSpc>
              <a:tabLst>
                <a:tab pos="0" algn="l"/>
              </a:tabLst>
            </a:pPr>
            <a:r>
              <a:rPr lang="en-US" sz="1300" b="0" i="1" u="none" strike="noStrike">
                <a:solidFill>
                  <a:srgbClr val="60707E"/>
                </a:solidFill>
                <a:effectLst/>
                <a:uFillTx/>
                <a:latin typeface="Calibri"/>
                <a:ea typeface="Calibri"/>
              </a:rPr>
              <a:t>«claramente significativo»</a:t>
            </a:r>
            <a:endParaRPr lang="en-US" sz="1300" b="0" u="none" strike="noStrike">
              <a:solidFill>
                <a:srgbClr val="000000"/>
              </a:solidFill>
              <a:effectLst/>
              <a:uFillTx/>
              <a:latin typeface="Arial"/>
            </a:endParaRPr>
          </a:p>
        </p:txBody>
      </p:sp>
      <p:sp>
        <p:nvSpPr>
          <p:cNvPr id="281" name="Shape 8"/>
          <p:cNvSpPr/>
          <p:nvPr/>
        </p:nvSpPr>
        <p:spPr>
          <a:xfrm>
            <a:off x="6245280" y="2880360"/>
            <a:ext cx="5394600" cy="2011320"/>
          </a:xfrm>
          <a:prstGeom prst="roundRect">
            <a:avLst>
              <a:gd name="adj" fmla="val 2727"/>
            </a:avLst>
          </a:prstGeom>
          <a:solidFill>
            <a:srgbClr val="E7F2EA"/>
          </a:solidFill>
          <a:ln w="9525">
            <a:solidFill>
              <a:srgbClr val="D5DCE3"/>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282" name="Text 9"/>
          <p:cNvSpPr/>
          <p:nvPr/>
        </p:nvSpPr>
        <p:spPr>
          <a:xfrm>
            <a:off x="6519600" y="3063240"/>
            <a:ext cx="484596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1" u="none" spc="99" strike="noStrike">
                <a:solidFill>
                  <a:srgbClr val="2E6E49"/>
                </a:solidFill>
                <a:effectLst/>
                <a:uFillTx/>
                <a:latin typeface="Calibri"/>
                <a:ea typeface="Calibri"/>
              </a:rPr>
              <a:t>ERROR ESTÁNDAR POR CONGLOMERADO</a:t>
            </a:r>
            <a:endParaRPr lang="en-US" sz="1200" b="0" u="none" strike="noStrike">
              <a:solidFill>
                <a:srgbClr val="000000"/>
              </a:solidFill>
              <a:effectLst/>
              <a:uFillTx/>
              <a:latin typeface="Arial"/>
            </a:endParaRPr>
          </a:p>
        </p:txBody>
      </p:sp>
      <p:sp>
        <p:nvSpPr>
          <p:cNvPr id="283" name="Text 10"/>
          <p:cNvSpPr/>
          <p:nvPr/>
        </p:nvSpPr>
        <p:spPr>
          <a:xfrm>
            <a:off x="6519600" y="3410640"/>
            <a:ext cx="484596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800" b="1" u="none" strike="noStrike">
                <a:solidFill>
                  <a:srgbClr val="2E6E49"/>
                </a:solidFill>
                <a:effectLst/>
                <a:uFillTx/>
                <a:latin typeface="Cambria"/>
                <a:ea typeface="Cambria"/>
              </a:rPr>
              <a:t>± 2.19</a:t>
            </a:r>
            <a:endParaRPr lang="en-US" sz="2800" b="0" u="none" strike="noStrike">
              <a:solidFill>
                <a:srgbClr val="000000"/>
              </a:solidFill>
              <a:effectLst/>
              <a:uFillTx/>
              <a:latin typeface="Arial"/>
            </a:endParaRPr>
          </a:p>
        </p:txBody>
      </p:sp>
      <p:sp>
        <p:nvSpPr>
          <p:cNvPr id="284" name="Text 11"/>
          <p:cNvSpPr/>
          <p:nvPr/>
        </p:nvSpPr>
        <p:spPr>
          <a:xfrm>
            <a:off x="6519600" y="4023360"/>
            <a:ext cx="4845960" cy="776880"/>
          </a:xfrm>
          <a:prstGeom prst="rect">
            <a:avLst/>
          </a:prstGeom>
          <a:noFill/>
          <a:ln w="0">
            <a:noFill/>
          </a:ln>
        </p:spPr>
        <p:style>
          <a:lnRef idx="0"/>
          <a:fillRef idx="0"/>
          <a:effectRef idx="0"/>
          <a:fontRef idx="minor"/>
        </p:style>
        <p:txBody>
          <a:bodyPr lIns="0" tIns="0" rIns="0" bIns="0" anchor="ctr">
            <a:noAutofit/>
          </a:bodyPr>
          <a:p>
            <a:pPr/>
            <a:r>
              <a:rPr lang="en-US" sz="1300" b="1" u="none" strike="noStrike">
                <a:solidFill>
                  <a:srgbClr val="1E2A35"/>
                </a:solidFill>
                <a:effectLst/>
                <a:uFillTx/>
                <a:latin typeface="Calibri"/>
                <a:ea typeface="Calibri"/>
              </a:rPr>
              <a:t>t = −2.0,  p = 0.049</a:t>
            </a:r>
            <a:endParaRPr lang="en-US" sz="1300" b="0" u="none" strike="noStrike">
              <a:solidFill>
                <a:srgbClr val="000000"/>
              </a:solidFill>
              <a:effectLst/>
              <a:uFillTx/>
              <a:latin typeface="Arial"/>
            </a:endParaRPr>
          </a:p>
          <a:p>
            <a:pPr defTabSz="914400">
              <a:lnSpc>
                <a:spcPct val="105000"/>
              </a:lnSpc>
              <a:tabLst>
                <a:tab pos="0" algn="l"/>
              </a:tabLst>
            </a:pPr>
            <a:r>
              <a:rPr lang="en-US" sz="1300" b="0" i="1" u="none" strike="noStrike">
                <a:solidFill>
                  <a:srgbClr val="60707E"/>
                </a:solidFill>
                <a:effectLst/>
                <a:uFillTx/>
                <a:latin typeface="Calibri"/>
                <a:ea typeface="Calibri"/>
              </a:rPr>
              <a:t>apenas significativo, al filo</a:t>
            </a:r>
            <a:endParaRPr lang="en-US" sz="1300" b="0" u="none" strike="noStrike">
              <a:solidFill>
                <a:srgbClr val="000000"/>
              </a:solidFill>
              <a:effectLst/>
              <a:uFillTx/>
              <a:latin typeface="Arial"/>
            </a:endParaRPr>
          </a:p>
        </p:txBody>
      </p:sp>
      <p:sp>
        <p:nvSpPr>
          <p:cNvPr id="285" name="Shape 12"/>
          <p:cNvSpPr/>
          <p:nvPr/>
        </p:nvSpPr>
        <p:spPr>
          <a:xfrm>
            <a:off x="548640" y="6053400"/>
            <a:ext cx="11091240" cy="603000"/>
          </a:xfrm>
          <a:prstGeom prst="rect">
            <a:avLst/>
          </a:prstGeom>
          <a:solidFill>
            <a:srgbClr val="FBEEE5"/>
          </a:solidFill>
          <a:ln w="0">
            <a:noFill/>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286" name="Shape 13"/>
          <p:cNvSpPr/>
          <p:nvPr/>
        </p:nvSpPr>
        <p:spPr>
          <a:xfrm>
            <a:off x="749880" y="6272640"/>
            <a:ext cx="164160" cy="164160"/>
          </a:xfrm>
          <a:prstGeom prst="roundRect">
            <a:avLst>
              <a:gd name="adj" fmla="val 22222"/>
            </a:avLst>
          </a:prstGeom>
          <a:solidFill>
            <a:srgbClr val="CB5E2E"/>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287" name="Text 14"/>
          <p:cNvSpPr/>
          <p:nvPr/>
        </p:nvSpPr>
        <p:spPr>
          <a:xfrm>
            <a:off x="1051560" y="6053400"/>
            <a:ext cx="10405440" cy="6030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0" u="none" strike="noStrike">
                <a:solidFill>
                  <a:srgbClr val="8C3E19"/>
                </a:solidFill>
                <a:effectLst/>
                <a:uFillTx/>
                <a:latin typeface="Calibri"/>
                <a:ea typeface="Calibri"/>
              </a:rPr>
              <a:t>El default IID subestima la incertidumbre en un tercio. Con el error correcto la conclusión pasa de firme a frágil: la misma cifra, otra decisión.</a:t>
            </a:r>
            <a:endParaRPr lang="en-US" sz="12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5293B"/>
        </a:solidFill>
      </p:bgPr>
    </p:bg>
    <p:spTree>
      <p:nvGrpSpPr>
        <p:cNvPr id="1" name=""/>
        <p:cNvGrpSpPr/>
        <p:nvPr/>
      </p:nvGrpSpPr>
      <p:grpSpPr>
        <a:xfrm>
          <a:off x="0" y="0"/>
          <a:ext cx="0" cy="0"/>
          <a:chOff x="0" y="0"/>
          <a:chExt cx="0" cy="0"/>
        </a:xfrm>
      </p:grpSpPr>
      <p:sp>
        <p:nvSpPr>
          <p:cNvPr id="288" name="Shape 0"/>
          <p:cNvSpPr/>
          <p:nvPr/>
        </p:nvSpPr>
        <p:spPr>
          <a:xfrm>
            <a:off x="822960" y="2468880"/>
            <a:ext cx="1371240" cy="1371240"/>
          </a:xfrm>
          <a:prstGeom prst="ellipse">
            <a:avLst/>
          </a:prstGeom>
          <a:solidFill>
            <a:srgbClr val="CB5E2E"/>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289" name="Text 1"/>
          <p:cNvSpPr/>
          <p:nvPr/>
        </p:nvSpPr>
        <p:spPr>
          <a:xfrm>
            <a:off x="822960" y="2468880"/>
            <a:ext cx="1371240" cy="13712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4000" b="1" u="none" strike="noStrike">
                <a:solidFill>
                  <a:srgbClr val="FFFFFF"/>
                </a:solidFill>
                <a:effectLst/>
                <a:uFillTx/>
                <a:latin typeface="Cambria"/>
                <a:ea typeface="Cambria"/>
              </a:rPr>
              <a:t>3</a:t>
            </a:r>
            <a:endParaRPr lang="en-US" sz="4000" b="0" u="none" strike="noStrike">
              <a:solidFill>
                <a:srgbClr val="FFFFFF"/>
              </a:solidFill>
              <a:effectLst/>
              <a:uFillTx/>
              <a:latin typeface="Arial"/>
            </a:endParaRPr>
          </a:p>
        </p:txBody>
      </p:sp>
      <p:sp>
        <p:nvSpPr>
          <p:cNvPr id="290" name="Text 2"/>
          <p:cNvSpPr/>
          <p:nvPr/>
        </p:nvSpPr>
        <p:spPr>
          <a:xfrm>
            <a:off x="2514600" y="2670120"/>
            <a:ext cx="8960760" cy="411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pc="201" strike="noStrike">
                <a:solidFill>
                  <a:srgbClr val="E58A5B"/>
                </a:solidFill>
                <a:effectLst/>
                <a:uFillTx/>
                <a:latin typeface="Calibri"/>
                <a:ea typeface="Calibri"/>
              </a:rPr>
              <a:t>BLOQUE 3</a:t>
            </a:r>
            <a:endParaRPr lang="en-US" sz="1400" b="0" u="none" strike="noStrike">
              <a:solidFill>
                <a:srgbClr val="FFFFFF"/>
              </a:solidFill>
              <a:effectLst/>
              <a:uFillTx/>
              <a:latin typeface="Arial"/>
            </a:endParaRPr>
          </a:p>
        </p:txBody>
      </p:sp>
      <p:sp>
        <p:nvSpPr>
          <p:cNvPr id="291" name="Text 3"/>
          <p:cNvSpPr/>
          <p:nvPr/>
        </p:nvSpPr>
        <p:spPr>
          <a:xfrm>
            <a:off x="2514600" y="3072240"/>
            <a:ext cx="9052200" cy="11883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900" b="1" u="none" strike="noStrike">
                <a:solidFill>
                  <a:srgbClr val="FFFFFF"/>
                </a:solidFill>
                <a:effectLst/>
                <a:uFillTx/>
                <a:latin typeface="Calibri"/>
                <a:ea typeface="Calibri"/>
              </a:rPr>
              <a:t>Agregación: relaciones que se invierten</a:t>
            </a:r>
            <a:endParaRPr lang="en-US" sz="29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92" name="Text 0"/>
          <p:cNvSpPr/>
          <p:nvPr/>
        </p:nvSpPr>
        <p:spPr>
          <a:xfrm>
            <a:off x="548640" y="384120"/>
            <a:ext cx="11091240" cy="639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900" b="1" u="none" strike="noStrike">
                <a:solidFill>
                  <a:srgbClr val="1E2A35"/>
                </a:solidFill>
                <a:effectLst/>
                <a:uFillTx/>
                <a:latin typeface="Calibri"/>
                <a:ea typeface="Calibri"/>
              </a:rPr>
              <a:t>Bloque 3, en concreto: ese mismo efecto, por estrato</a:t>
            </a:r>
            <a:endParaRPr lang="en-US" sz="2900" b="0" u="none" strike="noStrike">
              <a:solidFill>
                <a:srgbClr val="000000"/>
              </a:solidFill>
              <a:effectLst/>
              <a:uFillTx/>
              <a:latin typeface="Arial"/>
            </a:endParaRPr>
          </a:p>
        </p:txBody>
      </p:sp>
      <p:sp>
        <p:nvSpPr>
          <p:cNvPr id="293" name="Text 1"/>
          <p:cNvSpPr/>
          <p:nvPr/>
        </p:nvSpPr>
        <p:spPr>
          <a:xfrm>
            <a:off x="548640" y="1042560"/>
            <a:ext cx="11091240" cy="5666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0" u="none" strike="noStrike">
                <a:solidFill>
                  <a:srgbClr val="60707E"/>
                </a:solidFill>
                <a:effectLst/>
                <a:uFillTx/>
                <a:latin typeface="Calibri"/>
                <a:ea typeface="Calibri"/>
              </a:rPr>
              <a:t>La misma diferencia del Bloque 2, ahora condicionada por el confusor. El Bloque 2 miró su margen; este mira su signo.</a:t>
            </a:r>
            <a:endParaRPr lang="en-US" sz="1400" b="0" u="none" strike="noStrike">
              <a:solidFill>
                <a:srgbClr val="000000"/>
              </a:solidFill>
              <a:effectLst/>
              <a:uFillTx/>
              <a:latin typeface="Arial"/>
            </a:endParaRPr>
          </a:p>
        </p:txBody>
      </p:sp>
      <p:sp>
        <p:nvSpPr>
          <p:cNvPr id="294" name="Shape 2"/>
          <p:cNvSpPr/>
          <p:nvPr/>
        </p:nvSpPr>
        <p:spPr>
          <a:xfrm>
            <a:off x="548640" y="2194560"/>
            <a:ext cx="3501720" cy="2697120"/>
          </a:xfrm>
          <a:prstGeom prst="roundRect">
            <a:avLst>
              <a:gd name="adj" fmla="val 2034"/>
            </a:avLst>
          </a:prstGeom>
          <a:solidFill>
            <a:srgbClr val="FFFFFF"/>
          </a:solidFill>
          <a:ln w="9525">
            <a:solidFill>
              <a:srgbClr val="D5DCE3"/>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295" name="Text 3"/>
          <p:cNvSpPr/>
          <p:nvPr/>
        </p:nvSpPr>
        <p:spPr>
          <a:xfrm>
            <a:off x="804600" y="2432160"/>
            <a:ext cx="298980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1" u="none" spc="99" strike="noStrike">
                <a:solidFill>
                  <a:srgbClr val="CB5E2E"/>
                </a:solidFill>
                <a:effectLst/>
                <a:uFillTx/>
                <a:latin typeface="Calibri"/>
                <a:ea typeface="Calibri"/>
              </a:rPr>
              <a:t>LAS COLUMNAS</a:t>
            </a:r>
            <a:endParaRPr lang="en-US" sz="1200" b="0" u="none" strike="noStrike">
              <a:solidFill>
                <a:srgbClr val="000000"/>
              </a:solidFill>
              <a:effectLst/>
              <a:uFillTx/>
              <a:latin typeface="Arial"/>
            </a:endParaRPr>
          </a:p>
        </p:txBody>
      </p:sp>
      <p:sp>
        <p:nvSpPr>
          <p:cNvPr id="296" name="Text 4"/>
          <p:cNvSpPr/>
          <p:nvPr/>
        </p:nvSpPr>
        <p:spPr>
          <a:xfrm>
            <a:off x="804600" y="2779920"/>
            <a:ext cx="2989800" cy="914040"/>
          </a:xfrm>
          <a:prstGeom prst="rect">
            <a:avLst/>
          </a:prstGeom>
          <a:noFill/>
          <a:ln w="0">
            <a:noFill/>
          </a:ln>
        </p:spPr>
        <p:style>
          <a:lnRef idx="0"/>
          <a:fillRef idx="0"/>
          <a:effectRef idx="0"/>
          <a:fontRef idx="minor"/>
        </p:style>
        <p:txBody>
          <a:bodyPr lIns="0" tIns="0" rIns="0" bIns="0" anchor="t">
            <a:noAutofit/>
          </a:bodyPr>
          <a:p>
            <a:pPr defTabSz="914400">
              <a:lnSpc>
                <a:spcPct val="98000"/>
              </a:lnSpc>
              <a:tabLst>
                <a:tab pos="0" algn="l"/>
              </a:tabLst>
            </a:pPr>
            <a:r>
              <a:rPr lang="en-US" sz="1600" b="1" u="none" strike="noStrike">
                <a:solidFill>
                  <a:srgbClr val="1E2A35"/>
                </a:solidFill>
                <a:effectLst/>
                <a:uFillTx/>
                <a:latin typeface="Cambria"/>
                <a:ea typeface="Cambria"/>
              </a:rPr>
              <a:t>programa · score · estrato</a:t>
            </a:r>
            <a:endParaRPr lang="en-US" sz="1600" b="0" u="none" strike="noStrike">
              <a:solidFill>
                <a:srgbClr val="000000"/>
              </a:solidFill>
              <a:effectLst/>
              <a:uFillTx/>
              <a:latin typeface="Arial"/>
            </a:endParaRPr>
          </a:p>
        </p:txBody>
      </p:sp>
      <p:sp>
        <p:nvSpPr>
          <p:cNvPr id="297" name="Text 5"/>
          <p:cNvSpPr/>
          <p:nvPr/>
        </p:nvSpPr>
        <p:spPr>
          <a:xfrm>
            <a:off x="804600" y="3767400"/>
            <a:ext cx="2989800" cy="1005480"/>
          </a:xfrm>
          <a:prstGeom prst="rect">
            <a:avLst/>
          </a:prstGeom>
          <a:noFill/>
          <a:ln w="0">
            <a:noFill/>
          </a:ln>
        </p:spPr>
        <p:style>
          <a:lnRef idx="0"/>
          <a:fillRef idx="0"/>
          <a:effectRef idx="0"/>
          <a:fontRef idx="minor"/>
        </p:style>
        <p:txBody>
          <a:bodyPr lIns="0" tIns="0" rIns="0" bIns="0" anchor="t">
            <a:noAutofit/>
          </a:bodyPr>
          <a:p>
            <a:pPr defTabSz="914400">
              <a:lnSpc>
                <a:spcPct val="103000"/>
              </a:lnSpc>
              <a:tabLst>
                <a:tab pos="0" algn="l"/>
              </a:tabLst>
            </a:pPr>
            <a:r>
              <a:rPr lang="en-US" sz="1200" b="0" u="none" strike="noStrike">
                <a:solidFill>
                  <a:srgbClr val="60707E"/>
                </a:solidFill>
                <a:effectLst/>
                <a:uFillTx/>
                <a:latin typeface="Calibri"/>
                <a:ea typeface="Calibri"/>
              </a:rPr>
              <a:t>Las mismas dos, más estrato: el nivel de marginación (el confusor).</a:t>
            </a:r>
            <a:endParaRPr lang="en-US" sz="1200" b="0" u="none" strike="noStrike">
              <a:solidFill>
                <a:srgbClr val="000000"/>
              </a:solidFill>
              <a:effectLst/>
              <a:uFillTx/>
              <a:latin typeface="Arial"/>
            </a:endParaRPr>
          </a:p>
        </p:txBody>
      </p:sp>
      <p:sp>
        <p:nvSpPr>
          <p:cNvPr id="298" name="Shape 6"/>
          <p:cNvSpPr/>
          <p:nvPr/>
        </p:nvSpPr>
        <p:spPr>
          <a:xfrm>
            <a:off x="4343400" y="2194560"/>
            <a:ext cx="3501720" cy="2697120"/>
          </a:xfrm>
          <a:prstGeom prst="roundRect">
            <a:avLst>
              <a:gd name="adj" fmla="val 2034"/>
            </a:avLst>
          </a:prstGeom>
          <a:solidFill>
            <a:srgbClr val="FFFFFF"/>
          </a:solidFill>
          <a:ln w="9525">
            <a:solidFill>
              <a:srgbClr val="D5DCE3"/>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299" name="Text 7"/>
          <p:cNvSpPr/>
          <p:nvPr/>
        </p:nvSpPr>
        <p:spPr>
          <a:xfrm>
            <a:off x="4599360" y="2432160"/>
            <a:ext cx="298980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1" u="none" spc="99" strike="noStrike">
                <a:solidFill>
                  <a:srgbClr val="CB5E2E"/>
                </a:solidFill>
                <a:effectLst/>
                <a:uFillTx/>
                <a:latin typeface="Calibri"/>
                <a:ea typeface="Calibri"/>
              </a:rPr>
              <a:t>LA OPERACIÓN</a:t>
            </a:r>
            <a:endParaRPr lang="en-US" sz="1200" b="0" u="none" strike="noStrike">
              <a:solidFill>
                <a:srgbClr val="000000"/>
              </a:solidFill>
              <a:effectLst/>
              <a:uFillTx/>
              <a:latin typeface="Arial"/>
            </a:endParaRPr>
          </a:p>
        </p:txBody>
      </p:sp>
      <p:sp>
        <p:nvSpPr>
          <p:cNvPr id="300" name="Text 8"/>
          <p:cNvSpPr/>
          <p:nvPr/>
        </p:nvSpPr>
        <p:spPr>
          <a:xfrm>
            <a:off x="4599360" y="2779920"/>
            <a:ext cx="2989800" cy="914040"/>
          </a:xfrm>
          <a:prstGeom prst="rect">
            <a:avLst/>
          </a:prstGeom>
          <a:noFill/>
          <a:ln w="0">
            <a:noFill/>
          </a:ln>
        </p:spPr>
        <p:style>
          <a:lnRef idx="0"/>
          <a:fillRef idx="0"/>
          <a:effectRef idx="0"/>
          <a:fontRef idx="minor"/>
        </p:style>
        <p:txBody>
          <a:bodyPr lIns="0" tIns="0" rIns="0" bIns="0" anchor="t">
            <a:noAutofit/>
          </a:bodyPr>
          <a:p>
            <a:pPr defTabSz="914400">
              <a:lnSpc>
                <a:spcPct val="98000"/>
              </a:lnSpc>
              <a:tabLst>
                <a:tab pos="0" algn="l"/>
              </a:tabLst>
            </a:pPr>
            <a:r>
              <a:rPr lang="en-US" sz="1600" b="1" u="none" strike="noStrike">
                <a:solidFill>
                  <a:srgbClr val="1E2A35"/>
                </a:solidFill>
                <a:effectLst/>
                <a:uFillTx/>
                <a:latin typeface="Cambria"/>
                <a:ea typeface="Cambria"/>
              </a:rPr>
              <a:t>la misma diferencia, por estrato</a:t>
            </a:r>
            <a:endParaRPr lang="en-US" sz="1600" b="0" u="none" strike="noStrike">
              <a:solidFill>
                <a:srgbClr val="000000"/>
              </a:solidFill>
              <a:effectLst/>
              <a:uFillTx/>
              <a:latin typeface="Arial"/>
            </a:endParaRPr>
          </a:p>
        </p:txBody>
      </p:sp>
      <p:sp>
        <p:nvSpPr>
          <p:cNvPr id="301" name="Text 9"/>
          <p:cNvSpPr/>
          <p:nvPr/>
        </p:nvSpPr>
        <p:spPr>
          <a:xfrm>
            <a:off x="4599360" y="3767400"/>
            <a:ext cx="2989800" cy="1005480"/>
          </a:xfrm>
          <a:prstGeom prst="rect">
            <a:avLst/>
          </a:prstGeom>
          <a:noFill/>
          <a:ln w="0">
            <a:noFill/>
          </a:ln>
        </p:spPr>
        <p:style>
          <a:lnRef idx="0"/>
          <a:fillRef idx="0"/>
          <a:effectRef idx="0"/>
          <a:fontRef idx="minor"/>
        </p:style>
        <p:txBody>
          <a:bodyPr lIns="0" tIns="0" rIns="0" bIns="0" anchor="t">
            <a:noAutofit/>
          </a:bodyPr>
          <a:p>
            <a:pPr defTabSz="914400">
              <a:lnSpc>
                <a:spcPct val="103000"/>
              </a:lnSpc>
              <a:tabLst>
                <a:tab pos="0" algn="l"/>
              </a:tabLst>
            </a:pPr>
            <a:r>
              <a:rPr lang="en-US" sz="1200" b="0" u="none" strike="noStrike">
                <a:solidFill>
                  <a:srgbClr val="60707E"/>
                </a:solidFill>
                <a:effectLst/>
                <a:uFillTx/>
                <a:latin typeface="Calibri"/>
                <a:ea typeface="Calibri"/>
              </a:rPr>
              <a:t>El efecto del programa sobre score dentro de cada nivel de marginación.</a:t>
            </a:r>
            <a:endParaRPr lang="en-US" sz="1200" b="0" u="none" strike="noStrike">
              <a:solidFill>
                <a:srgbClr val="000000"/>
              </a:solidFill>
              <a:effectLst/>
              <a:uFillTx/>
              <a:latin typeface="Arial"/>
            </a:endParaRPr>
          </a:p>
        </p:txBody>
      </p:sp>
      <p:sp>
        <p:nvSpPr>
          <p:cNvPr id="302" name="Shape 10"/>
          <p:cNvSpPr/>
          <p:nvPr/>
        </p:nvSpPr>
        <p:spPr>
          <a:xfrm>
            <a:off x="8138160" y="2194560"/>
            <a:ext cx="3501720" cy="2697120"/>
          </a:xfrm>
          <a:prstGeom prst="roundRect">
            <a:avLst>
              <a:gd name="adj" fmla="val 2034"/>
            </a:avLst>
          </a:prstGeom>
          <a:solidFill>
            <a:srgbClr val="EEF2F5"/>
          </a:solidFill>
          <a:ln w="9525">
            <a:solidFill>
              <a:srgbClr val="D5DCE3"/>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303" name="Text 11"/>
          <p:cNvSpPr/>
          <p:nvPr/>
        </p:nvSpPr>
        <p:spPr>
          <a:xfrm>
            <a:off x="8394120" y="2432160"/>
            <a:ext cx="298980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1" u="none" spc="99" strike="noStrike">
                <a:solidFill>
                  <a:srgbClr val="CB5E2E"/>
                </a:solidFill>
                <a:effectLst/>
                <a:uFillTx/>
                <a:latin typeface="Calibri"/>
                <a:ea typeface="Calibri"/>
              </a:rPr>
              <a:t>EL CONTRASTE</a:t>
            </a:r>
            <a:endParaRPr lang="en-US" sz="1200" b="0" u="none" strike="noStrike">
              <a:solidFill>
                <a:srgbClr val="000000"/>
              </a:solidFill>
              <a:effectLst/>
              <a:uFillTx/>
              <a:latin typeface="Arial"/>
            </a:endParaRPr>
          </a:p>
        </p:txBody>
      </p:sp>
      <p:sp>
        <p:nvSpPr>
          <p:cNvPr id="304" name="Text 12"/>
          <p:cNvSpPr/>
          <p:nvPr/>
        </p:nvSpPr>
        <p:spPr>
          <a:xfrm>
            <a:off x="8394120" y="2779920"/>
            <a:ext cx="2989800" cy="914040"/>
          </a:xfrm>
          <a:prstGeom prst="rect">
            <a:avLst/>
          </a:prstGeom>
          <a:noFill/>
          <a:ln w="0">
            <a:noFill/>
          </a:ln>
        </p:spPr>
        <p:style>
          <a:lnRef idx="0"/>
          <a:fillRef idx="0"/>
          <a:effectRef idx="0"/>
          <a:fontRef idx="minor"/>
        </p:style>
        <p:txBody>
          <a:bodyPr lIns="0" tIns="0" rIns="0" bIns="0" anchor="t">
            <a:noAutofit/>
          </a:bodyPr>
          <a:p>
            <a:pPr defTabSz="914400">
              <a:lnSpc>
                <a:spcPct val="98000"/>
              </a:lnSpc>
              <a:tabLst>
                <a:tab pos="0" algn="l"/>
              </a:tabLst>
            </a:pPr>
            <a:r>
              <a:rPr lang="en-US" sz="1600" b="1" u="none" strike="noStrike">
                <a:solidFill>
                  <a:srgbClr val="A23B22"/>
                </a:solidFill>
                <a:effectLst/>
                <a:uFillTx/>
                <a:latin typeface="Cambria"/>
                <a:ea typeface="Cambria"/>
              </a:rPr>
              <a:t>agregado </a:t>
            </a:r>
            <a:r>
              <a:rPr lang="en-US" sz="1600" b="1" u="none" strike="noStrike">
                <a:solidFill>
                  <a:srgbClr val="60707E"/>
                </a:solidFill>
                <a:effectLst/>
                <a:uFillTx/>
                <a:latin typeface="Cambria"/>
                <a:ea typeface="Cambria"/>
              </a:rPr>
              <a:t>vs </a:t>
            </a:r>
            <a:r>
              <a:rPr lang="en-US" sz="1600" b="1" u="none" strike="noStrike">
                <a:solidFill>
                  <a:srgbClr val="2E6E49"/>
                </a:solidFill>
                <a:effectLst/>
                <a:uFillTx/>
                <a:latin typeface="Cambria"/>
                <a:ea typeface="Cambria"/>
              </a:rPr>
              <a:t>por subgrupo</a:t>
            </a:r>
            <a:endParaRPr lang="en-US" sz="1600" b="0" u="none" strike="noStrike">
              <a:solidFill>
                <a:srgbClr val="000000"/>
              </a:solidFill>
              <a:effectLst/>
              <a:uFillTx/>
              <a:latin typeface="Arial"/>
            </a:endParaRPr>
          </a:p>
        </p:txBody>
      </p:sp>
      <p:sp>
        <p:nvSpPr>
          <p:cNvPr id="305" name="Text 13"/>
          <p:cNvSpPr/>
          <p:nvPr/>
        </p:nvSpPr>
        <p:spPr>
          <a:xfrm>
            <a:off x="8394120" y="3767400"/>
            <a:ext cx="2989800" cy="1005480"/>
          </a:xfrm>
          <a:prstGeom prst="rect">
            <a:avLst/>
          </a:prstGeom>
          <a:noFill/>
          <a:ln w="0">
            <a:noFill/>
          </a:ln>
        </p:spPr>
        <p:style>
          <a:lnRef idx="0"/>
          <a:fillRef idx="0"/>
          <a:effectRef idx="0"/>
          <a:fontRef idx="minor"/>
        </p:style>
        <p:txBody>
          <a:bodyPr lIns="0" tIns="0" rIns="0" bIns="0" anchor="t">
            <a:noAutofit/>
          </a:bodyPr>
          <a:p>
            <a:pPr defTabSz="914400">
              <a:lnSpc>
                <a:spcPct val="103000"/>
              </a:lnSpc>
              <a:tabLst>
                <a:tab pos="0" algn="l"/>
              </a:tabLst>
            </a:pPr>
            <a:r>
              <a:rPr lang="en-US" sz="1200" b="0" u="none" strike="noStrike">
                <a:solidFill>
                  <a:srgbClr val="60707E"/>
                </a:solidFill>
                <a:effectLst/>
                <a:uFillTx/>
                <a:latin typeface="Calibri"/>
                <a:ea typeface="Calibri"/>
              </a:rPr>
              <a:t>El efecto en total contra el efecto en cada estrato. ¿Se invierte?</a:t>
            </a:r>
            <a:endParaRPr lang="en-US" sz="1200" b="0" u="none" strike="noStrike">
              <a:solidFill>
                <a:srgbClr val="000000"/>
              </a:solidFill>
              <a:effectLst/>
              <a:uFillTx/>
              <a:latin typeface="Arial"/>
            </a:endParaRPr>
          </a:p>
        </p:txBody>
      </p:sp>
      <p:sp>
        <p:nvSpPr>
          <p:cNvPr id="306" name="Shape 14"/>
          <p:cNvSpPr/>
          <p:nvPr/>
        </p:nvSpPr>
        <p:spPr>
          <a:xfrm>
            <a:off x="548640" y="6053400"/>
            <a:ext cx="11091240" cy="603000"/>
          </a:xfrm>
          <a:prstGeom prst="rect">
            <a:avLst/>
          </a:prstGeom>
          <a:solidFill>
            <a:srgbClr val="FBEEE5"/>
          </a:solidFill>
          <a:ln w="0">
            <a:noFill/>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307" name="Shape 15"/>
          <p:cNvSpPr/>
          <p:nvPr/>
        </p:nvSpPr>
        <p:spPr>
          <a:xfrm>
            <a:off x="749880" y="6272640"/>
            <a:ext cx="164160" cy="164160"/>
          </a:xfrm>
          <a:prstGeom prst="roundRect">
            <a:avLst>
              <a:gd name="adj" fmla="val 22222"/>
            </a:avLst>
          </a:prstGeom>
          <a:solidFill>
            <a:srgbClr val="CB5E2E"/>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308" name="Text 16"/>
          <p:cNvSpPr/>
          <p:nvPr/>
        </p:nvSpPr>
        <p:spPr>
          <a:xfrm>
            <a:off x="1051560" y="6053400"/>
            <a:ext cx="10405440" cy="6030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0" u="none" strike="noStrike">
                <a:solidFill>
                  <a:srgbClr val="8C3E19"/>
                </a:solidFill>
                <a:effectLst/>
                <a:uFillTx/>
                <a:latin typeface="Calibri"/>
                <a:ea typeface="Calibri"/>
              </a:rPr>
              <a:t>En una frase: tomamos el mismo efecto y lo miramos por estrato, para ver si el agregado dice lo contrario que los subgrupos.</a:t>
            </a:r>
            <a:endParaRPr lang="en-US" sz="12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09" name="Text 0"/>
          <p:cNvSpPr/>
          <p:nvPr/>
        </p:nvSpPr>
        <p:spPr>
          <a:xfrm>
            <a:off x="548640" y="384120"/>
            <a:ext cx="11091240" cy="639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900" b="1" u="none" strike="noStrike">
                <a:solidFill>
                  <a:srgbClr val="1E2A35"/>
                </a:solidFill>
                <a:effectLst/>
                <a:uFillTx/>
                <a:latin typeface="Calibri"/>
                <a:ea typeface="Calibri"/>
              </a:rPr>
              <a:t>El agregado puede decir lo contrario que los subgrupos</a:t>
            </a:r>
            <a:endParaRPr lang="en-US" sz="2900" b="0" u="none" strike="noStrike">
              <a:solidFill>
                <a:srgbClr val="000000"/>
              </a:solidFill>
              <a:effectLst/>
              <a:uFillTx/>
              <a:latin typeface="Arial"/>
            </a:endParaRPr>
          </a:p>
        </p:txBody>
      </p:sp>
      <p:sp>
        <p:nvSpPr>
          <p:cNvPr id="310" name="Text 1"/>
          <p:cNvSpPr/>
          <p:nvPr/>
        </p:nvSpPr>
        <p:spPr>
          <a:xfrm>
            <a:off x="548640" y="1042560"/>
            <a:ext cx="11091240" cy="5666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0" u="none" strike="noStrike">
                <a:solidFill>
                  <a:srgbClr val="60707E"/>
                </a:solidFill>
                <a:effectLst/>
                <a:uFillTx/>
                <a:latin typeface="Calibri"/>
                <a:ea typeface="Calibri"/>
              </a:rPr>
              <a:t>La paradoja de Simpson: una relación se invierte al condicionar. No es rara, y en evaluación es la regla, no la excepción.</a:t>
            </a:r>
            <a:endParaRPr lang="en-US" sz="1400" b="0" u="none" strike="noStrike">
              <a:solidFill>
                <a:srgbClr val="000000"/>
              </a:solidFill>
              <a:effectLst/>
              <a:uFillTx/>
              <a:latin typeface="Arial"/>
            </a:endParaRPr>
          </a:p>
        </p:txBody>
      </p:sp>
      <p:sp>
        <p:nvSpPr>
          <p:cNvPr id="311" name="Shape 2"/>
          <p:cNvSpPr/>
          <p:nvPr/>
        </p:nvSpPr>
        <p:spPr>
          <a:xfrm>
            <a:off x="548640" y="1920240"/>
            <a:ext cx="3501720" cy="1828440"/>
          </a:xfrm>
          <a:prstGeom prst="roundRect">
            <a:avLst>
              <a:gd name="adj" fmla="val 3000"/>
            </a:avLst>
          </a:prstGeom>
          <a:solidFill>
            <a:srgbClr val="EEF2F5"/>
          </a:solidFill>
          <a:ln w="9525">
            <a:solidFill>
              <a:srgbClr val="D5DCE3"/>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312" name="Text 3"/>
          <p:cNvSpPr/>
          <p:nvPr/>
        </p:nvSpPr>
        <p:spPr>
          <a:xfrm>
            <a:off x="777240" y="2103120"/>
            <a:ext cx="3044520" cy="411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1E2A35"/>
                </a:solidFill>
                <a:effectLst/>
                <a:uFillTx/>
                <a:latin typeface="Calibri"/>
                <a:ea typeface="Calibri"/>
              </a:rPr>
              <a:t>Qué es</a:t>
            </a:r>
            <a:endParaRPr lang="en-US" sz="1500" b="0" u="none" strike="noStrike">
              <a:solidFill>
                <a:srgbClr val="000000"/>
              </a:solidFill>
              <a:effectLst/>
              <a:uFillTx/>
              <a:latin typeface="Arial"/>
            </a:endParaRPr>
          </a:p>
        </p:txBody>
      </p:sp>
      <p:sp>
        <p:nvSpPr>
          <p:cNvPr id="313" name="Text 4"/>
          <p:cNvSpPr/>
          <p:nvPr/>
        </p:nvSpPr>
        <p:spPr>
          <a:xfrm>
            <a:off x="777240" y="2578680"/>
            <a:ext cx="3044520" cy="1051200"/>
          </a:xfrm>
          <a:prstGeom prst="rect">
            <a:avLst/>
          </a:prstGeom>
          <a:noFill/>
          <a:ln w="0">
            <a:noFill/>
          </a:ln>
        </p:spPr>
        <p:style>
          <a:lnRef idx="0"/>
          <a:fillRef idx="0"/>
          <a:effectRef idx="0"/>
          <a:fontRef idx="minor"/>
        </p:style>
        <p:txBody>
          <a:bodyPr lIns="0" tIns="0" rIns="0" bIns="0" anchor="ctr">
            <a:noAutofit/>
          </a:bodyPr>
          <a:p>
            <a:pPr defTabSz="914400">
              <a:lnSpc>
                <a:spcPct val="105000"/>
              </a:lnSpc>
              <a:tabLst>
                <a:tab pos="0" algn="l"/>
              </a:tabLst>
            </a:pPr>
            <a:r>
              <a:rPr lang="en-US" sz="1250" b="0" u="none" strike="noStrike">
                <a:solidFill>
                  <a:srgbClr val="1E2A35"/>
                </a:solidFill>
                <a:effectLst/>
                <a:uFillTx/>
                <a:latin typeface="Calibri"/>
                <a:ea typeface="Calibri"/>
              </a:rPr>
              <a:t>En agregado, A supera a B; pero dentro de cada subgrupo, B supera a A. La conclusión se voltea.</a:t>
            </a:r>
            <a:endParaRPr lang="en-US" sz="1250" b="0" u="none" strike="noStrike">
              <a:solidFill>
                <a:srgbClr val="000000"/>
              </a:solidFill>
              <a:effectLst/>
              <a:uFillTx/>
              <a:latin typeface="Arial"/>
            </a:endParaRPr>
          </a:p>
        </p:txBody>
      </p:sp>
      <p:sp>
        <p:nvSpPr>
          <p:cNvPr id="314" name="Shape 5"/>
          <p:cNvSpPr/>
          <p:nvPr/>
        </p:nvSpPr>
        <p:spPr>
          <a:xfrm>
            <a:off x="4343400" y="1920240"/>
            <a:ext cx="3501720" cy="1828440"/>
          </a:xfrm>
          <a:prstGeom prst="roundRect">
            <a:avLst>
              <a:gd name="adj" fmla="val 3000"/>
            </a:avLst>
          </a:prstGeom>
          <a:solidFill>
            <a:srgbClr val="EEF2F5"/>
          </a:solidFill>
          <a:ln w="9525">
            <a:solidFill>
              <a:srgbClr val="D5DCE3"/>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315" name="Text 6"/>
          <p:cNvSpPr/>
          <p:nvPr/>
        </p:nvSpPr>
        <p:spPr>
          <a:xfrm>
            <a:off x="4572000" y="2103120"/>
            <a:ext cx="3044520" cy="411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1E2A35"/>
                </a:solidFill>
                <a:effectLst/>
                <a:uFillTx/>
                <a:latin typeface="Calibri"/>
                <a:ea typeface="Calibri"/>
              </a:rPr>
              <a:t>Por qué pasa</a:t>
            </a:r>
            <a:endParaRPr lang="en-US" sz="1500" b="0" u="none" strike="noStrike">
              <a:solidFill>
                <a:srgbClr val="000000"/>
              </a:solidFill>
              <a:effectLst/>
              <a:uFillTx/>
              <a:latin typeface="Arial"/>
            </a:endParaRPr>
          </a:p>
        </p:txBody>
      </p:sp>
      <p:sp>
        <p:nvSpPr>
          <p:cNvPr id="316" name="Text 7"/>
          <p:cNvSpPr/>
          <p:nvPr/>
        </p:nvSpPr>
        <p:spPr>
          <a:xfrm>
            <a:off x="4572000" y="2578680"/>
            <a:ext cx="3044520" cy="1051200"/>
          </a:xfrm>
          <a:prstGeom prst="rect">
            <a:avLst/>
          </a:prstGeom>
          <a:noFill/>
          <a:ln w="0">
            <a:noFill/>
          </a:ln>
        </p:spPr>
        <p:style>
          <a:lnRef idx="0"/>
          <a:fillRef idx="0"/>
          <a:effectRef idx="0"/>
          <a:fontRef idx="minor"/>
        </p:style>
        <p:txBody>
          <a:bodyPr lIns="0" tIns="0" rIns="0" bIns="0" anchor="ctr">
            <a:noAutofit/>
          </a:bodyPr>
          <a:p>
            <a:pPr defTabSz="914400">
              <a:lnSpc>
                <a:spcPct val="105000"/>
              </a:lnSpc>
              <a:tabLst>
                <a:tab pos="0" algn="l"/>
              </a:tabLst>
            </a:pPr>
            <a:r>
              <a:rPr lang="en-US" sz="1250" b="0" u="none" strike="noStrike">
                <a:solidFill>
                  <a:srgbClr val="1E2A35"/>
                </a:solidFill>
                <a:effectLst/>
                <a:uFillTx/>
                <a:latin typeface="Calibri"/>
                <a:ea typeface="Calibri"/>
              </a:rPr>
              <a:t>Un factor confusor está mal repartido entre los grupos: no son comparables tal cual se juntan.</a:t>
            </a:r>
            <a:endParaRPr lang="en-US" sz="1250" b="0" u="none" strike="noStrike">
              <a:solidFill>
                <a:srgbClr val="000000"/>
              </a:solidFill>
              <a:effectLst/>
              <a:uFillTx/>
              <a:latin typeface="Arial"/>
            </a:endParaRPr>
          </a:p>
        </p:txBody>
      </p:sp>
      <p:sp>
        <p:nvSpPr>
          <p:cNvPr id="317" name="Shape 8"/>
          <p:cNvSpPr/>
          <p:nvPr/>
        </p:nvSpPr>
        <p:spPr>
          <a:xfrm>
            <a:off x="8138160" y="1920240"/>
            <a:ext cx="3501720" cy="1828440"/>
          </a:xfrm>
          <a:prstGeom prst="roundRect">
            <a:avLst>
              <a:gd name="adj" fmla="val 3000"/>
            </a:avLst>
          </a:prstGeom>
          <a:solidFill>
            <a:srgbClr val="F9E7E3"/>
          </a:solidFill>
          <a:ln w="9525">
            <a:solidFill>
              <a:srgbClr val="D5DCE3"/>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318" name="Text 9"/>
          <p:cNvSpPr/>
          <p:nvPr/>
        </p:nvSpPr>
        <p:spPr>
          <a:xfrm>
            <a:off x="8366760" y="2103120"/>
            <a:ext cx="3044520" cy="411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A23B22"/>
                </a:solidFill>
                <a:effectLst/>
                <a:uFillTx/>
                <a:latin typeface="Calibri"/>
                <a:ea typeface="Calibri"/>
              </a:rPr>
              <a:t>Dónde muerde</a:t>
            </a:r>
            <a:endParaRPr lang="en-US" sz="1500" b="0" u="none" strike="noStrike">
              <a:solidFill>
                <a:srgbClr val="000000"/>
              </a:solidFill>
              <a:effectLst/>
              <a:uFillTx/>
              <a:latin typeface="Arial"/>
            </a:endParaRPr>
          </a:p>
        </p:txBody>
      </p:sp>
      <p:sp>
        <p:nvSpPr>
          <p:cNvPr id="319" name="Text 10"/>
          <p:cNvSpPr/>
          <p:nvPr/>
        </p:nvSpPr>
        <p:spPr>
          <a:xfrm>
            <a:off x="8366760" y="2578680"/>
            <a:ext cx="3044520" cy="1051200"/>
          </a:xfrm>
          <a:prstGeom prst="rect">
            <a:avLst/>
          </a:prstGeom>
          <a:noFill/>
          <a:ln w="0">
            <a:noFill/>
          </a:ln>
        </p:spPr>
        <p:style>
          <a:lnRef idx="0"/>
          <a:fillRef idx="0"/>
          <a:effectRef idx="0"/>
          <a:fontRef idx="minor"/>
        </p:style>
        <p:txBody>
          <a:bodyPr lIns="0" tIns="0" rIns="0" bIns="0" anchor="ctr">
            <a:noAutofit/>
          </a:bodyPr>
          <a:p>
            <a:pPr defTabSz="914400">
              <a:lnSpc>
                <a:spcPct val="105000"/>
              </a:lnSpc>
              <a:tabLst>
                <a:tab pos="0" algn="l"/>
              </a:tabLst>
            </a:pPr>
            <a:r>
              <a:rPr lang="en-US" sz="1250" b="0" u="none" strike="noStrike">
                <a:solidFill>
                  <a:srgbClr val="1E2A35"/>
                </a:solidFill>
                <a:effectLst/>
                <a:uFillTx/>
                <a:latin typeface="Calibri"/>
                <a:ea typeface="Calibri"/>
              </a:rPr>
              <a:t>En evaluación: los que reciben el programa no son como los que no lo reciben. Comparar crudo engaña.</a:t>
            </a:r>
            <a:endParaRPr lang="en-US" sz="1250" b="0" u="none" strike="noStrike">
              <a:solidFill>
                <a:srgbClr val="000000"/>
              </a:solidFill>
              <a:effectLst/>
              <a:uFillTx/>
              <a:latin typeface="Arial"/>
            </a:endParaRPr>
          </a:p>
        </p:txBody>
      </p:sp>
      <p:sp>
        <p:nvSpPr>
          <p:cNvPr id="320" name="Shape 11"/>
          <p:cNvSpPr/>
          <p:nvPr/>
        </p:nvSpPr>
        <p:spPr>
          <a:xfrm>
            <a:off x="548640" y="4023360"/>
            <a:ext cx="11091240" cy="1371240"/>
          </a:xfrm>
          <a:prstGeom prst="roundRect">
            <a:avLst>
              <a:gd name="adj" fmla="val 4000"/>
            </a:avLst>
          </a:prstGeom>
          <a:solidFill>
            <a:srgbClr val="15293B"/>
          </a:solidFill>
          <a:ln w="9525">
            <a:solidFill>
              <a:srgbClr val="D5DCE3"/>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321" name="Text 12"/>
          <p:cNvSpPr/>
          <p:nvPr/>
        </p:nvSpPr>
        <p:spPr>
          <a:xfrm>
            <a:off x="868680" y="4187880"/>
            <a:ext cx="1045116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E58A5B"/>
                </a:solidFill>
                <a:effectLst/>
                <a:uFillTx/>
                <a:latin typeface="Calibri"/>
                <a:ea typeface="Calibri"/>
              </a:rPr>
              <a:t>Por qué le importa a una unidad de evaluación</a:t>
            </a:r>
            <a:endParaRPr lang="en-US" sz="1500" b="0" u="none" strike="noStrike">
              <a:solidFill>
                <a:srgbClr val="000000"/>
              </a:solidFill>
              <a:effectLst/>
              <a:uFillTx/>
              <a:latin typeface="Arial"/>
            </a:endParaRPr>
          </a:p>
        </p:txBody>
      </p:sp>
      <p:sp>
        <p:nvSpPr>
          <p:cNvPr id="322" name="Text 13"/>
          <p:cNvSpPr/>
          <p:nvPr/>
        </p:nvSpPr>
        <p:spPr>
          <a:xfrm>
            <a:off x="868680" y="4572000"/>
            <a:ext cx="10451160" cy="776880"/>
          </a:xfrm>
          <a:prstGeom prst="rect">
            <a:avLst/>
          </a:prstGeom>
          <a:noFill/>
          <a:ln w="0">
            <a:noFill/>
          </a:ln>
        </p:spPr>
        <p:style>
          <a:lnRef idx="0"/>
          <a:fillRef idx="0"/>
          <a:effectRef idx="0"/>
          <a:fontRef idx="minor"/>
        </p:style>
        <p:txBody>
          <a:bodyPr lIns="0" tIns="0" rIns="0" bIns="0" anchor="ctr">
            <a:noAutofit/>
          </a:bodyPr>
          <a:p>
            <a:pPr defTabSz="914400">
              <a:lnSpc>
                <a:spcPct val="105000"/>
              </a:lnSpc>
              <a:tabLst>
                <a:tab pos="0" algn="l"/>
              </a:tabLst>
            </a:pPr>
            <a:r>
              <a:rPr lang="en-US" sz="1300" b="0" u="none" strike="noStrike">
                <a:solidFill>
                  <a:srgbClr val="E4EAF0"/>
                </a:solidFill>
                <a:effectLst/>
                <a:uFillTx/>
                <a:latin typeface="Calibri"/>
                <a:ea typeface="Calibri"/>
              </a:rPr>
              <a:t>Un programa suele dirigirse a quien más lo necesita, que arranca de una base más baja. Si comparas tratados contra no tratados sin condicionar por esa base, el programa puede parecer inútil o dañino cuando en realidad ayuda. La IA reporta el agregado; el que pregunta por el confusor es el analista.</a:t>
            </a:r>
            <a:endParaRPr lang="en-US" sz="1300" b="0" u="none" strike="noStrike">
              <a:solidFill>
                <a:srgbClr val="000000"/>
              </a:solidFill>
              <a:effectLst/>
              <a:uFillTx/>
              <a:latin typeface="Arial"/>
            </a:endParaRPr>
          </a:p>
        </p:txBody>
      </p:sp>
      <p:sp>
        <p:nvSpPr>
          <p:cNvPr id="323" name="Shape 14"/>
          <p:cNvSpPr/>
          <p:nvPr/>
        </p:nvSpPr>
        <p:spPr>
          <a:xfrm>
            <a:off x="548640" y="6053400"/>
            <a:ext cx="11091240" cy="603000"/>
          </a:xfrm>
          <a:prstGeom prst="rect">
            <a:avLst/>
          </a:prstGeom>
          <a:solidFill>
            <a:srgbClr val="FBEEE5"/>
          </a:solidFill>
          <a:ln w="0">
            <a:noFill/>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324" name="Shape 15"/>
          <p:cNvSpPr/>
          <p:nvPr/>
        </p:nvSpPr>
        <p:spPr>
          <a:xfrm>
            <a:off x="749880" y="6272640"/>
            <a:ext cx="164160" cy="164160"/>
          </a:xfrm>
          <a:prstGeom prst="roundRect">
            <a:avLst>
              <a:gd name="adj" fmla="val 22222"/>
            </a:avLst>
          </a:prstGeom>
          <a:solidFill>
            <a:srgbClr val="CB5E2E"/>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325" name="Text 16"/>
          <p:cNvSpPr/>
          <p:nvPr/>
        </p:nvSpPr>
        <p:spPr>
          <a:xfrm>
            <a:off x="1051560" y="6053400"/>
            <a:ext cx="10405440" cy="6030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0" u="none" strike="noStrike">
                <a:solidFill>
                  <a:srgbClr val="8C3E19"/>
                </a:solidFill>
                <a:effectLst/>
                <a:uFillTx/>
                <a:latin typeface="Calibri"/>
                <a:ea typeface="Calibri"/>
              </a:rPr>
              <a:t>Un modelo de chat te da el número agregado con confianza. No sabe qué confusor falta; esa pregunta es del que conoce el programa.</a:t>
            </a:r>
            <a:endParaRPr lang="en-US" sz="12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26" name="Text 0"/>
          <p:cNvSpPr/>
          <p:nvPr/>
        </p:nvSpPr>
        <p:spPr>
          <a:xfrm>
            <a:off x="548640" y="384120"/>
            <a:ext cx="11091240" cy="639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900" b="1" u="none" strike="noStrike">
                <a:solidFill>
                  <a:srgbClr val="1E2A35"/>
                </a:solidFill>
                <a:effectLst/>
                <a:uFillTx/>
                <a:latin typeface="Calibri"/>
                <a:ea typeface="Calibri"/>
              </a:rPr>
              <a:t>El programa «baja» el score, hasta que miras por estrato</a:t>
            </a:r>
            <a:endParaRPr lang="en-US" sz="2900" b="0" u="none" strike="noStrike">
              <a:solidFill>
                <a:srgbClr val="000000"/>
              </a:solidFill>
              <a:effectLst/>
              <a:uFillTx/>
              <a:latin typeface="Arial"/>
            </a:endParaRPr>
          </a:p>
        </p:txBody>
      </p:sp>
      <p:sp>
        <p:nvSpPr>
          <p:cNvPr id="327" name="Text 1"/>
          <p:cNvSpPr/>
          <p:nvPr/>
        </p:nvSpPr>
        <p:spPr>
          <a:xfrm>
            <a:off x="548640" y="1042560"/>
            <a:ext cx="11091240" cy="5666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0" u="none" strike="noStrike">
                <a:solidFill>
                  <a:srgbClr val="60707E"/>
                </a:solidFill>
                <a:effectLst/>
                <a:uFillTx/>
                <a:latin typeface="Calibri"/>
                <a:ea typeface="Calibri"/>
              </a:rPr>
              <a:t>El demo en vivo. Aquí no es hipótesis: un asistente actual, pedido en código, concluye que el programa daña, y el signo se invierte al condicionar por estrato.</a:t>
            </a:r>
            <a:endParaRPr lang="en-US" sz="1400" b="0" u="none" strike="noStrike">
              <a:solidFill>
                <a:srgbClr val="000000"/>
              </a:solidFill>
              <a:effectLst/>
              <a:uFillTx/>
              <a:latin typeface="Arial"/>
            </a:endParaRPr>
          </a:p>
        </p:txBody>
      </p:sp>
      <p:sp>
        <p:nvSpPr>
          <p:cNvPr id="328" name="Shape 2"/>
          <p:cNvSpPr/>
          <p:nvPr/>
        </p:nvSpPr>
        <p:spPr>
          <a:xfrm>
            <a:off x="548640" y="1783080"/>
            <a:ext cx="5394600" cy="1234080"/>
          </a:xfrm>
          <a:prstGeom prst="roundRect">
            <a:avLst>
              <a:gd name="adj" fmla="val 4444"/>
            </a:avLst>
          </a:prstGeom>
          <a:solidFill>
            <a:srgbClr val="F9E7E3"/>
          </a:solidFill>
          <a:ln w="9525">
            <a:solidFill>
              <a:srgbClr val="D5DCE3"/>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329" name="Text 3"/>
          <p:cNvSpPr/>
          <p:nvPr/>
        </p:nvSpPr>
        <p:spPr>
          <a:xfrm>
            <a:off x="822960" y="1929240"/>
            <a:ext cx="484596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50" b="1" u="none" spc="99" strike="noStrike">
                <a:solidFill>
                  <a:srgbClr val="A23B22"/>
                </a:solidFill>
                <a:effectLst/>
                <a:uFillTx/>
                <a:latin typeface="Calibri"/>
                <a:ea typeface="Calibri"/>
              </a:rPr>
              <a:t>LO QUE REPORTA LA IA (AGREGADO)</a:t>
            </a:r>
            <a:endParaRPr lang="en-US" sz="1150" b="0" u="none" strike="noStrike">
              <a:solidFill>
                <a:srgbClr val="000000"/>
              </a:solidFill>
              <a:effectLst/>
              <a:uFillTx/>
              <a:latin typeface="Arial"/>
            </a:endParaRPr>
          </a:p>
        </p:txBody>
      </p:sp>
      <p:sp>
        <p:nvSpPr>
          <p:cNvPr id="330" name="Text 4"/>
          <p:cNvSpPr/>
          <p:nvPr/>
        </p:nvSpPr>
        <p:spPr>
          <a:xfrm>
            <a:off x="822960" y="2240280"/>
            <a:ext cx="484596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0" u="none" strike="noStrike">
                <a:solidFill>
                  <a:srgbClr val="1E2A35"/>
                </a:solidFill>
                <a:effectLst/>
                <a:uFillTx/>
                <a:latin typeface="Cambria"/>
                <a:ea typeface="Cambria"/>
              </a:rPr>
              <a:t>Sin programa 63.9   </a:t>
            </a:r>
            <a:r>
              <a:rPr lang="en-US" sz="1500" b="1" u="none" strike="noStrike">
                <a:solidFill>
                  <a:srgbClr val="A23B22"/>
                </a:solidFill>
                <a:effectLst/>
                <a:uFillTx/>
                <a:latin typeface="Cambria"/>
                <a:ea typeface="Cambria"/>
              </a:rPr>
              <a:t>vs   Con programa 59.5</a:t>
            </a:r>
            <a:endParaRPr lang="en-US" sz="1500" b="0" u="none" strike="noStrike">
              <a:solidFill>
                <a:srgbClr val="000000"/>
              </a:solidFill>
              <a:effectLst/>
              <a:uFillTx/>
              <a:latin typeface="Arial"/>
            </a:endParaRPr>
          </a:p>
        </p:txBody>
      </p:sp>
      <p:sp>
        <p:nvSpPr>
          <p:cNvPr id="331" name="Text 5"/>
          <p:cNvSpPr/>
          <p:nvPr/>
        </p:nvSpPr>
        <p:spPr>
          <a:xfrm>
            <a:off x="822960" y="2624400"/>
            <a:ext cx="484596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0" i="1" u="none" strike="noStrike">
                <a:solidFill>
                  <a:srgbClr val="60707E"/>
                </a:solidFill>
                <a:effectLst/>
                <a:uFillTx/>
                <a:latin typeface="Calibri"/>
                <a:ea typeface="Calibri"/>
              </a:rPr>
              <a:t>el programa parece bajar el score 4 puntos</a:t>
            </a:r>
            <a:endParaRPr lang="en-US" sz="1200" b="0" u="none" strike="noStrike">
              <a:solidFill>
                <a:srgbClr val="000000"/>
              </a:solidFill>
              <a:effectLst/>
              <a:uFillTx/>
              <a:latin typeface="Arial"/>
            </a:endParaRPr>
          </a:p>
        </p:txBody>
      </p:sp>
      <p:sp>
        <p:nvSpPr>
          <p:cNvPr id="332" name="Shape 6"/>
          <p:cNvSpPr/>
          <p:nvPr/>
        </p:nvSpPr>
        <p:spPr>
          <a:xfrm>
            <a:off x="6245280" y="1783080"/>
            <a:ext cx="2102760" cy="402120"/>
          </a:xfrm>
          <a:prstGeom prst="rect">
            <a:avLst/>
          </a:prstGeom>
          <a:solidFill>
            <a:srgbClr val="15293B"/>
          </a:solidFill>
          <a:ln w="6350">
            <a:solidFill>
              <a:srgbClr val="FFFFFF"/>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333" name="Text 7"/>
          <p:cNvSpPr/>
          <p:nvPr/>
        </p:nvSpPr>
        <p:spPr>
          <a:xfrm>
            <a:off x="6245280" y="1783080"/>
            <a:ext cx="2102760" cy="402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1" u="none" strike="noStrike">
                <a:solidFill>
                  <a:srgbClr val="FFFFFF"/>
                </a:solidFill>
                <a:effectLst/>
                <a:uFillTx/>
                <a:latin typeface="Calibri"/>
                <a:ea typeface="Calibri"/>
              </a:rPr>
              <a:t>Estrato</a:t>
            </a:r>
            <a:endParaRPr lang="en-US" sz="1200" b="0" u="none" strike="noStrike">
              <a:solidFill>
                <a:srgbClr val="000000"/>
              </a:solidFill>
              <a:effectLst/>
              <a:uFillTx/>
              <a:latin typeface="Arial"/>
            </a:endParaRPr>
          </a:p>
        </p:txBody>
      </p:sp>
      <p:sp>
        <p:nvSpPr>
          <p:cNvPr id="334" name="Shape 8"/>
          <p:cNvSpPr/>
          <p:nvPr/>
        </p:nvSpPr>
        <p:spPr>
          <a:xfrm>
            <a:off x="8348400" y="1783080"/>
            <a:ext cx="1599840" cy="402120"/>
          </a:xfrm>
          <a:prstGeom prst="rect">
            <a:avLst/>
          </a:prstGeom>
          <a:solidFill>
            <a:srgbClr val="15293B"/>
          </a:solidFill>
          <a:ln w="6350">
            <a:solidFill>
              <a:srgbClr val="FFFFFF"/>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335" name="Text 9"/>
          <p:cNvSpPr/>
          <p:nvPr/>
        </p:nvSpPr>
        <p:spPr>
          <a:xfrm>
            <a:off x="8348400" y="1783080"/>
            <a:ext cx="1599840" cy="402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1" u="none" strike="noStrike">
                <a:solidFill>
                  <a:srgbClr val="FFFFFF"/>
                </a:solidFill>
                <a:effectLst/>
                <a:uFillTx/>
                <a:latin typeface="Calibri"/>
                <a:ea typeface="Calibri"/>
              </a:rPr>
              <a:t>Sin programa</a:t>
            </a:r>
            <a:endParaRPr lang="en-US" sz="1200" b="0" u="none" strike="noStrike">
              <a:solidFill>
                <a:srgbClr val="000000"/>
              </a:solidFill>
              <a:effectLst/>
              <a:uFillTx/>
              <a:latin typeface="Arial"/>
            </a:endParaRPr>
          </a:p>
        </p:txBody>
      </p:sp>
      <p:sp>
        <p:nvSpPr>
          <p:cNvPr id="336" name="Shape 10"/>
          <p:cNvSpPr/>
          <p:nvPr/>
        </p:nvSpPr>
        <p:spPr>
          <a:xfrm>
            <a:off x="9948600" y="1783080"/>
            <a:ext cx="1691280" cy="402120"/>
          </a:xfrm>
          <a:prstGeom prst="rect">
            <a:avLst/>
          </a:prstGeom>
          <a:solidFill>
            <a:srgbClr val="15293B"/>
          </a:solidFill>
          <a:ln w="6350">
            <a:solidFill>
              <a:srgbClr val="FFFFFF"/>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337" name="Text 11"/>
          <p:cNvSpPr/>
          <p:nvPr/>
        </p:nvSpPr>
        <p:spPr>
          <a:xfrm>
            <a:off x="9948600" y="1783080"/>
            <a:ext cx="1691280" cy="402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1" u="none" strike="noStrike">
                <a:solidFill>
                  <a:srgbClr val="FFFFFF"/>
                </a:solidFill>
                <a:effectLst/>
                <a:uFillTx/>
                <a:latin typeface="Calibri"/>
                <a:ea typeface="Calibri"/>
              </a:rPr>
              <a:t>Con programa</a:t>
            </a:r>
            <a:endParaRPr lang="en-US" sz="1200" b="0" u="none" strike="noStrike">
              <a:solidFill>
                <a:srgbClr val="000000"/>
              </a:solidFill>
              <a:effectLst/>
              <a:uFillTx/>
              <a:latin typeface="Arial"/>
            </a:endParaRPr>
          </a:p>
        </p:txBody>
      </p:sp>
      <p:sp>
        <p:nvSpPr>
          <p:cNvPr id="338" name="Shape 12"/>
          <p:cNvSpPr/>
          <p:nvPr/>
        </p:nvSpPr>
        <p:spPr>
          <a:xfrm>
            <a:off x="6245280" y="2185560"/>
            <a:ext cx="2102760" cy="402120"/>
          </a:xfrm>
          <a:prstGeom prst="rect">
            <a:avLst/>
          </a:prstGeom>
          <a:solidFill>
            <a:srgbClr val="EEF2F5"/>
          </a:solidFill>
          <a:ln w="6350">
            <a:solidFill>
              <a:srgbClr val="D5DCE3"/>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339" name="Text 13"/>
          <p:cNvSpPr/>
          <p:nvPr/>
        </p:nvSpPr>
        <p:spPr>
          <a:xfrm>
            <a:off x="6291000" y="2185560"/>
            <a:ext cx="2011320" cy="402120"/>
          </a:xfrm>
          <a:prstGeom prst="rect">
            <a:avLst/>
          </a:prstGeom>
          <a:noFill/>
          <a:ln w="0">
            <a:noFill/>
          </a:ln>
        </p:spPr>
        <p:style>
          <a:lnRef idx="0"/>
          <a:fillRef idx="0"/>
          <a:effectRef idx="0"/>
          <a:fontRef idx="minor"/>
        </p:style>
        <p:txBody>
          <a:bodyPr lIns="76320" tIns="76320" rIns="76320" bIns="76320" anchor="ctr">
            <a:noAutofit/>
          </a:bodyPr>
          <a:p>
            <a:pPr defTabSz="914400">
              <a:lnSpc>
                <a:spcPct val="100000"/>
              </a:lnSpc>
              <a:tabLst>
                <a:tab pos="0" algn="l"/>
              </a:tabLst>
            </a:pPr>
            <a:r>
              <a:rPr lang="en-US" sz="1250" b="0" u="none" strike="noStrike">
                <a:solidFill>
                  <a:srgbClr val="1E2A35"/>
                </a:solidFill>
                <a:effectLst/>
                <a:uFillTx/>
                <a:latin typeface="Calibri"/>
                <a:ea typeface="Calibri"/>
              </a:rPr>
              <a:t>Alta</a:t>
            </a:r>
            <a:endParaRPr lang="en-US" sz="1250" b="0" u="none" strike="noStrike">
              <a:solidFill>
                <a:srgbClr val="000000"/>
              </a:solidFill>
              <a:effectLst/>
              <a:uFillTx/>
              <a:latin typeface="Arial"/>
            </a:endParaRPr>
          </a:p>
        </p:txBody>
      </p:sp>
      <p:sp>
        <p:nvSpPr>
          <p:cNvPr id="340" name="Shape 14"/>
          <p:cNvSpPr/>
          <p:nvPr/>
        </p:nvSpPr>
        <p:spPr>
          <a:xfrm>
            <a:off x="8348400" y="2185560"/>
            <a:ext cx="1599840" cy="402120"/>
          </a:xfrm>
          <a:prstGeom prst="rect">
            <a:avLst/>
          </a:prstGeom>
          <a:solidFill>
            <a:srgbClr val="EEF2F5"/>
          </a:solidFill>
          <a:ln w="6350">
            <a:solidFill>
              <a:srgbClr val="D5DCE3"/>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341" name="Text 15"/>
          <p:cNvSpPr/>
          <p:nvPr/>
        </p:nvSpPr>
        <p:spPr>
          <a:xfrm>
            <a:off x="8394120" y="2185560"/>
            <a:ext cx="1508400" cy="402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50" b="0" u="none" strike="noStrike">
                <a:solidFill>
                  <a:srgbClr val="1E2A35"/>
                </a:solidFill>
                <a:effectLst/>
                <a:uFillTx/>
                <a:latin typeface="Cambria"/>
                <a:ea typeface="Cambria"/>
              </a:rPr>
              <a:t>42.2</a:t>
            </a:r>
            <a:endParaRPr lang="en-US" sz="1250" b="0" u="none" strike="noStrike">
              <a:solidFill>
                <a:srgbClr val="000000"/>
              </a:solidFill>
              <a:effectLst/>
              <a:uFillTx/>
              <a:latin typeface="Arial"/>
            </a:endParaRPr>
          </a:p>
        </p:txBody>
      </p:sp>
      <p:sp>
        <p:nvSpPr>
          <p:cNvPr id="342" name="Shape 16"/>
          <p:cNvSpPr/>
          <p:nvPr/>
        </p:nvSpPr>
        <p:spPr>
          <a:xfrm>
            <a:off x="9948600" y="2185560"/>
            <a:ext cx="1691280" cy="402120"/>
          </a:xfrm>
          <a:prstGeom prst="rect">
            <a:avLst/>
          </a:prstGeom>
          <a:solidFill>
            <a:srgbClr val="EEF2F5"/>
          </a:solidFill>
          <a:ln w="6350">
            <a:solidFill>
              <a:srgbClr val="D5DCE3"/>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343" name="Text 17"/>
          <p:cNvSpPr/>
          <p:nvPr/>
        </p:nvSpPr>
        <p:spPr>
          <a:xfrm>
            <a:off x="9994320" y="2185560"/>
            <a:ext cx="1599840" cy="402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50" b="0" u="none" strike="noStrike">
                <a:solidFill>
                  <a:srgbClr val="1E2A35"/>
                </a:solidFill>
                <a:effectLst/>
                <a:uFillTx/>
                <a:latin typeface="Cambria"/>
                <a:ea typeface="Cambria"/>
              </a:rPr>
              <a:t>53.2</a:t>
            </a:r>
            <a:endParaRPr lang="en-US" sz="1250" b="0" u="none" strike="noStrike">
              <a:solidFill>
                <a:srgbClr val="000000"/>
              </a:solidFill>
              <a:effectLst/>
              <a:uFillTx/>
              <a:latin typeface="Arial"/>
            </a:endParaRPr>
          </a:p>
        </p:txBody>
      </p:sp>
      <p:sp>
        <p:nvSpPr>
          <p:cNvPr id="344" name="Shape 18"/>
          <p:cNvSpPr/>
          <p:nvPr/>
        </p:nvSpPr>
        <p:spPr>
          <a:xfrm>
            <a:off x="6245280" y="2587680"/>
            <a:ext cx="2102760" cy="402120"/>
          </a:xfrm>
          <a:prstGeom prst="rect">
            <a:avLst/>
          </a:prstGeom>
          <a:solidFill>
            <a:srgbClr val="FFFFFF"/>
          </a:solidFill>
          <a:ln w="6350">
            <a:solidFill>
              <a:srgbClr val="D5DCE3"/>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345" name="Text 19"/>
          <p:cNvSpPr/>
          <p:nvPr/>
        </p:nvSpPr>
        <p:spPr>
          <a:xfrm>
            <a:off x="6291000" y="2587680"/>
            <a:ext cx="2011320" cy="402120"/>
          </a:xfrm>
          <a:prstGeom prst="rect">
            <a:avLst/>
          </a:prstGeom>
          <a:noFill/>
          <a:ln w="0">
            <a:noFill/>
          </a:ln>
        </p:spPr>
        <p:style>
          <a:lnRef idx="0"/>
          <a:fillRef idx="0"/>
          <a:effectRef idx="0"/>
          <a:fontRef idx="minor"/>
        </p:style>
        <p:txBody>
          <a:bodyPr lIns="76320" tIns="76320" rIns="76320" bIns="76320" anchor="ctr">
            <a:noAutofit/>
          </a:bodyPr>
          <a:p>
            <a:pPr defTabSz="914400">
              <a:lnSpc>
                <a:spcPct val="100000"/>
              </a:lnSpc>
              <a:tabLst>
                <a:tab pos="0" algn="l"/>
              </a:tabLst>
            </a:pPr>
            <a:r>
              <a:rPr lang="en-US" sz="1250" b="0" u="none" strike="noStrike">
                <a:solidFill>
                  <a:srgbClr val="1E2A35"/>
                </a:solidFill>
                <a:effectLst/>
                <a:uFillTx/>
                <a:latin typeface="Calibri"/>
                <a:ea typeface="Calibri"/>
              </a:rPr>
              <a:t>Media</a:t>
            </a:r>
            <a:endParaRPr lang="en-US" sz="1250" b="0" u="none" strike="noStrike">
              <a:solidFill>
                <a:srgbClr val="000000"/>
              </a:solidFill>
              <a:effectLst/>
              <a:uFillTx/>
              <a:latin typeface="Arial"/>
            </a:endParaRPr>
          </a:p>
        </p:txBody>
      </p:sp>
      <p:sp>
        <p:nvSpPr>
          <p:cNvPr id="346" name="Shape 20"/>
          <p:cNvSpPr/>
          <p:nvPr/>
        </p:nvSpPr>
        <p:spPr>
          <a:xfrm>
            <a:off x="8348400" y="2587680"/>
            <a:ext cx="1599840" cy="402120"/>
          </a:xfrm>
          <a:prstGeom prst="rect">
            <a:avLst/>
          </a:prstGeom>
          <a:solidFill>
            <a:srgbClr val="FFFFFF"/>
          </a:solidFill>
          <a:ln w="6350">
            <a:solidFill>
              <a:srgbClr val="D5DCE3"/>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347" name="Text 21"/>
          <p:cNvSpPr/>
          <p:nvPr/>
        </p:nvSpPr>
        <p:spPr>
          <a:xfrm>
            <a:off x="8394120" y="2587680"/>
            <a:ext cx="1508400" cy="402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50" b="0" u="none" strike="noStrike">
                <a:solidFill>
                  <a:srgbClr val="1E2A35"/>
                </a:solidFill>
                <a:effectLst/>
                <a:uFillTx/>
                <a:latin typeface="Cambria"/>
                <a:ea typeface="Cambria"/>
              </a:rPr>
              <a:t>58.5</a:t>
            </a:r>
            <a:endParaRPr lang="en-US" sz="1250" b="0" u="none" strike="noStrike">
              <a:solidFill>
                <a:srgbClr val="000000"/>
              </a:solidFill>
              <a:effectLst/>
              <a:uFillTx/>
              <a:latin typeface="Arial"/>
            </a:endParaRPr>
          </a:p>
        </p:txBody>
      </p:sp>
      <p:sp>
        <p:nvSpPr>
          <p:cNvPr id="348" name="Shape 22"/>
          <p:cNvSpPr/>
          <p:nvPr/>
        </p:nvSpPr>
        <p:spPr>
          <a:xfrm>
            <a:off x="9948600" y="2587680"/>
            <a:ext cx="1691280" cy="402120"/>
          </a:xfrm>
          <a:prstGeom prst="rect">
            <a:avLst/>
          </a:prstGeom>
          <a:solidFill>
            <a:srgbClr val="FFFFFF"/>
          </a:solidFill>
          <a:ln w="6350">
            <a:solidFill>
              <a:srgbClr val="D5DCE3"/>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349" name="Text 23"/>
          <p:cNvSpPr/>
          <p:nvPr/>
        </p:nvSpPr>
        <p:spPr>
          <a:xfrm>
            <a:off x="9994320" y="2587680"/>
            <a:ext cx="1599840" cy="402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50" b="0" u="none" strike="noStrike">
                <a:solidFill>
                  <a:srgbClr val="1E2A35"/>
                </a:solidFill>
                <a:effectLst/>
                <a:uFillTx/>
                <a:latin typeface="Cambria"/>
                <a:ea typeface="Cambria"/>
              </a:rPr>
              <a:t>69.5</a:t>
            </a:r>
            <a:endParaRPr lang="en-US" sz="1250" b="0" u="none" strike="noStrike">
              <a:solidFill>
                <a:srgbClr val="000000"/>
              </a:solidFill>
              <a:effectLst/>
              <a:uFillTx/>
              <a:latin typeface="Arial"/>
            </a:endParaRPr>
          </a:p>
        </p:txBody>
      </p:sp>
      <p:sp>
        <p:nvSpPr>
          <p:cNvPr id="350" name="Shape 24"/>
          <p:cNvSpPr/>
          <p:nvPr/>
        </p:nvSpPr>
        <p:spPr>
          <a:xfrm>
            <a:off x="6245280" y="2990160"/>
            <a:ext cx="2102760" cy="402120"/>
          </a:xfrm>
          <a:prstGeom prst="rect">
            <a:avLst/>
          </a:prstGeom>
          <a:solidFill>
            <a:srgbClr val="EEF2F5"/>
          </a:solidFill>
          <a:ln w="6350">
            <a:solidFill>
              <a:srgbClr val="D5DCE3"/>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351" name="Text 25"/>
          <p:cNvSpPr/>
          <p:nvPr/>
        </p:nvSpPr>
        <p:spPr>
          <a:xfrm>
            <a:off x="6291000" y="2990160"/>
            <a:ext cx="2011320" cy="402120"/>
          </a:xfrm>
          <a:prstGeom prst="rect">
            <a:avLst/>
          </a:prstGeom>
          <a:noFill/>
          <a:ln w="0">
            <a:noFill/>
          </a:ln>
        </p:spPr>
        <p:style>
          <a:lnRef idx="0"/>
          <a:fillRef idx="0"/>
          <a:effectRef idx="0"/>
          <a:fontRef idx="minor"/>
        </p:style>
        <p:txBody>
          <a:bodyPr lIns="76320" tIns="76320" rIns="76320" bIns="76320" anchor="ctr">
            <a:noAutofit/>
          </a:bodyPr>
          <a:p>
            <a:pPr defTabSz="914400">
              <a:lnSpc>
                <a:spcPct val="100000"/>
              </a:lnSpc>
              <a:tabLst>
                <a:tab pos="0" algn="l"/>
              </a:tabLst>
            </a:pPr>
            <a:r>
              <a:rPr lang="en-US" sz="1250" b="0" u="none" strike="noStrike">
                <a:solidFill>
                  <a:srgbClr val="1E2A35"/>
                </a:solidFill>
                <a:effectLst/>
                <a:uFillTx/>
                <a:latin typeface="Calibri"/>
                <a:ea typeface="Calibri"/>
              </a:rPr>
              <a:t>Baja</a:t>
            </a:r>
            <a:endParaRPr lang="en-US" sz="1250" b="0" u="none" strike="noStrike">
              <a:solidFill>
                <a:srgbClr val="000000"/>
              </a:solidFill>
              <a:effectLst/>
              <a:uFillTx/>
              <a:latin typeface="Arial"/>
            </a:endParaRPr>
          </a:p>
        </p:txBody>
      </p:sp>
      <p:sp>
        <p:nvSpPr>
          <p:cNvPr id="352" name="Shape 26"/>
          <p:cNvSpPr/>
          <p:nvPr/>
        </p:nvSpPr>
        <p:spPr>
          <a:xfrm>
            <a:off x="8348400" y="2990160"/>
            <a:ext cx="1599840" cy="402120"/>
          </a:xfrm>
          <a:prstGeom prst="rect">
            <a:avLst/>
          </a:prstGeom>
          <a:solidFill>
            <a:srgbClr val="EEF2F5"/>
          </a:solidFill>
          <a:ln w="6350">
            <a:solidFill>
              <a:srgbClr val="D5DCE3"/>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353" name="Text 27"/>
          <p:cNvSpPr/>
          <p:nvPr/>
        </p:nvSpPr>
        <p:spPr>
          <a:xfrm>
            <a:off x="8394120" y="2990160"/>
            <a:ext cx="1508400" cy="402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50" b="0" u="none" strike="noStrike">
                <a:solidFill>
                  <a:srgbClr val="1E2A35"/>
                </a:solidFill>
                <a:effectLst/>
                <a:uFillTx/>
                <a:latin typeface="Cambria"/>
                <a:ea typeface="Cambria"/>
              </a:rPr>
              <a:t>76.8</a:t>
            </a:r>
            <a:endParaRPr lang="en-US" sz="1250" b="0" u="none" strike="noStrike">
              <a:solidFill>
                <a:srgbClr val="000000"/>
              </a:solidFill>
              <a:effectLst/>
              <a:uFillTx/>
              <a:latin typeface="Arial"/>
            </a:endParaRPr>
          </a:p>
        </p:txBody>
      </p:sp>
      <p:sp>
        <p:nvSpPr>
          <p:cNvPr id="354" name="Shape 28"/>
          <p:cNvSpPr/>
          <p:nvPr/>
        </p:nvSpPr>
        <p:spPr>
          <a:xfrm>
            <a:off x="9948600" y="2990160"/>
            <a:ext cx="1691280" cy="402120"/>
          </a:xfrm>
          <a:prstGeom prst="rect">
            <a:avLst/>
          </a:prstGeom>
          <a:solidFill>
            <a:srgbClr val="EEF2F5"/>
          </a:solidFill>
          <a:ln w="6350">
            <a:solidFill>
              <a:srgbClr val="D5DCE3"/>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355" name="Text 29"/>
          <p:cNvSpPr/>
          <p:nvPr/>
        </p:nvSpPr>
        <p:spPr>
          <a:xfrm>
            <a:off x="9994320" y="2990160"/>
            <a:ext cx="1599840" cy="402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50" b="0" u="none" strike="noStrike">
                <a:solidFill>
                  <a:srgbClr val="1E2A35"/>
                </a:solidFill>
                <a:effectLst/>
                <a:uFillTx/>
                <a:latin typeface="Cambria"/>
                <a:ea typeface="Cambria"/>
              </a:rPr>
              <a:t>88.4</a:t>
            </a:r>
            <a:endParaRPr lang="en-US" sz="1250" b="0" u="none" strike="noStrike">
              <a:solidFill>
                <a:srgbClr val="000000"/>
              </a:solidFill>
              <a:effectLst/>
              <a:uFillTx/>
              <a:latin typeface="Arial"/>
            </a:endParaRPr>
          </a:p>
        </p:txBody>
      </p:sp>
      <p:sp>
        <p:nvSpPr>
          <p:cNvPr id="356" name="Text 30"/>
          <p:cNvSpPr/>
          <p:nvPr/>
        </p:nvSpPr>
        <p:spPr>
          <a:xfrm>
            <a:off x="6245280" y="3438000"/>
            <a:ext cx="5394600" cy="319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2E6E49"/>
                </a:solidFill>
                <a:effectLst/>
                <a:uFillTx/>
                <a:latin typeface="Calibri"/>
                <a:ea typeface="Calibri"/>
              </a:rPr>
              <a:t>+11 en TODOS los estratos</a:t>
            </a:r>
            <a:endParaRPr lang="en-US" sz="1300" b="0" u="none" strike="noStrike">
              <a:solidFill>
                <a:srgbClr val="000000"/>
              </a:solidFill>
              <a:effectLst/>
              <a:uFillTx/>
              <a:latin typeface="Arial"/>
            </a:endParaRPr>
          </a:p>
        </p:txBody>
      </p:sp>
      <p:sp>
        <p:nvSpPr>
          <p:cNvPr id="357" name="Shape 31"/>
          <p:cNvSpPr/>
          <p:nvPr/>
        </p:nvSpPr>
        <p:spPr>
          <a:xfrm>
            <a:off x="548640" y="3977640"/>
            <a:ext cx="11091240" cy="1737000"/>
          </a:xfrm>
          <a:prstGeom prst="roundRect">
            <a:avLst>
              <a:gd name="adj" fmla="val 3158"/>
            </a:avLst>
          </a:prstGeom>
          <a:solidFill>
            <a:srgbClr val="15293B"/>
          </a:solidFill>
          <a:ln w="9525">
            <a:solidFill>
              <a:srgbClr val="D5DCE3"/>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358" name="Text 32"/>
          <p:cNvSpPr/>
          <p:nvPr/>
        </p:nvSpPr>
        <p:spPr>
          <a:xfrm>
            <a:off x="868680" y="4142160"/>
            <a:ext cx="1045116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E58A5B"/>
                </a:solidFill>
                <a:effectLst/>
                <a:uFillTx/>
                <a:latin typeface="Calibri"/>
                <a:ea typeface="Calibri"/>
              </a:rPr>
              <a:t>Por qué se invierte</a:t>
            </a:r>
            <a:endParaRPr lang="en-US" sz="1500" b="0" u="none" strike="noStrike">
              <a:solidFill>
                <a:srgbClr val="000000"/>
              </a:solidFill>
              <a:effectLst/>
              <a:uFillTx/>
              <a:latin typeface="Arial"/>
            </a:endParaRPr>
          </a:p>
        </p:txBody>
      </p:sp>
      <p:sp>
        <p:nvSpPr>
          <p:cNvPr id="359" name="Text 33"/>
          <p:cNvSpPr/>
          <p:nvPr/>
        </p:nvSpPr>
        <p:spPr>
          <a:xfrm>
            <a:off x="868680" y="4526280"/>
            <a:ext cx="10451160" cy="1096920"/>
          </a:xfrm>
          <a:prstGeom prst="rect">
            <a:avLst/>
          </a:prstGeom>
          <a:noFill/>
          <a:ln w="0">
            <a:noFill/>
          </a:ln>
        </p:spPr>
        <p:style>
          <a:lnRef idx="0"/>
          <a:fillRef idx="0"/>
          <a:effectRef idx="0"/>
          <a:fontRef idx="minor"/>
        </p:style>
        <p:txBody>
          <a:bodyPr lIns="0" tIns="0" rIns="0" bIns="0" anchor="ctr">
            <a:noAutofit/>
          </a:bodyPr>
          <a:p>
            <a:pPr defTabSz="914400">
              <a:lnSpc>
                <a:spcPct val="105000"/>
              </a:lnSpc>
              <a:tabLst>
                <a:tab pos="0" algn="l"/>
              </a:tabLst>
            </a:pPr>
            <a:r>
              <a:rPr lang="en-US" sz="1250" b="1" u="none" strike="noStrike">
                <a:solidFill>
                  <a:srgbClr val="FFFFFF"/>
                </a:solidFill>
                <a:effectLst/>
                <a:uFillTx/>
                <a:latin typeface="Calibri"/>
                <a:ea typeface="Calibri"/>
              </a:rPr>
              <a:t>El programa se concentró en Alta marginación: 165 de 232 tratados están ahí, el estrato de menor base. </a:t>
            </a:r>
            <a:r>
              <a:rPr lang="en-US" sz="1250" b="0" u="none" strike="noStrike">
                <a:solidFill>
                  <a:srgbClr val="E4EAF0"/>
                </a:solidFill>
                <a:effectLst/>
                <a:uFillTx/>
                <a:latin typeface="Calibri"/>
                <a:ea typeface="Calibri"/>
              </a:rPr>
              <a:t>Ese peso arrastra el promedio de los tratados hacia abajo, aunque dentro de cada estrato el programa suma 11 puntos parejos. El agregado mezcla el efecto del programa con la diferencia de base entre estratos.</a:t>
            </a:r>
            <a:endParaRPr lang="en-US" sz="1250" b="0" u="none" strike="noStrike">
              <a:solidFill>
                <a:srgbClr val="000000"/>
              </a:solidFill>
              <a:effectLst/>
              <a:uFillTx/>
              <a:latin typeface="Arial"/>
            </a:endParaRPr>
          </a:p>
        </p:txBody>
      </p:sp>
      <p:sp>
        <p:nvSpPr>
          <p:cNvPr id="360" name="Text 34"/>
          <p:cNvSpPr/>
          <p:nvPr/>
        </p:nvSpPr>
        <p:spPr>
          <a:xfrm>
            <a:off x="548640" y="6419160"/>
            <a:ext cx="1109124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i="1" u="none" strike="noStrike">
                <a:solidFill>
                  <a:srgbClr val="60707E"/>
                </a:solidFill>
                <a:effectLst/>
                <a:uFillTx/>
                <a:latin typeface="Calibri"/>
                <a:ea typeface="Calibri"/>
              </a:rPr>
              <a:t>Salida real de DeepSeek-V3.2 (sept. 2026): usó el diseño muestral correctamente y aun así concluyó «score significativamente menor» (p = 0.004). El efecto real por estrato: +11. Correr no es estar bien.</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61" name="Text 0"/>
          <p:cNvSpPr/>
          <p:nvPr/>
        </p:nvSpPr>
        <p:spPr>
          <a:xfrm>
            <a:off x="548640" y="384120"/>
            <a:ext cx="11091240" cy="639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900" b="1" u="none" strike="noStrike">
                <a:solidFill>
                  <a:srgbClr val="1E2A35"/>
                </a:solidFill>
                <a:effectLst/>
                <a:uFillTx/>
                <a:latin typeface="Calibri"/>
                <a:ea typeface="Calibri"/>
              </a:rPr>
              <a:t>El mismo análisis, tres errores</a:t>
            </a:r>
            <a:endParaRPr lang="en-US" sz="2900" b="0" u="none" strike="noStrike">
              <a:solidFill>
                <a:srgbClr val="000000"/>
              </a:solidFill>
              <a:effectLst/>
              <a:uFillTx/>
              <a:latin typeface="Arial"/>
            </a:endParaRPr>
          </a:p>
        </p:txBody>
      </p:sp>
      <p:sp>
        <p:nvSpPr>
          <p:cNvPr id="362" name="Text 1"/>
          <p:cNvSpPr/>
          <p:nvPr/>
        </p:nvSpPr>
        <p:spPr>
          <a:xfrm>
            <a:off x="548640" y="1042560"/>
            <a:ext cx="11091240" cy="5666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0" u="none" strike="noStrike">
                <a:solidFill>
                  <a:srgbClr val="60707E"/>
                </a:solidFill>
                <a:effectLst/>
                <a:uFillTx/>
                <a:latin typeface="Calibri"/>
                <a:ea typeface="Calibri"/>
              </a:rPr>
              <a:t>El análisis ingenuo, lm(score ~ programa), corre. Y está mal por tres razones a la vez. Un asistente moderno arregla las dos primeras solo; la tercera necesita su contexto.</a:t>
            </a:r>
            <a:endParaRPr lang="en-US" sz="1400" b="0" u="none" strike="noStrike">
              <a:solidFill>
                <a:srgbClr val="000000"/>
              </a:solidFill>
              <a:effectLst/>
              <a:uFillTx/>
              <a:latin typeface="Arial"/>
            </a:endParaRPr>
          </a:p>
        </p:txBody>
      </p:sp>
      <p:sp>
        <p:nvSpPr>
          <p:cNvPr id="363" name="Shape 2"/>
          <p:cNvSpPr/>
          <p:nvPr/>
        </p:nvSpPr>
        <p:spPr>
          <a:xfrm>
            <a:off x="548640" y="1874520"/>
            <a:ext cx="3017160" cy="566640"/>
          </a:xfrm>
          <a:prstGeom prst="rect">
            <a:avLst/>
          </a:prstGeom>
          <a:solidFill>
            <a:srgbClr val="15293B"/>
          </a:solidFill>
          <a:ln w="6350">
            <a:solidFill>
              <a:srgbClr val="FFFFFF"/>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364" name="Text 3"/>
          <p:cNvSpPr/>
          <p:nvPr/>
        </p:nvSpPr>
        <p:spPr>
          <a:xfrm>
            <a:off x="548640" y="1874520"/>
            <a:ext cx="3017160" cy="5666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1" u="none" strike="noStrike">
                <a:solidFill>
                  <a:srgbClr val="FFFFFF"/>
                </a:solidFill>
                <a:effectLst/>
                <a:uFillTx/>
                <a:latin typeface="Calibri"/>
                <a:ea typeface="Calibri"/>
              </a:rPr>
              <a:t>El error</a:t>
            </a:r>
            <a:endParaRPr lang="en-US" sz="1200" b="0" u="none" strike="noStrike">
              <a:solidFill>
                <a:srgbClr val="000000"/>
              </a:solidFill>
              <a:effectLst/>
              <a:uFillTx/>
              <a:latin typeface="Arial"/>
            </a:endParaRPr>
          </a:p>
        </p:txBody>
      </p:sp>
      <p:sp>
        <p:nvSpPr>
          <p:cNvPr id="365" name="Shape 4"/>
          <p:cNvSpPr/>
          <p:nvPr/>
        </p:nvSpPr>
        <p:spPr>
          <a:xfrm>
            <a:off x="3566160" y="1874520"/>
            <a:ext cx="3657240" cy="566640"/>
          </a:xfrm>
          <a:prstGeom prst="rect">
            <a:avLst/>
          </a:prstGeom>
          <a:solidFill>
            <a:srgbClr val="15293B"/>
          </a:solidFill>
          <a:ln w="6350">
            <a:solidFill>
              <a:srgbClr val="FFFFFF"/>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366" name="Text 5"/>
          <p:cNvSpPr/>
          <p:nvPr/>
        </p:nvSpPr>
        <p:spPr>
          <a:xfrm>
            <a:off x="3566160" y="1874520"/>
            <a:ext cx="3657240" cy="5666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1" u="none" strike="noStrike">
                <a:solidFill>
                  <a:srgbClr val="FFFFFF"/>
                </a:solidFill>
                <a:effectLst/>
                <a:uFillTx/>
                <a:latin typeface="Calibri"/>
                <a:ea typeface="Calibri"/>
              </a:rPr>
              <a:t>Lo que da el default</a:t>
            </a:r>
            <a:endParaRPr lang="en-US" sz="1200" b="0" u="none" strike="noStrike">
              <a:solidFill>
                <a:srgbClr val="000000"/>
              </a:solidFill>
              <a:effectLst/>
              <a:uFillTx/>
              <a:latin typeface="Arial"/>
            </a:endParaRPr>
          </a:p>
        </p:txBody>
      </p:sp>
      <p:sp>
        <p:nvSpPr>
          <p:cNvPr id="367" name="Shape 6"/>
          <p:cNvSpPr/>
          <p:nvPr/>
        </p:nvSpPr>
        <p:spPr>
          <a:xfrm>
            <a:off x="7223760" y="1874520"/>
            <a:ext cx="4416120" cy="566640"/>
          </a:xfrm>
          <a:prstGeom prst="rect">
            <a:avLst/>
          </a:prstGeom>
          <a:solidFill>
            <a:srgbClr val="15293B"/>
          </a:solidFill>
          <a:ln w="6350">
            <a:solidFill>
              <a:srgbClr val="FFFFFF"/>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368" name="Text 7"/>
          <p:cNvSpPr/>
          <p:nvPr/>
        </p:nvSpPr>
        <p:spPr>
          <a:xfrm>
            <a:off x="7223760" y="1874520"/>
            <a:ext cx="4416120" cy="5666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1" u="none" strike="noStrike">
                <a:solidFill>
                  <a:srgbClr val="FFFFFF"/>
                </a:solidFill>
                <a:effectLst/>
                <a:uFillTx/>
                <a:latin typeface="Calibri"/>
                <a:ea typeface="Calibri"/>
              </a:rPr>
              <a:t>La corrección</a:t>
            </a:r>
            <a:endParaRPr lang="en-US" sz="1200" b="0" u="none" strike="noStrike">
              <a:solidFill>
                <a:srgbClr val="000000"/>
              </a:solidFill>
              <a:effectLst/>
              <a:uFillTx/>
              <a:latin typeface="Arial"/>
            </a:endParaRPr>
          </a:p>
        </p:txBody>
      </p:sp>
      <p:sp>
        <p:nvSpPr>
          <p:cNvPr id="369" name="Shape 8"/>
          <p:cNvSpPr/>
          <p:nvPr/>
        </p:nvSpPr>
        <p:spPr>
          <a:xfrm>
            <a:off x="548640" y="2441520"/>
            <a:ext cx="3017160" cy="566640"/>
          </a:xfrm>
          <a:prstGeom prst="rect">
            <a:avLst/>
          </a:prstGeom>
          <a:solidFill>
            <a:srgbClr val="EEF2F5"/>
          </a:solidFill>
          <a:ln w="6350">
            <a:solidFill>
              <a:srgbClr val="D5DCE3"/>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370" name="Text 9"/>
          <p:cNvSpPr/>
          <p:nvPr/>
        </p:nvSpPr>
        <p:spPr>
          <a:xfrm>
            <a:off x="594360" y="2441520"/>
            <a:ext cx="2925720" cy="566640"/>
          </a:xfrm>
          <a:prstGeom prst="rect">
            <a:avLst/>
          </a:prstGeom>
          <a:noFill/>
          <a:ln w="0">
            <a:noFill/>
          </a:ln>
        </p:spPr>
        <p:style>
          <a:lnRef idx="0"/>
          <a:fillRef idx="0"/>
          <a:effectRef idx="0"/>
          <a:fontRef idx="minor"/>
        </p:style>
        <p:txBody>
          <a:bodyPr lIns="76320" tIns="76320" rIns="76320" bIns="76320" anchor="ctr">
            <a:noAutofit/>
          </a:bodyPr>
          <a:p>
            <a:pPr defTabSz="914400">
              <a:lnSpc>
                <a:spcPct val="100000"/>
              </a:lnSpc>
              <a:tabLst>
                <a:tab pos="0" algn="l"/>
              </a:tabLst>
            </a:pPr>
            <a:r>
              <a:rPr lang="en-US" sz="1250" b="0" u="none" strike="noStrike">
                <a:solidFill>
                  <a:srgbClr val="1E2A35"/>
                </a:solidFill>
                <a:effectLst/>
                <a:uFillTx/>
                <a:latin typeface="Calibri"/>
                <a:ea typeface="Calibri"/>
              </a:rPr>
              <a:t>Signo (agregación)</a:t>
            </a:r>
            <a:endParaRPr lang="en-US" sz="1250" b="0" u="none" strike="noStrike">
              <a:solidFill>
                <a:srgbClr val="000000"/>
              </a:solidFill>
              <a:effectLst/>
              <a:uFillTx/>
              <a:latin typeface="Arial"/>
            </a:endParaRPr>
          </a:p>
        </p:txBody>
      </p:sp>
      <p:sp>
        <p:nvSpPr>
          <p:cNvPr id="371" name="Shape 10"/>
          <p:cNvSpPr/>
          <p:nvPr/>
        </p:nvSpPr>
        <p:spPr>
          <a:xfrm>
            <a:off x="3566160" y="2441520"/>
            <a:ext cx="3657240" cy="566640"/>
          </a:xfrm>
          <a:prstGeom prst="rect">
            <a:avLst/>
          </a:prstGeom>
          <a:solidFill>
            <a:srgbClr val="EEF2F5"/>
          </a:solidFill>
          <a:ln w="6350">
            <a:solidFill>
              <a:srgbClr val="D5DCE3"/>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372" name="Text 11"/>
          <p:cNvSpPr/>
          <p:nvPr/>
        </p:nvSpPr>
        <p:spPr>
          <a:xfrm>
            <a:off x="3611880" y="2441520"/>
            <a:ext cx="3565800" cy="5666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50" b="0" u="none" strike="noStrike">
                <a:solidFill>
                  <a:srgbClr val="1E2A35"/>
                </a:solidFill>
                <a:effectLst/>
                <a:uFillTx/>
                <a:latin typeface="Cambria"/>
                <a:ea typeface="Cambria"/>
              </a:rPr>
              <a:t>efecto −4.5: el programa daña</a:t>
            </a:r>
            <a:endParaRPr lang="en-US" sz="1250" b="0" u="none" strike="noStrike">
              <a:solidFill>
                <a:srgbClr val="000000"/>
              </a:solidFill>
              <a:effectLst/>
              <a:uFillTx/>
              <a:latin typeface="Arial"/>
            </a:endParaRPr>
          </a:p>
        </p:txBody>
      </p:sp>
      <p:sp>
        <p:nvSpPr>
          <p:cNvPr id="373" name="Shape 12"/>
          <p:cNvSpPr/>
          <p:nvPr/>
        </p:nvSpPr>
        <p:spPr>
          <a:xfrm>
            <a:off x="7223760" y="2441520"/>
            <a:ext cx="4416120" cy="566640"/>
          </a:xfrm>
          <a:prstGeom prst="rect">
            <a:avLst/>
          </a:prstGeom>
          <a:solidFill>
            <a:srgbClr val="EEF2F5"/>
          </a:solidFill>
          <a:ln w="6350">
            <a:solidFill>
              <a:srgbClr val="D5DCE3"/>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374" name="Text 13"/>
          <p:cNvSpPr/>
          <p:nvPr/>
        </p:nvSpPr>
        <p:spPr>
          <a:xfrm>
            <a:off x="7269480" y="2441520"/>
            <a:ext cx="4324680" cy="5666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50" b="0" u="none" strike="noStrike">
                <a:solidFill>
                  <a:srgbClr val="1E2A35"/>
                </a:solidFill>
                <a:effectLst/>
                <a:uFillTx/>
                <a:latin typeface="Cambria"/>
                <a:ea typeface="Cambria"/>
              </a:rPr>
              <a:t>estratificar: +11 por estrato, ayuda</a:t>
            </a:r>
            <a:endParaRPr lang="en-US" sz="1250" b="0" u="none" strike="noStrike">
              <a:solidFill>
                <a:srgbClr val="000000"/>
              </a:solidFill>
              <a:effectLst/>
              <a:uFillTx/>
              <a:latin typeface="Arial"/>
            </a:endParaRPr>
          </a:p>
        </p:txBody>
      </p:sp>
      <p:sp>
        <p:nvSpPr>
          <p:cNvPr id="375" name="Shape 14"/>
          <p:cNvSpPr/>
          <p:nvPr/>
        </p:nvSpPr>
        <p:spPr>
          <a:xfrm>
            <a:off x="548640" y="3008520"/>
            <a:ext cx="3017160" cy="566640"/>
          </a:xfrm>
          <a:prstGeom prst="rect">
            <a:avLst/>
          </a:prstGeom>
          <a:solidFill>
            <a:srgbClr val="FFFFFF"/>
          </a:solidFill>
          <a:ln w="6350">
            <a:solidFill>
              <a:srgbClr val="D5DCE3"/>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376" name="Text 15"/>
          <p:cNvSpPr/>
          <p:nvPr/>
        </p:nvSpPr>
        <p:spPr>
          <a:xfrm>
            <a:off x="594360" y="3008520"/>
            <a:ext cx="2925720" cy="566640"/>
          </a:xfrm>
          <a:prstGeom prst="rect">
            <a:avLst/>
          </a:prstGeom>
          <a:noFill/>
          <a:ln w="0">
            <a:noFill/>
          </a:ln>
        </p:spPr>
        <p:style>
          <a:lnRef idx="0"/>
          <a:fillRef idx="0"/>
          <a:effectRef idx="0"/>
          <a:fontRef idx="minor"/>
        </p:style>
        <p:txBody>
          <a:bodyPr lIns="76320" tIns="76320" rIns="76320" bIns="76320" anchor="ctr">
            <a:noAutofit/>
          </a:bodyPr>
          <a:p>
            <a:pPr defTabSz="914400">
              <a:lnSpc>
                <a:spcPct val="100000"/>
              </a:lnSpc>
              <a:tabLst>
                <a:tab pos="0" algn="l"/>
              </a:tabLst>
            </a:pPr>
            <a:r>
              <a:rPr lang="en-US" sz="1250" b="0" u="none" strike="noStrike">
                <a:solidFill>
                  <a:srgbClr val="1E2A35"/>
                </a:solidFill>
                <a:effectLst/>
                <a:uFillTx/>
                <a:latin typeface="Calibri"/>
                <a:ea typeface="Calibri"/>
              </a:rPr>
              <a:t>Precisión (inferencia)</a:t>
            </a:r>
            <a:endParaRPr lang="en-US" sz="1250" b="0" u="none" strike="noStrike">
              <a:solidFill>
                <a:srgbClr val="000000"/>
              </a:solidFill>
              <a:effectLst/>
              <a:uFillTx/>
              <a:latin typeface="Arial"/>
            </a:endParaRPr>
          </a:p>
        </p:txBody>
      </p:sp>
      <p:sp>
        <p:nvSpPr>
          <p:cNvPr id="377" name="Shape 16"/>
          <p:cNvSpPr/>
          <p:nvPr/>
        </p:nvSpPr>
        <p:spPr>
          <a:xfrm>
            <a:off x="3566160" y="3008520"/>
            <a:ext cx="3657240" cy="566640"/>
          </a:xfrm>
          <a:prstGeom prst="rect">
            <a:avLst/>
          </a:prstGeom>
          <a:solidFill>
            <a:srgbClr val="FFFFFF"/>
          </a:solidFill>
          <a:ln w="6350">
            <a:solidFill>
              <a:srgbClr val="D5DCE3"/>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378" name="Text 17"/>
          <p:cNvSpPr/>
          <p:nvPr/>
        </p:nvSpPr>
        <p:spPr>
          <a:xfrm>
            <a:off x="3611880" y="3008520"/>
            <a:ext cx="3565800" cy="5666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50" b="0" u="none" strike="noStrike">
                <a:solidFill>
                  <a:srgbClr val="1E2A35"/>
                </a:solidFill>
                <a:effectLst/>
                <a:uFillTx/>
                <a:latin typeface="Cambria"/>
                <a:ea typeface="Cambria"/>
              </a:rPr>
              <a:t>EE 1.46, p = 0.002: firme</a:t>
            </a:r>
            <a:endParaRPr lang="en-US" sz="1250" b="0" u="none" strike="noStrike">
              <a:solidFill>
                <a:srgbClr val="000000"/>
              </a:solidFill>
              <a:effectLst/>
              <a:uFillTx/>
              <a:latin typeface="Arial"/>
            </a:endParaRPr>
          </a:p>
        </p:txBody>
      </p:sp>
      <p:sp>
        <p:nvSpPr>
          <p:cNvPr id="379" name="Shape 18"/>
          <p:cNvSpPr/>
          <p:nvPr/>
        </p:nvSpPr>
        <p:spPr>
          <a:xfrm>
            <a:off x="7223760" y="3008520"/>
            <a:ext cx="4416120" cy="566640"/>
          </a:xfrm>
          <a:prstGeom prst="rect">
            <a:avLst/>
          </a:prstGeom>
          <a:solidFill>
            <a:srgbClr val="FFFFFF"/>
          </a:solidFill>
          <a:ln w="6350">
            <a:solidFill>
              <a:srgbClr val="D5DCE3"/>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380" name="Text 19"/>
          <p:cNvSpPr/>
          <p:nvPr/>
        </p:nvSpPr>
        <p:spPr>
          <a:xfrm>
            <a:off x="7269480" y="3008520"/>
            <a:ext cx="4324680" cy="5666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50" b="0" u="none" strike="noStrike">
                <a:solidFill>
                  <a:srgbClr val="1E2A35"/>
                </a:solidFill>
                <a:effectLst/>
                <a:uFillTx/>
                <a:latin typeface="Cambria"/>
                <a:ea typeface="Cambria"/>
              </a:rPr>
              <a:t>conglomerar: EE 2.19, p = 0.049, al filo</a:t>
            </a:r>
            <a:endParaRPr lang="en-US" sz="1250" b="0" u="none" strike="noStrike">
              <a:solidFill>
                <a:srgbClr val="000000"/>
              </a:solidFill>
              <a:effectLst/>
              <a:uFillTx/>
              <a:latin typeface="Arial"/>
            </a:endParaRPr>
          </a:p>
        </p:txBody>
      </p:sp>
      <p:sp>
        <p:nvSpPr>
          <p:cNvPr id="381" name="Shape 20"/>
          <p:cNvSpPr/>
          <p:nvPr/>
        </p:nvSpPr>
        <p:spPr>
          <a:xfrm>
            <a:off x="548640" y="3575160"/>
            <a:ext cx="3017160" cy="566640"/>
          </a:xfrm>
          <a:prstGeom prst="rect">
            <a:avLst/>
          </a:prstGeom>
          <a:solidFill>
            <a:srgbClr val="EEF2F5"/>
          </a:solidFill>
          <a:ln w="6350">
            <a:solidFill>
              <a:srgbClr val="D5DCE3"/>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382" name="Text 21"/>
          <p:cNvSpPr/>
          <p:nvPr/>
        </p:nvSpPr>
        <p:spPr>
          <a:xfrm>
            <a:off x="594360" y="3575160"/>
            <a:ext cx="2925720" cy="566640"/>
          </a:xfrm>
          <a:prstGeom prst="rect">
            <a:avLst/>
          </a:prstGeom>
          <a:noFill/>
          <a:ln w="0">
            <a:noFill/>
          </a:ln>
        </p:spPr>
        <p:style>
          <a:lnRef idx="0"/>
          <a:fillRef idx="0"/>
          <a:effectRef idx="0"/>
          <a:fontRef idx="minor"/>
        </p:style>
        <p:txBody>
          <a:bodyPr lIns="76320" tIns="76320" rIns="76320" bIns="76320" anchor="ctr">
            <a:noAutofit/>
          </a:bodyPr>
          <a:p>
            <a:pPr defTabSz="914400">
              <a:lnSpc>
                <a:spcPct val="100000"/>
              </a:lnSpc>
              <a:tabLst>
                <a:tab pos="0" algn="l"/>
              </a:tabLst>
            </a:pPr>
            <a:r>
              <a:rPr lang="en-US" sz="1250" b="0" u="none" strike="noStrike">
                <a:solidFill>
                  <a:srgbClr val="1E2A35"/>
                </a:solidFill>
                <a:effectLst/>
                <a:uFillTx/>
                <a:latin typeface="Calibri"/>
                <a:ea typeface="Calibri"/>
              </a:rPr>
              <a:t>Escala (diseño)</a:t>
            </a:r>
            <a:endParaRPr lang="en-US" sz="1250" b="0" u="none" strike="noStrike">
              <a:solidFill>
                <a:srgbClr val="000000"/>
              </a:solidFill>
              <a:effectLst/>
              <a:uFillTx/>
              <a:latin typeface="Arial"/>
            </a:endParaRPr>
          </a:p>
        </p:txBody>
      </p:sp>
      <p:sp>
        <p:nvSpPr>
          <p:cNvPr id="383" name="Shape 22"/>
          <p:cNvSpPr/>
          <p:nvPr/>
        </p:nvSpPr>
        <p:spPr>
          <a:xfrm>
            <a:off x="3566160" y="3575160"/>
            <a:ext cx="3657240" cy="566640"/>
          </a:xfrm>
          <a:prstGeom prst="rect">
            <a:avLst/>
          </a:prstGeom>
          <a:solidFill>
            <a:srgbClr val="EEF2F5"/>
          </a:solidFill>
          <a:ln w="6350">
            <a:solidFill>
              <a:srgbClr val="D5DCE3"/>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384" name="Text 23"/>
          <p:cNvSpPr/>
          <p:nvPr/>
        </p:nvSpPr>
        <p:spPr>
          <a:xfrm>
            <a:off x="3611880" y="3575160"/>
            <a:ext cx="3565800" cy="5666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50" b="0" u="none" strike="noStrike">
                <a:solidFill>
                  <a:srgbClr val="1E2A35"/>
                </a:solidFill>
                <a:effectLst/>
                <a:uFillTx/>
                <a:latin typeface="Cambria"/>
                <a:ea typeface="Cambria"/>
              </a:rPr>
              <a:t>si fuera media, sin ponderar</a:t>
            </a:r>
            <a:endParaRPr lang="en-US" sz="1250" b="0" u="none" strike="noStrike">
              <a:solidFill>
                <a:srgbClr val="000000"/>
              </a:solidFill>
              <a:effectLst/>
              <a:uFillTx/>
              <a:latin typeface="Arial"/>
            </a:endParaRPr>
          </a:p>
        </p:txBody>
      </p:sp>
      <p:sp>
        <p:nvSpPr>
          <p:cNvPr id="385" name="Shape 24"/>
          <p:cNvSpPr/>
          <p:nvPr/>
        </p:nvSpPr>
        <p:spPr>
          <a:xfrm>
            <a:off x="7223760" y="3575160"/>
            <a:ext cx="4416120" cy="566640"/>
          </a:xfrm>
          <a:prstGeom prst="rect">
            <a:avLst/>
          </a:prstGeom>
          <a:solidFill>
            <a:srgbClr val="EEF2F5"/>
          </a:solidFill>
          <a:ln w="6350">
            <a:solidFill>
              <a:srgbClr val="D5DCE3"/>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386" name="Text 25"/>
          <p:cNvSpPr/>
          <p:nvPr/>
        </p:nvSpPr>
        <p:spPr>
          <a:xfrm>
            <a:off x="7269480" y="3575160"/>
            <a:ext cx="4324680" cy="5666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50" b="0" u="none" strike="noStrike">
                <a:solidFill>
                  <a:srgbClr val="1E2A35"/>
                </a:solidFill>
                <a:effectLst/>
                <a:uFillTx/>
                <a:latin typeface="Cambria"/>
                <a:ea typeface="Cambria"/>
              </a:rPr>
              <a:t>ponderar: usar los factores de expansión</a:t>
            </a:r>
            <a:endParaRPr lang="en-US" sz="1250" b="0" u="none" strike="noStrike">
              <a:solidFill>
                <a:srgbClr val="000000"/>
              </a:solidFill>
              <a:effectLst/>
              <a:uFillTx/>
              <a:latin typeface="Arial"/>
            </a:endParaRPr>
          </a:p>
        </p:txBody>
      </p:sp>
      <p:sp>
        <p:nvSpPr>
          <p:cNvPr id="387" name="Shape 26"/>
          <p:cNvSpPr/>
          <p:nvPr/>
        </p:nvSpPr>
        <p:spPr>
          <a:xfrm>
            <a:off x="548640" y="4251960"/>
            <a:ext cx="11091240" cy="1462680"/>
          </a:xfrm>
          <a:prstGeom prst="roundRect">
            <a:avLst>
              <a:gd name="adj" fmla="val 3750"/>
            </a:avLst>
          </a:prstGeom>
          <a:solidFill>
            <a:srgbClr val="15293B"/>
          </a:solidFill>
          <a:ln w="9525">
            <a:solidFill>
              <a:srgbClr val="D5DCE3"/>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388" name="Text 27"/>
          <p:cNvSpPr/>
          <p:nvPr/>
        </p:nvSpPr>
        <p:spPr>
          <a:xfrm>
            <a:off x="868680" y="4416480"/>
            <a:ext cx="1045116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E58A5B"/>
                </a:solidFill>
                <a:effectLst/>
                <a:uFillTx/>
                <a:latin typeface="Calibri"/>
                <a:ea typeface="Calibri"/>
              </a:rPr>
              <a:t>El estimador disciplinado: pondera, estratifica, conglomera</a:t>
            </a:r>
            <a:endParaRPr lang="en-US" sz="1600" b="0" u="none" strike="noStrike">
              <a:solidFill>
                <a:srgbClr val="000000"/>
              </a:solidFill>
              <a:effectLst/>
              <a:uFillTx/>
              <a:latin typeface="Arial"/>
            </a:endParaRPr>
          </a:p>
        </p:txBody>
      </p:sp>
      <p:sp>
        <p:nvSpPr>
          <p:cNvPr id="389" name="Text 28"/>
          <p:cNvSpPr/>
          <p:nvPr/>
        </p:nvSpPr>
        <p:spPr>
          <a:xfrm>
            <a:off x="868680" y="4800600"/>
            <a:ext cx="10451160" cy="868320"/>
          </a:xfrm>
          <a:prstGeom prst="rect">
            <a:avLst/>
          </a:prstGeom>
          <a:noFill/>
          <a:ln w="0">
            <a:noFill/>
          </a:ln>
        </p:spPr>
        <p:style>
          <a:lnRef idx="0"/>
          <a:fillRef idx="0"/>
          <a:effectRef idx="0"/>
          <a:fontRef idx="minor"/>
        </p:style>
        <p:txBody>
          <a:bodyPr lIns="0" tIns="0" rIns="0" bIns="0" anchor="ctr">
            <a:noAutofit/>
          </a:bodyPr>
          <a:p>
            <a:pPr defTabSz="914400">
              <a:lnSpc>
                <a:spcPct val="105000"/>
              </a:lnSpc>
              <a:tabLst>
                <a:tab pos="0" algn="l"/>
              </a:tabLst>
            </a:pPr>
            <a:r>
              <a:rPr lang="en-US" sz="1300" b="0" u="none" strike="noStrike">
                <a:solidFill>
                  <a:srgbClr val="E4EAF0"/>
                </a:solidFill>
                <a:effectLst/>
                <a:uFillTx/>
                <a:latin typeface="Calibri"/>
                <a:ea typeface="Calibri"/>
              </a:rPr>
              <a:t>La IA escribe el código; ustedes especifican el diseño. No es que sepa menos estadística: es que aplica el default, y el default asume una muestra simple, independiente y homogénea que sus datos no son. Nombrar el diseño en el prompt es lo que separa un número que corre de uno que se defiende.</a:t>
            </a:r>
            <a:endParaRPr lang="en-US" sz="13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90" name="Text 0"/>
          <p:cNvSpPr/>
          <p:nvPr/>
        </p:nvSpPr>
        <p:spPr>
          <a:xfrm>
            <a:off x="548640" y="384120"/>
            <a:ext cx="11091240" cy="639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900" b="1" u="none" strike="noStrike">
                <a:solidFill>
                  <a:srgbClr val="1E2A35"/>
                </a:solidFill>
                <a:effectLst/>
                <a:uFillTx/>
                <a:latin typeface="Calibri"/>
                <a:ea typeface="Calibri"/>
              </a:rPr>
              <a:t>Cómo pedirle el análisis, y qué no se le delega</a:t>
            </a:r>
            <a:endParaRPr lang="en-US" sz="2900" b="0" u="none" strike="noStrike">
              <a:solidFill>
                <a:srgbClr val="000000"/>
              </a:solidFill>
              <a:effectLst/>
              <a:uFillTx/>
              <a:latin typeface="Arial"/>
            </a:endParaRPr>
          </a:p>
        </p:txBody>
      </p:sp>
      <p:sp>
        <p:nvSpPr>
          <p:cNvPr id="391" name="Text 1"/>
          <p:cNvSpPr/>
          <p:nvPr/>
        </p:nvSpPr>
        <p:spPr>
          <a:xfrm>
            <a:off x="548640" y="1042560"/>
            <a:ext cx="11091240" cy="5666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0" u="none" strike="noStrike">
                <a:solidFill>
                  <a:srgbClr val="60707E"/>
                </a:solidFill>
                <a:effectLst/>
                <a:uFillTx/>
                <a:latin typeface="Calibri"/>
                <a:ea typeface="Calibri"/>
              </a:rPr>
              <a:t>Un buen prompt cuantitativo nombra el diseño. El juicio estadístico se queda con ustedes.</a:t>
            </a:r>
            <a:endParaRPr lang="en-US" sz="1400" b="0" u="none" strike="noStrike">
              <a:solidFill>
                <a:srgbClr val="000000"/>
              </a:solidFill>
              <a:effectLst/>
              <a:uFillTx/>
              <a:latin typeface="Arial"/>
            </a:endParaRPr>
          </a:p>
        </p:txBody>
      </p:sp>
      <p:sp>
        <p:nvSpPr>
          <p:cNvPr id="392" name="Shape 2"/>
          <p:cNvSpPr/>
          <p:nvPr/>
        </p:nvSpPr>
        <p:spPr>
          <a:xfrm>
            <a:off x="548640" y="1920240"/>
            <a:ext cx="5394600" cy="3108600"/>
          </a:xfrm>
          <a:prstGeom prst="roundRect">
            <a:avLst>
              <a:gd name="adj" fmla="val 1765"/>
            </a:avLst>
          </a:prstGeom>
          <a:solidFill>
            <a:srgbClr val="E7F2EA"/>
          </a:solidFill>
          <a:ln w="9525">
            <a:solidFill>
              <a:srgbClr val="D5DCE3"/>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393" name="Text 3"/>
          <p:cNvSpPr/>
          <p:nvPr/>
        </p:nvSpPr>
        <p:spPr>
          <a:xfrm>
            <a:off x="822960" y="2121480"/>
            <a:ext cx="484596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1" u="none" spc="99" strike="noStrike">
                <a:solidFill>
                  <a:srgbClr val="2E6E49"/>
                </a:solidFill>
                <a:effectLst/>
                <a:uFillTx/>
                <a:latin typeface="Calibri"/>
                <a:ea typeface="Calibri"/>
              </a:rPr>
              <a:t>UN BUEN PROMPT NOMBRA EL DISEÑO</a:t>
            </a:r>
            <a:endParaRPr lang="en-US" sz="1250" b="0" u="none" strike="noStrike">
              <a:solidFill>
                <a:srgbClr val="000000"/>
              </a:solidFill>
              <a:effectLst/>
              <a:uFillTx/>
              <a:latin typeface="Arial"/>
            </a:endParaRPr>
          </a:p>
        </p:txBody>
      </p:sp>
      <p:sp>
        <p:nvSpPr>
          <p:cNvPr id="394" name="Text 4"/>
          <p:cNvSpPr/>
          <p:nvPr/>
        </p:nvSpPr>
        <p:spPr>
          <a:xfrm>
            <a:off x="822960" y="2541960"/>
            <a:ext cx="4845960" cy="2377080"/>
          </a:xfrm>
          <a:prstGeom prst="rect">
            <a:avLst/>
          </a:prstGeom>
          <a:noFill/>
          <a:ln w="0">
            <a:noFill/>
          </a:ln>
        </p:spPr>
        <p:style>
          <a:lnRef idx="0"/>
          <a:fillRef idx="0"/>
          <a:effectRef idx="0"/>
          <a:fontRef idx="minor"/>
        </p:style>
        <p:txBody>
          <a:bodyPr lIns="0" tIns="0" rIns="0" bIns="0" anchor="ctr">
            <a:noAutofit/>
          </a:bodyPr>
          <a:p>
            <a:pPr marL="343080" indent="-343080" defTabSz="914400">
              <a:lnSpc>
                <a:spcPct val="102000"/>
              </a:lnSpc>
              <a:spcAft>
                <a:spcPts val="1001"/>
              </a:spcAft>
              <a:buClr>
                <a:srgbClr val="1E2A35"/>
              </a:buClr>
              <a:buFont typeface="Symbol" charset="2"/>
              <a:buChar char=""/>
            </a:pPr>
            <a:r>
              <a:rPr lang="en-US" sz="1250" b="0" u="none" strike="noStrike">
                <a:solidFill>
                  <a:srgbClr val="1E2A35"/>
                </a:solidFill>
                <a:effectLst/>
                <a:uFillTx/>
                <a:latin typeface="Calibri"/>
                <a:ea typeface="Calibri"/>
              </a:rPr>
              <a:t>Declara los factores de expansión, los estratos y los conglomerados de la encuesta.</a:t>
            </a:r>
            <a:endParaRPr lang="en-US" sz="1250" b="0" u="none" strike="noStrike">
              <a:solidFill>
                <a:srgbClr val="000000"/>
              </a:solidFill>
              <a:effectLst/>
              <a:uFillTx/>
              <a:latin typeface="Arial"/>
            </a:endParaRPr>
          </a:p>
          <a:p>
            <a:pPr marL="343080" indent="-343080" defTabSz="914400">
              <a:lnSpc>
                <a:spcPct val="102000"/>
              </a:lnSpc>
              <a:spcAft>
                <a:spcPts val="1001"/>
              </a:spcAft>
              <a:buClr>
                <a:srgbClr val="1E2A35"/>
              </a:buClr>
              <a:buFont typeface="Symbol" charset="2"/>
              <a:buChar char=""/>
            </a:pPr>
            <a:r>
              <a:rPr lang="en-US" sz="1250" b="0" u="none" strike="noStrike">
                <a:solidFill>
                  <a:srgbClr val="1E2A35"/>
                </a:solidFill>
                <a:effectLst/>
                <a:uFillTx/>
                <a:latin typeface="Calibri"/>
                <a:ea typeface="Calibri"/>
              </a:rPr>
              <a:t>Pide explícitamente el error estándar correcto para el diseño, no el clásico.</a:t>
            </a:r>
            <a:endParaRPr lang="en-US" sz="1250" b="0" u="none" strike="noStrike">
              <a:solidFill>
                <a:srgbClr val="000000"/>
              </a:solidFill>
              <a:effectLst/>
              <a:uFillTx/>
              <a:latin typeface="Arial"/>
            </a:endParaRPr>
          </a:p>
          <a:p>
            <a:pPr marL="343080" indent="-343080" defTabSz="914400">
              <a:lnSpc>
                <a:spcPct val="102000"/>
              </a:lnSpc>
              <a:spcAft>
                <a:spcPts val="1001"/>
              </a:spcAft>
              <a:buClr>
                <a:srgbClr val="1E2A35"/>
              </a:buClr>
              <a:buFont typeface="Symbol" charset="2"/>
              <a:buChar char=""/>
            </a:pPr>
            <a:r>
              <a:rPr lang="en-US" sz="1250" b="0" u="none" strike="noStrike">
                <a:solidFill>
                  <a:srgbClr val="1E2A35"/>
                </a:solidFill>
                <a:effectLst/>
                <a:uFillTx/>
                <a:latin typeface="Calibri"/>
                <a:ea typeface="Calibri"/>
              </a:rPr>
              <a:t>Pide el desglose por subgrupo antes de creerle al agregado.</a:t>
            </a:r>
            <a:endParaRPr lang="en-US" sz="1250" b="0" u="none" strike="noStrike">
              <a:solidFill>
                <a:srgbClr val="000000"/>
              </a:solidFill>
              <a:effectLst/>
              <a:uFillTx/>
              <a:latin typeface="Arial"/>
            </a:endParaRPr>
          </a:p>
          <a:p>
            <a:pPr marL="343080" indent="-343080" defTabSz="914400">
              <a:lnSpc>
                <a:spcPct val="102000"/>
              </a:lnSpc>
              <a:spcAft>
                <a:spcPts val="1001"/>
              </a:spcAft>
              <a:buClr>
                <a:srgbClr val="1E2A35"/>
              </a:buClr>
              <a:buFont typeface="Symbol" charset="2"/>
              <a:buChar char=""/>
            </a:pPr>
            <a:r>
              <a:rPr lang="en-US" sz="1250" b="0" u="none" strike="noStrike">
                <a:solidFill>
                  <a:srgbClr val="1E2A35"/>
                </a:solidFill>
                <a:effectLst/>
                <a:uFillTx/>
                <a:latin typeface="Calibri"/>
                <a:ea typeface="Calibri"/>
              </a:rPr>
              <a:t>Pide que reporte cuántos casos se quedan fuera y por qué.</a:t>
            </a:r>
            <a:endParaRPr lang="en-US" sz="1250" b="0" u="none" strike="noStrike">
              <a:solidFill>
                <a:srgbClr val="000000"/>
              </a:solidFill>
              <a:effectLst/>
              <a:uFillTx/>
              <a:latin typeface="Arial"/>
            </a:endParaRPr>
          </a:p>
        </p:txBody>
      </p:sp>
      <p:sp>
        <p:nvSpPr>
          <p:cNvPr id="395" name="Shape 5"/>
          <p:cNvSpPr/>
          <p:nvPr/>
        </p:nvSpPr>
        <p:spPr>
          <a:xfrm>
            <a:off x="6245280" y="1920240"/>
            <a:ext cx="5394600" cy="3108600"/>
          </a:xfrm>
          <a:prstGeom prst="roundRect">
            <a:avLst>
              <a:gd name="adj" fmla="val 1765"/>
            </a:avLst>
          </a:prstGeom>
          <a:solidFill>
            <a:srgbClr val="EEF2F5"/>
          </a:solidFill>
          <a:ln w="9525">
            <a:solidFill>
              <a:srgbClr val="D5DCE3"/>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396" name="Text 6"/>
          <p:cNvSpPr/>
          <p:nvPr/>
        </p:nvSpPr>
        <p:spPr>
          <a:xfrm>
            <a:off x="6519600" y="2121480"/>
            <a:ext cx="484596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1" u="none" spc="99" strike="noStrike">
                <a:solidFill>
                  <a:srgbClr val="CB5E2E"/>
                </a:solidFill>
                <a:effectLst/>
                <a:uFillTx/>
                <a:latin typeface="Calibri"/>
                <a:ea typeface="Calibri"/>
              </a:rPr>
              <a:t>LO QUE NO SE DELEGA</a:t>
            </a:r>
            <a:endParaRPr lang="en-US" sz="1250" b="0" u="none" strike="noStrike">
              <a:solidFill>
                <a:srgbClr val="000000"/>
              </a:solidFill>
              <a:effectLst/>
              <a:uFillTx/>
              <a:latin typeface="Arial"/>
            </a:endParaRPr>
          </a:p>
        </p:txBody>
      </p:sp>
      <p:sp>
        <p:nvSpPr>
          <p:cNvPr id="397" name="Text 7"/>
          <p:cNvSpPr/>
          <p:nvPr/>
        </p:nvSpPr>
        <p:spPr>
          <a:xfrm>
            <a:off x="6519600" y="2541960"/>
            <a:ext cx="4845960" cy="2377080"/>
          </a:xfrm>
          <a:prstGeom prst="rect">
            <a:avLst/>
          </a:prstGeom>
          <a:noFill/>
          <a:ln w="0">
            <a:noFill/>
          </a:ln>
        </p:spPr>
        <p:style>
          <a:lnRef idx="0"/>
          <a:fillRef idx="0"/>
          <a:effectRef idx="0"/>
          <a:fontRef idx="minor"/>
        </p:style>
        <p:txBody>
          <a:bodyPr lIns="0" tIns="0" rIns="0" bIns="0" anchor="ctr">
            <a:noAutofit/>
          </a:bodyPr>
          <a:p>
            <a:pPr marL="343080" indent="-343080" defTabSz="914400">
              <a:lnSpc>
                <a:spcPct val="102000"/>
              </a:lnSpc>
              <a:spcAft>
                <a:spcPts val="1001"/>
              </a:spcAft>
              <a:buClr>
                <a:srgbClr val="1E2A35"/>
              </a:buClr>
              <a:buFont typeface="Symbol" charset="2"/>
              <a:buChar char=""/>
            </a:pPr>
            <a:r>
              <a:rPr lang="en-US" sz="1250" b="0" u="none" strike="noStrike">
                <a:solidFill>
                  <a:srgbClr val="1E2A35"/>
                </a:solidFill>
                <a:effectLst/>
                <a:uFillTx/>
                <a:latin typeface="Calibri"/>
                <a:ea typeface="Calibri"/>
              </a:rPr>
              <a:t>Decidir el diseño del estimador: eso nace de cómo se levantó la encuesta.</a:t>
            </a:r>
            <a:endParaRPr lang="en-US" sz="1250" b="0" u="none" strike="noStrike">
              <a:solidFill>
                <a:srgbClr val="000000"/>
              </a:solidFill>
              <a:effectLst/>
              <a:uFillTx/>
              <a:latin typeface="Arial"/>
            </a:endParaRPr>
          </a:p>
          <a:p>
            <a:pPr marL="343080" indent="-343080" defTabSz="914400">
              <a:lnSpc>
                <a:spcPct val="102000"/>
              </a:lnSpc>
              <a:spcAft>
                <a:spcPts val="1001"/>
              </a:spcAft>
              <a:buClr>
                <a:srgbClr val="1E2A35"/>
              </a:buClr>
              <a:buFont typeface="Symbol" charset="2"/>
              <a:buChar char=""/>
            </a:pPr>
            <a:r>
              <a:rPr lang="en-US" sz="1250" b="0" u="none" strike="noStrike">
                <a:solidFill>
                  <a:srgbClr val="1E2A35"/>
                </a:solidFill>
                <a:effectLst/>
                <a:uFillTx/>
                <a:latin typeface="Calibri"/>
                <a:ea typeface="Calibri"/>
              </a:rPr>
              <a:t>Juzgar si dos grupos son comparables, o qué confusor falta.</a:t>
            </a:r>
            <a:endParaRPr lang="en-US" sz="1250" b="0" u="none" strike="noStrike">
              <a:solidFill>
                <a:srgbClr val="000000"/>
              </a:solidFill>
              <a:effectLst/>
              <a:uFillTx/>
              <a:latin typeface="Arial"/>
            </a:endParaRPr>
          </a:p>
          <a:p>
            <a:pPr marL="343080" indent="-343080" defTabSz="914400">
              <a:lnSpc>
                <a:spcPct val="102000"/>
              </a:lnSpc>
              <a:spcAft>
                <a:spcPts val="1001"/>
              </a:spcAft>
              <a:buClr>
                <a:srgbClr val="1E2A35"/>
              </a:buClr>
              <a:buFont typeface="Symbol" charset="2"/>
              <a:buChar char=""/>
            </a:pPr>
            <a:r>
              <a:rPr lang="en-US" sz="1250" b="0" u="none" strike="noStrike">
                <a:solidFill>
                  <a:srgbClr val="1E2A35"/>
                </a:solidFill>
                <a:effectLst/>
                <a:uFillTx/>
                <a:latin typeface="Calibri"/>
                <a:ea typeface="Calibri"/>
              </a:rPr>
              <a:t>Decidir si el signo y la magnitud tienen sentido para la política.</a:t>
            </a:r>
            <a:endParaRPr lang="en-US" sz="1250" b="0" u="none" strike="noStrike">
              <a:solidFill>
                <a:srgbClr val="000000"/>
              </a:solidFill>
              <a:effectLst/>
              <a:uFillTx/>
              <a:latin typeface="Arial"/>
            </a:endParaRPr>
          </a:p>
          <a:p>
            <a:pPr marL="343080" indent="-343080" defTabSz="914400">
              <a:lnSpc>
                <a:spcPct val="102000"/>
              </a:lnSpc>
              <a:spcAft>
                <a:spcPts val="1001"/>
              </a:spcAft>
              <a:buClr>
                <a:srgbClr val="1E2A35"/>
              </a:buClr>
              <a:buFont typeface="Symbol" charset="2"/>
              <a:buChar char=""/>
            </a:pPr>
            <a:r>
              <a:rPr lang="en-US" sz="1250" b="0" u="none" strike="noStrike">
                <a:solidFill>
                  <a:srgbClr val="1E2A35"/>
                </a:solidFill>
                <a:effectLst/>
                <a:uFillTx/>
                <a:latin typeface="Calibri"/>
                <a:ea typeface="Calibri"/>
              </a:rPr>
              <a:t>Firmar el número: la responsabilidad del resultado es humana.</a:t>
            </a:r>
            <a:endParaRPr lang="en-US" sz="1250" b="0" u="none" strike="noStrike">
              <a:solidFill>
                <a:srgbClr val="000000"/>
              </a:solidFill>
              <a:effectLst/>
              <a:uFillTx/>
              <a:latin typeface="Arial"/>
            </a:endParaRPr>
          </a:p>
        </p:txBody>
      </p:sp>
      <p:sp>
        <p:nvSpPr>
          <p:cNvPr id="398" name="Shape 8"/>
          <p:cNvSpPr/>
          <p:nvPr/>
        </p:nvSpPr>
        <p:spPr>
          <a:xfrm>
            <a:off x="548640" y="6053400"/>
            <a:ext cx="11091240" cy="603000"/>
          </a:xfrm>
          <a:prstGeom prst="rect">
            <a:avLst/>
          </a:prstGeom>
          <a:solidFill>
            <a:srgbClr val="FBEEE5"/>
          </a:solidFill>
          <a:ln w="0">
            <a:noFill/>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399" name="Shape 9"/>
          <p:cNvSpPr/>
          <p:nvPr/>
        </p:nvSpPr>
        <p:spPr>
          <a:xfrm>
            <a:off x="749880" y="6272640"/>
            <a:ext cx="164160" cy="164160"/>
          </a:xfrm>
          <a:prstGeom prst="roundRect">
            <a:avLst>
              <a:gd name="adj" fmla="val 22222"/>
            </a:avLst>
          </a:prstGeom>
          <a:solidFill>
            <a:srgbClr val="CB5E2E"/>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400" name="Text 10"/>
          <p:cNvSpPr/>
          <p:nvPr/>
        </p:nvSpPr>
        <p:spPr>
          <a:xfrm>
            <a:off x="1051560" y="6053400"/>
            <a:ext cx="10405440" cy="6030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0" u="none" strike="noStrike">
                <a:solidFill>
                  <a:srgbClr val="8C3E19"/>
                </a:solidFill>
                <a:effectLst/>
                <a:uFillTx/>
                <a:latin typeface="Calibri"/>
                <a:ea typeface="Calibri"/>
              </a:rPr>
              <a:t>La IA es un copiloto estadístico rapidísimo para el código. El diseño, la comparabilidad y el sentido del número son suyos, y no se delegan.</a:t>
            </a:r>
            <a:endParaRPr lang="en-US" sz="12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5293B"/>
        </a:solidFill>
      </p:bgPr>
    </p:bg>
    <p:spTree>
      <p:nvGrpSpPr>
        <p:cNvPr id="1" name=""/>
        <p:cNvGrpSpPr/>
        <p:nvPr/>
      </p:nvGrpSpPr>
      <p:grpSpPr>
        <a:xfrm>
          <a:off x="0" y="0"/>
          <a:ext cx="0" cy="0"/>
          <a:chOff x="0" y="0"/>
          <a:chExt cx="0" cy="0"/>
        </a:xfrm>
      </p:grpSpPr>
      <p:sp>
        <p:nvSpPr>
          <p:cNvPr id="401" name="Shape 0"/>
          <p:cNvSpPr/>
          <p:nvPr/>
        </p:nvSpPr>
        <p:spPr>
          <a:xfrm>
            <a:off x="822960" y="2468880"/>
            <a:ext cx="1371240" cy="1371240"/>
          </a:xfrm>
          <a:prstGeom prst="ellipse">
            <a:avLst/>
          </a:prstGeom>
          <a:solidFill>
            <a:srgbClr val="CB5E2E"/>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402" name="Text 1"/>
          <p:cNvSpPr/>
          <p:nvPr/>
        </p:nvSpPr>
        <p:spPr>
          <a:xfrm>
            <a:off x="822960" y="2468880"/>
            <a:ext cx="1371240" cy="13712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4000" b="1" u="none" strike="noStrike">
                <a:solidFill>
                  <a:srgbClr val="FFFFFF"/>
                </a:solidFill>
                <a:effectLst/>
                <a:uFillTx/>
                <a:latin typeface="Cambria"/>
                <a:ea typeface="Cambria"/>
              </a:rPr>
              <a:t>4</a:t>
            </a:r>
            <a:endParaRPr lang="en-US" sz="4000" b="0" u="none" strike="noStrike">
              <a:solidFill>
                <a:srgbClr val="FFFFFF"/>
              </a:solidFill>
              <a:effectLst/>
              <a:uFillTx/>
              <a:latin typeface="Arial"/>
            </a:endParaRPr>
          </a:p>
        </p:txBody>
      </p:sp>
      <p:sp>
        <p:nvSpPr>
          <p:cNvPr id="403" name="Text 2"/>
          <p:cNvSpPr/>
          <p:nvPr/>
        </p:nvSpPr>
        <p:spPr>
          <a:xfrm>
            <a:off x="2514600" y="2670120"/>
            <a:ext cx="8960760" cy="411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pc="201" strike="noStrike">
                <a:solidFill>
                  <a:srgbClr val="E58A5B"/>
                </a:solidFill>
                <a:effectLst/>
                <a:uFillTx/>
                <a:latin typeface="Calibri"/>
                <a:ea typeface="Calibri"/>
              </a:rPr>
              <a:t>PRÁCTICA Y TAREA</a:t>
            </a:r>
            <a:endParaRPr lang="en-US" sz="1400" b="0" u="none" strike="noStrike">
              <a:solidFill>
                <a:srgbClr val="FFFFFF"/>
              </a:solidFill>
              <a:effectLst/>
              <a:uFillTx/>
              <a:latin typeface="Arial"/>
            </a:endParaRPr>
          </a:p>
        </p:txBody>
      </p:sp>
      <p:sp>
        <p:nvSpPr>
          <p:cNvPr id="404" name="Text 3"/>
          <p:cNvSpPr/>
          <p:nvPr/>
        </p:nvSpPr>
        <p:spPr>
          <a:xfrm>
            <a:off x="2514600" y="3072240"/>
            <a:ext cx="9052200" cy="11883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900" b="1" u="none" strike="noStrike">
                <a:solidFill>
                  <a:srgbClr val="FFFFFF"/>
                </a:solidFill>
                <a:effectLst/>
                <a:uFillTx/>
                <a:latin typeface="Calibri"/>
                <a:ea typeface="Calibri"/>
              </a:rPr>
              <a:t>Estimar con diseño, inferir bien, cazar a Simpson</a:t>
            </a:r>
            <a:endParaRPr lang="en-US" sz="29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05" name="Text 0"/>
          <p:cNvSpPr/>
          <p:nvPr/>
        </p:nvSpPr>
        <p:spPr>
          <a:xfrm>
            <a:off x="548640" y="384120"/>
            <a:ext cx="11091240" cy="639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900" b="1" u="none" strike="noStrike">
                <a:solidFill>
                  <a:srgbClr val="1E2A35"/>
                </a:solidFill>
                <a:effectLst/>
                <a:uFillTx/>
                <a:latin typeface="Calibri"/>
                <a:ea typeface="Calibri"/>
              </a:rPr>
              <a:t>Su turno, y de tarea</a:t>
            </a:r>
            <a:endParaRPr lang="en-US" sz="2900" b="0" u="none" strike="noStrike">
              <a:solidFill>
                <a:srgbClr val="000000"/>
              </a:solidFill>
              <a:effectLst/>
              <a:uFillTx/>
              <a:latin typeface="Arial"/>
            </a:endParaRPr>
          </a:p>
        </p:txBody>
      </p:sp>
      <p:sp>
        <p:nvSpPr>
          <p:cNvPr id="406" name="Text 1"/>
          <p:cNvSpPr/>
          <p:nvPr/>
        </p:nvSpPr>
        <p:spPr>
          <a:xfrm>
            <a:off x="548640" y="1042560"/>
            <a:ext cx="11091240" cy="5666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0" u="none" strike="noStrike">
                <a:solidFill>
                  <a:srgbClr val="60707E"/>
                </a:solidFill>
                <a:effectLst/>
                <a:uFillTx/>
                <a:latin typeface="Calibri"/>
                <a:ea typeface="Calibri"/>
              </a:rPr>
              <a:t>Sobre datos_encuesta_sintetica.csv: un microdato con forma de encuesta, con estratos, UPM y factores de expansión.</a:t>
            </a:r>
            <a:endParaRPr lang="en-US" sz="1400" b="0" u="none" strike="noStrike">
              <a:solidFill>
                <a:srgbClr val="000000"/>
              </a:solidFill>
              <a:effectLst/>
              <a:uFillTx/>
              <a:latin typeface="Arial"/>
            </a:endParaRPr>
          </a:p>
        </p:txBody>
      </p:sp>
      <p:sp>
        <p:nvSpPr>
          <p:cNvPr id="407" name="Shape 2"/>
          <p:cNvSpPr/>
          <p:nvPr/>
        </p:nvSpPr>
        <p:spPr>
          <a:xfrm>
            <a:off x="548640" y="1783080"/>
            <a:ext cx="3501720" cy="2742840"/>
          </a:xfrm>
          <a:prstGeom prst="roundRect">
            <a:avLst>
              <a:gd name="adj" fmla="val 2000"/>
            </a:avLst>
          </a:prstGeom>
          <a:solidFill>
            <a:srgbClr val="FFFFFF"/>
          </a:solidFill>
          <a:ln w="9525">
            <a:solidFill>
              <a:srgbClr val="D5DCE3"/>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408" name="Shape 3"/>
          <p:cNvSpPr/>
          <p:nvPr/>
        </p:nvSpPr>
        <p:spPr>
          <a:xfrm>
            <a:off x="777240" y="2039040"/>
            <a:ext cx="456840" cy="456840"/>
          </a:xfrm>
          <a:prstGeom prst="ellipse">
            <a:avLst/>
          </a:prstGeom>
          <a:solidFill>
            <a:srgbClr val="CB5E2E"/>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409" name="Text 4"/>
          <p:cNvSpPr/>
          <p:nvPr/>
        </p:nvSpPr>
        <p:spPr>
          <a:xfrm>
            <a:off x="777240" y="2039040"/>
            <a:ext cx="456840" cy="4568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800" b="1" u="none" strike="noStrike">
                <a:solidFill>
                  <a:srgbClr val="FFFFFF"/>
                </a:solidFill>
                <a:effectLst/>
                <a:uFillTx/>
                <a:latin typeface="Cambria"/>
                <a:ea typeface="Cambria"/>
              </a:rPr>
              <a:t>1</a:t>
            </a:r>
            <a:endParaRPr lang="en-US" sz="1800" b="0" u="none" strike="noStrike">
              <a:solidFill>
                <a:srgbClr val="000000"/>
              </a:solidFill>
              <a:effectLst/>
              <a:uFillTx/>
              <a:latin typeface="Arial"/>
            </a:endParaRPr>
          </a:p>
        </p:txBody>
      </p:sp>
      <p:sp>
        <p:nvSpPr>
          <p:cNvPr id="410" name="Text 5"/>
          <p:cNvSpPr/>
          <p:nvPr/>
        </p:nvSpPr>
        <p:spPr>
          <a:xfrm>
            <a:off x="1371600" y="2075760"/>
            <a:ext cx="249588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50" b="1" u="none" strike="noStrike">
                <a:solidFill>
                  <a:srgbClr val="60707E"/>
                </a:solidFill>
                <a:effectLst/>
                <a:uFillTx/>
                <a:latin typeface="Calibri"/>
                <a:ea typeface="Calibri"/>
              </a:rPr>
              <a:t>diseño</a:t>
            </a:r>
            <a:endParaRPr lang="en-US" sz="1150" b="0" u="none" strike="noStrike">
              <a:solidFill>
                <a:srgbClr val="000000"/>
              </a:solidFill>
              <a:effectLst/>
              <a:uFillTx/>
              <a:latin typeface="Arial"/>
            </a:endParaRPr>
          </a:p>
        </p:txBody>
      </p:sp>
      <p:sp>
        <p:nvSpPr>
          <p:cNvPr id="411" name="Text 6"/>
          <p:cNvSpPr/>
          <p:nvPr/>
        </p:nvSpPr>
        <p:spPr>
          <a:xfrm>
            <a:off x="777240" y="2624400"/>
            <a:ext cx="3044520" cy="502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50" b="1" u="none" strike="noStrike">
                <a:solidFill>
                  <a:srgbClr val="1E2A35"/>
                </a:solidFill>
                <a:effectLst/>
                <a:uFillTx/>
                <a:latin typeface="Calibri"/>
                <a:ea typeface="Calibri"/>
              </a:rPr>
              <a:t>Ponderar el ingreso</a:t>
            </a:r>
            <a:endParaRPr lang="en-US" sz="1450" b="0" u="none" strike="noStrike">
              <a:solidFill>
                <a:srgbClr val="000000"/>
              </a:solidFill>
              <a:effectLst/>
              <a:uFillTx/>
              <a:latin typeface="Arial"/>
            </a:endParaRPr>
          </a:p>
        </p:txBody>
      </p:sp>
      <p:sp>
        <p:nvSpPr>
          <p:cNvPr id="412" name="Text 7"/>
          <p:cNvSpPr/>
          <p:nvPr/>
        </p:nvSpPr>
        <p:spPr>
          <a:xfrm>
            <a:off x="777240" y="3154680"/>
            <a:ext cx="3044520" cy="1279800"/>
          </a:xfrm>
          <a:prstGeom prst="rect">
            <a:avLst/>
          </a:prstGeom>
          <a:noFill/>
          <a:ln w="0">
            <a:noFill/>
          </a:ln>
        </p:spPr>
        <p:style>
          <a:lnRef idx="0"/>
          <a:fillRef idx="0"/>
          <a:effectRef idx="0"/>
          <a:fontRef idx="minor"/>
        </p:style>
        <p:txBody>
          <a:bodyPr lIns="0" tIns="0" rIns="0" bIns="0" anchor="ctr">
            <a:noAutofit/>
          </a:bodyPr>
          <a:p>
            <a:pPr defTabSz="914400">
              <a:lnSpc>
                <a:spcPct val="105000"/>
              </a:lnSpc>
              <a:tabLst>
                <a:tab pos="0" algn="l"/>
              </a:tabLst>
            </a:pPr>
            <a:r>
              <a:rPr lang="en-US" sz="1200" b="0" u="none" strike="noStrike">
                <a:solidFill>
                  <a:srgbClr val="1E2A35"/>
                </a:solidFill>
                <a:effectLst/>
                <a:uFillTx/>
                <a:latin typeface="Calibri"/>
                <a:ea typeface="Calibri"/>
              </a:rPr>
              <a:t>Estima el ingreso medio poblacional con svydesign y svymean, y compáralo con el promedio crudo. ¿Cuánto subestima el ingenuo?</a:t>
            </a:r>
            <a:endParaRPr lang="en-US" sz="1200" b="0" u="none" strike="noStrike">
              <a:solidFill>
                <a:srgbClr val="000000"/>
              </a:solidFill>
              <a:effectLst/>
              <a:uFillTx/>
              <a:latin typeface="Arial"/>
            </a:endParaRPr>
          </a:p>
        </p:txBody>
      </p:sp>
      <p:sp>
        <p:nvSpPr>
          <p:cNvPr id="413" name="Shape 8"/>
          <p:cNvSpPr/>
          <p:nvPr/>
        </p:nvSpPr>
        <p:spPr>
          <a:xfrm>
            <a:off x="4343400" y="1783080"/>
            <a:ext cx="3501720" cy="2742840"/>
          </a:xfrm>
          <a:prstGeom prst="roundRect">
            <a:avLst>
              <a:gd name="adj" fmla="val 2000"/>
            </a:avLst>
          </a:prstGeom>
          <a:solidFill>
            <a:srgbClr val="FFFFFF"/>
          </a:solidFill>
          <a:ln w="9525">
            <a:solidFill>
              <a:srgbClr val="D5DCE3"/>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414" name="Shape 9"/>
          <p:cNvSpPr/>
          <p:nvPr/>
        </p:nvSpPr>
        <p:spPr>
          <a:xfrm>
            <a:off x="4572000" y="2039040"/>
            <a:ext cx="456840" cy="456840"/>
          </a:xfrm>
          <a:prstGeom prst="ellipse">
            <a:avLst/>
          </a:prstGeom>
          <a:solidFill>
            <a:srgbClr val="CB5E2E"/>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415" name="Text 10"/>
          <p:cNvSpPr/>
          <p:nvPr/>
        </p:nvSpPr>
        <p:spPr>
          <a:xfrm>
            <a:off x="4572000" y="2039040"/>
            <a:ext cx="456840" cy="4568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800" b="1" u="none" strike="noStrike">
                <a:solidFill>
                  <a:srgbClr val="FFFFFF"/>
                </a:solidFill>
                <a:effectLst/>
                <a:uFillTx/>
                <a:latin typeface="Cambria"/>
                <a:ea typeface="Cambria"/>
              </a:rPr>
              <a:t>2</a:t>
            </a:r>
            <a:endParaRPr lang="en-US" sz="1800" b="0" u="none" strike="noStrike">
              <a:solidFill>
                <a:srgbClr val="000000"/>
              </a:solidFill>
              <a:effectLst/>
              <a:uFillTx/>
              <a:latin typeface="Arial"/>
            </a:endParaRPr>
          </a:p>
        </p:txBody>
      </p:sp>
      <p:sp>
        <p:nvSpPr>
          <p:cNvPr id="416" name="Text 11"/>
          <p:cNvSpPr/>
          <p:nvPr/>
        </p:nvSpPr>
        <p:spPr>
          <a:xfrm>
            <a:off x="5166360" y="2075760"/>
            <a:ext cx="249588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50" b="1" u="none" strike="noStrike">
                <a:solidFill>
                  <a:srgbClr val="60707E"/>
                </a:solidFill>
                <a:effectLst/>
                <a:uFillTx/>
                <a:latin typeface="Calibri"/>
                <a:ea typeface="Calibri"/>
              </a:rPr>
              <a:t>inferencia</a:t>
            </a:r>
            <a:endParaRPr lang="en-US" sz="1150" b="0" u="none" strike="noStrike">
              <a:solidFill>
                <a:srgbClr val="000000"/>
              </a:solidFill>
              <a:effectLst/>
              <a:uFillTx/>
              <a:latin typeface="Arial"/>
            </a:endParaRPr>
          </a:p>
        </p:txBody>
      </p:sp>
      <p:sp>
        <p:nvSpPr>
          <p:cNvPr id="417" name="Text 12"/>
          <p:cNvSpPr/>
          <p:nvPr/>
        </p:nvSpPr>
        <p:spPr>
          <a:xfrm>
            <a:off x="4572000" y="2624400"/>
            <a:ext cx="3044520" cy="502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50" b="1" u="none" strike="noStrike">
                <a:solidFill>
                  <a:srgbClr val="1E2A35"/>
                </a:solidFill>
                <a:effectLst/>
                <a:uFillTx/>
                <a:latin typeface="Calibri"/>
                <a:ea typeface="Calibri"/>
              </a:rPr>
              <a:t>El error correcto</a:t>
            </a:r>
            <a:endParaRPr lang="en-US" sz="1450" b="0" u="none" strike="noStrike">
              <a:solidFill>
                <a:srgbClr val="000000"/>
              </a:solidFill>
              <a:effectLst/>
              <a:uFillTx/>
              <a:latin typeface="Arial"/>
            </a:endParaRPr>
          </a:p>
        </p:txBody>
      </p:sp>
      <p:sp>
        <p:nvSpPr>
          <p:cNvPr id="418" name="Text 13"/>
          <p:cNvSpPr/>
          <p:nvPr/>
        </p:nvSpPr>
        <p:spPr>
          <a:xfrm>
            <a:off x="4572000" y="3154680"/>
            <a:ext cx="3044520" cy="1279800"/>
          </a:xfrm>
          <a:prstGeom prst="rect">
            <a:avLst/>
          </a:prstGeom>
          <a:noFill/>
          <a:ln w="0">
            <a:noFill/>
          </a:ln>
        </p:spPr>
        <p:style>
          <a:lnRef idx="0"/>
          <a:fillRef idx="0"/>
          <a:effectRef idx="0"/>
          <a:fontRef idx="minor"/>
        </p:style>
        <p:txBody>
          <a:bodyPr lIns="0" tIns="0" rIns="0" bIns="0" anchor="ctr">
            <a:noAutofit/>
          </a:bodyPr>
          <a:p>
            <a:pPr defTabSz="914400">
              <a:lnSpc>
                <a:spcPct val="105000"/>
              </a:lnSpc>
              <a:tabLst>
                <a:tab pos="0" algn="l"/>
              </a:tabLst>
            </a:pPr>
            <a:r>
              <a:rPr lang="en-US" sz="1200" b="0" u="none" strike="noStrike">
                <a:solidFill>
                  <a:srgbClr val="1E2A35"/>
                </a:solidFill>
                <a:effectLst/>
                <a:uFillTx/>
                <a:latin typeface="Calibri"/>
                <a:ea typeface="Calibri"/>
              </a:rPr>
              <a:t>Estima el efecto del programa con el error estándar por conglomerado. ¿Sigue siendo significativo al usar el EE correcto?</a:t>
            </a:r>
            <a:endParaRPr lang="en-US" sz="1200" b="0" u="none" strike="noStrike">
              <a:solidFill>
                <a:srgbClr val="000000"/>
              </a:solidFill>
              <a:effectLst/>
              <a:uFillTx/>
              <a:latin typeface="Arial"/>
            </a:endParaRPr>
          </a:p>
        </p:txBody>
      </p:sp>
      <p:sp>
        <p:nvSpPr>
          <p:cNvPr id="419" name="Shape 14"/>
          <p:cNvSpPr/>
          <p:nvPr/>
        </p:nvSpPr>
        <p:spPr>
          <a:xfrm>
            <a:off x="8138160" y="1783080"/>
            <a:ext cx="3501720" cy="2742840"/>
          </a:xfrm>
          <a:prstGeom prst="roundRect">
            <a:avLst>
              <a:gd name="adj" fmla="val 2000"/>
            </a:avLst>
          </a:prstGeom>
          <a:solidFill>
            <a:srgbClr val="EEF2F5"/>
          </a:solidFill>
          <a:ln w="9525">
            <a:solidFill>
              <a:srgbClr val="D5DCE3"/>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420" name="Shape 15"/>
          <p:cNvSpPr/>
          <p:nvPr/>
        </p:nvSpPr>
        <p:spPr>
          <a:xfrm>
            <a:off x="8366760" y="2039040"/>
            <a:ext cx="456840" cy="456840"/>
          </a:xfrm>
          <a:prstGeom prst="ellipse">
            <a:avLst/>
          </a:prstGeom>
          <a:solidFill>
            <a:srgbClr val="CB5E2E"/>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421" name="Text 16"/>
          <p:cNvSpPr/>
          <p:nvPr/>
        </p:nvSpPr>
        <p:spPr>
          <a:xfrm>
            <a:off x="8366760" y="2039040"/>
            <a:ext cx="456840" cy="4568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800" b="1" u="none" strike="noStrike">
                <a:solidFill>
                  <a:srgbClr val="FFFFFF"/>
                </a:solidFill>
                <a:effectLst/>
                <a:uFillTx/>
                <a:latin typeface="Cambria"/>
                <a:ea typeface="Cambria"/>
              </a:rPr>
              <a:t>3</a:t>
            </a:r>
            <a:endParaRPr lang="en-US" sz="1800" b="0" u="none" strike="noStrike">
              <a:solidFill>
                <a:srgbClr val="000000"/>
              </a:solidFill>
              <a:effectLst/>
              <a:uFillTx/>
              <a:latin typeface="Arial"/>
            </a:endParaRPr>
          </a:p>
        </p:txBody>
      </p:sp>
      <p:sp>
        <p:nvSpPr>
          <p:cNvPr id="422" name="Text 17"/>
          <p:cNvSpPr/>
          <p:nvPr/>
        </p:nvSpPr>
        <p:spPr>
          <a:xfrm>
            <a:off x="8961120" y="2075760"/>
            <a:ext cx="249588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50" b="1" u="none" strike="noStrike">
                <a:solidFill>
                  <a:srgbClr val="60707E"/>
                </a:solidFill>
                <a:effectLst/>
                <a:uFillTx/>
                <a:latin typeface="Calibri"/>
                <a:ea typeface="Calibri"/>
              </a:rPr>
              <a:t>agregación</a:t>
            </a:r>
            <a:endParaRPr lang="en-US" sz="1150" b="0" u="none" strike="noStrike">
              <a:solidFill>
                <a:srgbClr val="000000"/>
              </a:solidFill>
              <a:effectLst/>
              <a:uFillTx/>
              <a:latin typeface="Arial"/>
            </a:endParaRPr>
          </a:p>
        </p:txBody>
      </p:sp>
      <p:sp>
        <p:nvSpPr>
          <p:cNvPr id="423" name="Text 18"/>
          <p:cNvSpPr/>
          <p:nvPr/>
        </p:nvSpPr>
        <p:spPr>
          <a:xfrm>
            <a:off x="8366760" y="2624400"/>
            <a:ext cx="3044520" cy="502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50" b="1" u="none" strike="noStrike">
                <a:solidFill>
                  <a:srgbClr val="1E2A35"/>
                </a:solidFill>
                <a:effectLst/>
                <a:uFillTx/>
                <a:latin typeface="Calibri"/>
                <a:ea typeface="Calibri"/>
              </a:rPr>
              <a:t>Cazar a Simpson</a:t>
            </a:r>
            <a:endParaRPr lang="en-US" sz="1450" b="0" u="none" strike="noStrike">
              <a:solidFill>
                <a:srgbClr val="000000"/>
              </a:solidFill>
              <a:effectLst/>
              <a:uFillTx/>
              <a:latin typeface="Arial"/>
            </a:endParaRPr>
          </a:p>
        </p:txBody>
      </p:sp>
      <p:sp>
        <p:nvSpPr>
          <p:cNvPr id="424" name="Text 19"/>
          <p:cNvSpPr/>
          <p:nvPr/>
        </p:nvSpPr>
        <p:spPr>
          <a:xfrm>
            <a:off x="8366760" y="3154680"/>
            <a:ext cx="3044520" cy="1279800"/>
          </a:xfrm>
          <a:prstGeom prst="rect">
            <a:avLst/>
          </a:prstGeom>
          <a:noFill/>
          <a:ln w="0">
            <a:noFill/>
          </a:ln>
        </p:spPr>
        <p:style>
          <a:lnRef idx="0"/>
          <a:fillRef idx="0"/>
          <a:effectRef idx="0"/>
          <a:fontRef idx="minor"/>
        </p:style>
        <p:txBody>
          <a:bodyPr lIns="0" tIns="0" rIns="0" bIns="0" anchor="ctr">
            <a:noAutofit/>
          </a:bodyPr>
          <a:p>
            <a:pPr defTabSz="914400">
              <a:lnSpc>
                <a:spcPct val="105000"/>
              </a:lnSpc>
              <a:tabLst>
                <a:tab pos="0" algn="l"/>
              </a:tabLst>
            </a:pPr>
            <a:r>
              <a:rPr lang="en-US" sz="1200" b="0" u="none" strike="noStrike">
                <a:solidFill>
                  <a:srgbClr val="1E2A35"/>
                </a:solidFill>
                <a:effectLst/>
                <a:uFillTx/>
                <a:latin typeface="Calibri"/>
                <a:ea typeface="Calibri"/>
              </a:rPr>
              <a:t>Compara el efecto agregado del programa contra el efecto por estrato. Muestra dónde y por qué se invierte el signo.</a:t>
            </a:r>
            <a:endParaRPr lang="en-US" sz="1200" b="0" u="none" strike="noStrike">
              <a:solidFill>
                <a:srgbClr val="000000"/>
              </a:solidFill>
              <a:effectLst/>
              <a:uFillTx/>
              <a:latin typeface="Arial"/>
            </a:endParaRPr>
          </a:p>
        </p:txBody>
      </p:sp>
      <p:sp>
        <p:nvSpPr>
          <p:cNvPr id="425" name="Shape 20"/>
          <p:cNvSpPr/>
          <p:nvPr/>
        </p:nvSpPr>
        <p:spPr>
          <a:xfrm>
            <a:off x="548640" y="4754880"/>
            <a:ext cx="11091240" cy="959760"/>
          </a:xfrm>
          <a:prstGeom prst="roundRect">
            <a:avLst>
              <a:gd name="adj" fmla="val 5714"/>
            </a:avLst>
          </a:prstGeom>
          <a:solidFill>
            <a:srgbClr val="15293B"/>
          </a:solidFill>
          <a:ln w="9525">
            <a:solidFill>
              <a:srgbClr val="D5DCE3"/>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426" name="Text 21"/>
          <p:cNvSpPr/>
          <p:nvPr/>
        </p:nvSpPr>
        <p:spPr>
          <a:xfrm>
            <a:off x="868680" y="4901040"/>
            <a:ext cx="274284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pc="99" strike="noStrike">
                <a:solidFill>
                  <a:srgbClr val="E58A5B"/>
                </a:solidFill>
                <a:effectLst/>
                <a:uFillTx/>
                <a:latin typeface="Calibri"/>
                <a:ea typeface="Calibri"/>
              </a:rPr>
              <a:t>LA REGLA DURA</a:t>
            </a:r>
            <a:endParaRPr lang="en-US" sz="1300" b="0" u="none" strike="noStrike">
              <a:solidFill>
                <a:srgbClr val="000000"/>
              </a:solidFill>
              <a:effectLst/>
              <a:uFillTx/>
              <a:latin typeface="Arial"/>
            </a:endParaRPr>
          </a:p>
        </p:txBody>
      </p:sp>
      <p:sp>
        <p:nvSpPr>
          <p:cNvPr id="427" name="Text 22"/>
          <p:cNvSpPr/>
          <p:nvPr/>
        </p:nvSpPr>
        <p:spPr>
          <a:xfrm>
            <a:off x="868680" y="5212080"/>
            <a:ext cx="1045116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u="none" strike="noStrike">
                <a:solidFill>
                  <a:srgbClr val="E4EAF0"/>
                </a:solidFill>
                <a:effectLst/>
                <a:uFillTx/>
                <a:latin typeface="Calibri"/>
                <a:ea typeface="Calibri"/>
              </a:rPr>
              <a:t>Cada número va con su justificación en el texto: por qué ponderado, por qué ese error estándar, por qué condicionar por estrato. Un estimado sin su razón no cuenta.</a:t>
            </a:r>
            <a:endParaRPr lang="en-US" sz="1300" b="0" u="none" strike="noStrike">
              <a:solidFill>
                <a:srgbClr val="000000"/>
              </a:solidFill>
              <a:effectLst/>
              <a:uFillTx/>
              <a:latin typeface="Arial"/>
            </a:endParaRPr>
          </a:p>
        </p:txBody>
      </p:sp>
      <p:sp>
        <p:nvSpPr>
          <p:cNvPr id="428" name="Text 23"/>
          <p:cNvSpPr/>
          <p:nvPr/>
        </p:nvSpPr>
        <p:spPr>
          <a:xfrm>
            <a:off x="548640" y="5989320"/>
            <a:ext cx="1109124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i="1" u="none" strike="noStrike">
                <a:solidFill>
                  <a:srgbClr val="60707E"/>
                </a:solidFill>
                <a:effectLst/>
                <a:uFillTx/>
                <a:latin typeface="Calibri"/>
                <a:ea typeface="Calibri"/>
              </a:rPr>
              <a:t>Entregable: Laboratorio_S07.Rmd tejido a HTML (R con survey y estimatr). En clase se arranca la parte 1; las tres partes, más una auditoría por escrito de la salida de la IA del demo, se terminan de tarea.</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29" name="Text 0"/>
          <p:cNvSpPr/>
          <p:nvPr/>
        </p:nvSpPr>
        <p:spPr>
          <a:xfrm>
            <a:off x="548640" y="384120"/>
            <a:ext cx="11091240" cy="639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900" b="1" u="none" strike="noStrike">
                <a:solidFill>
                  <a:srgbClr val="1E2A35"/>
                </a:solidFill>
                <a:effectLst/>
                <a:uFillTx/>
                <a:latin typeface="Calibri"/>
                <a:ea typeface="Calibri"/>
              </a:rPr>
              <a:t>Qué se llevan y qué entregan</a:t>
            </a:r>
            <a:endParaRPr lang="en-US" sz="2900" b="0" u="none" strike="noStrike">
              <a:solidFill>
                <a:srgbClr val="000000"/>
              </a:solidFill>
              <a:effectLst/>
              <a:uFillTx/>
              <a:latin typeface="Arial"/>
            </a:endParaRPr>
          </a:p>
        </p:txBody>
      </p:sp>
      <p:sp>
        <p:nvSpPr>
          <p:cNvPr id="430" name="Text 1"/>
          <p:cNvSpPr/>
          <p:nvPr/>
        </p:nvSpPr>
        <p:spPr>
          <a:xfrm>
            <a:off x="548640" y="1042560"/>
            <a:ext cx="11091240" cy="5666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0" u="none" strike="noStrike">
                <a:solidFill>
                  <a:srgbClr val="60707E"/>
                </a:solidFill>
                <a:effectLst/>
                <a:uFillTx/>
                <a:latin typeface="Calibri"/>
                <a:ea typeface="Calibri"/>
              </a:rPr>
              <a:t>Cierre del bloque de asistentes estadísticos y puente a la Sesión 8.</a:t>
            </a:r>
            <a:endParaRPr lang="en-US" sz="1400" b="0" u="none" strike="noStrike">
              <a:solidFill>
                <a:srgbClr val="000000"/>
              </a:solidFill>
              <a:effectLst/>
              <a:uFillTx/>
              <a:latin typeface="Arial"/>
            </a:endParaRPr>
          </a:p>
        </p:txBody>
      </p:sp>
      <p:sp>
        <p:nvSpPr>
          <p:cNvPr id="431" name="Shape 2"/>
          <p:cNvSpPr/>
          <p:nvPr/>
        </p:nvSpPr>
        <p:spPr>
          <a:xfrm>
            <a:off x="548640" y="1874520"/>
            <a:ext cx="5394600" cy="2285640"/>
          </a:xfrm>
          <a:prstGeom prst="roundRect">
            <a:avLst>
              <a:gd name="adj" fmla="val 2400"/>
            </a:avLst>
          </a:prstGeom>
          <a:solidFill>
            <a:srgbClr val="EEF2F5"/>
          </a:solidFill>
          <a:ln w="9525">
            <a:solidFill>
              <a:srgbClr val="D5DCE3"/>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432" name="Text 3"/>
          <p:cNvSpPr/>
          <p:nvPr/>
        </p:nvSpPr>
        <p:spPr>
          <a:xfrm>
            <a:off x="822960" y="2057400"/>
            <a:ext cx="484596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CB5E2E"/>
                </a:solidFill>
                <a:effectLst/>
                <a:uFillTx/>
                <a:latin typeface="Calibri"/>
                <a:ea typeface="Calibri"/>
              </a:rPr>
              <a:t>Las tres ideas del día</a:t>
            </a:r>
            <a:endParaRPr lang="en-US" sz="1500" b="0" u="none" strike="noStrike">
              <a:solidFill>
                <a:srgbClr val="000000"/>
              </a:solidFill>
              <a:effectLst/>
              <a:uFillTx/>
              <a:latin typeface="Arial"/>
            </a:endParaRPr>
          </a:p>
        </p:txBody>
      </p:sp>
      <p:sp>
        <p:nvSpPr>
          <p:cNvPr id="433" name="Text 4"/>
          <p:cNvSpPr/>
          <p:nvPr/>
        </p:nvSpPr>
        <p:spPr>
          <a:xfrm>
            <a:off x="822960" y="2468880"/>
            <a:ext cx="4845960" cy="1554120"/>
          </a:xfrm>
          <a:prstGeom prst="rect">
            <a:avLst/>
          </a:prstGeom>
          <a:noFill/>
          <a:ln w="0">
            <a:noFill/>
          </a:ln>
        </p:spPr>
        <p:style>
          <a:lnRef idx="0"/>
          <a:fillRef idx="0"/>
          <a:effectRef idx="0"/>
          <a:fontRef idx="minor"/>
        </p:style>
        <p:txBody>
          <a:bodyPr lIns="0" tIns="0" rIns="0" bIns="0" anchor="ctr">
            <a:noAutofit/>
          </a:bodyPr>
          <a:p>
            <a:pPr marL="343080" indent="-343080" defTabSz="914400">
              <a:lnSpc>
                <a:spcPct val="100000"/>
              </a:lnSpc>
              <a:spcAft>
                <a:spcPts val="799"/>
              </a:spcAft>
              <a:buClr>
                <a:srgbClr val="1E2A35"/>
              </a:buClr>
              <a:buFont typeface="Symbol" charset="2"/>
              <a:buChar char=""/>
            </a:pPr>
            <a:r>
              <a:rPr lang="en-US" sz="1300" b="0" u="none" strike="noStrike">
                <a:solidFill>
                  <a:srgbClr val="1E2A35"/>
                </a:solidFill>
                <a:effectLst/>
                <a:uFillTx/>
                <a:latin typeface="Calibri"/>
                <a:ea typeface="Calibri"/>
              </a:rPr>
              <a:t>Una encuesta no se promedia cruda: se pondera con los factores de expansión.</a:t>
            </a:r>
            <a:endParaRPr lang="en-US" sz="1300" b="0" u="none" strike="noStrike">
              <a:solidFill>
                <a:srgbClr val="000000"/>
              </a:solidFill>
              <a:effectLst/>
              <a:uFillTx/>
              <a:latin typeface="Arial"/>
            </a:endParaRPr>
          </a:p>
          <a:p>
            <a:pPr marL="343080" indent="-343080" defTabSz="914400">
              <a:lnSpc>
                <a:spcPct val="100000"/>
              </a:lnSpc>
              <a:spcAft>
                <a:spcPts val="799"/>
              </a:spcAft>
              <a:buClr>
                <a:srgbClr val="1E2A35"/>
              </a:buClr>
              <a:buFont typeface="Symbol" charset="2"/>
              <a:buChar char=""/>
            </a:pPr>
            <a:r>
              <a:rPr lang="en-US" sz="1300" b="0" u="none" strike="noStrike">
                <a:solidFill>
                  <a:srgbClr val="1E2A35"/>
                </a:solidFill>
                <a:effectLst/>
                <a:uFillTx/>
                <a:latin typeface="Calibri"/>
                <a:ea typeface="Calibri"/>
              </a:rPr>
              <a:t>El error estándar ingenuo promete precisión falsa; el diseño manda la inferencia.</a:t>
            </a:r>
            <a:endParaRPr lang="en-US" sz="1300" b="0" u="none" strike="noStrike">
              <a:solidFill>
                <a:srgbClr val="000000"/>
              </a:solidFill>
              <a:effectLst/>
              <a:uFillTx/>
              <a:latin typeface="Arial"/>
            </a:endParaRPr>
          </a:p>
          <a:p>
            <a:pPr marL="343080" indent="-343080" defTabSz="914400">
              <a:lnSpc>
                <a:spcPct val="100000"/>
              </a:lnSpc>
              <a:spcAft>
                <a:spcPts val="799"/>
              </a:spcAft>
              <a:buClr>
                <a:srgbClr val="1E2A35"/>
              </a:buClr>
              <a:buFont typeface="Symbol" charset="2"/>
              <a:buChar char=""/>
            </a:pPr>
            <a:r>
              <a:rPr lang="en-US" sz="1300" b="0" u="none" strike="noStrike">
                <a:solidFill>
                  <a:srgbClr val="1E2A35"/>
                </a:solidFill>
                <a:effectLst/>
                <a:uFillTx/>
                <a:latin typeface="Calibri"/>
                <a:ea typeface="Calibri"/>
              </a:rPr>
              <a:t>El agregado puede mentir: condiciona por subgrupo antes de concluir.</a:t>
            </a:r>
            <a:endParaRPr lang="en-US" sz="1300" b="0" u="none" strike="noStrike">
              <a:solidFill>
                <a:srgbClr val="000000"/>
              </a:solidFill>
              <a:effectLst/>
              <a:uFillTx/>
              <a:latin typeface="Arial"/>
            </a:endParaRPr>
          </a:p>
        </p:txBody>
      </p:sp>
      <p:sp>
        <p:nvSpPr>
          <p:cNvPr id="434" name="Shape 5"/>
          <p:cNvSpPr/>
          <p:nvPr/>
        </p:nvSpPr>
        <p:spPr>
          <a:xfrm>
            <a:off x="6245280" y="1874520"/>
            <a:ext cx="5394600" cy="2285640"/>
          </a:xfrm>
          <a:prstGeom prst="roundRect">
            <a:avLst>
              <a:gd name="adj" fmla="val 2400"/>
            </a:avLst>
          </a:prstGeom>
          <a:solidFill>
            <a:srgbClr val="FFFFFF"/>
          </a:solidFill>
          <a:ln w="9525">
            <a:solidFill>
              <a:srgbClr val="D5DCE3"/>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435" name="Text 6"/>
          <p:cNvSpPr/>
          <p:nvPr/>
        </p:nvSpPr>
        <p:spPr>
          <a:xfrm>
            <a:off x="6519600" y="2057400"/>
            <a:ext cx="484596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CB5E2E"/>
                </a:solidFill>
                <a:effectLst/>
                <a:uFillTx/>
                <a:latin typeface="Calibri"/>
                <a:ea typeface="Calibri"/>
              </a:rPr>
              <a:t>El entregable</a:t>
            </a:r>
            <a:endParaRPr lang="en-US" sz="1500" b="0" u="none" strike="noStrike">
              <a:solidFill>
                <a:srgbClr val="000000"/>
              </a:solidFill>
              <a:effectLst/>
              <a:uFillTx/>
              <a:latin typeface="Arial"/>
            </a:endParaRPr>
          </a:p>
        </p:txBody>
      </p:sp>
      <p:sp>
        <p:nvSpPr>
          <p:cNvPr id="436" name="Text 7"/>
          <p:cNvSpPr/>
          <p:nvPr/>
        </p:nvSpPr>
        <p:spPr>
          <a:xfrm>
            <a:off x="6519600" y="2468880"/>
            <a:ext cx="4845960" cy="1554120"/>
          </a:xfrm>
          <a:prstGeom prst="rect">
            <a:avLst/>
          </a:prstGeom>
          <a:noFill/>
          <a:ln w="0">
            <a:noFill/>
          </a:ln>
        </p:spPr>
        <p:style>
          <a:lnRef idx="0"/>
          <a:fillRef idx="0"/>
          <a:effectRef idx="0"/>
          <a:fontRef idx="minor"/>
        </p:style>
        <p:txBody>
          <a:bodyPr lIns="0" tIns="0" rIns="0" bIns="0" anchor="ctr">
            <a:noAutofit/>
          </a:bodyPr>
          <a:p>
            <a:pPr marL="343080" indent="-343080" defTabSz="914400">
              <a:lnSpc>
                <a:spcPct val="100000"/>
              </a:lnSpc>
              <a:spcAft>
                <a:spcPts val="799"/>
              </a:spcAft>
              <a:buClr>
                <a:srgbClr val="1E2A35"/>
              </a:buClr>
              <a:buFont typeface="Symbol" charset="2"/>
              <a:buChar char=""/>
            </a:pPr>
            <a:r>
              <a:rPr lang="en-US" sz="1300" b="0" u="none" strike="noStrike">
                <a:solidFill>
                  <a:srgbClr val="1E2A35"/>
                </a:solidFill>
                <a:effectLst/>
                <a:uFillTx/>
                <a:latin typeface="Calibri"/>
                <a:ea typeface="Calibri"/>
              </a:rPr>
              <a:t>Laboratorio_S07.Rmd tejido a HTML, con las tres tareas resueltas.</a:t>
            </a:r>
            <a:endParaRPr lang="en-US" sz="1300" b="0" u="none" strike="noStrike">
              <a:solidFill>
                <a:srgbClr val="000000"/>
              </a:solidFill>
              <a:effectLst/>
              <a:uFillTx/>
              <a:latin typeface="Arial"/>
            </a:endParaRPr>
          </a:p>
          <a:p>
            <a:pPr marL="343080" indent="-343080" defTabSz="914400">
              <a:lnSpc>
                <a:spcPct val="100000"/>
              </a:lnSpc>
              <a:spcAft>
                <a:spcPts val="799"/>
              </a:spcAft>
              <a:buClr>
                <a:srgbClr val="1E2A35"/>
              </a:buClr>
              <a:buFont typeface="Symbol" charset="2"/>
              <a:buChar char=""/>
            </a:pPr>
            <a:r>
              <a:rPr lang="en-US" sz="1300" b="0" u="none" strike="noStrike">
                <a:solidFill>
                  <a:srgbClr val="1E2A35"/>
                </a:solidFill>
                <a:effectLst/>
                <a:uFillTx/>
                <a:latin typeface="Calibri"/>
                <a:ea typeface="Calibri"/>
              </a:rPr>
              <a:t>El ingreso ponderado, el efecto con el error correcto y la reversión de Simpson.</a:t>
            </a:r>
            <a:endParaRPr lang="en-US" sz="1300" b="0" u="none" strike="noStrike">
              <a:solidFill>
                <a:srgbClr val="000000"/>
              </a:solidFill>
              <a:effectLst/>
              <a:uFillTx/>
              <a:latin typeface="Arial"/>
            </a:endParaRPr>
          </a:p>
          <a:p>
            <a:pPr marL="343080" indent="-343080" defTabSz="914400">
              <a:lnSpc>
                <a:spcPct val="100000"/>
              </a:lnSpc>
              <a:spcAft>
                <a:spcPts val="799"/>
              </a:spcAft>
              <a:buClr>
                <a:srgbClr val="1E2A35"/>
              </a:buClr>
              <a:buFont typeface="Symbol" charset="2"/>
              <a:buChar char=""/>
            </a:pPr>
            <a:r>
              <a:rPr lang="en-US" sz="1300" b="0" u="none" strike="noStrike">
                <a:solidFill>
                  <a:srgbClr val="1E2A35"/>
                </a:solidFill>
                <a:effectLst/>
                <a:uFillTx/>
                <a:latin typeface="Calibri"/>
                <a:ea typeface="Calibri"/>
              </a:rPr>
              <a:t>La justificación escrita de cada decisión de diseño.</a:t>
            </a:r>
            <a:endParaRPr lang="en-US" sz="1300" b="0" u="none" strike="noStrike">
              <a:solidFill>
                <a:srgbClr val="000000"/>
              </a:solidFill>
              <a:effectLst/>
              <a:uFillTx/>
              <a:latin typeface="Arial"/>
            </a:endParaRPr>
          </a:p>
        </p:txBody>
      </p:sp>
      <p:sp>
        <p:nvSpPr>
          <p:cNvPr id="437" name="Shape 8"/>
          <p:cNvSpPr/>
          <p:nvPr/>
        </p:nvSpPr>
        <p:spPr>
          <a:xfrm>
            <a:off x="548640" y="4434840"/>
            <a:ext cx="11091240" cy="1371240"/>
          </a:xfrm>
          <a:prstGeom prst="roundRect">
            <a:avLst>
              <a:gd name="adj" fmla="val 4000"/>
            </a:avLst>
          </a:prstGeom>
          <a:solidFill>
            <a:srgbClr val="15293B"/>
          </a:solidFill>
          <a:ln w="9525">
            <a:solidFill>
              <a:srgbClr val="D5DCE3"/>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438" name="Text 9"/>
          <p:cNvSpPr/>
          <p:nvPr/>
        </p:nvSpPr>
        <p:spPr>
          <a:xfrm>
            <a:off x="868680" y="4599360"/>
            <a:ext cx="1045116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E58A5B"/>
                </a:solidFill>
                <a:effectLst/>
                <a:uFillTx/>
                <a:latin typeface="Calibri"/>
                <a:ea typeface="Calibri"/>
              </a:rPr>
              <a:t>Lo que abre la Sesión 8</a:t>
            </a:r>
            <a:endParaRPr lang="en-US" sz="1600" b="0" u="none" strike="noStrike">
              <a:solidFill>
                <a:srgbClr val="000000"/>
              </a:solidFill>
              <a:effectLst/>
              <a:uFillTx/>
              <a:latin typeface="Arial"/>
            </a:endParaRPr>
          </a:p>
        </p:txBody>
      </p:sp>
      <p:sp>
        <p:nvSpPr>
          <p:cNvPr id="439" name="Text 10"/>
          <p:cNvSpPr/>
          <p:nvPr/>
        </p:nvSpPr>
        <p:spPr>
          <a:xfrm>
            <a:off x="868680" y="4983480"/>
            <a:ext cx="10451160" cy="776880"/>
          </a:xfrm>
          <a:prstGeom prst="rect">
            <a:avLst/>
          </a:prstGeom>
          <a:noFill/>
          <a:ln w="0">
            <a:noFill/>
          </a:ln>
        </p:spPr>
        <p:style>
          <a:lnRef idx="0"/>
          <a:fillRef idx="0"/>
          <a:effectRef idx="0"/>
          <a:fontRef idx="minor"/>
        </p:style>
        <p:txBody>
          <a:bodyPr lIns="0" tIns="0" rIns="0" bIns="0" anchor="ctr">
            <a:noAutofit/>
          </a:bodyPr>
          <a:p>
            <a:pPr defTabSz="914400">
              <a:lnSpc>
                <a:spcPct val="105000"/>
              </a:lnSpc>
              <a:tabLst>
                <a:tab pos="0" algn="l"/>
              </a:tabLst>
            </a:pPr>
            <a:r>
              <a:rPr lang="en-US" sz="1350" b="0" u="none" strike="noStrike">
                <a:solidFill>
                  <a:srgbClr val="E4EAF0"/>
                </a:solidFill>
                <a:effectLst/>
                <a:uFillTx/>
                <a:latin typeface="Calibri"/>
                <a:ea typeface="Calibri"/>
              </a:rPr>
              <a:t>Hoy construyeron un estimado defendible. La Sesión 8 lo hace reproducible de verdad: semillas para que el remuestreo dé lo mismo cada vez, y entorno fijo para que corra igual en otra máquina. Un número defendible también tiene que ser repetible.</a:t>
            </a:r>
            <a:endParaRPr lang="en-US" sz="13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40" name="Text 0"/>
          <p:cNvSpPr/>
          <p:nvPr/>
        </p:nvSpPr>
        <p:spPr>
          <a:xfrm>
            <a:off x="548640" y="384120"/>
            <a:ext cx="11091240" cy="639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900" b="1" u="none" strike="noStrike">
                <a:solidFill>
                  <a:srgbClr val="1E2A35"/>
                </a:solidFill>
                <a:effectLst/>
                <a:uFillTx/>
                <a:latin typeface="Calibri"/>
                <a:ea typeface="Calibri"/>
              </a:rPr>
              <a:t>Fuentes</a:t>
            </a:r>
            <a:endParaRPr lang="en-US" sz="2900" b="0" u="none" strike="noStrike">
              <a:solidFill>
                <a:srgbClr val="000000"/>
              </a:solidFill>
              <a:effectLst/>
              <a:uFillTx/>
              <a:latin typeface="Arial"/>
            </a:endParaRPr>
          </a:p>
        </p:txBody>
      </p:sp>
      <p:sp>
        <p:nvSpPr>
          <p:cNvPr id="441" name="Text 1"/>
          <p:cNvSpPr/>
          <p:nvPr/>
        </p:nvSpPr>
        <p:spPr>
          <a:xfrm>
            <a:off x="548640" y="1042560"/>
            <a:ext cx="11091240" cy="5666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0" u="none" strike="noStrike">
                <a:solidFill>
                  <a:srgbClr val="60707E"/>
                </a:solidFill>
                <a:effectLst/>
                <a:uFillTx/>
                <a:latin typeface="Calibri"/>
                <a:ea typeface="Calibri"/>
              </a:rPr>
              <a:t>Para quien quiera ir al origen de cada idea.</a:t>
            </a:r>
            <a:endParaRPr lang="en-US" sz="1400" b="0" u="none" strike="noStrike">
              <a:solidFill>
                <a:srgbClr val="000000"/>
              </a:solidFill>
              <a:effectLst/>
              <a:uFillTx/>
              <a:latin typeface="Arial"/>
            </a:endParaRPr>
          </a:p>
        </p:txBody>
      </p:sp>
      <p:sp>
        <p:nvSpPr>
          <p:cNvPr id="442" name="Text 2"/>
          <p:cNvSpPr/>
          <p:nvPr/>
        </p:nvSpPr>
        <p:spPr>
          <a:xfrm>
            <a:off x="548640" y="1783080"/>
            <a:ext cx="521172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1" u="none" spc="99" strike="noStrike">
                <a:solidFill>
                  <a:srgbClr val="CB5E2E"/>
                </a:solidFill>
                <a:effectLst/>
                <a:uFillTx/>
                <a:latin typeface="Calibri"/>
                <a:ea typeface="Calibri"/>
              </a:rPr>
              <a:t>DISEÑO MUESTRAL Y PONDERACIÓN</a:t>
            </a:r>
            <a:endParaRPr lang="en-US" sz="1250" b="0" u="none" strike="noStrike">
              <a:solidFill>
                <a:srgbClr val="000000"/>
              </a:solidFill>
              <a:effectLst/>
              <a:uFillTx/>
              <a:latin typeface="Arial"/>
            </a:endParaRPr>
          </a:p>
        </p:txBody>
      </p:sp>
      <p:sp>
        <p:nvSpPr>
          <p:cNvPr id="443" name="Text 3"/>
          <p:cNvSpPr/>
          <p:nvPr/>
        </p:nvSpPr>
        <p:spPr>
          <a:xfrm>
            <a:off x="548640" y="2240280"/>
            <a:ext cx="5211720" cy="639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50" b="0" u="none" strike="noStrike">
                <a:solidFill>
                  <a:srgbClr val="1E2A35"/>
                </a:solidFill>
                <a:effectLst/>
                <a:uFillTx/>
                <a:latin typeface="Calibri"/>
                <a:ea typeface="Calibri"/>
              </a:rPr>
              <a:t>Lumley (2010). «Complex Surveys: A Guide to Analysis Using R». Base del paquete survey.</a:t>
            </a:r>
            <a:endParaRPr lang="en-US" sz="1150" b="0" u="none" strike="noStrike">
              <a:solidFill>
                <a:srgbClr val="000000"/>
              </a:solidFill>
              <a:effectLst/>
              <a:uFillTx/>
              <a:latin typeface="Arial"/>
            </a:endParaRPr>
          </a:p>
        </p:txBody>
      </p:sp>
      <p:sp>
        <p:nvSpPr>
          <p:cNvPr id="444" name="Text 4"/>
          <p:cNvSpPr/>
          <p:nvPr/>
        </p:nvSpPr>
        <p:spPr>
          <a:xfrm>
            <a:off x="548640" y="2971800"/>
            <a:ext cx="5211720" cy="639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50" b="0" u="none" strike="noStrike">
                <a:solidFill>
                  <a:srgbClr val="1E2A35"/>
                </a:solidFill>
                <a:effectLst/>
                <a:uFillTx/>
                <a:latin typeface="Calibri"/>
                <a:ea typeface="Calibri"/>
              </a:rPr>
              <a:t>Kish (1965). «Survey Sampling». La referencia clásica de estratos, conglomerados y pesos.</a:t>
            </a:r>
            <a:endParaRPr lang="en-US" sz="1150" b="0" u="none" strike="noStrike">
              <a:solidFill>
                <a:srgbClr val="000000"/>
              </a:solidFill>
              <a:effectLst/>
              <a:uFillTx/>
              <a:latin typeface="Arial"/>
            </a:endParaRPr>
          </a:p>
        </p:txBody>
      </p:sp>
      <p:sp>
        <p:nvSpPr>
          <p:cNvPr id="445" name="Text 5"/>
          <p:cNvSpPr/>
          <p:nvPr/>
        </p:nvSpPr>
        <p:spPr>
          <a:xfrm>
            <a:off x="548640" y="3703320"/>
            <a:ext cx="5211720" cy="639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50" b="0" u="none" strike="noStrike">
                <a:solidFill>
                  <a:srgbClr val="1E2A35"/>
                </a:solidFill>
                <a:effectLst/>
                <a:uFillTx/>
                <a:latin typeface="Calibri"/>
                <a:ea typeface="Calibri"/>
              </a:rPr>
              <a:t>Solon, Haider y Wooldridge (2015). «What Are We Weighting For?». Journal of Human Resources.</a:t>
            </a:r>
            <a:endParaRPr lang="en-US" sz="1150" b="0" u="none" strike="noStrike">
              <a:solidFill>
                <a:srgbClr val="000000"/>
              </a:solidFill>
              <a:effectLst/>
              <a:uFillTx/>
              <a:latin typeface="Arial"/>
            </a:endParaRPr>
          </a:p>
        </p:txBody>
      </p:sp>
      <p:sp>
        <p:nvSpPr>
          <p:cNvPr id="446" name="Text 6"/>
          <p:cNvSpPr/>
          <p:nvPr/>
        </p:nvSpPr>
        <p:spPr>
          <a:xfrm>
            <a:off x="6309360" y="1783080"/>
            <a:ext cx="521172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1" u="none" spc="99" strike="noStrike">
                <a:solidFill>
                  <a:srgbClr val="CB5E2E"/>
                </a:solidFill>
                <a:effectLst/>
                <a:uFillTx/>
                <a:latin typeface="Calibri"/>
                <a:ea typeface="Calibri"/>
              </a:rPr>
              <a:t>INFERENCIA CON DISEÑO COMPLEJO</a:t>
            </a:r>
            <a:endParaRPr lang="en-US" sz="1250" b="0" u="none" strike="noStrike">
              <a:solidFill>
                <a:srgbClr val="000000"/>
              </a:solidFill>
              <a:effectLst/>
              <a:uFillTx/>
              <a:latin typeface="Arial"/>
            </a:endParaRPr>
          </a:p>
        </p:txBody>
      </p:sp>
      <p:sp>
        <p:nvSpPr>
          <p:cNvPr id="447" name="Text 7"/>
          <p:cNvSpPr/>
          <p:nvPr/>
        </p:nvSpPr>
        <p:spPr>
          <a:xfrm>
            <a:off x="6309360" y="2240280"/>
            <a:ext cx="5211720" cy="639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50" b="0" u="none" strike="noStrike">
                <a:solidFill>
                  <a:srgbClr val="1E2A35"/>
                </a:solidFill>
                <a:effectLst/>
                <a:uFillTx/>
                <a:latin typeface="Calibri"/>
                <a:ea typeface="Calibri"/>
              </a:rPr>
              <a:t>Cameron y Miller (2015). «A Practitioner's Guide to Cluster-Robust Inference». J. Human Resources.</a:t>
            </a:r>
            <a:endParaRPr lang="en-US" sz="1150" b="0" u="none" strike="noStrike">
              <a:solidFill>
                <a:srgbClr val="000000"/>
              </a:solidFill>
              <a:effectLst/>
              <a:uFillTx/>
              <a:latin typeface="Arial"/>
            </a:endParaRPr>
          </a:p>
        </p:txBody>
      </p:sp>
      <p:sp>
        <p:nvSpPr>
          <p:cNvPr id="448" name="Text 8"/>
          <p:cNvSpPr/>
          <p:nvPr/>
        </p:nvSpPr>
        <p:spPr>
          <a:xfrm>
            <a:off x="6309360" y="2971800"/>
            <a:ext cx="5211720" cy="639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50" b="0" u="none" strike="noStrike">
                <a:solidFill>
                  <a:srgbClr val="1E2A35"/>
                </a:solidFill>
                <a:effectLst/>
                <a:uFillTx/>
                <a:latin typeface="Calibri"/>
                <a:ea typeface="Calibri"/>
              </a:rPr>
              <a:t>Documentación de los paquetes survey y estimatr (svydesign, svymean, svyglm, lm_robust).</a:t>
            </a:r>
            <a:endParaRPr lang="en-US" sz="1150" b="0" u="none" strike="noStrike">
              <a:solidFill>
                <a:srgbClr val="000000"/>
              </a:solidFill>
              <a:effectLst/>
              <a:uFillTx/>
              <a:latin typeface="Arial"/>
            </a:endParaRPr>
          </a:p>
        </p:txBody>
      </p:sp>
      <p:sp>
        <p:nvSpPr>
          <p:cNvPr id="449" name="Text 9"/>
          <p:cNvSpPr/>
          <p:nvPr/>
        </p:nvSpPr>
        <p:spPr>
          <a:xfrm>
            <a:off x="6309360" y="3703320"/>
            <a:ext cx="521172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1" u="none" spc="99" strike="noStrike">
                <a:solidFill>
                  <a:srgbClr val="CB5E2E"/>
                </a:solidFill>
                <a:effectLst/>
                <a:uFillTx/>
                <a:latin typeface="Calibri"/>
                <a:ea typeface="Calibri"/>
              </a:rPr>
              <a:t>AGREGACIÓN</a:t>
            </a:r>
            <a:endParaRPr lang="en-US" sz="1250" b="0" u="none" strike="noStrike">
              <a:solidFill>
                <a:srgbClr val="000000"/>
              </a:solidFill>
              <a:effectLst/>
              <a:uFillTx/>
              <a:latin typeface="Arial"/>
            </a:endParaRPr>
          </a:p>
        </p:txBody>
      </p:sp>
      <p:sp>
        <p:nvSpPr>
          <p:cNvPr id="450" name="Text 10"/>
          <p:cNvSpPr/>
          <p:nvPr/>
        </p:nvSpPr>
        <p:spPr>
          <a:xfrm>
            <a:off x="6309360" y="4160520"/>
            <a:ext cx="5211720" cy="639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50" b="0" u="none" strike="noStrike">
                <a:solidFill>
                  <a:srgbClr val="1E2A35"/>
                </a:solidFill>
                <a:effectLst/>
                <a:uFillTx/>
                <a:latin typeface="Calibri"/>
                <a:ea typeface="Calibri"/>
              </a:rPr>
              <a:t>Simpson (1951) y el tratamiento moderno del confusor en evaluación (marco de Pearl).</a:t>
            </a:r>
            <a:endParaRPr lang="en-US" sz="11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pitchFamily="0" charset="1"/>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1</TotalTime>
  <Application>LibreOffice/26.8.0.3$Linux_X86_64 LibreOffice_project/e34ffb33db0c92181c79084d759a90d6bf45d9b3</Application>
  <AppVersion>15.0000</AppVersion>
  <Words>0</Words>
  <Paragraphs>0</Paragraphs>
  <Company>PptxGenJS</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2026-09-22T23:17:55Z</dcterms:created>
  <dc:creator>PptxGenJS</dc:creator>
  <dc:description/>
  <dc:language>en-US</dc:language>
  <cp:lastModifiedBy/>
  <dcterms:modified xsi:type="dcterms:W3CDTF">2026-09-22T20:19:45Z</dcterms:modified>
  <cp:revision>2</cp:revision>
  <dc:subject>PptxGenJS Presentation</dc:subject>
  <dc:title>PptxGenJS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22</vt:i4>
  </property>
  <property fmtid="{D5CDD505-2E9C-101B-9397-08002B2CF9AE}" pid="3" name="PresentationFormat">
    <vt:lpwstr>On-screen Show (16:9)</vt:lpwstr>
  </property>
  <property fmtid="{D5CDD505-2E9C-101B-9397-08002B2CF9AE}" pid="4" name="Slides">
    <vt:i4>22</vt:i4>
  </property>
</Properties>
</file>