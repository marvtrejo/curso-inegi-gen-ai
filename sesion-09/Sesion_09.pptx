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Encuadre: hoy no hay tema nuevo, se aplica todo. La 7 fue hacer bien el estimado (ponderar, error correcto, cuidar Simpson) y la 8 hacerlo reproducible (semilla, entorno). Hoy junto ambas de principio a fin sobre un microdato nuevo y mas grande, con un analisis de IA que trae errores para cazar. Es el Laboratorio Practico 3, y pesa en la rubrica. Sesion practica: poco pizarron, mucho teclado. Terminamos 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laboratorio, asi que el encuadre es corto y el grueso es teclado. Circulen entre las mesas en las partes 1 a 4. La puesta en comun de las 13:00 es clave: que dos o tres equipos cuenten que error de la IA cazaron y como lo arreglaron. Lo que no termine se entrega despues.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Deje claro que hoy no se ensena nada nuevo: se aplica la 7 y la 8. Izquierda, lo de la 7: ponderar, EE correcto, condicionar. Derecha, lo de la 8: semilla, entorno, funciones probadas, flujo que corre de cero. Y la prueba nueva del capstone: un analisis de IA con errores plantados que tienen que cazar y corregir. Es exactamente lo que haran en su trabajo: revisar lo que un asistente produjo.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Presente el microdato nuevo. Es la misma estructura que la 7 (estrato, upm, factor, programa, ingreso, score) para que apliquen lo aprendido, pero mas grande, 900 hogares, y con otros valores. Recalque que los numeros seran distintos a los de la 7: no pueden copiar, tienen que rehacer el flujo. score es el indice de resultado 0 a 100, programa es el tratamiento.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el mapa del laboratorio, y coincide con las partes de la tarea. Los tres primeros pasos son la Sesion 7, los dos ultimos la 8. Insista en que ambas mitades son necesarias: correcto pero no reproducible no sirve, y reproducible pero mal, tampoco.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Recorra las cinco partes. Las tres primeras son estimar bien (Sesion 7), la cuarta es la auditoria del analisis de IA, la quinta es dejarlo reproducible (Sesion 8). Enfatice la regla dura: no basta el numero, va con su razon escrita. Eso es lo que evalua la rubrica.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La parte 4 es el capstone de la auditoria. El analisis de IA que reciben comete los tres errores de la Sesion 7 a la vez: promedio crudo sin ponderar, error estandar clasico, y conclusion agregada con el signo posiblemente invertido. Cada uno tiene su correccion: ponderar, conglomerar, estratificar. Que no le crean porque corre y se ve bien; que lo auditen. Esto es lo que haran en su trabajo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Dos versiones del mismo laboratorio: R con survey y estimatr para economia, Python con pandas y statsmodels para los que programan en Python. Las tareas y los numeros correctos son identicos, verificados en ambos. Que cada quien use el lenguaje que domina; lo que se evalua es el mismo criterio.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Transparente la rubrica del laboratorio, que es parte del 40% de labs. Cinco criterios: estimado correcto (ponderado y EE bueno), Simpson cazado, auditoria de la IA (los tres errores), reproducibilidad, y justificacion escrita. El mensaje: no se califica que corra, se califica que sea correcto, defendible, repetible, y que hayan auditado a la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Cierre con la idea que atraviesa las tres sesiones: la IA escribe rapido y cada vez falla menos en lo mecanico, pero el diseno, la inferencia honesta, el signo correcto y la reproducibilidad son criterio humano. Confirme el entregable y que estas practicas sostienen el proyecto final. Agradezca y cierre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9784080" y="-1188720"/>
            <a:ext cx="3566160" cy="3566160"/>
          </a:xfrm>
          <a:prstGeom prst="ellipse">
            <a:avLst/>
          </a:prstGeom>
          <a:solidFill>
            <a:srgbClr val="20384F"/>
          </a:solidFill>
          <a:ln/>
        </p:spPr>
      </p:sp>
      <p:sp>
        <p:nvSpPr>
          <p:cNvPr id="3" name="Shape 1"/>
          <p:cNvSpPr/>
          <p:nvPr/>
        </p:nvSpPr>
        <p:spPr>
          <a:xfrm>
            <a:off x="10881360" y="4572000"/>
            <a:ext cx="2560320" cy="2560320"/>
          </a:xfrm>
          <a:prstGeom prst="ellipse">
            <a:avLst/>
          </a:prstGeom>
          <a:solidFill>
            <a:srgbClr val="CB5E2E"/>
          </a:solidFill>
          <a:ln/>
        </p:spPr>
      </p:sp>
      <p:sp>
        <p:nvSpPr>
          <p:cNvPr id="4" name="Text 2"/>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300" b="1" spc="300" kern="0" dirty="0">
                <a:solidFill>
                  <a:srgbClr val="E58A5B"/>
                </a:solidFill>
                <a:latin typeface="Calibri" pitchFamily="34" charset="0"/>
                <a:ea typeface="Calibri" pitchFamily="34" charset="-122"/>
                <a:cs typeface="Calibri" pitchFamily="34" charset="-120"/>
              </a:rPr>
              <a:t>MÓDULO III · SESIÓN 9</a:t>
            </a:r>
            <a:endParaRPr lang="en-US" sz="1300" dirty="0"/>
          </a:p>
        </p:txBody>
      </p:sp>
      <p:sp>
        <p:nvSpPr>
          <p:cNvPr id="5" name="Text 3"/>
          <p:cNvSpPr txBox="1"/>
          <p:nvPr/>
        </p:nvSpPr>
        <p:spPr>
          <a:xfrm>
            <a:off x="822960" y="2103120"/>
            <a:ext cx="1060704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Laboratorio Cuantitativo Aplicado</a:t>
            </a:r>
            <a:endParaRPr lang="en-US" sz="4000" dirty="0"/>
          </a:p>
        </p:txBody>
      </p:sp>
      <p:sp>
        <p:nvSpPr>
          <p:cNvPr id="6" name="Text 4"/>
          <p:cNvSpPr txBox="1"/>
          <p:nvPr/>
        </p:nvSpPr>
        <p:spPr>
          <a:xfrm>
            <a:off x="822960" y="3200400"/>
            <a:ext cx="10424160" cy="548640"/>
          </a:xfrm>
          <a:prstGeom prst="rect">
            <a:avLst/>
          </a:prstGeom>
          <a:noFill/>
          <a:ln/>
        </p:spPr>
        <p:txBody>
          <a:bodyPr wrap="square" lIns="0" tIns="0" rIns="0" bIns="0" rtlCol="0" anchor="ctr"/>
          <a:lstStyle/>
          <a:p>
            <a:pPr indent="0" marL="0">
              <a:buNone/>
            </a:pPr>
            <a:r>
              <a:rPr lang="en-US" sz="1600" dirty="0">
                <a:solidFill>
                  <a:srgbClr val="E4EAF0"/>
                </a:solidFill>
                <a:latin typeface="Calibri" pitchFamily="34" charset="0"/>
                <a:ea typeface="Calibri" pitchFamily="34" charset="-122"/>
                <a:cs typeface="Calibri" pitchFamily="34" charset="-120"/>
              </a:rPr>
              <a:t>Un estimado defendible y reproducible, de principio a fin, y cazar el error de la IA</a:t>
            </a:r>
            <a:endParaRPr lang="en-US" sz="1600" dirty="0"/>
          </a:p>
        </p:txBody>
      </p:sp>
      <p:sp>
        <p:nvSpPr>
          <p:cNvPr id="7" name="Shape 5"/>
          <p:cNvSpPr/>
          <p:nvPr/>
        </p:nvSpPr>
        <p:spPr>
          <a:xfrm>
            <a:off x="841248" y="4114800"/>
            <a:ext cx="2926080" cy="0"/>
          </a:xfrm>
          <a:prstGeom prst="line">
            <a:avLst/>
          </a:prstGeom>
          <a:noFill/>
          <a:ln w="25400">
            <a:solidFill>
              <a:srgbClr val="CB5E2E"/>
            </a:solidFill>
            <a:prstDash val="solid"/>
          </a:ln>
        </p:spPr>
      </p:sp>
      <p:sp>
        <p:nvSpPr>
          <p:cNvPr id="8" name="Text 6"/>
          <p:cNvSpPr txBox="1"/>
          <p:nvPr/>
        </p:nvSpPr>
        <p:spPr>
          <a:xfrm>
            <a:off x="822960" y="4315968"/>
            <a:ext cx="10058400" cy="3657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Curso de Inteligencia Artificial Aplicada · INEGI 2026</a:t>
            </a:r>
            <a:endParaRPr lang="en-US" sz="1300" dirty="0"/>
          </a:p>
        </p:txBody>
      </p:sp>
      <p:sp>
        <p:nvSpPr>
          <p:cNvPr id="9" name="Text 7"/>
          <p:cNvSpPr txBox="1"/>
          <p:nvPr/>
        </p:nvSpPr>
        <p:spPr>
          <a:xfrm>
            <a:off x="822960" y="4663440"/>
            <a:ext cx="10058400" cy="365760"/>
          </a:xfrm>
          <a:prstGeom prst="rect">
            <a:avLst/>
          </a:prstGeom>
          <a:noFill/>
          <a:ln/>
        </p:spPr>
        <p:txBody>
          <a:bodyPr wrap="square" lIns="0" tIns="0" rIns="0" bIns="0" rtlCol="0" anchor="ctr"/>
          <a:lstStyle/>
          <a:p>
            <a:pPr indent="0" marL="0">
              <a:buNone/>
            </a:pPr>
            <a:r>
              <a:rPr lang="en-US" sz="1300" dirty="0">
                <a:solidFill>
                  <a:srgbClr val="60707E"/>
                </a:solidFill>
                <a:latin typeface="Calibri" pitchFamily="34" charset="0"/>
                <a:ea typeface="Calibri" pitchFamily="34" charset="-122"/>
                <a:cs typeface="Calibri" pitchFamily="34" charset="-120"/>
              </a:rPr>
              <a:t>Cierre del bloque cuantitativo · Laboratorio Práctico 3 · 11:00 a 13:30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usamos los 150 minutos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Sesión de laboratorio: casi todo es trabajo en teclado, con una puesta en común al final.</a:t>
            </a:r>
            <a:endParaRPr lang="en-US" sz="1400" dirty="0"/>
          </a:p>
        </p:txBody>
      </p:sp>
      <p:sp>
        <p:nvSpPr>
          <p:cNvPr id="4" name="Shape 2"/>
          <p:cNvSpPr/>
          <p:nvPr/>
        </p:nvSpPr>
        <p:spPr>
          <a:xfrm>
            <a:off x="548640" y="1828800"/>
            <a:ext cx="11091672" cy="585216"/>
          </a:xfrm>
          <a:prstGeom prst="rect">
            <a:avLst/>
          </a:prstGeom>
          <a:solidFill>
            <a:srgbClr val="EEF2F5"/>
          </a:solidFill>
          <a:ln w="6350">
            <a:solidFill>
              <a:srgbClr val="D5DCE3"/>
            </a:solidFill>
            <a:prstDash val="solid"/>
          </a:ln>
        </p:spPr>
      </p:sp>
      <p:sp>
        <p:nvSpPr>
          <p:cNvPr id="5" name="Text 3"/>
          <p:cNvSpPr txBox="1"/>
          <p:nvPr/>
        </p:nvSpPr>
        <p:spPr>
          <a:xfrm>
            <a:off x="685800" y="1828800"/>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11:00</a:t>
            </a:r>
            <a:endParaRPr lang="en-US" sz="1600" dirty="0"/>
          </a:p>
        </p:txBody>
      </p:sp>
      <p:sp>
        <p:nvSpPr>
          <p:cNvPr id="6" name="Text 4"/>
          <p:cNvSpPr txBox="1"/>
          <p:nvPr/>
        </p:nvSpPr>
        <p:spPr>
          <a:xfrm>
            <a:off x="2194560" y="1828800"/>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Encuadre y el microdato de hoy</a:t>
            </a:r>
            <a:endParaRPr lang="en-US" sz="1400" dirty="0"/>
          </a:p>
        </p:txBody>
      </p:sp>
      <p:sp>
        <p:nvSpPr>
          <p:cNvPr id="7" name="Shape 5"/>
          <p:cNvSpPr/>
          <p:nvPr/>
        </p:nvSpPr>
        <p:spPr>
          <a:xfrm>
            <a:off x="548640" y="2414016"/>
            <a:ext cx="11091672" cy="585216"/>
          </a:xfrm>
          <a:prstGeom prst="rect">
            <a:avLst/>
          </a:prstGeom>
          <a:solidFill>
            <a:srgbClr val="FFFFFF"/>
          </a:solidFill>
          <a:ln w="6350">
            <a:solidFill>
              <a:srgbClr val="D5DCE3"/>
            </a:solidFill>
            <a:prstDash val="solid"/>
          </a:ln>
        </p:spPr>
      </p:sp>
      <p:sp>
        <p:nvSpPr>
          <p:cNvPr id="8" name="Text 6"/>
          <p:cNvSpPr txBox="1"/>
          <p:nvPr/>
        </p:nvSpPr>
        <p:spPr>
          <a:xfrm>
            <a:off x="685800" y="2414016"/>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11:20</a:t>
            </a:r>
            <a:endParaRPr lang="en-US" sz="1600" dirty="0"/>
          </a:p>
        </p:txBody>
      </p:sp>
      <p:sp>
        <p:nvSpPr>
          <p:cNvPr id="9" name="Text 7"/>
          <p:cNvSpPr txBox="1"/>
          <p:nvPr/>
        </p:nvSpPr>
        <p:spPr>
          <a:xfrm>
            <a:off x="2194560" y="2414016"/>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Laboratorio · Partes 1 a 3: estimar bien</a:t>
            </a:r>
            <a:endParaRPr lang="en-US" sz="1400" dirty="0"/>
          </a:p>
        </p:txBody>
      </p:sp>
      <p:sp>
        <p:nvSpPr>
          <p:cNvPr id="10" name="Shape 8"/>
          <p:cNvSpPr/>
          <p:nvPr/>
        </p:nvSpPr>
        <p:spPr>
          <a:xfrm>
            <a:off x="548640" y="2999232"/>
            <a:ext cx="11091672" cy="585216"/>
          </a:xfrm>
          <a:prstGeom prst="rect">
            <a:avLst/>
          </a:prstGeom>
          <a:solidFill>
            <a:srgbClr val="FBEEE5"/>
          </a:solidFill>
          <a:ln w="6350">
            <a:solidFill>
              <a:srgbClr val="D5DCE3"/>
            </a:solidFill>
            <a:prstDash val="solid"/>
          </a:ln>
        </p:spPr>
      </p:sp>
      <p:sp>
        <p:nvSpPr>
          <p:cNvPr id="11" name="Text 9"/>
          <p:cNvSpPr txBox="1"/>
          <p:nvPr/>
        </p:nvSpPr>
        <p:spPr>
          <a:xfrm>
            <a:off x="685800" y="2999232"/>
            <a:ext cx="1371600" cy="585216"/>
          </a:xfrm>
          <a:prstGeom prst="rect">
            <a:avLst/>
          </a:prstGeom>
          <a:noFill/>
          <a:ln/>
        </p:spPr>
        <p:txBody>
          <a:bodyPr wrap="square" lIns="0" tIns="0" rIns="0" bIns="0" rtlCol="0" anchor="ctr"/>
          <a:lstStyle/>
          <a:p>
            <a:pPr indent="0" marL="0">
              <a:buNone/>
            </a:pPr>
            <a:r>
              <a:rPr lang="en-US" sz="1600" b="1" dirty="0">
                <a:solidFill>
                  <a:srgbClr val="8C3E19"/>
                </a:solidFill>
                <a:latin typeface="Cambria" pitchFamily="34" charset="0"/>
                <a:ea typeface="Cambria" pitchFamily="34" charset="-122"/>
                <a:cs typeface="Cambria" pitchFamily="34" charset="-120"/>
              </a:rPr>
              <a:t>12:00</a:t>
            </a:r>
            <a:endParaRPr lang="en-US" sz="1600" dirty="0"/>
          </a:p>
        </p:txBody>
      </p:sp>
      <p:sp>
        <p:nvSpPr>
          <p:cNvPr id="12" name="Text 10"/>
          <p:cNvSpPr txBox="1"/>
          <p:nvPr/>
        </p:nvSpPr>
        <p:spPr>
          <a:xfrm>
            <a:off x="2194560" y="2999232"/>
            <a:ext cx="9262872" cy="585216"/>
          </a:xfrm>
          <a:prstGeom prst="rect">
            <a:avLst/>
          </a:prstGeom>
          <a:noFill/>
          <a:ln/>
        </p:spPr>
        <p:txBody>
          <a:bodyPr wrap="square" lIns="0" tIns="0" rIns="0" bIns="0" rtlCol="0" anchor="ctr"/>
          <a:lstStyle/>
          <a:p>
            <a:pPr indent="0" marL="0">
              <a:buNone/>
            </a:pPr>
            <a:r>
              <a:rPr lang="en-US" sz="1400" b="1" dirty="0">
                <a:solidFill>
                  <a:srgbClr val="8C3E19"/>
                </a:solidFill>
                <a:latin typeface="Calibri" pitchFamily="34" charset="0"/>
                <a:ea typeface="Calibri" pitchFamily="34" charset="-122"/>
                <a:cs typeface="Calibri" pitchFamily="34" charset="-120"/>
              </a:rPr>
              <a:t>Receso · 10 minutos</a:t>
            </a:r>
            <a:endParaRPr lang="en-US" sz="1400" dirty="0"/>
          </a:p>
        </p:txBody>
      </p:sp>
      <p:sp>
        <p:nvSpPr>
          <p:cNvPr id="13" name="Shape 11"/>
          <p:cNvSpPr/>
          <p:nvPr/>
        </p:nvSpPr>
        <p:spPr>
          <a:xfrm>
            <a:off x="548640" y="3584448"/>
            <a:ext cx="11091672" cy="585216"/>
          </a:xfrm>
          <a:prstGeom prst="rect">
            <a:avLst/>
          </a:prstGeom>
          <a:solidFill>
            <a:srgbClr val="FFFFFF"/>
          </a:solidFill>
          <a:ln w="6350">
            <a:solidFill>
              <a:srgbClr val="D5DCE3"/>
            </a:solidFill>
            <a:prstDash val="solid"/>
          </a:ln>
        </p:spPr>
      </p:sp>
      <p:sp>
        <p:nvSpPr>
          <p:cNvPr id="14" name="Text 12"/>
          <p:cNvSpPr txBox="1"/>
          <p:nvPr/>
        </p:nvSpPr>
        <p:spPr>
          <a:xfrm>
            <a:off x="685800" y="3584448"/>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12:10</a:t>
            </a:r>
            <a:endParaRPr lang="en-US" sz="1600" dirty="0"/>
          </a:p>
        </p:txBody>
      </p:sp>
      <p:sp>
        <p:nvSpPr>
          <p:cNvPr id="15" name="Text 13"/>
          <p:cNvSpPr txBox="1"/>
          <p:nvPr/>
        </p:nvSpPr>
        <p:spPr>
          <a:xfrm>
            <a:off x="2194560" y="3584448"/>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Laboratorio · Parte 4: auditar a la IA, y Parte 5: reproducible</a:t>
            </a:r>
            <a:endParaRPr lang="en-US" sz="1400" dirty="0"/>
          </a:p>
        </p:txBody>
      </p:sp>
      <p:sp>
        <p:nvSpPr>
          <p:cNvPr id="16" name="Shape 14"/>
          <p:cNvSpPr/>
          <p:nvPr/>
        </p:nvSpPr>
        <p:spPr>
          <a:xfrm>
            <a:off x="548640" y="4169664"/>
            <a:ext cx="11091672" cy="585216"/>
          </a:xfrm>
          <a:prstGeom prst="rect">
            <a:avLst/>
          </a:prstGeom>
          <a:solidFill>
            <a:srgbClr val="EEF2F5"/>
          </a:solidFill>
          <a:ln w="6350">
            <a:solidFill>
              <a:srgbClr val="D5DCE3"/>
            </a:solidFill>
            <a:prstDash val="solid"/>
          </a:ln>
        </p:spPr>
      </p:sp>
      <p:sp>
        <p:nvSpPr>
          <p:cNvPr id="17" name="Text 15"/>
          <p:cNvSpPr txBox="1"/>
          <p:nvPr/>
        </p:nvSpPr>
        <p:spPr>
          <a:xfrm>
            <a:off x="685800" y="4169664"/>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13:00</a:t>
            </a:r>
            <a:endParaRPr lang="en-US" sz="1600" dirty="0"/>
          </a:p>
        </p:txBody>
      </p:sp>
      <p:sp>
        <p:nvSpPr>
          <p:cNvPr id="18" name="Text 16"/>
          <p:cNvSpPr txBox="1"/>
          <p:nvPr/>
        </p:nvSpPr>
        <p:spPr>
          <a:xfrm>
            <a:off x="2194560" y="4169664"/>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Puesta en común: qué encontraron y cómo lo corrigieron</a:t>
            </a:r>
            <a:endParaRPr lang="en-US" sz="1400" dirty="0"/>
          </a:p>
        </p:txBody>
      </p:sp>
      <p:sp>
        <p:nvSpPr>
          <p:cNvPr id="19" name="Shape 17"/>
          <p:cNvSpPr/>
          <p:nvPr/>
        </p:nvSpPr>
        <p:spPr>
          <a:xfrm>
            <a:off x="548640" y="4754880"/>
            <a:ext cx="11091672" cy="585216"/>
          </a:xfrm>
          <a:prstGeom prst="rect">
            <a:avLst/>
          </a:prstGeom>
          <a:solidFill>
            <a:srgbClr val="FFFFFF"/>
          </a:solidFill>
          <a:ln w="6350">
            <a:solidFill>
              <a:srgbClr val="D5DCE3"/>
            </a:solidFill>
            <a:prstDash val="solid"/>
          </a:ln>
        </p:spPr>
      </p:sp>
      <p:sp>
        <p:nvSpPr>
          <p:cNvPr id="20" name="Text 18"/>
          <p:cNvSpPr txBox="1"/>
          <p:nvPr/>
        </p:nvSpPr>
        <p:spPr>
          <a:xfrm>
            <a:off x="685800" y="4754880"/>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13:25</a:t>
            </a:r>
            <a:endParaRPr lang="en-US" sz="1600" dirty="0"/>
          </a:p>
        </p:txBody>
      </p:sp>
      <p:sp>
        <p:nvSpPr>
          <p:cNvPr id="21" name="Text 19"/>
          <p:cNvSpPr txBox="1"/>
          <p:nvPr/>
        </p:nvSpPr>
        <p:spPr>
          <a:xfrm>
            <a:off x="2194560" y="4754880"/>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Cierre y entrega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Hoy no hay tema nuevo: se aplica todo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El laboratorio junta las dos mitades del bloque cuantitativo sobre un caso nuevo, de principio a fin.</a:t>
            </a:r>
            <a:endParaRPr lang="en-US" sz="1400" dirty="0"/>
          </a:p>
        </p:txBody>
      </p:sp>
      <p:sp>
        <p:nvSpPr>
          <p:cNvPr id="4" name="Shape 2"/>
          <p:cNvSpPr/>
          <p:nvPr/>
        </p:nvSpPr>
        <p:spPr>
          <a:xfrm>
            <a:off x="548640" y="2011680"/>
            <a:ext cx="5394960" cy="2103120"/>
          </a:xfrm>
          <a:prstGeom prst="roundRect">
            <a:avLst>
              <a:gd name="adj" fmla="val 2609"/>
            </a:avLst>
          </a:prstGeom>
          <a:solidFill>
            <a:srgbClr val="EEF2F5"/>
          </a:solidFill>
          <a:ln w="9525">
            <a:solidFill>
              <a:srgbClr val="D5DCE3"/>
            </a:solidFill>
            <a:prstDash val="solid"/>
          </a:ln>
        </p:spPr>
      </p:sp>
      <p:sp>
        <p:nvSpPr>
          <p:cNvPr id="5" name="Text 3"/>
          <p:cNvSpPr txBox="1"/>
          <p:nvPr/>
        </p:nvSpPr>
        <p:spPr>
          <a:xfrm>
            <a:off x="822960" y="219456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De la Sesión 7: hacer bien el estimado</a:t>
            </a:r>
            <a:endParaRPr lang="en-US" sz="1500" dirty="0"/>
          </a:p>
        </p:txBody>
      </p:sp>
      <p:sp>
        <p:nvSpPr>
          <p:cNvPr id="6" name="Text 4"/>
          <p:cNvSpPr txBox="1"/>
          <p:nvPr/>
        </p:nvSpPr>
        <p:spPr>
          <a:xfrm>
            <a:off x="822960" y="2606040"/>
            <a:ext cx="4846320" cy="13716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Ponderar con el diseño, usar el error estándar correcto, y condicionar por subgrupo antes de concluir. El número que se defiende ante un comité.</a:t>
            </a:r>
            <a:endParaRPr lang="en-US" sz="1300" dirty="0"/>
          </a:p>
        </p:txBody>
      </p:sp>
      <p:sp>
        <p:nvSpPr>
          <p:cNvPr id="7" name="Shape 5"/>
          <p:cNvSpPr/>
          <p:nvPr/>
        </p:nvSpPr>
        <p:spPr>
          <a:xfrm>
            <a:off x="6245352" y="2011680"/>
            <a:ext cx="5394960" cy="2103120"/>
          </a:xfrm>
          <a:prstGeom prst="roundRect">
            <a:avLst>
              <a:gd name="adj" fmla="val 2609"/>
            </a:avLst>
          </a:prstGeom>
          <a:solidFill>
            <a:srgbClr val="EEF2F5"/>
          </a:solidFill>
          <a:ln w="9525">
            <a:solidFill>
              <a:srgbClr val="D5DCE3"/>
            </a:solidFill>
            <a:prstDash val="solid"/>
          </a:ln>
        </p:spPr>
      </p:sp>
      <p:sp>
        <p:nvSpPr>
          <p:cNvPr id="8" name="Text 6"/>
          <p:cNvSpPr txBox="1"/>
          <p:nvPr/>
        </p:nvSpPr>
        <p:spPr>
          <a:xfrm>
            <a:off x="6519672" y="219456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De la Sesión 8: hacerlo reproducible</a:t>
            </a:r>
            <a:endParaRPr lang="en-US" sz="1500" dirty="0"/>
          </a:p>
        </p:txBody>
      </p:sp>
      <p:sp>
        <p:nvSpPr>
          <p:cNvPr id="9" name="Text 7"/>
          <p:cNvSpPr txBox="1"/>
          <p:nvPr/>
        </p:nvSpPr>
        <p:spPr>
          <a:xfrm>
            <a:off x="6519672" y="2606040"/>
            <a:ext cx="4846320" cy="13716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Fijar la semilla y el entorno, usar funciones probadas, y dejar un flujo que corre igual de cero. El número que cualquiera repite.</a:t>
            </a:r>
            <a:endParaRPr lang="en-US" sz="1300" dirty="0"/>
          </a:p>
        </p:txBody>
      </p:sp>
      <p:sp>
        <p:nvSpPr>
          <p:cNvPr id="10" name="Shape 8"/>
          <p:cNvSpPr/>
          <p:nvPr/>
        </p:nvSpPr>
        <p:spPr>
          <a:xfrm>
            <a:off x="548640" y="4434840"/>
            <a:ext cx="11091672" cy="1280160"/>
          </a:xfrm>
          <a:prstGeom prst="roundRect">
            <a:avLst>
              <a:gd name="adj" fmla="val 4286"/>
            </a:avLst>
          </a:prstGeom>
          <a:solidFill>
            <a:srgbClr val="15293B"/>
          </a:solidFill>
          <a:ln w="9525">
            <a:solidFill>
              <a:srgbClr val="D5DCE3"/>
            </a:solidFill>
            <a:prstDash val="solid"/>
          </a:ln>
        </p:spPr>
      </p:sp>
      <p:sp>
        <p:nvSpPr>
          <p:cNvPr id="11" name="Text 9"/>
          <p:cNvSpPr txBox="1"/>
          <p:nvPr/>
        </p:nvSpPr>
        <p:spPr>
          <a:xfrm>
            <a:off x="868680" y="4590288"/>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Y una prueba nueva: cazar el error de la IA</a:t>
            </a:r>
            <a:endParaRPr lang="en-US" sz="1600" dirty="0"/>
          </a:p>
        </p:txBody>
      </p:sp>
      <p:sp>
        <p:nvSpPr>
          <p:cNvPr id="12" name="Text 10"/>
          <p:cNvSpPr txBox="1"/>
          <p:nvPr/>
        </p:nvSpPr>
        <p:spPr>
          <a:xfrm>
            <a:off x="868680" y="4974336"/>
            <a:ext cx="10451592" cy="68580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Les damos un análisis que escribió un asistente sobre el microdato de hoy. Corre y se ve bien, pero trae errores. Su trabajo es encontrarlos, corregirlos, y dejar el resultado reproducible.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microdato de hoy</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Un archivo nuevo y más grande, con la misma forma de encuesta: datos_encuesta_s9.csv, 900 hogares. Es distinto al de la Sesión 7 a propósito.</a:t>
            </a:r>
            <a:endParaRPr lang="en-US" sz="1400" dirty="0"/>
          </a:p>
        </p:txBody>
      </p:sp>
      <p:sp>
        <p:nvSpPr>
          <p:cNvPr id="4" name="Shape 2"/>
          <p:cNvSpPr/>
          <p:nvPr/>
        </p:nvSpPr>
        <p:spPr>
          <a:xfrm>
            <a:off x="548640" y="1783080"/>
            <a:ext cx="2468880" cy="493776"/>
          </a:xfrm>
          <a:prstGeom prst="rect">
            <a:avLst/>
          </a:prstGeom>
          <a:solidFill>
            <a:srgbClr val="15293B"/>
          </a:solidFill>
          <a:ln w="6350">
            <a:solidFill>
              <a:srgbClr val="FFFFFF"/>
            </a:solidFill>
            <a:prstDash val="solid"/>
          </a:ln>
        </p:spPr>
      </p:sp>
      <p:sp>
        <p:nvSpPr>
          <p:cNvPr id="5" name="Text 3"/>
          <p:cNvSpPr txBox="1"/>
          <p:nvPr/>
        </p:nvSpPr>
        <p:spPr>
          <a:xfrm>
            <a:off x="548640" y="1783080"/>
            <a:ext cx="246888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p>
        </p:txBody>
      </p:sp>
      <p:sp>
        <p:nvSpPr>
          <p:cNvPr id="6" name="Shape 4"/>
          <p:cNvSpPr/>
          <p:nvPr/>
        </p:nvSpPr>
        <p:spPr>
          <a:xfrm>
            <a:off x="3017520" y="1783080"/>
            <a:ext cx="5943600" cy="493776"/>
          </a:xfrm>
          <a:prstGeom prst="rect">
            <a:avLst/>
          </a:prstGeom>
          <a:solidFill>
            <a:srgbClr val="15293B"/>
          </a:solidFill>
          <a:ln w="6350">
            <a:solidFill>
              <a:srgbClr val="FFFFFF"/>
            </a:solidFill>
            <a:prstDash val="solid"/>
          </a:ln>
        </p:spPr>
      </p:sp>
      <p:sp>
        <p:nvSpPr>
          <p:cNvPr id="7" name="Text 5"/>
          <p:cNvSpPr txBox="1"/>
          <p:nvPr/>
        </p:nvSpPr>
        <p:spPr>
          <a:xfrm>
            <a:off x="3017520" y="1783080"/>
            <a:ext cx="594360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es</a:t>
            </a:r>
            <a:endParaRPr lang="en-US" sz="1200" dirty="0"/>
          </a:p>
        </p:txBody>
      </p:sp>
      <p:sp>
        <p:nvSpPr>
          <p:cNvPr id="8" name="Shape 6"/>
          <p:cNvSpPr/>
          <p:nvPr/>
        </p:nvSpPr>
        <p:spPr>
          <a:xfrm>
            <a:off x="8961120" y="1783080"/>
            <a:ext cx="2679192" cy="493776"/>
          </a:xfrm>
          <a:prstGeom prst="rect">
            <a:avLst/>
          </a:prstGeom>
          <a:solidFill>
            <a:srgbClr val="15293B"/>
          </a:solidFill>
          <a:ln w="6350">
            <a:solidFill>
              <a:srgbClr val="FFFFFF"/>
            </a:solidFill>
            <a:prstDash val="solid"/>
          </a:ln>
        </p:spPr>
      </p:sp>
      <p:sp>
        <p:nvSpPr>
          <p:cNvPr id="9" name="Text 7"/>
          <p:cNvSpPr txBox="1"/>
          <p:nvPr/>
        </p:nvSpPr>
        <p:spPr>
          <a:xfrm>
            <a:off x="8961120" y="1783080"/>
            <a:ext cx="2679192"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p>
        </p:txBody>
      </p:sp>
      <p:sp>
        <p:nvSpPr>
          <p:cNvPr id="10" name="Shape 8"/>
          <p:cNvSpPr/>
          <p:nvPr/>
        </p:nvSpPr>
        <p:spPr>
          <a:xfrm>
            <a:off x="548640" y="2276856"/>
            <a:ext cx="2468880" cy="493776"/>
          </a:xfrm>
          <a:prstGeom prst="rect">
            <a:avLst/>
          </a:prstGeom>
          <a:solidFill>
            <a:srgbClr val="EEF2F5"/>
          </a:solidFill>
          <a:ln w="6350">
            <a:solidFill>
              <a:srgbClr val="D5DCE3"/>
            </a:solidFill>
            <a:prstDash val="solid"/>
          </a:ln>
        </p:spPr>
      </p:sp>
      <p:sp>
        <p:nvSpPr>
          <p:cNvPr id="11" name="Text 9"/>
          <p:cNvSpPr txBox="1"/>
          <p:nvPr/>
        </p:nvSpPr>
        <p:spPr>
          <a:xfrm>
            <a:off x="621792" y="2276856"/>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estrato</a:t>
            </a:r>
            <a:endParaRPr lang="en-US" sz="1250" dirty="0"/>
          </a:p>
        </p:txBody>
      </p:sp>
      <p:sp>
        <p:nvSpPr>
          <p:cNvPr id="12" name="Shape 10"/>
          <p:cNvSpPr/>
          <p:nvPr/>
        </p:nvSpPr>
        <p:spPr>
          <a:xfrm>
            <a:off x="3017520" y="2276856"/>
            <a:ext cx="5943600" cy="493776"/>
          </a:xfrm>
          <a:prstGeom prst="rect">
            <a:avLst/>
          </a:prstGeom>
          <a:solidFill>
            <a:srgbClr val="EEF2F5"/>
          </a:solidFill>
          <a:ln w="6350">
            <a:solidFill>
              <a:srgbClr val="D5DCE3"/>
            </a:solidFill>
            <a:prstDash val="solid"/>
          </a:ln>
        </p:spPr>
      </p:sp>
      <p:sp>
        <p:nvSpPr>
          <p:cNvPr id="13" name="Text 11"/>
          <p:cNvSpPr txBox="1"/>
          <p:nvPr/>
        </p:nvSpPr>
        <p:spPr>
          <a:xfrm>
            <a:off x="3090672" y="2276856"/>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Nivel de marginación del hogar: Alta, Media o Baja</a:t>
            </a:r>
            <a:endParaRPr lang="en-US" sz="1250" dirty="0"/>
          </a:p>
        </p:txBody>
      </p:sp>
      <p:sp>
        <p:nvSpPr>
          <p:cNvPr id="14" name="Shape 12"/>
          <p:cNvSpPr/>
          <p:nvPr/>
        </p:nvSpPr>
        <p:spPr>
          <a:xfrm>
            <a:off x="8961120" y="2276856"/>
            <a:ext cx="2679192" cy="493776"/>
          </a:xfrm>
          <a:prstGeom prst="rect">
            <a:avLst/>
          </a:prstGeom>
          <a:solidFill>
            <a:srgbClr val="EEF2F5"/>
          </a:solidFill>
          <a:ln w="6350">
            <a:solidFill>
              <a:srgbClr val="D5DCE3"/>
            </a:solidFill>
            <a:prstDash val="solid"/>
          </a:ln>
        </p:spPr>
      </p:sp>
      <p:sp>
        <p:nvSpPr>
          <p:cNvPr id="15" name="Text 13"/>
          <p:cNvSpPr txBox="1"/>
          <p:nvPr/>
        </p:nvSpPr>
        <p:spPr>
          <a:xfrm>
            <a:off x="9034272" y="2276856"/>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Estratificación</a:t>
            </a:r>
            <a:endParaRPr lang="en-US" sz="1250" dirty="0"/>
          </a:p>
        </p:txBody>
      </p:sp>
      <p:sp>
        <p:nvSpPr>
          <p:cNvPr id="16" name="Shape 14"/>
          <p:cNvSpPr/>
          <p:nvPr/>
        </p:nvSpPr>
        <p:spPr>
          <a:xfrm>
            <a:off x="548640" y="2770632"/>
            <a:ext cx="2468880" cy="493776"/>
          </a:xfrm>
          <a:prstGeom prst="rect">
            <a:avLst/>
          </a:prstGeom>
          <a:solidFill>
            <a:srgbClr val="FFFFFF"/>
          </a:solidFill>
          <a:ln w="6350">
            <a:solidFill>
              <a:srgbClr val="D5DCE3"/>
            </a:solidFill>
            <a:prstDash val="solid"/>
          </a:ln>
        </p:spPr>
      </p:sp>
      <p:sp>
        <p:nvSpPr>
          <p:cNvPr id="17" name="Text 15"/>
          <p:cNvSpPr txBox="1"/>
          <p:nvPr/>
        </p:nvSpPr>
        <p:spPr>
          <a:xfrm>
            <a:off x="621792" y="2770632"/>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upm  ·  factor</a:t>
            </a:r>
            <a:endParaRPr lang="en-US" sz="1250" dirty="0"/>
          </a:p>
        </p:txBody>
      </p:sp>
      <p:sp>
        <p:nvSpPr>
          <p:cNvPr id="18" name="Shape 16"/>
          <p:cNvSpPr/>
          <p:nvPr/>
        </p:nvSpPr>
        <p:spPr>
          <a:xfrm>
            <a:off x="3017520" y="2770632"/>
            <a:ext cx="5943600" cy="493776"/>
          </a:xfrm>
          <a:prstGeom prst="rect">
            <a:avLst/>
          </a:prstGeom>
          <a:solidFill>
            <a:srgbClr val="FFFFFF"/>
          </a:solidFill>
          <a:ln w="6350">
            <a:solidFill>
              <a:srgbClr val="D5DCE3"/>
            </a:solidFill>
            <a:prstDash val="solid"/>
          </a:ln>
        </p:spPr>
      </p:sp>
      <p:sp>
        <p:nvSpPr>
          <p:cNvPr id="19" name="Text 17"/>
          <p:cNvSpPr txBox="1"/>
          <p:nvPr/>
        </p:nvSpPr>
        <p:spPr>
          <a:xfrm>
            <a:off x="3090672" y="2770632"/>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Conglomerado (unidad primaria de muestreo) y factor de expansión</a:t>
            </a:r>
            <a:endParaRPr lang="en-US" sz="1250" dirty="0"/>
          </a:p>
        </p:txBody>
      </p:sp>
      <p:sp>
        <p:nvSpPr>
          <p:cNvPr id="20" name="Shape 18"/>
          <p:cNvSpPr/>
          <p:nvPr/>
        </p:nvSpPr>
        <p:spPr>
          <a:xfrm>
            <a:off x="8961120" y="2770632"/>
            <a:ext cx="2679192" cy="493776"/>
          </a:xfrm>
          <a:prstGeom prst="rect">
            <a:avLst/>
          </a:prstGeom>
          <a:solidFill>
            <a:srgbClr val="FFFFFF"/>
          </a:solidFill>
          <a:ln w="6350">
            <a:solidFill>
              <a:srgbClr val="D5DCE3"/>
            </a:solidFill>
            <a:prstDash val="solid"/>
          </a:ln>
        </p:spPr>
      </p:sp>
      <p:sp>
        <p:nvSpPr>
          <p:cNvPr id="21" name="Text 19"/>
          <p:cNvSpPr txBox="1"/>
          <p:nvPr/>
        </p:nvSpPr>
        <p:spPr>
          <a:xfrm>
            <a:off x="9034272" y="2770632"/>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Diseño e inferencia</a:t>
            </a:r>
            <a:endParaRPr lang="en-US" sz="1250" dirty="0"/>
          </a:p>
        </p:txBody>
      </p:sp>
      <p:sp>
        <p:nvSpPr>
          <p:cNvPr id="22" name="Shape 20"/>
          <p:cNvSpPr/>
          <p:nvPr/>
        </p:nvSpPr>
        <p:spPr>
          <a:xfrm>
            <a:off x="548640" y="3264408"/>
            <a:ext cx="2468880" cy="493776"/>
          </a:xfrm>
          <a:prstGeom prst="rect">
            <a:avLst/>
          </a:prstGeom>
          <a:solidFill>
            <a:srgbClr val="EEF2F5"/>
          </a:solidFill>
          <a:ln w="6350">
            <a:solidFill>
              <a:srgbClr val="D5DCE3"/>
            </a:solidFill>
            <a:prstDash val="solid"/>
          </a:ln>
        </p:spPr>
      </p:sp>
      <p:sp>
        <p:nvSpPr>
          <p:cNvPr id="23" name="Text 21"/>
          <p:cNvSpPr txBox="1"/>
          <p:nvPr/>
        </p:nvSpPr>
        <p:spPr>
          <a:xfrm>
            <a:off x="621792" y="3264408"/>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ingreso</a:t>
            </a:r>
            <a:endParaRPr lang="en-US" sz="1250" dirty="0"/>
          </a:p>
        </p:txBody>
      </p:sp>
      <p:sp>
        <p:nvSpPr>
          <p:cNvPr id="24" name="Shape 22"/>
          <p:cNvSpPr/>
          <p:nvPr/>
        </p:nvSpPr>
        <p:spPr>
          <a:xfrm>
            <a:off x="3017520" y="3264408"/>
            <a:ext cx="5943600" cy="493776"/>
          </a:xfrm>
          <a:prstGeom prst="rect">
            <a:avLst/>
          </a:prstGeom>
          <a:solidFill>
            <a:srgbClr val="EEF2F5"/>
          </a:solidFill>
          <a:ln w="6350">
            <a:solidFill>
              <a:srgbClr val="D5DCE3"/>
            </a:solidFill>
            <a:prstDash val="solid"/>
          </a:ln>
        </p:spPr>
      </p:sp>
      <p:sp>
        <p:nvSpPr>
          <p:cNvPr id="25" name="Text 23"/>
          <p:cNvSpPr txBox="1"/>
          <p:nvPr/>
        </p:nvSpPr>
        <p:spPr>
          <a:xfrm>
            <a:off x="3090672" y="3264408"/>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Ingreso mensual del hogar, en pesos</a:t>
            </a:r>
            <a:endParaRPr lang="en-US" sz="1250" dirty="0"/>
          </a:p>
        </p:txBody>
      </p:sp>
      <p:sp>
        <p:nvSpPr>
          <p:cNvPr id="26" name="Shape 24"/>
          <p:cNvSpPr/>
          <p:nvPr/>
        </p:nvSpPr>
        <p:spPr>
          <a:xfrm>
            <a:off x="8961120" y="3264408"/>
            <a:ext cx="2679192" cy="493776"/>
          </a:xfrm>
          <a:prstGeom prst="rect">
            <a:avLst/>
          </a:prstGeom>
          <a:solidFill>
            <a:srgbClr val="EEF2F5"/>
          </a:solidFill>
          <a:ln w="6350">
            <a:solidFill>
              <a:srgbClr val="D5DCE3"/>
            </a:solidFill>
            <a:prstDash val="solid"/>
          </a:ln>
        </p:spPr>
      </p:sp>
      <p:sp>
        <p:nvSpPr>
          <p:cNvPr id="27" name="Text 25"/>
          <p:cNvSpPr txBox="1"/>
          <p:nvPr/>
        </p:nvSpPr>
        <p:spPr>
          <a:xfrm>
            <a:off x="9034272" y="3264408"/>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Estimar la media</a:t>
            </a:r>
            <a:endParaRPr lang="en-US" sz="1250" dirty="0"/>
          </a:p>
        </p:txBody>
      </p:sp>
      <p:sp>
        <p:nvSpPr>
          <p:cNvPr id="28" name="Shape 26"/>
          <p:cNvSpPr/>
          <p:nvPr/>
        </p:nvSpPr>
        <p:spPr>
          <a:xfrm>
            <a:off x="548640" y="3758184"/>
            <a:ext cx="2468880" cy="493776"/>
          </a:xfrm>
          <a:prstGeom prst="rect">
            <a:avLst/>
          </a:prstGeom>
          <a:solidFill>
            <a:srgbClr val="FFFFFF"/>
          </a:solidFill>
          <a:ln w="6350">
            <a:solidFill>
              <a:srgbClr val="D5DCE3"/>
            </a:solidFill>
            <a:prstDash val="solid"/>
          </a:ln>
        </p:spPr>
      </p:sp>
      <p:sp>
        <p:nvSpPr>
          <p:cNvPr id="29" name="Text 27"/>
          <p:cNvSpPr txBox="1"/>
          <p:nvPr/>
        </p:nvSpPr>
        <p:spPr>
          <a:xfrm>
            <a:off x="621792" y="3758184"/>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programa</a:t>
            </a:r>
            <a:endParaRPr lang="en-US" sz="1250" dirty="0"/>
          </a:p>
        </p:txBody>
      </p:sp>
      <p:sp>
        <p:nvSpPr>
          <p:cNvPr id="30" name="Shape 28"/>
          <p:cNvSpPr/>
          <p:nvPr/>
        </p:nvSpPr>
        <p:spPr>
          <a:xfrm>
            <a:off x="3017520" y="3758184"/>
            <a:ext cx="5943600" cy="493776"/>
          </a:xfrm>
          <a:prstGeom prst="rect">
            <a:avLst/>
          </a:prstGeom>
          <a:solidFill>
            <a:srgbClr val="FFFFFF"/>
          </a:solidFill>
          <a:ln w="6350">
            <a:solidFill>
              <a:srgbClr val="D5DCE3"/>
            </a:solidFill>
            <a:prstDash val="solid"/>
          </a:ln>
        </p:spPr>
      </p:sp>
      <p:sp>
        <p:nvSpPr>
          <p:cNvPr id="31" name="Text 29"/>
          <p:cNvSpPr txBox="1"/>
          <p:nvPr/>
        </p:nvSpPr>
        <p:spPr>
          <a:xfrm>
            <a:off x="3090672" y="3758184"/>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Recibe el apoyo: 0 = no, 1 = sí (el tratamiento)</a:t>
            </a:r>
            <a:endParaRPr lang="en-US" sz="1250" dirty="0"/>
          </a:p>
        </p:txBody>
      </p:sp>
      <p:sp>
        <p:nvSpPr>
          <p:cNvPr id="32" name="Shape 30"/>
          <p:cNvSpPr/>
          <p:nvPr/>
        </p:nvSpPr>
        <p:spPr>
          <a:xfrm>
            <a:off x="8961120" y="3758184"/>
            <a:ext cx="2679192" cy="493776"/>
          </a:xfrm>
          <a:prstGeom prst="rect">
            <a:avLst/>
          </a:prstGeom>
          <a:solidFill>
            <a:srgbClr val="FFFFFF"/>
          </a:solidFill>
          <a:ln w="6350">
            <a:solidFill>
              <a:srgbClr val="D5DCE3"/>
            </a:solidFill>
            <a:prstDash val="solid"/>
          </a:ln>
        </p:spPr>
      </p:sp>
      <p:sp>
        <p:nvSpPr>
          <p:cNvPr id="33" name="Text 31"/>
          <p:cNvSpPr txBox="1"/>
          <p:nvPr/>
        </p:nvSpPr>
        <p:spPr>
          <a:xfrm>
            <a:off x="9034272" y="3758184"/>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El efecto</a:t>
            </a:r>
            <a:endParaRPr lang="en-US" sz="1250" dirty="0"/>
          </a:p>
        </p:txBody>
      </p:sp>
      <p:sp>
        <p:nvSpPr>
          <p:cNvPr id="34" name="Shape 32"/>
          <p:cNvSpPr/>
          <p:nvPr/>
        </p:nvSpPr>
        <p:spPr>
          <a:xfrm>
            <a:off x="548640" y="4251960"/>
            <a:ext cx="2468880" cy="493776"/>
          </a:xfrm>
          <a:prstGeom prst="rect">
            <a:avLst/>
          </a:prstGeom>
          <a:solidFill>
            <a:srgbClr val="EEF2F5"/>
          </a:solidFill>
          <a:ln w="6350">
            <a:solidFill>
              <a:srgbClr val="D5DCE3"/>
            </a:solidFill>
            <a:prstDash val="solid"/>
          </a:ln>
        </p:spPr>
      </p:sp>
      <p:sp>
        <p:nvSpPr>
          <p:cNvPr id="35" name="Text 33"/>
          <p:cNvSpPr txBox="1"/>
          <p:nvPr/>
        </p:nvSpPr>
        <p:spPr>
          <a:xfrm>
            <a:off x="621792" y="4251960"/>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score</a:t>
            </a:r>
            <a:endParaRPr lang="en-US" sz="1250" dirty="0"/>
          </a:p>
        </p:txBody>
      </p:sp>
      <p:sp>
        <p:nvSpPr>
          <p:cNvPr id="36" name="Shape 34"/>
          <p:cNvSpPr/>
          <p:nvPr/>
        </p:nvSpPr>
        <p:spPr>
          <a:xfrm>
            <a:off x="3017520" y="4251960"/>
            <a:ext cx="5943600" cy="493776"/>
          </a:xfrm>
          <a:prstGeom prst="rect">
            <a:avLst/>
          </a:prstGeom>
          <a:solidFill>
            <a:srgbClr val="EEF2F5"/>
          </a:solidFill>
          <a:ln w="6350">
            <a:solidFill>
              <a:srgbClr val="D5DCE3"/>
            </a:solidFill>
            <a:prstDash val="solid"/>
          </a:ln>
        </p:spPr>
      </p:sp>
      <p:sp>
        <p:nvSpPr>
          <p:cNvPr id="37" name="Text 35"/>
          <p:cNvSpPr txBox="1"/>
          <p:nvPr/>
        </p:nvSpPr>
        <p:spPr>
          <a:xfrm>
            <a:off x="3090672" y="4251960"/>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Índice de resultado de 0 a 100 (p. ej. seguridad alimentaria)</a:t>
            </a:r>
            <a:endParaRPr lang="en-US" sz="1250" dirty="0"/>
          </a:p>
        </p:txBody>
      </p:sp>
      <p:sp>
        <p:nvSpPr>
          <p:cNvPr id="38" name="Shape 36"/>
          <p:cNvSpPr/>
          <p:nvPr/>
        </p:nvSpPr>
        <p:spPr>
          <a:xfrm>
            <a:off x="8961120" y="4251960"/>
            <a:ext cx="2679192" cy="493776"/>
          </a:xfrm>
          <a:prstGeom prst="rect">
            <a:avLst/>
          </a:prstGeom>
          <a:solidFill>
            <a:srgbClr val="EEF2F5"/>
          </a:solidFill>
          <a:ln w="6350">
            <a:solidFill>
              <a:srgbClr val="D5DCE3"/>
            </a:solidFill>
            <a:prstDash val="solid"/>
          </a:ln>
        </p:spPr>
      </p:sp>
      <p:sp>
        <p:nvSpPr>
          <p:cNvPr id="39" name="Text 37"/>
          <p:cNvSpPr txBox="1"/>
          <p:nvPr/>
        </p:nvSpPr>
        <p:spPr>
          <a:xfrm>
            <a:off x="9034272" y="4251960"/>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El efecto</a:t>
            </a:r>
            <a:endParaRPr lang="en-US" sz="1250" dirty="0"/>
          </a:p>
        </p:txBody>
      </p:sp>
      <p:sp>
        <p:nvSpPr>
          <p:cNvPr id="40" name="Shape 38"/>
          <p:cNvSpPr/>
          <p:nvPr/>
        </p:nvSpPr>
        <p:spPr>
          <a:xfrm>
            <a:off x="548640" y="6053328"/>
            <a:ext cx="11091672" cy="603504"/>
          </a:xfrm>
          <a:prstGeom prst="rect">
            <a:avLst/>
          </a:prstGeom>
          <a:solidFill>
            <a:srgbClr val="FBEEE5"/>
          </a:solidFill>
          <a:ln/>
        </p:spPr>
      </p:sp>
      <p:sp>
        <p:nvSpPr>
          <p:cNvPr id="41" name="Shape 39"/>
          <p:cNvSpPr/>
          <p:nvPr/>
        </p:nvSpPr>
        <p:spPr>
          <a:xfrm>
            <a:off x="749808" y="6272784"/>
            <a:ext cx="164592" cy="164592"/>
          </a:xfrm>
          <a:prstGeom prst="roundRect">
            <a:avLst>
              <a:gd name="adj" fmla="val 22222"/>
            </a:avLst>
          </a:prstGeom>
          <a:solidFill>
            <a:srgbClr val="CB5E2E"/>
          </a:solidFill>
          <a:ln/>
        </p:spPr>
      </p:sp>
      <p:sp>
        <p:nvSpPr>
          <p:cNvPr id="42" name="Text 40"/>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Mismas columnas que la Sesión 7, pero otros datos y más grande. Los números que obtengan no son los que ya vieron: hay que rehacer el análisis completo.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flujo que van a aplicar</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Las piezas de la Sesión 7 y la 8, en orden. El laboratorio las recorre una por una.</a:t>
            </a:r>
            <a:endParaRPr lang="en-US" sz="1400" dirty="0"/>
          </a:p>
        </p:txBody>
      </p:sp>
      <p:sp>
        <p:nvSpPr>
          <p:cNvPr id="4" name="Shape 2"/>
          <p:cNvSpPr/>
          <p:nvPr/>
        </p:nvSpPr>
        <p:spPr>
          <a:xfrm>
            <a:off x="548640" y="2194560"/>
            <a:ext cx="2035454" cy="2377440"/>
          </a:xfrm>
          <a:prstGeom prst="roundRect">
            <a:avLst>
              <a:gd name="adj" fmla="val 2695"/>
            </a:avLst>
          </a:prstGeom>
          <a:solidFill>
            <a:srgbClr val="EEF2F5"/>
          </a:solidFill>
          <a:ln w="9525">
            <a:solidFill>
              <a:srgbClr val="D5DCE3"/>
            </a:solidFill>
            <a:prstDash val="solid"/>
          </a:ln>
        </p:spPr>
      </p:sp>
      <p:sp>
        <p:nvSpPr>
          <p:cNvPr id="5" name="Shape 3"/>
          <p:cNvSpPr/>
          <p:nvPr/>
        </p:nvSpPr>
        <p:spPr>
          <a:xfrm>
            <a:off x="1292047" y="2450592"/>
            <a:ext cx="548640" cy="548640"/>
          </a:xfrm>
          <a:prstGeom prst="ellipse">
            <a:avLst/>
          </a:prstGeom>
          <a:solidFill>
            <a:srgbClr val="CB5E2E"/>
          </a:solidFill>
          <a:ln/>
        </p:spPr>
      </p:sp>
      <p:sp>
        <p:nvSpPr>
          <p:cNvPr id="6" name="Text 4"/>
          <p:cNvSpPr txBox="1"/>
          <p:nvPr/>
        </p:nvSpPr>
        <p:spPr>
          <a:xfrm>
            <a:off x="1292047"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58368"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Explorar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y ponderar</a:t>
            </a:r>
            <a:endParaRPr lang="en-US" sz="1450" dirty="0"/>
          </a:p>
        </p:txBody>
      </p:sp>
      <p:sp>
        <p:nvSpPr>
          <p:cNvPr id="8" name="Text 6"/>
          <p:cNvSpPr txBox="1"/>
          <p:nvPr/>
        </p:nvSpPr>
        <p:spPr>
          <a:xfrm>
            <a:off x="658368" y="4069080"/>
            <a:ext cx="1815998" cy="36576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S7</a:t>
            </a:r>
            <a:endParaRPr lang="en-US" sz="1200" dirty="0"/>
          </a:p>
        </p:txBody>
      </p:sp>
      <p:sp>
        <p:nvSpPr>
          <p:cNvPr id="9" name="Shape 7"/>
          <p:cNvSpPr/>
          <p:nvPr/>
        </p:nvSpPr>
        <p:spPr>
          <a:xfrm>
            <a:off x="2812694" y="2194560"/>
            <a:ext cx="2035454" cy="2377440"/>
          </a:xfrm>
          <a:prstGeom prst="roundRect">
            <a:avLst>
              <a:gd name="adj" fmla="val 2695"/>
            </a:avLst>
          </a:prstGeom>
          <a:solidFill>
            <a:srgbClr val="EEF2F5"/>
          </a:solidFill>
          <a:ln w="9525">
            <a:solidFill>
              <a:srgbClr val="D5DCE3"/>
            </a:solidFill>
            <a:prstDash val="solid"/>
          </a:ln>
        </p:spPr>
      </p:sp>
      <p:sp>
        <p:nvSpPr>
          <p:cNvPr id="10" name="Shape 8"/>
          <p:cNvSpPr/>
          <p:nvPr/>
        </p:nvSpPr>
        <p:spPr>
          <a:xfrm>
            <a:off x="3556102" y="2450592"/>
            <a:ext cx="548640" cy="548640"/>
          </a:xfrm>
          <a:prstGeom prst="ellipse">
            <a:avLst/>
          </a:prstGeom>
          <a:solidFill>
            <a:srgbClr val="CB5E2E"/>
          </a:solidFill>
          <a:ln/>
        </p:spPr>
      </p:sp>
      <p:sp>
        <p:nvSpPr>
          <p:cNvPr id="11" name="Text 9"/>
          <p:cNvSpPr txBox="1"/>
          <p:nvPr/>
        </p:nvSpPr>
        <p:spPr>
          <a:xfrm>
            <a:off x="3556102"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922422"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Error estándar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correcto</a:t>
            </a:r>
            <a:endParaRPr lang="en-US" sz="1450" dirty="0"/>
          </a:p>
        </p:txBody>
      </p:sp>
      <p:sp>
        <p:nvSpPr>
          <p:cNvPr id="13" name="Text 11"/>
          <p:cNvSpPr txBox="1"/>
          <p:nvPr/>
        </p:nvSpPr>
        <p:spPr>
          <a:xfrm>
            <a:off x="2922422" y="4069080"/>
            <a:ext cx="1815998" cy="36576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S7</a:t>
            </a:r>
            <a:endParaRPr lang="en-US" sz="1200" dirty="0"/>
          </a:p>
        </p:txBody>
      </p:sp>
      <p:sp>
        <p:nvSpPr>
          <p:cNvPr id="14" name="Shape 12"/>
          <p:cNvSpPr/>
          <p:nvPr/>
        </p:nvSpPr>
        <p:spPr>
          <a:xfrm>
            <a:off x="5076749" y="2194560"/>
            <a:ext cx="2035454" cy="2377440"/>
          </a:xfrm>
          <a:prstGeom prst="roundRect">
            <a:avLst>
              <a:gd name="adj" fmla="val 2695"/>
            </a:avLst>
          </a:prstGeom>
          <a:solidFill>
            <a:srgbClr val="EEF2F5"/>
          </a:solidFill>
          <a:ln w="9525">
            <a:solidFill>
              <a:srgbClr val="D5DCE3"/>
            </a:solidFill>
            <a:prstDash val="solid"/>
          </a:ln>
        </p:spPr>
      </p:sp>
      <p:sp>
        <p:nvSpPr>
          <p:cNvPr id="15" name="Shape 13"/>
          <p:cNvSpPr/>
          <p:nvPr/>
        </p:nvSpPr>
        <p:spPr>
          <a:xfrm>
            <a:off x="5820156" y="2450592"/>
            <a:ext cx="548640" cy="548640"/>
          </a:xfrm>
          <a:prstGeom prst="ellipse">
            <a:avLst/>
          </a:prstGeom>
          <a:solidFill>
            <a:srgbClr val="CB5E2E"/>
          </a:solidFill>
          <a:ln/>
        </p:spPr>
      </p:sp>
      <p:sp>
        <p:nvSpPr>
          <p:cNvPr id="16" name="Text 14"/>
          <p:cNvSpPr txBox="1"/>
          <p:nvPr/>
        </p:nvSpPr>
        <p:spPr>
          <a:xfrm>
            <a:off x="5820156"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5186477"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Condicionar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(Simpson)</a:t>
            </a:r>
            <a:endParaRPr lang="en-US" sz="1450" dirty="0"/>
          </a:p>
        </p:txBody>
      </p:sp>
      <p:sp>
        <p:nvSpPr>
          <p:cNvPr id="18" name="Text 16"/>
          <p:cNvSpPr txBox="1"/>
          <p:nvPr/>
        </p:nvSpPr>
        <p:spPr>
          <a:xfrm>
            <a:off x="5186477" y="4069080"/>
            <a:ext cx="1815998" cy="36576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S7</a:t>
            </a:r>
            <a:endParaRPr lang="en-US" sz="1200" dirty="0"/>
          </a:p>
        </p:txBody>
      </p:sp>
      <p:sp>
        <p:nvSpPr>
          <p:cNvPr id="19" name="Shape 17"/>
          <p:cNvSpPr/>
          <p:nvPr/>
        </p:nvSpPr>
        <p:spPr>
          <a:xfrm>
            <a:off x="7340803" y="2194560"/>
            <a:ext cx="2035454" cy="2377440"/>
          </a:xfrm>
          <a:prstGeom prst="roundRect">
            <a:avLst>
              <a:gd name="adj" fmla="val 2695"/>
            </a:avLst>
          </a:prstGeom>
          <a:solidFill>
            <a:srgbClr val="E7F2EA"/>
          </a:solidFill>
          <a:ln w="9525">
            <a:solidFill>
              <a:srgbClr val="D5DCE3"/>
            </a:solidFill>
            <a:prstDash val="solid"/>
          </a:ln>
        </p:spPr>
      </p:sp>
      <p:sp>
        <p:nvSpPr>
          <p:cNvPr id="20" name="Shape 18"/>
          <p:cNvSpPr/>
          <p:nvPr/>
        </p:nvSpPr>
        <p:spPr>
          <a:xfrm>
            <a:off x="8084210" y="2450592"/>
            <a:ext cx="548640" cy="548640"/>
          </a:xfrm>
          <a:prstGeom prst="ellipse">
            <a:avLst/>
          </a:prstGeom>
          <a:solidFill>
            <a:srgbClr val="CB5E2E"/>
          </a:solidFill>
          <a:ln/>
        </p:spPr>
      </p:sp>
      <p:sp>
        <p:nvSpPr>
          <p:cNvPr id="21" name="Text 19"/>
          <p:cNvSpPr txBox="1"/>
          <p:nvPr/>
        </p:nvSpPr>
        <p:spPr>
          <a:xfrm>
            <a:off x="8084210"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450531"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Fijar semilla</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y entorno</a:t>
            </a:r>
            <a:endParaRPr lang="en-US" sz="1450" dirty="0"/>
          </a:p>
        </p:txBody>
      </p:sp>
      <p:sp>
        <p:nvSpPr>
          <p:cNvPr id="23" name="Text 21"/>
          <p:cNvSpPr txBox="1"/>
          <p:nvPr/>
        </p:nvSpPr>
        <p:spPr>
          <a:xfrm>
            <a:off x="7450531" y="4069080"/>
            <a:ext cx="1815998" cy="365760"/>
          </a:xfrm>
          <a:prstGeom prst="rect">
            <a:avLst/>
          </a:prstGeom>
          <a:noFill/>
          <a:ln/>
        </p:spPr>
        <p:txBody>
          <a:bodyPr wrap="square" lIns="0" tIns="0" rIns="0" bIns="0" rtlCol="0" anchor="ctr"/>
          <a:lstStyle/>
          <a:p>
            <a:pPr algn="ctr" indent="0" marL="0">
              <a:buNone/>
            </a:pPr>
            <a:r>
              <a:rPr lang="en-US" sz="1200" b="1" dirty="0">
                <a:solidFill>
                  <a:srgbClr val="2E6E49"/>
                </a:solidFill>
                <a:latin typeface="Calibri" pitchFamily="34" charset="0"/>
                <a:ea typeface="Calibri" pitchFamily="34" charset="-122"/>
                <a:cs typeface="Calibri" pitchFamily="34" charset="-120"/>
              </a:rPr>
              <a:t>S8</a:t>
            </a:r>
            <a:endParaRPr lang="en-US" sz="1200" dirty="0"/>
          </a:p>
        </p:txBody>
      </p:sp>
      <p:sp>
        <p:nvSpPr>
          <p:cNvPr id="24" name="Shape 22"/>
          <p:cNvSpPr/>
          <p:nvPr/>
        </p:nvSpPr>
        <p:spPr>
          <a:xfrm>
            <a:off x="9604858" y="2194560"/>
            <a:ext cx="2035454" cy="2377440"/>
          </a:xfrm>
          <a:prstGeom prst="roundRect">
            <a:avLst>
              <a:gd name="adj" fmla="val 2695"/>
            </a:avLst>
          </a:prstGeom>
          <a:solidFill>
            <a:srgbClr val="E7F2EA"/>
          </a:solidFill>
          <a:ln w="9525">
            <a:solidFill>
              <a:srgbClr val="D5DCE3"/>
            </a:solidFill>
            <a:prstDash val="solid"/>
          </a:ln>
        </p:spPr>
      </p:sp>
      <p:sp>
        <p:nvSpPr>
          <p:cNvPr id="25" name="Shape 23"/>
          <p:cNvSpPr/>
          <p:nvPr/>
        </p:nvSpPr>
        <p:spPr>
          <a:xfrm>
            <a:off x="10348265" y="2450592"/>
            <a:ext cx="548640" cy="548640"/>
          </a:xfrm>
          <a:prstGeom prst="ellipse">
            <a:avLst/>
          </a:prstGeom>
          <a:solidFill>
            <a:srgbClr val="CB5E2E"/>
          </a:solidFill>
          <a:ln/>
        </p:spPr>
      </p:sp>
      <p:sp>
        <p:nvSpPr>
          <p:cNvPr id="26" name="Text 24"/>
          <p:cNvSpPr txBox="1"/>
          <p:nvPr/>
        </p:nvSpPr>
        <p:spPr>
          <a:xfrm>
            <a:off x="10348265"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9714586"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Reiniciar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y correr todo</a:t>
            </a:r>
            <a:endParaRPr lang="en-US" sz="1450" dirty="0"/>
          </a:p>
        </p:txBody>
      </p:sp>
      <p:sp>
        <p:nvSpPr>
          <p:cNvPr id="28" name="Text 26"/>
          <p:cNvSpPr txBox="1"/>
          <p:nvPr/>
        </p:nvSpPr>
        <p:spPr>
          <a:xfrm>
            <a:off x="9714586" y="4069080"/>
            <a:ext cx="1815998" cy="365760"/>
          </a:xfrm>
          <a:prstGeom prst="rect">
            <a:avLst/>
          </a:prstGeom>
          <a:noFill/>
          <a:ln/>
        </p:spPr>
        <p:txBody>
          <a:bodyPr wrap="square" lIns="0" tIns="0" rIns="0" bIns="0" rtlCol="0" anchor="ctr"/>
          <a:lstStyle/>
          <a:p>
            <a:pPr algn="ctr" indent="0" marL="0">
              <a:buNone/>
            </a:pPr>
            <a:r>
              <a:rPr lang="en-US" sz="1200" b="1" dirty="0">
                <a:solidFill>
                  <a:srgbClr val="2E6E49"/>
                </a:solidFill>
                <a:latin typeface="Calibri" pitchFamily="34" charset="0"/>
                <a:ea typeface="Calibri" pitchFamily="34" charset="-122"/>
                <a:cs typeface="Calibri" pitchFamily="34" charset="-120"/>
              </a:rPr>
              <a:t>S8</a:t>
            </a:r>
            <a:endParaRPr lang="en-US" sz="1200" dirty="0"/>
          </a:p>
        </p:txBody>
      </p:sp>
      <p:sp>
        <p:nvSpPr>
          <p:cNvPr id="29" name="Shape 27"/>
          <p:cNvSpPr/>
          <p:nvPr/>
        </p:nvSpPr>
        <p:spPr>
          <a:xfrm>
            <a:off x="548640" y="6053328"/>
            <a:ext cx="11091672" cy="603504"/>
          </a:xfrm>
          <a:prstGeom prst="rect">
            <a:avLst/>
          </a:prstGeom>
          <a:solidFill>
            <a:srgbClr val="FBEEE5"/>
          </a:solidFill>
          <a:ln/>
        </p:spPr>
      </p:sp>
      <p:sp>
        <p:nvSpPr>
          <p:cNvPr id="30" name="Shape 28"/>
          <p:cNvSpPr/>
          <p:nvPr/>
        </p:nvSpPr>
        <p:spPr>
          <a:xfrm>
            <a:off x="749808" y="6272784"/>
            <a:ext cx="164592" cy="164592"/>
          </a:xfrm>
          <a:prstGeom prst="roundRect">
            <a:avLst>
              <a:gd name="adj" fmla="val 22222"/>
            </a:avLst>
          </a:prstGeom>
          <a:solidFill>
            <a:srgbClr val="CB5E2E"/>
          </a:solidFill>
          <a:ln/>
        </p:spPr>
      </p:sp>
      <p:sp>
        <p:nvSpPr>
          <p:cNvPr id="31" name="Text 29"/>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Un número correcto que no reproduce no cuenta, y uno reproducible que está mal, tampoco. El entregable necesita las dos cosas.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Las cinco partes del laboratorio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Sobre datos_encuesta_s9.csv. Cada parte deja un número o un hallazgo, con su justificación.</a:t>
            </a:r>
            <a:endParaRPr lang="en-US" sz="1400" dirty="0"/>
          </a:p>
        </p:txBody>
      </p:sp>
      <p:sp>
        <p:nvSpPr>
          <p:cNvPr id="4" name="Shape 2"/>
          <p:cNvSpPr/>
          <p:nvPr/>
        </p:nvSpPr>
        <p:spPr>
          <a:xfrm>
            <a:off x="548640" y="1828800"/>
            <a:ext cx="1280160" cy="566928"/>
          </a:xfrm>
          <a:prstGeom prst="rect">
            <a:avLst/>
          </a:prstGeom>
          <a:solidFill>
            <a:srgbClr val="15293B"/>
          </a:solidFill>
          <a:ln w="6350">
            <a:solidFill>
              <a:srgbClr val="FFFFFF"/>
            </a:solidFill>
            <a:prstDash val="solid"/>
          </a:ln>
        </p:spPr>
      </p:sp>
      <p:sp>
        <p:nvSpPr>
          <p:cNvPr id="5" name="Text 3"/>
          <p:cNvSpPr txBox="1"/>
          <p:nvPr/>
        </p:nvSpPr>
        <p:spPr>
          <a:xfrm>
            <a:off x="548640" y="1828800"/>
            <a:ext cx="12801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Parte</a:t>
            </a:r>
            <a:endParaRPr lang="en-US" sz="1200" dirty="0"/>
          </a:p>
        </p:txBody>
      </p:sp>
      <p:sp>
        <p:nvSpPr>
          <p:cNvPr id="6" name="Shape 4"/>
          <p:cNvSpPr/>
          <p:nvPr/>
        </p:nvSpPr>
        <p:spPr>
          <a:xfrm>
            <a:off x="1828800" y="1828800"/>
            <a:ext cx="9811512" cy="566928"/>
          </a:xfrm>
          <a:prstGeom prst="rect">
            <a:avLst/>
          </a:prstGeom>
          <a:solidFill>
            <a:srgbClr val="15293B"/>
          </a:solidFill>
          <a:ln w="6350">
            <a:solidFill>
              <a:srgbClr val="FFFFFF"/>
            </a:solidFill>
            <a:prstDash val="solid"/>
          </a:ln>
        </p:spPr>
      </p:sp>
      <p:sp>
        <p:nvSpPr>
          <p:cNvPr id="7" name="Text 5"/>
          <p:cNvSpPr txBox="1"/>
          <p:nvPr/>
        </p:nvSpPr>
        <p:spPr>
          <a:xfrm>
            <a:off x="1828800" y="1828800"/>
            <a:ext cx="981151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haces</a:t>
            </a:r>
            <a:endParaRPr lang="en-US" sz="1200" dirty="0"/>
          </a:p>
        </p:txBody>
      </p:sp>
      <p:sp>
        <p:nvSpPr>
          <p:cNvPr id="8" name="Shape 6"/>
          <p:cNvSpPr/>
          <p:nvPr/>
        </p:nvSpPr>
        <p:spPr>
          <a:xfrm>
            <a:off x="548640" y="2395728"/>
            <a:ext cx="1280160" cy="566928"/>
          </a:xfrm>
          <a:prstGeom prst="rect">
            <a:avLst/>
          </a:prstGeom>
          <a:solidFill>
            <a:srgbClr val="EEF2F5"/>
          </a:solidFill>
          <a:ln w="6350">
            <a:solidFill>
              <a:srgbClr val="D5DCE3"/>
            </a:solidFill>
            <a:prstDash val="solid"/>
          </a:ln>
        </p:spPr>
      </p:sp>
      <p:sp>
        <p:nvSpPr>
          <p:cNvPr id="9" name="Text 7"/>
          <p:cNvSpPr txBox="1"/>
          <p:nvPr/>
        </p:nvSpPr>
        <p:spPr>
          <a:xfrm>
            <a:off x="621792" y="2395728"/>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1</a:t>
            </a:r>
            <a:endParaRPr lang="en-US" sz="1250" dirty="0"/>
          </a:p>
        </p:txBody>
      </p:sp>
      <p:sp>
        <p:nvSpPr>
          <p:cNvPr id="10" name="Shape 8"/>
          <p:cNvSpPr/>
          <p:nvPr/>
        </p:nvSpPr>
        <p:spPr>
          <a:xfrm>
            <a:off x="1828800" y="2395728"/>
            <a:ext cx="9811512" cy="566928"/>
          </a:xfrm>
          <a:prstGeom prst="rect">
            <a:avLst/>
          </a:prstGeom>
          <a:solidFill>
            <a:srgbClr val="EEF2F5"/>
          </a:solidFill>
          <a:ln w="6350">
            <a:solidFill>
              <a:srgbClr val="D5DCE3"/>
            </a:solidFill>
            <a:prstDash val="solid"/>
          </a:ln>
        </p:spPr>
      </p:sp>
      <p:sp>
        <p:nvSpPr>
          <p:cNvPr id="11" name="Text 9"/>
          <p:cNvSpPr txBox="1"/>
          <p:nvPr/>
        </p:nvSpPr>
        <p:spPr>
          <a:xfrm>
            <a:off x="1901952" y="2395728"/>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Explorar y ponderar: estima el ingreso medio poblacional (con el diseño) y compáralo con el crudo.</a:t>
            </a:r>
            <a:endParaRPr lang="en-US" sz="1250" dirty="0"/>
          </a:p>
        </p:txBody>
      </p:sp>
      <p:sp>
        <p:nvSpPr>
          <p:cNvPr id="12" name="Shape 10"/>
          <p:cNvSpPr/>
          <p:nvPr/>
        </p:nvSpPr>
        <p:spPr>
          <a:xfrm>
            <a:off x="548640" y="2962656"/>
            <a:ext cx="1280160" cy="566928"/>
          </a:xfrm>
          <a:prstGeom prst="rect">
            <a:avLst/>
          </a:prstGeom>
          <a:solidFill>
            <a:srgbClr val="FFFFFF"/>
          </a:solidFill>
          <a:ln w="6350">
            <a:solidFill>
              <a:srgbClr val="D5DCE3"/>
            </a:solidFill>
            <a:prstDash val="solid"/>
          </a:ln>
        </p:spPr>
      </p:sp>
      <p:sp>
        <p:nvSpPr>
          <p:cNvPr id="13" name="Text 11"/>
          <p:cNvSpPr txBox="1"/>
          <p:nvPr/>
        </p:nvSpPr>
        <p:spPr>
          <a:xfrm>
            <a:off x="621792" y="2962656"/>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2</a:t>
            </a:r>
            <a:endParaRPr lang="en-US" sz="1250" dirty="0"/>
          </a:p>
        </p:txBody>
      </p:sp>
      <p:sp>
        <p:nvSpPr>
          <p:cNvPr id="14" name="Shape 12"/>
          <p:cNvSpPr/>
          <p:nvPr/>
        </p:nvSpPr>
        <p:spPr>
          <a:xfrm>
            <a:off x="1828800" y="2962656"/>
            <a:ext cx="9811512" cy="566928"/>
          </a:xfrm>
          <a:prstGeom prst="rect">
            <a:avLst/>
          </a:prstGeom>
          <a:solidFill>
            <a:srgbClr val="FFFFFF"/>
          </a:solidFill>
          <a:ln w="6350">
            <a:solidFill>
              <a:srgbClr val="D5DCE3"/>
            </a:solidFill>
            <a:prstDash val="solid"/>
          </a:ln>
        </p:spPr>
      </p:sp>
      <p:sp>
        <p:nvSpPr>
          <p:cNvPr id="15" name="Text 13"/>
          <p:cNvSpPr txBox="1"/>
          <p:nvPr/>
        </p:nvSpPr>
        <p:spPr>
          <a:xfrm>
            <a:off x="1901952" y="2962656"/>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Inferir bien: estima el efecto del programa sobre score con el error estándar por conglomerado.</a:t>
            </a:r>
            <a:endParaRPr lang="en-US" sz="1250" dirty="0"/>
          </a:p>
        </p:txBody>
      </p:sp>
      <p:sp>
        <p:nvSpPr>
          <p:cNvPr id="16" name="Shape 14"/>
          <p:cNvSpPr/>
          <p:nvPr/>
        </p:nvSpPr>
        <p:spPr>
          <a:xfrm>
            <a:off x="548640" y="3529584"/>
            <a:ext cx="1280160" cy="566928"/>
          </a:xfrm>
          <a:prstGeom prst="rect">
            <a:avLst/>
          </a:prstGeom>
          <a:solidFill>
            <a:srgbClr val="EEF2F5"/>
          </a:solidFill>
          <a:ln w="6350">
            <a:solidFill>
              <a:srgbClr val="D5DCE3"/>
            </a:solidFill>
            <a:prstDash val="solid"/>
          </a:ln>
        </p:spPr>
      </p:sp>
      <p:sp>
        <p:nvSpPr>
          <p:cNvPr id="17" name="Text 15"/>
          <p:cNvSpPr txBox="1"/>
          <p:nvPr/>
        </p:nvSpPr>
        <p:spPr>
          <a:xfrm>
            <a:off x="621792" y="3529584"/>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3</a:t>
            </a:r>
            <a:endParaRPr lang="en-US" sz="1250" dirty="0"/>
          </a:p>
        </p:txBody>
      </p:sp>
      <p:sp>
        <p:nvSpPr>
          <p:cNvPr id="18" name="Shape 16"/>
          <p:cNvSpPr/>
          <p:nvPr/>
        </p:nvSpPr>
        <p:spPr>
          <a:xfrm>
            <a:off x="1828800" y="3529584"/>
            <a:ext cx="9811512" cy="566928"/>
          </a:xfrm>
          <a:prstGeom prst="rect">
            <a:avLst/>
          </a:prstGeom>
          <a:solidFill>
            <a:srgbClr val="EEF2F5"/>
          </a:solidFill>
          <a:ln w="6350">
            <a:solidFill>
              <a:srgbClr val="D5DCE3"/>
            </a:solidFill>
            <a:prstDash val="solid"/>
          </a:ln>
        </p:spPr>
      </p:sp>
      <p:sp>
        <p:nvSpPr>
          <p:cNvPr id="19" name="Text 17"/>
          <p:cNvSpPr txBox="1"/>
          <p:nvPr/>
        </p:nvSpPr>
        <p:spPr>
          <a:xfrm>
            <a:off x="1901952" y="3529584"/>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Condicionar: revisa si ese efecto se mantiene o se invierte al mirar por estrato.</a:t>
            </a:r>
            <a:endParaRPr lang="en-US" sz="1250" dirty="0"/>
          </a:p>
        </p:txBody>
      </p:sp>
      <p:sp>
        <p:nvSpPr>
          <p:cNvPr id="20" name="Shape 18"/>
          <p:cNvSpPr/>
          <p:nvPr/>
        </p:nvSpPr>
        <p:spPr>
          <a:xfrm>
            <a:off x="548640" y="4096512"/>
            <a:ext cx="1280160" cy="566928"/>
          </a:xfrm>
          <a:prstGeom prst="rect">
            <a:avLst/>
          </a:prstGeom>
          <a:solidFill>
            <a:srgbClr val="FFFFFF"/>
          </a:solidFill>
          <a:ln w="6350">
            <a:solidFill>
              <a:srgbClr val="D5DCE3"/>
            </a:solidFill>
            <a:prstDash val="solid"/>
          </a:ln>
        </p:spPr>
      </p:sp>
      <p:sp>
        <p:nvSpPr>
          <p:cNvPr id="21" name="Text 19"/>
          <p:cNvSpPr txBox="1"/>
          <p:nvPr/>
        </p:nvSpPr>
        <p:spPr>
          <a:xfrm>
            <a:off x="621792" y="4096512"/>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4</a:t>
            </a:r>
            <a:endParaRPr lang="en-US" sz="1250" dirty="0"/>
          </a:p>
        </p:txBody>
      </p:sp>
      <p:sp>
        <p:nvSpPr>
          <p:cNvPr id="22" name="Shape 20"/>
          <p:cNvSpPr/>
          <p:nvPr/>
        </p:nvSpPr>
        <p:spPr>
          <a:xfrm>
            <a:off x="1828800" y="4096512"/>
            <a:ext cx="9811512" cy="566928"/>
          </a:xfrm>
          <a:prstGeom prst="rect">
            <a:avLst/>
          </a:prstGeom>
          <a:solidFill>
            <a:srgbClr val="FFFFFF"/>
          </a:solidFill>
          <a:ln w="6350">
            <a:solidFill>
              <a:srgbClr val="D5DCE3"/>
            </a:solidFill>
            <a:prstDash val="solid"/>
          </a:ln>
        </p:spPr>
      </p:sp>
      <p:sp>
        <p:nvSpPr>
          <p:cNvPr id="23" name="Text 21"/>
          <p:cNvSpPr txBox="1"/>
          <p:nvPr/>
        </p:nvSpPr>
        <p:spPr>
          <a:xfrm>
            <a:off x="1901952" y="4096512"/>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Auditar a la IA: te damos un análisis con errores; encuéntralos, explícalos y corrígelos.</a:t>
            </a:r>
            <a:endParaRPr lang="en-US" sz="1250" dirty="0"/>
          </a:p>
        </p:txBody>
      </p:sp>
      <p:sp>
        <p:nvSpPr>
          <p:cNvPr id="24" name="Shape 22"/>
          <p:cNvSpPr/>
          <p:nvPr/>
        </p:nvSpPr>
        <p:spPr>
          <a:xfrm>
            <a:off x="548640" y="4663440"/>
            <a:ext cx="1280160" cy="566928"/>
          </a:xfrm>
          <a:prstGeom prst="rect">
            <a:avLst/>
          </a:prstGeom>
          <a:solidFill>
            <a:srgbClr val="EEF2F5"/>
          </a:solidFill>
          <a:ln w="6350">
            <a:solidFill>
              <a:srgbClr val="D5DCE3"/>
            </a:solidFill>
            <a:prstDash val="solid"/>
          </a:ln>
        </p:spPr>
      </p:sp>
      <p:sp>
        <p:nvSpPr>
          <p:cNvPr id="25" name="Text 23"/>
          <p:cNvSpPr txBox="1"/>
          <p:nvPr/>
        </p:nvSpPr>
        <p:spPr>
          <a:xfrm>
            <a:off x="621792" y="4663440"/>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5</a:t>
            </a:r>
            <a:endParaRPr lang="en-US" sz="1250" dirty="0"/>
          </a:p>
        </p:txBody>
      </p:sp>
      <p:sp>
        <p:nvSpPr>
          <p:cNvPr id="26" name="Shape 24"/>
          <p:cNvSpPr/>
          <p:nvPr/>
        </p:nvSpPr>
        <p:spPr>
          <a:xfrm>
            <a:off x="1828800" y="4663440"/>
            <a:ext cx="9811512" cy="566928"/>
          </a:xfrm>
          <a:prstGeom prst="rect">
            <a:avLst/>
          </a:prstGeom>
          <a:solidFill>
            <a:srgbClr val="EEF2F5"/>
          </a:solidFill>
          <a:ln w="6350">
            <a:solidFill>
              <a:srgbClr val="D5DCE3"/>
            </a:solidFill>
            <a:prstDash val="solid"/>
          </a:ln>
        </p:spPr>
      </p:sp>
      <p:sp>
        <p:nvSpPr>
          <p:cNvPr id="27" name="Text 25"/>
          <p:cNvSpPr txBox="1"/>
          <p:nvPr/>
        </p:nvSpPr>
        <p:spPr>
          <a:xfrm>
            <a:off x="1901952" y="4663440"/>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Reproducible: fija la semilla y el entorno, y comprueba que al reiniciar y correr todo da lo mismo.</a:t>
            </a:r>
            <a:endParaRPr lang="en-US" sz="1250" dirty="0"/>
          </a:p>
        </p:txBody>
      </p:sp>
      <p:sp>
        <p:nvSpPr>
          <p:cNvPr id="28" name="Shape 26"/>
          <p:cNvSpPr/>
          <p:nvPr/>
        </p:nvSpPr>
        <p:spPr>
          <a:xfrm>
            <a:off x="548640" y="6053328"/>
            <a:ext cx="11091672" cy="603504"/>
          </a:xfrm>
          <a:prstGeom prst="rect">
            <a:avLst/>
          </a:prstGeom>
          <a:solidFill>
            <a:srgbClr val="FBEEE5"/>
          </a:solidFill>
          <a:ln/>
        </p:spPr>
      </p:sp>
      <p:sp>
        <p:nvSpPr>
          <p:cNvPr id="29" name="Shape 27"/>
          <p:cNvSpPr/>
          <p:nvPr/>
        </p:nvSpPr>
        <p:spPr>
          <a:xfrm>
            <a:off x="749808" y="6272784"/>
            <a:ext cx="164592" cy="164592"/>
          </a:xfrm>
          <a:prstGeom prst="roundRect">
            <a:avLst>
              <a:gd name="adj" fmla="val 22222"/>
            </a:avLst>
          </a:prstGeom>
          <a:solidFill>
            <a:srgbClr val="CB5E2E"/>
          </a:solidFill>
          <a:ln/>
        </p:spPr>
      </p:sp>
      <p:sp>
        <p:nvSpPr>
          <p:cNvPr id="30" name="Text 28"/>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regla dura: cada número va con su justificación. Por qué ponderado, por qué ese error estándar, por qué condicionar, qué corregiste y por qué.</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Parte 4: el análisis de la IA trae tres errores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Corre sin fallar y se ve profesional. Es justo por eso que hay que auditarlo, no creerle.</a:t>
            </a:r>
            <a:endParaRPr lang="en-US" sz="1400" dirty="0"/>
          </a:p>
        </p:txBody>
      </p:sp>
      <p:sp>
        <p:nvSpPr>
          <p:cNvPr id="4" name="Shape 2"/>
          <p:cNvSpPr/>
          <p:nvPr/>
        </p:nvSpPr>
        <p:spPr>
          <a:xfrm>
            <a:off x="548640" y="1874520"/>
            <a:ext cx="3502152" cy="2788920"/>
          </a:xfrm>
          <a:prstGeom prst="roundRect">
            <a:avLst>
              <a:gd name="adj" fmla="val 1967"/>
            </a:avLst>
          </a:prstGeom>
          <a:solidFill>
            <a:srgbClr val="F9E7E3"/>
          </a:solidFill>
          <a:ln w="9525">
            <a:solidFill>
              <a:srgbClr val="D5DCE3"/>
            </a:solidFill>
            <a:prstDash val="solid"/>
          </a:ln>
        </p:spPr>
      </p:sp>
      <p:sp>
        <p:nvSpPr>
          <p:cNvPr id="5" name="Text 3"/>
          <p:cNvSpPr txBox="1"/>
          <p:nvPr/>
        </p:nvSpPr>
        <p:spPr>
          <a:xfrm>
            <a:off x="804672" y="2093976"/>
            <a:ext cx="2990088" cy="54864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Promedió crudo</a:t>
            </a:r>
            <a:endParaRPr lang="en-US" sz="1500" dirty="0"/>
          </a:p>
        </p:txBody>
      </p:sp>
      <p:sp>
        <p:nvSpPr>
          <p:cNvPr id="6" name="Text 4"/>
          <p:cNvSpPr txBox="1"/>
          <p:nvPr/>
        </p:nvSpPr>
        <p:spPr>
          <a:xfrm>
            <a:off x="804672" y="2743200"/>
            <a:ext cx="2990088" cy="13716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Reportó el ingreso con mean(), sin los factores de expansión. Subestima el poblacional.</a:t>
            </a:r>
            <a:endParaRPr lang="en-US" sz="1250" dirty="0"/>
          </a:p>
        </p:txBody>
      </p:sp>
      <p:sp>
        <p:nvSpPr>
          <p:cNvPr id="7" name="Shape 5"/>
          <p:cNvSpPr/>
          <p:nvPr/>
        </p:nvSpPr>
        <p:spPr>
          <a:xfrm>
            <a:off x="804672" y="4160520"/>
            <a:ext cx="2990088" cy="0"/>
          </a:xfrm>
          <a:prstGeom prst="line">
            <a:avLst/>
          </a:prstGeom>
          <a:noFill/>
          <a:ln w="9525">
            <a:solidFill>
              <a:srgbClr val="D5DCE3"/>
            </a:solidFill>
            <a:prstDash val="solid"/>
          </a:ln>
        </p:spPr>
      </p:sp>
      <p:sp>
        <p:nvSpPr>
          <p:cNvPr id="8" name="Text 6"/>
          <p:cNvSpPr txBox="1"/>
          <p:nvPr/>
        </p:nvSpPr>
        <p:spPr>
          <a:xfrm>
            <a:off x="804672" y="4233672"/>
            <a:ext cx="2990088" cy="36576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arréglalo: pondera</a:t>
            </a:r>
            <a:endParaRPr lang="en-US" sz="1250" dirty="0"/>
          </a:p>
        </p:txBody>
      </p:sp>
      <p:sp>
        <p:nvSpPr>
          <p:cNvPr id="9" name="Shape 7"/>
          <p:cNvSpPr/>
          <p:nvPr/>
        </p:nvSpPr>
        <p:spPr>
          <a:xfrm>
            <a:off x="4343400" y="1874520"/>
            <a:ext cx="3502152" cy="2788920"/>
          </a:xfrm>
          <a:prstGeom prst="roundRect">
            <a:avLst>
              <a:gd name="adj" fmla="val 1967"/>
            </a:avLst>
          </a:prstGeom>
          <a:solidFill>
            <a:srgbClr val="F9E7E3"/>
          </a:solidFill>
          <a:ln w="9525">
            <a:solidFill>
              <a:srgbClr val="D5DCE3"/>
            </a:solidFill>
            <a:prstDash val="solid"/>
          </a:ln>
        </p:spPr>
      </p:sp>
      <p:sp>
        <p:nvSpPr>
          <p:cNvPr id="10" name="Text 8"/>
          <p:cNvSpPr txBox="1"/>
          <p:nvPr/>
        </p:nvSpPr>
        <p:spPr>
          <a:xfrm>
            <a:off x="4599432" y="2093976"/>
            <a:ext cx="2990088" cy="54864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Error estándar ingenuo</a:t>
            </a:r>
            <a:endParaRPr lang="en-US" sz="1500" dirty="0"/>
          </a:p>
        </p:txBody>
      </p:sp>
      <p:sp>
        <p:nvSpPr>
          <p:cNvPr id="11" name="Text 9"/>
          <p:cNvSpPr txBox="1"/>
          <p:nvPr/>
        </p:nvSpPr>
        <p:spPr>
          <a:xfrm>
            <a:off x="4599432" y="2743200"/>
            <a:ext cx="2990088" cy="13716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Usó el error clásico, que ignora los conglomerados y promete precisión de más.</a:t>
            </a:r>
            <a:endParaRPr lang="en-US" sz="1250" dirty="0"/>
          </a:p>
        </p:txBody>
      </p:sp>
      <p:sp>
        <p:nvSpPr>
          <p:cNvPr id="12" name="Shape 10"/>
          <p:cNvSpPr/>
          <p:nvPr/>
        </p:nvSpPr>
        <p:spPr>
          <a:xfrm>
            <a:off x="4599432" y="4160520"/>
            <a:ext cx="2990088" cy="0"/>
          </a:xfrm>
          <a:prstGeom prst="line">
            <a:avLst/>
          </a:prstGeom>
          <a:noFill/>
          <a:ln w="9525">
            <a:solidFill>
              <a:srgbClr val="D5DCE3"/>
            </a:solidFill>
            <a:prstDash val="solid"/>
          </a:ln>
        </p:spPr>
      </p:sp>
      <p:sp>
        <p:nvSpPr>
          <p:cNvPr id="13" name="Text 11"/>
          <p:cNvSpPr txBox="1"/>
          <p:nvPr/>
        </p:nvSpPr>
        <p:spPr>
          <a:xfrm>
            <a:off x="4599432" y="4233672"/>
            <a:ext cx="2990088" cy="36576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arréglalo: conglomera</a:t>
            </a:r>
            <a:endParaRPr lang="en-US" sz="1250" dirty="0"/>
          </a:p>
        </p:txBody>
      </p:sp>
      <p:sp>
        <p:nvSpPr>
          <p:cNvPr id="14" name="Shape 12"/>
          <p:cNvSpPr/>
          <p:nvPr/>
        </p:nvSpPr>
        <p:spPr>
          <a:xfrm>
            <a:off x="8138160" y="1874520"/>
            <a:ext cx="3502152" cy="2788920"/>
          </a:xfrm>
          <a:prstGeom prst="roundRect">
            <a:avLst>
              <a:gd name="adj" fmla="val 1967"/>
            </a:avLst>
          </a:prstGeom>
          <a:solidFill>
            <a:srgbClr val="F9E7E3"/>
          </a:solidFill>
          <a:ln w="9525">
            <a:solidFill>
              <a:srgbClr val="D5DCE3"/>
            </a:solidFill>
            <a:prstDash val="solid"/>
          </a:ln>
        </p:spPr>
      </p:sp>
      <p:sp>
        <p:nvSpPr>
          <p:cNvPr id="15" name="Text 13"/>
          <p:cNvSpPr txBox="1"/>
          <p:nvPr/>
        </p:nvSpPr>
        <p:spPr>
          <a:xfrm>
            <a:off x="8394192" y="2093976"/>
            <a:ext cx="2990088" cy="54864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Leyó el agregado</a:t>
            </a:r>
            <a:endParaRPr lang="en-US" sz="1500" dirty="0"/>
          </a:p>
        </p:txBody>
      </p:sp>
      <p:sp>
        <p:nvSpPr>
          <p:cNvPr id="16" name="Text 14"/>
          <p:cNvSpPr txBox="1"/>
          <p:nvPr/>
        </p:nvSpPr>
        <p:spPr>
          <a:xfrm>
            <a:off x="8394192" y="2743200"/>
            <a:ext cx="2990088" cy="13716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Concluyó que el programa baja el score, sin condicionar por estrato. El signo puede estar al revés.</a:t>
            </a:r>
            <a:endParaRPr lang="en-US" sz="1250" dirty="0"/>
          </a:p>
        </p:txBody>
      </p:sp>
      <p:sp>
        <p:nvSpPr>
          <p:cNvPr id="17" name="Shape 15"/>
          <p:cNvSpPr/>
          <p:nvPr/>
        </p:nvSpPr>
        <p:spPr>
          <a:xfrm>
            <a:off x="8394192" y="4160520"/>
            <a:ext cx="2990088" cy="0"/>
          </a:xfrm>
          <a:prstGeom prst="line">
            <a:avLst/>
          </a:prstGeom>
          <a:noFill/>
          <a:ln w="9525">
            <a:solidFill>
              <a:srgbClr val="D5DCE3"/>
            </a:solidFill>
            <a:prstDash val="solid"/>
          </a:ln>
        </p:spPr>
      </p:sp>
      <p:sp>
        <p:nvSpPr>
          <p:cNvPr id="18" name="Text 16"/>
          <p:cNvSpPr txBox="1"/>
          <p:nvPr/>
        </p:nvSpPr>
        <p:spPr>
          <a:xfrm>
            <a:off x="8394192" y="4233672"/>
            <a:ext cx="2990088" cy="36576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arréglalo: estratifica</a:t>
            </a:r>
            <a:endParaRPr lang="en-US" sz="1250" dirty="0"/>
          </a:p>
        </p:txBody>
      </p:sp>
      <p:sp>
        <p:nvSpPr>
          <p:cNvPr id="19" name="Shape 17"/>
          <p:cNvSpPr/>
          <p:nvPr/>
        </p:nvSpPr>
        <p:spPr>
          <a:xfrm>
            <a:off x="548640" y="6053328"/>
            <a:ext cx="11091672" cy="603504"/>
          </a:xfrm>
          <a:prstGeom prst="rect">
            <a:avLst/>
          </a:prstGeom>
          <a:solidFill>
            <a:srgbClr val="FBEEE5"/>
          </a:solidFill>
          <a:ln/>
        </p:spPr>
      </p:sp>
      <p:sp>
        <p:nvSpPr>
          <p:cNvPr id="20" name="Shape 18"/>
          <p:cNvSpPr/>
          <p:nvPr/>
        </p:nvSpPr>
        <p:spPr>
          <a:xfrm>
            <a:off x="749808" y="6272784"/>
            <a:ext cx="164592" cy="164592"/>
          </a:xfrm>
          <a:prstGeom prst="roundRect">
            <a:avLst>
              <a:gd name="adj" fmla="val 22222"/>
            </a:avLst>
          </a:prstGeom>
          <a:solidFill>
            <a:srgbClr val="CB5E2E"/>
          </a:solidFill>
          <a:ln/>
        </p:spPr>
      </p:sp>
      <p:sp>
        <p:nvSpPr>
          <p:cNvPr id="21" name="Text 19"/>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Son los tres errores de la Sesión 7, juntos en un análisis que la IA escribió con seguridad. Cazarlos y corregirlos es el corazón del laboratorio.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Dos vías, el mismo laboratorio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Elige tu lenguaje. Las tareas, los datos y las respuestas correctas son idénticos.</a:t>
            </a:r>
            <a:endParaRPr lang="en-US" sz="1400" dirty="0"/>
          </a:p>
        </p:txBody>
      </p:sp>
      <p:sp>
        <p:nvSpPr>
          <p:cNvPr id="4" name="Shape 2"/>
          <p:cNvSpPr/>
          <p:nvPr/>
        </p:nvSpPr>
        <p:spPr>
          <a:xfrm>
            <a:off x="548640" y="2011680"/>
            <a:ext cx="5394960" cy="2286000"/>
          </a:xfrm>
          <a:prstGeom prst="roundRect">
            <a:avLst>
              <a:gd name="adj" fmla="val 2400"/>
            </a:avLst>
          </a:prstGeom>
          <a:solidFill>
            <a:srgbClr val="FFFFFF"/>
          </a:solidFill>
          <a:ln w="9525">
            <a:solidFill>
              <a:srgbClr val="D5DCE3"/>
            </a:solidFill>
            <a:prstDash val="solid"/>
          </a:ln>
        </p:spPr>
      </p:sp>
      <p:sp>
        <p:nvSpPr>
          <p:cNvPr id="5" name="Text 3"/>
          <p:cNvSpPr txBox="1"/>
          <p:nvPr/>
        </p:nvSpPr>
        <p:spPr>
          <a:xfrm>
            <a:off x="822960" y="2176272"/>
            <a:ext cx="4846320" cy="457200"/>
          </a:xfrm>
          <a:prstGeom prst="rect">
            <a:avLst/>
          </a:prstGeom>
          <a:noFill/>
          <a:ln/>
        </p:spPr>
        <p:txBody>
          <a:bodyPr wrap="square" lIns="0" tIns="0" rIns="0" bIns="0" rtlCol="0" anchor="ctr"/>
          <a:lstStyle/>
          <a:p>
            <a:pPr indent="0" marL="0">
              <a:buNone/>
            </a:pPr>
            <a:r>
              <a:rPr lang="en-US" sz="2200" b="1" dirty="0">
                <a:solidFill>
                  <a:srgbClr val="CB5E2E"/>
                </a:solidFill>
                <a:latin typeface="Cambria" pitchFamily="34" charset="0"/>
                <a:ea typeface="Cambria" pitchFamily="34" charset="-122"/>
                <a:cs typeface="Cambria" pitchFamily="34" charset="-120"/>
              </a:rPr>
              <a:t>R</a:t>
            </a:r>
            <a:endParaRPr lang="en-US" sz="2200" dirty="0"/>
          </a:p>
        </p:txBody>
      </p:sp>
      <p:sp>
        <p:nvSpPr>
          <p:cNvPr id="6" name="Text 4"/>
          <p:cNvSpPr txBox="1"/>
          <p:nvPr/>
        </p:nvSpPr>
        <p:spPr>
          <a:xfrm>
            <a:off x="822960" y="2670048"/>
            <a:ext cx="4846320" cy="32004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Laboratorio_S09.Rmd</a:t>
            </a:r>
            <a:endParaRPr lang="en-US" sz="1300" dirty="0"/>
          </a:p>
        </p:txBody>
      </p:sp>
      <p:sp>
        <p:nvSpPr>
          <p:cNvPr id="7" name="Text 5"/>
          <p:cNvSpPr txBox="1"/>
          <p:nvPr/>
        </p:nvSpPr>
        <p:spPr>
          <a:xfrm>
            <a:off x="822960" y="3035808"/>
            <a:ext cx="4846320" cy="109728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 survey y estimatr, como en las sesiones 7 y 8. Se teje a HTML. La vía recomendada para el equipo de economía.</a:t>
            </a:r>
            <a:endParaRPr lang="en-US" sz="1250" dirty="0"/>
          </a:p>
        </p:txBody>
      </p:sp>
      <p:sp>
        <p:nvSpPr>
          <p:cNvPr id="8" name="Shape 6"/>
          <p:cNvSpPr/>
          <p:nvPr/>
        </p:nvSpPr>
        <p:spPr>
          <a:xfrm>
            <a:off x="6245352" y="2011680"/>
            <a:ext cx="5394960" cy="2286000"/>
          </a:xfrm>
          <a:prstGeom prst="roundRect">
            <a:avLst>
              <a:gd name="adj" fmla="val 2400"/>
            </a:avLst>
          </a:prstGeom>
          <a:solidFill>
            <a:srgbClr val="FFFFFF"/>
          </a:solidFill>
          <a:ln w="9525">
            <a:solidFill>
              <a:srgbClr val="D5DCE3"/>
            </a:solidFill>
            <a:prstDash val="solid"/>
          </a:ln>
        </p:spPr>
      </p:sp>
      <p:sp>
        <p:nvSpPr>
          <p:cNvPr id="9" name="Text 7"/>
          <p:cNvSpPr txBox="1"/>
          <p:nvPr/>
        </p:nvSpPr>
        <p:spPr>
          <a:xfrm>
            <a:off x="6519672" y="2176272"/>
            <a:ext cx="4846320" cy="457200"/>
          </a:xfrm>
          <a:prstGeom prst="rect">
            <a:avLst/>
          </a:prstGeom>
          <a:noFill/>
          <a:ln/>
        </p:spPr>
        <p:txBody>
          <a:bodyPr wrap="square" lIns="0" tIns="0" rIns="0" bIns="0" rtlCol="0" anchor="ctr"/>
          <a:lstStyle/>
          <a:p>
            <a:pPr indent="0" marL="0">
              <a:buNone/>
            </a:pPr>
            <a:r>
              <a:rPr lang="en-US" sz="2200" b="1" dirty="0">
                <a:solidFill>
                  <a:srgbClr val="CB5E2E"/>
                </a:solidFill>
                <a:latin typeface="Cambria" pitchFamily="34" charset="0"/>
                <a:ea typeface="Cambria" pitchFamily="34" charset="-122"/>
                <a:cs typeface="Cambria" pitchFamily="34" charset="-120"/>
              </a:rPr>
              <a:t>Python</a:t>
            </a:r>
            <a:endParaRPr lang="en-US" sz="2200" dirty="0"/>
          </a:p>
        </p:txBody>
      </p:sp>
      <p:sp>
        <p:nvSpPr>
          <p:cNvPr id="10" name="Text 8"/>
          <p:cNvSpPr txBox="1"/>
          <p:nvPr/>
        </p:nvSpPr>
        <p:spPr>
          <a:xfrm>
            <a:off x="6519672" y="2670048"/>
            <a:ext cx="4846320" cy="32004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Laboratorio_S09.ipynb</a:t>
            </a:r>
            <a:endParaRPr lang="en-US" sz="1300" dirty="0"/>
          </a:p>
        </p:txBody>
      </p:sp>
      <p:sp>
        <p:nvSpPr>
          <p:cNvPr id="11" name="Text 9"/>
          <p:cNvSpPr txBox="1"/>
          <p:nvPr/>
        </p:nvSpPr>
        <p:spPr>
          <a:xfrm>
            <a:off x="6519672" y="3035808"/>
            <a:ext cx="4846320" cy="109728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 pandas y statsmodels (errores por conglomerado). Corre en Jupyter o Colab. La vía para quienes ya programan en Python.</a:t>
            </a:r>
            <a:endParaRPr lang="en-US" sz="1250" dirty="0"/>
          </a:p>
        </p:txBody>
      </p:sp>
      <p:sp>
        <p:nvSpPr>
          <p:cNvPr id="12" name="Shape 10"/>
          <p:cNvSpPr/>
          <p:nvPr/>
        </p:nvSpPr>
        <p:spPr>
          <a:xfrm>
            <a:off x="548640" y="6053328"/>
            <a:ext cx="11091672" cy="603504"/>
          </a:xfrm>
          <a:prstGeom prst="rect">
            <a:avLst/>
          </a:prstGeom>
          <a:solidFill>
            <a:srgbClr val="FBEEE5"/>
          </a:solidFill>
          <a:ln/>
        </p:spPr>
      </p:sp>
      <p:sp>
        <p:nvSpPr>
          <p:cNvPr id="13" name="Shape 11"/>
          <p:cNvSpPr/>
          <p:nvPr/>
        </p:nvSpPr>
        <p:spPr>
          <a:xfrm>
            <a:off x="749808" y="6272784"/>
            <a:ext cx="164592" cy="164592"/>
          </a:xfrm>
          <a:prstGeom prst="roundRect">
            <a:avLst>
              <a:gd name="adj" fmla="val 22222"/>
            </a:avLst>
          </a:prstGeom>
          <a:solidFill>
            <a:srgbClr val="CB5E2E"/>
          </a:solidFill>
          <a:ln/>
        </p:spPr>
      </p:sp>
      <p:sp>
        <p:nvSpPr>
          <p:cNvPr id="14" name="Text 1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Mismo microdato, mismas cinco partes, mismos números correctos. El lenguaje es tuyo; el criterio estadístico es el mismo.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se evalúa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Este laboratorio es parte del 40% de laboratorios en la calificación. Esto es lo que se revisa.</a:t>
            </a:r>
            <a:endParaRPr lang="en-US" sz="1400" dirty="0"/>
          </a:p>
        </p:txBody>
      </p:sp>
      <p:sp>
        <p:nvSpPr>
          <p:cNvPr id="4" name="Shape 2"/>
          <p:cNvSpPr/>
          <p:nvPr/>
        </p:nvSpPr>
        <p:spPr>
          <a:xfrm>
            <a:off x="548640" y="1828800"/>
            <a:ext cx="4206240" cy="566928"/>
          </a:xfrm>
          <a:prstGeom prst="rect">
            <a:avLst/>
          </a:prstGeom>
          <a:solidFill>
            <a:srgbClr val="15293B"/>
          </a:solidFill>
          <a:ln w="6350">
            <a:solidFill>
              <a:srgbClr val="FFFFFF"/>
            </a:solidFill>
            <a:prstDash val="solid"/>
          </a:ln>
        </p:spPr>
      </p:sp>
      <p:sp>
        <p:nvSpPr>
          <p:cNvPr id="5" name="Text 3"/>
          <p:cNvSpPr txBox="1"/>
          <p:nvPr/>
        </p:nvSpPr>
        <p:spPr>
          <a:xfrm>
            <a:off x="548640" y="1828800"/>
            <a:ext cx="42062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Criterio</a:t>
            </a:r>
            <a:endParaRPr lang="en-US" sz="1200" dirty="0"/>
          </a:p>
        </p:txBody>
      </p:sp>
      <p:sp>
        <p:nvSpPr>
          <p:cNvPr id="6" name="Shape 4"/>
          <p:cNvSpPr/>
          <p:nvPr/>
        </p:nvSpPr>
        <p:spPr>
          <a:xfrm>
            <a:off x="4754880" y="1828800"/>
            <a:ext cx="6885432" cy="566928"/>
          </a:xfrm>
          <a:prstGeom prst="rect">
            <a:avLst/>
          </a:prstGeom>
          <a:solidFill>
            <a:srgbClr val="15293B"/>
          </a:solidFill>
          <a:ln w="6350">
            <a:solidFill>
              <a:srgbClr val="FFFFFF"/>
            </a:solidFill>
            <a:prstDash val="solid"/>
          </a:ln>
        </p:spPr>
      </p:sp>
      <p:sp>
        <p:nvSpPr>
          <p:cNvPr id="7" name="Text 5"/>
          <p:cNvSpPr txBox="1"/>
          <p:nvPr/>
        </p:nvSpPr>
        <p:spPr>
          <a:xfrm>
            <a:off x="4754880" y="1828800"/>
            <a:ext cx="68854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se revisa</a:t>
            </a:r>
            <a:endParaRPr lang="en-US" sz="1200" dirty="0"/>
          </a:p>
        </p:txBody>
      </p:sp>
      <p:sp>
        <p:nvSpPr>
          <p:cNvPr id="8" name="Shape 6"/>
          <p:cNvSpPr/>
          <p:nvPr/>
        </p:nvSpPr>
        <p:spPr>
          <a:xfrm>
            <a:off x="548640" y="2395728"/>
            <a:ext cx="4206240" cy="566928"/>
          </a:xfrm>
          <a:prstGeom prst="rect">
            <a:avLst/>
          </a:prstGeom>
          <a:solidFill>
            <a:srgbClr val="EEF2F5"/>
          </a:solidFill>
          <a:ln w="6350">
            <a:solidFill>
              <a:srgbClr val="D5DCE3"/>
            </a:solidFill>
            <a:prstDash val="solid"/>
          </a:ln>
        </p:spPr>
      </p:sp>
      <p:sp>
        <p:nvSpPr>
          <p:cNvPr id="9" name="Text 7"/>
          <p:cNvSpPr txBox="1"/>
          <p:nvPr/>
        </p:nvSpPr>
        <p:spPr>
          <a:xfrm>
            <a:off x="621792" y="2395728"/>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Estimado correcto</a:t>
            </a:r>
            <a:endParaRPr lang="en-US" sz="1250" dirty="0"/>
          </a:p>
        </p:txBody>
      </p:sp>
      <p:sp>
        <p:nvSpPr>
          <p:cNvPr id="10" name="Shape 8"/>
          <p:cNvSpPr/>
          <p:nvPr/>
        </p:nvSpPr>
        <p:spPr>
          <a:xfrm>
            <a:off x="4754880" y="2395728"/>
            <a:ext cx="6885432" cy="566928"/>
          </a:xfrm>
          <a:prstGeom prst="rect">
            <a:avLst/>
          </a:prstGeom>
          <a:solidFill>
            <a:srgbClr val="EEF2F5"/>
          </a:solidFill>
          <a:ln w="6350">
            <a:solidFill>
              <a:srgbClr val="D5DCE3"/>
            </a:solidFill>
            <a:prstDash val="solid"/>
          </a:ln>
        </p:spPr>
      </p:sp>
      <p:sp>
        <p:nvSpPr>
          <p:cNvPr id="11" name="Text 9"/>
          <p:cNvSpPr txBox="1"/>
          <p:nvPr/>
        </p:nvSpPr>
        <p:spPr>
          <a:xfrm>
            <a:off x="4828032" y="2395728"/>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El ingreso ponderado y el efecto con el error estándar apropiado.</a:t>
            </a:r>
            <a:endParaRPr lang="en-US" sz="1250" dirty="0"/>
          </a:p>
        </p:txBody>
      </p:sp>
      <p:sp>
        <p:nvSpPr>
          <p:cNvPr id="12" name="Shape 10"/>
          <p:cNvSpPr/>
          <p:nvPr/>
        </p:nvSpPr>
        <p:spPr>
          <a:xfrm>
            <a:off x="548640" y="2962656"/>
            <a:ext cx="4206240" cy="566928"/>
          </a:xfrm>
          <a:prstGeom prst="rect">
            <a:avLst/>
          </a:prstGeom>
          <a:solidFill>
            <a:srgbClr val="FFFFFF"/>
          </a:solidFill>
          <a:ln w="6350">
            <a:solidFill>
              <a:srgbClr val="D5DCE3"/>
            </a:solidFill>
            <a:prstDash val="solid"/>
          </a:ln>
        </p:spPr>
      </p:sp>
      <p:sp>
        <p:nvSpPr>
          <p:cNvPr id="13" name="Text 11"/>
          <p:cNvSpPr txBox="1"/>
          <p:nvPr/>
        </p:nvSpPr>
        <p:spPr>
          <a:xfrm>
            <a:off x="621792" y="2962656"/>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Simpson cazado</a:t>
            </a:r>
            <a:endParaRPr lang="en-US" sz="1250" dirty="0"/>
          </a:p>
        </p:txBody>
      </p:sp>
      <p:sp>
        <p:nvSpPr>
          <p:cNvPr id="14" name="Shape 12"/>
          <p:cNvSpPr/>
          <p:nvPr/>
        </p:nvSpPr>
        <p:spPr>
          <a:xfrm>
            <a:off x="4754880" y="2962656"/>
            <a:ext cx="6885432" cy="566928"/>
          </a:xfrm>
          <a:prstGeom prst="rect">
            <a:avLst/>
          </a:prstGeom>
          <a:solidFill>
            <a:srgbClr val="FFFFFF"/>
          </a:solidFill>
          <a:ln w="6350">
            <a:solidFill>
              <a:srgbClr val="D5DCE3"/>
            </a:solidFill>
            <a:prstDash val="solid"/>
          </a:ln>
        </p:spPr>
      </p:sp>
      <p:sp>
        <p:nvSpPr>
          <p:cNvPr id="15" name="Text 13"/>
          <p:cNvSpPr txBox="1"/>
          <p:nvPr/>
        </p:nvSpPr>
        <p:spPr>
          <a:xfrm>
            <a:off x="4828032" y="2962656"/>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Que hayas mirado por estrato y notado si el signo se invierte.</a:t>
            </a:r>
            <a:endParaRPr lang="en-US" sz="1250" dirty="0"/>
          </a:p>
        </p:txBody>
      </p:sp>
      <p:sp>
        <p:nvSpPr>
          <p:cNvPr id="16" name="Shape 14"/>
          <p:cNvSpPr/>
          <p:nvPr/>
        </p:nvSpPr>
        <p:spPr>
          <a:xfrm>
            <a:off x="548640" y="3529584"/>
            <a:ext cx="4206240" cy="566928"/>
          </a:xfrm>
          <a:prstGeom prst="rect">
            <a:avLst/>
          </a:prstGeom>
          <a:solidFill>
            <a:srgbClr val="EEF2F5"/>
          </a:solidFill>
          <a:ln w="6350">
            <a:solidFill>
              <a:srgbClr val="D5DCE3"/>
            </a:solidFill>
            <a:prstDash val="solid"/>
          </a:ln>
        </p:spPr>
      </p:sp>
      <p:sp>
        <p:nvSpPr>
          <p:cNvPr id="17" name="Text 15"/>
          <p:cNvSpPr txBox="1"/>
          <p:nvPr/>
        </p:nvSpPr>
        <p:spPr>
          <a:xfrm>
            <a:off x="621792" y="3529584"/>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Auditoría de la IA</a:t>
            </a:r>
            <a:endParaRPr lang="en-US" sz="1250" dirty="0"/>
          </a:p>
        </p:txBody>
      </p:sp>
      <p:sp>
        <p:nvSpPr>
          <p:cNvPr id="18" name="Shape 16"/>
          <p:cNvSpPr/>
          <p:nvPr/>
        </p:nvSpPr>
        <p:spPr>
          <a:xfrm>
            <a:off x="4754880" y="3529584"/>
            <a:ext cx="6885432" cy="566928"/>
          </a:xfrm>
          <a:prstGeom prst="rect">
            <a:avLst/>
          </a:prstGeom>
          <a:solidFill>
            <a:srgbClr val="EEF2F5"/>
          </a:solidFill>
          <a:ln w="6350">
            <a:solidFill>
              <a:srgbClr val="D5DCE3"/>
            </a:solidFill>
            <a:prstDash val="solid"/>
          </a:ln>
        </p:spPr>
      </p:sp>
      <p:sp>
        <p:nvSpPr>
          <p:cNvPr id="19" name="Text 17"/>
          <p:cNvSpPr txBox="1"/>
          <p:nvPr/>
        </p:nvSpPr>
        <p:spPr>
          <a:xfrm>
            <a:off x="4828032" y="3529584"/>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Los tres errores encontrados, explicados y corregidos.</a:t>
            </a:r>
            <a:endParaRPr lang="en-US" sz="1250" dirty="0"/>
          </a:p>
        </p:txBody>
      </p:sp>
      <p:sp>
        <p:nvSpPr>
          <p:cNvPr id="20" name="Shape 18"/>
          <p:cNvSpPr/>
          <p:nvPr/>
        </p:nvSpPr>
        <p:spPr>
          <a:xfrm>
            <a:off x="548640" y="4096512"/>
            <a:ext cx="4206240" cy="566928"/>
          </a:xfrm>
          <a:prstGeom prst="rect">
            <a:avLst/>
          </a:prstGeom>
          <a:solidFill>
            <a:srgbClr val="FFFFFF"/>
          </a:solidFill>
          <a:ln w="6350">
            <a:solidFill>
              <a:srgbClr val="D5DCE3"/>
            </a:solidFill>
            <a:prstDash val="solid"/>
          </a:ln>
        </p:spPr>
      </p:sp>
      <p:sp>
        <p:nvSpPr>
          <p:cNvPr id="21" name="Text 19"/>
          <p:cNvSpPr txBox="1"/>
          <p:nvPr/>
        </p:nvSpPr>
        <p:spPr>
          <a:xfrm>
            <a:off x="621792" y="4096512"/>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Reproducible</a:t>
            </a:r>
            <a:endParaRPr lang="en-US" sz="1250" dirty="0"/>
          </a:p>
        </p:txBody>
      </p:sp>
      <p:sp>
        <p:nvSpPr>
          <p:cNvPr id="22" name="Shape 20"/>
          <p:cNvSpPr/>
          <p:nvPr/>
        </p:nvSpPr>
        <p:spPr>
          <a:xfrm>
            <a:off x="4754880" y="4096512"/>
            <a:ext cx="6885432" cy="566928"/>
          </a:xfrm>
          <a:prstGeom prst="rect">
            <a:avLst/>
          </a:prstGeom>
          <a:solidFill>
            <a:srgbClr val="FFFFFF"/>
          </a:solidFill>
          <a:ln w="6350">
            <a:solidFill>
              <a:srgbClr val="D5DCE3"/>
            </a:solidFill>
            <a:prstDash val="solid"/>
          </a:ln>
        </p:spPr>
      </p:sp>
      <p:sp>
        <p:nvSpPr>
          <p:cNvPr id="23" name="Text 21"/>
          <p:cNvSpPr txBox="1"/>
          <p:nvPr/>
        </p:nvSpPr>
        <p:spPr>
          <a:xfrm>
            <a:off x="4828032" y="4096512"/>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Semilla y entorno fijos; corre igual al reiniciar de cero.</a:t>
            </a:r>
            <a:endParaRPr lang="en-US" sz="1250" dirty="0"/>
          </a:p>
        </p:txBody>
      </p:sp>
      <p:sp>
        <p:nvSpPr>
          <p:cNvPr id="24" name="Shape 22"/>
          <p:cNvSpPr/>
          <p:nvPr/>
        </p:nvSpPr>
        <p:spPr>
          <a:xfrm>
            <a:off x="548640" y="4663440"/>
            <a:ext cx="4206240" cy="566928"/>
          </a:xfrm>
          <a:prstGeom prst="rect">
            <a:avLst/>
          </a:prstGeom>
          <a:solidFill>
            <a:srgbClr val="EEF2F5"/>
          </a:solidFill>
          <a:ln w="6350">
            <a:solidFill>
              <a:srgbClr val="D5DCE3"/>
            </a:solidFill>
            <a:prstDash val="solid"/>
          </a:ln>
        </p:spPr>
      </p:sp>
      <p:sp>
        <p:nvSpPr>
          <p:cNvPr id="25" name="Text 23"/>
          <p:cNvSpPr txBox="1"/>
          <p:nvPr/>
        </p:nvSpPr>
        <p:spPr>
          <a:xfrm>
            <a:off x="621792" y="4663440"/>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Justificación</a:t>
            </a:r>
            <a:endParaRPr lang="en-US" sz="1250" dirty="0"/>
          </a:p>
        </p:txBody>
      </p:sp>
      <p:sp>
        <p:nvSpPr>
          <p:cNvPr id="26" name="Shape 24"/>
          <p:cNvSpPr/>
          <p:nvPr/>
        </p:nvSpPr>
        <p:spPr>
          <a:xfrm>
            <a:off x="4754880" y="4663440"/>
            <a:ext cx="6885432" cy="566928"/>
          </a:xfrm>
          <a:prstGeom prst="rect">
            <a:avLst/>
          </a:prstGeom>
          <a:solidFill>
            <a:srgbClr val="EEF2F5"/>
          </a:solidFill>
          <a:ln w="6350">
            <a:solidFill>
              <a:srgbClr val="D5DCE3"/>
            </a:solidFill>
            <a:prstDash val="solid"/>
          </a:ln>
        </p:spPr>
      </p:sp>
      <p:sp>
        <p:nvSpPr>
          <p:cNvPr id="27" name="Text 25"/>
          <p:cNvSpPr txBox="1"/>
          <p:nvPr/>
        </p:nvSpPr>
        <p:spPr>
          <a:xfrm>
            <a:off x="4828032" y="4663440"/>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Cada decisión de diseño argumentada en el texto.</a:t>
            </a:r>
            <a:endParaRPr lang="en-US" sz="1250" dirty="0"/>
          </a:p>
        </p:txBody>
      </p:sp>
      <p:sp>
        <p:nvSpPr>
          <p:cNvPr id="28" name="Shape 26"/>
          <p:cNvSpPr/>
          <p:nvPr/>
        </p:nvSpPr>
        <p:spPr>
          <a:xfrm>
            <a:off x="548640" y="6053328"/>
            <a:ext cx="11091672" cy="603504"/>
          </a:xfrm>
          <a:prstGeom prst="rect">
            <a:avLst/>
          </a:prstGeom>
          <a:solidFill>
            <a:srgbClr val="FBEEE5"/>
          </a:solidFill>
          <a:ln/>
        </p:spPr>
      </p:sp>
      <p:sp>
        <p:nvSpPr>
          <p:cNvPr id="29" name="Shape 27"/>
          <p:cNvSpPr/>
          <p:nvPr/>
        </p:nvSpPr>
        <p:spPr>
          <a:xfrm>
            <a:off x="749808" y="6272784"/>
            <a:ext cx="164592" cy="164592"/>
          </a:xfrm>
          <a:prstGeom prst="roundRect">
            <a:avLst>
              <a:gd name="adj" fmla="val 22222"/>
            </a:avLst>
          </a:prstGeom>
          <a:solidFill>
            <a:srgbClr val="CB5E2E"/>
          </a:solidFill>
          <a:ln/>
        </p:spPr>
      </p:sp>
      <p:sp>
        <p:nvSpPr>
          <p:cNvPr id="30" name="Text 28"/>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No se evalúa que el análisis corra, sino que el número sea correcto, defendible y repetible, y que hayas cazado lo que la IA hizo mal.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Cierre del bloque cuantitativo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Lo que se llevan de las tres sesiones, en una idea.</a:t>
            </a:r>
            <a:endParaRPr lang="en-US" sz="1400" dirty="0"/>
          </a:p>
        </p:txBody>
      </p:sp>
      <p:sp>
        <p:nvSpPr>
          <p:cNvPr id="4" name="Shape 2"/>
          <p:cNvSpPr/>
          <p:nvPr/>
        </p:nvSpPr>
        <p:spPr>
          <a:xfrm>
            <a:off x="548640" y="2011680"/>
            <a:ext cx="11091672" cy="1554480"/>
          </a:xfrm>
          <a:prstGeom prst="roundRect">
            <a:avLst>
              <a:gd name="adj" fmla="val 3529"/>
            </a:avLst>
          </a:prstGeom>
          <a:solidFill>
            <a:srgbClr val="EEF2F5"/>
          </a:solidFill>
          <a:ln w="9525">
            <a:solidFill>
              <a:srgbClr val="D5DCE3"/>
            </a:solidFill>
            <a:prstDash val="solid"/>
          </a:ln>
        </p:spPr>
      </p:sp>
      <p:sp>
        <p:nvSpPr>
          <p:cNvPr id="5" name="Text 3"/>
          <p:cNvSpPr txBox="1"/>
          <p:nvPr/>
        </p:nvSpPr>
        <p:spPr>
          <a:xfrm>
            <a:off x="868680" y="2194560"/>
            <a:ext cx="10451592" cy="365760"/>
          </a:xfrm>
          <a:prstGeom prst="rect">
            <a:avLst/>
          </a:prstGeom>
          <a:noFill/>
          <a:ln/>
        </p:spPr>
        <p:txBody>
          <a:bodyPr wrap="square" lIns="0" tIns="0" rIns="0" bIns="0" rtlCol="0" anchor="ctr"/>
          <a:lstStyle/>
          <a:p>
            <a:pPr indent="0" marL="0">
              <a:buNone/>
            </a:pPr>
            <a:r>
              <a:rPr lang="en-US" sz="1600" b="1" dirty="0">
                <a:solidFill>
                  <a:srgbClr val="CB5E2E"/>
                </a:solidFill>
                <a:latin typeface="Calibri" pitchFamily="34" charset="0"/>
                <a:ea typeface="Calibri" pitchFamily="34" charset="-122"/>
                <a:cs typeface="Calibri" pitchFamily="34" charset="-120"/>
              </a:rPr>
              <a:t>La idea que atraviesa el módulo</a:t>
            </a:r>
            <a:endParaRPr lang="en-US" sz="1600" dirty="0"/>
          </a:p>
        </p:txBody>
      </p:sp>
      <p:sp>
        <p:nvSpPr>
          <p:cNvPr id="6" name="Text 4"/>
          <p:cNvSpPr txBox="1"/>
          <p:nvPr/>
        </p:nvSpPr>
        <p:spPr>
          <a:xfrm>
            <a:off x="868680" y="2578608"/>
            <a:ext cx="10451592" cy="960120"/>
          </a:xfrm>
          <a:prstGeom prst="rect">
            <a:avLst/>
          </a:prstGeom>
          <a:noFill/>
          <a:ln/>
        </p:spPr>
        <p:txBody>
          <a:bodyPr wrap="square" lIns="0" tIns="0" rIns="0" bIns="0" rtlCol="0" anchor="ctr"/>
          <a:lstStyle/>
          <a:p>
            <a:pPr indent="0" marL="0">
              <a:lnSpc>
                <a:spcPct val="105000"/>
              </a:lnSpc>
              <a:buNone/>
            </a:pPr>
            <a:r>
              <a:rPr lang="en-US" sz="1350" dirty="0">
                <a:solidFill>
                  <a:srgbClr val="1E2A35"/>
                </a:solidFill>
                <a:latin typeface="Calibri" pitchFamily="34" charset="0"/>
                <a:ea typeface="Calibri" pitchFamily="34" charset="-122"/>
                <a:cs typeface="Calibri" pitchFamily="34" charset="-120"/>
              </a:rPr>
              <a:t>Un asistente de IA escribe el análisis en segundos, y cada vez con menos errores mecánicos. Pero que el número respete el diseño, que la incertidumbre sea honesta, que el signo sea el correcto, y que todo se pueda repetir, eso lo deciden y lo firman ustedes. La IA es el copiloto; el criterio es humano.</a:t>
            </a:r>
            <a:endParaRPr lang="en-US" sz="1350" dirty="0"/>
          </a:p>
        </p:txBody>
      </p:sp>
      <p:sp>
        <p:nvSpPr>
          <p:cNvPr id="7" name="Shape 5"/>
          <p:cNvSpPr/>
          <p:nvPr/>
        </p:nvSpPr>
        <p:spPr>
          <a:xfrm>
            <a:off x="548640" y="3840480"/>
            <a:ext cx="5394960" cy="1417320"/>
          </a:xfrm>
          <a:prstGeom prst="roundRect">
            <a:avLst>
              <a:gd name="adj" fmla="val 3871"/>
            </a:avLst>
          </a:prstGeom>
          <a:solidFill>
            <a:srgbClr val="FFFFFF"/>
          </a:solidFill>
          <a:ln w="9525">
            <a:solidFill>
              <a:srgbClr val="D5DCE3"/>
            </a:solidFill>
            <a:prstDash val="solid"/>
          </a:ln>
        </p:spPr>
      </p:sp>
      <p:sp>
        <p:nvSpPr>
          <p:cNvPr id="8" name="Text 6"/>
          <p:cNvSpPr txBox="1"/>
          <p:nvPr/>
        </p:nvSpPr>
        <p:spPr>
          <a:xfrm>
            <a:off x="822960" y="4005072"/>
            <a:ext cx="4846320" cy="365760"/>
          </a:xfrm>
          <a:prstGeom prst="rect">
            <a:avLst/>
          </a:prstGeom>
          <a:noFill/>
          <a:ln/>
        </p:spPr>
        <p:txBody>
          <a:bodyPr wrap="square" lIns="0" tIns="0" rIns="0" bIns="0" rtlCol="0" anchor="ctr"/>
          <a:lstStyle/>
          <a:p>
            <a:pPr indent="0" marL="0">
              <a:buNone/>
            </a:pPr>
            <a:r>
              <a:rPr lang="en-US" sz="1450" b="1" dirty="0">
                <a:solidFill>
                  <a:srgbClr val="CB5E2E"/>
                </a:solidFill>
                <a:latin typeface="Calibri" pitchFamily="34" charset="0"/>
                <a:ea typeface="Calibri" pitchFamily="34" charset="-122"/>
                <a:cs typeface="Calibri" pitchFamily="34" charset="-120"/>
              </a:rPr>
              <a:t>El entregable de hoy</a:t>
            </a:r>
            <a:endParaRPr lang="en-US" sz="1450" dirty="0"/>
          </a:p>
        </p:txBody>
      </p:sp>
      <p:sp>
        <p:nvSpPr>
          <p:cNvPr id="9" name="Text 7"/>
          <p:cNvSpPr txBox="1"/>
          <p:nvPr/>
        </p:nvSpPr>
        <p:spPr>
          <a:xfrm>
            <a:off x="822960" y="4389120"/>
            <a:ext cx="4846320" cy="8229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Laboratorio_S09 (Rmd o ipynb) tejido o ejecutado, con las cinco partes resueltas y la auditoría de la IA.</a:t>
            </a:r>
            <a:endParaRPr lang="en-US" sz="1250" dirty="0"/>
          </a:p>
        </p:txBody>
      </p:sp>
      <p:sp>
        <p:nvSpPr>
          <p:cNvPr id="10" name="Shape 8"/>
          <p:cNvSpPr/>
          <p:nvPr/>
        </p:nvSpPr>
        <p:spPr>
          <a:xfrm>
            <a:off x="6245352" y="3840480"/>
            <a:ext cx="5394960" cy="1417320"/>
          </a:xfrm>
          <a:prstGeom prst="roundRect">
            <a:avLst>
              <a:gd name="adj" fmla="val 3871"/>
            </a:avLst>
          </a:prstGeom>
          <a:solidFill>
            <a:srgbClr val="FFFFFF"/>
          </a:solidFill>
          <a:ln w="9525">
            <a:solidFill>
              <a:srgbClr val="D5DCE3"/>
            </a:solidFill>
            <a:prstDash val="solid"/>
          </a:ln>
        </p:spPr>
      </p:sp>
      <p:sp>
        <p:nvSpPr>
          <p:cNvPr id="11" name="Text 9"/>
          <p:cNvSpPr txBox="1"/>
          <p:nvPr/>
        </p:nvSpPr>
        <p:spPr>
          <a:xfrm>
            <a:off x="6519672" y="4005072"/>
            <a:ext cx="4846320" cy="365760"/>
          </a:xfrm>
          <a:prstGeom prst="rect">
            <a:avLst/>
          </a:prstGeom>
          <a:noFill/>
          <a:ln/>
        </p:spPr>
        <p:txBody>
          <a:bodyPr wrap="square" lIns="0" tIns="0" rIns="0" bIns="0" rtlCol="0" anchor="ctr"/>
          <a:lstStyle/>
          <a:p>
            <a:pPr indent="0" marL="0">
              <a:buNone/>
            </a:pPr>
            <a:r>
              <a:rPr lang="en-US" sz="1450" b="1" dirty="0">
                <a:solidFill>
                  <a:srgbClr val="CB5E2E"/>
                </a:solidFill>
                <a:latin typeface="Calibri" pitchFamily="34" charset="0"/>
                <a:ea typeface="Calibri" pitchFamily="34" charset="-122"/>
                <a:cs typeface="Calibri" pitchFamily="34" charset="-120"/>
              </a:rPr>
              <a:t>Lo que sigue</a:t>
            </a:r>
            <a:endParaRPr lang="en-US" sz="1450" dirty="0"/>
          </a:p>
        </p:txBody>
      </p:sp>
      <p:sp>
        <p:nvSpPr>
          <p:cNvPr id="12" name="Text 10"/>
          <p:cNvSpPr txBox="1"/>
          <p:nvPr/>
        </p:nvSpPr>
        <p:spPr>
          <a:xfrm>
            <a:off x="6519672" y="4389120"/>
            <a:ext cx="4846320" cy="8229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 esto cierra el bloque cuantitativo. Estas mismas prácticas, diseño y reproducibilidad, sostienen el proyecto final del curso.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2026-09-23T00:28:56Z</dcterms:created>
  <dcterms:modified xsi:type="dcterms:W3CDTF">2026-09-23T00:28:56Z</dcterms:modified>
</cp:coreProperties>
</file>