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Ten abiertos: Copilot en Word con un documento normativo cargado, el ejercicio de reescritura, el hilo de correo y la transcripción, y el archivo de plantillas en la hoja de bitácora.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Pídeles que abran Word y verifiquen si Copilot les ofrece hacer referencia a archivos. Dos minutos. Quien no sepa en qué modo está no puede decidir qué información pegar.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Detente en el prompt 2. Corre la versión mala en vivo y busca una de las cifras que devuelva. En el 5, pon las dos salidas lado a lado: el contraste es la lección.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 alguien dice que las tres coincidían, pídele que revise tres más. Al cerrar, pregunta cuántos encontraron al menos un error: ese número es el argumento de la sesión del jueves.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orden es obligatorio: primero corren el prompt, después leen. El hilo tiene seis trampas y la transcripción otras seis. Pregunta quién detectó el acuerdo que desaparece del último mensaje.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error típico es que escriben prompts para tareas hipotéticas. Si ves eso, la pregunta correctiva es: ¿esto lo hiciste la semana pasada?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26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-2011680"/>
            <a:ext cx="5852160" cy="5852160"/>
          </a:xfrm>
          <a:prstGeom prst="ellipse">
            <a:avLst/>
          </a:prstGeom>
          <a:solidFill>
            <a:srgbClr val="24404E"/>
          </a:solidFill>
          <a:ln w="12700">
            <a:solidFill>
              <a:srgbClr val="24404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692640" y="4206240"/>
            <a:ext cx="4206240" cy="4206240"/>
          </a:xfrm>
          <a:prstGeom prst="ellipse">
            <a:avLst/>
          </a:prstGeom>
          <a:solidFill>
            <a:srgbClr val="24404E"/>
          </a:solidFill>
          <a:ln w="12700">
            <a:solidFill>
              <a:srgbClr val="24404E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66928" y="1417320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D7E7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 I. FUNDAMENTOS, ÉTICA Y COPILOT INSTITUCIONAL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87452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C85A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Sesión 2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2560320"/>
            <a:ext cx="106070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Microsoft Copilot y cómo escribir mejores instrucciones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566928" y="4480560"/>
            <a:ext cx="5120640" cy="54864"/>
          </a:xfrm>
          <a:prstGeom prst="roundRect">
            <a:avLst>
              <a:gd name="adj" fmla="val 50000"/>
            </a:avLst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66928" y="4709160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Martes 15 de septiembre de 2026, 9:00 a 11:30 horas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66928" y="5120640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7E7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de Inteligencia Artificial Aplicada. INEGI 2026. CC BY-NC-SA 4.0.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9229039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Cómo vamos a usar los 150 minutos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9485071" y="457200"/>
            <a:ext cx="2139696" cy="347472"/>
          </a:xfrm>
          <a:prstGeom prst="roundRect">
            <a:avLst>
              <a:gd name="adj" fmla="val 50000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485071" y="457200"/>
            <a:ext cx="21396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A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9:00 a 11:30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408176"/>
            <a:ext cx="5364328" cy="1081278"/>
          </a:xfrm>
          <a:prstGeom prst="roundRect">
            <a:avLst>
              <a:gd name="adj" fmla="val 5920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86384" y="1408176"/>
            <a:ext cx="1371600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9:00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2194560" y="1463040"/>
            <a:ext cx="3517240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Repaso: las tres lecciones de ayer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66928" y="2635758"/>
            <a:ext cx="5364328" cy="1081278"/>
          </a:xfrm>
          <a:prstGeom prst="roundRect">
            <a:avLst>
              <a:gd name="adj" fmla="val 5920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86384" y="2635758"/>
            <a:ext cx="1371600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9:10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2194560" y="2690622"/>
            <a:ext cx="3517240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Dónde vive Copilot y en qué modo estás trabajando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566928" y="3863340"/>
            <a:ext cx="5364328" cy="1081278"/>
          </a:xfrm>
          <a:prstGeom prst="roundRect">
            <a:avLst>
              <a:gd name="adj" fmla="val 5920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86384" y="3863340"/>
            <a:ext cx="1371600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9:35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2194560" y="3918204"/>
            <a:ext cx="3517240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seis casillas de una buena instrucción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566928" y="5090922"/>
            <a:ext cx="5364328" cy="1081278"/>
          </a:xfrm>
          <a:prstGeom prst="roundRect">
            <a:avLst>
              <a:gd name="adj" fmla="val 5920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86384" y="5090922"/>
            <a:ext cx="1371600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10:00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2194560" y="5145786"/>
            <a:ext cx="3517240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Haz que trabaje sobre tu documento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6260440" y="1408176"/>
            <a:ext cx="5364328" cy="1081278"/>
          </a:xfrm>
          <a:prstGeom prst="roundRect">
            <a:avLst>
              <a:gd name="adj" fmla="val 5920"/>
            </a:avLst>
          </a:prstGeom>
          <a:solidFill>
            <a:srgbClr val="F7E4D8"/>
          </a:solidFill>
          <a:ln w="12700">
            <a:solidFill>
              <a:srgbClr val="F7E4D8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479896" y="1408176"/>
            <a:ext cx="1371600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85A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10:20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7888072" y="1463040"/>
            <a:ext cx="3517240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Receso de diez minutos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6260440" y="2635758"/>
            <a:ext cx="5364328" cy="1081278"/>
          </a:xfrm>
          <a:prstGeom prst="roundRect">
            <a:avLst>
              <a:gd name="adj" fmla="val 5920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479896" y="2635758"/>
            <a:ext cx="1371600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10:30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7888072" y="2690622"/>
            <a:ext cx="3517240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 en Outlook y Teams, con dos trampas</a:t>
            </a:r>
            <a:endParaRPr lang="en-US" sz="1350" dirty="0"/>
          </a:p>
        </p:txBody>
      </p:sp>
      <p:sp>
        <p:nvSpPr>
          <p:cNvPr id="23" name="Shape 21"/>
          <p:cNvSpPr/>
          <p:nvPr/>
        </p:nvSpPr>
        <p:spPr>
          <a:xfrm>
            <a:off x="6260440" y="3863340"/>
            <a:ext cx="5364328" cy="1081278"/>
          </a:xfrm>
          <a:prstGeom prst="roundRect">
            <a:avLst>
              <a:gd name="adj" fmla="val 5920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479896" y="3863340"/>
            <a:ext cx="1371600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10:55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7888072" y="3918204"/>
            <a:ext cx="3517240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 biblioteca de prompts</a:t>
            </a:r>
            <a:endParaRPr lang="en-US" sz="1350" dirty="0"/>
          </a:p>
        </p:txBody>
      </p:sp>
      <p:sp>
        <p:nvSpPr>
          <p:cNvPr id="26" name="Shape 24"/>
          <p:cNvSpPr/>
          <p:nvPr/>
        </p:nvSpPr>
        <p:spPr>
          <a:xfrm>
            <a:off x="6260440" y="5090922"/>
            <a:ext cx="5364328" cy="1081278"/>
          </a:xfrm>
          <a:prstGeom prst="roundRect">
            <a:avLst>
              <a:gd name="adj" fmla="val 5920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479896" y="5090922"/>
            <a:ext cx="1371600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11:20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7888072" y="5145786"/>
            <a:ext cx="3517240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y tarea</a:t>
            </a:r>
            <a:endParaRPr lang="en-US" sz="1350" dirty="0"/>
          </a:p>
        </p:txBody>
      </p:sp>
      <p:sp>
        <p:nvSpPr>
          <p:cNvPr id="29" name="Text 27"/>
          <p:cNvSpPr txBox="1"/>
          <p:nvPr/>
        </p:nvSpPr>
        <p:spPr>
          <a:xfrm>
            <a:off x="566928" y="6327648"/>
            <a:ext cx="110578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Hoy trabajas 80 minutos con las manos en el teclado. Ten abierto desde ahora el documento que bajaste.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9229039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de ayer, convertido en tres reglas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66928" y="1609344"/>
            <a:ext cx="3503066" cy="2493772"/>
          </a:xfrm>
          <a:prstGeom prst="roundRect">
            <a:avLst>
              <a:gd name="adj" fmla="val 2933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04672" y="1828800"/>
            <a:ext cx="420624" cy="420624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04672" y="18288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804672" y="2395728"/>
            <a:ext cx="3027578" cy="319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repite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804672" y="2861056"/>
            <a:ext cx="3027578" cy="10408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eso cada prompt que te funcione lo guardas con su versión. Lo que no está en tu bitácora, no existe.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344314" y="1609344"/>
            <a:ext cx="3503066" cy="2493772"/>
          </a:xfrm>
          <a:prstGeom prst="roundRect">
            <a:avLst>
              <a:gd name="adj" fmla="val 2933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82058" y="1828800"/>
            <a:ext cx="420624" cy="420624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82058" y="18288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4582058" y="2395728"/>
            <a:ext cx="3027578" cy="319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calcula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4582058" y="2861056"/>
            <a:ext cx="3027578" cy="10408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Hoy no le vas a pedir ni una sola cuenta. Eso empieza en el Módulo III, la semana que entra.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121701" y="1609344"/>
            <a:ext cx="3503066" cy="2493772"/>
          </a:xfrm>
          <a:prstGeom prst="roundRect">
            <a:avLst>
              <a:gd name="adj" fmla="val 2933"/>
            </a:avLst>
          </a:prstGeom>
          <a:solidFill>
            <a:srgbClr val="F7E4D8"/>
          </a:solidFill>
          <a:ln w="12700">
            <a:solidFill>
              <a:srgbClr val="F7E4D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359445" y="1828800"/>
            <a:ext cx="420624" cy="420624"/>
          </a:xfrm>
          <a:prstGeom prst="ellipse">
            <a:avLst/>
          </a:prstGeom>
          <a:solidFill>
            <a:srgbClr val="C85A28"/>
          </a:solidFill>
          <a:ln w="12700">
            <a:solidFill>
              <a:srgbClr val="C85A2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59445" y="18288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359445" y="2395728"/>
            <a:ext cx="3027578" cy="319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Inventa con seguridad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8359445" y="2861056"/>
            <a:ext cx="3027578" cy="10408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eso hoy aprendes a pedirle que te diga de dónde sacó cada cosa. Sin eso no puedes verificar nada.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626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331720"/>
            <a:ext cx="1371600" cy="1371600"/>
          </a:xfrm>
          <a:prstGeom prst="ellipse">
            <a:avLst/>
          </a:prstGeom>
          <a:solidFill>
            <a:srgbClr val="C85A28"/>
          </a:solidFill>
          <a:ln w="12700">
            <a:solidFill>
              <a:srgbClr val="C85A28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233172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2487168" y="2331720"/>
            <a:ext cx="8778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D7E7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PRIMER BLOQUE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2487168" y="2697480"/>
            <a:ext cx="8961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Dónde vive Copilot y en qué modo estás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9631375" y="457200"/>
            <a:ext cx="1993392" cy="347472"/>
          </a:xfrm>
          <a:prstGeom prst="roundRect">
            <a:avLst>
              <a:gd name="adj" fmla="val 50000"/>
            </a:avLst>
          </a:prstGeom>
          <a:solidFill>
            <a:srgbClr val="24404E"/>
          </a:solidFill>
          <a:ln w="12700">
            <a:solidFill>
              <a:srgbClr val="24404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631375" y="457200"/>
            <a:ext cx="19933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9:10 a 9:35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9229039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Copilot no es una página. Son seis lugares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280160"/>
            <a:ext cx="996055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A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uno sirve para algo distinto. Hoy vas a usar por lo menos tres.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66928" y="1937791"/>
            <a:ext cx="3503066" cy="1916405"/>
          </a:xfrm>
          <a:prstGeom prst="roundRect">
            <a:avLst>
              <a:gd name="adj" fmla="val 3817"/>
            </a:avLst>
          </a:prstGeom>
          <a:solidFill>
            <a:srgbClr val="D7E7E7"/>
          </a:solidFill>
          <a:ln w="12700">
            <a:solidFill>
              <a:srgbClr val="D7E7E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04672" y="2175535"/>
            <a:ext cx="3027578" cy="3110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2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 Word</a:t>
            </a:r>
            <a:endParaRPr lang="en-US" sz="1552" dirty="0"/>
          </a:p>
        </p:txBody>
      </p:sp>
      <p:sp>
        <p:nvSpPr>
          <p:cNvPr id="6" name="Text 4"/>
          <p:cNvSpPr txBox="1"/>
          <p:nvPr/>
        </p:nvSpPr>
        <p:spPr>
          <a:xfrm>
            <a:off x="804672" y="2632939"/>
            <a:ext cx="3027578" cy="10200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61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Resumir, extraer, reescribir y ajustar el tono de un documento que ya tienes abierto. Aquí vas a estar casi toda la sesión.</a:t>
            </a:r>
            <a:endParaRPr lang="en-US" sz="1261" dirty="0"/>
          </a:p>
        </p:txBody>
      </p:sp>
      <p:sp>
        <p:nvSpPr>
          <p:cNvPr id="7" name="Shape 5"/>
          <p:cNvSpPr/>
          <p:nvPr/>
        </p:nvSpPr>
        <p:spPr>
          <a:xfrm>
            <a:off x="4344314" y="1937791"/>
            <a:ext cx="3503066" cy="1916405"/>
          </a:xfrm>
          <a:prstGeom prst="roundRect">
            <a:avLst>
              <a:gd name="adj" fmla="val 3817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82058" y="2175535"/>
            <a:ext cx="3027578" cy="3110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2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 Excel</a:t>
            </a:r>
            <a:endParaRPr lang="en-US" sz="1552" dirty="0"/>
          </a:p>
        </p:txBody>
      </p:sp>
      <p:sp>
        <p:nvSpPr>
          <p:cNvPr id="9" name="Text 7"/>
          <p:cNvSpPr txBox="1"/>
          <p:nvPr/>
        </p:nvSpPr>
        <p:spPr>
          <a:xfrm>
            <a:off x="4582058" y="2632939"/>
            <a:ext cx="3027578" cy="10200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61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Explicar fórmulas, proponer transformaciones y ordenar datos. Lo usas el viernes para la tabla comparativa.</a:t>
            </a:r>
            <a:endParaRPr lang="en-US" sz="1261" dirty="0"/>
          </a:p>
        </p:txBody>
      </p:sp>
      <p:sp>
        <p:nvSpPr>
          <p:cNvPr id="10" name="Shape 8"/>
          <p:cNvSpPr/>
          <p:nvPr/>
        </p:nvSpPr>
        <p:spPr>
          <a:xfrm>
            <a:off x="8121701" y="1937791"/>
            <a:ext cx="3503066" cy="1916405"/>
          </a:xfrm>
          <a:prstGeom prst="roundRect">
            <a:avLst>
              <a:gd name="adj" fmla="val 3817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359445" y="2175535"/>
            <a:ext cx="3027578" cy="3110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2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 PowerPoint</a:t>
            </a:r>
            <a:endParaRPr lang="en-US" sz="1552" dirty="0"/>
          </a:p>
        </p:txBody>
      </p:sp>
      <p:sp>
        <p:nvSpPr>
          <p:cNvPr id="12" name="Text 10"/>
          <p:cNvSpPr txBox="1"/>
          <p:nvPr/>
        </p:nvSpPr>
        <p:spPr>
          <a:xfrm>
            <a:off x="8359445" y="2632939"/>
            <a:ext cx="3027578" cy="10200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61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Armar y reordenar láminas a partir de un documento. Uso ligero en estas dos semanas.</a:t>
            </a:r>
            <a:endParaRPr lang="en-US" sz="1261" dirty="0"/>
          </a:p>
        </p:txBody>
      </p:sp>
      <p:sp>
        <p:nvSpPr>
          <p:cNvPr id="13" name="Shape 11"/>
          <p:cNvSpPr/>
          <p:nvPr/>
        </p:nvSpPr>
        <p:spPr>
          <a:xfrm>
            <a:off x="566928" y="4128516"/>
            <a:ext cx="3503066" cy="1916405"/>
          </a:xfrm>
          <a:prstGeom prst="roundRect">
            <a:avLst>
              <a:gd name="adj" fmla="val 3817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04672" y="4366260"/>
            <a:ext cx="3027578" cy="3110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2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 Outlook</a:t>
            </a:r>
            <a:endParaRPr lang="en-US" sz="1552" dirty="0"/>
          </a:p>
        </p:txBody>
      </p:sp>
      <p:sp>
        <p:nvSpPr>
          <p:cNvPr id="15" name="Text 13"/>
          <p:cNvSpPr txBox="1"/>
          <p:nvPr/>
        </p:nvSpPr>
        <p:spPr>
          <a:xfrm>
            <a:off x="804672" y="4823663"/>
            <a:ext cx="3027578" cy="10200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61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Resumir hilos largos, sacar los compromisos y redactar respuestas. Con una trampa que ves después del receso.</a:t>
            </a:r>
            <a:endParaRPr lang="en-US" sz="1261" dirty="0"/>
          </a:p>
        </p:txBody>
      </p:sp>
      <p:sp>
        <p:nvSpPr>
          <p:cNvPr id="16" name="Shape 14"/>
          <p:cNvSpPr/>
          <p:nvPr/>
        </p:nvSpPr>
        <p:spPr>
          <a:xfrm>
            <a:off x="4344314" y="4128516"/>
            <a:ext cx="3503066" cy="1916405"/>
          </a:xfrm>
          <a:prstGeom prst="roundRect">
            <a:avLst>
              <a:gd name="adj" fmla="val 3817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82058" y="4366260"/>
            <a:ext cx="3027578" cy="3110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2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 Teams</a:t>
            </a:r>
            <a:endParaRPr lang="en-US" sz="1552" dirty="0"/>
          </a:p>
        </p:txBody>
      </p:sp>
      <p:sp>
        <p:nvSpPr>
          <p:cNvPr id="18" name="Text 16"/>
          <p:cNvSpPr txBox="1"/>
          <p:nvPr/>
        </p:nvSpPr>
        <p:spPr>
          <a:xfrm>
            <a:off x="4582058" y="4823663"/>
            <a:ext cx="3027578" cy="10200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61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Sacar la minuta de una reunión a partir de la transcripción. Con otra trampa.</a:t>
            </a:r>
            <a:endParaRPr lang="en-US" sz="1261" dirty="0"/>
          </a:p>
        </p:txBody>
      </p:sp>
      <p:sp>
        <p:nvSpPr>
          <p:cNvPr id="19" name="Shape 17"/>
          <p:cNvSpPr/>
          <p:nvPr/>
        </p:nvSpPr>
        <p:spPr>
          <a:xfrm>
            <a:off x="8121701" y="4128516"/>
            <a:ext cx="3503066" cy="1916405"/>
          </a:xfrm>
          <a:prstGeom prst="roundRect">
            <a:avLst>
              <a:gd name="adj" fmla="val 3817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359445" y="4366260"/>
            <a:ext cx="3027578" cy="3110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2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 el navegador</a:t>
            </a:r>
            <a:endParaRPr lang="en-US" sz="1552" dirty="0"/>
          </a:p>
        </p:txBody>
      </p:sp>
      <p:sp>
        <p:nvSpPr>
          <p:cNvPr id="21" name="Text 19"/>
          <p:cNvSpPr txBox="1"/>
          <p:nvPr/>
        </p:nvSpPr>
        <p:spPr>
          <a:xfrm>
            <a:off x="8359445" y="4823663"/>
            <a:ext cx="3027578" cy="10200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61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chat general. Sirve para explorar, pero es el que menos sabe de tu trabajo.</a:t>
            </a:r>
            <a:endParaRPr lang="en-US" sz="1261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9229039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 dos modos de Copilot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280160"/>
            <a:ext cx="996055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A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misma línea que viste ayer con el semáforo, ahora del lado de la herramienta.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66928" y="1810512"/>
            <a:ext cx="5860655" cy="3950208"/>
          </a:xfrm>
          <a:prstGeom prst="roundRect">
            <a:avLst>
              <a:gd name="adj" fmla="val 2778"/>
            </a:avLst>
          </a:prstGeom>
          <a:solidFill>
            <a:srgbClr val="D7E7E7"/>
          </a:solidFill>
          <a:ln w="31750">
            <a:solidFill>
              <a:srgbClr val="2E7D7D"/>
            </a:solidFill>
            <a:prstDash val="dash"/>
          </a:ln>
        </p:spPr>
      </p:sp>
      <p:sp>
        <p:nvSpPr>
          <p:cNvPr id="5" name="Text 3"/>
          <p:cNvSpPr txBox="1"/>
          <p:nvPr/>
        </p:nvSpPr>
        <p:spPr>
          <a:xfrm>
            <a:off x="841248" y="2029968"/>
            <a:ext cx="53120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E7D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Dentro del contrato del Instituto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841248" y="2523744"/>
            <a:ext cx="2573711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87552" y="2523744"/>
            <a:ext cx="2281103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 en Word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3579551" y="2523744"/>
            <a:ext cx="2573711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25855" y="2523744"/>
            <a:ext cx="2281103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 en Excel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41248" y="3035808"/>
            <a:ext cx="2573711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87552" y="3035808"/>
            <a:ext cx="2281103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 en Outlook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3579551" y="3035808"/>
            <a:ext cx="2573711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725855" y="3035808"/>
            <a:ext cx="2281103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 en Teams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41248" y="3547872"/>
            <a:ext cx="2573711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87552" y="3547872"/>
            <a:ext cx="2281103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SharePoint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3579551" y="3547872"/>
            <a:ext cx="2573711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725855" y="3547872"/>
            <a:ext cx="2281103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OneDrive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841248" y="4206240"/>
            <a:ext cx="53120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spcAft>
                <a:spcPts val="600"/>
              </a:spcAft>
              <a:buNone/>
            </a:pPr>
            <a:r>
              <a:rPr lang="en-US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Aquí Copilot puede leer tus correos, tus archivos de SharePoint y tus chats de Teams.</a:t>
            </a:r>
            <a:endParaRPr lang="en-US" sz="1300" dirty="0"/>
          </a:p>
          <a:p>
            <a:pPr indent="0" marL="0">
              <a:lnSpc>
                <a:spcPct val="114000"/>
              </a:lnSpc>
              <a:spcAft>
                <a:spcPts val="600"/>
              </a:spcAft>
              <a:buNone/>
            </a:pPr>
            <a:r>
              <a:rPr lang="en-US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donde aporta valor de verdad, porque conoce el contexto de tu trabajo.</a:t>
            </a:r>
            <a:endParaRPr lang="en-US" sz="1300" dirty="0"/>
          </a:p>
          <a:p>
            <a:pPr indent="0" marL="0">
              <a:lnSpc>
                <a:spcPct val="114000"/>
              </a:lnSpc>
              <a:spcAft>
                <a:spcPts val="600"/>
              </a:spcAft>
              <a:buNone/>
            </a:pPr>
            <a:r>
              <a:rPr lang="en-US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el único lugar donde puedes trabajar con información amarilla.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793343" y="1810512"/>
            <a:ext cx="4831424" cy="3950208"/>
          </a:xfrm>
          <a:prstGeom prst="roundRect">
            <a:avLst>
              <a:gd name="adj" fmla="val 2778"/>
            </a:avLst>
          </a:prstGeom>
          <a:solidFill>
            <a:srgbClr val="F2F5F6"/>
          </a:solidFill>
          <a:ln w="19050">
            <a:solidFill>
              <a:srgbClr val="5A6B73"/>
            </a:solidFill>
            <a:prstDash val="dash"/>
          </a:ln>
        </p:spPr>
      </p:sp>
      <p:sp>
        <p:nvSpPr>
          <p:cNvPr id="20" name="Text 18"/>
          <p:cNvSpPr txBox="1"/>
          <p:nvPr/>
        </p:nvSpPr>
        <p:spPr>
          <a:xfrm>
            <a:off x="7067663" y="2029968"/>
            <a:ext cx="42827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5A6B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Fuera del contrato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7067663" y="2523744"/>
            <a:ext cx="4282784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213967" y="2523744"/>
            <a:ext cx="39901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del navegador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7067663" y="3035808"/>
            <a:ext cx="4282784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213967" y="3035808"/>
            <a:ext cx="39901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ChatGPT, Claude, Gemini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7067663" y="3547872"/>
            <a:ext cx="4282784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213967" y="3547872"/>
            <a:ext cx="39901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Perplexity, You.com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7067663" y="4059936"/>
            <a:ext cx="4282784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213967" y="4059936"/>
            <a:ext cx="39901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Elicit, Consensus</a:t>
            </a:r>
            <a:endParaRPr lang="en-US" sz="1250" dirty="0"/>
          </a:p>
        </p:txBody>
      </p:sp>
      <p:sp>
        <p:nvSpPr>
          <p:cNvPr id="29" name="Text 27"/>
          <p:cNvSpPr txBox="1"/>
          <p:nvPr/>
        </p:nvSpPr>
        <p:spPr>
          <a:xfrm>
            <a:off x="7067663" y="4718304"/>
            <a:ext cx="4282784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spcAft>
                <a:spcPts val="600"/>
              </a:spcAft>
              <a:buNone/>
            </a:pPr>
            <a:r>
              <a:rPr lang="en-US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saben nada de tu trabajo: contestan con conocimiento general.</a:t>
            </a:r>
            <a:endParaRPr lang="en-US" sz="1300" dirty="0"/>
          </a:p>
          <a:p>
            <a:pPr indent="0" marL="0">
              <a:lnSpc>
                <a:spcPct val="114000"/>
              </a:lnSpc>
              <a:spcAft>
                <a:spcPts val="600"/>
              </a:spcAft>
              <a:buNone/>
            </a:pPr>
            <a:r>
              <a:rPr lang="en-US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Sirven para explorar y comparar. Solo información verde.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566928" y="5888736"/>
            <a:ext cx="11057839" cy="475488"/>
          </a:xfrm>
          <a:prstGeom prst="roundRect">
            <a:avLst>
              <a:gd name="adj" fmla="val 11538"/>
            </a:avLst>
          </a:prstGeom>
          <a:solidFill>
            <a:srgbClr val="F7E4D8"/>
          </a:solidFill>
          <a:ln w="12700">
            <a:solidFill>
              <a:srgbClr val="F7E4D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04672" y="5888736"/>
            <a:ext cx="10582351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primero de la práctica de hoy es que averigües en cuál de los dos modos estás trabajando tú.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626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331720"/>
            <a:ext cx="1371600" cy="1371600"/>
          </a:xfrm>
          <a:prstGeom prst="ellipse">
            <a:avLst/>
          </a:prstGeom>
          <a:solidFill>
            <a:srgbClr val="C85A28"/>
          </a:solidFill>
          <a:ln w="12700">
            <a:solidFill>
              <a:srgbClr val="C85A28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233172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2487168" y="2331720"/>
            <a:ext cx="8778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D7E7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SEGUNDO BLOQUE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2487168" y="2697480"/>
            <a:ext cx="8961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Cómo se escribe una buena instrucción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9485071" y="457200"/>
            <a:ext cx="2139696" cy="347472"/>
          </a:xfrm>
          <a:prstGeom prst="roundRect">
            <a:avLst>
              <a:gd name="adj" fmla="val 50000"/>
            </a:avLst>
          </a:prstGeom>
          <a:solidFill>
            <a:srgbClr val="24404E"/>
          </a:solidFill>
          <a:ln w="12700">
            <a:solidFill>
              <a:srgbClr val="24404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485071" y="457200"/>
            <a:ext cx="21396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9:35 a 10:00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9229039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Seis casillas, siempre en el mismo orden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280160"/>
            <a:ext cx="996055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A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la práctica el orden se te vuelve automático. Las tres de abajo son las que más trabajo hacen: si tienes prisa, no te saltes esas.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66928" y="1810512"/>
            <a:ext cx="5373472" cy="1365504"/>
          </a:xfrm>
          <a:prstGeom prst="roundRect">
            <a:avLst>
              <a:gd name="adj" fmla="val 4688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66928" y="1810512"/>
            <a:ext cx="91440" cy="1365504"/>
          </a:xfrm>
          <a:prstGeom prst="roundRect">
            <a:avLst>
              <a:gd name="adj" fmla="val 50000"/>
            </a:avLst>
          </a:prstGeom>
          <a:solidFill>
            <a:srgbClr val="5A6B73"/>
          </a:solidFill>
          <a:ln w="12700">
            <a:solidFill>
              <a:srgbClr val="5A6B7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1993392"/>
            <a:ext cx="384048" cy="384048"/>
          </a:xfrm>
          <a:prstGeom prst="ellipse">
            <a:avLst/>
          </a:prstGeom>
          <a:solidFill>
            <a:srgbClr val="16262E"/>
          </a:solidFill>
          <a:ln w="12700">
            <a:solidFill>
              <a:srgbClr val="16262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19933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353312" y="1975104"/>
            <a:ext cx="436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Rol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414016"/>
            <a:ext cx="4861408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Desde qué posición quieres que conteste. No es adorno: cambia el vocabulario y el nivel de detalle que da por hecho.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2810256"/>
            <a:ext cx="48614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A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Actúa como analista de evaluación de política de desarrollo social.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51296" y="1810512"/>
            <a:ext cx="5373472" cy="1365504"/>
          </a:xfrm>
          <a:prstGeom prst="roundRect">
            <a:avLst>
              <a:gd name="adj" fmla="val 4688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51296" y="1810512"/>
            <a:ext cx="91440" cy="1365504"/>
          </a:xfrm>
          <a:prstGeom prst="roundRect">
            <a:avLst>
              <a:gd name="adj" fmla="val 50000"/>
            </a:avLst>
          </a:prstGeom>
          <a:solidFill>
            <a:srgbClr val="5A6B73"/>
          </a:solidFill>
          <a:ln w="12700">
            <a:solidFill>
              <a:srgbClr val="5A6B7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507328" y="1993392"/>
            <a:ext cx="384048" cy="384048"/>
          </a:xfrm>
          <a:prstGeom prst="ellipse">
            <a:avLst/>
          </a:prstGeom>
          <a:solidFill>
            <a:srgbClr val="16262E"/>
          </a:solidFill>
          <a:ln w="12700">
            <a:solidFill>
              <a:srgbClr val="16262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507328" y="19933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7037680" y="1975104"/>
            <a:ext cx="436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Objetivo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6507328" y="2414016"/>
            <a:ext cx="4861408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quieres lograr, con un verbo claro y uno solo. Si hay dos verbos, son dos prompts.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507328" y="2810256"/>
            <a:ext cx="48614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A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Extrae la información del documento y organízala en una tabla.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66928" y="3340608"/>
            <a:ext cx="5373472" cy="1365504"/>
          </a:xfrm>
          <a:prstGeom prst="roundRect">
            <a:avLst>
              <a:gd name="adj" fmla="val 4688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66928" y="3340608"/>
            <a:ext cx="91440" cy="1365504"/>
          </a:xfrm>
          <a:prstGeom prst="roundRect">
            <a:avLst>
              <a:gd name="adj" fmla="val 50000"/>
            </a:avLst>
          </a:prstGeom>
          <a:solidFill>
            <a:srgbClr val="5A6B73"/>
          </a:solidFill>
          <a:ln w="12700">
            <a:solidFill>
              <a:srgbClr val="5A6B7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22960" y="3523488"/>
            <a:ext cx="384048" cy="384048"/>
          </a:xfrm>
          <a:prstGeom prst="ellipse">
            <a:avLst/>
          </a:prstGeom>
          <a:solidFill>
            <a:srgbClr val="16262E"/>
          </a:solidFill>
          <a:ln w="12700">
            <a:solidFill>
              <a:srgbClr val="16262E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22960" y="3523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1353312" y="3505200"/>
            <a:ext cx="436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Contexto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822960" y="3944112"/>
            <a:ext cx="4861408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qué sirve el resultado y quién lo va a leer. Esta casilla mueve la salida más que ninguna otra.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822960" y="4340352"/>
            <a:ext cx="48614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A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va a usar un equipo que compara programas entre sí.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251296" y="3340608"/>
            <a:ext cx="5373472" cy="1365504"/>
          </a:xfrm>
          <a:prstGeom prst="roundRect">
            <a:avLst>
              <a:gd name="adj" fmla="val 4688"/>
            </a:avLst>
          </a:prstGeom>
          <a:solidFill>
            <a:srgbClr val="D7E7E7"/>
          </a:solidFill>
          <a:ln w="12700">
            <a:solidFill>
              <a:srgbClr val="D7E7E7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251296" y="3340608"/>
            <a:ext cx="91440" cy="1365504"/>
          </a:xfrm>
          <a:prstGeom prst="roundRect">
            <a:avLst>
              <a:gd name="adj" fmla="val 50000"/>
            </a:avLst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507328" y="3523488"/>
            <a:ext cx="384048" cy="384048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507328" y="3523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7037680" y="3505200"/>
            <a:ext cx="436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Insumos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6507328" y="3944112"/>
            <a:ext cx="4861408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Sobre qué material debe trabajar, y la prohibición expresa de usar cualquier otra fuente. Es la que más reduce los inventos.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6507328" y="4340352"/>
            <a:ext cx="48614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2E7D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Trabaja solo con el documento adjunto. No uses tu conocimiento general.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566928" y="4870704"/>
            <a:ext cx="5373472" cy="1365504"/>
          </a:xfrm>
          <a:prstGeom prst="roundRect">
            <a:avLst>
              <a:gd name="adj" fmla="val 4688"/>
            </a:avLst>
          </a:prstGeom>
          <a:solidFill>
            <a:srgbClr val="D7E7E7"/>
          </a:solidFill>
          <a:ln w="12700">
            <a:solidFill>
              <a:srgbClr val="D7E7E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66928" y="4870704"/>
            <a:ext cx="91440" cy="1365504"/>
          </a:xfrm>
          <a:prstGeom prst="roundRect">
            <a:avLst>
              <a:gd name="adj" fmla="val 50000"/>
            </a:avLst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22960" y="5053584"/>
            <a:ext cx="384048" cy="384048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822960" y="50535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1353312" y="5035296"/>
            <a:ext cx="436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Restricciones</a:t>
            </a:r>
            <a:endParaRPr lang="en-US" sz="1500" dirty="0"/>
          </a:p>
        </p:txBody>
      </p:sp>
      <p:sp>
        <p:nvSpPr>
          <p:cNvPr id="37" name="Text 35"/>
          <p:cNvSpPr txBox="1"/>
          <p:nvPr/>
        </p:nvSpPr>
        <p:spPr>
          <a:xfrm>
            <a:off x="822960" y="5474208"/>
            <a:ext cx="4861408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no debe hacer. La más útil de todas: que si un dato no aparece, lo diga en lugar de suponerlo.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822960" y="5870448"/>
            <a:ext cx="48614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2E7D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un dato no está, escribe "no especificado".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6251296" y="4870704"/>
            <a:ext cx="5373472" cy="1365504"/>
          </a:xfrm>
          <a:prstGeom prst="roundRect">
            <a:avLst>
              <a:gd name="adj" fmla="val 4688"/>
            </a:avLst>
          </a:prstGeom>
          <a:solidFill>
            <a:srgbClr val="D7E7E7"/>
          </a:solidFill>
          <a:ln w="12700">
            <a:solidFill>
              <a:srgbClr val="D7E7E7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251296" y="4870704"/>
            <a:ext cx="91440" cy="1365504"/>
          </a:xfrm>
          <a:prstGeom prst="roundRect">
            <a:avLst>
              <a:gd name="adj" fmla="val 50000"/>
            </a:avLst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507328" y="5053584"/>
            <a:ext cx="384048" cy="384048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6507328" y="50535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300" dirty="0"/>
          </a:p>
        </p:txBody>
      </p:sp>
      <p:sp>
        <p:nvSpPr>
          <p:cNvPr id="43" name="Text 41"/>
          <p:cNvSpPr txBox="1"/>
          <p:nvPr/>
        </p:nvSpPr>
        <p:spPr>
          <a:xfrm>
            <a:off x="7037680" y="5035296"/>
            <a:ext cx="436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Formato de salida</a:t>
            </a:r>
            <a:endParaRPr lang="en-US" sz="1500" dirty="0"/>
          </a:p>
        </p:txBody>
      </p:sp>
      <p:sp>
        <p:nvSpPr>
          <p:cNvPr id="44" name="Text 42"/>
          <p:cNvSpPr txBox="1"/>
          <p:nvPr/>
        </p:nvSpPr>
        <p:spPr>
          <a:xfrm>
            <a:off x="6507328" y="5474208"/>
            <a:ext cx="4861408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Exactamente cómo lo quieres recibir. Incluye siempre algo que te permita verificar.</a:t>
            </a:r>
            <a:endParaRPr lang="en-US" sz="1200" dirty="0"/>
          </a:p>
        </p:txBody>
      </p:sp>
      <p:sp>
        <p:nvSpPr>
          <p:cNvPr id="45" name="Text 43"/>
          <p:cNvSpPr txBox="1"/>
          <p:nvPr/>
        </p:nvSpPr>
        <p:spPr>
          <a:xfrm>
            <a:off x="6507328" y="5870448"/>
            <a:ext cx="48614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2E7D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tabla con estas columnas, más la sección de donde salió cada dato.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D7E7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2788920" cy="457200"/>
          </a:xfrm>
          <a:prstGeom prst="roundRect">
            <a:avLst>
              <a:gd name="adj" fmla="val 50000"/>
            </a:avLst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457200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 TURNO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704527" y="457200"/>
            <a:ext cx="1920240" cy="457200"/>
          </a:xfrm>
          <a:prstGeom prst="roundRect">
            <a:avLst>
              <a:gd name="adj" fmla="val 50000"/>
            </a:avLst>
          </a:prstGeom>
          <a:solidFill>
            <a:srgbClr val="C85A28"/>
          </a:solidFill>
          <a:ln w="12700">
            <a:solidFill>
              <a:srgbClr val="C85A2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704527" y="45720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 minutos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078992"/>
            <a:ext cx="1105783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Arregla cuatro prompts mal escritos</a:t>
            </a:r>
            <a:endParaRPr lang="en-US" sz="2900" dirty="0"/>
          </a:p>
        </p:txBody>
      </p:sp>
      <p:sp>
        <p:nvSpPr>
          <p:cNvPr id="7" name="Shape 5"/>
          <p:cNvSpPr/>
          <p:nvPr/>
        </p:nvSpPr>
        <p:spPr>
          <a:xfrm>
            <a:off x="566928" y="1920240"/>
            <a:ext cx="11057839" cy="628650"/>
          </a:xfrm>
          <a:prstGeom prst="roundRect">
            <a:avLst>
              <a:gd name="adj" fmla="val 1018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86384" y="2024253"/>
            <a:ext cx="420624" cy="420624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86384" y="2024253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408176" y="2011680"/>
            <a:ext cx="9960559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archivo trae ocho. Hoy hacemos cuatro: el 1, el 2, el 5 y el 8. Los otros quedan como práctica opcional.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566928" y="2731770"/>
            <a:ext cx="11057839" cy="628650"/>
          </a:xfrm>
          <a:prstGeom prst="roundRect">
            <a:avLst>
              <a:gd name="adj" fmla="val 1018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86384" y="2835783"/>
            <a:ext cx="420624" cy="420624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86384" y="2835783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408176" y="2823210"/>
            <a:ext cx="9960559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cada uno, primero anota qué casillas faltan o están mal. Eso antes de reescribir nada.</a:t>
            </a:r>
            <a:endParaRPr lang="en-US" sz="1450" dirty="0"/>
          </a:p>
        </p:txBody>
      </p:sp>
      <p:sp>
        <p:nvSpPr>
          <p:cNvPr id="15" name="Shape 13"/>
          <p:cNvSpPr/>
          <p:nvPr/>
        </p:nvSpPr>
        <p:spPr>
          <a:xfrm>
            <a:off x="566928" y="3543300"/>
            <a:ext cx="11057839" cy="628650"/>
          </a:xfrm>
          <a:prstGeom prst="roundRect">
            <a:avLst>
              <a:gd name="adj" fmla="val 1018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86384" y="3647313"/>
            <a:ext cx="420624" cy="420624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86384" y="3647313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408176" y="3634740"/>
            <a:ext cx="9960559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Reescríbelo y corre las dos versiones, la mala y la tuya, una tras otra. Compara las salidas lado a lado.</a:t>
            </a:r>
            <a:endParaRPr lang="en-US" sz="1450" dirty="0"/>
          </a:p>
        </p:txBody>
      </p:sp>
      <p:sp>
        <p:nvSpPr>
          <p:cNvPr id="19" name="Shape 17"/>
          <p:cNvSpPr/>
          <p:nvPr/>
        </p:nvSpPr>
        <p:spPr>
          <a:xfrm>
            <a:off x="566928" y="4354830"/>
            <a:ext cx="11057839" cy="628650"/>
          </a:xfrm>
          <a:prstGeom prst="roundRect">
            <a:avLst>
              <a:gd name="adj" fmla="val 1018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86384" y="4458843"/>
            <a:ext cx="420624" cy="420624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86384" y="4458843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1408176" y="4446270"/>
            <a:ext cx="9960559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Ojo: un prompt más largo no es automáticamente mejor. En uno de los cuatro la respuesta correcta es no delegarle la tarea al modelo.</a:t>
            </a:r>
            <a:endParaRPr lang="en-US" sz="1450" dirty="0"/>
          </a:p>
        </p:txBody>
      </p:sp>
      <p:sp>
        <p:nvSpPr>
          <p:cNvPr id="23" name="Shape 21"/>
          <p:cNvSpPr/>
          <p:nvPr/>
        </p:nvSpPr>
        <p:spPr>
          <a:xfrm>
            <a:off x="566928" y="5193792"/>
            <a:ext cx="11057839" cy="777240"/>
          </a:xfrm>
          <a:prstGeom prst="roundRect">
            <a:avLst>
              <a:gd name="adj" fmla="val 8235"/>
            </a:avLst>
          </a:prstGeom>
          <a:solidFill>
            <a:srgbClr val="16262E"/>
          </a:solidFill>
          <a:ln w="12700">
            <a:solidFill>
              <a:srgbClr val="16262E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41248" y="5193792"/>
            <a:ext cx="1050919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Archivo: Ejercicio_reescritura_prompts.docx.</a:t>
            </a:r>
            <a:endParaRPr lang="en-US" sz="13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626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331720"/>
            <a:ext cx="1371600" cy="1371600"/>
          </a:xfrm>
          <a:prstGeom prst="ellipse">
            <a:avLst/>
          </a:prstGeom>
          <a:solidFill>
            <a:srgbClr val="C85A28"/>
          </a:solidFill>
          <a:ln w="12700">
            <a:solidFill>
              <a:srgbClr val="C85A28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233172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2487168" y="2331720"/>
            <a:ext cx="8778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D7E7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TERCER BLOQUE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2487168" y="2697480"/>
            <a:ext cx="8961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Haz que trabaje sobre tu documento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9338767" y="457200"/>
            <a:ext cx="2286000" cy="347472"/>
          </a:xfrm>
          <a:prstGeom prst="roundRect">
            <a:avLst>
              <a:gd name="adj" fmla="val 50000"/>
            </a:avLst>
          </a:prstGeom>
          <a:solidFill>
            <a:srgbClr val="24404E"/>
          </a:solidFill>
          <a:ln w="12700">
            <a:solidFill>
              <a:srgbClr val="24404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338767" y="457200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10:00 a 10:20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626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58400" y="-1463040"/>
            <a:ext cx="4023360" cy="4023360"/>
          </a:xfrm>
          <a:prstGeom prst="ellipse">
            <a:avLst/>
          </a:prstGeom>
          <a:solidFill>
            <a:srgbClr val="24404E"/>
          </a:solidFill>
          <a:ln w="12700">
            <a:solidFill>
              <a:srgbClr val="24404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932688" y="1371600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C85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FRASE QUE SE TE VA A VOLVER COSTUMBRE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932688" y="1828800"/>
            <a:ext cx="102412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Agrega una columna con la sección del documento donde aparece cada dato.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932688" y="4343400"/>
            <a:ext cx="10058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D7E7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Pedir la fuente de cada dato hace dos cosas al mismo tiempo. Reduce los inventos, porque obliga al modelo a apoyarse en el texto. Y te abarata la verificación, porque ya no tienes que buscar dónde estaba: el propio resultado te lo dice.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9229039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prompt completo, listo para copiar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66928" y="1408176"/>
            <a:ext cx="11057839" cy="3712464"/>
          </a:xfrm>
          <a:prstGeom prst="roundRect">
            <a:avLst>
              <a:gd name="adj" fmla="val 1970"/>
            </a:avLst>
          </a:prstGeom>
          <a:solidFill>
            <a:srgbClr val="16262E"/>
          </a:solidFill>
          <a:ln w="12700">
            <a:solidFill>
              <a:srgbClr val="16262E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86968" y="1664208"/>
            <a:ext cx="10417759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Actúa como analista de evaluación de política de desarrollo social.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Extrae la información del documento adjunto y organízala en una tabla.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 resultado lo va a usar un equipo de evaluación para comparar programas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entre sí.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Trabaja solo con el documento adjunto. No uses ninguna otra fuente ni tu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conocimiento general. Si un dato no aparece en el documento, escribe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"no especificado" en lugar de suponerlo.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Devuelve una tabla con estas columnas: población objetivo, monto del apoyo,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periodicidad, requisitos de acceso, criterios de exclusión, y sección del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documento donde aparece cada dato.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5321808"/>
            <a:ext cx="11057839" cy="749808"/>
          </a:xfrm>
          <a:prstGeom prst="roundRect">
            <a:avLst>
              <a:gd name="adj" fmla="val 9756"/>
            </a:avLst>
          </a:prstGeom>
          <a:solidFill>
            <a:srgbClr val="F7E4D8"/>
          </a:solidFill>
          <a:ln w="12700">
            <a:solidFill>
              <a:srgbClr val="F7E4D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41248" y="5321808"/>
            <a:ext cx="10509199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Cuenta las seis casillas en este prompt antes de copiarlo. Están las seis y en orden.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D7E7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2788920" cy="457200"/>
          </a:xfrm>
          <a:prstGeom prst="roundRect">
            <a:avLst>
              <a:gd name="adj" fmla="val 50000"/>
            </a:avLst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457200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 TURNO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704527" y="457200"/>
            <a:ext cx="1920240" cy="457200"/>
          </a:xfrm>
          <a:prstGeom prst="roundRect">
            <a:avLst>
              <a:gd name="adj" fmla="val 50000"/>
            </a:avLst>
          </a:prstGeom>
          <a:solidFill>
            <a:srgbClr val="C85A28"/>
          </a:solidFill>
          <a:ln w="12700">
            <a:solidFill>
              <a:srgbClr val="C85A2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704527" y="45720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minutos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078992"/>
            <a:ext cx="1105783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 documento, tu tabla, tu verificación</a:t>
            </a:r>
            <a:endParaRPr lang="en-US" sz="2900" dirty="0"/>
          </a:p>
        </p:txBody>
      </p:sp>
      <p:sp>
        <p:nvSpPr>
          <p:cNvPr id="7" name="Shape 5"/>
          <p:cNvSpPr/>
          <p:nvPr/>
        </p:nvSpPr>
        <p:spPr>
          <a:xfrm>
            <a:off x="566928" y="1920240"/>
            <a:ext cx="11057839" cy="628650"/>
          </a:xfrm>
          <a:prstGeom prst="roundRect">
            <a:avLst>
              <a:gd name="adj" fmla="val 1018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86384" y="2024253"/>
            <a:ext cx="420624" cy="420624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86384" y="2024253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408176" y="2011680"/>
            <a:ext cx="9960559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Sube a Copilot en Word el documento normativo que bajaste ayer y corre el prompt de la lámina anterior.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566928" y="2731770"/>
            <a:ext cx="11057839" cy="628650"/>
          </a:xfrm>
          <a:prstGeom prst="roundRect">
            <a:avLst>
              <a:gd name="adj" fmla="val 1018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86384" y="2835783"/>
            <a:ext cx="420624" cy="420624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86384" y="2835783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408176" y="2823210"/>
            <a:ext cx="9960559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Cuando te devuelva la tabla, elige tres celdas al azar y búscalas en el documento original.</a:t>
            </a:r>
            <a:endParaRPr lang="en-US" sz="1450" dirty="0"/>
          </a:p>
        </p:txBody>
      </p:sp>
      <p:sp>
        <p:nvSpPr>
          <p:cNvPr id="15" name="Shape 13"/>
          <p:cNvSpPr/>
          <p:nvPr/>
        </p:nvSpPr>
        <p:spPr>
          <a:xfrm>
            <a:off x="566928" y="3543300"/>
            <a:ext cx="11057839" cy="628650"/>
          </a:xfrm>
          <a:prstGeom prst="roundRect">
            <a:avLst>
              <a:gd name="adj" fmla="val 1018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86384" y="3647313"/>
            <a:ext cx="420624" cy="420624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86384" y="3647313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408176" y="3634740"/>
            <a:ext cx="9960559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Anota cuántas de las tres coincidían. Casi siempre hay al menos un error, y encontrarlo es el punto del ejercicio.</a:t>
            </a:r>
            <a:endParaRPr lang="en-US" sz="1450" dirty="0"/>
          </a:p>
        </p:txBody>
      </p:sp>
      <p:sp>
        <p:nvSpPr>
          <p:cNvPr id="19" name="Shape 17"/>
          <p:cNvSpPr/>
          <p:nvPr/>
        </p:nvSpPr>
        <p:spPr>
          <a:xfrm>
            <a:off x="566928" y="4354830"/>
            <a:ext cx="11057839" cy="628650"/>
          </a:xfrm>
          <a:prstGeom prst="roundRect">
            <a:avLst>
              <a:gd name="adj" fmla="val 1018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86384" y="4458843"/>
            <a:ext cx="420624" cy="420624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86384" y="4458843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1408176" y="4446270"/>
            <a:ext cx="9960559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 el prompt y el resultado de tu verificación en la bitácora.</a:t>
            </a:r>
            <a:endParaRPr lang="en-US" sz="1450" dirty="0"/>
          </a:p>
        </p:txBody>
      </p:sp>
      <p:sp>
        <p:nvSpPr>
          <p:cNvPr id="23" name="Shape 21"/>
          <p:cNvSpPr/>
          <p:nvPr/>
        </p:nvSpPr>
        <p:spPr>
          <a:xfrm>
            <a:off x="566928" y="5193792"/>
            <a:ext cx="11057839" cy="777240"/>
          </a:xfrm>
          <a:prstGeom prst="roundRect">
            <a:avLst>
              <a:gd name="adj" fmla="val 8235"/>
            </a:avLst>
          </a:prstGeom>
          <a:solidFill>
            <a:srgbClr val="16262E"/>
          </a:solidFill>
          <a:ln w="12700">
            <a:solidFill>
              <a:srgbClr val="16262E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41248" y="5193792"/>
            <a:ext cx="1050919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Bitácora: Plantillas_tabulares_curso_IA.xlsx, hoja Bitácora de prompts.</a:t>
            </a:r>
            <a:endParaRPr lang="en-US" sz="13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626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331720"/>
            <a:ext cx="1371600" cy="1371600"/>
          </a:xfrm>
          <a:prstGeom prst="ellipse">
            <a:avLst/>
          </a:prstGeom>
          <a:solidFill>
            <a:srgbClr val="C85A28"/>
          </a:solidFill>
          <a:ln w="12700">
            <a:solidFill>
              <a:srgbClr val="C85A28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233172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2487168" y="2331720"/>
            <a:ext cx="8778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D7E7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CUARTO BLOQUE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2487168" y="2697480"/>
            <a:ext cx="8961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Copilot en Outlook y en Teams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9338767" y="457200"/>
            <a:ext cx="2286000" cy="347472"/>
          </a:xfrm>
          <a:prstGeom prst="roundRect">
            <a:avLst>
              <a:gd name="adj" fmla="val 50000"/>
            </a:avLst>
          </a:prstGeom>
          <a:solidFill>
            <a:srgbClr val="24404E"/>
          </a:solidFill>
          <a:ln w="12700">
            <a:solidFill>
              <a:srgbClr val="24404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338767" y="457200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10:30 a 10:55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9229039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Tres tareas que te ahorran tiempo desde hoy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66928" y="1609344"/>
            <a:ext cx="3503066" cy="2493772"/>
          </a:xfrm>
          <a:prstGeom prst="roundRect">
            <a:avLst>
              <a:gd name="adj" fmla="val 2933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04672" y="1828800"/>
            <a:ext cx="420624" cy="420624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04672" y="18288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804672" y="2395728"/>
            <a:ext cx="3027578" cy="319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Resumir un hilo largo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804672" y="2861056"/>
            <a:ext cx="3027578" cy="10408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sacar los compromisos que quedaron pendientes, con quién se quedó a cargo de cada uno.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344314" y="1609344"/>
            <a:ext cx="3503066" cy="2493772"/>
          </a:xfrm>
          <a:prstGeom prst="roundRect">
            <a:avLst>
              <a:gd name="adj" fmla="val 2933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82058" y="1828800"/>
            <a:ext cx="420624" cy="420624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82058" y="18288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4582058" y="2395728"/>
            <a:ext cx="3027578" cy="319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Redactar una respuesta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4582058" y="2861056"/>
            <a:ext cx="3027578" cy="10408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partir de dos líneas de instrucción, y después ajustar el tono sin volver a escribir todo.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121701" y="1609344"/>
            <a:ext cx="3503066" cy="2493772"/>
          </a:xfrm>
          <a:prstGeom prst="roundRect">
            <a:avLst>
              <a:gd name="adj" fmla="val 2933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359445" y="1828800"/>
            <a:ext cx="420624" cy="420624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59445" y="18288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359445" y="2395728"/>
            <a:ext cx="3027578" cy="319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Sacar una minuta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8359445" y="2861056"/>
            <a:ext cx="3027578" cy="10408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partir de la transcripción de una reunión de Teams, con acuerdos y responsables.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C85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58400" y="-1463040"/>
            <a:ext cx="4023360" cy="4023360"/>
          </a:xfrm>
          <a:prstGeom prst="ellipse">
            <a:avLst/>
          </a:prstGeom>
          <a:solidFill>
            <a:srgbClr val="24404E"/>
          </a:solidFill>
          <a:ln w="12700">
            <a:solidFill>
              <a:srgbClr val="24404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932688" y="1371600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C85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RIESGO DE ESTAS TRES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932688" y="1828800"/>
            <a:ext cx="102412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 resúmenes de correo y de reunión suenan tan convincentes que casi nadie los verifica.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932688" y="4343400"/>
            <a:ext cx="10058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D7E7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resumen mal hecho de un documento se nota, porque tú tienes el documento. Un resumen mal hecho de una conversación de quince correos no se nota, porque nadie va a releer los quince. La regla de hoy: ninguna minuta se manda sin que una persona haya verificado los acuerdos y los responsables contra la fuente.</a:t>
            </a:r>
            <a:endParaRPr lang="en-US" sz="16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D7E7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2788920" cy="457200"/>
          </a:xfrm>
          <a:prstGeom prst="roundRect">
            <a:avLst>
              <a:gd name="adj" fmla="val 50000"/>
            </a:avLst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457200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 TURNO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704527" y="457200"/>
            <a:ext cx="1920240" cy="457200"/>
          </a:xfrm>
          <a:prstGeom prst="roundRect">
            <a:avLst>
              <a:gd name="adj" fmla="val 50000"/>
            </a:avLst>
          </a:prstGeom>
          <a:solidFill>
            <a:srgbClr val="C85A28"/>
          </a:solidFill>
          <a:ln w="12700">
            <a:solidFill>
              <a:srgbClr val="C85A2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704527" y="45720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 minutos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078992"/>
            <a:ext cx="1105783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hilo de correo y la transcripción</a:t>
            </a:r>
            <a:endParaRPr lang="en-US" sz="2900" dirty="0"/>
          </a:p>
        </p:txBody>
      </p:sp>
      <p:sp>
        <p:nvSpPr>
          <p:cNvPr id="7" name="Shape 5"/>
          <p:cNvSpPr/>
          <p:nvPr/>
        </p:nvSpPr>
        <p:spPr>
          <a:xfrm>
            <a:off x="566928" y="1920240"/>
            <a:ext cx="11057839" cy="628650"/>
          </a:xfrm>
          <a:prstGeom prst="roundRect">
            <a:avLst>
              <a:gd name="adj" fmla="val 1018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86384" y="2024253"/>
            <a:ext cx="420624" cy="420624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86384" y="2024253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408176" y="2011680"/>
            <a:ext cx="9960559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 tu prompt de resumen sobre el hilo de quince mensajes, antes de leerlo. Pídele acuerdos y responsables.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566928" y="2731770"/>
            <a:ext cx="11057839" cy="628650"/>
          </a:xfrm>
          <a:prstGeom prst="roundRect">
            <a:avLst>
              <a:gd name="adj" fmla="val 1018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86384" y="2835783"/>
            <a:ext cx="420624" cy="420624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86384" y="2835783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408176" y="2823210"/>
            <a:ext cx="9960559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Ahora sí lee el hilo completo y tacha lo que esté mal en la minuta que te devolvió.</a:t>
            </a:r>
            <a:endParaRPr lang="en-US" sz="1450" dirty="0"/>
          </a:p>
        </p:txBody>
      </p:sp>
      <p:sp>
        <p:nvSpPr>
          <p:cNvPr id="15" name="Shape 13"/>
          <p:cNvSpPr/>
          <p:nvPr/>
        </p:nvSpPr>
        <p:spPr>
          <a:xfrm>
            <a:off x="566928" y="3543300"/>
            <a:ext cx="11057839" cy="628650"/>
          </a:xfrm>
          <a:prstGeom prst="roundRect">
            <a:avLst>
              <a:gd name="adj" fmla="val 1018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86384" y="3647313"/>
            <a:ext cx="420624" cy="420624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86384" y="3647313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408176" y="3634740"/>
            <a:ext cx="9960559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Repite con la transcripción de la reunión. Fíjate sobre todo en las fechas límite y en las tareas que quedaron sin dueño.</a:t>
            </a:r>
            <a:endParaRPr lang="en-US" sz="1450" dirty="0"/>
          </a:p>
        </p:txBody>
      </p:sp>
      <p:sp>
        <p:nvSpPr>
          <p:cNvPr id="19" name="Shape 17"/>
          <p:cNvSpPr/>
          <p:nvPr/>
        </p:nvSpPr>
        <p:spPr>
          <a:xfrm>
            <a:off x="566928" y="4354830"/>
            <a:ext cx="11057839" cy="628650"/>
          </a:xfrm>
          <a:prstGeom prst="roundRect">
            <a:avLst>
              <a:gd name="adj" fmla="val 1018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86384" y="4458843"/>
            <a:ext cx="420624" cy="420624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86384" y="4458843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1408176" y="4446270"/>
            <a:ext cx="9960559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Anota en tu bitácora cuántos errores encontraste y de qué tipo eran.</a:t>
            </a:r>
            <a:endParaRPr lang="en-US" sz="1450" dirty="0"/>
          </a:p>
        </p:txBody>
      </p:sp>
      <p:sp>
        <p:nvSpPr>
          <p:cNvPr id="23" name="Shape 21"/>
          <p:cNvSpPr/>
          <p:nvPr/>
        </p:nvSpPr>
        <p:spPr>
          <a:xfrm>
            <a:off x="566928" y="5193792"/>
            <a:ext cx="11057839" cy="777240"/>
          </a:xfrm>
          <a:prstGeom prst="roundRect">
            <a:avLst>
              <a:gd name="adj" fmla="val 8235"/>
            </a:avLst>
          </a:prstGeom>
          <a:solidFill>
            <a:srgbClr val="16262E"/>
          </a:solidFill>
          <a:ln w="12700">
            <a:solidFill>
              <a:srgbClr val="16262E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41248" y="5193792"/>
            <a:ext cx="1050919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Archivos: Hilo_correo_sintetico.docx y Transcripcion_reunion_sintetica.docx.</a:t>
            </a:r>
            <a:endParaRPr lang="en-US" sz="13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9229039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que suele fallar en una minuta automática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280160"/>
            <a:ext cx="996055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A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Cuatro cosas que vas a encontrar hoy y que se repiten en tu trabajo real.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66928" y="2011680"/>
            <a:ext cx="2558720" cy="2440432"/>
          </a:xfrm>
          <a:prstGeom prst="roundRect">
            <a:avLst>
              <a:gd name="adj" fmla="val 2998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04672" y="2249424"/>
            <a:ext cx="2083232" cy="319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fecha que cambió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804672" y="2714752"/>
            <a:ext cx="2083232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la reunión se movió dos veces en el hilo, el resumen suele quedarse con una de las fechas viejas.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399968" y="2011680"/>
            <a:ext cx="2558720" cy="2440432"/>
          </a:xfrm>
          <a:prstGeom prst="roundRect">
            <a:avLst>
              <a:gd name="adj" fmla="val 2998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637712" y="2249424"/>
            <a:ext cx="2083232" cy="583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responsable reasignado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3637712" y="2978912"/>
            <a:ext cx="2083232" cy="1272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tarea se le asigna a alguien y después se le pasa a otra persona. El resumen conserva al primero.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33008" y="2011680"/>
            <a:ext cx="2558720" cy="2440432"/>
          </a:xfrm>
          <a:prstGeom prst="roundRect">
            <a:avLst>
              <a:gd name="adj" fmla="val 2998"/>
            </a:avLst>
          </a:prstGeom>
          <a:solidFill>
            <a:srgbClr val="F7E4D8"/>
          </a:solidFill>
          <a:ln w="12700">
            <a:solidFill>
              <a:srgbClr val="F7E4D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70752" y="2249424"/>
            <a:ext cx="2083232" cy="583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pregunta que parece acuerdo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6470752" y="2978912"/>
            <a:ext cx="2083232" cy="1272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Alguien pregunta si se puede entregar antes. Nadie contesta. El resumen lo convierte en compromiso.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9066047" y="2011680"/>
            <a:ext cx="2558720" cy="2440432"/>
          </a:xfrm>
          <a:prstGeom prst="roundRect">
            <a:avLst>
              <a:gd name="adj" fmla="val 2998"/>
            </a:avLst>
          </a:prstGeom>
          <a:solidFill>
            <a:srgbClr val="F7E4D8"/>
          </a:solidFill>
          <a:ln w="12700">
            <a:solidFill>
              <a:srgbClr val="F7E4D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303791" y="2249424"/>
            <a:ext cx="2083232" cy="319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tarea sin dueño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9303791" y="2714752"/>
            <a:ext cx="2083232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Nadie la asume. El resumen inventa un responsable, normalmente el último que habló.</a:t>
            </a:r>
            <a:endParaRPr lang="en-US" sz="1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626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331720"/>
            <a:ext cx="1371600" cy="1371600"/>
          </a:xfrm>
          <a:prstGeom prst="ellipse">
            <a:avLst/>
          </a:prstGeom>
          <a:solidFill>
            <a:srgbClr val="C85A28"/>
          </a:solidFill>
          <a:ln w="12700">
            <a:solidFill>
              <a:srgbClr val="C85A28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233172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2487168" y="2331720"/>
            <a:ext cx="8778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D7E7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QUINTO BLOQUE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2487168" y="2697480"/>
            <a:ext cx="8961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 biblioteca de prompts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9338767" y="457200"/>
            <a:ext cx="2286000" cy="347472"/>
          </a:xfrm>
          <a:prstGeom prst="roundRect">
            <a:avLst>
              <a:gd name="adj" fmla="val 50000"/>
            </a:avLst>
          </a:prstGeom>
          <a:solidFill>
            <a:srgbClr val="24404E"/>
          </a:solidFill>
          <a:ln w="12700">
            <a:solidFill>
              <a:srgbClr val="24404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338767" y="457200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10:55 a 11:20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9229039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Cómo se corrige un prompt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280160"/>
            <a:ext cx="996055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A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corrección es la parte importante. Un prompt que te funcionó a la primera no te enseñó nada.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66928" y="2011680"/>
            <a:ext cx="2558720" cy="2724912"/>
          </a:xfrm>
          <a:prstGeom prst="roundRect">
            <a:avLst>
              <a:gd name="adj" fmla="val 2859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04672" y="2231136"/>
            <a:ext cx="420624" cy="420624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04672" y="22311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04672" y="2798064"/>
            <a:ext cx="2083232" cy="319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Pruébalo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804672" y="3263392"/>
            <a:ext cx="2083232" cy="1272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 la primera versión, tal como se te ocurrió.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399968" y="2011680"/>
            <a:ext cx="2558720" cy="2724912"/>
          </a:xfrm>
          <a:prstGeom prst="roundRect">
            <a:avLst>
              <a:gd name="adj" fmla="val 2859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37712" y="2231136"/>
            <a:ext cx="420624" cy="420624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637712" y="22311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3637712" y="2798064"/>
            <a:ext cx="2083232" cy="319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 qué falló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3637712" y="3263392"/>
            <a:ext cx="2083232" cy="1272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qué salió mal en general. Qué casilla específica faltó.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233008" y="2011680"/>
            <a:ext cx="2558720" cy="2724912"/>
          </a:xfrm>
          <a:prstGeom prst="roundRect">
            <a:avLst>
              <a:gd name="adj" fmla="val 2859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70752" y="2231136"/>
            <a:ext cx="420624" cy="420624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70752" y="22311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6470752" y="2798064"/>
            <a:ext cx="2083232" cy="319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Ajusta una casilla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470752" y="3263392"/>
            <a:ext cx="2083232" cy="1272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a la vez. Si cambias tres cosas, no vas a saber cuál sirvió.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9066047" y="2011680"/>
            <a:ext cx="2558720" cy="2724912"/>
          </a:xfrm>
          <a:prstGeom prst="roundRect">
            <a:avLst>
              <a:gd name="adj" fmla="val 2859"/>
            </a:avLst>
          </a:prstGeom>
          <a:solidFill>
            <a:srgbClr val="F7E4D8"/>
          </a:solidFill>
          <a:ln w="12700">
            <a:solidFill>
              <a:srgbClr val="F7E4D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303791" y="2231136"/>
            <a:ext cx="420624" cy="420624"/>
          </a:xfrm>
          <a:prstGeom prst="ellipse">
            <a:avLst/>
          </a:prstGeom>
          <a:solidFill>
            <a:srgbClr val="C85A28"/>
          </a:solidFill>
          <a:ln w="12700">
            <a:solidFill>
              <a:srgbClr val="C85A2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303791" y="22311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9303791" y="2798064"/>
            <a:ext cx="2083232" cy="319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Guarda las dos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9303791" y="3263392"/>
            <a:ext cx="2083232" cy="1272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que falló y la que funcionó. La que falló es la que le enseña algo a tu yo de dentro de un mes.</a:t>
            </a:r>
            <a:endParaRPr lang="en-US" sz="13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D7E7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2788920" cy="457200"/>
          </a:xfrm>
          <a:prstGeom prst="roundRect">
            <a:avLst>
              <a:gd name="adj" fmla="val 50000"/>
            </a:avLst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457200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 TURNO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704527" y="457200"/>
            <a:ext cx="1920240" cy="457200"/>
          </a:xfrm>
          <a:prstGeom prst="roundRect">
            <a:avLst>
              <a:gd name="adj" fmla="val 50000"/>
            </a:avLst>
          </a:prstGeom>
          <a:solidFill>
            <a:srgbClr val="C85A28"/>
          </a:solidFill>
          <a:ln w="12700">
            <a:solidFill>
              <a:srgbClr val="C85A2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704527" y="45720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 minutos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078992"/>
            <a:ext cx="1105783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Tres prompts para tareas que tú repites</a:t>
            </a:r>
            <a:endParaRPr lang="en-US" sz="2900" dirty="0"/>
          </a:p>
        </p:txBody>
      </p:sp>
      <p:sp>
        <p:nvSpPr>
          <p:cNvPr id="7" name="Shape 5"/>
          <p:cNvSpPr/>
          <p:nvPr/>
        </p:nvSpPr>
        <p:spPr>
          <a:xfrm>
            <a:off x="566928" y="1920240"/>
            <a:ext cx="11057839" cy="628650"/>
          </a:xfrm>
          <a:prstGeom prst="roundRect">
            <a:avLst>
              <a:gd name="adj" fmla="val 1018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86384" y="2024253"/>
            <a:ext cx="420624" cy="420624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86384" y="2024253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408176" y="2011680"/>
            <a:ext cx="9960559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Piensa en tres tareas que haces cada semana y que implican leer o escribir texto.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566928" y="2731770"/>
            <a:ext cx="11057839" cy="628650"/>
          </a:xfrm>
          <a:prstGeom prst="roundRect">
            <a:avLst>
              <a:gd name="adj" fmla="val 1018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86384" y="2835783"/>
            <a:ext cx="420624" cy="420624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86384" y="2835783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408176" y="2823210"/>
            <a:ext cx="9960559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Escribe un prompt para cada una con las seis casillas. Pruébalo.</a:t>
            </a:r>
            <a:endParaRPr lang="en-US" sz="1450" dirty="0"/>
          </a:p>
        </p:txBody>
      </p:sp>
      <p:sp>
        <p:nvSpPr>
          <p:cNvPr id="15" name="Shape 13"/>
          <p:cNvSpPr/>
          <p:nvPr/>
        </p:nvSpPr>
        <p:spPr>
          <a:xfrm>
            <a:off x="566928" y="3543300"/>
            <a:ext cx="11057839" cy="628650"/>
          </a:xfrm>
          <a:prstGeom prst="roundRect">
            <a:avLst>
              <a:gd name="adj" fmla="val 1018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86384" y="3647313"/>
            <a:ext cx="420624" cy="420624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86384" y="3647313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408176" y="3634740"/>
            <a:ext cx="9960559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Corrígelo al menos una vez, siguiendo el ciclo de la lámina anterior.</a:t>
            </a:r>
            <a:endParaRPr lang="en-US" sz="1450" dirty="0"/>
          </a:p>
        </p:txBody>
      </p:sp>
      <p:sp>
        <p:nvSpPr>
          <p:cNvPr id="19" name="Shape 17"/>
          <p:cNvSpPr/>
          <p:nvPr/>
        </p:nvSpPr>
        <p:spPr>
          <a:xfrm>
            <a:off x="566928" y="4354830"/>
            <a:ext cx="11057839" cy="628650"/>
          </a:xfrm>
          <a:prstGeom prst="roundRect">
            <a:avLst>
              <a:gd name="adj" fmla="val 1018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86384" y="4458843"/>
            <a:ext cx="420624" cy="420624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86384" y="4458843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1408176" y="4446270"/>
            <a:ext cx="9960559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Guárdalo en tu biblioteca con las dos versiones y una nota de qué cambiaste.</a:t>
            </a:r>
            <a:endParaRPr lang="en-US" sz="1450" dirty="0"/>
          </a:p>
        </p:txBody>
      </p:sp>
      <p:sp>
        <p:nvSpPr>
          <p:cNvPr id="23" name="Shape 21"/>
          <p:cNvSpPr/>
          <p:nvPr/>
        </p:nvSpPr>
        <p:spPr>
          <a:xfrm>
            <a:off x="566928" y="5193792"/>
            <a:ext cx="11057839" cy="777240"/>
          </a:xfrm>
          <a:prstGeom prst="roundRect">
            <a:avLst>
              <a:gd name="adj" fmla="val 8235"/>
            </a:avLst>
          </a:prstGeom>
          <a:solidFill>
            <a:srgbClr val="16262E"/>
          </a:solidFill>
          <a:ln w="12700">
            <a:solidFill>
              <a:srgbClr val="16262E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41248" y="5193792"/>
            <a:ext cx="1050919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Bitácora y biblioteca: Plantillas_tabulares_curso_IA.xlsx.</a:t>
            </a:r>
            <a:endParaRPr lang="en-US" sz="13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626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737360" y="3931920"/>
            <a:ext cx="4754880" cy="4754880"/>
          </a:xfrm>
          <a:prstGeom prst="ellipse">
            <a:avLst/>
          </a:prstGeom>
          <a:solidFill>
            <a:srgbClr val="24404E"/>
          </a:solidFill>
          <a:ln w="12700">
            <a:solidFill>
              <a:srgbClr val="24404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685800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C85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SALIR DE HOY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09728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que entregas y lo que sigue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66928" y="2011680"/>
            <a:ext cx="11057839" cy="649224"/>
          </a:xfrm>
          <a:prstGeom prst="roundRect">
            <a:avLst>
              <a:gd name="adj" fmla="val 9859"/>
            </a:avLst>
          </a:prstGeom>
          <a:solidFill>
            <a:srgbClr val="24404E"/>
          </a:solidFill>
          <a:ln w="12700">
            <a:solidFill>
              <a:srgbClr val="24404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04672" y="2135124"/>
            <a:ext cx="402336" cy="402336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04672" y="213512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1426464" y="2084832"/>
            <a:ext cx="996055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tabla que sacaste de tu documento normativo, con la verificación de las tres celdas marcada.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566928" y="2843784"/>
            <a:ext cx="11057839" cy="649224"/>
          </a:xfrm>
          <a:prstGeom prst="roundRect">
            <a:avLst>
              <a:gd name="adj" fmla="val 9859"/>
            </a:avLst>
          </a:prstGeom>
          <a:solidFill>
            <a:srgbClr val="24404E"/>
          </a:solidFill>
          <a:ln w="12700">
            <a:solidFill>
              <a:srgbClr val="24404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04672" y="2967228"/>
            <a:ext cx="402336" cy="402336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04672" y="29672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426464" y="2916936"/>
            <a:ext cx="996055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Tres prompts en tu biblioteca, cada uno con su versión inicial y su versión corregida.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566928" y="3675888"/>
            <a:ext cx="11057839" cy="649224"/>
          </a:xfrm>
          <a:prstGeom prst="roundRect">
            <a:avLst>
              <a:gd name="adj" fmla="val 9859"/>
            </a:avLst>
          </a:prstGeom>
          <a:solidFill>
            <a:srgbClr val="24404E"/>
          </a:solidFill>
          <a:ln w="12700">
            <a:solidFill>
              <a:srgbClr val="24404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04672" y="3799332"/>
            <a:ext cx="402336" cy="402336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04672" y="37993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426464" y="3749040"/>
            <a:ext cx="996055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 bitácora al día, incluyendo los errores que encontraste en el hilo de correo y en la transcripción.</a:t>
            </a:r>
            <a:endParaRPr lang="en-US" sz="1450" dirty="0"/>
          </a:p>
        </p:txBody>
      </p:sp>
      <p:sp>
        <p:nvSpPr>
          <p:cNvPr id="17" name="Shape 15"/>
          <p:cNvSpPr/>
          <p:nvPr/>
        </p:nvSpPr>
        <p:spPr>
          <a:xfrm>
            <a:off x="566928" y="4507992"/>
            <a:ext cx="11057839" cy="649224"/>
          </a:xfrm>
          <a:prstGeom prst="roundRect">
            <a:avLst>
              <a:gd name="adj" fmla="val 9859"/>
            </a:avLst>
          </a:prstGeom>
          <a:solidFill>
            <a:srgbClr val="24404E"/>
          </a:solidFill>
          <a:ln w="12700">
            <a:solidFill>
              <a:srgbClr val="24404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04672" y="4631436"/>
            <a:ext cx="402336" cy="402336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04672" y="46314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426464" y="4581144"/>
            <a:ext cx="996055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el jueves no hay que preparar nada. Se trabaja en equipos de cuatro desde el primer minuto, así que llega puntual.</a:t>
            </a:r>
            <a:endParaRPr lang="en-US" sz="1450" dirty="0"/>
          </a:p>
        </p:txBody>
      </p:sp>
      <p:sp>
        <p:nvSpPr>
          <p:cNvPr id="21" name="Shape 19"/>
          <p:cNvSpPr/>
          <p:nvPr/>
        </p:nvSpPr>
        <p:spPr>
          <a:xfrm>
            <a:off x="566928" y="5340096"/>
            <a:ext cx="11057839" cy="649224"/>
          </a:xfrm>
          <a:prstGeom prst="roundRect">
            <a:avLst>
              <a:gd name="adj" fmla="val 9859"/>
            </a:avLst>
          </a:prstGeom>
          <a:solidFill>
            <a:srgbClr val="24404E"/>
          </a:solidFill>
          <a:ln w="12700">
            <a:solidFill>
              <a:srgbClr val="24404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04672" y="5463540"/>
            <a:ext cx="402336" cy="402336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04672" y="54635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1426464" y="5413248"/>
            <a:ext cx="996055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Recuerda: el material de cada sesión se publica la tarde anterior en github.com/xuxoramos/curso-inegi-gen-ai</a:t>
            </a:r>
            <a:endParaRPr lang="en-US" sz="1450" dirty="0"/>
          </a:p>
        </p:txBody>
      </p:sp>
      <p:sp>
        <p:nvSpPr>
          <p:cNvPr id="25" name="Text 23"/>
          <p:cNvSpPr txBox="1"/>
          <p:nvPr/>
        </p:nvSpPr>
        <p:spPr>
          <a:xfrm>
            <a:off x="566928" y="6172200"/>
            <a:ext cx="1105783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D7E7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3, jueves 17 de septiembre: cómo detectar errores y el Laboratorio Práctico 1.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Curso de Inteligencia Artificial Aplicada</dc:creator>
  <cp:lastModifiedBy>Curso de Inteligencia Artificial Aplicada</cp:lastModifiedBy>
  <cp:revision>1</cp:revision>
  <dcterms:created xsi:type="dcterms:W3CDTF">2026-09-13T23:31:27Z</dcterms:created>
  <dcterms:modified xsi:type="dcterms:W3CDTF">2026-09-13T23:31:27Z</dcterms:modified>
</cp:coreProperties>
</file>