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8" r:id="rId29"/>
    <p:sldId id="279" r:id="rId30"/>
    <p:sldId id="280" r:id="rId31"/>
    <p:sldId id="281" r:id="rId32"/>
    <p:sldId id="259" r:id="rId5"/>
    <p:sldId id="260" r:id="rId6"/>
    <p:sldId id="261" r:id="rId7"/>
    <p:sldId id="262" r:id="rId8"/>
    <p:sldId id="263" r:id="rId9"/>
    <p:sldId id="264" r:id="rId10"/>
    <p:sldId id="282" r:id="rId33"/>
    <p:sldId id="283" r:id="rId34"/>
    <p:sldId id="284" r:id="rId35"/>
    <p:sldId id="285" r:id="rId36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abiertos: Copilot en Word con un documento normativo cargado, el ejercicio de reescritura, el hilo de correo y la transcripción, y el archivo de plantillas en la hoja de bitácora.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Pídeles que abran Copilot Chat con su cuenta del Instituto y verifiquen que pueden adjuntar o referenciar un archivo de OneDrive. Dos minutos. Quien no sepa en qué modo está no puede decidir qué información pegar.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Detente en el prompt 2. Corre la versión mala en vivo y busca una de las cifras que devuelva. En el 5, pon las dos salidas lado a lado: el contraste es la lección.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dice que las tres coincidían, pídele que revise tres más. Al cerrar, pregunta cuántos encontraron al menos un error: ese número es el argumento de la sesión del jueves.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es obligatorio: primero corren el prompt, después leen. El hilo tiene seis trampas y la transcripción, que hoy queda de práctica en casa, otras seis. Pregunta quién detectó el acuerdo que desaparece del último mensaje.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error típico es que escriben prompts para tareas hipotéticas. Si ves eso, la pregunta correctiva es: ¿esto lo hiciste la semana pasada?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I. FUNDAMENTOS, ÉTICA Y COPILOT INSTITUCIONAL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 y cómo escribir mejores instrucciones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15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Repaso, el mapa completo y lo pendiente de ayer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Copilot y en qué modo estás trabajando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seis casillas de una buena instrucción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Receso. Quien quiera el mapa con más detalle, se queda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que trabaje sobre tu documento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Outlook y Teams, con dos trampas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biblioteca de prompts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equipos, entregas y tarea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unos 70 minutos con las manos en el teclado. Ten abierto desde ahora el documento que bajaste.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 ayer, convertido en tres reglas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repite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cada prompt que te funcione lo guardas con su versión. Lo que no está en tu bitácora, no existe.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calcula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le vas a pedir ni una sola cuenta. Eso empieza en el Módulo III, la semana que entra.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 con seguridad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hoy aprendes a pedirle que te diga de dónde sacó cada cosa. Sin eso no puedes verificar nada.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vive Copilot y en qué modo estás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9:27 a 9:40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pilot en el INEG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Copilot, en el INEGI, vive en un solo lugar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aparece dentro de Word, Excel, Outlook ni Teams. Lo que tienes es Copilot Chat con tu cuenta del Instituto, y alcanza para todo lo que hace este curso.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con archivos adjuntos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el documento al chat y trabaja sobre él: resumir, extraer, comparar, reescribir. Así corren las prácticas del curso.</a:t>
            </a:r>
            <a:endParaRPr lang="en-US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4582058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tu OneDrive</a:t>
            </a:r>
            <a:endParaRPr lang="en-US" sz="1600" dirty="0"/>
          </a:p>
        </p:txBody>
      </p:sp>
      <p:sp>
        <p:nvSpPr>
          <p:cNvPr id="13" name="Text"/>
          <p:cNvSpPr txBox="1"/>
          <p:nvPr/>
        </p:nvSpPr>
        <p:spPr>
          <a:xfrm>
            <a:off x="4582058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leer y referenciar los archivos de tu OneDrive institucional sin volverlos a subir. Lo comprobamos hoy en vivo.</a:t>
            </a:r>
            <a:endParaRPr lang="en-US" sz="1300" dirty="0"/>
          </a:p>
        </p:txBody>
      </p:sp>
      <p:sp>
        <p:nvSpPr>
          <p:cNvPr id="14" name="Shape"/>
          <p:cNvSpPr/>
          <p:nvPr/>
        </p:nvSpPr>
        <p:spPr>
          <a:xfrm>
            <a:off x="8121701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 y Teams, sin asistente</a:t>
            </a:r>
            <a:endParaRPr lang="en-US" sz="1600" dirty="0"/>
          </a:p>
        </p:txBody>
      </p:sp>
      <p:sp>
        <p:nvSpPr>
          <p:cNvPr id="18" name="Text"/>
          <p:cNvSpPr txBox="1"/>
          <p:nvPr/>
        </p:nvSpPr>
        <p:spPr>
          <a:xfrm>
            <a:off x="8359445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y las reuniones siguen igual que siempre; lo que no hay es Copilot adentro. Esas prácticas se hacen adjuntando el archivo al chat.</a:t>
            </a:r>
            <a:endParaRPr lang="en-US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un material del curso diga «Copilot en Word» o «dentro de Excel», léelo como «Copilot Chat con el archivo adjunto». La lámina que sigue trae los dos modos.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modos de Copilot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línea que viste ayer con el semáforo, ahora del lado de la herramienta.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860655" cy="3950208"/>
          </a:xfrm>
          <a:prstGeom prst="roundRect">
            <a:avLst>
              <a:gd name="adj" fmla="val 2778"/>
            </a:avLst>
          </a:prstGeom>
          <a:solidFill>
            <a:srgbClr val="D7E7E7"/>
          </a:solidFill>
          <a:ln w="31750">
            <a:solidFill>
              <a:srgbClr val="2E7D7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41248" y="2029968"/>
            <a:ext cx="53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del contrato del Instituto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523744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2523744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Chat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79551" y="2523744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25855" y="2523744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tu cuenta del INEGI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3035808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035808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archivos de OneDrive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79551" y="3035808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25855" y="3035808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adjuntos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206240"/>
            <a:ext cx="5312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tu cuenta institucional quedas dentro del contrato: tus prompts y tus archivos no entrenan modelos.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Chat lee lo que le adjuntas y tus archivos de OneDrive: ahí vive el contexto de tu trabajo.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único lugar donde puedes trabajar con información amarilla.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3343" y="1810512"/>
            <a:ext cx="4831424" cy="3950208"/>
          </a:xfrm>
          <a:prstGeom prst="roundRect">
            <a:avLst>
              <a:gd name="adj" fmla="val 2778"/>
            </a:avLst>
          </a:prstGeom>
          <a:solidFill>
            <a:srgbClr val="F2F5F6"/>
          </a:solidFill>
          <a:ln w="19050">
            <a:solidFill>
              <a:srgbClr val="5A6B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7067663" y="2029968"/>
            <a:ext cx="4282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contrato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067663" y="2523744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3967" y="2523744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sin tu cuenta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067663" y="3035808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3967" y="3035808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Gemini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067663" y="3547872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13967" y="3547872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Perplexity, You.com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067663" y="4059936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13967" y="4059936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Elicit, Consensus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67663" y="4718304"/>
            <a:ext cx="42827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nada de tu trabajo: contestan con conocimiento general.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Sirven para explorar y comparar. Solo información verde.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5888736"/>
            <a:ext cx="11057839" cy="475488"/>
          </a:xfrm>
          <a:prstGeom prst="roundRect">
            <a:avLst>
              <a:gd name="adj" fmla="val 1153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" y="5888736"/>
            <a:ext cx="1058235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verificación de hoy: entra a Copilot Chat con tu cuenta del Instituto y confirma que puedes ver tus archivos de OneDrive.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escribe una buena instrucción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9:40 a 10:15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casillas, siempre en el mismo orden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práctica el orden se te vuelve automático. Las tres de abajo son las que más trabajo hacen: si tienes prisa, no te saltes esas.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975104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14016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qué posición quieres que conteste. No es adorno: cambia el vocabulario y el nivel de detalle que da por hecho.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10256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Actúa como analista de evaluación de política de desarrollo social.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51296" y="1810512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51296" y="1810512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7328" y="1993392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37680" y="1975104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2414016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quieres lograr, con un verbo claro y uno solo. Si hay dos verbos, son dos prompts.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07328" y="2810256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la información del documento y organízala en una tabla.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340608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40608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523488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523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505200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944112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 el resultado y quién lo va a leer. Esta casilla mueve la salida más que ninguna otra.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340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va a usar un equipo que compara programas entre sí.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51296" y="3340608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1296" y="3340608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07328" y="3523488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07328" y="3523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37680" y="3505200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Insumos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507328" y="3944112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qué material debe trabajar, y la prohibición expresa de usar cualquier otra fuente. Es la que más reduce los inventos.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07328" y="4340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solo con el documento adjunto. No uses tu conocimiento general.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870704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" y="4870704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53584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05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035296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Restricciones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5474208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debe hacer. La más útil de todas: que si un dato no aparece, lo diga en lugar de suponerlo.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5870448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dato no está, escribe "no especificado".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51296" y="4870704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51296" y="4870704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07328" y="5053584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07328" y="505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037680" y="5035296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de salida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507328" y="5474208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 cómo lo quieres recibir. Incluye siempre algo que te permita verificar.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07328" y="5870448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con estas columnas, más la sección de donde salió cada dato.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Arregla tres prompts mal escritos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trae ocho. Hoy hacemos tres: el 2, el 5 y el 8. Los demás quedan como práctica opcional.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uno, primero anota qué casillas faltan o están mal. Eso antes de reescribir nada.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Reescríbelo y corre las dos versiones, la mala y la tuya, una tras otra. Compara las salidas lado a lado.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un prompt más largo no es automáticamente mejor. En uno de los tres la respuesta correcta es no delegarle la tarea al modelo.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Ejercicio_reescritura_prompts.docx.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 que trabaje sobre tu documento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10:25 a 10:47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FRASE QUE SE TE VA A VOLVER COSTUMBRE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 una columna con la sección del documento donde aparece cada dato.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la fuente de cada dato hace dos cosas al mismo tiempo. Reduce los inventos, porque obliga al modelo a apoyarse en el texto. Y te abarata la verificación, porque ya no tienes que buscar dónde estaba: el propio resultado te lo dice.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prompt completo, listo para copiar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408176"/>
            <a:ext cx="11057839" cy="3712464"/>
          </a:xfrm>
          <a:prstGeom prst="roundRect">
            <a:avLst>
              <a:gd name="adj" fmla="val 197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1664208"/>
            <a:ext cx="10417759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analista de evaluación de política de desarrollo social.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Extrae la información del documento adjunto y organízala en una tabla.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resultado lo va a usar un equipo de evaluación para comparar programas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 sí.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Trabaja solo con el documento adjunto. No uses ninguna otra fuente ni tu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conocimiento general. Si un dato no aparece en el documento, escribe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 especificado" en lugar de suponerlo.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Devuelve una tabla con estas columnas: población objetivo, monto del apoyo,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periodicidad, requisitos de acceso, criterios de exclusión, y sección del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documento donde aparece cada dato.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5321808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5321808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las seis casillas en este prompt antes de copiarlo. Están las seis y en orden.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documento, tu tabla, tu verificación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 Copilot en Word el documento normativo que bajaste ayer y corre el prompt de la lámina anterior.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te devuelva la tabla, elige tres celdas al azar y búscalas en el documento original.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cuántas de las tres coincidían. Casi siempre hay al menos un error, y encontrarlo es el punto del ejercicio.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el prompt y el resultado de tu verificación en la bitácora.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Bitácora: Plantillas_tabulares_curso_IA.xlsx, hoja Bitácora de prompts.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CUARTO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en Outlook y en Teams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10:47 a 11:11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tareas que te ahorran tiempo desde hoy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 un hilo largo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sacar los compromisos que quedaron pendientes, con quién se quedó a cargo de cada uno.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Redactar una respuesta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dos líneas de instrucción, y después ajustar el tono sin volver a escribir todo.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una minuta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la transcripción de una reunión de Teams, con acuerdos y responsables.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85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DE ESTAS TRES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resúmenes de correo y de reunión suenan tan convincentes que casi nadie los verifica.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resumen mal hecho de un documento se nota, porque tú tienes el documento. Un resumen mal hecho de una conversación de quince correos no se nota, porque nadie va a releer los quince. La regla de hoy: ninguna minuta se manda sin que una persona haya verificado los acuerdos y los responsables contra la fuente.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hilo de correo y la transcripción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tu prompt de resumen sobre el hilo de quince mensajes, antes de leerlo. Pídele acuerdos y responsables.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sí lee el hilo completo y tacha lo que esté mal en la minuta que te devolvió.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transcripción te la llevas de práctica en casa hoy: repite ahí el ejercicio y fíjate en fechas límite y tareas sin dueño.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cuántos errores encontraste y de qué tipo eran.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Archivos: Hilo_correo_sintetico.docx y Transcripcion_reunion_sintetica.docx.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suele fallar en una minuta automática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cosas que vas a encontrar hoy y que se repiten en tu trabajo real.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fecha que cambió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reunión se movió dos veces en el hilo, el resumen suele quedarse con una de las fechas viejas.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9996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771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responsable reasignado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297891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se le asigna a alguien y después se le pasa a otra persona. El resumen conserva al primero.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075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que parece acuerdo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70752" y="297891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pregunta si se puede entregar antes. Nadie contesta. El resumen lo convierte en compromiso.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66047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03791" y="224942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tarea sin dueño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303791" y="271475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la asume. El resumen inventa un responsable, normalmente el último que habló.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biblioteca de prompts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11:11 a 11:24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corrige un prompt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corrección es la parte importante. Un prompt que te funcionó a la primera no te enseñó nada.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Pruébalo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la primera versión, tal como se te ocurrió.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qué falló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qué salió mal en general. Qué casilla específica faltó.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 una casilla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 la vez. Si cambias tres cosas, no vas a saber cuál sirvió.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las dos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falló y la que funcionó. La que falló es la que le enseña algo a tu yo de dentro de un mes.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prompts para tareas que tú repites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Piensa en tres tareas que haces cada semana y que implican leer o escribir texto.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prompt de la primera con las seis casillas y pruébalo en Copilot.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Corrígelo al menos una vez con el ciclo de la lámina anterior y guarda las dos versiones.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dos prompts los terminas hoy en casa, igual. Los tres se entregan con su versión inicial, su corrección y qué cambiaste.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y biblioteca: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262E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y lo que sigue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885950"/>
            <a:ext cx="11057839" cy="630000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9978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999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194949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que sacaste de tu documento normativo, con la verificación de las tres celdas marcada. Por correo: S02_ApellidoNombre_Tabla.docx.</a:t>
            </a:r>
            <a:endParaRPr lang="en-US" sz="1450" dirty="0"/>
          </a:p>
        </p:txBody>
      </p:sp>
      <p:sp>
        <p:nvSpPr>
          <p:cNvPr id="9" name="Shape 3"/>
          <p:cNvSpPr/>
          <p:nvPr/>
        </p:nvSpPr>
        <p:spPr>
          <a:xfrm>
            <a:off x="566928" y="2600950"/>
            <a:ext cx="11057839" cy="630000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04672" y="271478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04672" y="2714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1426464" y="266449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prompts en tu biblioteca: el que corregiste en clase y los dos que terminas hoy en casa, cada uno con sus dos versiones.</a:t>
            </a:r>
            <a:endParaRPr lang="en-US" sz="1450" dirty="0"/>
          </a:p>
        </p:txBody>
      </p:sp>
      <p:sp>
        <p:nvSpPr>
          <p:cNvPr id="13" name="Shape 3"/>
          <p:cNvSpPr/>
          <p:nvPr/>
        </p:nvSpPr>
        <p:spPr>
          <a:xfrm>
            <a:off x="566928" y="3315950"/>
            <a:ext cx="11057839" cy="630000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4"/>
          <p:cNvSpPr/>
          <p:nvPr/>
        </p:nvSpPr>
        <p:spPr>
          <a:xfrm>
            <a:off x="804672" y="342978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804672" y="3429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6"/>
          <p:cNvSpPr txBox="1"/>
          <p:nvPr/>
        </p:nvSpPr>
        <p:spPr>
          <a:xfrm>
            <a:off x="1426464" y="337949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 al día, con los errores que encontraste en el hilo de correo. La transcripción de la reunión queda de práctica en casa.</a:t>
            </a:r>
            <a:endParaRPr lang="en-US" sz="1450" dirty="0"/>
          </a:p>
        </p:txBody>
      </p:sp>
      <p:sp>
        <p:nvSpPr>
          <p:cNvPr id="17" name="Shape 3"/>
          <p:cNvSpPr/>
          <p:nvPr/>
        </p:nvSpPr>
        <p:spPr>
          <a:xfrm>
            <a:off x="566928" y="4030950"/>
            <a:ext cx="11057839" cy="630000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4"/>
          <p:cNvSpPr/>
          <p:nvPr/>
        </p:nvSpPr>
        <p:spPr>
          <a:xfrm>
            <a:off x="804672" y="414478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5"/>
          <p:cNvSpPr txBox="1"/>
          <p:nvPr/>
        </p:nvSpPr>
        <p:spPr>
          <a:xfrm>
            <a:off x="804672" y="4144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6"/>
          <p:cNvSpPr txBox="1"/>
          <p:nvPr/>
        </p:nvSpPr>
        <p:spPr>
          <a:xfrm>
            <a:off x="1426464" y="409449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de ayer: tu ficha de idoneidad se entrega el jueves antes de las 9:00, como S01_ApellidoNombre_FichaIdoneidad.docx.</a:t>
            </a:r>
            <a:endParaRPr lang="en-US" sz="1450" dirty="0"/>
          </a:p>
        </p:txBody>
      </p:sp>
      <p:sp>
        <p:nvSpPr>
          <p:cNvPr id="21" name="Shape 3"/>
          <p:cNvSpPr/>
          <p:nvPr/>
        </p:nvSpPr>
        <p:spPr>
          <a:xfrm>
            <a:off x="566928" y="4745950"/>
            <a:ext cx="11057839" cy="630000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22" name="Shape 4"/>
          <p:cNvSpPr/>
          <p:nvPr/>
        </p:nvSpPr>
        <p:spPr>
          <a:xfrm>
            <a:off x="804672" y="485978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3" name="Text 5"/>
          <p:cNvSpPr txBox="1"/>
          <p:nvPr/>
        </p:nvSpPr>
        <p:spPr>
          <a:xfrm>
            <a:off x="804672" y="4859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4" name="Text 6"/>
          <p:cNvSpPr txBox="1"/>
          <p:nvPr/>
        </p:nvSpPr>
        <p:spPr>
          <a:xfrm>
            <a:off x="1426464" y="480949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equipos quedaron formados hoy. El jueves se trabaja en equipo desde el primer minuto, así que llega puntual.</a:t>
            </a:r>
            <a:endParaRPr lang="en-US" sz="1450" dirty="0"/>
          </a:p>
        </p:txBody>
      </p:sp>
      <p:sp>
        <p:nvSpPr>
          <p:cNvPr id="25" name="Shape 3"/>
          <p:cNvSpPr/>
          <p:nvPr/>
        </p:nvSpPr>
        <p:spPr>
          <a:xfrm>
            <a:off x="566928" y="5460950"/>
            <a:ext cx="11057839" cy="630000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26" name="Shape 4"/>
          <p:cNvSpPr/>
          <p:nvPr/>
        </p:nvSpPr>
        <p:spPr>
          <a:xfrm>
            <a:off x="804672" y="557478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7" name="Text 5"/>
          <p:cNvSpPr txBox="1"/>
          <p:nvPr/>
        </p:nvSpPr>
        <p:spPr>
          <a:xfrm>
            <a:off x="804672" y="5574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8" name="Text 6"/>
          <p:cNvSpPr txBox="1"/>
          <p:nvPr/>
        </p:nvSpPr>
        <p:spPr>
          <a:xfrm>
            <a:off x="1426464" y="552449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material de cada sesión está en github.com/xuxoramos/curso-inegi-gen-ai. Y no actives todavía la prueba de Elicit: se usa el lunes 21.</a:t>
            </a:r>
            <a:endParaRPr lang="en-US" sz="1450" dirty="0"/>
          </a:p>
        </p:txBody>
      </p:sp>
      <p:sp>
        <p:nvSpPr>
          <p:cNvPr id="29" name="Text 23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3, jueves 17 de septiembre: cómo detectar errores y el Laboratorio Práctico 1.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apa compl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 ayer, ahora con apellidos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subconjuntos, no sinónimos: cada anillo vive dentro del anterior. En el receso de hoy, la versión extendida para quien la quiera.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artificial</a:t>
            </a:r>
            <a:endParaRPr lang="en-US" sz="16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programa que hace algo que creíamos propio de la inteligencia humana. Incluye lo viejo: reglas escritas a mano, búsqueda, sistemas expertos.</a:t>
            </a:r>
            <a:endParaRPr lang="en-US" sz="1300" dirty="0"/>
          </a:p>
        </p:txBody>
      </p:sp>
      <p:sp>
        <p:nvSpPr>
          <p:cNvPr id="7" name="Shape"/>
          <p:cNvSpPr/>
          <p:nvPr/>
        </p:nvSpPr>
        <p:spPr>
          <a:xfrm>
            <a:off x="339996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363771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automático</a:t>
            </a:r>
            <a:endParaRPr lang="en-US" sz="1600" dirty="0"/>
          </a:p>
        </p:txBody>
      </p:sp>
      <p:sp>
        <p:nvSpPr>
          <p:cNvPr id="9" name="Text"/>
          <p:cNvSpPr txBox="1"/>
          <p:nvPr/>
        </p:nvSpPr>
        <p:spPr>
          <a:xfrm>
            <a:off x="363771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que aprenden de los datos en lugar de seguir reglas escritas. Tus regresiones y clasificadores viven aquí. Su teoría viene de la estadística.</a:t>
            </a:r>
            <a:endParaRPr lang="en-US" sz="1300" dirty="0"/>
          </a:p>
        </p:txBody>
      </p:sp>
      <p:sp>
        <p:nvSpPr>
          <p:cNvPr id="10" name="Shape"/>
          <p:cNvSpPr/>
          <p:nvPr/>
        </p:nvSpPr>
        <p:spPr>
          <a:xfrm>
            <a:off x="623300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647075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profundo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647075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automático con redes neuronales de muchas capas. Hay una familia por cada forma del dato: tabla, imagen, secuencia, lenguaje.</a:t>
            </a:r>
            <a:endParaRPr lang="en-US" sz="1300" dirty="0"/>
          </a:p>
        </p:txBody>
      </p:sp>
      <p:sp>
        <p:nvSpPr>
          <p:cNvPr id="13" name="Shape"/>
          <p:cNvSpPr/>
          <p:nvPr/>
        </p:nvSpPr>
        <p:spPr>
          <a:xfrm>
            <a:off x="9066047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9303791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</a:t>
            </a:r>
            <a:endParaRPr lang="en-US" sz="1600" dirty="0"/>
          </a:p>
        </p:txBody>
      </p:sp>
      <p:sp>
        <p:nvSpPr>
          <p:cNvPr id="15" name="Text"/>
          <p:cNvSpPr txBox="1"/>
          <p:nvPr/>
        </p:nvSpPr>
        <p:spPr>
          <a:xfrm>
            <a:off x="9303791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profundo que produce contenido nuevo. Los modelos de lenguaje son su rama de texto y el transformer es su motor.</a:t>
            </a:r>
            <a:endParaRPr lang="en-US" sz="1300" dirty="0"/>
          </a:p>
        </p:txBody>
      </p:sp>
      <p:sp>
        <p:nvSpPr>
          <p:cNvPr id="16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charla del receso sigue este mapa hacia adentro. El anexo, con referencias verificables, está en el repositorio: sesion-01/Anexo_De_la_regresion_al_transformer.pptx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azabilid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Pendiente de ayer: de dónde salió cada cosa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de trazabilidad son tres piezas. Las dos primeras ya las empezaste ayer sin saberlo.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lo que pediste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bitácora: qué le pediste al modelo y qué te contestó. Como el modelo no repite, sin bitácora no puedes reconstruir nada.</a:t>
            </a:r>
            <a:endParaRPr lang="en-US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4582058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versiones</a:t>
            </a:r>
            <a:endParaRPr lang="en-US" sz="1600" dirty="0"/>
          </a:p>
        </p:txBody>
      </p:sp>
      <p:sp>
        <p:nvSpPr>
          <p:cNvPr id="13" name="Text"/>
          <p:cNvSpPr txBox="1"/>
          <p:nvPr/>
        </p:nvSpPr>
        <p:spPr>
          <a:xfrm>
            <a:off x="4582058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los borradores intermedios. Así ves en qué paso se metió un error y puedes volver al último que estaba bien.</a:t>
            </a:r>
            <a:endParaRPr lang="en-US" sz="1300" dirty="0"/>
          </a:p>
        </p:txBody>
      </p:sp>
      <p:sp>
        <p:nvSpPr>
          <p:cNvPr id="14" name="Shape"/>
          <p:cNvSpPr/>
          <p:nvPr/>
        </p:nvSpPr>
        <p:spPr>
          <a:xfrm>
            <a:off x="8121701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Linaje del dato</a:t>
            </a:r>
            <a:endParaRPr lang="en-US" sz="1600" dirty="0"/>
          </a:p>
        </p:txBody>
      </p:sp>
      <p:sp>
        <p:nvSpPr>
          <p:cNvPr id="18" name="Text"/>
          <p:cNvSpPr txBox="1"/>
          <p:nvPr/>
        </p:nvSpPr>
        <p:spPr>
          <a:xfrm>
            <a:off x="8359445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documento y qué sección sostienen cada afirmación. Hoy lo practicas pidiendo la sección de cada dato; completo lo construyes en la sesión 6.</a:t>
            </a:r>
            <a:endParaRPr lang="en-US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parte de la transparencia que te toca a ti. Si una auditoría pregunta de dónde salió una cifra, la respuesta no puede ser que la escribió la IA.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u turno enmascaramiento">
    <p:bg>
      <p:bgPr>
        <a:solidFill>
          <a:srgbClr val="D7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minutos</a:t>
            </a:r>
            <a:endParaRPr lang="en-US" sz="1300" dirty="0"/>
          </a:p>
        </p:txBody>
      </p:sp>
      <p:sp>
        <p:nvSpPr>
          <p:cNvPr id="6" name="Text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Enmascara un archivo con datos personales</a:t>
            </a:r>
            <a:endParaRPr lang="en-US" sz="2900" dirty="0"/>
          </a:p>
        </p:txBody>
      </p:sp>
      <p:sp>
        <p:nvSpPr>
          <p:cNvPr id="7" name="Shape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hoja Padron_sintetico del archivo de registros. Tiene nombres, CURP, domicilios, teléfonos y correos.</a:t>
            </a:r>
            <a:endParaRPr lang="en-US" sz="1450" dirty="0"/>
          </a:p>
        </p:txBody>
      </p:sp>
      <p:sp>
        <p:nvSpPr>
          <p:cNvPr id="11" name="Shape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columna de nombre por un número secuencial. La equivalencia se queda en un archivo aparte que nunca sube a ninguna herramienta.</a:t>
            </a:r>
            <a:endParaRPr lang="en-US" sz="1450" dirty="0"/>
          </a:p>
        </p:txBody>
      </p:sp>
      <p:sp>
        <p:nvSpPr>
          <p:cNvPr id="15" name="Shape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solo el año de nacimiento, y solo el municipio y la entidad. Borra CURP, teléfono y correo.</a:t>
            </a:r>
            <a:endParaRPr lang="en-US" sz="1450" dirty="0"/>
          </a:p>
        </p:txBody>
      </p:sp>
      <p:sp>
        <p:nvSpPr>
          <p:cNvPr id="19" name="Shape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queda es una versión verde de un archivo rojo. Anota en tu bitácora qué le hiciste: eso es el linaje del dato.</a:t>
            </a:r>
            <a:endParaRPr lang="en-US" sz="1450" dirty="0"/>
          </a:p>
        </p:txBody>
      </p:sp>
      <p:sp>
        <p:nvSpPr>
          <p:cNvPr id="23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Registros_atencion_ciudadana_PARTICIPANTE.xlsx, hoja Padron_sintetico. Quedó pendiente ayer y es lo que vuelve trabajable la regla roja del semáforo.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stificac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preguntas de una auditoría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de ayer. Te las van a hacer sobre cualquier producto hecho con IA. El detalle está en el handout de ayer, sección 4: léela hoy.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¿Se justifica usar IA?</a:t>
            </a:r>
            <a:endParaRPr lang="en-US" sz="16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cuando hay más texto del que puedes leer, la tarea es repetitiva y alguien va a revisar. Nunca si hay efectos jurídicos o se necesita un número exacto.</a:t>
            </a:r>
            <a:endParaRPr lang="en-US" sz="1300" dirty="0"/>
          </a:p>
        </p:txBody>
      </p:sp>
      <p:sp>
        <p:nvSpPr>
          <p:cNvPr id="7" name="Shape"/>
          <p:cNvSpPr/>
          <p:nvPr/>
        </p:nvSpPr>
        <p:spPr>
          <a:xfrm>
            <a:off x="339996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363771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esta herramienta?</a:t>
            </a:r>
            <a:endParaRPr lang="en-US" sz="1600" dirty="0"/>
          </a:p>
        </p:txBody>
      </p:sp>
      <p:sp>
        <p:nvSpPr>
          <p:cNvPr id="9" name="Text"/>
          <p:cNvSpPr txBox="1"/>
          <p:nvPr/>
        </p:nvSpPr>
        <p:spPr>
          <a:xfrm>
            <a:off x="363771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procesa la información y bajo qué contrato, si trabaja donde ya está el documento, y si la tarea es de texto y no de cálculo.</a:t>
            </a:r>
            <a:endParaRPr lang="en-US" sz="1300" dirty="0"/>
          </a:p>
        </p:txBody>
      </p:sp>
      <p:sp>
        <p:nvSpPr>
          <p:cNvPr id="10" name="Shape"/>
          <p:cNvSpPr/>
          <p:nvPr/>
        </p:nvSpPr>
        <p:spPr>
          <a:xfrm>
            <a:off x="623300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647075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no puede hacer?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647075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Inventa, trae sesgos, tiene un límite de lectura y no sabe qué importa. Lo declaras por escrito en cada producto que entregues.</a:t>
            </a:r>
            <a:endParaRPr lang="en-US" sz="1300" dirty="0"/>
          </a:p>
        </p:txBody>
      </p:sp>
      <p:sp>
        <p:nvSpPr>
          <p:cNvPr id="13" name="Shape"/>
          <p:cNvSpPr/>
          <p:nvPr/>
        </p:nvSpPr>
        <p:spPr>
          <a:xfrm>
            <a:off x="9066047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9303791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ficha, de tarea</a:t>
            </a:r>
            <a:endParaRPr lang="en-US" sz="1600" dirty="0"/>
          </a:p>
        </p:txBody>
      </p:sp>
      <p:sp>
        <p:nvSpPr>
          <p:cNvPr id="15" name="Text"/>
          <p:cNvSpPr txBox="1"/>
          <p:nvPr/>
        </p:nvSpPr>
        <p:spPr>
          <a:xfrm>
            <a:off x="9303791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llenas con estas tres preguntas y le pides a Copilot que la critique: hoy aprendes a pedirlo bien. Se entrega el jueves antes de las 9:00.</a:t>
            </a:r>
            <a:endParaRPr lang="en-US" sz="1300" dirty="0"/>
          </a:p>
        </p:txBody>
      </p:sp>
      <p:sp>
        <p:nvSpPr>
          <p:cNvPr id="16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S01_ApellidoNombre_FichaIdoneidad.docx, con el asunto del correo igual al nombre del archivo. Es el formato 2 de Formatos_de_trabajo_curso_IA.docx.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eso charla">
    <p:bg>
      <p:bgPr>
        <a:solidFill>
          <a:srgbClr val="16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400" dirty="0"/>
          </a:p>
        </p:txBody>
      </p:sp>
      <p:sp>
        <p:nvSpPr>
          <p:cNvPr id="4" name="Text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 DE RECESO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quiera el mapa con más detalle, se queda</a:t>
            </a:r>
            <a:endParaRPr lang="en-US" sz="3400" dirty="0"/>
          </a:p>
        </p:txBody>
      </p:sp>
      <p:sp>
        <p:nvSpPr>
          <p:cNvPr id="6" name="Text"/>
          <p:cNvSpPr txBox="1"/>
          <p:nvPr/>
        </p:nvSpPr>
        <p:spPr>
          <a:xfrm>
            <a:off x="2487168" y="39900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láminas y cero fórmulas. El resto del grupo vuelve a las 10:25 en punto.</a:t>
            </a:r>
            <a:endParaRPr lang="en-US" sz="1500" dirty="0"/>
          </a:p>
        </p:txBody>
      </p:sp>
      <p:sp>
        <p:nvSpPr>
          <p:cNvPr id="7" name="Shape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 a 10:25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stadistica y 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estadística al aprendizaje automático</a:t>
            </a:r>
            <a:endParaRPr lang="en-US" sz="3200" dirty="0"/>
          </a:p>
        </p:txBody>
      </p:sp>
      <p:sp>
        <p:nvSpPr>
          <p:cNvPr id="9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todo el aparato es el mismo: minimizar el error. Lo que cambia es la pregunta que le haces al modelo.</a:t>
            </a:r>
            <a:endParaRPr lang="en-US" sz="1500" dirty="0"/>
          </a:p>
        </p:txBody>
      </p:sp>
      <p:sp>
        <p:nvSpPr>
          <p:cNvPr id="2" name="Shape"/>
          <p:cNvSpPr/>
          <p:nvPr/>
        </p:nvSpPr>
        <p:spPr>
          <a:xfrm>
            <a:off x="566928" y="1810512"/>
            <a:ext cx="5460655" cy="3843648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3" name="Text"/>
          <p:cNvSpPr txBox="1"/>
          <p:nvPr/>
        </p:nvSpPr>
        <p:spPr>
          <a:xfrm>
            <a:off x="841248" y="2029968"/>
            <a:ext cx="49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Explicar: la estadística que ya haces</a:t>
            </a:r>
            <a:endParaRPr lang="en-US" sz="1700" dirty="0"/>
          </a:p>
        </p:txBody>
      </p:sp>
      <p:sp>
        <p:nvSpPr>
          <p:cNvPr id="4" name="Text"/>
          <p:cNvSpPr txBox="1"/>
          <p:nvPr/>
        </p:nvSpPr>
        <p:spPr>
          <a:xfrm>
            <a:off x="841248" y="2560320"/>
            <a:ext cx="4912015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Quieres saber si X causa Y y con cuánta confianza. El coeficiente y su intervalo son la respuesta.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tiene que ser legible: una regresión se audita parámetro por parámetro.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que se cuida: concluir una relación que no existe.</a:t>
            </a:r>
            <a:endParaRPr lang="en-US" sz="1300" dirty="0"/>
          </a:p>
        </p:txBody>
      </p:sp>
      <p:sp>
        <p:nvSpPr>
          <p:cNvPr id="5" name="Shape"/>
          <p:cNvSpPr/>
          <p:nvPr/>
        </p:nvSpPr>
        <p:spPr>
          <a:xfrm>
            <a:off x="6164511" y="1810512"/>
            <a:ext cx="5460655" cy="3843648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6438831" y="2029968"/>
            <a:ext cx="49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Predecir: el aprendizaje automático</a:t>
            </a:r>
            <a:endParaRPr lang="en-US" sz="1700" dirty="0"/>
          </a:p>
        </p:txBody>
      </p:sp>
      <p:sp>
        <p:nvSpPr>
          <p:cNvPr id="7" name="Text"/>
          <p:cNvSpPr txBox="1"/>
          <p:nvPr/>
        </p:nvSpPr>
        <p:spPr>
          <a:xfrm>
            <a:off x="6438831" y="2560320"/>
            <a:ext cx="4912015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Quieres acertar el siguiente caso, aunque el modelo sea difícil de leer por dentro.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ya no es el intervalo: separar datos de entrenamiento y de prueba, y medir el error fuera de la muestra.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que se cuida: memorizar el pasado en lugar de aprender el patrón. Se llama sobreajuste.</a:t>
            </a:r>
            <a:endParaRPr lang="en-US" sz="1300" dirty="0"/>
          </a:p>
        </p:txBody>
      </p:sp>
      <p:sp>
        <p:nvSpPr>
          <p:cNvPr id="10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Supervisado si hay respuesta correcta: regresión y clasificación. No supervisado si no la hay: el agrupamiento del viernes. Y por refuerzo si aprende de calificaciones: ese nombre vuelve en dos láminas.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milias D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familias del aprendizaje profundo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neuronales de muchas capas: funciones simples apiladas. Cada familia nació para una forma distinta del dato.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Tablas: redes densas</a:t>
            </a:r>
            <a:endParaRPr lang="en-US" sz="16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y renglones, como tu padrón. Aquí las redes compiten con los árboles y los métodos de ensamble, y no siempre les ganan.</a:t>
            </a:r>
            <a:endParaRPr lang="en-US" sz="1300" dirty="0"/>
          </a:p>
        </p:txBody>
      </p:sp>
      <p:sp>
        <p:nvSpPr>
          <p:cNvPr id="7" name="Shape"/>
          <p:cNvSpPr/>
          <p:nvPr/>
        </p:nvSpPr>
        <p:spPr>
          <a:xfrm>
            <a:off x="339996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363771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Imagen: convolucionales</a:t>
            </a:r>
            <a:endParaRPr lang="en-US" sz="1600" dirty="0"/>
          </a:p>
        </p:txBody>
      </p:sp>
      <p:sp>
        <p:nvSpPr>
          <p:cNvPr id="9" name="Text"/>
          <p:cNvSpPr txBox="1"/>
          <p:nvPr/>
        </p:nvSpPr>
        <p:spPr>
          <a:xfrm>
            <a:off x="363771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Detectan patrones locales: bordes, texturas, techos en una imagen satelital. Son las que leen cartografía y clasifican cultivos.</a:t>
            </a:r>
            <a:endParaRPr lang="en-US" sz="1300" dirty="0"/>
          </a:p>
        </p:txBody>
      </p:sp>
      <p:sp>
        <p:nvSpPr>
          <p:cNvPr id="10" name="Shape"/>
          <p:cNvSpPr/>
          <p:nvPr/>
        </p:nvSpPr>
        <p:spPr>
          <a:xfrm>
            <a:off x="6233008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647075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Secuencias: recurrentes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6470752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Leen en orden y van recordando. Sirven para series de tiempo y audio, y eran el estándar para texto hasta 2017.</a:t>
            </a:r>
            <a:endParaRPr lang="en-US" sz="1300" dirty="0"/>
          </a:p>
        </p:txBody>
      </p:sp>
      <p:sp>
        <p:nvSpPr>
          <p:cNvPr id="13" name="Shape"/>
          <p:cNvSpPr/>
          <p:nvPr/>
        </p:nvSpPr>
        <p:spPr>
          <a:xfrm>
            <a:off x="9066047" y="2011680"/>
            <a:ext cx="2558720" cy="2700000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9303791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Lenguaje: transformers</a:t>
            </a:r>
            <a:endParaRPr lang="en-US" sz="1600" dirty="0"/>
          </a:p>
        </p:txBody>
      </p:sp>
      <p:sp>
        <p:nvSpPr>
          <p:cNvPr id="15" name="Text"/>
          <p:cNvSpPr txBox="1"/>
          <p:nvPr/>
        </p:nvSpPr>
        <p:spPr>
          <a:xfrm>
            <a:off x="9303791" y="2978912"/>
            <a:ext cx="2083232" cy="153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Cambiaron la lectura en orden por la atención que viste ayer: leen todo a la vez y se entrenan en paralelo. Por eso pudieron crecer tanto.</a:t>
            </a:r>
            <a:endParaRPr lang="en-US" sz="1300" dirty="0"/>
          </a:p>
        </p:txBody>
      </p:sp>
      <p:sp>
        <p:nvSpPr>
          <p:cNvPr id="16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generativo no es otra arquitectura: es usar estas redes para producir contenido nuevo. Difusión para imagen, transformers para texto.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 LL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transformer a la herramienta que abres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pasos de entrenamiento, y cada uno explica algo que ya viste en el curso.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Preentrenamiento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una porción enorme de todo lo escrito con una sola tarea: predecir la palabra que sigue. De ahí sale lo que sabe y también lo que inventa.</a:t>
            </a:r>
            <a:endParaRPr lang="en-US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4582058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por instrucciones</a:t>
            </a:r>
            <a:endParaRPr lang="en-US" sz="1600" dirty="0"/>
          </a:p>
        </p:txBody>
      </p:sp>
      <p:sp>
        <p:nvSpPr>
          <p:cNvPr id="13" name="Text"/>
          <p:cNvSpPr txBox="1"/>
          <p:nvPr/>
        </p:nvSpPr>
        <p:spPr>
          <a:xfrm>
            <a:off x="4582058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miles de ejemplos aprende a seguir órdenes en lugar de solo continuar el texto. Aquí nace el prompt tal como lo escribes hoy.</a:t>
            </a:r>
            <a:endParaRPr lang="en-US" sz="1300" dirty="0"/>
          </a:p>
        </p:txBody>
      </p:sp>
      <p:sp>
        <p:nvSpPr>
          <p:cNvPr id="14" name="Shape"/>
          <p:cNvSpPr/>
          <p:nvPr/>
        </p:nvSpPr>
        <p:spPr>
          <a:xfrm>
            <a:off x="8121701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Refuerzo con personas</a:t>
            </a:r>
            <a:endParaRPr lang="en-US" sz="1600" dirty="0"/>
          </a:p>
        </p:txBody>
      </p:sp>
      <p:sp>
        <p:nvSpPr>
          <p:cNvPr id="18" name="Text"/>
          <p:cNvSpPr txBox="1"/>
          <p:nvPr/>
        </p:nvSpPr>
        <p:spPr>
          <a:xfrm>
            <a:off x="8359445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califican sus respuestas y aprende a preferir las mejor calificadas. Ahí nace la complacencia: el jueves la ves como el sesgo número tres.</a:t>
            </a:r>
            <a:endParaRPr lang="en-US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completo, con referencias verificables, está en el anexo: sesion-01/Anexo_De_la_regresion_al_transformer.pptx. La charla termina aquí: 10:25, de vuelta.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